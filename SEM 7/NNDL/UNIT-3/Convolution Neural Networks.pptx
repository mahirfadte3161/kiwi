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56" r:id="rId2"/>
    <p:sldId id="257" r:id="rId3"/>
    <p:sldId id="258" r:id="rId4"/>
    <p:sldId id="259" r:id="rId5"/>
    <p:sldId id="266" r:id="rId6"/>
    <p:sldId id="267" r:id="rId7"/>
    <p:sldId id="261" r:id="rId8"/>
    <p:sldId id="269" r:id="rId9"/>
    <p:sldId id="270" r:id="rId10"/>
    <p:sldId id="271" r:id="rId11"/>
    <p:sldId id="262" r:id="rId12"/>
    <p:sldId id="263" r:id="rId13"/>
    <p:sldId id="264" r:id="rId14"/>
    <p:sldId id="265" r:id="rId15"/>
    <p:sldId id="268" r:id="rId16"/>
    <p:sldId id="307" r:id="rId17"/>
    <p:sldId id="308" r:id="rId18"/>
    <p:sldId id="347" r:id="rId19"/>
    <p:sldId id="272" r:id="rId20"/>
    <p:sldId id="273" r:id="rId21"/>
    <p:sldId id="331" r:id="rId22"/>
    <p:sldId id="332" r:id="rId23"/>
    <p:sldId id="333" r:id="rId24"/>
    <p:sldId id="334" r:id="rId25"/>
    <p:sldId id="335" r:id="rId26"/>
    <p:sldId id="336" r:id="rId27"/>
    <p:sldId id="337" r:id="rId28"/>
    <p:sldId id="338" r:id="rId29"/>
    <p:sldId id="274" r:id="rId30"/>
    <p:sldId id="276" r:id="rId31"/>
    <p:sldId id="277" r:id="rId32"/>
    <p:sldId id="278" r:id="rId33"/>
    <p:sldId id="305" r:id="rId34"/>
    <p:sldId id="279" r:id="rId35"/>
    <p:sldId id="260" r:id="rId36"/>
    <p:sldId id="281" r:id="rId37"/>
    <p:sldId id="282" r:id="rId38"/>
    <p:sldId id="283" r:id="rId39"/>
    <p:sldId id="284" r:id="rId40"/>
    <p:sldId id="285" r:id="rId41"/>
    <p:sldId id="287" r:id="rId42"/>
    <p:sldId id="286" r:id="rId43"/>
    <p:sldId id="290" r:id="rId44"/>
    <p:sldId id="291" r:id="rId45"/>
    <p:sldId id="292" r:id="rId46"/>
    <p:sldId id="288" r:id="rId47"/>
    <p:sldId id="293" r:id="rId48"/>
    <p:sldId id="289" r:id="rId49"/>
    <p:sldId id="294" r:id="rId50"/>
    <p:sldId id="295" r:id="rId51"/>
    <p:sldId id="296" r:id="rId52"/>
    <p:sldId id="297" r:id="rId53"/>
    <p:sldId id="298" r:id="rId54"/>
    <p:sldId id="299" r:id="rId55"/>
    <p:sldId id="300" r:id="rId56"/>
    <p:sldId id="301" r:id="rId57"/>
    <p:sldId id="302" r:id="rId58"/>
    <p:sldId id="303" r:id="rId59"/>
    <p:sldId id="304" r:id="rId60"/>
    <p:sldId id="309" r:id="rId61"/>
    <p:sldId id="315" r:id="rId62"/>
    <p:sldId id="310" r:id="rId63"/>
    <p:sldId id="316" r:id="rId64"/>
    <p:sldId id="311" r:id="rId65"/>
    <p:sldId id="317" r:id="rId66"/>
    <p:sldId id="312" r:id="rId67"/>
    <p:sldId id="318" r:id="rId68"/>
    <p:sldId id="313" r:id="rId69"/>
    <p:sldId id="319" r:id="rId70"/>
    <p:sldId id="314" r:id="rId71"/>
    <p:sldId id="320" r:id="rId72"/>
    <p:sldId id="339" r:id="rId73"/>
    <p:sldId id="340" r:id="rId74"/>
    <p:sldId id="341" r:id="rId75"/>
    <p:sldId id="342" r:id="rId76"/>
    <p:sldId id="343" r:id="rId77"/>
    <p:sldId id="344" r:id="rId78"/>
    <p:sldId id="345" r:id="rId79"/>
    <p:sldId id="321" r:id="rId80"/>
    <p:sldId id="322" r:id="rId81"/>
    <p:sldId id="323" r:id="rId82"/>
    <p:sldId id="324" r:id="rId83"/>
    <p:sldId id="325" r:id="rId84"/>
    <p:sldId id="326" r:id="rId85"/>
    <p:sldId id="327" r:id="rId86"/>
    <p:sldId id="328" r:id="rId87"/>
    <p:sldId id="346" r:id="rId88"/>
    <p:sldId id="348" r:id="rId89"/>
    <p:sldId id="349" r:id="rId90"/>
    <p:sldId id="350" r:id="rId91"/>
    <p:sldId id="351" r:id="rId92"/>
    <p:sldId id="352" r:id="rId93"/>
    <p:sldId id="377" r:id="rId94"/>
    <p:sldId id="378" r:id="rId95"/>
    <p:sldId id="379" r:id="rId96"/>
    <p:sldId id="380" r:id="rId97"/>
    <p:sldId id="353" r:id="rId98"/>
    <p:sldId id="354" r:id="rId99"/>
    <p:sldId id="356" r:id="rId100"/>
    <p:sldId id="357" r:id="rId101"/>
    <p:sldId id="366" r:id="rId102"/>
    <p:sldId id="367" r:id="rId103"/>
    <p:sldId id="360" r:id="rId104"/>
    <p:sldId id="361" r:id="rId105"/>
    <p:sldId id="362" r:id="rId106"/>
    <p:sldId id="363" r:id="rId107"/>
    <p:sldId id="364" r:id="rId108"/>
    <p:sldId id="355" r:id="rId109"/>
    <p:sldId id="365" r:id="rId110"/>
    <p:sldId id="358" r:id="rId111"/>
    <p:sldId id="359" r:id="rId112"/>
    <p:sldId id="368" r:id="rId113"/>
    <p:sldId id="369" r:id="rId114"/>
    <p:sldId id="370" r:id="rId115"/>
    <p:sldId id="371" r:id="rId116"/>
    <p:sldId id="372" r:id="rId117"/>
    <p:sldId id="373" r:id="rId118"/>
    <p:sldId id="374" r:id="rId119"/>
    <p:sldId id="376" r:id="rId120"/>
    <p:sldId id="375" r:id="rId121"/>
    <p:sldId id="381" r:id="rId122"/>
    <p:sldId id="392" r:id="rId123"/>
    <p:sldId id="382" r:id="rId124"/>
    <p:sldId id="383" r:id="rId125"/>
    <p:sldId id="384" r:id="rId126"/>
    <p:sldId id="385" r:id="rId127"/>
    <p:sldId id="386" r:id="rId128"/>
    <p:sldId id="387" r:id="rId129"/>
    <p:sldId id="388" r:id="rId130"/>
    <p:sldId id="389" r:id="rId131"/>
    <p:sldId id="390" r:id="rId132"/>
    <p:sldId id="391" r:id="rId1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B4FF"/>
    <a:srgbClr val="7BE7FF"/>
    <a:srgbClr val="F6C3FF"/>
    <a:srgbClr val="FFD248"/>
    <a:srgbClr val="FF66CC"/>
    <a:srgbClr val="00FFFF"/>
    <a:srgbClr val="FF99CC"/>
    <a:srgbClr val="6BDE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8C7C9-8D79-4A6E-9AAA-A427804CB4D9}" type="datetimeFigureOut">
              <a:rPr lang="en-IN" smtClean="0"/>
              <a:t>03-08-2025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638B9-E2FE-42E2-AF2A-352E32EDAA03}" type="slidenum">
              <a:rPr lang="en-IN" smtClean="0"/>
              <a:t>‹#›</a:t>
            </a:fld>
            <a:endParaRPr lang="en-IN"/>
          </a:p>
        </p:txBody>
      </p:sp>
    </p:spTree>
    <p:extLst>
      <p:ext uri="{BB962C8B-B14F-4D97-AF65-F5344CB8AC3E}">
        <p14:creationId xmlns:p14="http://schemas.microsoft.com/office/powerpoint/2010/main" val="4022523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C638B9-E2FE-42E2-AF2A-352E32EDAA03}" type="slidenum">
              <a:rPr lang="en-IN" smtClean="0"/>
              <a:t>101</a:t>
            </a:fld>
            <a:endParaRPr lang="en-IN"/>
          </a:p>
        </p:txBody>
      </p:sp>
    </p:spTree>
    <p:extLst>
      <p:ext uri="{BB962C8B-B14F-4D97-AF65-F5344CB8AC3E}">
        <p14:creationId xmlns:p14="http://schemas.microsoft.com/office/powerpoint/2010/main" val="2073941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8165C-1369-E6A7-00EE-D51FF84D1F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207BBA-A919-7521-685B-3D51CA6E8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A6CAF7-451E-74E6-4A07-6A98E122D566}"/>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15EB8BE3-748B-E5CF-F416-148312794E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5EF1F6-20CF-3779-D5C2-4D24BA1B96A2}"/>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3339025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C97E-EBBF-E27C-6414-4D94AC6125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D3763B-DC8E-A1B6-0F69-4672C6BADB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91873B-E3DD-9A06-6D97-7A466F9BB4FA}"/>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45463537-CBB9-C215-0FFC-70128A531E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A3B8ED-F207-9E07-E657-606B6650ECCB}"/>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81130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EDB22-9A67-D5DB-F33D-9F62749A70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174502-9AA2-602C-07F8-1715A2E979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9D6BDD-4C8F-174B-B182-3AD0522F08A1}"/>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9F5FDCAA-33ED-D258-1AD2-06C5341549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240E3-CC24-43BC-29CF-64C6FDB0217A}"/>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3760093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230B-5649-5362-4D1D-CC6864DB0C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F660E0-C5EC-CAAA-4E2F-4D38B11496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6D6E74-608F-4EBF-6045-18729C37D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F2502E-E711-16A9-3849-ED3223E514D6}"/>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6" name="Footer Placeholder 5">
            <a:extLst>
              <a:ext uri="{FF2B5EF4-FFF2-40B4-BE49-F238E27FC236}">
                <a16:creationId xmlns:a16="http://schemas.microsoft.com/office/drawing/2014/main" id="{49B23F06-6DC2-7A20-4881-34AD43C36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BEED2-584B-4C6B-7304-F9559A3CFCEC}"/>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851128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4964-6299-F7D6-E1E9-305FDA8C54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1B9DC4-8B7B-4FD9-5AED-9BA8CDABA0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17261-04A1-2962-76F0-6E3BF6EBF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E29F89-1AF7-5085-E607-240A968295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873E91-2E95-18E5-60EA-89E4970C51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925691-797F-DCF4-2A37-DA11B9FFB06D}"/>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8" name="Footer Placeholder 7">
            <a:extLst>
              <a:ext uri="{FF2B5EF4-FFF2-40B4-BE49-F238E27FC236}">
                <a16:creationId xmlns:a16="http://schemas.microsoft.com/office/drawing/2014/main" id="{DD00343F-0C47-7304-CE00-AD31F939C6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18179E-E01F-50EE-6AD5-17387EA1499F}"/>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51999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8725-AD9A-D4DF-688F-D228096A62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5CD984-07D7-74B6-BAAB-09C1580F1CF3}"/>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4" name="Footer Placeholder 3">
            <a:extLst>
              <a:ext uri="{FF2B5EF4-FFF2-40B4-BE49-F238E27FC236}">
                <a16:creationId xmlns:a16="http://schemas.microsoft.com/office/drawing/2014/main" id="{A9453DF6-A512-741E-BF60-526199C260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1BEAEB-487C-5627-E70F-812353231969}"/>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014083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FD8484-84EC-C8B1-43B0-CF30A2A6BFBD}"/>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3" name="Footer Placeholder 2">
            <a:extLst>
              <a:ext uri="{FF2B5EF4-FFF2-40B4-BE49-F238E27FC236}">
                <a16:creationId xmlns:a16="http://schemas.microsoft.com/office/drawing/2014/main" id="{15BFEDC3-C331-F73F-E425-1B64EA3AEC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636C12-17CB-0EEB-CF9F-6E06B298B380}"/>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1098229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EDE3-3DD6-564D-FF1D-07770F550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2AE083-72A7-632E-707F-167D2E4538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23BAA1-40CB-C73F-AEB1-896AD605D9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DA0B3F-05C9-1FBE-C669-3C40A7613519}"/>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6" name="Footer Placeholder 5">
            <a:extLst>
              <a:ext uri="{FF2B5EF4-FFF2-40B4-BE49-F238E27FC236}">
                <a16:creationId xmlns:a16="http://schemas.microsoft.com/office/drawing/2014/main" id="{14DA7776-B6B5-A0D5-6760-7C5546C8EB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77F812-6ABD-379B-4A42-3ACDC5EC3013}"/>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781566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EB18-69B9-D6CB-87B3-980B8A7912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D2A9CE-A88E-4F4B-1752-AF285B70E8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9A36C3A-DB08-73C7-5171-13EEBE611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A9C662-9E9E-B22D-FF66-A46D129C3C9E}"/>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6" name="Footer Placeholder 5">
            <a:extLst>
              <a:ext uri="{FF2B5EF4-FFF2-40B4-BE49-F238E27FC236}">
                <a16:creationId xmlns:a16="http://schemas.microsoft.com/office/drawing/2014/main" id="{7BA467A6-C648-4FE8-51A1-6F29614EB1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8D833B-A95C-6B5D-0FBC-A1BCCC784AE8}"/>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015272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8DCB2-16F5-D561-F6B2-C659DE6E1B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A0E9D5-16CA-20DC-852C-48A43284C1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E2642E-01FD-4234-084F-1B8227A76EC8}"/>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737268BC-3964-567D-4493-706325B3A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902B3B-C5F0-0910-BB4A-7C17CEF35546}"/>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835746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06D385-15CE-C05A-0803-F8475B4AB6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799F4C-1257-AEA5-3F37-7EBD56AA7A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33F13E-6B79-B0E3-B9B6-6FB6F54A5BA3}"/>
              </a:ext>
            </a:extLst>
          </p:cNvPr>
          <p:cNvSpPr>
            <a:spLocks noGrp="1"/>
          </p:cNvSpPr>
          <p:nvPr>
            <p:ph type="dt" sz="half" idx="10"/>
          </p:nvPr>
        </p:nvSpPr>
        <p:spPr/>
        <p:txBody>
          <a:body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DDC90A4F-507C-D2F2-D86F-67993849D3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057FA-7F5A-645A-9E53-DAF831A1A8BB}"/>
              </a:ext>
            </a:extLst>
          </p:cNvPr>
          <p:cNvSpPr>
            <a:spLocks noGrp="1"/>
          </p:cNvSpPr>
          <p:nvPr>
            <p:ph type="sldNum" sz="quarter" idx="12"/>
          </p:nvPr>
        </p:nvSpPr>
        <p:spPr/>
        <p:txBody>
          <a:bodyPr/>
          <a:lstStyle/>
          <a:p>
            <a:fld id="{D2EC7CBF-4ABD-4C61-9B4A-4D6D30572DD1}" type="slidenum">
              <a:rPr lang="en-IN" smtClean="0"/>
              <a:t>‹#›</a:t>
            </a:fld>
            <a:endParaRPr lang="en-IN"/>
          </a:p>
        </p:txBody>
      </p:sp>
    </p:spTree>
    <p:extLst>
      <p:ext uri="{BB962C8B-B14F-4D97-AF65-F5344CB8AC3E}">
        <p14:creationId xmlns:p14="http://schemas.microsoft.com/office/powerpoint/2010/main" val="291132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D695B9-0026-3AED-E5FA-BA73C80B5E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16387F-6EEB-B444-45B6-A64AC9488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6F453B-9484-9779-DD7A-2B79C309DA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CA50AD-114E-49C1-BEB1-ECD450A13CCE}" type="datetimeFigureOut">
              <a:rPr lang="en-IN" smtClean="0"/>
              <a:t>03-08-2025</a:t>
            </a:fld>
            <a:endParaRPr lang="en-IN"/>
          </a:p>
        </p:txBody>
      </p:sp>
      <p:sp>
        <p:nvSpPr>
          <p:cNvPr id="5" name="Footer Placeholder 4">
            <a:extLst>
              <a:ext uri="{FF2B5EF4-FFF2-40B4-BE49-F238E27FC236}">
                <a16:creationId xmlns:a16="http://schemas.microsoft.com/office/drawing/2014/main" id="{68642AF9-B5C1-F2A5-1652-41881F501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0B15A5-A2F8-07E9-78F5-35FB354C9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EC7CBF-4ABD-4C61-9B4A-4D6D30572DD1}" type="slidenum">
              <a:rPr lang="en-IN" smtClean="0"/>
              <a:t>‹#›</a:t>
            </a:fld>
            <a:endParaRPr lang="en-IN"/>
          </a:p>
        </p:txBody>
      </p:sp>
    </p:spTree>
    <p:extLst>
      <p:ext uri="{BB962C8B-B14F-4D97-AF65-F5344CB8AC3E}">
        <p14:creationId xmlns:p14="http://schemas.microsoft.com/office/powerpoint/2010/main" val="374060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F615-417E-C6C4-F61B-5064D7057836}"/>
              </a:ext>
            </a:extLst>
          </p:cNvPr>
          <p:cNvSpPr>
            <a:spLocks noGrp="1"/>
          </p:cNvSpPr>
          <p:nvPr>
            <p:ph type="ctrTitle"/>
          </p:nvPr>
        </p:nvSpPr>
        <p:spPr/>
        <p:txBody>
          <a:bodyPr/>
          <a:lstStyle/>
          <a:p>
            <a:r>
              <a:rPr lang="en-IN" dirty="0"/>
              <a:t>CNN</a:t>
            </a:r>
          </a:p>
        </p:txBody>
      </p:sp>
      <p:sp>
        <p:nvSpPr>
          <p:cNvPr id="3" name="Subtitle 2">
            <a:extLst>
              <a:ext uri="{FF2B5EF4-FFF2-40B4-BE49-F238E27FC236}">
                <a16:creationId xmlns:a16="http://schemas.microsoft.com/office/drawing/2014/main" id="{D81BB018-888B-3121-4F81-27DD844DA9CF}"/>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330254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68F9-03A1-138E-0CE2-9FAFD8A5C64C}"/>
              </a:ext>
            </a:extLst>
          </p:cNvPr>
          <p:cNvSpPr>
            <a:spLocks noGrp="1"/>
          </p:cNvSpPr>
          <p:nvPr>
            <p:ph type="title"/>
          </p:nvPr>
        </p:nvSpPr>
        <p:spPr/>
        <p:txBody>
          <a:bodyPr>
            <a:normAutofit/>
          </a:bodyPr>
          <a:lstStyle/>
          <a:p>
            <a:pPr algn="ctr"/>
            <a:r>
              <a:rPr lang="en-US" sz="4800" dirty="0">
                <a:latin typeface="Times New Roman" panose="02020603050405020304" pitchFamily="18" charset="0"/>
                <a:ea typeface="+mn-ea"/>
                <a:cs typeface="Times New Roman" panose="02020603050405020304" pitchFamily="18" charset="0"/>
              </a:rPr>
              <a:t>Convolutional Networks</a:t>
            </a:r>
            <a:endParaRPr lang="en-IN" sz="4800" dirty="0">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8FDDAB5D-AB76-4419-C08A-0AFF1CEFBBF6}"/>
              </a:ext>
            </a:extLst>
          </p:cNvPr>
          <p:cNvSpPr>
            <a:spLocks noGrp="1"/>
          </p:cNvSpPr>
          <p:nvPr>
            <p:ph idx="1"/>
          </p:nvPr>
        </p:nvSpPr>
        <p:spPr/>
        <p:txBody>
          <a:bodyPr>
            <a:normAutofit/>
          </a:bodyPr>
          <a:lstStyle/>
          <a:p>
            <a:r>
              <a:rPr lang="en-US" sz="4400" dirty="0">
                <a:latin typeface="Times New Roman" panose="02020603050405020304" pitchFamily="18" charset="0"/>
                <a:cs typeface="Times New Roman" panose="02020603050405020304" pitchFamily="18" charset="0"/>
              </a:rPr>
              <a:t>The Convolution Operation</a:t>
            </a:r>
          </a:p>
          <a:p>
            <a:pPr lvl="1"/>
            <a:r>
              <a:rPr lang="en-US" sz="4000" dirty="0">
                <a:latin typeface="Times New Roman" panose="02020603050405020304" pitchFamily="18" charset="0"/>
                <a:cs typeface="Times New Roman" panose="02020603050405020304" pitchFamily="18" charset="0"/>
              </a:rPr>
              <a:t>Variants of the Basic Convolution Function, </a:t>
            </a:r>
          </a:p>
          <a:p>
            <a:pPr lvl="1"/>
            <a:r>
              <a:rPr lang="en-US" sz="4000" dirty="0">
                <a:latin typeface="Times New Roman" panose="02020603050405020304" pitchFamily="18" charset="0"/>
                <a:cs typeface="Times New Roman" panose="02020603050405020304" pitchFamily="18" charset="0"/>
              </a:rPr>
              <a:t>Structured Outputs, </a:t>
            </a:r>
          </a:p>
          <a:p>
            <a:pPr lvl="1"/>
            <a:r>
              <a:rPr lang="en-US" sz="4000" dirty="0">
                <a:latin typeface="Times New Roman" panose="02020603050405020304" pitchFamily="18" charset="0"/>
                <a:cs typeface="Times New Roman" panose="02020603050405020304" pitchFamily="18" charset="0"/>
              </a:rPr>
              <a:t>Data Types, </a:t>
            </a:r>
          </a:p>
          <a:p>
            <a:pPr lvl="1"/>
            <a:r>
              <a:rPr lang="en-US" sz="4000" dirty="0">
                <a:latin typeface="Times New Roman" panose="02020603050405020304" pitchFamily="18" charset="0"/>
                <a:cs typeface="Times New Roman" panose="02020603050405020304" pitchFamily="18" charset="0"/>
              </a:rPr>
              <a:t>Efficient Convolution Algorithms,</a:t>
            </a:r>
          </a:p>
          <a:p>
            <a:pPr lvl="1"/>
            <a:r>
              <a:rPr lang="en-US" sz="4000" dirty="0">
                <a:latin typeface="Times New Roman" panose="02020603050405020304" pitchFamily="18" charset="0"/>
                <a:cs typeface="Times New Roman" panose="02020603050405020304" pitchFamily="18" charset="0"/>
              </a:rPr>
              <a:t>Random or Unsupervised Features - </a:t>
            </a:r>
            <a:r>
              <a:rPr lang="en-US" sz="4000" dirty="0" err="1">
                <a:latin typeface="Times New Roman" panose="02020603050405020304" pitchFamily="18" charset="0"/>
                <a:cs typeface="Times New Roman" panose="02020603050405020304" pitchFamily="18" charset="0"/>
              </a:rPr>
              <a:t>LeNet</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AlexNet</a:t>
            </a:r>
            <a:r>
              <a:rPr lang="en-US" sz="4000" dirty="0">
                <a:latin typeface="Times New Roman" panose="02020603050405020304" pitchFamily="18" charset="0"/>
                <a:cs typeface="Times New Roman" panose="02020603050405020304" pitchFamily="18" charset="0"/>
              </a:rPr>
              <a:t>.</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9040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8FA26-F413-2495-9E1F-598B0E5A6198}"/>
              </a:ext>
            </a:extLst>
          </p:cNvPr>
          <p:cNvSpPr>
            <a:spLocks noGrp="1"/>
          </p:cNvSpPr>
          <p:nvPr>
            <p:ph type="title"/>
          </p:nvPr>
        </p:nvSpPr>
        <p:spPr/>
        <p:txBody>
          <a:bodyPr/>
          <a:lstStyle/>
          <a:p>
            <a:pPr algn="ctr"/>
            <a:r>
              <a:rPr lang="en-IN" dirty="0"/>
              <a:t>What is Convolution Operation?</a:t>
            </a:r>
          </a:p>
        </p:txBody>
      </p:sp>
      <p:sp>
        <p:nvSpPr>
          <p:cNvPr id="3" name="Content Placeholder 2">
            <a:extLst>
              <a:ext uri="{FF2B5EF4-FFF2-40B4-BE49-F238E27FC236}">
                <a16:creationId xmlns:a16="http://schemas.microsoft.com/office/drawing/2014/main" id="{5D689867-EABC-13F7-4C39-ECF48CD262B2}"/>
              </a:ext>
            </a:extLst>
          </p:cNvPr>
          <p:cNvSpPr>
            <a:spLocks noGrp="1"/>
          </p:cNvSpPr>
          <p:nvPr>
            <p:ph idx="1"/>
          </p:nvPr>
        </p:nvSpPr>
        <p:spPr/>
        <p:txBody>
          <a:bodyPr>
            <a:normAutofit lnSpcReduction="10000"/>
          </a:bodyPr>
          <a:lstStyle/>
          <a:p>
            <a:pPr algn="just"/>
            <a:r>
              <a:rPr lang="en-US" dirty="0"/>
              <a:t>The convolution operation is a mathematical process used to combine two functions or signals to produce a third one.</a:t>
            </a:r>
          </a:p>
          <a:p>
            <a:pPr algn="just"/>
            <a:endParaRPr lang="en-US" dirty="0"/>
          </a:p>
          <a:p>
            <a:pPr algn="just"/>
            <a:r>
              <a:rPr lang="en-US" dirty="0"/>
              <a:t>Convolution computes sum of products at each location.</a:t>
            </a:r>
          </a:p>
          <a:p>
            <a:pPr algn="just"/>
            <a:endParaRPr lang="en-US" dirty="0"/>
          </a:p>
          <a:p>
            <a:pPr algn="just"/>
            <a:endParaRPr lang="en-US" dirty="0"/>
          </a:p>
          <a:p>
            <a:pPr algn="just"/>
            <a:endParaRPr lang="en-US" dirty="0"/>
          </a:p>
          <a:p>
            <a:pPr algn="just"/>
            <a:r>
              <a:rPr lang="en-US" dirty="0"/>
              <a:t>Convolution operation dramatically transformed image processing by providing a more efficient, scalable, and accurate method of detecting patterns and features in images.</a:t>
            </a:r>
            <a:endParaRPr lang="en-IN" dirty="0"/>
          </a:p>
        </p:txBody>
      </p:sp>
      <p:pic>
        <p:nvPicPr>
          <p:cNvPr id="6" name="Picture 5">
            <a:extLst>
              <a:ext uri="{FF2B5EF4-FFF2-40B4-BE49-F238E27FC236}">
                <a16:creationId xmlns:a16="http://schemas.microsoft.com/office/drawing/2014/main" id="{9C3694A3-C4FA-1AF6-8266-C0D2C9258A26}"/>
              </a:ext>
            </a:extLst>
          </p:cNvPr>
          <p:cNvPicPr>
            <a:picLocks noChangeAspect="1"/>
          </p:cNvPicPr>
          <p:nvPr/>
        </p:nvPicPr>
        <p:blipFill>
          <a:blip r:embed="rId2"/>
          <a:stretch>
            <a:fillRect/>
          </a:stretch>
        </p:blipFill>
        <p:spPr>
          <a:xfrm>
            <a:off x="4641300" y="3937484"/>
            <a:ext cx="2491956" cy="7392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53291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1203755678"/>
              </p:ext>
            </p:extLst>
          </p:nvPr>
        </p:nvGraphicFramePr>
        <p:xfrm>
          <a:off x="1364974" y="304938"/>
          <a:ext cx="5184000" cy="32400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sp>
        <p:nvSpPr>
          <p:cNvPr id="6" name="TextBox 5">
            <a:extLst>
              <a:ext uri="{FF2B5EF4-FFF2-40B4-BE49-F238E27FC236}">
                <a16:creationId xmlns:a16="http://schemas.microsoft.com/office/drawing/2014/main" id="{D2898FAF-7BAF-4D8F-DD6F-25382EAFCA79}"/>
              </a:ext>
            </a:extLst>
          </p:cNvPr>
          <p:cNvSpPr txBox="1"/>
          <p:nvPr/>
        </p:nvSpPr>
        <p:spPr>
          <a:xfrm>
            <a:off x="3014504" y="3806688"/>
            <a:ext cx="1884940" cy="369332"/>
          </a:xfrm>
          <a:prstGeom prst="rect">
            <a:avLst/>
          </a:prstGeom>
          <a:noFill/>
        </p:spPr>
        <p:txBody>
          <a:bodyPr wrap="none" rtlCol="0">
            <a:spAutoFit/>
          </a:bodyPr>
          <a:lstStyle/>
          <a:p>
            <a:r>
              <a:rPr lang="en-IN" b="1" dirty="0"/>
              <a:t>6 x 6 Input Matrix</a:t>
            </a:r>
          </a:p>
        </p:txBody>
      </p:sp>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928189711"/>
              </p:ext>
            </p:extLst>
          </p:nvPr>
        </p:nvGraphicFramePr>
        <p:xfrm>
          <a:off x="7934739" y="1045476"/>
          <a:ext cx="2592000" cy="16200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extLst>
                  <a:ext uri="{0D108BD9-81ED-4DB2-BD59-A6C34878D82A}">
                    <a16:rowId xmlns:a16="http://schemas.microsoft.com/office/drawing/2014/main" val="3509769987"/>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extLst>
                  <a:ext uri="{0D108BD9-81ED-4DB2-BD59-A6C34878D82A}">
                    <a16:rowId xmlns:a16="http://schemas.microsoft.com/office/drawing/2014/main" val="3304284480"/>
                  </a:ext>
                </a:extLst>
              </a:tr>
              <a:tr h="540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solidFill>
                  </a:tcPr>
                </a:tc>
                <a:extLst>
                  <a:ext uri="{0D108BD9-81ED-4DB2-BD59-A6C34878D82A}">
                    <a16:rowId xmlns:a16="http://schemas.microsoft.com/office/drawing/2014/main" val="1885914060"/>
                  </a:ext>
                </a:extLst>
              </a:tr>
            </a:tbl>
          </a:graphicData>
        </a:graphic>
      </p:graphicFrame>
      <p:sp>
        <p:nvSpPr>
          <p:cNvPr id="8" name="TextBox 7">
            <a:extLst>
              <a:ext uri="{FF2B5EF4-FFF2-40B4-BE49-F238E27FC236}">
                <a16:creationId xmlns:a16="http://schemas.microsoft.com/office/drawing/2014/main" id="{2A8E6884-BEA3-9F35-E5CF-D5FCDB0BA8AD}"/>
              </a:ext>
            </a:extLst>
          </p:cNvPr>
          <p:cNvSpPr txBox="1"/>
          <p:nvPr/>
        </p:nvSpPr>
        <p:spPr>
          <a:xfrm>
            <a:off x="8581843" y="2890703"/>
            <a:ext cx="1297791" cy="369332"/>
          </a:xfrm>
          <a:prstGeom prst="rect">
            <a:avLst/>
          </a:prstGeom>
          <a:noFill/>
        </p:spPr>
        <p:txBody>
          <a:bodyPr wrap="none" rtlCol="0">
            <a:spAutoFit/>
          </a:bodyPr>
          <a:lstStyle/>
          <a:p>
            <a:r>
              <a:rPr lang="en-IN" b="1" dirty="0"/>
              <a:t>3 x 3 Kernel</a:t>
            </a:r>
          </a:p>
        </p:txBody>
      </p:sp>
      <p:sp>
        <p:nvSpPr>
          <p:cNvPr id="10" name="TextBox 9">
            <a:extLst>
              <a:ext uri="{FF2B5EF4-FFF2-40B4-BE49-F238E27FC236}">
                <a16:creationId xmlns:a16="http://schemas.microsoft.com/office/drawing/2014/main" id="{93C17D2A-4462-B29A-093F-D79ECF41ECB2}"/>
              </a:ext>
            </a:extLst>
          </p:cNvPr>
          <p:cNvSpPr txBox="1"/>
          <p:nvPr/>
        </p:nvSpPr>
        <p:spPr>
          <a:xfrm>
            <a:off x="836825" y="5093013"/>
            <a:ext cx="3596027"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Calculate the Output Matrix Size:</a:t>
            </a:r>
          </a:p>
        </p:txBody>
      </p:sp>
      <p:pic>
        <p:nvPicPr>
          <p:cNvPr id="12" name="Picture 11">
            <a:extLst>
              <a:ext uri="{FF2B5EF4-FFF2-40B4-BE49-F238E27FC236}">
                <a16:creationId xmlns:a16="http://schemas.microsoft.com/office/drawing/2014/main" id="{0763C7FD-7B77-D2C1-CB9C-A80E44078831}"/>
              </a:ext>
            </a:extLst>
          </p:cNvPr>
          <p:cNvPicPr>
            <a:picLocks noChangeAspect="1"/>
          </p:cNvPicPr>
          <p:nvPr/>
        </p:nvPicPr>
        <p:blipFill>
          <a:blip r:embed="rId2"/>
          <a:stretch>
            <a:fillRect/>
          </a:stretch>
        </p:blipFill>
        <p:spPr>
          <a:xfrm>
            <a:off x="4970018" y="4858542"/>
            <a:ext cx="4816257" cy="8382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4777E188-5124-891F-FCB9-FF759DEBA2CB}"/>
              </a:ext>
            </a:extLst>
          </p:cNvPr>
          <p:cNvSpPr txBox="1"/>
          <p:nvPr/>
        </p:nvSpPr>
        <p:spPr>
          <a:xfrm>
            <a:off x="1118434" y="6183730"/>
            <a:ext cx="510346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Size =  ( ( 6 – 3 ) / 1 )  + 1  =  4</a:t>
            </a:r>
          </a:p>
        </p:txBody>
      </p:sp>
      <p:sp>
        <p:nvSpPr>
          <p:cNvPr id="14" name="TextBox 13">
            <a:extLst>
              <a:ext uri="{FF2B5EF4-FFF2-40B4-BE49-F238E27FC236}">
                <a16:creationId xmlns:a16="http://schemas.microsoft.com/office/drawing/2014/main" id="{7E1CFA58-A1F7-FB3F-A36E-1121F162AD30}"/>
              </a:ext>
            </a:extLst>
          </p:cNvPr>
          <p:cNvSpPr txBox="1"/>
          <p:nvPr/>
        </p:nvSpPr>
        <p:spPr>
          <a:xfrm>
            <a:off x="7029356" y="5999064"/>
            <a:ext cx="510346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Size =  4 x 4 matrix</a:t>
            </a:r>
          </a:p>
        </p:txBody>
      </p:sp>
    </p:spTree>
    <p:extLst>
      <p:ext uri="{BB962C8B-B14F-4D97-AF65-F5344CB8AC3E}">
        <p14:creationId xmlns:p14="http://schemas.microsoft.com/office/powerpoint/2010/main" val="175304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852B4-96E4-8602-E24F-8177AFF590F7}"/>
              </a:ext>
            </a:extLst>
          </p:cNvPr>
          <p:cNvSpPr>
            <a:spLocks noGrp="1"/>
          </p:cNvSpPr>
          <p:nvPr>
            <p:ph type="title"/>
          </p:nvPr>
        </p:nvSpPr>
        <p:spPr/>
        <p:txBody>
          <a:bodyPr/>
          <a:lstStyle/>
          <a:p>
            <a:pPr algn="ctr"/>
            <a:r>
              <a:rPr lang="en-IN" dirty="0"/>
              <a:t>What is a Kernel?</a:t>
            </a:r>
          </a:p>
        </p:txBody>
      </p:sp>
      <p:sp>
        <p:nvSpPr>
          <p:cNvPr id="3" name="Content Placeholder 2">
            <a:extLst>
              <a:ext uri="{FF2B5EF4-FFF2-40B4-BE49-F238E27FC236}">
                <a16:creationId xmlns:a16="http://schemas.microsoft.com/office/drawing/2014/main" id="{C0ACA9CF-6AC3-6A82-8B30-05DC0E261A35}"/>
              </a:ext>
            </a:extLst>
          </p:cNvPr>
          <p:cNvSpPr>
            <a:spLocks noGrp="1"/>
          </p:cNvSpPr>
          <p:nvPr>
            <p:ph idx="1"/>
          </p:nvPr>
        </p:nvSpPr>
        <p:spPr/>
        <p:txBody>
          <a:bodyPr>
            <a:normAutofit fontScale="85000" lnSpcReduction="20000"/>
          </a:bodyPr>
          <a:lstStyle/>
          <a:p>
            <a:r>
              <a:rPr lang="en-IN" dirty="0"/>
              <a:t>Also known as FILTER.</a:t>
            </a:r>
          </a:p>
          <a:p>
            <a:r>
              <a:rPr lang="en-IN" dirty="0"/>
              <a:t>Als known as FEATURE DETECTOR</a:t>
            </a:r>
          </a:p>
          <a:p>
            <a:endParaRPr lang="en-IN" dirty="0"/>
          </a:p>
          <a:p>
            <a:r>
              <a:rPr lang="en-IN" dirty="0"/>
              <a:t>A relatively small matrix compared to input matrix size.</a:t>
            </a:r>
          </a:p>
          <a:p>
            <a:endParaRPr lang="en-IN" dirty="0"/>
          </a:p>
          <a:p>
            <a:r>
              <a:rPr lang="en-IN" dirty="0"/>
              <a:t>The contents of a filter are based on what operations are to be performed on the image.</a:t>
            </a:r>
          </a:p>
          <a:p>
            <a:endParaRPr lang="en-IN" dirty="0"/>
          </a:p>
          <a:p>
            <a:r>
              <a:rPr lang="en-IN" dirty="0"/>
              <a:t>The kernel SLIDES ACROSS the input data, performing element wise multiplication with corresponding pixels within its bounds, producing a feature map.</a:t>
            </a:r>
          </a:p>
          <a:p>
            <a:endParaRPr lang="en-IN" dirty="0"/>
          </a:p>
          <a:p>
            <a:r>
              <a:rPr lang="en-IN" dirty="0"/>
              <a:t>This feature map highlights specific patterns or features in the input.</a:t>
            </a:r>
          </a:p>
        </p:txBody>
      </p:sp>
    </p:spTree>
    <p:extLst>
      <p:ext uri="{BB962C8B-B14F-4D97-AF65-F5344CB8AC3E}">
        <p14:creationId xmlns:p14="http://schemas.microsoft.com/office/powerpoint/2010/main" val="293925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fade">
                                      <p:cBhvr>
                                        <p:cTn id="1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A8E78-30DF-D4E0-A270-4F927A9AFDB7}"/>
              </a:ext>
            </a:extLst>
          </p:cNvPr>
          <p:cNvSpPr>
            <a:spLocks noGrp="1"/>
          </p:cNvSpPr>
          <p:nvPr>
            <p:ph idx="1"/>
          </p:nvPr>
        </p:nvSpPr>
        <p:spPr>
          <a:xfrm>
            <a:off x="838200" y="1182757"/>
            <a:ext cx="10515600" cy="4994206"/>
          </a:xfrm>
        </p:spPr>
        <p:txBody>
          <a:bodyPr/>
          <a:lstStyle/>
          <a:p>
            <a:endParaRPr lang="en-IN" dirty="0"/>
          </a:p>
          <a:p>
            <a:r>
              <a:rPr lang="en-IN" dirty="0"/>
              <a:t>Will differently sized KERNEL produce different convolution result?</a:t>
            </a:r>
          </a:p>
          <a:p>
            <a:endParaRPr lang="en-IN" dirty="0"/>
          </a:p>
          <a:p>
            <a:r>
              <a:rPr lang="en-IN" dirty="0"/>
              <a:t>Will a KERNEL with different pattern or content produce different convolution result?</a:t>
            </a:r>
          </a:p>
          <a:p>
            <a:endParaRPr lang="en-IN" dirty="0"/>
          </a:p>
          <a:p>
            <a:r>
              <a:rPr lang="en-IN" dirty="0"/>
              <a:t>What should be the size of the KERNEL?</a:t>
            </a:r>
          </a:p>
        </p:txBody>
      </p:sp>
    </p:spTree>
    <p:extLst>
      <p:ext uri="{BB962C8B-B14F-4D97-AF65-F5344CB8AC3E}">
        <p14:creationId xmlns:p14="http://schemas.microsoft.com/office/powerpoint/2010/main" val="309365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2968632953"/>
              </p:ext>
            </p:extLst>
          </p:nvPr>
        </p:nvGraphicFramePr>
        <p:xfrm>
          <a:off x="291549" y="228757"/>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3534114045"/>
              </p:ext>
            </p:extLst>
          </p:nvPr>
        </p:nvGraphicFramePr>
        <p:xfrm>
          <a:off x="5676157" y="785348"/>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1B1F391E-40DE-EE30-EDBC-8195DFD8BF12}"/>
              </a:ext>
            </a:extLst>
          </p:cNvPr>
          <p:cNvGraphicFramePr>
            <a:graphicFrameLocks/>
          </p:cNvGraphicFramePr>
          <p:nvPr>
            <p:extLst>
              <p:ext uri="{D42A27DB-BD31-4B8C-83A1-F6EECF244321}">
                <p14:modId xmlns:p14="http://schemas.microsoft.com/office/powerpoint/2010/main" val="2459445540"/>
              </p:ext>
            </p:extLst>
          </p:nvPr>
        </p:nvGraphicFramePr>
        <p:xfrm>
          <a:off x="291549" y="3601436"/>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5" name="Content Placeholder 3">
            <a:extLst>
              <a:ext uri="{FF2B5EF4-FFF2-40B4-BE49-F238E27FC236}">
                <a16:creationId xmlns:a16="http://schemas.microsoft.com/office/drawing/2014/main" id="{52B83A01-A4B5-72E0-C864-83C4E8E60B0C}"/>
              </a:ext>
            </a:extLst>
          </p:cNvPr>
          <p:cNvGraphicFramePr>
            <a:graphicFrameLocks/>
          </p:cNvGraphicFramePr>
          <p:nvPr>
            <p:extLst>
              <p:ext uri="{D42A27DB-BD31-4B8C-83A1-F6EECF244321}">
                <p14:modId xmlns:p14="http://schemas.microsoft.com/office/powerpoint/2010/main" val="4151615967"/>
              </p:ext>
            </p:extLst>
          </p:nvPr>
        </p:nvGraphicFramePr>
        <p:xfrm>
          <a:off x="291549" y="3601436"/>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15" name="TextBox 14">
            <a:extLst>
              <a:ext uri="{FF2B5EF4-FFF2-40B4-BE49-F238E27FC236}">
                <a16:creationId xmlns:a16="http://schemas.microsoft.com/office/drawing/2014/main" id="{B50BAC62-B3EB-6BA8-0E37-819D4E3EF583}"/>
              </a:ext>
            </a:extLst>
          </p:cNvPr>
          <p:cNvSpPr txBox="1"/>
          <p:nvPr/>
        </p:nvSpPr>
        <p:spPr>
          <a:xfrm>
            <a:off x="5676157" y="3746946"/>
            <a:ext cx="6097656" cy="1384995"/>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(1×20) +  (0×24) + (−1×11) + (2×19) + (0×17) + (−2×20) + (1×21) + (0×40) + (−1×25)</a:t>
            </a:r>
          </a:p>
        </p:txBody>
      </p:sp>
      <p:sp>
        <p:nvSpPr>
          <p:cNvPr id="16" name="TextBox 15">
            <a:extLst>
              <a:ext uri="{FF2B5EF4-FFF2-40B4-BE49-F238E27FC236}">
                <a16:creationId xmlns:a16="http://schemas.microsoft.com/office/drawing/2014/main" id="{D7017377-A131-FE5D-322A-529B53A2D5F9}"/>
              </a:ext>
            </a:extLst>
          </p:cNvPr>
          <p:cNvSpPr txBox="1"/>
          <p:nvPr/>
        </p:nvSpPr>
        <p:spPr>
          <a:xfrm>
            <a:off x="5606583" y="5261007"/>
            <a:ext cx="6097656"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 = 3</a:t>
            </a:r>
          </a:p>
        </p:txBody>
      </p:sp>
      <p:graphicFrame>
        <p:nvGraphicFramePr>
          <p:cNvPr id="17" name="Content Placeholder 3">
            <a:extLst>
              <a:ext uri="{FF2B5EF4-FFF2-40B4-BE49-F238E27FC236}">
                <a16:creationId xmlns:a16="http://schemas.microsoft.com/office/drawing/2014/main" id="{5DCC0A2C-CF57-2F8E-EA75-04A2750F6521}"/>
              </a:ext>
            </a:extLst>
          </p:cNvPr>
          <p:cNvGraphicFramePr>
            <a:graphicFrameLocks/>
          </p:cNvGraphicFramePr>
          <p:nvPr>
            <p:extLst>
              <p:ext uri="{D42A27DB-BD31-4B8C-83A1-F6EECF244321}">
                <p14:modId xmlns:p14="http://schemas.microsoft.com/office/powerpoint/2010/main" val="3622372098"/>
              </p:ext>
            </p:extLst>
          </p:nvPr>
        </p:nvGraphicFramePr>
        <p:xfrm>
          <a:off x="9308451" y="785348"/>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73238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2789-4354-0653-DD04-96495199B6F9}"/>
              </a:ext>
            </a:extLst>
          </p:cNvPr>
          <p:cNvSpPr>
            <a:spLocks noGrp="1"/>
          </p:cNvSpPr>
          <p:nvPr>
            <p:ph type="title"/>
          </p:nvPr>
        </p:nvSpPr>
        <p:spPr/>
        <p:txBody>
          <a:bodyPr/>
          <a:lstStyle/>
          <a:p>
            <a:pPr algn="ctr"/>
            <a:r>
              <a:rPr lang="en-IN" dirty="0"/>
              <a:t>What is a STRIDE?</a:t>
            </a:r>
          </a:p>
        </p:txBody>
      </p:sp>
      <p:sp>
        <p:nvSpPr>
          <p:cNvPr id="3" name="Content Placeholder 2">
            <a:extLst>
              <a:ext uri="{FF2B5EF4-FFF2-40B4-BE49-F238E27FC236}">
                <a16:creationId xmlns:a16="http://schemas.microsoft.com/office/drawing/2014/main" id="{C067AC85-8B3F-6395-04D6-4468A90390B4}"/>
              </a:ext>
            </a:extLst>
          </p:cNvPr>
          <p:cNvSpPr>
            <a:spLocks noGrp="1"/>
          </p:cNvSpPr>
          <p:nvPr>
            <p:ph idx="1"/>
          </p:nvPr>
        </p:nvSpPr>
        <p:spPr/>
        <p:txBody>
          <a:bodyPr>
            <a:normAutofit fontScale="92500"/>
          </a:bodyPr>
          <a:lstStyle/>
          <a:p>
            <a:pPr algn="just"/>
            <a:r>
              <a:rPr lang="en-US" dirty="0"/>
              <a:t>A stride in convolutional operations refers to how much the kernel moves across the input matrix during each step of the convolution. It determines the spacing between applications of the kernel over the input data.</a:t>
            </a:r>
          </a:p>
          <a:p>
            <a:pPr algn="just"/>
            <a:endParaRPr lang="en-US" dirty="0"/>
          </a:p>
          <a:p>
            <a:pPr lvl="1" algn="just"/>
            <a:r>
              <a:rPr lang="en-US" sz="2800" dirty="0"/>
              <a:t>Stride = 1: The kernel moves one pixel (or one element) at a time, both horizontally and vertically. This is the most common setting and ensures that every part of the input matrix is covered.</a:t>
            </a:r>
          </a:p>
          <a:p>
            <a:pPr lvl="1" algn="just"/>
            <a:endParaRPr lang="en-US" sz="2800" dirty="0"/>
          </a:p>
          <a:p>
            <a:pPr lvl="1" algn="just"/>
            <a:r>
              <a:rPr lang="en-US" sz="2800" dirty="0"/>
              <a:t>Stride &gt; 1: The kernel moves more than one pixel at a time. For example, if the stride is 2, the kernel skips one element between each move, effectively down-sampling the input.</a:t>
            </a:r>
            <a:endParaRPr lang="en-IN" sz="2800" dirty="0"/>
          </a:p>
        </p:txBody>
      </p:sp>
    </p:spTree>
    <p:extLst>
      <p:ext uri="{BB962C8B-B14F-4D97-AF65-F5344CB8AC3E}">
        <p14:creationId xmlns:p14="http://schemas.microsoft.com/office/powerpoint/2010/main" val="312856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F7B9-951A-E289-5504-4F9ADC0B5A74}"/>
              </a:ext>
            </a:extLst>
          </p:cNvPr>
          <p:cNvSpPr>
            <a:spLocks noGrp="1"/>
          </p:cNvSpPr>
          <p:nvPr>
            <p:ph type="title"/>
          </p:nvPr>
        </p:nvSpPr>
        <p:spPr/>
        <p:txBody>
          <a:bodyPr/>
          <a:lstStyle/>
          <a:p>
            <a:pPr algn="ctr"/>
            <a:r>
              <a:rPr lang="en-IN" dirty="0"/>
              <a:t>How Stride Affects Output?</a:t>
            </a:r>
          </a:p>
        </p:txBody>
      </p:sp>
      <p:sp>
        <p:nvSpPr>
          <p:cNvPr id="3" name="Content Placeholder 2">
            <a:extLst>
              <a:ext uri="{FF2B5EF4-FFF2-40B4-BE49-F238E27FC236}">
                <a16:creationId xmlns:a16="http://schemas.microsoft.com/office/drawing/2014/main" id="{461D4FD4-4E5F-1033-7B09-378C16F2CE50}"/>
              </a:ext>
            </a:extLst>
          </p:cNvPr>
          <p:cNvSpPr>
            <a:spLocks noGrp="1"/>
          </p:cNvSpPr>
          <p:nvPr>
            <p:ph idx="1"/>
          </p:nvPr>
        </p:nvSpPr>
        <p:spPr/>
        <p:txBody>
          <a:bodyPr>
            <a:normAutofit lnSpcReduction="10000"/>
          </a:bodyPr>
          <a:lstStyle/>
          <a:p>
            <a:pPr algn="just"/>
            <a:r>
              <a:rPr lang="en-US" sz="3600" dirty="0"/>
              <a:t>Smaller stride (e.g., 1): </a:t>
            </a:r>
          </a:p>
          <a:p>
            <a:pPr lvl="1" algn="just"/>
            <a:r>
              <a:rPr lang="en-US" sz="3200" dirty="0"/>
              <a:t>Results in a larger output matrix because the kernel moves less between each application, allowing more overlaps and covering more areas of the input matrix.</a:t>
            </a:r>
          </a:p>
          <a:p>
            <a:pPr algn="just"/>
            <a:endParaRPr lang="en-US" sz="3600" dirty="0"/>
          </a:p>
          <a:p>
            <a:pPr algn="just"/>
            <a:r>
              <a:rPr lang="en-US" sz="3600" dirty="0"/>
              <a:t>Larger stride (e.g., 2 or 3): </a:t>
            </a:r>
          </a:p>
          <a:p>
            <a:pPr lvl="1" algn="just"/>
            <a:r>
              <a:rPr lang="en-US" sz="3200" dirty="0"/>
              <a:t>Produces a smaller output matrix because the kernel skips more elements, resulting in fewer positions for the kernel to be applied.</a:t>
            </a:r>
            <a:endParaRPr lang="en-IN" sz="3200" dirty="0"/>
          </a:p>
        </p:txBody>
      </p:sp>
    </p:spTree>
    <p:extLst>
      <p:ext uri="{BB962C8B-B14F-4D97-AF65-F5344CB8AC3E}">
        <p14:creationId xmlns:p14="http://schemas.microsoft.com/office/powerpoint/2010/main" val="190211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B08C4-8D80-B746-7EC0-352F4F88E89D}"/>
              </a:ext>
            </a:extLst>
          </p:cNvPr>
          <p:cNvSpPr>
            <a:spLocks noGrp="1"/>
          </p:cNvSpPr>
          <p:nvPr>
            <p:ph type="title"/>
          </p:nvPr>
        </p:nvSpPr>
        <p:spPr/>
        <p:txBody>
          <a:bodyPr/>
          <a:lstStyle/>
          <a:p>
            <a:pPr algn="ctr"/>
            <a:r>
              <a:rPr lang="en-IN" dirty="0"/>
              <a:t>Formula for Output Size</a:t>
            </a:r>
          </a:p>
        </p:txBody>
      </p:sp>
      <p:pic>
        <p:nvPicPr>
          <p:cNvPr id="5" name="Content Placeholder 4">
            <a:extLst>
              <a:ext uri="{FF2B5EF4-FFF2-40B4-BE49-F238E27FC236}">
                <a16:creationId xmlns:a16="http://schemas.microsoft.com/office/drawing/2014/main" id="{9A1312C2-43E5-5B20-739E-F7E50CC5EDAA}"/>
              </a:ext>
            </a:extLst>
          </p:cNvPr>
          <p:cNvPicPr>
            <a:picLocks noGrp="1" noChangeAspect="1"/>
          </p:cNvPicPr>
          <p:nvPr>
            <p:ph idx="1"/>
          </p:nvPr>
        </p:nvPicPr>
        <p:blipFill>
          <a:blip r:embed="rId2"/>
          <a:stretch>
            <a:fillRect/>
          </a:stretch>
        </p:blipFill>
        <p:spPr>
          <a:xfrm>
            <a:off x="3621487" y="2162353"/>
            <a:ext cx="4949025" cy="1405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BA67E965-660E-FF47-419D-C9A99B24F04E}"/>
              </a:ext>
            </a:extLst>
          </p:cNvPr>
          <p:cNvSpPr txBox="1"/>
          <p:nvPr/>
        </p:nvSpPr>
        <p:spPr>
          <a:xfrm>
            <a:off x="4989444" y="4353339"/>
            <a:ext cx="2912165" cy="132343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N – input matrix size</a:t>
            </a:r>
          </a:p>
          <a:p>
            <a:r>
              <a:rPr lang="en-IN" sz="2000" b="1" dirty="0">
                <a:latin typeface="Times New Roman" panose="02020603050405020304" pitchFamily="18" charset="0"/>
                <a:cs typeface="Times New Roman" panose="02020603050405020304" pitchFamily="18" charset="0"/>
              </a:rPr>
              <a:t>K – Kernel matrix size</a:t>
            </a:r>
          </a:p>
          <a:p>
            <a:r>
              <a:rPr lang="en-IN" sz="2000" b="1" dirty="0">
                <a:latin typeface="Times New Roman" panose="02020603050405020304" pitchFamily="18" charset="0"/>
                <a:cs typeface="Times New Roman" panose="02020603050405020304" pitchFamily="18" charset="0"/>
              </a:rPr>
              <a:t>S – stride value</a:t>
            </a:r>
          </a:p>
          <a:p>
            <a:r>
              <a:rPr lang="en-IN" sz="2000" b="1" dirty="0">
                <a:latin typeface="Times New Roman" panose="02020603050405020304" pitchFamily="18" charset="0"/>
                <a:cs typeface="Times New Roman" panose="02020603050405020304" pitchFamily="18" charset="0"/>
              </a:rPr>
              <a:t>P – Padding value</a:t>
            </a:r>
          </a:p>
        </p:txBody>
      </p:sp>
    </p:spTree>
    <p:extLst>
      <p:ext uri="{BB962C8B-B14F-4D97-AF65-F5344CB8AC3E}">
        <p14:creationId xmlns:p14="http://schemas.microsoft.com/office/powerpoint/2010/main" val="242626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nvPr>
        </p:nvGraphicFramePr>
        <p:xfrm>
          <a:off x="291549" y="228757"/>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nvGraphicFramePr>
        <p:xfrm>
          <a:off x="5676157" y="785348"/>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1B1F391E-40DE-EE30-EDBC-8195DFD8BF12}"/>
              </a:ext>
            </a:extLst>
          </p:cNvPr>
          <p:cNvGraphicFramePr>
            <a:graphicFrameLocks/>
          </p:cNvGraphicFramePr>
          <p:nvPr>
            <p:extLst>
              <p:ext uri="{D42A27DB-BD31-4B8C-83A1-F6EECF244321}">
                <p14:modId xmlns:p14="http://schemas.microsoft.com/office/powerpoint/2010/main" val="1687554724"/>
              </p:ext>
            </p:extLst>
          </p:nvPr>
        </p:nvGraphicFramePr>
        <p:xfrm>
          <a:off x="291549" y="3601436"/>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5" name="Content Placeholder 3">
            <a:extLst>
              <a:ext uri="{FF2B5EF4-FFF2-40B4-BE49-F238E27FC236}">
                <a16:creationId xmlns:a16="http://schemas.microsoft.com/office/drawing/2014/main" id="{52B83A01-A4B5-72E0-C864-83C4E8E60B0C}"/>
              </a:ext>
            </a:extLst>
          </p:cNvPr>
          <p:cNvGraphicFramePr>
            <a:graphicFrameLocks/>
          </p:cNvGraphicFramePr>
          <p:nvPr>
            <p:extLst>
              <p:ext uri="{D42A27DB-BD31-4B8C-83A1-F6EECF244321}">
                <p14:modId xmlns:p14="http://schemas.microsoft.com/office/powerpoint/2010/main" val="3259457485"/>
              </p:ext>
            </p:extLst>
          </p:nvPr>
        </p:nvGraphicFramePr>
        <p:xfrm>
          <a:off x="1136376" y="3591511"/>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6" name="Content Placeholder 3">
            <a:extLst>
              <a:ext uri="{FF2B5EF4-FFF2-40B4-BE49-F238E27FC236}">
                <a16:creationId xmlns:a16="http://schemas.microsoft.com/office/drawing/2014/main" id="{86FF001C-1FA1-81CE-D4F5-6C7DB255D7F8}"/>
              </a:ext>
            </a:extLst>
          </p:cNvPr>
          <p:cNvGraphicFramePr>
            <a:graphicFrameLocks/>
          </p:cNvGraphicFramePr>
          <p:nvPr>
            <p:extLst>
              <p:ext uri="{D42A27DB-BD31-4B8C-83A1-F6EECF244321}">
                <p14:modId xmlns:p14="http://schemas.microsoft.com/office/powerpoint/2010/main" val="613765717"/>
              </p:ext>
            </p:extLst>
          </p:nvPr>
        </p:nvGraphicFramePr>
        <p:xfrm>
          <a:off x="7678434" y="4048711"/>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30179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3">
            <a:extLst>
              <a:ext uri="{FF2B5EF4-FFF2-40B4-BE49-F238E27FC236}">
                <a16:creationId xmlns:a16="http://schemas.microsoft.com/office/drawing/2014/main" id="{1B1F391E-40DE-EE30-EDBC-8195DFD8BF12}"/>
              </a:ext>
            </a:extLst>
          </p:cNvPr>
          <p:cNvGraphicFramePr>
            <a:graphicFrameLocks/>
          </p:cNvGraphicFramePr>
          <p:nvPr>
            <p:extLst>
              <p:ext uri="{D42A27DB-BD31-4B8C-83A1-F6EECF244321}">
                <p14:modId xmlns:p14="http://schemas.microsoft.com/office/powerpoint/2010/main" val="2553185997"/>
              </p:ext>
            </p:extLst>
          </p:nvPr>
        </p:nvGraphicFramePr>
        <p:xfrm>
          <a:off x="440636" y="510366"/>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5" name="Content Placeholder 3">
            <a:extLst>
              <a:ext uri="{FF2B5EF4-FFF2-40B4-BE49-F238E27FC236}">
                <a16:creationId xmlns:a16="http://schemas.microsoft.com/office/drawing/2014/main" id="{52B83A01-A4B5-72E0-C864-83C4E8E60B0C}"/>
              </a:ext>
            </a:extLst>
          </p:cNvPr>
          <p:cNvGraphicFramePr>
            <a:graphicFrameLocks/>
          </p:cNvGraphicFramePr>
          <p:nvPr>
            <p:extLst>
              <p:ext uri="{D42A27DB-BD31-4B8C-83A1-F6EECF244321}">
                <p14:modId xmlns:p14="http://schemas.microsoft.com/office/powerpoint/2010/main" val="4231627481"/>
              </p:ext>
            </p:extLst>
          </p:nvPr>
        </p:nvGraphicFramePr>
        <p:xfrm>
          <a:off x="2189924" y="500441"/>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6" name="Content Placeholder 3">
            <a:extLst>
              <a:ext uri="{FF2B5EF4-FFF2-40B4-BE49-F238E27FC236}">
                <a16:creationId xmlns:a16="http://schemas.microsoft.com/office/drawing/2014/main" id="{86FF001C-1FA1-81CE-D4F5-6C7DB255D7F8}"/>
              </a:ext>
            </a:extLst>
          </p:cNvPr>
          <p:cNvGraphicFramePr>
            <a:graphicFrameLocks/>
          </p:cNvGraphicFramePr>
          <p:nvPr>
            <p:extLst>
              <p:ext uri="{D42A27DB-BD31-4B8C-83A1-F6EECF244321}">
                <p14:modId xmlns:p14="http://schemas.microsoft.com/office/powerpoint/2010/main" val="3739507512"/>
              </p:ext>
            </p:extLst>
          </p:nvPr>
        </p:nvGraphicFramePr>
        <p:xfrm>
          <a:off x="8085938" y="957641"/>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graphicFrame>
        <p:nvGraphicFramePr>
          <p:cNvPr id="9" name="Content Placeholder 3">
            <a:extLst>
              <a:ext uri="{FF2B5EF4-FFF2-40B4-BE49-F238E27FC236}">
                <a16:creationId xmlns:a16="http://schemas.microsoft.com/office/drawing/2014/main" id="{3AD9DBAE-3A28-213C-54DC-884C0B7BB7DF}"/>
              </a:ext>
            </a:extLst>
          </p:cNvPr>
          <p:cNvGraphicFramePr>
            <a:graphicFrameLocks/>
          </p:cNvGraphicFramePr>
          <p:nvPr>
            <p:extLst>
              <p:ext uri="{D42A27DB-BD31-4B8C-83A1-F6EECF244321}">
                <p14:modId xmlns:p14="http://schemas.microsoft.com/office/powerpoint/2010/main" val="1203234738"/>
              </p:ext>
            </p:extLst>
          </p:nvPr>
        </p:nvGraphicFramePr>
        <p:xfrm>
          <a:off x="440636" y="3773713"/>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10" name="Content Placeholder 3">
            <a:extLst>
              <a:ext uri="{FF2B5EF4-FFF2-40B4-BE49-F238E27FC236}">
                <a16:creationId xmlns:a16="http://schemas.microsoft.com/office/drawing/2014/main" id="{AF0CC379-27EC-BD24-DA25-872F98AEE8E4}"/>
              </a:ext>
            </a:extLst>
          </p:cNvPr>
          <p:cNvGraphicFramePr>
            <a:graphicFrameLocks/>
          </p:cNvGraphicFramePr>
          <p:nvPr>
            <p:extLst>
              <p:ext uri="{D42A27DB-BD31-4B8C-83A1-F6EECF244321}">
                <p14:modId xmlns:p14="http://schemas.microsoft.com/office/powerpoint/2010/main" val="2442496610"/>
              </p:ext>
            </p:extLst>
          </p:nvPr>
        </p:nvGraphicFramePr>
        <p:xfrm>
          <a:off x="3032636" y="3763788"/>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11" name="Content Placeholder 3">
            <a:extLst>
              <a:ext uri="{FF2B5EF4-FFF2-40B4-BE49-F238E27FC236}">
                <a16:creationId xmlns:a16="http://schemas.microsoft.com/office/drawing/2014/main" id="{FAC8A070-D3B2-CA82-943C-382210E1ECF0}"/>
              </a:ext>
            </a:extLst>
          </p:cNvPr>
          <p:cNvGraphicFramePr>
            <a:graphicFrameLocks/>
          </p:cNvGraphicFramePr>
          <p:nvPr>
            <p:extLst>
              <p:ext uri="{D42A27DB-BD31-4B8C-83A1-F6EECF244321}">
                <p14:modId xmlns:p14="http://schemas.microsoft.com/office/powerpoint/2010/main" val="619582168"/>
              </p:ext>
            </p:extLst>
          </p:nvPr>
        </p:nvGraphicFramePr>
        <p:xfrm>
          <a:off x="8085938" y="4220988"/>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377378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3">
            <a:extLst>
              <a:ext uri="{FF2B5EF4-FFF2-40B4-BE49-F238E27FC236}">
                <a16:creationId xmlns:a16="http://schemas.microsoft.com/office/drawing/2014/main" id="{3AD9DBAE-3A28-213C-54DC-884C0B7BB7DF}"/>
              </a:ext>
            </a:extLst>
          </p:cNvPr>
          <p:cNvGraphicFramePr>
            <a:graphicFrameLocks/>
          </p:cNvGraphicFramePr>
          <p:nvPr>
            <p:extLst>
              <p:ext uri="{D42A27DB-BD31-4B8C-83A1-F6EECF244321}">
                <p14:modId xmlns:p14="http://schemas.microsoft.com/office/powerpoint/2010/main" val="1288582463"/>
              </p:ext>
            </p:extLst>
          </p:nvPr>
        </p:nvGraphicFramePr>
        <p:xfrm>
          <a:off x="1116497" y="1706373"/>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10" name="Content Placeholder 3">
            <a:extLst>
              <a:ext uri="{FF2B5EF4-FFF2-40B4-BE49-F238E27FC236}">
                <a16:creationId xmlns:a16="http://schemas.microsoft.com/office/drawing/2014/main" id="{AF0CC379-27EC-BD24-DA25-872F98AEE8E4}"/>
              </a:ext>
            </a:extLst>
          </p:cNvPr>
          <p:cNvGraphicFramePr>
            <a:graphicFrameLocks/>
          </p:cNvGraphicFramePr>
          <p:nvPr>
            <p:extLst>
              <p:ext uri="{D42A27DB-BD31-4B8C-83A1-F6EECF244321}">
                <p14:modId xmlns:p14="http://schemas.microsoft.com/office/powerpoint/2010/main" val="1016125639"/>
              </p:ext>
            </p:extLst>
          </p:nvPr>
        </p:nvGraphicFramePr>
        <p:xfrm>
          <a:off x="1116497" y="2153648"/>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400" b="1"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11" name="Content Placeholder 3">
            <a:extLst>
              <a:ext uri="{FF2B5EF4-FFF2-40B4-BE49-F238E27FC236}">
                <a16:creationId xmlns:a16="http://schemas.microsoft.com/office/drawing/2014/main" id="{FAC8A070-D3B2-CA82-943C-382210E1ECF0}"/>
              </a:ext>
            </a:extLst>
          </p:cNvPr>
          <p:cNvGraphicFramePr>
            <a:graphicFrameLocks/>
          </p:cNvGraphicFramePr>
          <p:nvPr>
            <p:extLst>
              <p:ext uri="{D42A27DB-BD31-4B8C-83A1-F6EECF244321}">
                <p14:modId xmlns:p14="http://schemas.microsoft.com/office/powerpoint/2010/main" val="939603207"/>
              </p:ext>
            </p:extLst>
          </p:nvPr>
        </p:nvGraphicFramePr>
        <p:xfrm>
          <a:off x="8761799" y="2153648"/>
          <a:ext cx="2592000" cy="195072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r>
                        <a:rPr lang="en-IN" sz="3200" b="1" dirty="0">
                          <a:solidFill>
                            <a:schemeClr val="accent2">
                              <a:lumMod val="75000"/>
                            </a:schemeClr>
                          </a:solidFill>
                          <a:latin typeface="Times New Roman" panose="02020603050405020304" pitchFamily="18" charset="0"/>
                          <a:cs typeface="Times New Roman" panose="02020603050405020304" pitchFamily="18" charset="0"/>
                        </a:rPr>
                        <a:t>-</a:t>
                      </a: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325929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3">
            <a:extLst>
              <a:ext uri="{FF2B5EF4-FFF2-40B4-BE49-F238E27FC236}">
                <a16:creationId xmlns:a16="http://schemas.microsoft.com/office/drawing/2014/main" id="{1B1F391E-40DE-EE30-EDBC-8195DFD8BF12}"/>
              </a:ext>
            </a:extLst>
          </p:cNvPr>
          <p:cNvGraphicFramePr>
            <a:graphicFrameLocks/>
          </p:cNvGraphicFramePr>
          <p:nvPr>
            <p:extLst>
              <p:ext uri="{D42A27DB-BD31-4B8C-83A1-F6EECF244321}">
                <p14:modId xmlns:p14="http://schemas.microsoft.com/office/powerpoint/2010/main" val="415333513"/>
              </p:ext>
            </p:extLst>
          </p:nvPr>
        </p:nvGraphicFramePr>
        <p:xfrm>
          <a:off x="838201" y="1757410"/>
          <a:ext cx="5184000" cy="27432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gridCol w="864000">
                  <a:extLst>
                    <a:ext uri="{9D8B030D-6E8A-4147-A177-3AD203B41FA5}">
                      <a16:colId xmlns:a16="http://schemas.microsoft.com/office/drawing/2014/main" val="3500048858"/>
                    </a:ext>
                  </a:extLst>
                </a:gridCol>
                <a:gridCol w="864000">
                  <a:extLst>
                    <a:ext uri="{9D8B030D-6E8A-4147-A177-3AD203B41FA5}">
                      <a16:colId xmlns:a16="http://schemas.microsoft.com/office/drawing/2014/main" val="1076505211"/>
                    </a:ext>
                  </a:extLst>
                </a:gridCol>
                <a:gridCol w="864000">
                  <a:extLst>
                    <a:ext uri="{9D8B030D-6E8A-4147-A177-3AD203B41FA5}">
                      <a16:colId xmlns:a16="http://schemas.microsoft.com/office/drawing/2014/main" val="534341401"/>
                    </a:ext>
                  </a:extLst>
                </a:gridCol>
              </a:tblGrid>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09769987"/>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4284480"/>
                  </a:ext>
                </a:extLst>
              </a:tr>
              <a:tr h="432000">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15464804"/>
                  </a:ext>
                </a:extLst>
              </a:tr>
            </a:tbl>
          </a:graphicData>
        </a:graphic>
      </p:graphicFrame>
      <p:graphicFrame>
        <p:nvGraphicFramePr>
          <p:cNvPr id="11" name="Content Placeholder 3">
            <a:extLst>
              <a:ext uri="{FF2B5EF4-FFF2-40B4-BE49-F238E27FC236}">
                <a16:creationId xmlns:a16="http://schemas.microsoft.com/office/drawing/2014/main" id="{FAC8A070-D3B2-CA82-943C-382210E1ECF0}"/>
              </a:ext>
            </a:extLst>
          </p:cNvPr>
          <p:cNvGraphicFramePr>
            <a:graphicFrameLocks/>
          </p:cNvGraphicFramePr>
          <p:nvPr>
            <p:extLst>
              <p:ext uri="{D42A27DB-BD31-4B8C-83A1-F6EECF244321}">
                <p14:modId xmlns:p14="http://schemas.microsoft.com/office/powerpoint/2010/main" val="2797791127"/>
              </p:ext>
            </p:extLst>
          </p:nvPr>
        </p:nvGraphicFramePr>
        <p:xfrm>
          <a:off x="7266418" y="3555067"/>
          <a:ext cx="2592000" cy="195072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r>
                        <a:rPr lang="en-IN" sz="3200" b="1" dirty="0">
                          <a:solidFill>
                            <a:schemeClr val="accent2">
                              <a:lumMod val="75000"/>
                            </a:schemeClr>
                          </a:solidFill>
                          <a:latin typeface="Times New Roman" panose="02020603050405020304" pitchFamily="18" charset="0"/>
                          <a:cs typeface="Times New Roman" panose="02020603050405020304" pitchFamily="18" charset="0"/>
                        </a:rPr>
                        <a:t>-</a:t>
                      </a: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graphicFrame>
        <p:nvGraphicFramePr>
          <p:cNvPr id="2" name="Content Placeholder 3">
            <a:extLst>
              <a:ext uri="{FF2B5EF4-FFF2-40B4-BE49-F238E27FC236}">
                <a16:creationId xmlns:a16="http://schemas.microsoft.com/office/drawing/2014/main" id="{1D588CAE-98DF-E0EC-B07F-B080279068ED}"/>
              </a:ext>
            </a:extLst>
          </p:cNvPr>
          <p:cNvGraphicFramePr>
            <a:graphicFrameLocks/>
          </p:cNvGraphicFramePr>
          <p:nvPr>
            <p:extLst>
              <p:ext uri="{D42A27DB-BD31-4B8C-83A1-F6EECF244321}">
                <p14:modId xmlns:p14="http://schemas.microsoft.com/office/powerpoint/2010/main" val="580890460"/>
              </p:ext>
            </p:extLst>
          </p:nvPr>
        </p:nvGraphicFramePr>
        <p:xfrm>
          <a:off x="7266418" y="685800"/>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4" name="TextBox 3">
            <a:extLst>
              <a:ext uri="{FF2B5EF4-FFF2-40B4-BE49-F238E27FC236}">
                <a16:creationId xmlns:a16="http://schemas.microsoft.com/office/drawing/2014/main" id="{E82C8252-B727-1194-D7C8-289418021147}"/>
              </a:ext>
            </a:extLst>
          </p:cNvPr>
          <p:cNvSpPr txBox="1"/>
          <p:nvPr/>
        </p:nvSpPr>
        <p:spPr>
          <a:xfrm>
            <a:off x="7450205" y="5917960"/>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Tree>
    <p:extLst>
      <p:ext uri="{BB962C8B-B14F-4D97-AF65-F5344CB8AC3E}">
        <p14:creationId xmlns:p14="http://schemas.microsoft.com/office/powerpoint/2010/main" val="655766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A8E78-30DF-D4E0-A270-4F927A9AFDB7}"/>
              </a:ext>
            </a:extLst>
          </p:cNvPr>
          <p:cNvSpPr>
            <a:spLocks noGrp="1"/>
          </p:cNvSpPr>
          <p:nvPr>
            <p:ph idx="1"/>
          </p:nvPr>
        </p:nvSpPr>
        <p:spPr>
          <a:xfrm>
            <a:off x="838200" y="1182757"/>
            <a:ext cx="10515600" cy="4994206"/>
          </a:xfrm>
        </p:spPr>
        <p:txBody>
          <a:bodyPr/>
          <a:lstStyle/>
          <a:p>
            <a:r>
              <a:rPr lang="en-IN" dirty="0"/>
              <a:t>Will differently sized KERNEL produce different convolution result?</a:t>
            </a:r>
          </a:p>
          <a:p>
            <a:r>
              <a:rPr lang="en-IN" dirty="0"/>
              <a:t>YES</a:t>
            </a:r>
          </a:p>
          <a:p>
            <a:endParaRPr lang="en-IN" dirty="0"/>
          </a:p>
          <a:p>
            <a:r>
              <a:rPr lang="en-IN" dirty="0"/>
              <a:t>Will a KERNEL with different pattern or content produce different convolution result?</a:t>
            </a:r>
          </a:p>
          <a:p>
            <a:r>
              <a:rPr lang="en-IN" dirty="0"/>
              <a:t>YES</a:t>
            </a:r>
          </a:p>
          <a:p>
            <a:endParaRPr lang="en-IN" dirty="0"/>
          </a:p>
          <a:p>
            <a:r>
              <a:rPr lang="en-IN" dirty="0"/>
              <a:t>What should be the size of the KERNEL?</a:t>
            </a:r>
          </a:p>
          <a:p>
            <a:r>
              <a:rPr lang="en-IN" dirty="0"/>
              <a:t>Arbitrary but usually 3x3 is preferred choice.</a:t>
            </a:r>
          </a:p>
        </p:txBody>
      </p:sp>
    </p:spTree>
    <p:extLst>
      <p:ext uri="{BB962C8B-B14F-4D97-AF65-F5344CB8AC3E}">
        <p14:creationId xmlns:p14="http://schemas.microsoft.com/office/powerpoint/2010/main" val="3113013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9149-0C46-6DF5-43AD-15E14FF6757C}"/>
              </a:ext>
            </a:extLst>
          </p:cNvPr>
          <p:cNvSpPr>
            <a:spLocks noGrp="1"/>
          </p:cNvSpPr>
          <p:nvPr>
            <p:ph type="title"/>
          </p:nvPr>
        </p:nvSpPr>
        <p:spPr>
          <a:xfrm>
            <a:off x="838200" y="365126"/>
            <a:ext cx="10515600" cy="519458"/>
          </a:xfrm>
        </p:spPr>
        <p:txBody>
          <a:bodyPr>
            <a:normAutofit fontScale="90000"/>
          </a:bodyPr>
          <a:lstStyle/>
          <a:p>
            <a:pPr algn="ctr"/>
            <a:r>
              <a:rPr lang="en-IN" dirty="0"/>
              <a:t>Padding</a:t>
            </a:r>
          </a:p>
        </p:txBody>
      </p:sp>
      <p:sp>
        <p:nvSpPr>
          <p:cNvPr id="3" name="Content Placeholder 2">
            <a:extLst>
              <a:ext uri="{FF2B5EF4-FFF2-40B4-BE49-F238E27FC236}">
                <a16:creationId xmlns:a16="http://schemas.microsoft.com/office/drawing/2014/main" id="{F3872608-75AF-08E8-5CF0-B5C2C855B926}"/>
              </a:ext>
            </a:extLst>
          </p:cNvPr>
          <p:cNvSpPr>
            <a:spLocks noGrp="1"/>
          </p:cNvSpPr>
          <p:nvPr>
            <p:ph idx="1"/>
          </p:nvPr>
        </p:nvSpPr>
        <p:spPr>
          <a:xfrm>
            <a:off x="838200" y="1123122"/>
            <a:ext cx="10515600" cy="5053841"/>
          </a:xfrm>
        </p:spPr>
        <p:txBody>
          <a:bodyPr>
            <a:normAutofit/>
          </a:bodyPr>
          <a:lstStyle/>
          <a:p>
            <a:pPr algn="just"/>
            <a:r>
              <a:rPr lang="en-US" dirty="0"/>
              <a:t>Padding refers to adding extra layers of zeros (or other values) around the input matrix to control the size of the output matrix after convolution.</a:t>
            </a:r>
          </a:p>
          <a:p>
            <a:pPr algn="just"/>
            <a:r>
              <a:rPr lang="en-US" dirty="0">
                <a:solidFill>
                  <a:srgbClr val="FF0000"/>
                </a:solidFill>
              </a:rPr>
              <a:t>Preserving Spatial Dimensions</a:t>
            </a:r>
            <a:r>
              <a:rPr lang="en-US" dirty="0"/>
              <a:t>: </a:t>
            </a:r>
          </a:p>
          <a:p>
            <a:pPr lvl="1" algn="just"/>
            <a:r>
              <a:rPr lang="en-US" dirty="0"/>
              <a:t>Without padding, the output size of a convolution layer becomes smaller than the input size because the filter slides over the input image and cannot go beyond the edges. Padding helps maintain the spatial dimensions of the input so that the output size remains consistent, which can be important for certain network architectures.</a:t>
            </a:r>
          </a:p>
          <a:p>
            <a:pPr algn="just"/>
            <a:r>
              <a:rPr lang="en-US" dirty="0">
                <a:solidFill>
                  <a:srgbClr val="FF0000"/>
                </a:solidFill>
              </a:rPr>
              <a:t>Control Over Output Size: </a:t>
            </a:r>
          </a:p>
          <a:p>
            <a:pPr lvl="1" algn="just"/>
            <a:r>
              <a:rPr lang="en-US" dirty="0"/>
              <a:t>By adding padding, you have more control over the output size of the feature maps. This is particularly useful in cases where you need to produce an output with the same size as the input.</a:t>
            </a:r>
            <a:endParaRPr lang="en-IN" dirty="0"/>
          </a:p>
        </p:txBody>
      </p:sp>
    </p:spTree>
    <p:extLst>
      <p:ext uri="{BB962C8B-B14F-4D97-AF65-F5344CB8AC3E}">
        <p14:creationId xmlns:p14="http://schemas.microsoft.com/office/powerpoint/2010/main" val="330446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F69DA-3C49-C3D8-95CF-D6351A606F0F}"/>
              </a:ext>
            </a:extLst>
          </p:cNvPr>
          <p:cNvSpPr>
            <a:spLocks noGrp="1"/>
          </p:cNvSpPr>
          <p:nvPr>
            <p:ph idx="1"/>
          </p:nvPr>
        </p:nvSpPr>
        <p:spPr>
          <a:xfrm>
            <a:off x="838200" y="506896"/>
            <a:ext cx="10515600" cy="6102626"/>
          </a:xfrm>
        </p:spPr>
        <p:txBody>
          <a:bodyPr>
            <a:normAutofit lnSpcReduction="10000"/>
          </a:bodyPr>
          <a:lstStyle/>
          <a:p>
            <a:pPr algn="just"/>
            <a:r>
              <a:rPr lang="en-US" dirty="0">
                <a:solidFill>
                  <a:srgbClr val="FF0000"/>
                </a:solidFill>
              </a:rPr>
              <a:t>Prevent Information Loss at Borders: </a:t>
            </a:r>
          </a:p>
          <a:p>
            <a:pPr lvl="1" algn="just"/>
            <a:r>
              <a:rPr lang="en-US" dirty="0"/>
              <a:t>Without padding, pixels near the edges of an image are only covered by the filter a few times, compared to the central pixels which are covered more. This can lead to a loss of information from the border areas. Padding ensures that all parts of the image, including the edges, are equally considered.</a:t>
            </a:r>
          </a:p>
          <a:p>
            <a:pPr algn="just"/>
            <a:endParaRPr lang="en-US" dirty="0"/>
          </a:p>
          <a:p>
            <a:pPr algn="just"/>
            <a:r>
              <a:rPr lang="en-US" dirty="0">
                <a:solidFill>
                  <a:srgbClr val="FF0000"/>
                </a:solidFill>
              </a:rPr>
              <a:t>Improve Performance in Deeper Layers: </a:t>
            </a:r>
          </a:p>
          <a:p>
            <a:pPr lvl="1" algn="just"/>
            <a:r>
              <a:rPr lang="en-US" dirty="0"/>
              <a:t>As the CNN gets deeper, without padding, the spatial size of the feature maps would continue to shrink with each layer, eventually making them too small to extract meaningful information. Padding helps preserve the size, allowing the network to extract features at various levels effectively.</a:t>
            </a:r>
          </a:p>
          <a:p>
            <a:pPr algn="just"/>
            <a:endParaRPr lang="en-US" dirty="0"/>
          </a:p>
          <a:p>
            <a:pPr algn="just"/>
            <a:r>
              <a:rPr lang="en-US" dirty="0">
                <a:solidFill>
                  <a:srgbClr val="FF0000"/>
                </a:solidFill>
              </a:rPr>
              <a:t>Symmetry and Alignment:</a:t>
            </a:r>
          </a:p>
          <a:p>
            <a:pPr lvl="1" algn="just"/>
            <a:r>
              <a:rPr lang="en-US" dirty="0"/>
              <a:t>Padding can ensure that the kernel is applied symmetrically, making the computation easier to handle and better aligned, especially in cases with stride greater than 1.</a:t>
            </a:r>
            <a:endParaRPr lang="en-IN" dirty="0"/>
          </a:p>
        </p:txBody>
      </p:sp>
    </p:spTree>
    <p:extLst>
      <p:ext uri="{BB962C8B-B14F-4D97-AF65-F5344CB8AC3E}">
        <p14:creationId xmlns:p14="http://schemas.microsoft.com/office/powerpoint/2010/main" val="2437812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D6EC-F8D9-3F8A-B326-E7EB29A201B7}"/>
              </a:ext>
            </a:extLst>
          </p:cNvPr>
          <p:cNvSpPr>
            <a:spLocks noGrp="1"/>
          </p:cNvSpPr>
          <p:nvPr>
            <p:ph type="title"/>
          </p:nvPr>
        </p:nvSpPr>
        <p:spPr/>
        <p:txBody>
          <a:bodyPr/>
          <a:lstStyle/>
          <a:p>
            <a:pPr algn="ctr"/>
            <a:r>
              <a:rPr lang="en-IN" dirty="0"/>
              <a:t>Types of Padding</a:t>
            </a:r>
          </a:p>
        </p:txBody>
      </p:sp>
      <p:sp>
        <p:nvSpPr>
          <p:cNvPr id="3" name="Content Placeholder 2">
            <a:extLst>
              <a:ext uri="{FF2B5EF4-FFF2-40B4-BE49-F238E27FC236}">
                <a16:creationId xmlns:a16="http://schemas.microsoft.com/office/drawing/2014/main" id="{6074A546-8D86-6BB2-3A44-0E483E39A258}"/>
              </a:ext>
            </a:extLst>
          </p:cNvPr>
          <p:cNvSpPr>
            <a:spLocks noGrp="1"/>
          </p:cNvSpPr>
          <p:nvPr>
            <p:ph idx="1"/>
          </p:nvPr>
        </p:nvSpPr>
        <p:spPr/>
        <p:txBody>
          <a:bodyPr/>
          <a:lstStyle/>
          <a:p>
            <a:endParaRPr lang="en-US" dirty="0"/>
          </a:p>
          <a:p>
            <a:r>
              <a:rPr lang="en-US" dirty="0"/>
              <a:t>Valid: Reduces size, no extra pixels.</a:t>
            </a:r>
          </a:p>
          <a:p>
            <a:endParaRPr lang="en-US" dirty="0"/>
          </a:p>
          <a:p>
            <a:r>
              <a:rPr lang="en-US" dirty="0"/>
              <a:t>Same: Preserves size, adds pixels as needed.</a:t>
            </a:r>
          </a:p>
          <a:p>
            <a:endParaRPr lang="en-US" dirty="0"/>
          </a:p>
          <a:p>
            <a:r>
              <a:rPr lang="en-US" dirty="0"/>
              <a:t>Full: Increases size, maximizes coverage of input.</a:t>
            </a:r>
            <a:endParaRPr lang="en-IN" dirty="0"/>
          </a:p>
        </p:txBody>
      </p:sp>
    </p:spTree>
    <p:extLst>
      <p:ext uri="{BB962C8B-B14F-4D97-AF65-F5344CB8AC3E}">
        <p14:creationId xmlns:p14="http://schemas.microsoft.com/office/powerpoint/2010/main" val="2495348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2606880099"/>
              </p:ext>
            </p:extLst>
          </p:nvPr>
        </p:nvGraphicFramePr>
        <p:xfrm>
          <a:off x="1772480" y="1888592"/>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4292696343"/>
              </p:ext>
            </p:extLst>
          </p:nvPr>
        </p:nvGraphicFramePr>
        <p:xfrm>
          <a:off x="7672407" y="3031592"/>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2" name="TextBox 1">
            <a:extLst>
              <a:ext uri="{FF2B5EF4-FFF2-40B4-BE49-F238E27FC236}">
                <a16:creationId xmlns:a16="http://schemas.microsoft.com/office/drawing/2014/main" id="{6EBF13A3-D813-A49F-D50D-2912BFA3BF35}"/>
              </a:ext>
            </a:extLst>
          </p:cNvPr>
          <p:cNvSpPr txBox="1"/>
          <p:nvPr/>
        </p:nvSpPr>
        <p:spPr>
          <a:xfrm>
            <a:off x="3223226" y="5913784"/>
            <a:ext cx="1884940" cy="369332"/>
          </a:xfrm>
          <a:prstGeom prst="rect">
            <a:avLst/>
          </a:prstGeom>
          <a:noFill/>
        </p:spPr>
        <p:txBody>
          <a:bodyPr wrap="none" rtlCol="0">
            <a:spAutoFit/>
          </a:bodyPr>
          <a:lstStyle/>
          <a:p>
            <a:r>
              <a:rPr lang="en-IN" b="1" dirty="0"/>
              <a:t>8 x 8 Input Matrix</a:t>
            </a:r>
          </a:p>
        </p:txBody>
      </p:sp>
      <p:sp>
        <p:nvSpPr>
          <p:cNvPr id="8" name="TextBox 7">
            <a:extLst>
              <a:ext uri="{FF2B5EF4-FFF2-40B4-BE49-F238E27FC236}">
                <a16:creationId xmlns:a16="http://schemas.microsoft.com/office/drawing/2014/main" id="{4D288ABF-C3B9-F298-0A76-C1B7BE6547AB}"/>
              </a:ext>
            </a:extLst>
          </p:cNvPr>
          <p:cNvSpPr txBox="1"/>
          <p:nvPr/>
        </p:nvSpPr>
        <p:spPr>
          <a:xfrm>
            <a:off x="8522208" y="4719503"/>
            <a:ext cx="1297791" cy="369332"/>
          </a:xfrm>
          <a:prstGeom prst="rect">
            <a:avLst/>
          </a:prstGeom>
          <a:noFill/>
        </p:spPr>
        <p:txBody>
          <a:bodyPr wrap="none" rtlCol="0">
            <a:spAutoFit/>
          </a:bodyPr>
          <a:lstStyle/>
          <a:p>
            <a:r>
              <a:rPr lang="en-IN" b="1" dirty="0"/>
              <a:t>3 x 3 Kernel</a:t>
            </a:r>
          </a:p>
        </p:txBody>
      </p:sp>
      <p:sp>
        <p:nvSpPr>
          <p:cNvPr id="9" name="TextBox 8">
            <a:extLst>
              <a:ext uri="{FF2B5EF4-FFF2-40B4-BE49-F238E27FC236}">
                <a16:creationId xmlns:a16="http://schemas.microsoft.com/office/drawing/2014/main" id="{0CF0A8DF-84AF-49B0-A141-27B17C1217CF}"/>
              </a:ext>
            </a:extLst>
          </p:cNvPr>
          <p:cNvSpPr txBox="1"/>
          <p:nvPr/>
        </p:nvSpPr>
        <p:spPr>
          <a:xfrm>
            <a:off x="2594113" y="574884"/>
            <a:ext cx="790492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a:t>
            </a:r>
            <a:r>
              <a:rPr lang="en-IN" sz="3200" b="1" dirty="0">
                <a:highlight>
                  <a:srgbClr val="FFFF00"/>
                </a:highlight>
                <a:latin typeface="Times New Roman" panose="02020603050405020304" pitchFamily="18" charset="0"/>
                <a:cs typeface="Times New Roman" panose="02020603050405020304" pitchFamily="18" charset="0"/>
              </a:rPr>
              <a:t>ZERO Padding</a:t>
            </a:r>
          </a:p>
        </p:txBody>
      </p:sp>
    </p:spTree>
    <p:extLst>
      <p:ext uri="{BB962C8B-B14F-4D97-AF65-F5344CB8AC3E}">
        <p14:creationId xmlns:p14="http://schemas.microsoft.com/office/powerpoint/2010/main" val="2215353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1009799"/>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55907604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638478355"/>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410546962"/>
              </p:ext>
            </p:extLst>
          </p:nvPr>
        </p:nvGraphicFramePr>
        <p:xfrm>
          <a:off x="202097" y="1908470"/>
          <a:ext cx="1885119" cy="1361505"/>
        </p:xfrm>
        <a:graphic>
          <a:graphicData uri="http://schemas.openxmlformats.org/drawingml/2006/table">
            <a:tbl>
              <a:tblPr firstRow="1" bandRow="1">
                <a:tableStyleId>{2D5ABB26-0587-4C30-8999-92F81FD0307C}</a:tableStyleId>
              </a:tblPr>
              <a:tblGrid>
                <a:gridCol w="598546">
                  <a:extLst>
                    <a:ext uri="{9D8B030D-6E8A-4147-A177-3AD203B41FA5}">
                      <a16:colId xmlns:a16="http://schemas.microsoft.com/office/drawing/2014/main" val="845476840"/>
                    </a:ext>
                  </a:extLst>
                </a:gridCol>
                <a:gridCol w="653587">
                  <a:extLst>
                    <a:ext uri="{9D8B030D-6E8A-4147-A177-3AD203B41FA5}">
                      <a16:colId xmlns:a16="http://schemas.microsoft.com/office/drawing/2014/main" val="573294828"/>
                    </a:ext>
                  </a:extLst>
                </a:gridCol>
                <a:gridCol w="632986">
                  <a:extLst>
                    <a:ext uri="{9D8B030D-6E8A-4147-A177-3AD203B41FA5}">
                      <a16:colId xmlns:a16="http://schemas.microsoft.com/office/drawing/2014/main" val="3141442075"/>
                    </a:ext>
                  </a:extLst>
                </a:gridCol>
              </a:tblGrid>
              <a:tr h="452865">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54320">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54320">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4197745984"/>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kern="1200" dirty="0">
                        <a:solidFill>
                          <a:srgbClr val="FF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13554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1603006383"/>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96942400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895309213"/>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62300276"/>
              </p:ext>
            </p:extLst>
          </p:nvPr>
        </p:nvGraphicFramePr>
        <p:xfrm>
          <a:off x="838202" y="1908470"/>
          <a:ext cx="1895059" cy="1391320"/>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62782">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3411277149"/>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kern="1200" dirty="0">
                        <a:solidFill>
                          <a:srgbClr val="FF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30839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488452724"/>
              </p:ext>
            </p:extLst>
          </p:nvPr>
        </p:nvGraphicFramePr>
        <p:xfrm>
          <a:off x="273839" y="1172975"/>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12368868"/>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47669422"/>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2484971812"/>
              </p:ext>
            </p:extLst>
          </p:nvPr>
        </p:nvGraphicFramePr>
        <p:xfrm>
          <a:off x="1526169" y="1172975"/>
          <a:ext cx="1895059" cy="1391320"/>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62782">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3896889888"/>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114987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1656026551"/>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712489546"/>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4052924345"/>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084032352"/>
              </p:ext>
            </p:extLst>
          </p:nvPr>
        </p:nvGraphicFramePr>
        <p:xfrm>
          <a:off x="2050776" y="1908470"/>
          <a:ext cx="1895059" cy="1391320"/>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62782">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182536024"/>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262326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561779400"/>
              </p:ext>
            </p:extLst>
          </p:nvPr>
        </p:nvGraphicFramePr>
        <p:xfrm>
          <a:off x="202098" y="1908470"/>
          <a:ext cx="6120000" cy="4392234"/>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504234">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9913736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68462081"/>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3865295890"/>
              </p:ext>
            </p:extLst>
          </p:nvPr>
        </p:nvGraphicFramePr>
        <p:xfrm>
          <a:off x="2664148" y="1908470"/>
          <a:ext cx="1895059" cy="1391320"/>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62782">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078274901"/>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115353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985101920"/>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14543971"/>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93488751"/>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2809210638"/>
              </p:ext>
            </p:extLst>
          </p:nvPr>
        </p:nvGraphicFramePr>
        <p:xfrm>
          <a:off x="3262098" y="1908470"/>
          <a:ext cx="1895059" cy="1391320"/>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62782">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64269">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653130374"/>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349755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2636713996"/>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794630912"/>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4009254625"/>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300352097"/>
              </p:ext>
            </p:extLst>
          </p:nvPr>
        </p:nvGraphicFramePr>
        <p:xfrm>
          <a:off x="3848507" y="1908470"/>
          <a:ext cx="1895059" cy="1291931"/>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29723">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137969539"/>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25235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2521562494"/>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37076256"/>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00617903"/>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3677901592"/>
              </p:ext>
            </p:extLst>
          </p:nvPr>
        </p:nvGraphicFramePr>
        <p:xfrm>
          <a:off x="4485862" y="1908470"/>
          <a:ext cx="1895059" cy="1291931"/>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29723">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854603191"/>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Same Padding, Stride =1</a:t>
            </a:r>
          </a:p>
        </p:txBody>
      </p:sp>
    </p:spTree>
    <p:extLst>
      <p:ext uri="{BB962C8B-B14F-4D97-AF65-F5344CB8AC3E}">
        <p14:creationId xmlns:p14="http://schemas.microsoft.com/office/powerpoint/2010/main" val="255160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2302319773"/>
              </p:ext>
            </p:extLst>
          </p:nvPr>
        </p:nvGraphicFramePr>
        <p:xfrm>
          <a:off x="202098" y="1908470"/>
          <a:ext cx="6120000" cy="4320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682423012"/>
                    </a:ext>
                  </a:extLst>
                </a:gridCol>
                <a:gridCol w="612000">
                  <a:extLst>
                    <a:ext uri="{9D8B030D-6E8A-4147-A177-3AD203B41FA5}">
                      <a16:colId xmlns:a16="http://schemas.microsoft.com/office/drawing/2014/main" val="845476840"/>
                    </a:ext>
                  </a:extLst>
                </a:gridCol>
                <a:gridCol w="612000">
                  <a:extLst>
                    <a:ext uri="{9D8B030D-6E8A-4147-A177-3AD203B41FA5}">
                      <a16:colId xmlns:a16="http://schemas.microsoft.com/office/drawing/2014/main" val="573294828"/>
                    </a:ext>
                  </a:extLst>
                </a:gridCol>
                <a:gridCol w="612000">
                  <a:extLst>
                    <a:ext uri="{9D8B030D-6E8A-4147-A177-3AD203B41FA5}">
                      <a16:colId xmlns:a16="http://schemas.microsoft.com/office/drawing/2014/main" val="3141442075"/>
                    </a:ext>
                  </a:extLst>
                </a:gridCol>
                <a:gridCol w="612000">
                  <a:extLst>
                    <a:ext uri="{9D8B030D-6E8A-4147-A177-3AD203B41FA5}">
                      <a16:colId xmlns:a16="http://schemas.microsoft.com/office/drawing/2014/main" val="3500048858"/>
                    </a:ext>
                  </a:extLst>
                </a:gridCol>
                <a:gridCol w="612000">
                  <a:extLst>
                    <a:ext uri="{9D8B030D-6E8A-4147-A177-3AD203B41FA5}">
                      <a16:colId xmlns:a16="http://schemas.microsoft.com/office/drawing/2014/main" val="1076505211"/>
                    </a:ext>
                  </a:extLst>
                </a:gridCol>
                <a:gridCol w="612000">
                  <a:extLst>
                    <a:ext uri="{9D8B030D-6E8A-4147-A177-3AD203B41FA5}">
                      <a16:colId xmlns:a16="http://schemas.microsoft.com/office/drawing/2014/main" val="534341401"/>
                    </a:ext>
                  </a:extLst>
                </a:gridCol>
                <a:gridCol w="612000">
                  <a:extLst>
                    <a:ext uri="{9D8B030D-6E8A-4147-A177-3AD203B41FA5}">
                      <a16:colId xmlns:a16="http://schemas.microsoft.com/office/drawing/2014/main" val="1161019026"/>
                    </a:ext>
                  </a:extLst>
                </a:gridCol>
                <a:gridCol w="612000">
                  <a:extLst>
                    <a:ext uri="{9D8B030D-6E8A-4147-A177-3AD203B41FA5}">
                      <a16:colId xmlns:a16="http://schemas.microsoft.com/office/drawing/2014/main" val="2635412808"/>
                    </a:ext>
                  </a:extLst>
                </a:gridCol>
                <a:gridCol w="612000">
                  <a:extLst>
                    <a:ext uri="{9D8B030D-6E8A-4147-A177-3AD203B41FA5}">
                      <a16:colId xmlns:a16="http://schemas.microsoft.com/office/drawing/2014/main" val="3042836251"/>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1447703615"/>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0</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07435991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115464804"/>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20390036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3210501129"/>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C3FF"/>
                    </a:solidFill>
                  </a:tcPr>
                </a:tc>
                <a:extLst>
                  <a:ext uri="{0D108BD9-81ED-4DB2-BD59-A6C34878D82A}">
                    <a16:rowId xmlns:a16="http://schemas.microsoft.com/office/drawing/2014/main" val="8669609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3765857619"/>
              </p:ext>
            </p:extLst>
          </p:nvPr>
        </p:nvGraphicFramePr>
        <p:xfrm>
          <a:off x="202098" y="2344539"/>
          <a:ext cx="1895059" cy="1291931"/>
        </p:xfrm>
        <a:graphic>
          <a:graphicData uri="http://schemas.openxmlformats.org/drawingml/2006/table">
            <a:tbl>
              <a:tblPr firstRow="1" bandRow="1">
                <a:tableStyleId>{2D5ABB26-0587-4C30-8999-92F81FD0307C}</a:tableStyleId>
              </a:tblPr>
              <a:tblGrid>
                <a:gridCol w="601702">
                  <a:extLst>
                    <a:ext uri="{9D8B030D-6E8A-4147-A177-3AD203B41FA5}">
                      <a16:colId xmlns:a16="http://schemas.microsoft.com/office/drawing/2014/main" val="845476840"/>
                    </a:ext>
                  </a:extLst>
                </a:gridCol>
                <a:gridCol w="657033">
                  <a:extLst>
                    <a:ext uri="{9D8B030D-6E8A-4147-A177-3AD203B41FA5}">
                      <a16:colId xmlns:a16="http://schemas.microsoft.com/office/drawing/2014/main" val="573294828"/>
                    </a:ext>
                  </a:extLst>
                </a:gridCol>
                <a:gridCol w="636324">
                  <a:extLst>
                    <a:ext uri="{9D8B030D-6E8A-4147-A177-3AD203B41FA5}">
                      <a16:colId xmlns:a16="http://schemas.microsoft.com/office/drawing/2014/main" val="3141442075"/>
                    </a:ext>
                  </a:extLst>
                </a:gridCol>
              </a:tblGrid>
              <a:tr h="429723">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110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150075501"/>
              </p:ext>
            </p:extLst>
          </p:nvPr>
        </p:nvGraphicFramePr>
        <p:xfrm>
          <a:off x="6758609" y="857270"/>
          <a:ext cx="5100832" cy="5760000"/>
        </p:xfrm>
        <a:graphic>
          <a:graphicData uri="http://schemas.openxmlformats.org/drawingml/2006/table">
            <a:tbl>
              <a:tblPr firstRow="1" bandRow="1">
                <a:tableStyleId>{2D5ABB26-0587-4C30-8999-92F81FD0307C}</a:tableStyleId>
              </a:tblPr>
              <a:tblGrid>
                <a:gridCol w="637604">
                  <a:extLst>
                    <a:ext uri="{9D8B030D-6E8A-4147-A177-3AD203B41FA5}">
                      <a16:colId xmlns:a16="http://schemas.microsoft.com/office/drawing/2014/main" val="845476840"/>
                    </a:ext>
                  </a:extLst>
                </a:gridCol>
                <a:gridCol w="637604">
                  <a:extLst>
                    <a:ext uri="{9D8B030D-6E8A-4147-A177-3AD203B41FA5}">
                      <a16:colId xmlns:a16="http://schemas.microsoft.com/office/drawing/2014/main" val="1574357309"/>
                    </a:ext>
                  </a:extLst>
                </a:gridCol>
                <a:gridCol w="637604">
                  <a:extLst>
                    <a:ext uri="{9D8B030D-6E8A-4147-A177-3AD203B41FA5}">
                      <a16:colId xmlns:a16="http://schemas.microsoft.com/office/drawing/2014/main" val="573294828"/>
                    </a:ext>
                  </a:extLst>
                </a:gridCol>
                <a:gridCol w="637604">
                  <a:extLst>
                    <a:ext uri="{9D8B030D-6E8A-4147-A177-3AD203B41FA5}">
                      <a16:colId xmlns:a16="http://schemas.microsoft.com/office/drawing/2014/main" val="3141442075"/>
                    </a:ext>
                  </a:extLst>
                </a:gridCol>
                <a:gridCol w="637604">
                  <a:extLst>
                    <a:ext uri="{9D8B030D-6E8A-4147-A177-3AD203B41FA5}">
                      <a16:colId xmlns:a16="http://schemas.microsoft.com/office/drawing/2014/main" val="3741264843"/>
                    </a:ext>
                  </a:extLst>
                </a:gridCol>
                <a:gridCol w="637604">
                  <a:extLst>
                    <a:ext uri="{9D8B030D-6E8A-4147-A177-3AD203B41FA5}">
                      <a16:colId xmlns:a16="http://schemas.microsoft.com/office/drawing/2014/main" val="1482228336"/>
                    </a:ext>
                  </a:extLst>
                </a:gridCol>
                <a:gridCol w="637604">
                  <a:extLst>
                    <a:ext uri="{9D8B030D-6E8A-4147-A177-3AD203B41FA5}">
                      <a16:colId xmlns:a16="http://schemas.microsoft.com/office/drawing/2014/main" val="1377878223"/>
                    </a:ext>
                  </a:extLst>
                </a:gridCol>
                <a:gridCol w="637604">
                  <a:extLst>
                    <a:ext uri="{9D8B030D-6E8A-4147-A177-3AD203B41FA5}">
                      <a16:colId xmlns:a16="http://schemas.microsoft.com/office/drawing/2014/main" val="765002198"/>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17600359"/>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588554676"/>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538462044"/>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60259"/>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4254863" y="6466163"/>
            <a:ext cx="2592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1121467" y="240730"/>
            <a:ext cx="994906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Stride =1</a:t>
            </a:r>
          </a:p>
        </p:txBody>
      </p:sp>
    </p:spTree>
    <p:extLst>
      <p:ext uri="{BB962C8B-B14F-4D97-AF65-F5344CB8AC3E}">
        <p14:creationId xmlns:p14="http://schemas.microsoft.com/office/powerpoint/2010/main" val="6308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nvPr>
        </p:nvGraphicFramePr>
        <p:xfrm>
          <a:off x="1772480" y="1888592"/>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nvGraphicFramePr>
        <p:xfrm>
          <a:off x="7672407" y="3031592"/>
          <a:ext cx="2592000" cy="137160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845476840"/>
                    </a:ext>
                  </a:extLst>
                </a:gridCol>
                <a:gridCol w="864000">
                  <a:extLst>
                    <a:ext uri="{9D8B030D-6E8A-4147-A177-3AD203B41FA5}">
                      <a16:colId xmlns:a16="http://schemas.microsoft.com/office/drawing/2014/main" val="573294828"/>
                    </a:ext>
                  </a:extLst>
                </a:gridCol>
                <a:gridCol w="864000">
                  <a:extLst>
                    <a:ext uri="{9D8B030D-6E8A-4147-A177-3AD203B41FA5}">
                      <a16:colId xmlns:a16="http://schemas.microsoft.com/office/drawing/2014/main" val="3141442075"/>
                    </a:ext>
                  </a:extLst>
                </a:gridCol>
              </a:tblGrid>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2" name="TextBox 1">
            <a:extLst>
              <a:ext uri="{FF2B5EF4-FFF2-40B4-BE49-F238E27FC236}">
                <a16:creationId xmlns:a16="http://schemas.microsoft.com/office/drawing/2014/main" id="{6EBF13A3-D813-A49F-D50D-2912BFA3BF35}"/>
              </a:ext>
            </a:extLst>
          </p:cNvPr>
          <p:cNvSpPr txBox="1"/>
          <p:nvPr/>
        </p:nvSpPr>
        <p:spPr>
          <a:xfrm>
            <a:off x="3223226" y="5913784"/>
            <a:ext cx="1884940" cy="369332"/>
          </a:xfrm>
          <a:prstGeom prst="rect">
            <a:avLst/>
          </a:prstGeom>
          <a:noFill/>
        </p:spPr>
        <p:txBody>
          <a:bodyPr wrap="none" rtlCol="0">
            <a:spAutoFit/>
          </a:bodyPr>
          <a:lstStyle/>
          <a:p>
            <a:r>
              <a:rPr lang="en-IN" b="1" dirty="0"/>
              <a:t>8 x 8 Input Matrix</a:t>
            </a:r>
          </a:p>
        </p:txBody>
      </p:sp>
      <p:sp>
        <p:nvSpPr>
          <p:cNvPr id="8" name="TextBox 7">
            <a:extLst>
              <a:ext uri="{FF2B5EF4-FFF2-40B4-BE49-F238E27FC236}">
                <a16:creationId xmlns:a16="http://schemas.microsoft.com/office/drawing/2014/main" id="{4D288ABF-C3B9-F298-0A76-C1B7BE6547AB}"/>
              </a:ext>
            </a:extLst>
          </p:cNvPr>
          <p:cNvSpPr txBox="1"/>
          <p:nvPr/>
        </p:nvSpPr>
        <p:spPr>
          <a:xfrm>
            <a:off x="8522208" y="4719503"/>
            <a:ext cx="1297791" cy="369332"/>
          </a:xfrm>
          <a:prstGeom prst="rect">
            <a:avLst/>
          </a:prstGeom>
          <a:noFill/>
        </p:spPr>
        <p:txBody>
          <a:bodyPr wrap="none" rtlCol="0">
            <a:spAutoFit/>
          </a:bodyPr>
          <a:lstStyle/>
          <a:p>
            <a:r>
              <a:rPr lang="en-IN" b="1" dirty="0"/>
              <a:t>3 x 3 Kernel</a:t>
            </a:r>
          </a:p>
        </p:txBody>
      </p:sp>
      <p:sp>
        <p:nvSpPr>
          <p:cNvPr id="9" name="TextBox 8">
            <a:extLst>
              <a:ext uri="{FF2B5EF4-FFF2-40B4-BE49-F238E27FC236}">
                <a16:creationId xmlns:a16="http://schemas.microsoft.com/office/drawing/2014/main" id="{0CF0A8DF-84AF-49B0-A141-27B17C1217CF}"/>
              </a:ext>
            </a:extLst>
          </p:cNvPr>
          <p:cNvSpPr txBox="1"/>
          <p:nvPr/>
        </p:nvSpPr>
        <p:spPr>
          <a:xfrm>
            <a:off x="417443" y="574884"/>
            <a:ext cx="1147969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Convolution Operation with ZERO Padding and STRIDE = 2</a:t>
            </a:r>
          </a:p>
        </p:txBody>
      </p:sp>
    </p:spTree>
    <p:extLst>
      <p:ext uri="{BB962C8B-B14F-4D97-AF65-F5344CB8AC3E}">
        <p14:creationId xmlns:p14="http://schemas.microsoft.com/office/powerpoint/2010/main" val="2034753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4267019268"/>
              </p:ext>
            </p:extLst>
          </p:nvPr>
        </p:nvGraphicFramePr>
        <p:xfrm>
          <a:off x="549967" y="1908470"/>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167301447"/>
              </p:ext>
            </p:extLst>
          </p:nvPr>
        </p:nvGraphicFramePr>
        <p:xfrm>
          <a:off x="1832114" y="1908470"/>
          <a:ext cx="1934815" cy="1361502"/>
        </p:xfrm>
        <a:graphic>
          <a:graphicData uri="http://schemas.openxmlformats.org/drawingml/2006/table">
            <a:tbl>
              <a:tblPr firstRow="1" bandRow="1">
                <a:tableStyleId>{2D5ABB26-0587-4C30-8999-92F81FD0307C}</a:tableStyleId>
              </a:tblPr>
              <a:tblGrid>
                <a:gridCol w="612913">
                  <a:extLst>
                    <a:ext uri="{9D8B030D-6E8A-4147-A177-3AD203B41FA5}">
                      <a16:colId xmlns:a16="http://schemas.microsoft.com/office/drawing/2014/main" val="845476840"/>
                    </a:ext>
                  </a:extLst>
                </a:gridCol>
                <a:gridCol w="665920">
                  <a:extLst>
                    <a:ext uri="{9D8B030D-6E8A-4147-A177-3AD203B41FA5}">
                      <a16:colId xmlns:a16="http://schemas.microsoft.com/office/drawing/2014/main" val="573294828"/>
                    </a:ext>
                  </a:extLst>
                </a:gridCol>
                <a:gridCol w="655982">
                  <a:extLst>
                    <a:ext uri="{9D8B030D-6E8A-4147-A177-3AD203B41FA5}">
                      <a16:colId xmlns:a16="http://schemas.microsoft.com/office/drawing/2014/main" val="3141442075"/>
                    </a:ext>
                  </a:extLst>
                </a:gridCol>
              </a:tblGrid>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8101306" y="6149610"/>
            <a:ext cx="25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549967" y="339058"/>
            <a:ext cx="1139024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Operation with ZERO Padding and STRIDE = 2 </a:t>
            </a:r>
          </a:p>
        </p:txBody>
      </p:sp>
      <p:graphicFrame>
        <p:nvGraphicFramePr>
          <p:cNvPr id="2" name="Content Placeholder 3">
            <a:extLst>
              <a:ext uri="{FF2B5EF4-FFF2-40B4-BE49-F238E27FC236}">
                <a16:creationId xmlns:a16="http://schemas.microsoft.com/office/drawing/2014/main" id="{98D26DC6-5C03-761E-3435-D6551FC87B3B}"/>
              </a:ext>
            </a:extLst>
          </p:cNvPr>
          <p:cNvGraphicFramePr>
            <a:graphicFrameLocks/>
          </p:cNvGraphicFramePr>
          <p:nvPr>
            <p:extLst>
              <p:ext uri="{D42A27DB-BD31-4B8C-83A1-F6EECF244321}">
                <p14:modId xmlns:p14="http://schemas.microsoft.com/office/powerpoint/2010/main" val="1143789807"/>
              </p:ext>
            </p:extLst>
          </p:nvPr>
        </p:nvGraphicFramePr>
        <p:xfrm>
          <a:off x="7500340" y="2297270"/>
          <a:ext cx="3024000" cy="28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845476840"/>
                    </a:ext>
                  </a:extLst>
                </a:gridCol>
                <a:gridCol w="756000">
                  <a:extLst>
                    <a:ext uri="{9D8B030D-6E8A-4147-A177-3AD203B41FA5}">
                      <a16:colId xmlns:a16="http://schemas.microsoft.com/office/drawing/2014/main" val="1574357309"/>
                    </a:ext>
                  </a:extLst>
                </a:gridCol>
                <a:gridCol w="756000">
                  <a:extLst>
                    <a:ext uri="{9D8B030D-6E8A-4147-A177-3AD203B41FA5}">
                      <a16:colId xmlns:a16="http://schemas.microsoft.com/office/drawing/2014/main" val="573294828"/>
                    </a:ext>
                  </a:extLst>
                </a:gridCol>
                <a:gridCol w="756000">
                  <a:extLst>
                    <a:ext uri="{9D8B030D-6E8A-4147-A177-3AD203B41FA5}">
                      <a16:colId xmlns:a16="http://schemas.microsoft.com/office/drawing/2014/main" val="3141442075"/>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kern="1200" dirty="0">
                        <a:solidFill>
                          <a:srgbClr val="FF0000"/>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61888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3394004492"/>
              </p:ext>
            </p:extLst>
          </p:nvPr>
        </p:nvGraphicFramePr>
        <p:xfrm>
          <a:off x="549967" y="1908470"/>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485708420"/>
              </p:ext>
            </p:extLst>
          </p:nvPr>
        </p:nvGraphicFramePr>
        <p:xfrm>
          <a:off x="3141971" y="1908470"/>
          <a:ext cx="1934815" cy="1361502"/>
        </p:xfrm>
        <a:graphic>
          <a:graphicData uri="http://schemas.openxmlformats.org/drawingml/2006/table">
            <a:tbl>
              <a:tblPr firstRow="1" bandRow="1">
                <a:tableStyleId>{2D5ABB26-0587-4C30-8999-92F81FD0307C}</a:tableStyleId>
              </a:tblPr>
              <a:tblGrid>
                <a:gridCol w="612913">
                  <a:extLst>
                    <a:ext uri="{9D8B030D-6E8A-4147-A177-3AD203B41FA5}">
                      <a16:colId xmlns:a16="http://schemas.microsoft.com/office/drawing/2014/main" val="845476840"/>
                    </a:ext>
                  </a:extLst>
                </a:gridCol>
                <a:gridCol w="665920">
                  <a:extLst>
                    <a:ext uri="{9D8B030D-6E8A-4147-A177-3AD203B41FA5}">
                      <a16:colId xmlns:a16="http://schemas.microsoft.com/office/drawing/2014/main" val="573294828"/>
                    </a:ext>
                  </a:extLst>
                </a:gridCol>
                <a:gridCol w="655982">
                  <a:extLst>
                    <a:ext uri="{9D8B030D-6E8A-4147-A177-3AD203B41FA5}">
                      <a16:colId xmlns:a16="http://schemas.microsoft.com/office/drawing/2014/main" val="3141442075"/>
                    </a:ext>
                  </a:extLst>
                </a:gridCol>
              </a:tblGrid>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8101306" y="6149610"/>
            <a:ext cx="25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549967" y="339058"/>
            <a:ext cx="1139024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Operation with ZERO Padding and STRIDE = 2 </a:t>
            </a:r>
          </a:p>
        </p:txBody>
      </p:sp>
      <p:graphicFrame>
        <p:nvGraphicFramePr>
          <p:cNvPr id="2" name="Content Placeholder 3">
            <a:extLst>
              <a:ext uri="{FF2B5EF4-FFF2-40B4-BE49-F238E27FC236}">
                <a16:creationId xmlns:a16="http://schemas.microsoft.com/office/drawing/2014/main" id="{7E24A59B-3239-2A6F-6BBF-FE7CEFC56380}"/>
              </a:ext>
            </a:extLst>
          </p:cNvPr>
          <p:cNvGraphicFramePr>
            <a:graphicFrameLocks/>
          </p:cNvGraphicFramePr>
          <p:nvPr>
            <p:extLst>
              <p:ext uri="{D42A27DB-BD31-4B8C-83A1-F6EECF244321}">
                <p14:modId xmlns:p14="http://schemas.microsoft.com/office/powerpoint/2010/main" val="2192298493"/>
              </p:ext>
            </p:extLst>
          </p:nvPr>
        </p:nvGraphicFramePr>
        <p:xfrm>
          <a:off x="7500340" y="2297270"/>
          <a:ext cx="3024000" cy="28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845476840"/>
                    </a:ext>
                  </a:extLst>
                </a:gridCol>
                <a:gridCol w="756000">
                  <a:extLst>
                    <a:ext uri="{9D8B030D-6E8A-4147-A177-3AD203B41FA5}">
                      <a16:colId xmlns:a16="http://schemas.microsoft.com/office/drawing/2014/main" val="1574357309"/>
                    </a:ext>
                  </a:extLst>
                </a:gridCol>
                <a:gridCol w="756000">
                  <a:extLst>
                    <a:ext uri="{9D8B030D-6E8A-4147-A177-3AD203B41FA5}">
                      <a16:colId xmlns:a16="http://schemas.microsoft.com/office/drawing/2014/main" val="573294828"/>
                    </a:ext>
                  </a:extLst>
                </a:gridCol>
                <a:gridCol w="756000">
                  <a:extLst>
                    <a:ext uri="{9D8B030D-6E8A-4147-A177-3AD203B41FA5}">
                      <a16:colId xmlns:a16="http://schemas.microsoft.com/office/drawing/2014/main" val="3141442075"/>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277982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3069080589"/>
              </p:ext>
            </p:extLst>
          </p:nvPr>
        </p:nvGraphicFramePr>
        <p:xfrm>
          <a:off x="549967" y="1908470"/>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extLst>
              <p:ext uri="{D42A27DB-BD31-4B8C-83A1-F6EECF244321}">
                <p14:modId xmlns:p14="http://schemas.microsoft.com/office/powerpoint/2010/main" val="1939877075"/>
              </p:ext>
            </p:extLst>
          </p:nvPr>
        </p:nvGraphicFramePr>
        <p:xfrm>
          <a:off x="3799160" y="1908470"/>
          <a:ext cx="1934815" cy="1361502"/>
        </p:xfrm>
        <a:graphic>
          <a:graphicData uri="http://schemas.openxmlformats.org/drawingml/2006/table">
            <a:tbl>
              <a:tblPr firstRow="1" bandRow="1">
                <a:tableStyleId>{2D5ABB26-0587-4C30-8999-92F81FD0307C}</a:tableStyleId>
              </a:tblPr>
              <a:tblGrid>
                <a:gridCol w="612913">
                  <a:extLst>
                    <a:ext uri="{9D8B030D-6E8A-4147-A177-3AD203B41FA5}">
                      <a16:colId xmlns:a16="http://schemas.microsoft.com/office/drawing/2014/main" val="845476840"/>
                    </a:ext>
                  </a:extLst>
                </a:gridCol>
                <a:gridCol w="665920">
                  <a:extLst>
                    <a:ext uri="{9D8B030D-6E8A-4147-A177-3AD203B41FA5}">
                      <a16:colId xmlns:a16="http://schemas.microsoft.com/office/drawing/2014/main" val="573294828"/>
                    </a:ext>
                  </a:extLst>
                </a:gridCol>
                <a:gridCol w="655982">
                  <a:extLst>
                    <a:ext uri="{9D8B030D-6E8A-4147-A177-3AD203B41FA5}">
                      <a16:colId xmlns:a16="http://schemas.microsoft.com/office/drawing/2014/main" val="3141442075"/>
                    </a:ext>
                  </a:extLst>
                </a:gridCol>
              </a:tblGrid>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8101306" y="6149610"/>
            <a:ext cx="25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549967" y="339058"/>
            <a:ext cx="1139024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Operation with ZERO Padding and STRIDE = 2 </a:t>
            </a:r>
          </a:p>
        </p:txBody>
      </p:sp>
      <p:graphicFrame>
        <p:nvGraphicFramePr>
          <p:cNvPr id="2" name="Content Placeholder 3">
            <a:extLst>
              <a:ext uri="{FF2B5EF4-FFF2-40B4-BE49-F238E27FC236}">
                <a16:creationId xmlns:a16="http://schemas.microsoft.com/office/drawing/2014/main" id="{E9941EAD-71C2-FBBE-024C-A0D341A77C10}"/>
              </a:ext>
            </a:extLst>
          </p:cNvPr>
          <p:cNvGraphicFramePr>
            <a:graphicFrameLocks/>
          </p:cNvGraphicFramePr>
          <p:nvPr>
            <p:extLst>
              <p:ext uri="{D42A27DB-BD31-4B8C-83A1-F6EECF244321}">
                <p14:modId xmlns:p14="http://schemas.microsoft.com/office/powerpoint/2010/main" val="3263647587"/>
              </p:ext>
            </p:extLst>
          </p:nvPr>
        </p:nvGraphicFramePr>
        <p:xfrm>
          <a:off x="7500340" y="2297270"/>
          <a:ext cx="3024000" cy="28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845476840"/>
                    </a:ext>
                  </a:extLst>
                </a:gridCol>
                <a:gridCol w="756000">
                  <a:extLst>
                    <a:ext uri="{9D8B030D-6E8A-4147-A177-3AD203B41FA5}">
                      <a16:colId xmlns:a16="http://schemas.microsoft.com/office/drawing/2014/main" val="1574357309"/>
                    </a:ext>
                  </a:extLst>
                </a:gridCol>
                <a:gridCol w="756000">
                  <a:extLst>
                    <a:ext uri="{9D8B030D-6E8A-4147-A177-3AD203B41FA5}">
                      <a16:colId xmlns:a16="http://schemas.microsoft.com/office/drawing/2014/main" val="573294828"/>
                    </a:ext>
                  </a:extLst>
                </a:gridCol>
                <a:gridCol w="756000">
                  <a:extLst>
                    <a:ext uri="{9D8B030D-6E8A-4147-A177-3AD203B41FA5}">
                      <a16:colId xmlns:a16="http://schemas.microsoft.com/office/drawing/2014/main" val="3141442075"/>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73879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nvPr>
        </p:nvGraphicFramePr>
        <p:xfrm>
          <a:off x="549967" y="1908470"/>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7" name="Content Placeholder 3">
            <a:extLst>
              <a:ext uri="{FF2B5EF4-FFF2-40B4-BE49-F238E27FC236}">
                <a16:creationId xmlns:a16="http://schemas.microsoft.com/office/drawing/2014/main" id="{96231E00-BB10-1841-94CD-67A1C15DF4BA}"/>
              </a:ext>
            </a:extLst>
          </p:cNvPr>
          <p:cNvGraphicFramePr>
            <a:graphicFrameLocks/>
          </p:cNvGraphicFramePr>
          <p:nvPr/>
        </p:nvGraphicFramePr>
        <p:xfrm>
          <a:off x="549967" y="2822869"/>
          <a:ext cx="1934815" cy="1361502"/>
        </p:xfrm>
        <a:graphic>
          <a:graphicData uri="http://schemas.openxmlformats.org/drawingml/2006/table">
            <a:tbl>
              <a:tblPr firstRow="1" bandRow="1">
                <a:tableStyleId>{2D5ABB26-0587-4C30-8999-92F81FD0307C}</a:tableStyleId>
              </a:tblPr>
              <a:tblGrid>
                <a:gridCol w="612913">
                  <a:extLst>
                    <a:ext uri="{9D8B030D-6E8A-4147-A177-3AD203B41FA5}">
                      <a16:colId xmlns:a16="http://schemas.microsoft.com/office/drawing/2014/main" val="845476840"/>
                    </a:ext>
                  </a:extLst>
                </a:gridCol>
                <a:gridCol w="665920">
                  <a:extLst>
                    <a:ext uri="{9D8B030D-6E8A-4147-A177-3AD203B41FA5}">
                      <a16:colId xmlns:a16="http://schemas.microsoft.com/office/drawing/2014/main" val="573294828"/>
                    </a:ext>
                  </a:extLst>
                </a:gridCol>
                <a:gridCol w="655982">
                  <a:extLst>
                    <a:ext uri="{9D8B030D-6E8A-4147-A177-3AD203B41FA5}">
                      <a16:colId xmlns:a16="http://schemas.microsoft.com/office/drawing/2014/main" val="3141442075"/>
                    </a:ext>
                  </a:extLst>
                </a:gridCol>
              </a:tblGrid>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509769987"/>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3304284480"/>
                  </a:ext>
                </a:extLst>
              </a:tr>
              <a:tr h="453834">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tc>
                  <a:txBody>
                    <a:bodyPr/>
                    <a:lstStyle/>
                    <a:p>
                      <a:pPr algn="r"/>
                      <a:r>
                        <a:rPr lang="en-IN" sz="20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B4FF">
                        <a:alpha val="43000"/>
                      </a:srgbClr>
                    </a:solidFill>
                  </a:tcPr>
                </a:tc>
                <a:extLst>
                  <a:ext uri="{0D108BD9-81ED-4DB2-BD59-A6C34878D82A}">
                    <a16:rowId xmlns:a16="http://schemas.microsoft.com/office/drawing/2014/main" val="1885914060"/>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8101306" y="6149610"/>
            <a:ext cx="25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549967" y="339058"/>
            <a:ext cx="1139024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Operation with ZERO Padding and STRIDE = 2 </a:t>
            </a:r>
          </a:p>
        </p:txBody>
      </p:sp>
      <p:graphicFrame>
        <p:nvGraphicFramePr>
          <p:cNvPr id="2" name="Content Placeholder 3">
            <a:extLst>
              <a:ext uri="{FF2B5EF4-FFF2-40B4-BE49-F238E27FC236}">
                <a16:creationId xmlns:a16="http://schemas.microsoft.com/office/drawing/2014/main" id="{E9941EAD-71C2-FBBE-024C-A0D341A77C10}"/>
              </a:ext>
            </a:extLst>
          </p:cNvPr>
          <p:cNvGraphicFramePr>
            <a:graphicFrameLocks/>
          </p:cNvGraphicFramePr>
          <p:nvPr>
            <p:extLst>
              <p:ext uri="{D42A27DB-BD31-4B8C-83A1-F6EECF244321}">
                <p14:modId xmlns:p14="http://schemas.microsoft.com/office/powerpoint/2010/main" val="4241400897"/>
              </p:ext>
            </p:extLst>
          </p:nvPr>
        </p:nvGraphicFramePr>
        <p:xfrm>
          <a:off x="7500340" y="2297270"/>
          <a:ext cx="3024000" cy="28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845476840"/>
                    </a:ext>
                  </a:extLst>
                </a:gridCol>
                <a:gridCol w="756000">
                  <a:extLst>
                    <a:ext uri="{9D8B030D-6E8A-4147-A177-3AD203B41FA5}">
                      <a16:colId xmlns:a16="http://schemas.microsoft.com/office/drawing/2014/main" val="1574357309"/>
                    </a:ext>
                  </a:extLst>
                </a:gridCol>
                <a:gridCol w="756000">
                  <a:extLst>
                    <a:ext uri="{9D8B030D-6E8A-4147-A177-3AD203B41FA5}">
                      <a16:colId xmlns:a16="http://schemas.microsoft.com/office/drawing/2014/main" val="573294828"/>
                    </a:ext>
                  </a:extLst>
                </a:gridCol>
                <a:gridCol w="756000">
                  <a:extLst>
                    <a:ext uri="{9D8B030D-6E8A-4147-A177-3AD203B41FA5}">
                      <a16:colId xmlns:a16="http://schemas.microsoft.com/office/drawing/2014/main" val="3141442075"/>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endParaRPr lang="en-IN"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77481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4D3E12-9ED7-9C45-7607-8400A6196199}"/>
              </a:ext>
            </a:extLst>
          </p:cNvPr>
          <p:cNvGraphicFramePr>
            <a:graphicFrameLocks noGrp="1"/>
          </p:cNvGraphicFramePr>
          <p:nvPr>
            <p:ph idx="1"/>
            <p:extLst>
              <p:ext uri="{D42A27DB-BD31-4B8C-83A1-F6EECF244321}">
                <p14:modId xmlns:p14="http://schemas.microsoft.com/office/powerpoint/2010/main" val="1181616612"/>
              </p:ext>
            </p:extLst>
          </p:nvPr>
        </p:nvGraphicFramePr>
        <p:xfrm>
          <a:off x="1708207" y="882310"/>
          <a:ext cx="5184008" cy="3657600"/>
        </p:xfrm>
        <a:graphic>
          <a:graphicData uri="http://schemas.openxmlformats.org/drawingml/2006/table">
            <a:tbl>
              <a:tblPr firstRow="1" bandRow="1">
                <a:tableStyleId>{2D5ABB26-0587-4C30-8999-92F81FD0307C}</a:tableStyleId>
              </a:tblPr>
              <a:tblGrid>
                <a:gridCol w="648001">
                  <a:extLst>
                    <a:ext uri="{9D8B030D-6E8A-4147-A177-3AD203B41FA5}">
                      <a16:colId xmlns:a16="http://schemas.microsoft.com/office/drawing/2014/main" val="682423012"/>
                    </a:ext>
                  </a:extLst>
                </a:gridCol>
                <a:gridCol w="648001">
                  <a:extLst>
                    <a:ext uri="{9D8B030D-6E8A-4147-A177-3AD203B41FA5}">
                      <a16:colId xmlns:a16="http://schemas.microsoft.com/office/drawing/2014/main" val="845476840"/>
                    </a:ext>
                  </a:extLst>
                </a:gridCol>
                <a:gridCol w="648001">
                  <a:extLst>
                    <a:ext uri="{9D8B030D-6E8A-4147-A177-3AD203B41FA5}">
                      <a16:colId xmlns:a16="http://schemas.microsoft.com/office/drawing/2014/main" val="573294828"/>
                    </a:ext>
                  </a:extLst>
                </a:gridCol>
                <a:gridCol w="648001">
                  <a:extLst>
                    <a:ext uri="{9D8B030D-6E8A-4147-A177-3AD203B41FA5}">
                      <a16:colId xmlns:a16="http://schemas.microsoft.com/office/drawing/2014/main" val="3141442075"/>
                    </a:ext>
                  </a:extLst>
                </a:gridCol>
                <a:gridCol w="648001">
                  <a:extLst>
                    <a:ext uri="{9D8B030D-6E8A-4147-A177-3AD203B41FA5}">
                      <a16:colId xmlns:a16="http://schemas.microsoft.com/office/drawing/2014/main" val="3500048858"/>
                    </a:ext>
                  </a:extLst>
                </a:gridCol>
                <a:gridCol w="648001">
                  <a:extLst>
                    <a:ext uri="{9D8B030D-6E8A-4147-A177-3AD203B41FA5}">
                      <a16:colId xmlns:a16="http://schemas.microsoft.com/office/drawing/2014/main" val="1076505211"/>
                    </a:ext>
                  </a:extLst>
                </a:gridCol>
                <a:gridCol w="648001">
                  <a:extLst>
                    <a:ext uri="{9D8B030D-6E8A-4147-A177-3AD203B41FA5}">
                      <a16:colId xmlns:a16="http://schemas.microsoft.com/office/drawing/2014/main" val="534341401"/>
                    </a:ext>
                  </a:extLst>
                </a:gridCol>
                <a:gridCol w="648001">
                  <a:extLst>
                    <a:ext uri="{9D8B030D-6E8A-4147-A177-3AD203B41FA5}">
                      <a16:colId xmlns:a16="http://schemas.microsoft.com/office/drawing/2014/main" val="1161019026"/>
                    </a:ext>
                  </a:extLst>
                </a:gridCol>
              </a:tblGrid>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143065523"/>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509769987"/>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30428448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885914060"/>
                  </a:ext>
                </a:extLst>
              </a:tr>
              <a:tr h="432000">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lang="en-IN" sz="2000" b="1" dirty="0">
                          <a:solidFill>
                            <a:srgbClr val="0070C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1447703615"/>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3074359917"/>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115464804"/>
                  </a:ext>
                </a:extLst>
              </a:tr>
              <a:tr h="432000">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n-IN" sz="2400" b="1" dirty="0">
                          <a:solidFill>
                            <a:srgbClr val="0070C0"/>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a16="http://schemas.microsoft.com/office/drawing/2014/main" val="203900369"/>
                  </a:ext>
                </a:extLst>
              </a:tr>
            </a:tbl>
          </a:graphicData>
        </a:graphic>
      </p:graphicFrame>
      <p:graphicFrame>
        <p:nvGraphicFramePr>
          <p:cNvPr id="3" name="Content Placeholder 3">
            <a:extLst>
              <a:ext uri="{FF2B5EF4-FFF2-40B4-BE49-F238E27FC236}">
                <a16:creationId xmlns:a16="http://schemas.microsoft.com/office/drawing/2014/main" id="{30EFA537-53AE-791C-A89F-F4231611B2EF}"/>
              </a:ext>
            </a:extLst>
          </p:cNvPr>
          <p:cNvGraphicFramePr>
            <a:graphicFrameLocks/>
          </p:cNvGraphicFramePr>
          <p:nvPr>
            <p:extLst>
              <p:ext uri="{D42A27DB-BD31-4B8C-83A1-F6EECF244321}">
                <p14:modId xmlns:p14="http://schemas.microsoft.com/office/powerpoint/2010/main" val="2200854415"/>
              </p:ext>
            </p:extLst>
          </p:nvPr>
        </p:nvGraphicFramePr>
        <p:xfrm>
          <a:off x="7456660" y="1006950"/>
          <a:ext cx="3024000" cy="28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845476840"/>
                    </a:ext>
                  </a:extLst>
                </a:gridCol>
                <a:gridCol w="756000">
                  <a:extLst>
                    <a:ext uri="{9D8B030D-6E8A-4147-A177-3AD203B41FA5}">
                      <a16:colId xmlns:a16="http://schemas.microsoft.com/office/drawing/2014/main" val="1574357309"/>
                    </a:ext>
                  </a:extLst>
                </a:gridCol>
                <a:gridCol w="756000">
                  <a:extLst>
                    <a:ext uri="{9D8B030D-6E8A-4147-A177-3AD203B41FA5}">
                      <a16:colId xmlns:a16="http://schemas.microsoft.com/office/drawing/2014/main" val="573294828"/>
                    </a:ext>
                  </a:extLst>
                </a:gridCol>
                <a:gridCol w="756000">
                  <a:extLst>
                    <a:ext uri="{9D8B030D-6E8A-4147-A177-3AD203B41FA5}">
                      <a16:colId xmlns:a16="http://schemas.microsoft.com/office/drawing/2014/main" val="3141442075"/>
                    </a:ext>
                  </a:extLst>
                </a:gridCol>
              </a:tblGrid>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kern="1200" dirty="0">
                          <a:solidFill>
                            <a:srgbClr val="FF0000"/>
                          </a:solidFill>
                          <a:latin typeface="Times New Roman" panose="02020603050405020304" pitchFamily="18" charset="0"/>
                          <a:ea typeface="+mn-ea"/>
                          <a:cs typeface="Times New Roman" panose="02020603050405020304" pitchFamily="18" charset="0"/>
                        </a:rPr>
                        <a:t>-72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20000">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rgbClr val="FF0000"/>
                          </a:solidFill>
                          <a:latin typeface="Times New Roman" panose="02020603050405020304" pitchFamily="18" charset="0"/>
                          <a:cs typeface="Times New Roman" panose="02020603050405020304" pitchFamily="18" charset="0"/>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
        <p:nvSpPr>
          <p:cNvPr id="5" name="TextBox 4">
            <a:extLst>
              <a:ext uri="{FF2B5EF4-FFF2-40B4-BE49-F238E27FC236}">
                <a16:creationId xmlns:a16="http://schemas.microsoft.com/office/drawing/2014/main" id="{9A246ED3-70DC-F00F-8124-9309CCE3ADE5}"/>
              </a:ext>
            </a:extLst>
          </p:cNvPr>
          <p:cNvSpPr txBox="1"/>
          <p:nvPr/>
        </p:nvSpPr>
        <p:spPr>
          <a:xfrm>
            <a:off x="7672660" y="3961014"/>
            <a:ext cx="25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Final Convolved Matrix</a:t>
            </a:r>
          </a:p>
        </p:txBody>
      </p:sp>
      <p:sp>
        <p:nvSpPr>
          <p:cNvPr id="6" name="TextBox 5">
            <a:extLst>
              <a:ext uri="{FF2B5EF4-FFF2-40B4-BE49-F238E27FC236}">
                <a16:creationId xmlns:a16="http://schemas.microsoft.com/office/drawing/2014/main" id="{2AAE6D9C-A32E-C7F3-1B59-C1908AF46B3C}"/>
              </a:ext>
            </a:extLst>
          </p:cNvPr>
          <p:cNvSpPr txBox="1"/>
          <p:nvPr/>
        </p:nvSpPr>
        <p:spPr>
          <a:xfrm>
            <a:off x="549967" y="339058"/>
            <a:ext cx="113902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Convolution Operation Output with ZERO Padding and STRIDE = 2 </a:t>
            </a:r>
          </a:p>
        </p:txBody>
      </p:sp>
    </p:spTree>
    <p:extLst>
      <p:ext uri="{BB962C8B-B14F-4D97-AF65-F5344CB8AC3E}">
        <p14:creationId xmlns:p14="http://schemas.microsoft.com/office/powerpoint/2010/main" val="3342594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B6CE-43DE-3D6E-CE23-D91DAD17D8EF}"/>
              </a:ext>
            </a:extLst>
          </p:cNvPr>
          <p:cNvSpPr>
            <a:spLocks noGrp="1"/>
          </p:cNvSpPr>
          <p:nvPr>
            <p:ph type="title"/>
          </p:nvPr>
        </p:nvSpPr>
        <p:spPr>
          <a:xfrm>
            <a:off x="838200" y="365126"/>
            <a:ext cx="10515600" cy="539336"/>
          </a:xfrm>
        </p:spPr>
        <p:txBody>
          <a:bodyPr>
            <a:normAutofit fontScale="90000"/>
          </a:bodyPr>
          <a:lstStyle/>
          <a:p>
            <a:pPr algn="ctr"/>
            <a:r>
              <a:rPr lang="en-IN" dirty="0"/>
              <a:t>Pooling Layer</a:t>
            </a:r>
          </a:p>
        </p:txBody>
      </p:sp>
      <p:sp>
        <p:nvSpPr>
          <p:cNvPr id="3" name="Content Placeholder 2">
            <a:extLst>
              <a:ext uri="{FF2B5EF4-FFF2-40B4-BE49-F238E27FC236}">
                <a16:creationId xmlns:a16="http://schemas.microsoft.com/office/drawing/2014/main" id="{0EDF28A9-3050-EE0E-A9C8-00DF40F7E790}"/>
              </a:ext>
            </a:extLst>
          </p:cNvPr>
          <p:cNvSpPr>
            <a:spLocks noGrp="1"/>
          </p:cNvSpPr>
          <p:nvPr>
            <p:ph idx="1"/>
          </p:nvPr>
        </p:nvSpPr>
        <p:spPr>
          <a:xfrm>
            <a:off x="447261" y="1331843"/>
            <a:ext cx="10906539" cy="5267740"/>
          </a:xfrm>
        </p:spPr>
        <p:txBody>
          <a:bodyPr>
            <a:noAutofit/>
          </a:bodyPr>
          <a:lstStyle/>
          <a:p>
            <a:pPr algn="just"/>
            <a:r>
              <a:rPr lang="en-US" sz="2400" dirty="0">
                <a:solidFill>
                  <a:schemeClr val="accent2">
                    <a:lumMod val="75000"/>
                  </a:schemeClr>
                </a:solidFill>
                <a:latin typeface="Times New Roman" panose="02020603050405020304" pitchFamily="18" charset="0"/>
                <a:cs typeface="Times New Roman" panose="02020603050405020304" pitchFamily="18" charset="0"/>
              </a:rPr>
              <a:t>Pooling</a:t>
            </a:r>
            <a:r>
              <a:rPr lang="en-US" sz="2400" dirty="0">
                <a:latin typeface="Times New Roman" panose="02020603050405020304" pitchFamily="18" charset="0"/>
                <a:cs typeface="Times New Roman" panose="02020603050405020304" pitchFamily="18" charset="0"/>
              </a:rPr>
              <a:t> is a critical operation in Convolutional Neural Networks (CNNs) applied primarily for down-sampling the feature maps generated by the convolution layers.</a:t>
            </a:r>
          </a:p>
          <a:p>
            <a:pPr algn="just"/>
            <a:endParaRPr lang="en-US" sz="2400"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Reasons for applying Pooling:</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 </a:t>
            </a:r>
            <a:r>
              <a:rPr lang="en-US" sz="2400" b="1" dirty="0">
                <a:solidFill>
                  <a:schemeClr val="accent2">
                    <a:lumMod val="75000"/>
                  </a:schemeClr>
                </a:solidFill>
                <a:latin typeface="Times New Roman" panose="02020603050405020304" pitchFamily="18" charset="0"/>
                <a:cs typeface="Times New Roman" panose="02020603050405020304" pitchFamily="18" charset="0"/>
              </a:rPr>
              <a:t>Dimensionality Reduction</a:t>
            </a:r>
            <a:r>
              <a:rPr lang="en-US" sz="2400" b="1"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After convolution, the feature maps can still be large in terms of height and width. </a:t>
            </a:r>
          </a:p>
          <a:p>
            <a:pPr lvl="1" algn="just"/>
            <a:r>
              <a:rPr lang="en-US" dirty="0">
                <a:latin typeface="Times New Roman" panose="02020603050405020304" pitchFamily="18" charset="0"/>
                <a:cs typeface="Times New Roman" panose="02020603050405020304" pitchFamily="18" charset="0"/>
              </a:rPr>
              <a:t>Pooling layers </a:t>
            </a:r>
            <a:r>
              <a:rPr lang="en-US" b="1" dirty="0">
                <a:latin typeface="Times New Roman" panose="02020603050405020304" pitchFamily="18" charset="0"/>
                <a:cs typeface="Times New Roman" panose="02020603050405020304" pitchFamily="18" charset="0"/>
              </a:rPr>
              <a:t>reduce the spatial dimensions</a:t>
            </a:r>
            <a:r>
              <a:rPr lang="en-US" dirty="0">
                <a:latin typeface="Times New Roman" panose="02020603050405020304" pitchFamily="18" charset="0"/>
                <a:cs typeface="Times New Roman" panose="02020603050405020304" pitchFamily="18" charset="0"/>
              </a:rPr>
              <a:t> (height and width) of the feature maps while preserving key information.</a:t>
            </a:r>
          </a:p>
          <a:p>
            <a:pPr lvl="1" algn="just"/>
            <a:r>
              <a:rPr lang="en-US" dirty="0">
                <a:latin typeface="Times New Roman" panose="02020603050405020304" pitchFamily="18" charset="0"/>
                <a:cs typeface="Times New Roman" panose="02020603050405020304" pitchFamily="18" charset="0"/>
              </a:rPr>
              <a:t> This makes the computation more efficient in subsequent layers and prevents the network from overfitting by reducing the number of parameters.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2553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B6CE-43DE-3D6E-CE23-D91DAD17D8EF}"/>
              </a:ext>
            </a:extLst>
          </p:cNvPr>
          <p:cNvSpPr>
            <a:spLocks noGrp="1"/>
          </p:cNvSpPr>
          <p:nvPr>
            <p:ph type="title"/>
          </p:nvPr>
        </p:nvSpPr>
        <p:spPr>
          <a:xfrm>
            <a:off x="838200" y="109330"/>
            <a:ext cx="10515600" cy="539336"/>
          </a:xfrm>
        </p:spPr>
        <p:txBody>
          <a:bodyPr>
            <a:normAutofit fontScale="90000"/>
          </a:bodyPr>
          <a:lstStyle/>
          <a:p>
            <a:pPr algn="ctr"/>
            <a:r>
              <a:rPr lang="en-IN" dirty="0"/>
              <a:t>Pooling Layer</a:t>
            </a:r>
          </a:p>
        </p:txBody>
      </p:sp>
      <p:sp>
        <p:nvSpPr>
          <p:cNvPr id="3" name="Content Placeholder 2">
            <a:extLst>
              <a:ext uri="{FF2B5EF4-FFF2-40B4-BE49-F238E27FC236}">
                <a16:creationId xmlns:a16="http://schemas.microsoft.com/office/drawing/2014/main" id="{0EDF28A9-3050-EE0E-A9C8-00DF40F7E790}"/>
              </a:ext>
            </a:extLst>
          </p:cNvPr>
          <p:cNvSpPr>
            <a:spLocks noGrp="1"/>
          </p:cNvSpPr>
          <p:nvPr>
            <p:ph idx="1"/>
          </p:nvPr>
        </p:nvSpPr>
        <p:spPr>
          <a:xfrm>
            <a:off x="838200" y="797719"/>
            <a:ext cx="10515600" cy="5742230"/>
          </a:xfrm>
        </p:spPr>
        <p:txBody>
          <a:bodyPr>
            <a:noAutofit/>
          </a:bodyPr>
          <a:lstStyle/>
          <a:p>
            <a:pPr algn="just"/>
            <a:r>
              <a:rPr lang="en-US" sz="2400" b="1" dirty="0">
                <a:latin typeface="Times New Roman" panose="02020603050405020304" pitchFamily="18" charset="0"/>
                <a:cs typeface="Times New Roman" panose="02020603050405020304" pitchFamily="18" charset="0"/>
              </a:rPr>
              <a:t>Highlighting Dominant Features:</a:t>
            </a:r>
          </a:p>
          <a:p>
            <a:pPr lvl="1" algn="just"/>
            <a:r>
              <a:rPr lang="en-US" sz="2800" dirty="0">
                <a:latin typeface="Times New Roman" panose="02020603050405020304" pitchFamily="18" charset="0"/>
                <a:cs typeface="Times New Roman" panose="02020603050405020304" pitchFamily="18" charset="0"/>
              </a:rPr>
              <a:t>Pooling helps to </a:t>
            </a:r>
            <a:r>
              <a:rPr lang="en-US" sz="2800" b="1" dirty="0">
                <a:latin typeface="Times New Roman" panose="02020603050405020304" pitchFamily="18" charset="0"/>
                <a:cs typeface="Times New Roman" panose="02020603050405020304" pitchFamily="18" charset="0"/>
              </a:rPr>
              <a:t>down-sample</a:t>
            </a:r>
            <a:r>
              <a:rPr lang="en-US" sz="2800" dirty="0">
                <a:latin typeface="Times New Roman" panose="02020603050405020304" pitchFamily="18" charset="0"/>
                <a:cs typeface="Times New Roman" panose="02020603050405020304" pitchFamily="18" charset="0"/>
              </a:rPr>
              <a:t> the feature map by summarizing regions, which helps the network focus on the most prominent or important features.</a:t>
            </a:r>
          </a:p>
          <a:p>
            <a:pPr lvl="1" algn="just"/>
            <a:r>
              <a:rPr lang="en-US" sz="2800" dirty="0">
                <a:latin typeface="Times New Roman" panose="02020603050405020304" pitchFamily="18" charset="0"/>
                <a:cs typeface="Times New Roman" panose="02020603050405020304" pitchFamily="18" charset="0"/>
              </a:rPr>
              <a:t>For instance, max pooling selects the maximum value in each region, which typically corresponds to the most activated or relevant feature in that region.</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Translation Invariance:</a:t>
            </a:r>
          </a:p>
          <a:p>
            <a:pPr lvl="1" algn="just"/>
            <a:r>
              <a:rPr lang="en-US" sz="2800" dirty="0">
                <a:latin typeface="Times New Roman" panose="02020603050405020304" pitchFamily="18" charset="0"/>
                <a:cs typeface="Times New Roman" panose="02020603050405020304" pitchFamily="18" charset="0"/>
              </a:rPr>
              <a:t>Pooling introduces a degree of </a:t>
            </a:r>
            <a:r>
              <a:rPr lang="en-US" sz="2800" b="1" dirty="0">
                <a:latin typeface="Times New Roman" panose="02020603050405020304" pitchFamily="18" charset="0"/>
                <a:cs typeface="Times New Roman" panose="02020603050405020304" pitchFamily="18" charset="0"/>
              </a:rPr>
              <a:t>translation invariance</a:t>
            </a:r>
            <a:r>
              <a:rPr lang="en-US" sz="2800" dirty="0">
                <a:latin typeface="Times New Roman" panose="02020603050405020304" pitchFamily="18" charset="0"/>
                <a:cs typeface="Times New Roman" panose="02020603050405020304" pitchFamily="18" charset="0"/>
              </a:rPr>
              <a:t>, meaning that small translations (shifts) in the input image won't drastically affect the output. </a:t>
            </a:r>
          </a:p>
          <a:p>
            <a:pPr lvl="1" algn="just"/>
            <a:r>
              <a:rPr lang="en-US" sz="2800" dirty="0">
                <a:latin typeface="Times New Roman" panose="02020603050405020304" pitchFamily="18" charset="0"/>
                <a:cs typeface="Times New Roman" panose="02020603050405020304" pitchFamily="18" charset="0"/>
              </a:rPr>
              <a:t>This is because pooling summarizes local features, making the network more robust to shifts or distortions in the input.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6723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661F9-8E33-ABF3-5911-F07C2B245FF3}"/>
              </a:ext>
            </a:extLst>
          </p:cNvPr>
          <p:cNvSpPr>
            <a:spLocks noGrp="1"/>
          </p:cNvSpPr>
          <p:nvPr>
            <p:ph type="title"/>
          </p:nvPr>
        </p:nvSpPr>
        <p:spPr/>
        <p:txBody>
          <a:bodyPr/>
          <a:lstStyle/>
          <a:p>
            <a:pPr algn="ctr"/>
            <a:r>
              <a:rPr lang="en-IN" dirty="0"/>
              <a:t>Max Pooling</a:t>
            </a:r>
          </a:p>
        </p:txBody>
      </p:sp>
      <p:sp>
        <p:nvSpPr>
          <p:cNvPr id="3" name="Content Placeholder 2">
            <a:extLst>
              <a:ext uri="{FF2B5EF4-FFF2-40B4-BE49-F238E27FC236}">
                <a16:creationId xmlns:a16="http://schemas.microsoft.com/office/drawing/2014/main" id="{F00080FD-88C6-3BC1-9236-72267E452ADE}"/>
              </a:ext>
            </a:extLst>
          </p:cNvPr>
          <p:cNvSpPr>
            <a:spLocks noGrp="1"/>
          </p:cNvSpPr>
          <p:nvPr>
            <p:ph idx="1"/>
          </p:nvPr>
        </p:nvSpPr>
        <p:spPr>
          <a:xfrm>
            <a:off x="838199" y="1825625"/>
            <a:ext cx="10919791" cy="4351338"/>
          </a:xfrm>
        </p:spPr>
        <p:txBody>
          <a:bodyPr/>
          <a:lstStyle/>
          <a:p>
            <a:r>
              <a:rPr lang="en-US" dirty="0"/>
              <a:t>In max pooling, a filter ( example 2×2 ) is moved over the input feature map, and the </a:t>
            </a:r>
            <a:r>
              <a:rPr lang="en-US" dirty="0">
                <a:solidFill>
                  <a:srgbClr val="FF0000"/>
                </a:solidFill>
              </a:rPr>
              <a:t>maximum value from each sub-region </a:t>
            </a:r>
            <a:r>
              <a:rPr lang="en-US" dirty="0"/>
              <a:t>is selected as the output. </a:t>
            </a:r>
          </a:p>
          <a:p>
            <a:r>
              <a:rPr lang="en-US" dirty="0"/>
              <a:t>It effectively highlights the most prominent feature in each region.</a:t>
            </a:r>
          </a:p>
          <a:p>
            <a:endParaRPr lang="en-US" dirty="0"/>
          </a:p>
          <a:p>
            <a:r>
              <a:rPr lang="en-US" dirty="0"/>
              <a:t>Consider a 4×4 feature map, and we apply a </a:t>
            </a:r>
            <a:r>
              <a:rPr lang="en-US" dirty="0">
                <a:highlight>
                  <a:srgbClr val="FFFF00"/>
                </a:highlight>
              </a:rPr>
              <a:t>2×2 max pooling </a:t>
            </a:r>
            <a:r>
              <a:rPr lang="en-US" dirty="0"/>
              <a:t>with a stride of 2.</a:t>
            </a:r>
            <a:endParaRPr lang="en-IN" dirty="0"/>
          </a:p>
        </p:txBody>
      </p:sp>
      <p:graphicFrame>
        <p:nvGraphicFramePr>
          <p:cNvPr id="4" name="Content Placeholder 3">
            <a:extLst>
              <a:ext uri="{FF2B5EF4-FFF2-40B4-BE49-F238E27FC236}">
                <a16:creationId xmlns:a16="http://schemas.microsoft.com/office/drawing/2014/main" id="{BEC71C40-7827-7A34-A5BD-79AF7615FB80}"/>
              </a:ext>
            </a:extLst>
          </p:cNvPr>
          <p:cNvGraphicFramePr>
            <a:graphicFrameLocks/>
          </p:cNvGraphicFramePr>
          <p:nvPr>
            <p:extLst>
              <p:ext uri="{D42A27DB-BD31-4B8C-83A1-F6EECF244321}">
                <p14:modId xmlns:p14="http://schemas.microsoft.com/office/powerpoint/2010/main" val="796390559"/>
              </p:ext>
            </p:extLst>
          </p:nvPr>
        </p:nvGraphicFramePr>
        <p:xfrm>
          <a:off x="5427679" y="4787519"/>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150483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max pooling </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extLst>
              <p:ext uri="{D42A27DB-BD31-4B8C-83A1-F6EECF244321}">
                <p14:modId xmlns:p14="http://schemas.microsoft.com/office/powerpoint/2010/main" val="124468006"/>
              </p:ext>
            </p:extLst>
          </p:nvPr>
        </p:nvGraphicFramePr>
        <p:xfrm>
          <a:off x="4006384" y="1477790"/>
          <a:ext cx="3888000" cy="3024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845476840"/>
                    </a:ext>
                  </a:extLst>
                </a:gridCol>
                <a:gridCol w="972000">
                  <a:extLst>
                    <a:ext uri="{9D8B030D-6E8A-4147-A177-3AD203B41FA5}">
                      <a16:colId xmlns:a16="http://schemas.microsoft.com/office/drawing/2014/main" val="1574357309"/>
                    </a:ext>
                  </a:extLst>
                </a:gridCol>
                <a:gridCol w="972000">
                  <a:extLst>
                    <a:ext uri="{9D8B030D-6E8A-4147-A177-3AD203B41FA5}">
                      <a16:colId xmlns:a16="http://schemas.microsoft.com/office/drawing/2014/main" val="573294828"/>
                    </a:ext>
                  </a:extLst>
                </a:gridCol>
                <a:gridCol w="972000">
                  <a:extLst>
                    <a:ext uri="{9D8B030D-6E8A-4147-A177-3AD203B41FA5}">
                      <a16:colId xmlns:a16="http://schemas.microsoft.com/office/drawing/2014/main" val="3141442075"/>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cxnSp>
        <p:nvCxnSpPr>
          <p:cNvPr id="6" name="Straight Connector 5">
            <a:extLst>
              <a:ext uri="{FF2B5EF4-FFF2-40B4-BE49-F238E27FC236}">
                <a16:creationId xmlns:a16="http://schemas.microsoft.com/office/drawing/2014/main" id="{8261741C-A0C2-F65F-941F-1ED3F62742E8}"/>
              </a:ext>
            </a:extLst>
          </p:cNvPr>
          <p:cNvCxnSpPr>
            <a:cxnSpLocks/>
            <a:endCxn id="4" idx="2"/>
          </p:cNvCxnSpPr>
          <p:nvPr/>
        </p:nvCxnSpPr>
        <p:spPr>
          <a:xfrm>
            <a:off x="5950384" y="1477790"/>
            <a:ext cx="0" cy="302400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EB2BA5-BF9F-DB83-B89A-DBF3E2F4B52B}"/>
              </a:ext>
            </a:extLst>
          </p:cNvPr>
          <p:cNvCxnSpPr>
            <a:cxnSpLocks/>
            <a:stCxn id="4" idx="3"/>
            <a:endCxn id="4" idx="1"/>
          </p:cNvCxnSpPr>
          <p:nvPr/>
        </p:nvCxnSpPr>
        <p:spPr>
          <a:xfrm flipH="1">
            <a:off x="4006384" y="2989790"/>
            <a:ext cx="3888000" cy="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28C37886-94C7-1532-A35F-F021572F7C84}"/>
              </a:ext>
            </a:extLst>
          </p:cNvPr>
          <p:cNvGraphicFramePr>
            <a:graphicFrameLocks noGrp="1"/>
          </p:cNvGraphicFramePr>
          <p:nvPr>
            <p:extLst>
              <p:ext uri="{D42A27DB-BD31-4B8C-83A1-F6EECF244321}">
                <p14:modId xmlns:p14="http://schemas.microsoft.com/office/powerpoint/2010/main" val="2712163588"/>
              </p:ext>
            </p:extLst>
          </p:nvPr>
        </p:nvGraphicFramePr>
        <p:xfrm>
          <a:off x="1090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890068555"/>
                    </a:ext>
                  </a:extLst>
                </a:gridCol>
                <a:gridCol w="972000">
                  <a:extLst>
                    <a:ext uri="{9D8B030D-6E8A-4147-A177-3AD203B41FA5}">
                      <a16:colId xmlns:a16="http://schemas.microsoft.com/office/drawing/2014/main" val="1892009301"/>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55925545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86506183"/>
                  </a:ext>
                </a:extLst>
              </a:tr>
            </a:tbl>
          </a:graphicData>
        </a:graphic>
      </p:graphicFrame>
      <p:graphicFrame>
        <p:nvGraphicFramePr>
          <p:cNvPr id="13" name="Table 12">
            <a:extLst>
              <a:ext uri="{FF2B5EF4-FFF2-40B4-BE49-F238E27FC236}">
                <a16:creationId xmlns:a16="http://schemas.microsoft.com/office/drawing/2014/main" id="{FEAC9B2D-3CFB-CD19-F2E4-5F67DCA3B5E7}"/>
              </a:ext>
            </a:extLst>
          </p:cNvPr>
          <p:cNvGraphicFramePr>
            <a:graphicFrameLocks noGrp="1"/>
          </p:cNvGraphicFramePr>
          <p:nvPr>
            <p:extLst>
              <p:ext uri="{D42A27DB-BD31-4B8C-83A1-F6EECF244321}">
                <p14:modId xmlns:p14="http://schemas.microsoft.com/office/powerpoint/2010/main" val="3914616784"/>
              </p:ext>
            </p:extLst>
          </p:nvPr>
        </p:nvGraphicFramePr>
        <p:xfrm>
          <a:off x="1090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1654992784"/>
                    </a:ext>
                  </a:extLst>
                </a:gridCol>
                <a:gridCol w="972000">
                  <a:extLst>
                    <a:ext uri="{9D8B030D-6E8A-4147-A177-3AD203B41FA5}">
                      <a16:colId xmlns:a16="http://schemas.microsoft.com/office/drawing/2014/main" val="54138018"/>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73984506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58099429"/>
                  </a:ext>
                </a:extLst>
              </a:tr>
            </a:tbl>
          </a:graphicData>
        </a:graphic>
      </p:graphicFrame>
      <p:graphicFrame>
        <p:nvGraphicFramePr>
          <p:cNvPr id="14" name="Table 13">
            <a:extLst>
              <a:ext uri="{FF2B5EF4-FFF2-40B4-BE49-F238E27FC236}">
                <a16:creationId xmlns:a16="http://schemas.microsoft.com/office/drawing/2014/main" id="{1310CD58-0883-CE55-B0CE-FBC82460F57B}"/>
              </a:ext>
            </a:extLst>
          </p:cNvPr>
          <p:cNvGraphicFramePr>
            <a:graphicFrameLocks noGrp="1"/>
          </p:cNvGraphicFramePr>
          <p:nvPr>
            <p:extLst>
              <p:ext uri="{D42A27DB-BD31-4B8C-83A1-F6EECF244321}">
                <p14:modId xmlns:p14="http://schemas.microsoft.com/office/powerpoint/2010/main" val="3012025297"/>
              </p:ext>
            </p:extLst>
          </p:nvPr>
        </p:nvGraphicFramePr>
        <p:xfrm>
          <a:off x="8866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3111413991"/>
                    </a:ext>
                  </a:extLst>
                </a:gridCol>
                <a:gridCol w="972000">
                  <a:extLst>
                    <a:ext uri="{9D8B030D-6E8A-4147-A177-3AD203B41FA5}">
                      <a16:colId xmlns:a16="http://schemas.microsoft.com/office/drawing/2014/main" val="345795489"/>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5330305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867617076"/>
                  </a:ext>
                </a:extLst>
              </a:tr>
            </a:tbl>
          </a:graphicData>
        </a:graphic>
      </p:graphicFrame>
      <p:graphicFrame>
        <p:nvGraphicFramePr>
          <p:cNvPr id="15" name="Table 14">
            <a:extLst>
              <a:ext uri="{FF2B5EF4-FFF2-40B4-BE49-F238E27FC236}">
                <a16:creationId xmlns:a16="http://schemas.microsoft.com/office/drawing/2014/main" id="{78DCBF5B-8F22-410A-FAB9-087CCEC3D9B1}"/>
              </a:ext>
            </a:extLst>
          </p:cNvPr>
          <p:cNvGraphicFramePr>
            <a:graphicFrameLocks noGrp="1"/>
          </p:cNvGraphicFramePr>
          <p:nvPr>
            <p:extLst>
              <p:ext uri="{D42A27DB-BD31-4B8C-83A1-F6EECF244321}">
                <p14:modId xmlns:p14="http://schemas.microsoft.com/office/powerpoint/2010/main" val="1659536561"/>
              </p:ext>
            </p:extLst>
          </p:nvPr>
        </p:nvGraphicFramePr>
        <p:xfrm>
          <a:off x="8866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329841778"/>
                    </a:ext>
                  </a:extLst>
                </a:gridCol>
                <a:gridCol w="972000">
                  <a:extLst>
                    <a:ext uri="{9D8B030D-6E8A-4147-A177-3AD203B41FA5}">
                      <a16:colId xmlns:a16="http://schemas.microsoft.com/office/drawing/2014/main" val="3153029056"/>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3457208"/>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759243682"/>
                  </a:ext>
                </a:extLst>
              </a:tr>
            </a:tbl>
          </a:graphicData>
        </a:graphic>
      </p:graphicFrame>
      <p:sp>
        <p:nvSpPr>
          <p:cNvPr id="17" name="TextBox 16">
            <a:extLst>
              <a:ext uri="{FF2B5EF4-FFF2-40B4-BE49-F238E27FC236}">
                <a16:creationId xmlns:a16="http://schemas.microsoft.com/office/drawing/2014/main" id="{F91F425D-779C-CDAC-9E87-3CB6E33654D9}"/>
              </a:ext>
            </a:extLst>
          </p:cNvPr>
          <p:cNvSpPr txBox="1"/>
          <p:nvPr/>
        </p:nvSpPr>
        <p:spPr>
          <a:xfrm>
            <a:off x="3788879" y="5899001"/>
            <a:ext cx="507750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Divide the given feature map into 2x2 sub region</a:t>
            </a:r>
          </a:p>
        </p:txBody>
      </p:sp>
    </p:spTree>
    <p:extLst>
      <p:ext uri="{BB962C8B-B14F-4D97-AF65-F5344CB8AC3E}">
        <p14:creationId xmlns:p14="http://schemas.microsoft.com/office/powerpoint/2010/main" val="1471745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max pooling </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nvGraphicFramePr>
        <p:xfrm>
          <a:off x="4006384" y="1477790"/>
          <a:ext cx="3888000" cy="3024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845476840"/>
                    </a:ext>
                  </a:extLst>
                </a:gridCol>
                <a:gridCol w="972000">
                  <a:extLst>
                    <a:ext uri="{9D8B030D-6E8A-4147-A177-3AD203B41FA5}">
                      <a16:colId xmlns:a16="http://schemas.microsoft.com/office/drawing/2014/main" val="1574357309"/>
                    </a:ext>
                  </a:extLst>
                </a:gridCol>
                <a:gridCol w="972000">
                  <a:extLst>
                    <a:ext uri="{9D8B030D-6E8A-4147-A177-3AD203B41FA5}">
                      <a16:colId xmlns:a16="http://schemas.microsoft.com/office/drawing/2014/main" val="573294828"/>
                    </a:ext>
                  </a:extLst>
                </a:gridCol>
                <a:gridCol w="972000">
                  <a:extLst>
                    <a:ext uri="{9D8B030D-6E8A-4147-A177-3AD203B41FA5}">
                      <a16:colId xmlns:a16="http://schemas.microsoft.com/office/drawing/2014/main" val="3141442075"/>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cxnSp>
        <p:nvCxnSpPr>
          <p:cNvPr id="6" name="Straight Connector 5">
            <a:extLst>
              <a:ext uri="{FF2B5EF4-FFF2-40B4-BE49-F238E27FC236}">
                <a16:creationId xmlns:a16="http://schemas.microsoft.com/office/drawing/2014/main" id="{8261741C-A0C2-F65F-941F-1ED3F62742E8}"/>
              </a:ext>
            </a:extLst>
          </p:cNvPr>
          <p:cNvCxnSpPr>
            <a:cxnSpLocks/>
            <a:endCxn id="4" idx="2"/>
          </p:cNvCxnSpPr>
          <p:nvPr/>
        </p:nvCxnSpPr>
        <p:spPr>
          <a:xfrm>
            <a:off x="5950384" y="1477790"/>
            <a:ext cx="0" cy="302400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EB2BA5-BF9F-DB83-B89A-DBF3E2F4B52B}"/>
              </a:ext>
            </a:extLst>
          </p:cNvPr>
          <p:cNvCxnSpPr>
            <a:cxnSpLocks/>
            <a:stCxn id="4" idx="3"/>
            <a:endCxn id="4" idx="1"/>
          </p:cNvCxnSpPr>
          <p:nvPr/>
        </p:nvCxnSpPr>
        <p:spPr>
          <a:xfrm flipH="1">
            <a:off x="4006384" y="2989790"/>
            <a:ext cx="3888000" cy="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28C37886-94C7-1532-A35F-F021572F7C84}"/>
              </a:ext>
            </a:extLst>
          </p:cNvPr>
          <p:cNvGraphicFramePr>
            <a:graphicFrameLocks noGrp="1"/>
          </p:cNvGraphicFramePr>
          <p:nvPr>
            <p:extLst>
              <p:ext uri="{D42A27DB-BD31-4B8C-83A1-F6EECF244321}">
                <p14:modId xmlns:p14="http://schemas.microsoft.com/office/powerpoint/2010/main" val="3015391900"/>
              </p:ext>
            </p:extLst>
          </p:nvPr>
        </p:nvGraphicFramePr>
        <p:xfrm>
          <a:off x="1090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890068555"/>
                    </a:ext>
                  </a:extLst>
                </a:gridCol>
                <a:gridCol w="972000">
                  <a:extLst>
                    <a:ext uri="{9D8B030D-6E8A-4147-A177-3AD203B41FA5}">
                      <a16:colId xmlns:a16="http://schemas.microsoft.com/office/drawing/2014/main" val="1892009301"/>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55925545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CC">
                        <a:alpha val="42353"/>
                      </a:srgbClr>
                    </a:solidFill>
                  </a:tcPr>
                </a:tc>
                <a:extLst>
                  <a:ext uri="{0D108BD9-81ED-4DB2-BD59-A6C34878D82A}">
                    <a16:rowId xmlns:a16="http://schemas.microsoft.com/office/drawing/2014/main" val="286506183"/>
                  </a:ext>
                </a:extLst>
              </a:tr>
            </a:tbl>
          </a:graphicData>
        </a:graphic>
      </p:graphicFrame>
      <p:graphicFrame>
        <p:nvGraphicFramePr>
          <p:cNvPr id="13" name="Table 12">
            <a:extLst>
              <a:ext uri="{FF2B5EF4-FFF2-40B4-BE49-F238E27FC236}">
                <a16:creationId xmlns:a16="http://schemas.microsoft.com/office/drawing/2014/main" id="{FEAC9B2D-3CFB-CD19-F2E4-5F67DCA3B5E7}"/>
              </a:ext>
            </a:extLst>
          </p:cNvPr>
          <p:cNvGraphicFramePr>
            <a:graphicFrameLocks noGrp="1"/>
          </p:cNvGraphicFramePr>
          <p:nvPr>
            <p:extLst>
              <p:ext uri="{D42A27DB-BD31-4B8C-83A1-F6EECF244321}">
                <p14:modId xmlns:p14="http://schemas.microsoft.com/office/powerpoint/2010/main" val="1422500466"/>
              </p:ext>
            </p:extLst>
          </p:nvPr>
        </p:nvGraphicFramePr>
        <p:xfrm>
          <a:off x="1090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1654992784"/>
                    </a:ext>
                  </a:extLst>
                </a:gridCol>
                <a:gridCol w="972000">
                  <a:extLst>
                    <a:ext uri="{9D8B030D-6E8A-4147-A177-3AD203B41FA5}">
                      <a16:colId xmlns:a16="http://schemas.microsoft.com/office/drawing/2014/main" val="54138018"/>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73984506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CC">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58099429"/>
                  </a:ext>
                </a:extLst>
              </a:tr>
            </a:tbl>
          </a:graphicData>
        </a:graphic>
      </p:graphicFrame>
      <p:graphicFrame>
        <p:nvGraphicFramePr>
          <p:cNvPr id="14" name="Table 13">
            <a:extLst>
              <a:ext uri="{FF2B5EF4-FFF2-40B4-BE49-F238E27FC236}">
                <a16:creationId xmlns:a16="http://schemas.microsoft.com/office/drawing/2014/main" id="{1310CD58-0883-CE55-B0CE-FBC82460F57B}"/>
              </a:ext>
            </a:extLst>
          </p:cNvPr>
          <p:cNvGraphicFramePr>
            <a:graphicFrameLocks noGrp="1"/>
          </p:cNvGraphicFramePr>
          <p:nvPr>
            <p:extLst>
              <p:ext uri="{D42A27DB-BD31-4B8C-83A1-F6EECF244321}">
                <p14:modId xmlns:p14="http://schemas.microsoft.com/office/powerpoint/2010/main" val="3113591571"/>
              </p:ext>
            </p:extLst>
          </p:nvPr>
        </p:nvGraphicFramePr>
        <p:xfrm>
          <a:off x="8866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3111413991"/>
                    </a:ext>
                  </a:extLst>
                </a:gridCol>
                <a:gridCol w="972000">
                  <a:extLst>
                    <a:ext uri="{9D8B030D-6E8A-4147-A177-3AD203B41FA5}">
                      <a16:colId xmlns:a16="http://schemas.microsoft.com/office/drawing/2014/main" val="345795489"/>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5330305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CC">
                        <a:alpha val="43000"/>
                      </a:srgbClr>
                    </a:solidFill>
                  </a:tcPr>
                </a:tc>
                <a:extLst>
                  <a:ext uri="{0D108BD9-81ED-4DB2-BD59-A6C34878D82A}">
                    <a16:rowId xmlns:a16="http://schemas.microsoft.com/office/drawing/2014/main" val="2867617076"/>
                  </a:ext>
                </a:extLst>
              </a:tr>
            </a:tbl>
          </a:graphicData>
        </a:graphic>
      </p:graphicFrame>
      <p:graphicFrame>
        <p:nvGraphicFramePr>
          <p:cNvPr id="15" name="Table 14">
            <a:extLst>
              <a:ext uri="{FF2B5EF4-FFF2-40B4-BE49-F238E27FC236}">
                <a16:creationId xmlns:a16="http://schemas.microsoft.com/office/drawing/2014/main" id="{78DCBF5B-8F22-410A-FAB9-087CCEC3D9B1}"/>
              </a:ext>
            </a:extLst>
          </p:cNvPr>
          <p:cNvGraphicFramePr>
            <a:graphicFrameLocks noGrp="1"/>
          </p:cNvGraphicFramePr>
          <p:nvPr>
            <p:extLst>
              <p:ext uri="{D42A27DB-BD31-4B8C-83A1-F6EECF244321}">
                <p14:modId xmlns:p14="http://schemas.microsoft.com/office/powerpoint/2010/main" val="4251398985"/>
              </p:ext>
            </p:extLst>
          </p:nvPr>
        </p:nvGraphicFramePr>
        <p:xfrm>
          <a:off x="8866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329841778"/>
                    </a:ext>
                  </a:extLst>
                </a:gridCol>
                <a:gridCol w="972000">
                  <a:extLst>
                    <a:ext uri="{9D8B030D-6E8A-4147-A177-3AD203B41FA5}">
                      <a16:colId xmlns:a16="http://schemas.microsoft.com/office/drawing/2014/main" val="3153029056"/>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3457208"/>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CC">
                        <a:alpha val="43000"/>
                      </a:srgbClr>
                    </a:solidFill>
                  </a:tcPr>
                </a:tc>
                <a:extLst>
                  <a:ext uri="{0D108BD9-81ED-4DB2-BD59-A6C34878D82A}">
                    <a16:rowId xmlns:a16="http://schemas.microsoft.com/office/drawing/2014/main" val="1759243682"/>
                  </a:ext>
                </a:extLst>
              </a:tr>
            </a:tbl>
          </a:graphicData>
        </a:graphic>
      </p:graphicFrame>
      <p:sp>
        <p:nvSpPr>
          <p:cNvPr id="17" name="TextBox 16">
            <a:extLst>
              <a:ext uri="{FF2B5EF4-FFF2-40B4-BE49-F238E27FC236}">
                <a16:creationId xmlns:a16="http://schemas.microsoft.com/office/drawing/2014/main" id="{F91F425D-779C-CDAC-9E87-3CB6E33654D9}"/>
              </a:ext>
            </a:extLst>
          </p:cNvPr>
          <p:cNvSpPr txBox="1"/>
          <p:nvPr/>
        </p:nvSpPr>
        <p:spPr>
          <a:xfrm>
            <a:off x="3788879" y="5899001"/>
            <a:ext cx="538493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Find out maximum value from each sub-region</a:t>
            </a:r>
          </a:p>
        </p:txBody>
      </p:sp>
    </p:spTree>
    <p:extLst>
      <p:ext uri="{BB962C8B-B14F-4D97-AF65-F5344CB8AC3E}">
        <p14:creationId xmlns:p14="http://schemas.microsoft.com/office/powerpoint/2010/main" val="2342425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max pooling Output Feature Map</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extLst>
              <p:ext uri="{D42A27DB-BD31-4B8C-83A1-F6EECF244321}">
                <p14:modId xmlns:p14="http://schemas.microsoft.com/office/powerpoint/2010/main" val="313583003"/>
              </p:ext>
            </p:extLst>
          </p:nvPr>
        </p:nvGraphicFramePr>
        <p:xfrm>
          <a:off x="4006384" y="1477790"/>
          <a:ext cx="3888000" cy="3024000"/>
        </p:xfrm>
        <a:graphic>
          <a:graphicData uri="http://schemas.openxmlformats.org/drawingml/2006/table">
            <a:tbl>
              <a:tblPr firstRow="1" bandRow="1">
                <a:tableStyleId>{2D5ABB26-0587-4C30-8999-92F81FD0307C}</a:tableStyleId>
              </a:tblPr>
              <a:tblGrid>
                <a:gridCol w="1944000">
                  <a:extLst>
                    <a:ext uri="{9D8B030D-6E8A-4147-A177-3AD203B41FA5}">
                      <a16:colId xmlns:a16="http://schemas.microsoft.com/office/drawing/2014/main" val="845476840"/>
                    </a:ext>
                  </a:extLst>
                </a:gridCol>
                <a:gridCol w="1944000">
                  <a:extLst>
                    <a:ext uri="{9D8B030D-6E8A-4147-A177-3AD203B41FA5}">
                      <a16:colId xmlns:a16="http://schemas.microsoft.com/office/drawing/2014/main" val="573294828"/>
                    </a:ext>
                  </a:extLst>
                </a:gridCol>
              </a:tblGrid>
              <a:tr h="151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151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bl>
          </a:graphicData>
        </a:graphic>
      </p:graphicFrame>
      <p:sp>
        <p:nvSpPr>
          <p:cNvPr id="17" name="TextBox 16">
            <a:extLst>
              <a:ext uri="{FF2B5EF4-FFF2-40B4-BE49-F238E27FC236}">
                <a16:creationId xmlns:a16="http://schemas.microsoft.com/office/drawing/2014/main" id="{F91F425D-779C-CDAC-9E87-3CB6E33654D9}"/>
              </a:ext>
            </a:extLst>
          </p:cNvPr>
          <p:cNvSpPr txBox="1"/>
          <p:nvPr/>
        </p:nvSpPr>
        <p:spPr>
          <a:xfrm>
            <a:off x="3403531" y="5224206"/>
            <a:ext cx="5384938" cy="369332"/>
          </a:xfrm>
          <a:prstGeom prst="rect">
            <a:avLst/>
          </a:prstGeom>
          <a:noFill/>
        </p:spPr>
        <p:txBody>
          <a:bodyPr wrap="square">
            <a:spAutoFit/>
          </a:bodyPr>
          <a:lstStyle/>
          <a:p>
            <a:r>
              <a:rPr lang="en-IN" b="1" dirty="0">
                <a:highlight>
                  <a:srgbClr val="FFFF00"/>
                </a:highlight>
                <a:latin typeface="Times New Roman" panose="02020603050405020304" pitchFamily="18" charset="0"/>
                <a:cs typeface="Times New Roman" panose="02020603050405020304" pitchFamily="18" charset="0"/>
              </a:rPr>
              <a:t>Each Sub region is represented by its MAX value</a:t>
            </a:r>
          </a:p>
        </p:txBody>
      </p:sp>
    </p:spTree>
    <p:extLst>
      <p:ext uri="{BB962C8B-B14F-4D97-AF65-F5344CB8AC3E}">
        <p14:creationId xmlns:p14="http://schemas.microsoft.com/office/powerpoint/2010/main" val="2307062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D2434C-F96A-C03F-7615-0577BC59327B}"/>
              </a:ext>
            </a:extLst>
          </p:cNvPr>
          <p:cNvSpPr>
            <a:spLocks noGrp="1"/>
          </p:cNvSpPr>
          <p:nvPr>
            <p:ph idx="1"/>
          </p:nvPr>
        </p:nvSpPr>
        <p:spPr>
          <a:xfrm>
            <a:off x="838200" y="506896"/>
            <a:ext cx="10959548" cy="5933661"/>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Advantages of Max Pooling:</a:t>
            </a:r>
          </a:p>
          <a:p>
            <a:pPr lvl="1" algn="just"/>
            <a:r>
              <a:rPr lang="en-US" sz="2800" b="1" dirty="0">
                <a:latin typeface="Times New Roman" panose="02020603050405020304" pitchFamily="18" charset="0"/>
                <a:cs typeface="Times New Roman" panose="02020603050405020304" pitchFamily="18" charset="0"/>
              </a:rPr>
              <a:t>Feature Preservation</a:t>
            </a:r>
            <a:r>
              <a:rPr lang="en-US" sz="2800" dirty="0">
                <a:latin typeface="Times New Roman" panose="02020603050405020304" pitchFamily="18" charset="0"/>
                <a:cs typeface="Times New Roman" panose="02020603050405020304" pitchFamily="18" charset="0"/>
              </a:rPr>
              <a:t>: It picks the most activated feature in each region, which often corresponds to important features like edges, corners, or textures.</a:t>
            </a:r>
          </a:p>
          <a:p>
            <a:pPr lvl="1" algn="just"/>
            <a:r>
              <a:rPr lang="en-US" sz="2800" b="1" dirty="0">
                <a:latin typeface="Times New Roman" panose="02020603050405020304" pitchFamily="18" charset="0"/>
                <a:cs typeface="Times New Roman" panose="02020603050405020304" pitchFamily="18" charset="0"/>
              </a:rPr>
              <a:t>Reduced Computational Complexity</a:t>
            </a:r>
            <a:r>
              <a:rPr lang="en-US" sz="2800" dirty="0">
                <a:latin typeface="Times New Roman" panose="02020603050405020304" pitchFamily="18" charset="0"/>
                <a:cs typeface="Times New Roman" panose="02020603050405020304" pitchFamily="18" charset="0"/>
              </a:rPr>
              <a:t>: Max pooling reduces the size of the feature map, making the network more efficient in deeper layers.</a:t>
            </a:r>
          </a:p>
          <a:p>
            <a:pPr lvl="1" algn="just"/>
            <a:r>
              <a:rPr lang="en-US" sz="2800" b="1" dirty="0">
                <a:latin typeface="Times New Roman" panose="02020603050405020304" pitchFamily="18" charset="0"/>
                <a:cs typeface="Times New Roman" panose="02020603050405020304" pitchFamily="18" charset="0"/>
              </a:rPr>
              <a:t>Translation Invariance</a:t>
            </a:r>
            <a:r>
              <a:rPr lang="en-US" sz="2800" dirty="0">
                <a:latin typeface="Times New Roman" panose="02020603050405020304" pitchFamily="18" charset="0"/>
                <a:cs typeface="Times New Roman" panose="02020603050405020304" pitchFamily="18" charset="0"/>
              </a:rPr>
              <a:t>: It helps make the network robust to small translations and distortions.</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Disadvantages of Max Pooling:</a:t>
            </a:r>
          </a:p>
          <a:p>
            <a:pPr lvl="1" algn="just"/>
            <a:r>
              <a:rPr lang="en-US" sz="2800" b="1" dirty="0">
                <a:latin typeface="Times New Roman" panose="02020603050405020304" pitchFamily="18" charset="0"/>
                <a:cs typeface="Times New Roman" panose="02020603050405020304" pitchFamily="18" charset="0"/>
              </a:rPr>
              <a:t>Loss of Information</a:t>
            </a:r>
            <a:r>
              <a:rPr lang="en-US" sz="2800" dirty="0">
                <a:latin typeface="Times New Roman" panose="02020603050405020304" pitchFamily="18" charset="0"/>
                <a:cs typeface="Times New Roman" panose="02020603050405020304" pitchFamily="18" charset="0"/>
              </a:rPr>
              <a:t>: By selecting only the maximum value, other potentially useful information from the region is discarded, which might be important in certain tasks like localization.</a:t>
            </a:r>
          </a:p>
          <a:p>
            <a:pPr algn="just"/>
            <a:endParaRPr lang="en-IN" dirty="0"/>
          </a:p>
        </p:txBody>
      </p:sp>
    </p:spTree>
    <p:extLst>
      <p:ext uri="{BB962C8B-B14F-4D97-AF65-F5344CB8AC3E}">
        <p14:creationId xmlns:p14="http://schemas.microsoft.com/office/powerpoint/2010/main" val="1299557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8DCE9-EE86-C88F-4389-EC69F5EB4916}"/>
              </a:ext>
            </a:extLst>
          </p:cNvPr>
          <p:cNvSpPr>
            <a:spLocks noGrp="1"/>
          </p:cNvSpPr>
          <p:nvPr>
            <p:ph type="title"/>
          </p:nvPr>
        </p:nvSpPr>
        <p:spPr/>
        <p:txBody>
          <a:bodyPr/>
          <a:lstStyle/>
          <a:p>
            <a:pPr algn="ctr"/>
            <a:r>
              <a:rPr lang="en-IN" dirty="0"/>
              <a:t>Average Pooling</a:t>
            </a:r>
          </a:p>
        </p:txBody>
      </p:sp>
      <p:sp>
        <p:nvSpPr>
          <p:cNvPr id="3" name="Content Placeholder 2">
            <a:extLst>
              <a:ext uri="{FF2B5EF4-FFF2-40B4-BE49-F238E27FC236}">
                <a16:creationId xmlns:a16="http://schemas.microsoft.com/office/drawing/2014/main" id="{320B5602-91ED-346D-65D0-F8D461BBBA19}"/>
              </a:ext>
            </a:extLst>
          </p:cNvPr>
          <p:cNvSpPr>
            <a:spLocks noGrp="1"/>
          </p:cNvSpPr>
          <p:nvPr>
            <p:ph idx="1"/>
          </p:nvPr>
        </p:nvSpPr>
        <p:spPr/>
        <p:txBody>
          <a:bodyPr/>
          <a:lstStyle/>
          <a:p>
            <a:r>
              <a:rPr lang="en-US" dirty="0"/>
              <a:t>In average pooling, the average of the values in each sub-region is computed and used as the output. </a:t>
            </a:r>
          </a:p>
          <a:p>
            <a:r>
              <a:rPr lang="en-US" dirty="0"/>
              <a:t>This type of pooling gives a smoother representation by averaging out the activations.</a:t>
            </a:r>
          </a:p>
          <a:p>
            <a:endParaRPr lang="en-US" dirty="0"/>
          </a:p>
          <a:p>
            <a:r>
              <a:rPr lang="en-US" dirty="0"/>
              <a:t>Consider a 4×4 feature map, and we apply a 2×2 Averaging pooling with a stride of 2.</a:t>
            </a:r>
          </a:p>
          <a:p>
            <a:endParaRPr lang="en-IN" dirty="0"/>
          </a:p>
        </p:txBody>
      </p:sp>
      <p:graphicFrame>
        <p:nvGraphicFramePr>
          <p:cNvPr id="4" name="Content Placeholder 3">
            <a:extLst>
              <a:ext uri="{FF2B5EF4-FFF2-40B4-BE49-F238E27FC236}">
                <a16:creationId xmlns:a16="http://schemas.microsoft.com/office/drawing/2014/main" id="{FA27DA49-C928-21C9-E24E-6ECB9C6747C4}"/>
              </a:ext>
            </a:extLst>
          </p:cNvPr>
          <p:cNvGraphicFramePr>
            <a:graphicFrameLocks/>
          </p:cNvGraphicFramePr>
          <p:nvPr>
            <p:extLst>
              <p:ext uri="{D42A27DB-BD31-4B8C-83A1-F6EECF244321}">
                <p14:modId xmlns:p14="http://schemas.microsoft.com/office/powerpoint/2010/main" val="4276878660"/>
              </p:ext>
            </p:extLst>
          </p:nvPr>
        </p:nvGraphicFramePr>
        <p:xfrm>
          <a:off x="5427679" y="4787519"/>
          <a:ext cx="2592000" cy="1828800"/>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845476840"/>
                    </a:ext>
                  </a:extLst>
                </a:gridCol>
                <a:gridCol w="648000">
                  <a:extLst>
                    <a:ext uri="{9D8B030D-6E8A-4147-A177-3AD203B41FA5}">
                      <a16:colId xmlns:a16="http://schemas.microsoft.com/office/drawing/2014/main" val="1574357309"/>
                    </a:ext>
                  </a:extLst>
                </a:gridCol>
                <a:gridCol w="648000">
                  <a:extLst>
                    <a:ext uri="{9D8B030D-6E8A-4147-A177-3AD203B41FA5}">
                      <a16:colId xmlns:a16="http://schemas.microsoft.com/office/drawing/2014/main" val="573294828"/>
                    </a:ext>
                  </a:extLst>
                </a:gridCol>
                <a:gridCol w="648000">
                  <a:extLst>
                    <a:ext uri="{9D8B030D-6E8A-4147-A177-3AD203B41FA5}">
                      <a16:colId xmlns:a16="http://schemas.microsoft.com/office/drawing/2014/main" val="3141442075"/>
                    </a:ext>
                  </a:extLst>
                </a:gridCol>
              </a:tblGrid>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43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spTree>
    <p:extLst>
      <p:ext uri="{BB962C8B-B14F-4D97-AF65-F5344CB8AC3E}">
        <p14:creationId xmlns:p14="http://schemas.microsoft.com/office/powerpoint/2010/main" val="1951608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Average pooling </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nvGraphicFramePr>
        <p:xfrm>
          <a:off x="4006384" y="1477790"/>
          <a:ext cx="3888000" cy="3024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845476840"/>
                    </a:ext>
                  </a:extLst>
                </a:gridCol>
                <a:gridCol w="972000">
                  <a:extLst>
                    <a:ext uri="{9D8B030D-6E8A-4147-A177-3AD203B41FA5}">
                      <a16:colId xmlns:a16="http://schemas.microsoft.com/office/drawing/2014/main" val="1574357309"/>
                    </a:ext>
                  </a:extLst>
                </a:gridCol>
                <a:gridCol w="972000">
                  <a:extLst>
                    <a:ext uri="{9D8B030D-6E8A-4147-A177-3AD203B41FA5}">
                      <a16:colId xmlns:a16="http://schemas.microsoft.com/office/drawing/2014/main" val="573294828"/>
                    </a:ext>
                  </a:extLst>
                </a:gridCol>
                <a:gridCol w="972000">
                  <a:extLst>
                    <a:ext uri="{9D8B030D-6E8A-4147-A177-3AD203B41FA5}">
                      <a16:colId xmlns:a16="http://schemas.microsoft.com/office/drawing/2014/main" val="3141442075"/>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cxnSp>
        <p:nvCxnSpPr>
          <p:cNvPr id="6" name="Straight Connector 5">
            <a:extLst>
              <a:ext uri="{FF2B5EF4-FFF2-40B4-BE49-F238E27FC236}">
                <a16:creationId xmlns:a16="http://schemas.microsoft.com/office/drawing/2014/main" id="{8261741C-A0C2-F65F-941F-1ED3F62742E8}"/>
              </a:ext>
            </a:extLst>
          </p:cNvPr>
          <p:cNvCxnSpPr>
            <a:cxnSpLocks/>
            <a:endCxn id="4" idx="2"/>
          </p:cNvCxnSpPr>
          <p:nvPr/>
        </p:nvCxnSpPr>
        <p:spPr>
          <a:xfrm>
            <a:off x="5950384" y="1477790"/>
            <a:ext cx="0" cy="302400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EB2BA5-BF9F-DB83-B89A-DBF3E2F4B52B}"/>
              </a:ext>
            </a:extLst>
          </p:cNvPr>
          <p:cNvCxnSpPr>
            <a:cxnSpLocks/>
            <a:stCxn id="4" idx="3"/>
            <a:endCxn id="4" idx="1"/>
          </p:cNvCxnSpPr>
          <p:nvPr/>
        </p:nvCxnSpPr>
        <p:spPr>
          <a:xfrm flipH="1">
            <a:off x="4006384" y="2989790"/>
            <a:ext cx="3888000" cy="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28C37886-94C7-1532-A35F-F021572F7C84}"/>
              </a:ext>
            </a:extLst>
          </p:cNvPr>
          <p:cNvGraphicFramePr>
            <a:graphicFrameLocks noGrp="1"/>
          </p:cNvGraphicFramePr>
          <p:nvPr/>
        </p:nvGraphicFramePr>
        <p:xfrm>
          <a:off x="1090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890068555"/>
                    </a:ext>
                  </a:extLst>
                </a:gridCol>
                <a:gridCol w="972000">
                  <a:extLst>
                    <a:ext uri="{9D8B030D-6E8A-4147-A177-3AD203B41FA5}">
                      <a16:colId xmlns:a16="http://schemas.microsoft.com/office/drawing/2014/main" val="1892009301"/>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55925545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86506183"/>
                  </a:ext>
                </a:extLst>
              </a:tr>
            </a:tbl>
          </a:graphicData>
        </a:graphic>
      </p:graphicFrame>
      <p:graphicFrame>
        <p:nvGraphicFramePr>
          <p:cNvPr id="13" name="Table 12">
            <a:extLst>
              <a:ext uri="{FF2B5EF4-FFF2-40B4-BE49-F238E27FC236}">
                <a16:creationId xmlns:a16="http://schemas.microsoft.com/office/drawing/2014/main" id="{FEAC9B2D-3CFB-CD19-F2E4-5F67DCA3B5E7}"/>
              </a:ext>
            </a:extLst>
          </p:cNvPr>
          <p:cNvGraphicFramePr>
            <a:graphicFrameLocks noGrp="1"/>
          </p:cNvGraphicFramePr>
          <p:nvPr/>
        </p:nvGraphicFramePr>
        <p:xfrm>
          <a:off x="1090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1654992784"/>
                    </a:ext>
                  </a:extLst>
                </a:gridCol>
                <a:gridCol w="972000">
                  <a:extLst>
                    <a:ext uri="{9D8B030D-6E8A-4147-A177-3AD203B41FA5}">
                      <a16:colId xmlns:a16="http://schemas.microsoft.com/office/drawing/2014/main" val="54138018"/>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73984506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58099429"/>
                  </a:ext>
                </a:extLst>
              </a:tr>
            </a:tbl>
          </a:graphicData>
        </a:graphic>
      </p:graphicFrame>
      <p:graphicFrame>
        <p:nvGraphicFramePr>
          <p:cNvPr id="14" name="Table 13">
            <a:extLst>
              <a:ext uri="{FF2B5EF4-FFF2-40B4-BE49-F238E27FC236}">
                <a16:creationId xmlns:a16="http://schemas.microsoft.com/office/drawing/2014/main" id="{1310CD58-0883-CE55-B0CE-FBC82460F57B}"/>
              </a:ext>
            </a:extLst>
          </p:cNvPr>
          <p:cNvGraphicFramePr>
            <a:graphicFrameLocks noGrp="1"/>
          </p:cNvGraphicFramePr>
          <p:nvPr/>
        </p:nvGraphicFramePr>
        <p:xfrm>
          <a:off x="8866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3111413991"/>
                    </a:ext>
                  </a:extLst>
                </a:gridCol>
                <a:gridCol w="972000">
                  <a:extLst>
                    <a:ext uri="{9D8B030D-6E8A-4147-A177-3AD203B41FA5}">
                      <a16:colId xmlns:a16="http://schemas.microsoft.com/office/drawing/2014/main" val="345795489"/>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5330305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867617076"/>
                  </a:ext>
                </a:extLst>
              </a:tr>
            </a:tbl>
          </a:graphicData>
        </a:graphic>
      </p:graphicFrame>
      <p:graphicFrame>
        <p:nvGraphicFramePr>
          <p:cNvPr id="15" name="Table 14">
            <a:extLst>
              <a:ext uri="{FF2B5EF4-FFF2-40B4-BE49-F238E27FC236}">
                <a16:creationId xmlns:a16="http://schemas.microsoft.com/office/drawing/2014/main" id="{78DCBF5B-8F22-410A-FAB9-087CCEC3D9B1}"/>
              </a:ext>
            </a:extLst>
          </p:cNvPr>
          <p:cNvGraphicFramePr>
            <a:graphicFrameLocks noGrp="1"/>
          </p:cNvGraphicFramePr>
          <p:nvPr/>
        </p:nvGraphicFramePr>
        <p:xfrm>
          <a:off x="8866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329841778"/>
                    </a:ext>
                  </a:extLst>
                </a:gridCol>
                <a:gridCol w="972000">
                  <a:extLst>
                    <a:ext uri="{9D8B030D-6E8A-4147-A177-3AD203B41FA5}">
                      <a16:colId xmlns:a16="http://schemas.microsoft.com/office/drawing/2014/main" val="3153029056"/>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263457208"/>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759243682"/>
                  </a:ext>
                </a:extLst>
              </a:tr>
            </a:tbl>
          </a:graphicData>
        </a:graphic>
      </p:graphicFrame>
      <p:sp>
        <p:nvSpPr>
          <p:cNvPr id="17" name="TextBox 16">
            <a:extLst>
              <a:ext uri="{FF2B5EF4-FFF2-40B4-BE49-F238E27FC236}">
                <a16:creationId xmlns:a16="http://schemas.microsoft.com/office/drawing/2014/main" id="{F91F425D-779C-CDAC-9E87-3CB6E33654D9}"/>
              </a:ext>
            </a:extLst>
          </p:cNvPr>
          <p:cNvSpPr txBox="1"/>
          <p:nvPr/>
        </p:nvSpPr>
        <p:spPr>
          <a:xfrm>
            <a:off x="3788879" y="5899001"/>
            <a:ext cx="507750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Divide the given feature map into 2x2 sub region</a:t>
            </a:r>
          </a:p>
        </p:txBody>
      </p:sp>
      <p:sp>
        <p:nvSpPr>
          <p:cNvPr id="3" name="TextBox 2">
            <a:extLst>
              <a:ext uri="{FF2B5EF4-FFF2-40B4-BE49-F238E27FC236}">
                <a16:creationId xmlns:a16="http://schemas.microsoft.com/office/drawing/2014/main" id="{F91F425D-779C-CDAC-9E87-3CB6E33654D9}"/>
              </a:ext>
            </a:extLst>
          </p:cNvPr>
          <p:cNvSpPr txBox="1"/>
          <p:nvPr/>
        </p:nvSpPr>
        <p:spPr>
          <a:xfrm>
            <a:off x="3788879" y="5899001"/>
            <a:ext cx="538493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Find out the average value from each sub-region</a:t>
            </a:r>
          </a:p>
        </p:txBody>
      </p:sp>
    </p:spTree>
    <p:extLst>
      <p:ext uri="{BB962C8B-B14F-4D97-AF65-F5344CB8AC3E}">
        <p14:creationId xmlns:p14="http://schemas.microsoft.com/office/powerpoint/2010/main" val="2058508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average pooling </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nvGraphicFramePr>
        <p:xfrm>
          <a:off x="4006384" y="1477790"/>
          <a:ext cx="3888000" cy="3024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845476840"/>
                    </a:ext>
                  </a:extLst>
                </a:gridCol>
                <a:gridCol w="972000">
                  <a:extLst>
                    <a:ext uri="{9D8B030D-6E8A-4147-A177-3AD203B41FA5}">
                      <a16:colId xmlns:a16="http://schemas.microsoft.com/office/drawing/2014/main" val="1574357309"/>
                    </a:ext>
                  </a:extLst>
                </a:gridCol>
                <a:gridCol w="972000">
                  <a:extLst>
                    <a:ext uri="{9D8B030D-6E8A-4147-A177-3AD203B41FA5}">
                      <a16:colId xmlns:a16="http://schemas.microsoft.com/office/drawing/2014/main" val="573294828"/>
                    </a:ext>
                  </a:extLst>
                </a:gridCol>
                <a:gridCol w="972000">
                  <a:extLst>
                    <a:ext uri="{9D8B030D-6E8A-4147-A177-3AD203B41FA5}">
                      <a16:colId xmlns:a16="http://schemas.microsoft.com/office/drawing/2014/main" val="3141442075"/>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50976998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330428448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1885914060"/>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DE8A">
                        <a:alpha val="43000"/>
                      </a:srgbClr>
                    </a:solidFill>
                  </a:tcPr>
                </a:tc>
                <a:extLst>
                  <a:ext uri="{0D108BD9-81ED-4DB2-BD59-A6C34878D82A}">
                    <a16:rowId xmlns:a16="http://schemas.microsoft.com/office/drawing/2014/main" val="606393960"/>
                  </a:ext>
                </a:extLst>
              </a:tr>
            </a:tbl>
          </a:graphicData>
        </a:graphic>
      </p:graphicFrame>
      <p:cxnSp>
        <p:nvCxnSpPr>
          <p:cNvPr id="6" name="Straight Connector 5">
            <a:extLst>
              <a:ext uri="{FF2B5EF4-FFF2-40B4-BE49-F238E27FC236}">
                <a16:creationId xmlns:a16="http://schemas.microsoft.com/office/drawing/2014/main" id="{8261741C-A0C2-F65F-941F-1ED3F62742E8}"/>
              </a:ext>
            </a:extLst>
          </p:cNvPr>
          <p:cNvCxnSpPr>
            <a:cxnSpLocks/>
            <a:endCxn id="4" idx="2"/>
          </p:cNvCxnSpPr>
          <p:nvPr/>
        </p:nvCxnSpPr>
        <p:spPr>
          <a:xfrm>
            <a:off x="5950384" y="1477790"/>
            <a:ext cx="0" cy="302400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EB2BA5-BF9F-DB83-B89A-DBF3E2F4B52B}"/>
              </a:ext>
            </a:extLst>
          </p:cNvPr>
          <p:cNvCxnSpPr>
            <a:cxnSpLocks/>
            <a:stCxn id="4" idx="3"/>
            <a:endCxn id="4" idx="1"/>
          </p:cNvCxnSpPr>
          <p:nvPr/>
        </p:nvCxnSpPr>
        <p:spPr>
          <a:xfrm flipH="1">
            <a:off x="4006384" y="2989790"/>
            <a:ext cx="3888000" cy="0"/>
          </a:xfrm>
          <a:prstGeom prst="line">
            <a:avLst/>
          </a:prstGeom>
          <a:ln w="76200">
            <a:solidFill>
              <a:srgbClr val="00B0F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28C37886-94C7-1532-A35F-F021572F7C84}"/>
              </a:ext>
            </a:extLst>
          </p:cNvPr>
          <p:cNvGraphicFramePr>
            <a:graphicFrameLocks noGrp="1"/>
          </p:cNvGraphicFramePr>
          <p:nvPr>
            <p:extLst>
              <p:ext uri="{D42A27DB-BD31-4B8C-83A1-F6EECF244321}">
                <p14:modId xmlns:p14="http://schemas.microsoft.com/office/powerpoint/2010/main" val="4046950985"/>
              </p:ext>
            </p:extLst>
          </p:nvPr>
        </p:nvGraphicFramePr>
        <p:xfrm>
          <a:off x="1090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890068555"/>
                    </a:ext>
                  </a:extLst>
                </a:gridCol>
                <a:gridCol w="972000">
                  <a:extLst>
                    <a:ext uri="{9D8B030D-6E8A-4147-A177-3AD203B41FA5}">
                      <a16:colId xmlns:a16="http://schemas.microsoft.com/office/drawing/2014/main" val="1892009301"/>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55925545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86506183"/>
                  </a:ext>
                </a:extLst>
              </a:tr>
            </a:tbl>
          </a:graphicData>
        </a:graphic>
      </p:graphicFrame>
      <p:graphicFrame>
        <p:nvGraphicFramePr>
          <p:cNvPr id="13" name="Table 12">
            <a:extLst>
              <a:ext uri="{FF2B5EF4-FFF2-40B4-BE49-F238E27FC236}">
                <a16:creationId xmlns:a16="http://schemas.microsoft.com/office/drawing/2014/main" id="{FEAC9B2D-3CFB-CD19-F2E4-5F67DCA3B5E7}"/>
              </a:ext>
            </a:extLst>
          </p:cNvPr>
          <p:cNvGraphicFramePr>
            <a:graphicFrameLocks noGrp="1"/>
          </p:cNvGraphicFramePr>
          <p:nvPr>
            <p:extLst>
              <p:ext uri="{D42A27DB-BD31-4B8C-83A1-F6EECF244321}">
                <p14:modId xmlns:p14="http://schemas.microsoft.com/office/powerpoint/2010/main" val="4210957047"/>
              </p:ext>
            </p:extLst>
          </p:nvPr>
        </p:nvGraphicFramePr>
        <p:xfrm>
          <a:off x="1090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1654992784"/>
                    </a:ext>
                  </a:extLst>
                </a:gridCol>
                <a:gridCol w="972000">
                  <a:extLst>
                    <a:ext uri="{9D8B030D-6E8A-4147-A177-3AD203B41FA5}">
                      <a16:colId xmlns:a16="http://schemas.microsoft.com/office/drawing/2014/main" val="54138018"/>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739845066"/>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1858099429"/>
                  </a:ext>
                </a:extLst>
              </a:tr>
            </a:tbl>
          </a:graphicData>
        </a:graphic>
      </p:graphicFrame>
      <p:graphicFrame>
        <p:nvGraphicFramePr>
          <p:cNvPr id="14" name="Table 13">
            <a:extLst>
              <a:ext uri="{FF2B5EF4-FFF2-40B4-BE49-F238E27FC236}">
                <a16:creationId xmlns:a16="http://schemas.microsoft.com/office/drawing/2014/main" id="{1310CD58-0883-CE55-B0CE-FBC82460F57B}"/>
              </a:ext>
            </a:extLst>
          </p:cNvPr>
          <p:cNvGraphicFramePr>
            <a:graphicFrameLocks noGrp="1"/>
          </p:cNvGraphicFramePr>
          <p:nvPr>
            <p:extLst>
              <p:ext uri="{D42A27DB-BD31-4B8C-83A1-F6EECF244321}">
                <p14:modId xmlns:p14="http://schemas.microsoft.com/office/powerpoint/2010/main" val="2179240459"/>
              </p:ext>
            </p:extLst>
          </p:nvPr>
        </p:nvGraphicFramePr>
        <p:xfrm>
          <a:off x="8866384" y="3745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3111413991"/>
                    </a:ext>
                  </a:extLst>
                </a:gridCol>
                <a:gridCol w="972000">
                  <a:extLst>
                    <a:ext uri="{9D8B030D-6E8A-4147-A177-3AD203B41FA5}">
                      <a16:colId xmlns:a16="http://schemas.microsoft.com/office/drawing/2014/main" val="345795489"/>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653303057"/>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867617076"/>
                  </a:ext>
                </a:extLst>
              </a:tr>
            </a:tbl>
          </a:graphicData>
        </a:graphic>
      </p:graphicFrame>
      <p:graphicFrame>
        <p:nvGraphicFramePr>
          <p:cNvPr id="15" name="Table 14">
            <a:extLst>
              <a:ext uri="{FF2B5EF4-FFF2-40B4-BE49-F238E27FC236}">
                <a16:creationId xmlns:a16="http://schemas.microsoft.com/office/drawing/2014/main" id="{78DCBF5B-8F22-410A-FAB9-087CCEC3D9B1}"/>
              </a:ext>
            </a:extLst>
          </p:cNvPr>
          <p:cNvGraphicFramePr>
            <a:graphicFrameLocks noGrp="1"/>
          </p:cNvGraphicFramePr>
          <p:nvPr>
            <p:extLst>
              <p:ext uri="{D42A27DB-BD31-4B8C-83A1-F6EECF244321}">
                <p14:modId xmlns:p14="http://schemas.microsoft.com/office/powerpoint/2010/main" val="4119893677"/>
              </p:ext>
            </p:extLst>
          </p:nvPr>
        </p:nvGraphicFramePr>
        <p:xfrm>
          <a:off x="8866384" y="721790"/>
          <a:ext cx="1944000" cy="1512000"/>
        </p:xfrm>
        <a:graphic>
          <a:graphicData uri="http://schemas.openxmlformats.org/drawingml/2006/table">
            <a:tbl>
              <a:tblPr firstRow="1" bandRow="1">
                <a:tableStyleId>{2D5ABB26-0587-4C30-8999-92F81FD0307C}</a:tableStyleId>
              </a:tblPr>
              <a:tblGrid>
                <a:gridCol w="972000">
                  <a:extLst>
                    <a:ext uri="{9D8B030D-6E8A-4147-A177-3AD203B41FA5}">
                      <a16:colId xmlns:a16="http://schemas.microsoft.com/office/drawing/2014/main" val="2329841778"/>
                    </a:ext>
                  </a:extLst>
                </a:gridCol>
                <a:gridCol w="972000">
                  <a:extLst>
                    <a:ext uri="{9D8B030D-6E8A-4147-A177-3AD203B41FA5}">
                      <a16:colId xmlns:a16="http://schemas.microsoft.com/office/drawing/2014/main" val="3153029056"/>
                    </a:ext>
                  </a:extLst>
                </a:gridCol>
              </a:tblGrid>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263457208"/>
                  </a:ext>
                </a:extLst>
              </a:tr>
              <a:tr h="756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solidFill>
                  </a:tcPr>
                </a:tc>
                <a:extLst>
                  <a:ext uri="{0D108BD9-81ED-4DB2-BD59-A6C34878D82A}">
                    <a16:rowId xmlns:a16="http://schemas.microsoft.com/office/drawing/2014/main" val="1759243682"/>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8E69CA-8D48-F2E8-07CF-0B8A574993EC}"/>
                  </a:ext>
                </a:extLst>
              </p:cNvPr>
              <p:cNvSpPr txBox="1"/>
              <p:nvPr/>
            </p:nvSpPr>
            <p:spPr>
              <a:xfrm>
                <a:off x="491987" y="2540914"/>
                <a:ext cx="1912511" cy="6989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b="1" i="1" smtClean="0">
                              <a:solidFill>
                                <a:srgbClr val="836967"/>
                              </a:solidFill>
                              <a:latin typeface="Cambria Math" panose="02040503050406030204" pitchFamily="18" charset="0"/>
                            </a:rPr>
                          </m:ctrlPr>
                        </m:fPr>
                        <m:num>
                          <m:r>
                            <a:rPr lang="en-IN" sz="2400" b="1" i="1">
                              <a:latin typeface="Cambria Math" panose="02040503050406030204" pitchFamily="18" charset="0"/>
                            </a:rPr>
                            <m:t>𝟏</m:t>
                          </m:r>
                          <m:r>
                            <a:rPr lang="en-IN" sz="2400" b="1" i="0">
                              <a:latin typeface="Cambria Math" panose="02040503050406030204" pitchFamily="18" charset="0"/>
                            </a:rPr>
                            <m:t>+</m:t>
                          </m:r>
                          <m:r>
                            <a:rPr lang="en-IN" sz="2400" b="1" i="0">
                              <a:latin typeface="Cambria Math" panose="02040503050406030204" pitchFamily="18" charset="0"/>
                            </a:rPr>
                            <m:t>𝟑</m:t>
                          </m:r>
                          <m:r>
                            <a:rPr lang="en-IN" sz="2400" b="1" i="0">
                              <a:latin typeface="Cambria Math" panose="02040503050406030204" pitchFamily="18" charset="0"/>
                            </a:rPr>
                            <m:t>+</m:t>
                          </m:r>
                          <m:r>
                            <a:rPr lang="en-IN" sz="2400" b="1" i="0">
                              <a:latin typeface="Cambria Math" panose="02040503050406030204" pitchFamily="18" charset="0"/>
                            </a:rPr>
                            <m:t>𝟓</m:t>
                          </m:r>
                          <m:r>
                            <a:rPr lang="en-IN" sz="2400" b="1" i="0">
                              <a:latin typeface="Cambria Math" panose="02040503050406030204" pitchFamily="18" charset="0"/>
                            </a:rPr>
                            <m:t>+</m:t>
                          </m:r>
                          <m:r>
                            <a:rPr lang="en-IN" sz="2400" b="1" i="0">
                              <a:latin typeface="Cambria Math" panose="02040503050406030204" pitchFamily="18" charset="0"/>
                            </a:rPr>
                            <m:t>𝟔</m:t>
                          </m:r>
                        </m:num>
                        <m:den>
                          <m:r>
                            <a:rPr lang="en-IN" sz="2400" b="1" i="0">
                              <a:latin typeface="Cambria Math" panose="02040503050406030204" pitchFamily="18" charset="0"/>
                            </a:rPr>
                            <m:t>𝟒</m:t>
                          </m:r>
                        </m:den>
                      </m:f>
                    </m:oMath>
                  </m:oMathPara>
                </a14:m>
                <a:endParaRPr lang="en-IN" b="1"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4A8E69CA-8D48-F2E8-07CF-0B8A574993EC}"/>
                  </a:ext>
                </a:extLst>
              </p:cNvPr>
              <p:cNvSpPr txBox="1">
                <a:spLocks noRot="1" noChangeAspect="1" noMove="1" noResize="1" noEditPoints="1" noAdjustHandles="1" noChangeArrowheads="1" noChangeShapeType="1" noTextEdit="1"/>
              </p:cNvSpPr>
              <p:nvPr/>
            </p:nvSpPr>
            <p:spPr>
              <a:xfrm>
                <a:off x="491987" y="2540914"/>
                <a:ext cx="1912511" cy="698974"/>
              </a:xfrm>
              <a:prstGeom prst="rect">
                <a:avLst/>
              </a:prstGeom>
              <a:blipFill>
                <a:blip r:embed="rId2"/>
                <a:stretch>
                  <a:fillRect/>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DDBB5593-A51A-336B-D7D8-6C4B26545D85}"/>
              </a:ext>
            </a:extLst>
          </p:cNvPr>
          <p:cNvSpPr txBox="1"/>
          <p:nvPr/>
        </p:nvSpPr>
        <p:spPr>
          <a:xfrm>
            <a:off x="2350896" y="2610831"/>
            <a:ext cx="974947" cy="461665"/>
          </a:xfrm>
          <a:prstGeom prst="rect">
            <a:avLst/>
          </a:prstGeom>
          <a:noFill/>
        </p:spPr>
        <p:txBody>
          <a:bodyPr wrap="non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 3.75</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E7CCBE-0C38-84B2-8DF3-3F165C9CC32C}"/>
                  </a:ext>
                </a:extLst>
              </p:cNvPr>
              <p:cNvSpPr txBox="1"/>
              <p:nvPr/>
            </p:nvSpPr>
            <p:spPr>
              <a:xfrm>
                <a:off x="296518" y="5549514"/>
                <a:ext cx="1912511"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b="1" i="1" smtClean="0">
                              <a:solidFill>
                                <a:schemeClr val="tx1"/>
                              </a:solidFill>
                              <a:latin typeface="Cambria Math" panose="02040503050406030204" pitchFamily="18" charset="0"/>
                            </a:rPr>
                          </m:ctrlPr>
                        </m:fPr>
                        <m:num>
                          <m:r>
                            <a:rPr lang="en-IN" sz="2400" b="1" i="1" smtClean="0">
                              <a:solidFill>
                                <a:schemeClr val="tx1"/>
                              </a:solidFill>
                              <a:latin typeface="Cambria Math" panose="02040503050406030204" pitchFamily="18" charset="0"/>
                            </a:rPr>
                            <m:t>𝟑</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𝟐</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𝟕</m:t>
                          </m:r>
                          <m:r>
                            <a:rPr lang="en-IN" sz="2400" b="1" i="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𝟒</m:t>
                          </m:r>
                        </m:num>
                        <m:den>
                          <m:r>
                            <a:rPr lang="en-IN" sz="2400" b="1" i="0">
                              <a:solidFill>
                                <a:schemeClr val="tx1"/>
                              </a:solidFill>
                              <a:latin typeface="Cambria Math" panose="02040503050406030204" pitchFamily="18" charset="0"/>
                            </a:rPr>
                            <m:t>𝟒</m:t>
                          </m:r>
                        </m:den>
                      </m:f>
                    </m:oMath>
                  </m:oMathPara>
                </a14:m>
                <a:endParaRPr lang="en-IN" b="1"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2DE7CCBE-0C38-84B2-8DF3-3F165C9CC32C}"/>
                  </a:ext>
                </a:extLst>
              </p:cNvPr>
              <p:cNvSpPr txBox="1">
                <a:spLocks noRot="1" noChangeAspect="1" noMove="1" noResize="1" noEditPoints="1" noAdjustHandles="1" noChangeArrowheads="1" noChangeShapeType="1" noTextEdit="1"/>
              </p:cNvSpPr>
              <p:nvPr/>
            </p:nvSpPr>
            <p:spPr>
              <a:xfrm>
                <a:off x="296518" y="5549514"/>
                <a:ext cx="1912511" cy="691471"/>
              </a:xfrm>
              <a:prstGeom prst="rect">
                <a:avLst/>
              </a:prstGeom>
              <a:blipFill>
                <a:blip r:embed="rId3"/>
                <a:stretch>
                  <a:fillRect/>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16827BC1-6367-100B-42DC-CD76C676D652}"/>
              </a:ext>
            </a:extLst>
          </p:cNvPr>
          <p:cNvSpPr txBox="1"/>
          <p:nvPr/>
        </p:nvSpPr>
        <p:spPr>
          <a:xfrm>
            <a:off x="2155427" y="5619431"/>
            <a:ext cx="590226" cy="461665"/>
          </a:xfrm>
          <a:prstGeom prst="rect">
            <a:avLst/>
          </a:prstGeom>
          <a:noFill/>
        </p:spPr>
        <p:txBody>
          <a:bodyPr wrap="non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 4</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78478DD-7C55-D5A8-DD60-4C7953869306}"/>
                  </a:ext>
                </a:extLst>
              </p:cNvPr>
              <p:cNvSpPr txBox="1"/>
              <p:nvPr/>
            </p:nvSpPr>
            <p:spPr>
              <a:xfrm>
                <a:off x="9173817" y="5444739"/>
                <a:ext cx="1912511" cy="6989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b="1" i="1" smtClean="0">
                              <a:solidFill>
                                <a:schemeClr val="tx1"/>
                              </a:solidFill>
                              <a:latin typeface="Cambria Math" panose="02040503050406030204" pitchFamily="18" charset="0"/>
                            </a:rPr>
                          </m:ctrlPr>
                        </m:fPr>
                        <m:num>
                          <m:r>
                            <a:rPr lang="en-IN" sz="2400" b="1" i="0" smtClean="0">
                              <a:solidFill>
                                <a:schemeClr val="tx1"/>
                              </a:solidFill>
                              <a:latin typeface="Cambria Math" panose="02040503050406030204" pitchFamily="18" charset="0"/>
                            </a:rPr>
                            <m:t>𝟏</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𝟎</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𝟓</m:t>
                          </m:r>
                          <m:r>
                            <a:rPr lang="en-IN" sz="2400" b="1" i="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𝟔</m:t>
                          </m:r>
                        </m:num>
                        <m:den>
                          <m:r>
                            <a:rPr lang="en-IN" sz="2400" b="1" i="0">
                              <a:solidFill>
                                <a:schemeClr val="tx1"/>
                              </a:solidFill>
                              <a:latin typeface="Cambria Math" panose="02040503050406030204" pitchFamily="18" charset="0"/>
                            </a:rPr>
                            <m:t>𝟒</m:t>
                          </m:r>
                        </m:den>
                      </m:f>
                    </m:oMath>
                  </m:oMathPara>
                </a14:m>
                <a:endParaRPr lang="en-IN" b="1"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978478DD-7C55-D5A8-DD60-4C7953869306}"/>
                  </a:ext>
                </a:extLst>
              </p:cNvPr>
              <p:cNvSpPr txBox="1">
                <a:spLocks noRot="1" noChangeAspect="1" noMove="1" noResize="1" noEditPoints="1" noAdjustHandles="1" noChangeArrowheads="1" noChangeShapeType="1" noTextEdit="1"/>
              </p:cNvSpPr>
              <p:nvPr/>
            </p:nvSpPr>
            <p:spPr>
              <a:xfrm>
                <a:off x="9173817" y="5444739"/>
                <a:ext cx="1912511" cy="698974"/>
              </a:xfrm>
              <a:prstGeom prst="rect">
                <a:avLst/>
              </a:prstGeom>
              <a:blipFill>
                <a:blip r:embed="rId4"/>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7A873135-15F5-2C16-134E-4DC965C5E99D}"/>
              </a:ext>
            </a:extLst>
          </p:cNvPr>
          <p:cNvSpPr txBox="1"/>
          <p:nvPr/>
        </p:nvSpPr>
        <p:spPr>
          <a:xfrm>
            <a:off x="11032726" y="5514656"/>
            <a:ext cx="590226" cy="461665"/>
          </a:xfrm>
          <a:prstGeom prst="rect">
            <a:avLst/>
          </a:prstGeom>
          <a:noFill/>
        </p:spPr>
        <p:txBody>
          <a:bodyPr wrap="non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 3</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7A782DC-E4F2-DFC1-F364-9F965FCCFED3}"/>
                  </a:ext>
                </a:extLst>
              </p:cNvPr>
              <p:cNvSpPr txBox="1"/>
              <p:nvPr/>
            </p:nvSpPr>
            <p:spPr>
              <a:xfrm>
                <a:off x="9047922" y="2512936"/>
                <a:ext cx="1912511"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b="1" i="1" smtClean="0">
                              <a:solidFill>
                                <a:schemeClr val="tx1"/>
                              </a:solidFill>
                              <a:latin typeface="Cambria Math" panose="02040503050406030204" pitchFamily="18" charset="0"/>
                            </a:rPr>
                          </m:ctrlPr>
                        </m:fPr>
                        <m:num>
                          <m:r>
                            <a:rPr lang="en-IN" sz="2400" b="1" i="0" smtClean="0">
                              <a:solidFill>
                                <a:schemeClr val="tx1"/>
                              </a:solidFill>
                              <a:latin typeface="Cambria Math" panose="02040503050406030204" pitchFamily="18" charset="0"/>
                            </a:rPr>
                            <m:t>𝟐</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𝟒</m:t>
                          </m:r>
                          <m:r>
                            <a:rPr lang="en-IN" sz="2400" b="1" i="0">
                              <a:solidFill>
                                <a:schemeClr val="tx1"/>
                              </a:solidFill>
                              <a:latin typeface="Cambria Math" panose="02040503050406030204" pitchFamily="18" charset="0"/>
                            </a:rPr>
                            <m:t>+</m:t>
                          </m:r>
                          <m:r>
                            <a:rPr lang="en-IN" sz="2400" b="1" i="0" smtClean="0">
                              <a:solidFill>
                                <a:schemeClr val="tx1"/>
                              </a:solidFill>
                              <a:latin typeface="Cambria Math" panose="02040503050406030204" pitchFamily="18" charset="0"/>
                            </a:rPr>
                            <m:t>𝟖</m:t>
                          </m:r>
                          <m:r>
                            <a:rPr lang="en-IN" sz="2400" b="1" i="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𝟗</m:t>
                          </m:r>
                        </m:num>
                        <m:den>
                          <m:r>
                            <a:rPr lang="en-IN" sz="2400" b="1" i="0">
                              <a:solidFill>
                                <a:schemeClr val="tx1"/>
                              </a:solidFill>
                              <a:latin typeface="Cambria Math" panose="02040503050406030204" pitchFamily="18" charset="0"/>
                            </a:rPr>
                            <m:t>𝟒</m:t>
                          </m:r>
                        </m:den>
                      </m:f>
                    </m:oMath>
                  </m:oMathPara>
                </a14:m>
                <a:endParaRPr lang="en-IN" b="1"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57A782DC-E4F2-DFC1-F364-9F965FCCFED3}"/>
                  </a:ext>
                </a:extLst>
              </p:cNvPr>
              <p:cNvSpPr txBox="1">
                <a:spLocks noRot="1" noChangeAspect="1" noMove="1" noResize="1" noEditPoints="1" noAdjustHandles="1" noChangeArrowheads="1" noChangeShapeType="1" noTextEdit="1"/>
              </p:cNvSpPr>
              <p:nvPr/>
            </p:nvSpPr>
            <p:spPr>
              <a:xfrm>
                <a:off x="9047922" y="2512936"/>
                <a:ext cx="1912511" cy="691471"/>
              </a:xfrm>
              <a:prstGeom prst="rect">
                <a:avLst/>
              </a:prstGeom>
              <a:blipFill>
                <a:blip r:embed="rId5"/>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87FB793D-9F2A-91FE-F5D2-3165F657D240}"/>
              </a:ext>
            </a:extLst>
          </p:cNvPr>
          <p:cNvSpPr txBox="1"/>
          <p:nvPr/>
        </p:nvSpPr>
        <p:spPr>
          <a:xfrm>
            <a:off x="10906831" y="2582853"/>
            <a:ext cx="974947" cy="461665"/>
          </a:xfrm>
          <a:prstGeom prst="rect">
            <a:avLst/>
          </a:prstGeom>
          <a:noFill/>
        </p:spPr>
        <p:txBody>
          <a:bodyPr wrap="non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 5.75</a:t>
            </a:r>
          </a:p>
        </p:txBody>
      </p:sp>
    </p:spTree>
    <p:extLst>
      <p:ext uri="{BB962C8B-B14F-4D97-AF65-F5344CB8AC3E}">
        <p14:creationId xmlns:p14="http://schemas.microsoft.com/office/powerpoint/2010/main" val="277645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6221-0050-D3D5-1726-BDE1C3541910}"/>
              </a:ext>
            </a:extLst>
          </p:cNvPr>
          <p:cNvSpPr>
            <a:spLocks noGrp="1"/>
          </p:cNvSpPr>
          <p:nvPr>
            <p:ph type="title"/>
          </p:nvPr>
        </p:nvSpPr>
        <p:spPr>
          <a:xfrm>
            <a:off x="838200" y="365126"/>
            <a:ext cx="10515600" cy="390248"/>
          </a:xfrm>
        </p:spPr>
        <p:txBody>
          <a:bodyPr>
            <a:normAutofit fontScale="90000"/>
          </a:bodyPr>
          <a:lstStyle/>
          <a:p>
            <a:pPr algn="ctr"/>
            <a:r>
              <a:rPr lang="en-IN" dirty="0"/>
              <a:t>2×2 Average pooling Output Feature Map</a:t>
            </a:r>
          </a:p>
        </p:txBody>
      </p:sp>
      <p:graphicFrame>
        <p:nvGraphicFramePr>
          <p:cNvPr id="4" name="Content Placeholder 3">
            <a:extLst>
              <a:ext uri="{FF2B5EF4-FFF2-40B4-BE49-F238E27FC236}">
                <a16:creationId xmlns:a16="http://schemas.microsoft.com/office/drawing/2014/main" id="{7EDD2F5A-9122-300A-48B8-B6151167BC73}"/>
              </a:ext>
            </a:extLst>
          </p:cNvPr>
          <p:cNvGraphicFramePr>
            <a:graphicFrameLocks/>
          </p:cNvGraphicFramePr>
          <p:nvPr>
            <p:extLst>
              <p:ext uri="{D42A27DB-BD31-4B8C-83A1-F6EECF244321}">
                <p14:modId xmlns:p14="http://schemas.microsoft.com/office/powerpoint/2010/main" val="2448763902"/>
              </p:ext>
            </p:extLst>
          </p:nvPr>
        </p:nvGraphicFramePr>
        <p:xfrm>
          <a:off x="4006384" y="1477790"/>
          <a:ext cx="3888000" cy="3024000"/>
        </p:xfrm>
        <a:graphic>
          <a:graphicData uri="http://schemas.openxmlformats.org/drawingml/2006/table">
            <a:tbl>
              <a:tblPr firstRow="1" bandRow="1">
                <a:tableStyleId>{2D5ABB26-0587-4C30-8999-92F81FD0307C}</a:tableStyleId>
              </a:tblPr>
              <a:tblGrid>
                <a:gridCol w="1944000">
                  <a:extLst>
                    <a:ext uri="{9D8B030D-6E8A-4147-A177-3AD203B41FA5}">
                      <a16:colId xmlns:a16="http://schemas.microsoft.com/office/drawing/2014/main" val="845476840"/>
                    </a:ext>
                  </a:extLst>
                </a:gridCol>
                <a:gridCol w="1944000">
                  <a:extLst>
                    <a:ext uri="{9D8B030D-6E8A-4147-A177-3AD203B41FA5}">
                      <a16:colId xmlns:a16="http://schemas.microsoft.com/office/drawing/2014/main" val="573294828"/>
                    </a:ext>
                  </a:extLst>
                </a:gridCol>
              </a:tblGrid>
              <a:tr h="151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5.75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alpha val="43000"/>
                      </a:srgbClr>
                    </a:solidFill>
                  </a:tcPr>
                </a:tc>
                <a:extLst>
                  <a:ext uri="{0D108BD9-81ED-4DB2-BD59-A6C34878D82A}">
                    <a16:rowId xmlns:a16="http://schemas.microsoft.com/office/drawing/2014/main" val="3509769987"/>
                  </a:ext>
                </a:extLst>
              </a:tr>
              <a:tr h="1512000">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alpha val="43000"/>
                      </a:srgbClr>
                    </a:solidFill>
                  </a:tcPr>
                </a:tc>
                <a:tc>
                  <a:txBody>
                    <a:bodyPr/>
                    <a:lstStyle/>
                    <a:p>
                      <a:pPr algn="ctr"/>
                      <a:r>
                        <a:rPr lang="en-IN" sz="2400" b="1" dirty="0">
                          <a:solidFill>
                            <a:schemeClr val="accent2">
                              <a:lumMod val="75000"/>
                            </a:schemeClr>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248">
                        <a:alpha val="43000"/>
                      </a:srgbClr>
                    </a:solidFill>
                  </a:tcPr>
                </a:tc>
                <a:extLst>
                  <a:ext uri="{0D108BD9-81ED-4DB2-BD59-A6C34878D82A}">
                    <a16:rowId xmlns:a16="http://schemas.microsoft.com/office/drawing/2014/main" val="1885914060"/>
                  </a:ext>
                </a:extLst>
              </a:tr>
            </a:tbl>
          </a:graphicData>
        </a:graphic>
      </p:graphicFrame>
      <p:sp>
        <p:nvSpPr>
          <p:cNvPr id="17" name="TextBox 16">
            <a:extLst>
              <a:ext uri="{FF2B5EF4-FFF2-40B4-BE49-F238E27FC236}">
                <a16:creationId xmlns:a16="http://schemas.microsoft.com/office/drawing/2014/main" id="{F91F425D-779C-CDAC-9E87-3CB6E33654D9}"/>
              </a:ext>
            </a:extLst>
          </p:cNvPr>
          <p:cNvSpPr txBox="1"/>
          <p:nvPr/>
        </p:nvSpPr>
        <p:spPr>
          <a:xfrm>
            <a:off x="3403530" y="5224206"/>
            <a:ext cx="5760347" cy="369332"/>
          </a:xfrm>
          <a:prstGeom prst="rect">
            <a:avLst/>
          </a:prstGeom>
          <a:noFill/>
        </p:spPr>
        <p:txBody>
          <a:bodyPr wrap="square">
            <a:spAutoFit/>
          </a:bodyPr>
          <a:lstStyle/>
          <a:p>
            <a:r>
              <a:rPr lang="en-IN" b="1" dirty="0">
                <a:highlight>
                  <a:srgbClr val="FFFF00"/>
                </a:highlight>
                <a:latin typeface="Times New Roman" panose="02020603050405020304" pitchFamily="18" charset="0"/>
                <a:cs typeface="Times New Roman" panose="02020603050405020304" pitchFamily="18" charset="0"/>
              </a:rPr>
              <a:t>Each Sub region is represented by its AVERAGE value</a:t>
            </a:r>
          </a:p>
        </p:txBody>
      </p:sp>
    </p:spTree>
    <p:extLst>
      <p:ext uri="{BB962C8B-B14F-4D97-AF65-F5344CB8AC3E}">
        <p14:creationId xmlns:p14="http://schemas.microsoft.com/office/powerpoint/2010/main" val="92112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78B5DB-213C-070F-0507-A30BE0D660E0}"/>
              </a:ext>
            </a:extLst>
          </p:cNvPr>
          <p:cNvSpPr>
            <a:spLocks noGrp="1"/>
          </p:cNvSpPr>
          <p:nvPr>
            <p:ph idx="1"/>
          </p:nvPr>
        </p:nvSpPr>
        <p:spPr>
          <a:xfrm>
            <a:off x="417443" y="526774"/>
            <a:ext cx="11300792" cy="5913783"/>
          </a:xfrm>
        </p:spPr>
        <p:txBody>
          <a:bodyPr>
            <a:normAutofit lnSpcReduction="10000"/>
          </a:bodyPr>
          <a:lstStyle/>
          <a:p>
            <a:pPr algn="just"/>
            <a:r>
              <a:rPr lang="en-US" sz="3200" b="1" dirty="0">
                <a:latin typeface="Times New Roman" panose="02020603050405020304" pitchFamily="18" charset="0"/>
                <a:cs typeface="Times New Roman" panose="02020603050405020304" pitchFamily="18" charset="0"/>
              </a:rPr>
              <a:t>Advantages of Average Pooling:</a:t>
            </a:r>
          </a:p>
          <a:p>
            <a:pPr lvl="1" algn="just"/>
            <a:r>
              <a:rPr lang="en-US" sz="2800" b="1" dirty="0">
                <a:latin typeface="Times New Roman" panose="02020603050405020304" pitchFamily="18" charset="0"/>
                <a:cs typeface="Times New Roman" panose="02020603050405020304" pitchFamily="18" charset="0"/>
              </a:rPr>
              <a:t>Smooths Features</a:t>
            </a:r>
            <a:r>
              <a:rPr lang="en-US" sz="2800" dirty="0">
                <a:latin typeface="Times New Roman" panose="02020603050405020304" pitchFamily="18" charset="0"/>
                <a:cs typeface="Times New Roman" panose="02020603050405020304" pitchFamily="18" charset="0"/>
              </a:rPr>
              <a:t>: Average pooling gives a more </a:t>
            </a:r>
            <a:r>
              <a:rPr lang="en-US" sz="2800" b="1" dirty="0">
                <a:latin typeface="Times New Roman" panose="02020603050405020304" pitchFamily="18" charset="0"/>
                <a:cs typeface="Times New Roman" panose="02020603050405020304" pitchFamily="18" charset="0"/>
              </a:rPr>
              <a:t>smoothed representation</a:t>
            </a:r>
            <a:r>
              <a:rPr lang="en-US" sz="2800" dirty="0">
                <a:latin typeface="Times New Roman" panose="02020603050405020304" pitchFamily="18" charset="0"/>
                <a:cs typeface="Times New Roman" panose="02020603050405020304" pitchFamily="18" charset="0"/>
              </a:rPr>
              <a:t> by averaging the values within the region. This can be useful in certain tasks that require more context and not just peak activations.</a:t>
            </a:r>
          </a:p>
          <a:p>
            <a:pPr lvl="1" algn="just"/>
            <a:r>
              <a:rPr lang="en-US" sz="2800" b="1" dirty="0">
                <a:latin typeface="Times New Roman" panose="02020603050405020304" pitchFamily="18" charset="0"/>
                <a:cs typeface="Times New Roman" panose="02020603050405020304" pitchFamily="18" charset="0"/>
              </a:rPr>
              <a:t>Less Aggressive Reduction</a:t>
            </a:r>
            <a:r>
              <a:rPr lang="en-US" sz="2800" dirty="0">
                <a:latin typeface="Times New Roman" panose="02020603050405020304" pitchFamily="18" charset="0"/>
                <a:cs typeface="Times New Roman" panose="02020603050405020304" pitchFamily="18" charset="0"/>
              </a:rPr>
              <a:t>: Compared to max pooling, it does not ignore non-maximum features and can be useful in cases where subtler patterns are important.</a:t>
            </a:r>
          </a:p>
          <a:p>
            <a:pPr algn="just"/>
            <a:endParaRPr lang="en-US" sz="3200" b="1" dirty="0">
              <a:latin typeface="Times New Roman" panose="02020603050405020304" pitchFamily="18" charset="0"/>
              <a:cs typeface="Times New Roman" panose="02020603050405020304" pitchFamily="18" charset="0"/>
            </a:endParaRPr>
          </a:p>
          <a:p>
            <a:pPr algn="just"/>
            <a:r>
              <a:rPr lang="en-US" sz="3200" b="1" dirty="0">
                <a:latin typeface="Times New Roman" panose="02020603050405020304" pitchFamily="18" charset="0"/>
                <a:cs typeface="Times New Roman" panose="02020603050405020304" pitchFamily="18" charset="0"/>
              </a:rPr>
              <a:t>Disadvantages of Average Pooling:</a:t>
            </a:r>
          </a:p>
          <a:p>
            <a:pPr lvl="1" algn="just"/>
            <a:r>
              <a:rPr lang="en-US" sz="2800" b="1" dirty="0">
                <a:latin typeface="Times New Roman" panose="02020603050405020304" pitchFamily="18" charset="0"/>
                <a:cs typeface="Times New Roman" panose="02020603050405020304" pitchFamily="18" charset="0"/>
              </a:rPr>
              <a:t>Loss of Prominent Features</a:t>
            </a:r>
            <a:r>
              <a:rPr lang="en-US" sz="2800" dirty="0">
                <a:latin typeface="Times New Roman" panose="02020603050405020304" pitchFamily="18" charset="0"/>
                <a:cs typeface="Times New Roman" panose="02020603050405020304" pitchFamily="18" charset="0"/>
              </a:rPr>
              <a:t>: Average pooling can lose some of the most important features or activations in a region because it averages all values, which may dilute the significance of sharp features like edges or corners.</a:t>
            </a:r>
          </a:p>
          <a:p>
            <a:pPr algn="just"/>
            <a:endParaRPr lang="en-IN" dirty="0"/>
          </a:p>
        </p:txBody>
      </p:sp>
    </p:spTree>
    <p:extLst>
      <p:ext uri="{BB962C8B-B14F-4D97-AF65-F5344CB8AC3E}">
        <p14:creationId xmlns:p14="http://schemas.microsoft.com/office/powerpoint/2010/main" val="28110306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0143-F0E7-C524-C552-0A1C15A1FF32}"/>
              </a:ext>
            </a:extLst>
          </p:cNvPr>
          <p:cNvSpPr>
            <a:spLocks noGrp="1"/>
          </p:cNvSpPr>
          <p:nvPr>
            <p:ph type="title"/>
          </p:nvPr>
        </p:nvSpPr>
        <p:spPr/>
        <p:txBody>
          <a:bodyPr/>
          <a:lstStyle/>
          <a:p>
            <a:r>
              <a:rPr lang="en-IN" dirty="0" err="1"/>
              <a:t>ReLU</a:t>
            </a:r>
            <a:r>
              <a:rPr lang="en-IN" dirty="0"/>
              <a:t> Activation Function</a:t>
            </a:r>
          </a:p>
        </p:txBody>
      </p:sp>
      <p:sp>
        <p:nvSpPr>
          <p:cNvPr id="3" name="Content Placeholder 2">
            <a:extLst>
              <a:ext uri="{FF2B5EF4-FFF2-40B4-BE49-F238E27FC236}">
                <a16:creationId xmlns:a16="http://schemas.microsoft.com/office/drawing/2014/main" id="{4E45289F-CB43-77A7-05BD-299FDEDA8B7F}"/>
              </a:ext>
            </a:extLst>
          </p:cNvPr>
          <p:cNvSpPr>
            <a:spLocks noGrp="1"/>
          </p:cNvSpPr>
          <p:nvPr>
            <p:ph idx="1"/>
          </p:nvPr>
        </p:nvSpPr>
        <p:spPr/>
        <p:txBody>
          <a:bodyPr/>
          <a:lstStyle/>
          <a:p>
            <a:pPr algn="just"/>
            <a:r>
              <a:rPr lang="en-US" dirty="0"/>
              <a:t>The </a:t>
            </a:r>
            <a:r>
              <a:rPr lang="en-US" dirty="0" err="1"/>
              <a:t>ReLU</a:t>
            </a:r>
            <a:r>
              <a:rPr lang="en-US" dirty="0"/>
              <a:t> (Rectified Linear Unit) activation function is </a:t>
            </a:r>
            <a:r>
              <a:rPr lang="en-US" dirty="0">
                <a:highlight>
                  <a:srgbClr val="FFFF00"/>
                </a:highlight>
              </a:rPr>
              <a:t>applied after each convolution layer and before pooling</a:t>
            </a:r>
            <a:r>
              <a:rPr lang="en-US" dirty="0"/>
              <a:t>. </a:t>
            </a:r>
          </a:p>
          <a:p>
            <a:pPr algn="just"/>
            <a:endParaRPr lang="en-US" dirty="0"/>
          </a:p>
          <a:p>
            <a:pPr algn="just"/>
            <a:r>
              <a:rPr lang="en-US" dirty="0" err="1"/>
              <a:t>ReLU</a:t>
            </a:r>
            <a:r>
              <a:rPr lang="en-US" dirty="0"/>
              <a:t> introduces </a:t>
            </a:r>
            <a:r>
              <a:rPr lang="en-US" dirty="0">
                <a:highlight>
                  <a:srgbClr val="00FF00"/>
                </a:highlight>
              </a:rPr>
              <a:t>non-linearity</a:t>
            </a:r>
            <a:r>
              <a:rPr lang="en-US" dirty="0"/>
              <a:t> to the model by transforming the output of the convolution operation, ensuring that the network can learn complex patterns.</a:t>
            </a:r>
            <a:endParaRPr lang="en-IN" dirty="0"/>
          </a:p>
        </p:txBody>
      </p:sp>
    </p:spTree>
    <p:extLst>
      <p:ext uri="{BB962C8B-B14F-4D97-AF65-F5344CB8AC3E}">
        <p14:creationId xmlns:p14="http://schemas.microsoft.com/office/powerpoint/2010/main" val="485718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64E6B-E951-EABB-5BCD-D969E188D5E0}"/>
              </a:ext>
            </a:extLst>
          </p:cNvPr>
          <p:cNvSpPr>
            <a:spLocks noGrp="1"/>
          </p:cNvSpPr>
          <p:nvPr>
            <p:ph type="title"/>
          </p:nvPr>
        </p:nvSpPr>
        <p:spPr>
          <a:xfrm>
            <a:off x="1027044" y="2919482"/>
            <a:ext cx="10515600" cy="1325563"/>
          </a:xfrm>
        </p:spPr>
        <p:txBody>
          <a:bodyPr/>
          <a:lstStyle/>
          <a:p>
            <a:pPr algn="ctr"/>
            <a:r>
              <a:rPr lang="en-US" dirty="0"/>
              <a:t>Where is </a:t>
            </a:r>
            <a:r>
              <a:rPr lang="en-US" dirty="0" err="1"/>
              <a:t>ReLU</a:t>
            </a:r>
            <a:r>
              <a:rPr lang="en-US" dirty="0"/>
              <a:t> Applied in This Process?</a:t>
            </a:r>
            <a:endParaRPr lang="en-IN" dirty="0"/>
          </a:p>
        </p:txBody>
      </p:sp>
    </p:spTree>
    <p:extLst>
      <p:ext uri="{BB962C8B-B14F-4D97-AF65-F5344CB8AC3E}">
        <p14:creationId xmlns:p14="http://schemas.microsoft.com/office/powerpoint/2010/main" val="601380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F3AC-6D04-94EC-3FAD-B2D58F1CC392}"/>
              </a:ext>
            </a:extLst>
          </p:cNvPr>
          <p:cNvSpPr>
            <a:spLocks noGrp="1"/>
          </p:cNvSpPr>
          <p:nvPr>
            <p:ph type="title"/>
          </p:nvPr>
        </p:nvSpPr>
        <p:spPr/>
        <p:txBody>
          <a:bodyPr/>
          <a:lstStyle/>
          <a:p>
            <a:pPr algn="ctr"/>
            <a:r>
              <a:rPr lang="en-IN" dirty="0"/>
              <a:t>Basic Architecture of CNN</a:t>
            </a:r>
          </a:p>
        </p:txBody>
      </p:sp>
      <p:pic>
        <p:nvPicPr>
          <p:cNvPr id="4" name="Picture 3">
            <a:extLst>
              <a:ext uri="{FF2B5EF4-FFF2-40B4-BE49-F238E27FC236}">
                <a16:creationId xmlns:a16="http://schemas.microsoft.com/office/drawing/2014/main" id="{8FF1D224-91C2-A56A-E7C1-C296D7FD0BF3}"/>
              </a:ext>
            </a:extLst>
          </p:cNvPr>
          <p:cNvPicPr>
            <a:picLocks noChangeAspect="1"/>
          </p:cNvPicPr>
          <p:nvPr/>
        </p:nvPicPr>
        <p:blipFill>
          <a:blip r:embed="rId2"/>
          <a:stretch>
            <a:fillRect/>
          </a:stretch>
        </p:blipFill>
        <p:spPr>
          <a:xfrm>
            <a:off x="2425148" y="2132149"/>
            <a:ext cx="7858849" cy="38820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63571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6AE26-22D5-10AF-8BD1-011FA4D82730}"/>
              </a:ext>
            </a:extLst>
          </p:cNvPr>
          <p:cNvSpPr>
            <a:spLocks noGrp="1"/>
          </p:cNvSpPr>
          <p:nvPr>
            <p:ph type="title"/>
          </p:nvPr>
        </p:nvSpPr>
        <p:spPr>
          <a:xfrm>
            <a:off x="838200" y="365126"/>
            <a:ext cx="10515600" cy="589032"/>
          </a:xfrm>
        </p:spPr>
        <p:txBody>
          <a:bodyPr>
            <a:normAutofit fontScale="90000"/>
          </a:bodyPr>
          <a:lstStyle/>
          <a:p>
            <a:pPr algn="ctr"/>
            <a:r>
              <a:rPr lang="en-IN" dirty="0"/>
              <a:t>Basic Architecture of CNN</a:t>
            </a:r>
          </a:p>
        </p:txBody>
      </p:sp>
      <p:pic>
        <p:nvPicPr>
          <p:cNvPr id="4" name="Picture 3">
            <a:extLst>
              <a:ext uri="{FF2B5EF4-FFF2-40B4-BE49-F238E27FC236}">
                <a16:creationId xmlns:a16="http://schemas.microsoft.com/office/drawing/2014/main" id="{FDF389AB-38A5-6482-CEA2-B72EB5C1DC13}"/>
              </a:ext>
            </a:extLst>
          </p:cNvPr>
          <p:cNvPicPr>
            <a:picLocks noChangeAspect="1"/>
          </p:cNvPicPr>
          <p:nvPr/>
        </p:nvPicPr>
        <p:blipFill>
          <a:blip r:embed="rId2"/>
          <a:stretch>
            <a:fillRect/>
          </a:stretch>
        </p:blipFill>
        <p:spPr>
          <a:xfrm>
            <a:off x="1090802" y="1272209"/>
            <a:ext cx="10428649" cy="50396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6860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FFE8-E3F3-57AB-E051-42CEA5CBC8C7}"/>
              </a:ext>
            </a:extLst>
          </p:cNvPr>
          <p:cNvSpPr>
            <a:spLocks noGrp="1"/>
          </p:cNvSpPr>
          <p:nvPr>
            <p:ph type="title"/>
          </p:nvPr>
        </p:nvSpPr>
        <p:spPr>
          <a:xfrm>
            <a:off x="838200" y="365125"/>
            <a:ext cx="10515600" cy="569153"/>
          </a:xfrm>
        </p:spPr>
        <p:txBody>
          <a:bodyPr>
            <a:normAutofit fontScale="90000"/>
          </a:bodyPr>
          <a:lstStyle/>
          <a:p>
            <a:pPr algn="ctr"/>
            <a:r>
              <a:rPr lang="en-IN" dirty="0"/>
              <a:t>Basic Architecture of CNN</a:t>
            </a:r>
          </a:p>
        </p:txBody>
      </p:sp>
      <p:sp>
        <p:nvSpPr>
          <p:cNvPr id="3" name="Content Placeholder 2">
            <a:extLst>
              <a:ext uri="{FF2B5EF4-FFF2-40B4-BE49-F238E27FC236}">
                <a16:creationId xmlns:a16="http://schemas.microsoft.com/office/drawing/2014/main" id="{B6B79EC5-3E6B-B7A7-BC12-1DC085F9EFB1}"/>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EA4B069C-35AE-5C8B-BCDB-9D98F746142E}"/>
              </a:ext>
            </a:extLst>
          </p:cNvPr>
          <p:cNvPicPr>
            <a:picLocks noChangeAspect="1"/>
          </p:cNvPicPr>
          <p:nvPr/>
        </p:nvPicPr>
        <p:blipFill>
          <a:blip r:embed="rId2"/>
          <a:stretch>
            <a:fillRect/>
          </a:stretch>
        </p:blipFill>
        <p:spPr>
          <a:xfrm>
            <a:off x="838200" y="1210986"/>
            <a:ext cx="10744821" cy="528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5311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ural network - How to calculate numbers of parameters in CNN model with  BatchNormaliztion - Stack Overflow">
            <a:extLst>
              <a:ext uri="{FF2B5EF4-FFF2-40B4-BE49-F238E27FC236}">
                <a16:creationId xmlns:a16="http://schemas.microsoft.com/office/drawing/2014/main" id="{3E568CE8-E193-50C4-97C3-21D1D582F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537" y="168965"/>
            <a:ext cx="9178925" cy="6460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38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3018-C0FA-0E07-BA9C-51FA420CA446}"/>
              </a:ext>
            </a:extLst>
          </p:cNvPr>
          <p:cNvSpPr>
            <a:spLocks noGrp="1"/>
          </p:cNvSpPr>
          <p:nvPr>
            <p:ph type="title"/>
          </p:nvPr>
        </p:nvSpPr>
        <p:spPr>
          <a:xfrm>
            <a:off x="838200" y="365126"/>
            <a:ext cx="10515600" cy="718240"/>
          </a:xfrm>
        </p:spPr>
        <p:txBody>
          <a:bodyPr/>
          <a:lstStyle/>
          <a:p>
            <a:pPr algn="ctr"/>
            <a:r>
              <a:rPr lang="en-US" dirty="0"/>
              <a:t>What Are Parameters in a Neural Network?</a:t>
            </a:r>
            <a:endParaRPr lang="en-IN" dirty="0"/>
          </a:p>
        </p:txBody>
      </p:sp>
      <p:sp>
        <p:nvSpPr>
          <p:cNvPr id="3" name="Content Placeholder 2">
            <a:extLst>
              <a:ext uri="{FF2B5EF4-FFF2-40B4-BE49-F238E27FC236}">
                <a16:creationId xmlns:a16="http://schemas.microsoft.com/office/drawing/2014/main" id="{39F97834-021E-C208-C181-03A72D0D1CC1}"/>
              </a:ext>
            </a:extLst>
          </p:cNvPr>
          <p:cNvSpPr>
            <a:spLocks noGrp="1"/>
          </p:cNvSpPr>
          <p:nvPr>
            <p:ph idx="1"/>
          </p:nvPr>
        </p:nvSpPr>
        <p:spPr>
          <a:xfrm>
            <a:off x="400877" y="1274830"/>
            <a:ext cx="11128513" cy="5218044"/>
          </a:xfrm>
        </p:spPr>
        <p:txBody>
          <a:bodyPr>
            <a:normAutofit/>
          </a:bodyPr>
          <a:lstStyle/>
          <a:p>
            <a:pPr algn="just"/>
            <a:r>
              <a:rPr lang="en-US" dirty="0"/>
              <a:t>Parameters in a neural network typically refer to the weights and biases that are learned by the model during the training process.</a:t>
            </a:r>
          </a:p>
          <a:p>
            <a:pPr algn="just"/>
            <a:endParaRPr lang="en-US" dirty="0"/>
          </a:p>
          <a:p>
            <a:pPr algn="just"/>
            <a:r>
              <a:rPr lang="en-US" dirty="0"/>
              <a:t>These are the values that get adjusted through the backpropagation and optimization process to minimize the error between the predicted output and the actual labels.</a:t>
            </a:r>
          </a:p>
          <a:p>
            <a:pPr lvl="1" algn="just"/>
            <a:r>
              <a:rPr lang="en-US" dirty="0">
                <a:highlight>
                  <a:srgbClr val="00FF00"/>
                </a:highlight>
              </a:rPr>
              <a:t>Convolutional layers: </a:t>
            </a:r>
            <a:r>
              <a:rPr lang="en-US" dirty="0"/>
              <a:t>Each filter in a convolutional layer has a set of weights (parameters) that are applied to the input to extract features.</a:t>
            </a:r>
          </a:p>
          <a:p>
            <a:pPr lvl="1" algn="just"/>
            <a:r>
              <a:rPr lang="en-US" dirty="0">
                <a:highlight>
                  <a:srgbClr val="00FF00"/>
                </a:highlight>
              </a:rPr>
              <a:t>Dense (Fully Connected) layers</a:t>
            </a:r>
            <a:r>
              <a:rPr lang="en-US" dirty="0"/>
              <a:t>: Each neuron has weights that connect it to neurons in the previous layer and possibly a bias term.</a:t>
            </a:r>
          </a:p>
          <a:p>
            <a:pPr lvl="1" algn="just"/>
            <a:r>
              <a:rPr lang="en-US" dirty="0">
                <a:highlight>
                  <a:srgbClr val="00FF00"/>
                </a:highlight>
              </a:rPr>
              <a:t>Batch Normalization</a:t>
            </a:r>
            <a:r>
              <a:rPr lang="en-US" dirty="0"/>
              <a:t>: This layer has trainable parameters to adjust the normalization scale and shift (gamma and beta).</a:t>
            </a:r>
            <a:endParaRPr lang="en-IN" dirty="0"/>
          </a:p>
        </p:txBody>
      </p:sp>
    </p:spTree>
    <p:extLst>
      <p:ext uri="{BB962C8B-B14F-4D97-AF65-F5344CB8AC3E}">
        <p14:creationId xmlns:p14="http://schemas.microsoft.com/office/powerpoint/2010/main" val="3661449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31C0-D180-1BD6-9A23-4351CF2982D3}"/>
              </a:ext>
            </a:extLst>
          </p:cNvPr>
          <p:cNvSpPr>
            <a:spLocks noGrp="1"/>
          </p:cNvSpPr>
          <p:nvPr>
            <p:ph type="title"/>
          </p:nvPr>
        </p:nvSpPr>
        <p:spPr/>
        <p:txBody>
          <a:bodyPr/>
          <a:lstStyle/>
          <a:p>
            <a:pPr algn="ctr"/>
            <a:r>
              <a:rPr lang="en-IN" dirty="0">
                <a:highlight>
                  <a:srgbClr val="00FF00"/>
                </a:highlight>
              </a:rPr>
              <a:t>Conv2D_1 </a:t>
            </a:r>
            <a:r>
              <a:rPr lang="en-IN" dirty="0"/>
              <a:t>(Convolutional Layer)</a:t>
            </a:r>
          </a:p>
        </p:txBody>
      </p:sp>
      <p:sp>
        <p:nvSpPr>
          <p:cNvPr id="3" name="Content Placeholder 2">
            <a:extLst>
              <a:ext uri="{FF2B5EF4-FFF2-40B4-BE49-F238E27FC236}">
                <a16:creationId xmlns:a16="http://schemas.microsoft.com/office/drawing/2014/main" id="{1115C448-EF9F-B9F0-A768-CE7A87EFD4EA}"/>
              </a:ext>
            </a:extLst>
          </p:cNvPr>
          <p:cNvSpPr>
            <a:spLocks noGrp="1"/>
          </p:cNvSpPr>
          <p:nvPr>
            <p:ph idx="1"/>
          </p:nvPr>
        </p:nvSpPr>
        <p:spPr>
          <a:xfrm>
            <a:off x="841513" y="1470991"/>
            <a:ext cx="10515600" cy="5003042"/>
          </a:xfrm>
        </p:spPr>
        <p:txBody>
          <a:bodyPr>
            <a:normAutofit fontScale="92500" lnSpcReduction="10000"/>
          </a:bodyPr>
          <a:lstStyle/>
          <a:p>
            <a:r>
              <a:rPr lang="en-US" dirty="0"/>
              <a:t>Output Shape: (None, 24, 24, 32)This means the output has 32 feature maps (channels) and each feature map has dimensions of 24 x 24.</a:t>
            </a:r>
          </a:p>
          <a:p>
            <a:endParaRPr lang="en-US" dirty="0"/>
          </a:p>
          <a:p>
            <a:r>
              <a:rPr lang="en-US" dirty="0"/>
              <a:t>The first dimension (None) indicates the batch size, which is flexible and determined during runtime.</a:t>
            </a:r>
          </a:p>
          <a:p>
            <a:endParaRPr lang="en-US" dirty="0"/>
          </a:p>
          <a:p>
            <a:r>
              <a:rPr lang="en-US" dirty="0">
                <a:highlight>
                  <a:srgbClr val="00FF00"/>
                </a:highlight>
              </a:rPr>
              <a:t>Parameters: 320</a:t>
            </a:r>
          </a:p>
          <a:p>
            <a:endParaRPr lang="en-US" dirty="0"/>
          </a:p>
          <a:p>
            <a:r>
              <a:rPr lang="en-US" dirty="0"/>
              <a:t>The number of parameters is calculated as:</a:t>
            </a:r>
          </a:p>
          <a:p>
            <a:pPr lvl="1"/>
            <a:r>
              <a:rPr lang="en-US" dirty="0"/>
              <a:t> (3×3×1 (input channels)×32 (output channels))+32 (biases) = 320</a:t>
            </a:r>
          </a:p>
          <a:p>
            <a:endParaRPr lang="en-US" dirty="0"/>
          </a:p>
          <a:p>
            <a:r>
              <a:rPr lang="en-US" dirty="0"/>
              <a:t>Each filter is 3×3 and there are 32 filters, each associated with a bias term.</a:t>
            </a:r>
            <a:endParaRPr lang="en-IN" dirty="0"/>
          </a:p>
        </p:txBody>
      </p:sp>
    </p:spTree>
    <p:extLst>
      <p:ext uri="{BB962C8B-B14F-4D97-AF65-F5344CB8AC3E}">
        <p14:creationId xmlns:p14="http://schemas.microsoft.com/office/powerpoint/2010/main" val="1204453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0BAA6-1F47-3A54-ED7A-9952F75923F5}"/>
              </a:ext>
            </a:extLst>
          </p:cNvPr>
          <p:cNvSpPr>
            <a:spLocks noGrp="1"/>
          </p:cNvSpPr>
          <p:nvPr>
            <p:ph type="title"/>
          </p:nvPr>
        </p:nvSpPr>
        <p:spPr/>
        <p:txBody>
          <a:bodyPr/>
          <a:lstStyle/>
          <a:p>
            <a:pPr algn="ctr"/>
            <a:r>
              <a:rPr lang="en-IN" dirty="0"/>
              <a:t>Batch Normalization</a:t>
            </a:r>
          </a:p>
        </p:txBody>
      </p:sp>
      <p:sp>
        <p:nvSpPr>
          <p:cNvPr id="3" name="Content Placeholder 2">
            <a:extLst>
              <a:ext uri="{FF2B5EF4-FFF2-40B4-BE49-F238E27FC236}">
                <a16:creationId xmlns:a16="http://schemas.microsoft.com/office/drawing/2014/main" id="{0FED47A9-13DE-4DDC-4339-FB911BB973D8}"/>
              </a:ext>
            </a:extLst>
          </p:cNvPr>
          <p:cNvSpPr>
            <a:spLocks noGrp="1"/>
          </p:cNvSpPr>
          <p:nvPr>
            <p:ph idx="1"/>
          </p:nvPr>
        </p:nvSpPr>
        <p:spPr/>
        <p:txBody>
          <a:bodyPr/>
          <a:lstStyle/>
          <a:p>
            <a:r>
              <a:rPr lang="en-US" dirty="0"/>
              <a:t>Output Shape: (None, 24, 24, 32)</a:t>
            </a:r>
          </a:p>
          <a:p>
            <a:r>
              <a:rPr lang="en-US" dirty="0"/>
              <a:t>Parameters: 128</a:t>
            </a:r>
          </a:p>
          <a:p>
            <a:r>
              <a:rPr lang="en-US" dirty="0"/>
              <a:t>This includes two trainable parameters: gamma and beta (scale and shift) for each feature map.</a:t>
            </a:r>
          </a:p>
          <a:p>
            <a:r>
              <a:rPr lang="en-US" dirty="0"/>
              <a:t>So, for 32 feature maps, we have: 32 (gamma)+32 (beta) = 64.</a:t>
            </a:r>
          </a:p>
          <a:p>
            <a:endParaRPr lang="en-US" dirty="0"/>
          </a:p>
          <a:p>
            <a:r>
              <a:rPr lang="en-US" dirty="0"/>
              <a:t>However, Batch Normalization also maintains moving averages of the mean and variance for normalization, but these are not trainable parameters.</a:t>
            </a:r>
            <a:endParaRPr lang="en-IN" dirty="0"/>
          </a:p>
        </p:txBody>
      </p:sp>
    </p:spTree>
    <p:extLst>
      <p:ext uri="{BB962C8B-B14F-4D97-AF65-F5344CB8AC3E}">
        <p14:creationId xmlns:p14="http://schemas.microsoft.com/office/powerpoint/2010/main" val="2736848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9906E-2CEF-E4D2-3494-8011A2C619F9}"/>
              </a:ext>
            </a:extLst>
          </p:cNvPr>
          <p:cNvSpPr>
            <a:spLocks noGrp="1"/>
          </p:cNvSpPr>
          <p:nvPr>
            <p:ph type="title"/>
          </p:nvPr>
        </p:nvSpPr>
        <p:spPr/>
        <p:txBody>
          <a:bodyPr/>
          <a:lstStyle/>
          <a:p>
            <a:pPr algn="ctr"/>
            <a:r>
              <a:rPr lang="en-IN" dirty="0"/>
              <a:t>Dropout</a:t>
            </a:r>
          </a:p>
        </p:txBody>
      </p:sp>
      <p:sp>
        <p:nvSpPr>
          <p:cNvPr id="3" name="Content Placeholder 2">
            <a:extLst>
              <a:ext uri="{FF2B5EF4-FFF2-40B4-BE49-F238E27FC236}">
                <a16:creationId xmlns:a16="http://schemas.microsoft.com/office/drawing/2014/main" id="{2D545A34-B580-839F-E7F8-8234E2D3FE9D}"/>
              </a:ext>
            </a:extLst>
          </p:cNvPr>
          <p:cNvSpPr>
            <a:spLocks noGrp="1"/>
          </p:cNvSpPr>
          <p:nvPr>
            <p:ph idx="1"/>
          </p:nvPr>
        </p:nvSpPr>
        <p:spPr/>
        <p:txBody>
          <a:bodyPr/>
          <a:lstStyle/>
          <a:p>
            <a:r>
              <a:rPr lang="en-US" dirty="0"/>
              <a:t>Output Shape: (None, 24, 24, 32)</a:t>
            </a:r>
          </a:p>
          <a:p>
            <a:endParaRPr lang="en-US" dirty="0"/>
          </a:p>
          <a:p>
            <a:r>
              <a:rPr lang="en-US" dirty="0"/>
              <a:t>Parameters: 0</a:t>
            </a:r>
          </a:p>
          <a:p>
            <a:endParaRPr lang="en-US" dirty="0"/>
          </a:p>
          <a:p>
            <a:r>
              <a:rPr lang="en-US" dirty="0"/>
              <a:t>Dropout does not have any trainable parameters. </a:t>
            </a:r>
          </a:p>
          <a:p>
            <a:endParaRPr lang="en-US" dirty="0"/>
          </a:p>
          <a:p>
            <a:r>
              <a:rPr lang="en-US" dirty="0"/>
              <a:t>It randomly drops out some neurons during training to prevent overfitting, but it doesn't modify weights directly.</a:t>
            </a:r>
            <a:endParaRPr lang="en-IN" dirty="0"/>
          </a:p>
        </p:txBody>
      </p:sp>
    </p:spTree>
    <p:extLst>
      <p:ext uri="{BB962C8B-B14F-4D97-AF65-F5344CB8AC3E}">
        <p14:creationId xmlns:p14="http://schemas.microsoft.com/office/powerpoint/2010/main" val="3941560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DBE5A-D365-F65B-6600-9983A042ED73}"/>
              </a:ext>
            </a:extLst>
          </p:cNvPr>
          <p:cNvSpPr>
            <a:spLocks noGrp="1"/>
          </p:cNvSpPr>
          <p:nvPr>
            <p:ph type="title"/>
          </p:nvPr>
        </p:nvSpPr>
        <p:spPr/>
        <p:txBody>
          <a:bodyPr/>
          <a:lstStyle/>
          <a:p>
            <a:pPr algn="ctr"/>
            <a:r>
              <a:rPr lang="en-IN" dirty="0"/>
              <a:t>Max Pooling</a:t>
            </a:r>
          </a:p>
        </p:txBody>
      </p:sp>
      <p:sp>
        <p:nvSpPr>
          <p:cNvPr id="3" name="Content Placeholder 2">
            <a:extLst>
              <a:ext uri="{FF2B5EF4-FFF2-40B4-BE49-F238E27FC236}">
                <a16:creationId xmlns:a16="http://schemas.microsoft.com/office/drawing/2014/main" id="{0163CD9B-2E19-6F78-C1AF-7F37FFA58D7E}"/>
              </a:ext>
            </a:extLst>
          </p:cNvPr>
          <p:cNvSpPr>
            <a:spLocks noGrp="1"/>
          </p:cNvSpPr>
          <p:nvPr>
            <p:ph idx="1"/>
          </p:nvPr>
        </p:nvSpPr>
        <p:spPr/>
        <p:txBody>
          <a:bodyPr/>
          <a:lstStyle/>
          <a:p>
            <a:r>
              <a:rPr lang="en-US" dirty="0"/>
              <a:t>Output Shape: (None, 12, 12, 32)</a:t>
            </a:r>
          </a:p>
          <a:p>
            <a:endParaRPr lang="en-US" dirty="0"/>
          </a:p>
          <a:p>
            <a:r>
              <a:rPr lang="en-US" dirty="0"/>
              <a:t>Parameters: 0</a:t>
            </a:r>
          </a:p>
          <a:p>
            <a:endParaRPr lang="en-US" dirty="0"/>
          </a:p>
          <a:p>
            <a:r>
              <a:rPr lang="en-US" dirty="0"/>
              <a:t>Pooling layers do not have any trainable parameters.</a:t>
            </a:r>
          </a:p>
          <a:p>
            <a:endParaRPr lang="en-US" dirty="0"/>
          </a:p>
          <a:p>
            <a:r>
              <a:rPr lang="en-US" dirty="0"/>
              <a:t>They only down-sample the input to reduce the spatial size (by taking the maximum value in a region for max pooling, for example).</a:t>
            </a:r>
            <a:endParaRPr lang="en-IN" dirty="0"/>
          </a:p>
        </p:txBody>
      </p:sp>
    </p:spTree>
    <p:extLst>
      <p:ext uri="{BB962C8B-B14F-4D97-AF65-F5344CB8AC3E}">
        <p14:creationId xmlns:p14="http://schemas.microsoft.com/office/powerpoint/2010/main" val="32755125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658A-DC47-21C2-BC25-633F4870FF38}"/>
              </a:ext>
            </a:extLst>
          </p:cNvPr>
          <p:cNvSpPr>
            <a:spLocks noGrp="1"/>
          </p:cNvSpPr>
          <p:nvPr>
            <p:ph type="title"/>
          </p:nvPr>
        </p:nvSpPr>
        <p:spPr/>
        <p:txBody>
          <a:bodyPr/>
          <a:lstStyle/>
          <a:p>
            <a:pPr algn="ctr"/>
            <a:r>
              <a:rPr lang="en-IN" dirty="0"/>
              <a:t>Conv2D_2 (Convolutional Layer)</a:t>
            </a:r>
          </a:p>
        </p:txBody>
      </p:sp>
      <p:sp>
        <p:nvSpPr>
          <p:cNvPr id="3" name="Content Placeholder 2">
            <a:extLst>
              <a:ext uri="{FF2B5EF4-FFF2-40B4-BE49-F238E27FC236}">
                <a16:creationId xmlns:a16="http://schemas.microsoft.com/office/drawing/2014/main" id="{1A33398B-3AD4-42AF-21A8-AEC29BC4D56F}"/>
              </a:ext>
            </a:extLst>
          </p:cNvPr>
          <p:cNvSpPr>
            <a:spLocks noGrp="1"/>
          </p:cNvSpPr>
          <p:nvPr>
            <p:ph idx="1"/>
          </p:nvPr>
        </p:nvSpPr>
        <p:spPr>
          <a:xfrm>
            <a:off x="838199" y="1825625"/>
            <a:ext cx="10880035" cy="4351338"/>
          </a:xfrm>
        </p:spPr>
        <p:txBody>
          <a:bodyPr/>
          <a:lstStyle/>
          <a:p>
            <a:r>
              <a:rPr lang="en-US" dirty="0"/>
              <a:t>Output Shape: (None, 12, 12, 64)</a:t>
            </a:r>
          </a:p>
          <a:p>
            <a:endParaRPr lang="en-US" dirty="0"/>
          </a:p>
          <a:p>
            <a:r>
              <a:rPr lang="en-US" dirty="0"/>
              <a:t>Parameters: 2,112</a:t>
            </a:r>
          </a:p>
          <a:p>
            <a:r>
              <a:rPr lang="en-US" dirty="0"/>
              <a:t>The number of parameters is calculated as: </a:t>
            </a:r>
          </a:p>
          <a:p>
            <a:r>
              <a:rPr lang="en-US" dirty="0"/>
              <a:t>(3×3×32 (input channels) × 64 (output channels))+64 (biases) = 2,112 </a:t>
            </a:r>
          </a:p>
          <a:p>
            <a:endParaRPr lang="en-US" dirty="0"/>
          </a:p>
          <a:p>
            <a:r>
              <a:rPr lang="en-US" dirty="0"/>
              <a:t>Each filter is 3×3, and there are 64 filters applied to the 32 input channels.</a:t>
            </a:r>
            <a:endParaRPr lang="en-IN" dirty="0"/>
          </a:p>
        </p:txBody>
      </p:sp>
    </p:spTree>
    <p:extLst>
      <p:ext uri="{BB962C8B-B14F-4D97-AF65-F5344CB8AC3E}">
        <p14:creationId xmlns:p14="http://schemas.microsoft.com/office/powerpoint/2010/main" val="31487748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8721-109F-6742-9B16-BCA86622A308}"/>
              </a:ext>
            </a:extLst>
          </p:cNvPr>
          <p:cNvSpPr>
            <a:spLocks noGrp="1"/>
          </p:cNvSpPr>
          <p:nvPr>
            <p:ph type="title"/>
          </p:nvPr>
        </p:nvSpPr>
        <p:spPr/>
        <p:txBody>
          <a:bodyPr/>
          <a:lstStyle/>
          <a:p>
            <a:pPr algn="ctr"/>
            <a:r>
              <a:rPr lang="en-US"/>
              <a:t>Variants of the Basic Convolution Function</a:t>
            </a:r>
            <a:endParaRPr lang="en-IN"/>
          </a:p>
        </p:txBody>
      </p:sp>
      <p:sp>
        <p:nvSpPr>
          <p:cNvPr id="3" name="Content Placeholder 2">
            <a:extLst>
              <a:ext uri="{FF2B5EF4-FFF2-40B4-BE49-F238E27FC236}">
                <a16:creationId xmlns:a16="http://schemas.microsoft.com/office/drawing/2014/main" id="{E66D20EA-7A8A-6721-9AA5-23F3A428C35F}"/>
              </a:ext>
            </a:extLst>
          </p:cNvPr>
          <p:cNvSpPr>
            <a:spLocks noGrp="1"/>
          </p:cNvSpPr>
          <p:nvPr>
            <p:ph idx="1"/>
          </p:nvPr>
        </p:nvSpPr>
        <p:spPr/>
        <p:txBody>
          <a:bodyPr/>
          <a:lstStyle/>
          <a:p>
            <a:r>
              <a:rPr lang="en-US" dirty="0"/>
              <a:t>In the basic convolution operation, a kernel (or filter) is convolved with an input tensor to produce an output tensor, often referred to as a feature map. </a:t>
            </a:r>
          </a:p>
          <a:p>
            <a:endParaRPr lang="en-US" dirty="0"/>
          </a:p>
          <a:p>
            <a:r>
              <a:rPr lang="en-US" dirty="0"/>
              <a:t>Variants of this basic convolution operation have been developed to improve performance, efficiency, or handle specific tasks. </a:t>
            </a:r>
            <a:endParaRPr lang="en-IN" dirty="0"/>
          </a:p>
        </p:txBody>
      </p:sp>
    </p:spTree>
    <p:extLst>
      <p:ext uri="{BB962C8B-B14F-4D97-AF65-F5344CB8AC3E}">
        <p14:creationId xmlns:p14="http://schemas.microsoft.com/office/powerpoint/2010/main" val="5990826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9123A-9833-2B71-1D41-92A899452212}"/>
              </a:ext>
            </a:extLst>
          </p:cNvPr>
          <p:cNvSpPr>
            <a:spLocks noGrp="1"/>
          </p:cNvSpPr>
          <p:nvPr>
            <p:ph type="title"/>
          </p:nvPr>
        </p:nvSpPr>
        <p:spPr/>
        <p:txBody>
          <a:bodyPr/>
          <a:lstStyle/>
          <a:p>
            <a:r>
              <a:rPr lang="en-IN" dirty="0"/>
              <a:t>1. Convolution with Strides</a:t>
            </a:r>
          </a:p>
        </p:txBody>
      </p:sp>
      <p:sp>
        <p:nvSpPr>
          <p:cNvPr id="3" name="Content Placeholder 2">
            <a:extLst>
              <a:ext uri="{FF2B5EF4-FFF2-40B4-BE49-F238E27FC236}">
                <a16:creationId xmlns:a16="http://schemas.microsoft.com/office/drawing/2014/main" id="{ED732DD2-7A7C-500B-CDBA-BC6275B7D2D8}"/>
              </a:ext>
            </a:extLst>
          </p:cNvPr>
          <p:cNvSpPr>
            <a:spLocks noGrp="1"/>
          </p:cNvSpPr>
          <p:nvPr>
            <p:ph idx="1"/>
          </p:nvPr>
        </p:nvSpPr>
        <p:spPr/>
        <p:txBody>
          <a:bodyPr/>
          <a:lstStyle/>
          <a:p>
            <a:pPr algn="just"/>
            <a:endParaRPr lang="en-US" dirty="0"/>
          </a:p>
          <a:p>
            <a:pPr algn="just"/>
            <a:r>
              <a:rPr lang="en-US" dirty="0" err="1"/>
              <a:t>Strided</a:t>
            </a:r>
            <a:r>
              <a:rPr lang="en-US" dirty="0"/>
              <a:t> convolution means moving the convolution filter by more than one unit at a time across the input.</a:t>
            </a:r>
          </a:p>
          <a:p>
            <a:pPr algn="just"/>
            <a:endParaRPr lang="en-US" dirty="0"/>
          </a:p>
          <a:p>
            <a:pPr algn="just"/>
            <a:r>
              <a:rPr lang="en-US" dirty="0"/>
              <a:t>Stride &gt; 1 reduces the spatial dimensions of the output, as the filter skips certain positions.</a:t>
            </a:r>
          </a:p>
          <a:p>
            <a:pPr algn="just"/>
            <a:endParaRPr lang="en-US" dirty="0"/>
          </a:p>
          <a:p>
            <a:pPr algn="just"/>
            <a:r>
              <a:rPr lang="en-US" dirty="0"/>
              <a:t>This is commonly used to reduce the computational load or control the size of the output feature map.</a:t>
            </a:r>
            <a:endParaRPr lang="en-IN" dirty="0"/>
          </a:p>
        </p:txBody>
      </p:sp>
    </p:spTree>
    <p:extLst>
      <p:ext uri="{BB962C8B-B14F-4D97-AF65-F5344CB8AC3E}">
        <p14:creationId xmlns:p14="http://schemas.microsoft.com/office/powerpoint/2010/main" val="34765827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D9EA-4F3F-7080-5B67-D0E96BBCF605}"/>
              </a:ext>
            </a:extLst>
          </p:cNvPr>
          <p:cNvSpPr>
            <a:spLocks noGrp="1"/>
          </p:cNvSpPr>
          <p:nvPr>
            <p:ph type="title"/>
          </p:nvPr>
        </p:nvSpPr>
        <p:spPr/>
        <p:txBody>
          <a:bodyPr/>
          <a:lstStyle/>
          <a:p>
            <a:pPr algn="ctr"/>
            <a:r>
              <a:rPr lang="en-IN" dirty="0"/>
              <a:t>Convolution with Strides</a:t>
            </a:r>
          </a:p>
        </p:txBody>
      </p:sp>
      <p:sp>
        <p:nvSpPr>
          <p:cNvPr id="3" name="Content Placeholder 2">
            <a:extLst>
              <a:ext uri="{FF2B5EF4-FFF2-40B4-BE49-F238E27FC236}">
                <a16:creationId xmlns:a16="http://schemas.microsoft.com/office/drawing/2014/main" id="{11368814-8272-F257-13ED-7F0AE3CA8149}"/>
              </a:ext>
            </a:extLst>
          </p:cNvPr>
          <p:cNvSpPr>
            <a:spLocks noGrp="1"/>
          </p:cNvSpPr>
          <p:nvPr>
            <p:ph idx="1"/>
          </p:nvPr>
        </p:nvSpPr>
        <p:spPr/>
        <p:txBody>
          <a:bodyPr/>
          <a:lstStyle/>
          <a:p>
            <a:pPr algn="just"/>
            <a:r>
              <a:rPr lang="en-US" dirty="0"/>
              <a:t>Example: Consider a standard 3x3 convolution filter applied to a 7x7 input image. With a stride of 1, the filter moves one pixel at a time, resulting in an output size of 5x5. If we change the stride to 2, the filter jumps two pixels at a time, reducing the output size to 3x3. This speeds up computation and reduces the size of the output feature map, but with potential loss of detail.</a:t>
            </a:r>
          </a:p>
          <a:p>
            <a:pPr algn="just"/>
            <a:endParaRPr lang="en-US" dirty="0"/>
          </a:p>
          <a:p>
            <a:pPr algn="just"/>
            <a:r>
              <a:rPr lang="en-US" dirty="0"/>
              <a:t>Use Case: In image classification tasks, </a:t>
            </a:r>
            <a:r>
              <a:rPr lang="en-US" dirty="0" err="1"/>
              <a:t>strided</a:t>
            </a:r>
            <a:r>
              <a:rPr lang="en-US" dirty="0"/>
              <a:t> convolutions are often used to reduce spatial resolution progressively before fully connected layers (e.g., in architectures like </a:t>
            </a:r>
            <a:r>
              <a:rPr lang="en-US" dirty="0" err="1"/>
              <a:t>VGGNet</a:t>
            </a:r>
            <a:r>
              <a:rPr lang="en-US" dirty="0"/>
              <a:t> and </a:t>
            </a:r>
            <a:r>
              <a:rPr lang="en-US" dirty="0" err="1"/>
              <a:t>ResNet</a:t>
            </a:r>
            <a:r>
              <a:rPr lang="en-US" dirty="0"/>
              <a:t>).</a:t>
            </a:r>
            <a:endParaRPr lang="en-IN" dirty="0"/>
          </a:p>
        </p:txBody>
      </p:sp>
    </p:spTree>
    <p:extLst>
      <p:ext uri="{BB962C8B-B14F-4D97-AF65-F5344CB8AC3E}">
        <p14:creationId xmlns:p14="http://schemas.microsoft.com/office/powerpoint/2010/main" val="18333928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9AA9-ED7F-A49D-BF3F-D1314ABB2BF8}"/>
              </a:ext>
            </a:extLst>
          </p:cNvPr>
          <p:cNvSpPr>
            <a:spLocks noGrp="1"/>
          </p:cNvSpPr>
          <p:nvPr>
            <p:ph type="title"/>
          </p:nvPr>
        </p:nvSpPr>
        <p:spPr/>
        <p:txBody>
          <a:bodyPr/>
          <a:lstStyle/>
          <a:p>
            <a:r>
              <a:rPr lang="en-IN" dirty="0"/>
              <a:t> 2. Zero Padding (Padding)</a:t>
            </a:r>
          </a:p>
        </p:txBody>
      </p:sp>
      <p:sp>
        <p:nvSpPr>
          <p:cNvPr id="3" name="Content Placeholder 2">
            <a:extLst>
              <a:ext uri="{FF2B5EF4-FFF2-40B4-BE49-F238E27FC236}">
                <a16:creationId xmlns:a16="http://schemas.microsoft.com/office/drawing/2014/main" id="{BBCA7191-CAB2-7307-A3AE-14C6F9F9AEC9}"/>
              </a:ext>
            </a:extLst>
          </p:cNvPr>
          <p:cNvSpPr>
            <a:spLocks noGrp="1"/>
          </p:cNvSpPr>
          <p:nvPr>
            <p:ph idx="1"/>
          </p:nvPr>
        </p:nvSpPr>
        <p:spPr/>
        <p:txBody>
          <a:bodyPr>
            <a:normAutofit/>
          </a:bodyPr>
          <a:lstStyle/>
          <a:p>
            <a:pPr algn="just"/>
            <a:r>
              <a:rPr lang="en-US" sz="3200" dirty="0"/>
              <a:t>Padding refers to adding extra pixels (typically zeroes) around the input image before applying the convolution.</a:t>
            </a:r>
          </a:p>
          <a:p>
            <a:pPr algn="just"/>
            <a:r>
              <a:rPr lang="en-US" sz="3200" dirty="0"/>
              <a:t>This can:</a:t>
            </a:r>
          </a:p>
          <a:p>
            <a:pPr lvl="1" algn="just"/>
            <a:r>
              <a:rPr lang="en-US" sz="3200" dirty="0"/>
              <a:t>Preserve spatial dimensions: If padding is added, it allows the output to have the same width and height as the input (often referred to as "same padding").</a:t>
            </a:r>
          </a:p>
          <a:p>
            <a:pPr lvl="1" algn="just"/>
            <a:r>
              <a:rPr lang="en-US" sz="3200" dirty="0"/>
              <a:t>Avoid information loss: Without padding, the convolution filter would shrink the input size, and features near the borders could be underrepresented.</a:t>
            </a:r>
            <a:endParaRPr lang="en-IN" sz="3200" dirty="0"/>
          </a:p>
        </p:txBody>
      </p:sp>
    </p:spTree>
    <p:extLst>
      <p:ext uri="{BB962C8B-B14F-4D97-AF65-F5344CB8AC3E}">
        <p14:creationId xmlns:p14="http://schemas.microsoft.com/office/powerpoint/2010/main" val="22402592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209C9-6E75-5F54-443C-401605B8BA4F}"/>
              </a:ext>
            </a:extLst>
          </p:cNvPr>
          <p:cNvSpPr>
            <a:spLocks noGrp="1"/>
          </p:cNvSpPr>
          <p:nvPr>
            <p:ph type="title"/>
          </p:nvPr>
        </p:nvSpPr>
        <p:spPr/>
        <p:txBody>
          <a:bodyPr/>
          <a:lstStyle/>
          <a:p>
            <a:pPr algn="ctr"/>
            <a:r>
              <a:rPr lang="en-IN" dirty="0"/>
              <a:t>Zero Padding</a:t>
            </a:r>
          </a:p>
        </p:txBody>
      </p:sp>
      <p:sp>
        <p:nvSpPr>
          <p:cNvPr id="3" name="Content Placeholder 2">
            <a:extLst>
              <a:ext uri="{FF2B5EF4-FFF2-40B4-BE49-F238E27FC236}">
                <a16:creationId xmlns:a16="http://schemas.microsoft.com/office/drawing/2014/main" id="{43292F1F-96F0-959E-B557-227B186126CA}"/>
              </a:ext>
            </a:extLst>
          </p:cNvPr>
          <p:cNvSpPr>
            <a:spLocks noGrp="1"/>
          </p:cNvSpPr>
          <p:nvPr>
            <p:ph idx="1"/>
          </p:nvPr>
        </p:nvSpPr>
        <p:spPr/>
        <p:txBody>
          <a:bodyPr/>
          <a:lstStyle/>
          <a:p>
            <a:pPr algn="just"/>
            <a:endParaRPr lang="en-US" dirty="0"/>
          </a:p>
          <a:p>
            <a:pPr algn="just"/>
            <a:r>
              <a:rPr lang="en-US" dirty="0"/>
              <a:t>Example: Without padding, a 3x3 convolution applied to a 7x7 image results in a 5x5 output. By adding zero padding (e.g., one pixel of padding on all sides), the output can be kept at 7x7, preserving the spatial size.</a:t>
            </a:r>
          </a:p>
          <a:p>
            <a:pPr algn="just"/>
            <a:endParaRPr lang="en-US" dirty="0"/>
          </a:p>
          <a:p>
            <a:pPr algn="just"/>
            <a:r>
              <a:rPr lang="en-US" dirty="0"/>
              <a:t>Use Case: In semantic segmentation, where pixel-level predictions are required, padding ensures that the output has the same spatial dimensions as the input image, allowing predictions for every pixel.</a:t>
            </a:r>
            <a:endParaRPr lang="en-IN" dirty="0"/>
          </a:p>
        </p:txBody>
      </p:sp>
    </p:spTree>
    <p:extLst>
      <p:ext uri="{BB962C8B-B14F-4D97-AF65-F5344CB8AC3E}">
        <p14:creationId xmlns:p14="http://schemas.microsoft.com/office/powerpoint/2010/main" val="9875261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B9DDF-18A3-6EDF-1AAC-C3628F293574}"/>
              </a:ext>
            </a:extLst>
          </p:cNvPr>
          <p:cNvSpPr>
            <a:spLocks noGrp="1"/>
          </p:cNvSpPr>
          <p:nvPr>
            <p:ph type="title"/>
          </p:nvPr>
        </p:nvSpPr>
        <p:spPr/>
        <p:txBody>
          <a:bodyPr/>
          <a:lstStyle/>
          <a:p>
            <a:r>
              <a:rPr lang="en-IN" dirty="0"/>
              <a:t>3. </a:t>
            </a:r>
            <a:r>
              <a:rPr lang="en-US" dirty="0"/>
              <a:t>Dilated Convolution (</a:t>
            </a:r>
            <a:r>
              <a:rPr lang="en-US" dirty="0" err="1"/>
              <a:t>Atrous</a:t>
            </a:r>
            <a:r>
              <a:rPr lang="en-US" dirty="0"/>
              <a:t> Convolution)</a:t>
            </a:r>
            <a:endParaRPr lang="en-IN" dirty="0"/>
          </a:p>
        </p:txBody>
      </p:sp>
      <p:sp>
        <p:nvSpPr>
          <p:cNvPr id="3" name="Content Placeholder 2">
            <a:extLst>
              <a:ext uri="{FF2B5EF4-FFF2-40B4-BE49-F238E27FC236}">
                <a16:creationId xmlns:a16="http://schemas.microsoft.com/office/drawing/2014/main" id="{7C0619CA-0C7D-5DA9-11BD-8A79851512EE}"/>
              </a:ext>
            </a:extLst>
          </p:cNvPr>
          <p:cNvSpPr>
            <a:spLocks noGrp="1"/>
          </p:cNvSpPr>
          <p:nvPr>
            <p:ph idx="1"/>
          </p:nvPr>
        </p:nvSpPr>
        <p:spPr/>
        <p:txBody>
          <a:bodyPr/>
          <a:lstStyle/>
          <a:p>
            <a:pPr algn="just"/>
            <a:r>
              <a:rPr lang="en-US" dirty="0"/>
              <a:t>In a dilated convolution, the filter is applied over a larger receptive field without increasing the number of parameters.</a:t>
            </a:r>
          </a:p>
          <a:p>
            <a:pPr algn="just"/>
            <a:endParaRPr lang="en-US" dirty="0"/>
          </a:p>
          <a:p>
            <a:pPr algn="just"/>
            <a:r>
              <a:rPr lang="en-US" dirty="0"/>
              <a:t>Dilation introduces gaps between the elements in the filter, allowing it to capture multi-scale information.</a:t>
            </a:r>
          </a:p>
          <a:p>
            <a:pPr algn="just"/>
            <a:endParaRPr lang="en-US" dirty="0"/>
          </a:p>
          <a:p>
            <a:pPr algn="just"/>
            <a:r>
              <a:rPr lang="en-US" dirty="0"/>
              <a:t>It's especially useful in tasks where the network needs to have a larger effective receptive field without increasing computational complexity, such as segmentation and some NLP tasks.</a:t>
            </a:r>
            <a:endParaRPr lang="en-IN" dirty="0"/>
          </a:p>
        </p:txBody>
      </p:sp>
    </p:spTree>
    <p:extLst>
      <p:ext uri="{BB962C8B-B14F-4D97-AF65-F5344CB8AC3E}">
        <p14:creationId xmlns:p14="http://schemas.microsoft.com/office/powerpoint/2010/main" val="33818847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7DA7-E3E2-5E72-AD37-820F5D05DE29}"/>
              </a:ext>
            </a:extLst>
          </p:cNvPr>
          <p:cNvSpPr>
            <a:spLocks noGrp="1"/>
          </p:cNvSpPr>
          <p:nvPr>
            <p:ph type="title"/>
          </p:nvPr>
        </p:nvSpPr>
        <p:spPr/>
        <p:txBody>
          <a:bodyPr/>
          <a:lstStyle/>
          <a:p>
            <a:pPr algn="ctr"/>
            <a:r>
              <a:rPr lang="en-US" dirty="0"/>
              <a:t>Dilated Convolution</a:t>
            </a:r>
            <a:endParaRPr lang="en-IN" dirty="0"/>
          </a:p>
        </p:txBody>
      </p:sp>
      <p:sp>
        <p:nvSpPr>
          <p:cNvPr id="3" name="Content Placeholder 2">
            <a:extLst>
              <a:ext uri="{FF2B5EF4-FFF2-40B4-BE49-F238E27FC236}">
                <a16:creationId xmlns:a16="http://schemas.microsoft.com/office/drawing/2014/main" id="{74F070A7-FC1E-4579-93B6-82C6DC78C8FA}"/>
              </a:ext>
            </a:extLst>
          </p:cNvPr>
          <p:cNvSpPr>
            <a:spLocks noGrp="1"/>
          </p:cNvSpPr>
          <p:nvPr>
            <p:ph idx="1"/>
          </p:nvPr>
        </p:nvSpPr>
        <p:spPr>
          <a:xfrm>
            <a:off x="636104" y="1825625"/>
            <a:ext cx="10717696" cy="4351338"/>
          </a:xfrm>
        </p:spPr>
        <p:txBody>
          <a:bodyPr/>
          <a:lstStyle/>
          <a:p>
            <a:pPr algn="just"/>
            <a:r>
              <a:rPr lang="en-US" dirty="0"/>
              <a:t>Example: In a regular 3x3 convolution, each element of the filter covers a corresponding pixel of the input. With a dilation rate of 2, there is a gap of 1 pixel between the elements of the filter, effectively increasing the receptive field to 5x5 without adding extra parameters.</a:t>
            </a:r>
          </a:p>
          <a:p>
            <a:pPr algn="just"/>
            <a:endParaRPr lang="en-US" dirty="0"/>
          </a:p>
          <a:p>
            <a:pPr algn="just"/>
            <a:r>
              <a:rPr lang="en-US" dirty="0"/>
              <a:t>Use Case: </a:t>
            </a:r>
            <a:r>
              <a:rPr lang="en-US" dirty="0" err="1"/>
              <a:t>DeepLab</a:t>
            </a:r>
            <a:r>
              <a:rPr lang="en-US" dirty="0"/>
              <a:t> models for semantic segmentation use dilated convolutions to capture contextual information at multiple scales, allowing the model to “see” a larger area of the image while preserving computational efficiency.</a:t>
            </a:r>
            <a:endParaRPr lang="en-IN" dirty="0"/>
          </a:p>
        </p:txBody>
      </p:sp>
    </p:spTree>
    <p:extLst>
      <p:ext uri="{BB962C8B-B14F-4D97-AF65-F5344CB8AC3E}">
        <p14:creationId xmlns:p14="http://schemas.microsoft.com/office/powerpoint/2010/main" val="8218088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4D80-40AB-1838-5A07-E0DB1AABB5CF}"/>
              </a:ext>
            </a:extLst>
          </p:cNvPr>
          <p:cNvSpPr>
            <a:spLocks noGrp="1"/>
          </p:cNvSpPr>
          <p:nvPr>
            <p:ph type="title"/>
          </p:nvPr>
        </p:nvSpPr>
        <p:spPr/>
        <p:txBody>
          <a:bodyPr/>
          <a:lstStyle/>
          <a:p>
            <a:r>
              <a:rPr lang="en-IN" dirty="0"/>
              <a:t>4. </a:t>
            </a:r>
            <a:r>
              <a:rPr lang="en-US" dirty="0"/>
              <a:t>Transposed Convolution (Deconvolution)</a:t>
            </a:r>
            <a:endParaRPr lang="en-IN" dirty="0"/>
          </a:p>
        </p:txBody>
      </p:sp>
      <p:sp>
        <p:nvSpPr>
          <p:cNvPr id="3" name="Content Placeholder 2">
            <a:extLst>
              <a:ext uri="{FF2B5EF4-FFF2-40B4-BE49-F238E27FC236}">
                <a16:creationId xmlns:a16="http://schemas.microsoft.com/office/drawing/2014/main" id="{B4D9DE7D-252A-274C-D07F-F21454F23E58}"/>
              </a:ext>
            </a:extLst>
          </p:cNvPr>
          <p:cNvSpPr>
            <a:spLocks noGrp="1"/>
          </p:cNvSpPr>
          <p:nvPr>
            <p:ph idx="1"/>
          </p:nvPr>
        </p:nvSpPr>
        <p:spPr/>
        <p:txBody>
          <a:bodyPr/>
          <a:lstStyle/>
          <a:p>
            <a:pPr algn="just">
              <a:buFont typeface="Arial" panose="020B0604020202020204" pitchFamily="34" charset="0"/>
              <a:buChar char="•"/>
            </a:pPr>
            <a:r>
              <a:rPr lang="en-US" dirty="0"/>
              <a:t>A transposed convolution is used to </a:t>
            </a:r>
            <a:r>
              <a:rPr lang="en-US" b="1" dirty="0"/>
              <a:t>increase</a:t>
            </a:r>
            <a:r>
              <a:rPr lang="en-US" dirty="0"/>
              <a:t> the spatial resolution of the input (up-sampling).</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It reverses the spatial dimensions of the input, which is the opposite of what typical convolution does (down-sampling).</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Commonly used in generative models like GANs or for tasks like image segmentation where you want to reconstruct higher-resolution outputs.</a:t>
            </a:r>
          </a:p>
          <a:p>
            <a:pPr algn="just"/>
            <a:endParaRPr lang="en-IN" dirty="0"/>
          </a:p>
        </p:txBody>
      </p:sp>
    </p:spTree>
    <p:extLst>
      <p:ext uri="{BB962C8B-B14F-4D97-AF65-F5344CB8AC3E}">
        <p14:creationId xmlns:p14="http://schemas.microsoft.com/office/powerpoint/2010/main" val="1419938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1EAA-F2D6-40DE-1DBD-37EE414945DD}"/>
              </a:ext>
            </a:extLst>
          </p:cNvPr>
          <p:cNvSpPr>
            <a:spLocks noGrp="1"/>
          </p:cNvSpPr>
          <p:nvPr>
            <p:ph type="title"/>
          </p:nvPr>
        </p:nvSpPr>
        <p:spPr>
          <a:xfrm>
            <a:off x="838200" y="365126"/>
            <a:ext cx="10515600" cy="698362"/>
          </a:xfrm>
        </p:spPr>
        <p:txBody>
          <a:bodyPr/>
          <a:lstStyle/>
          <a:p>
            <a:pPr algn="ctr"/>
            <a:r>
              <a:rPr lang="en-US" dirty="0"/>
              <a:t>Transposed Convolution</a:t>
            </a:r>
            <a:endParaRPr lang="en-IN" dirty="0"/>
          </a:p>
        </p:txBody>
      </p:sp>
      <p:sp>
        <p:nvSpPr>
          <p:cNvPr id="3" name="Content Placeholder 2">
            <a:extLst>
              <a:ext uri="{FF2B5EF4-FFF2-40B4-BE49-F238E27FC236}">
                <a16:creationId xmlns:a16="http://schemas.microsoft.com/office/drawing/2014/main" id="{885A7DCB-9A4D-0E92-0446-C6E4A88C1F4D}"/>
              </a:ext>
            </a:extLst>
          </p:cNvPr>
          <p:cNvSpPr>
            <a:spLocks noGrp="1"/>
          </p:cNvSpPr>
          <p:nvPr>
            <p:ph idx="1"/>
          </p:nvPr>
        </p:nvSpPr>
        <p:spPr>
          <a:xfrm>
            <a:off x="496957" y="1530626"/>
            <a:ext cx="11111947" cy="4676154"/>
          </a:xfrm>
        </p:spPr>
        <p:txBody>
          <a:bodyPr/>
          <a:lstStyle/>
          <a:p>
            <a:pPr algn="just"/>
            <a:r>
              <a:rPr lang="en-US" dirty="0"/>
              <a:t>Example: In a standard convolution, we reduce the input size. For instance, applying a 3x3 filter to a 5x5 input with a stride of 1 reduces the size to 3x3. A transposed convolution works in the opposite direction, up-sampling the 3x3 feature map back to 5x5.</a:t>
            </a:r>
          </a:p>
          <a:p>
            <a:pPr algn="just"/>
            <a:endParaRPr lang="en-US" dirty="0"/>
          </a:p>
          <a:p>
            <a:pPr algn="just"/>
            <a:r>
              <a:rPr lang="en-US" dirty="0"/>
              <a:t>Use Case: Generative Adversarial Networks (GANs) use transposed convolutions to generate high-resolution images from lower-dimensional latent spaces. For example, in DCGANs, transposed convolutions are used to progressively up-sample a low-resolution latent representation into a full-resolution image.</a:t>
            </a:r>
            <a:endParaRPr lang="en-IN" dirty="0"/>
          </a:p>
        </p:txBody>
      </p:sp>
    </p:spTree>
    <p:extLst>
      <p:ext uri="{BB962C8B-B14F-4D97-AF65-F5344CB8AC3E}">
        <p14:creationId xmlns:p14="http://schemas.microsoft.com/office/powerpoint/2010/main" val="42919845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8B5E-8A3D-1030-0866-87ACAD5CA900}"/>
              </a:ext>
            </a:extLst>
          </p:cNvPr>
          <p:cNvSpPr>
            <a:spLocks noGrp="1"/>
          </p:cNvSpPr>
          <p:nvPr>
            <p:ph type="title"/>
          </p:nvPr>
        </p:nvSpPr>
        <p:spPr>
          <a:xfrm>
            <a:off x="838200" y="365126"/>
            <a:ext cx="10515600" cy="509518"/>
          </a:xfrm>
        </p:spPr>
        <p:txBody>
          <a:bodyPr>
            <a:normAutofit fontScale="90000"/>
          </a:bodyPr>
          <a:lstStyle/>
          <a:p>
            <a:r>
              <a:rPr lang="en-IN" dirty="0"/>
              <a:t>5. Separable Convolutions</a:t>
            </a:r>
          </a:p>
        </p:txBody>
      </p:sp>
      <p:sp>
        <p:nvSpPr>
          <p:cNvPr id="3" name="Content Placeholder 2">
            <a:extLst>
              <a:ext uri="{FF2B5EF4-FFF2-40B4-BE49-F238E27FC236}">
                <a16:creationId xmlns:a16="http://schemas.microsoft.com/office/drawing/2014/main" id="{7234D679-8993-16D4-4031-23A7BD1E2B6E}"/>
              </a:ext>
            </a:extLst>
          </p:cNvPr>
          <p:cNvSpPr>
            <a:spLocks noGrp="1"/>
          </p:cNvSpPr>
          <p:nvPr>
            <p:ph idx="1"/>
          </p:nvPr>
        </p:nvSpPr>
        <p:spPr>
          <a:xfrm>
            <a:off x="838200" y="1103243"/>
            <a:ext cx="10515600" cy="5073720"/>
          </a:xfrm>
        </p:spPr>
        <p:txBody>
          <a:bodyPr>
            <a:normAutofit/>
          </a:bodyPr>
          <a:lstStyle/>
          <a:p>
            <a:pPr algn="just"/>
            <a:r>
              <a:rPr lang="en-US" sz="2400" b="1" dirty="0"/>
              <a:t>Spatially Separable Convolution: </a:t>
            </a:r>
          </a:p>
          <a:p>
            <a:pPr lvl="1" algn="just"/>
            <a:r>
              <a:rPr lang="en-US" dirty="0"/>
              <a:t>A standard convolution filter is broken down into two smaller filters. </a:t>
            </a:r>
          </a:p>
          <a:p>
            <a:pPr lvl="1" algn="just"/>
            <a:r>
              <a:rPr lang="en-US" dirty="0"/>
              <a:t>For example, a 3x3 filter might be split into a 3x1 filter followed by a 1x3 filter, reducing computation.</a:t>
            </a:r>
          </a:p>
          <a:p>
            <a:pPr algn="just"/>
            <a:endParaRPr lang="en-US" sz="2400" dirty="0"/>
          </a:p>
          <a:p>
            <a:pPr algn="just"/>
            <a:r>
              <a:rPr lang="en-US" sz="2400" b="1" dirty="0"/>
              <a:t>Depth-wise Separable Convolution: </a:t>
            </a:r>
          </a:p>
          <a:p>
            <a:pPr lvl="1" algn="just"/>
            <a:r>
              <a:rPr lang="en-US" dirty="0"/>
              <a:t>This type of convolution factorizes a standard convolution into two steps:</a:t>
            </a:r>
          </a:p>
          <a:p>
            <a:pPr lvl="2" algn="just"/>
            <a:r>
              <a:rPr lang="en-US" sz="2400" dirty="0"/>
              <a:t>Depth-wise convolution: Applies a separate filter to each input channel.</a:t>
            </a:r>
          </a:p>
          <a:p>
            <a:pPr lvl="2" algn="just"/>
            <a:r>
              <a:rPr lang="en-US" sz="2400" dirty="0"/>
              <a:t>Pointwise convolution: Combines the outputs of the depth-wise convolution using a 1x1 convolution. This is computationally efficient and widely used in architectures like </a:t>
            </a:r>
            <a:r>
              <a:rPr lang="en-US" sz="2400" dirty="0" err="1"/>
              <a:t>MobileNets</a:t>
            </a:r>
            <a:r>
              <a:rPr lang="en-US" sz="2400" dirty="0"/>
              <a:t>.</a:t>
            </a:r>
            <a:endParaRPr lang="en-IN" sz="2400" dirty="0"/>
          </a:p>
        </p:txBody>
      </p:sp>
    </p:spTree>
    <p:extLst>
      <p:ext uri="{BB962C8B-B14F-4D97-AF65-F5344CB8AC3E}">
        <p14:creationId xmlns:p14="http://schemas.microsoft.com/office/powerpoint/2010/main" val="13272820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B7D7-CA43-3256-7385-78E23F4B837E}"/>
              </a:ext>
            </a:extLst>
          </p:cNvPr>
          <p:cNvSpPr>
            <a:spLocks noGrp="1"/>
          </p:cNvSpPr>
          <p:nvPr>
            <p:ph type="title"/>
          </p:nvPr>
        </p:nvSpPr>
        <p:spPr/>
        <p:txBody>
          <a:bodyPr/>
          <a:lstStyle/>
          <a:p>
            <a:pPr algn="ctr"/>
            <a:r>
              <a:rPr lang="en-IN" dirty="0"/>
              <a:t>Separable Convolutions</a:t>
            </a:r>
          </a:p>
        </p:txBody>
      </p:sp>
      <p:sp>
        <p:nvSpPr>
          <p:cNvPr id="3" name="Content Placeholder 2">
            <a:extLst>
              <a:ext uri="{FF2B5EF4-FFF2-40B4-BE49-F238E27FC236}">
                <a16:creationId xmlns:a16="http://schemas.microsoft.com/office/drawing/2014/main" id="{451D6B22-D620-3FD4-4A88-DCECB10742FC}"/>
              </a:ext>
            </a:extLst>
          </p:cNvPr>
          <p:cNvSpPr>
            <a:spLocks noGrp="1"/>
          </p:cNvSpPr>
          <p:nvPr>
            <p:ph idx="1"/>
          </p:nvPr>
        </p:nvSpPr>
        <p:spPr>
          <a:xfrm>
            <a:off x="636104" y="1825625"/>
            <a:ext cx="10717696" cy="4351338"/>
          </a:xfrm>
        </p:spPr>
        <p:txBody>
          <a:bodyPr/>
          <a:lstStyle/>
          <a:p>
            <a:pPr algn="just"/>
            <a:r>
              <a:rPr lang="en-US" dirty="0"/>
              <a:t>Example: A 3x3 filter over an RGB image (3 channels) typically requires 9 multiplications per channel for each position. In depth-wise separable convolutions, the 3x3 filter is first applied separately to each channel (reducing computation) and then combined via a 1x1 pointwise convolution.</a:t>
            </a:r>
          </a:p>
          <a:p>
            <a:pPr algn="just"/>
            <a:endParaRPr lang="en-US" dirty="0"/>
          </a:p>
          <a:p>
            <a:pPr algn="just"/>
            <a:r>
              <a:rPr lang="en-US" dirty="0"/>
              <a:t>Use Case: </a:t>
            </a:r>
            <a:r>
              <a:rPr lang="en-US" dirty="0" err="1"/>
              <a:t>MobileNet</a:t>
            </a:r>
            <a:r>
              <a:rPr lang="en-US" dirty="0"/>
              <a:t> utilizes depth-wise separable convolutions to build highly efficient models suitable for mobile and embedded applications by reducing the number of parameters and computations.</a:t>
            </a:r>
            <a:endParaRPr lang="en-IN" dirty="0"/>
          </a:p>
        </p:txBody>
      </p:sp>
    </p:spTree>
    <p:extLst>
      <p:ext uri="{BB962C8B-B14F-4D97-AF65-F5344CB8AC3E}">
        <p14:creationId xmlns:p14="http://schemas.microsoft.com/office/powerpoint/2010/main" val="11881031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817FD-588E-3440-C916-CFD7CC937AB4}"/>
              </a:ext>
            </a:extLst>
          </p:cNvPr>
          <p:cNvSpPr>
            <a:spLocks noGrp="1"/>
          </p:cNvSpPr>
          <p:nvPr>
            <p:ph type="title"/>
          </p:nvPr>
        </p:nvSpPr>
        <p:spPr/>
        <p:txBody>
          <a:bodyPr/>
          <a:lstStyle/>
          <a:p>
            <a:r>
              <a:rPr lang="en-IN" dirty="0"/>
              <a:t>6. </a:t>
            </a:r>
            <a:r>
              <a:rPr lang="en-US" dirty="0"/>
              <a:t>Grouped Convolution</a:t>
            </a:r>
            <a:endParaRPr lang="en-IN" dirty="0"/>
          </a:p>
        </p:txBody>
      </p:sp>
      <p:sp>
        <p:nvSpPr>
          <p:cNvPr id="3" name="Content Placeholder 2">
            <a:extLst>
              <a:ext uri="{FF2B5EF4-FFF2-40B4-BE49-F238E27FC236}">
                <a16:creationId xmlns:a16="http://schemas.microsoft.com/office/drawing/2014/main" id="{04389C62-7146-66C3-B2EB-2D7169F5F8F1}"/>
              </a:ext>
            </a:extLst>
          </p:cNvPr>
          <p:cNvSpPr>
            <a:spLocks noGrp="1"/>
          </p:cNvSpPr>
          <p:nvPr>
            <p:ph idx="1"/>
          </p:nvPr>
        </p:nvSpPr>
        <p:spPr/>
        <p:txBody>
          <a:bodyPr/>
          <a:lstStyle/>
          <a:p>
            <a:pPr algn="just"/>
            <a:r>
              <a:rPr lang="en-US" dirty="0"/>
              <a:t>Instead of applying a convolution across all input channels, the channels are divided into groups, and convolution is applied within each group.</a:t>
            </a:r>
          </a:p>
          <a:p>
            <a:pPr algn="just"/>
            <a:endParaRPr lang="en-US" dirty="0"/>
          </a:p>
          <a:p>
            <a:pPr algn="just"/>
            <a:r>
              <a:rPr lang="en-US" dirty="0"/>
              <a:t>This reduces computation and can be used to build more efficient networks.</a:t>
            </a:r>
          </a:p>
          <a:p>
            <a:pPr algn="just"/>
            <a:endParaRPr lang="en-US" dirty="0"/>
          </a:p>
          <a:p>
            <a:pPr algn="just"/>
            <a:r>
              <a:rPr lang="en-US" dirty="0"/>
              <a:t>Grouped convolution is a key component of architectures like </a:t>
            </a:r>
            <a:r>
              <a:rPr lang="en-US" dirty="0" err="1"/>
              <a:t>AlexNet</a:t>
            </a:r>
            <a:r>
              <a:rPr lang="en-US" dirty="0"/>
              <a:t> and </a:t>
            </a:r>
            <a:r>
              <a:rPr lang="en-US" dirty="0" err="1"/>
              <a:t>ResNeXt</a:t>
            </a:r>
            <a:r>
              <a:rPr lang="en-US" dirty="0"/>
              <a:t>.</a:t>
            </a:r>
            <a:endParaRPr lang="en-IN" dirty="0"/>
          </a:p>
        </p:txBody>
      </p:sp>
    </p:spTree>
    <p:extLst>
      <p:ext uri="{BB962C8B-B14F-4D97-AF65-F5344CB8AC3E}">
        <p14:creationId xmlns:p14="http://schemas.microsoft.com/office/powerpoint/2010/main" val="12942859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C3FA-B9F1-4E02-F649-F48D4804571D}"/>
              </a:ext>
            </a:extLst>
          </p:cNvPr>
          <p:cNvSpPr>
            <a:spLocks noGrp="1"/>
          </p:cNvSpPr>
          <p:nvPr>
            <p:ph type="title"/>
          </p:nvPr>
        </p:nvSpPr>
        <p:spPr/>
        <p:txBody>
          <a:bodyPr/>
          <a:lstStyle/>
          <a:p>
            <a:pPr algn="ctr"/>
            <a:r>
              <a:rPr lang="en-US" dirty="0"/>
              <a:t>Grouped Convolution</a:t>
            </a:r>
            <a:endParaRPr lang="en-IN" dirty="0"/>
          </a:p>
        </p:txBody>
      </p:sp>
      <p:sp>
        <p:nvSpPr>
          <p:cNvPr id="3" name="Content Placeholder 2">
            <a:extLst>
              <a:ext uri="{FF2B5EF4-FFF2-40B4-BE49-F238E27FC236}">
                <a16:creationId xmlns:a16="http://schemas.microsoft.com/office/drawing/2014/main" id="{D4F6BC3D-9A26-E9DA-E25C-D254D3D6FFCD}"/>
              </a:ext>
            </a:extLst>
          </p:cNvPr>
          <p:cNvSpPr>
            <a:spLocks noGrp="1"/>
          </p:cNvSpPr>
          <p:nvPr>
            <p:ph idx="1"/>
          </p:nvPr>
        </p:nvSpPr>
        <p:spPr>
          <a:xfrm>
            <a:off x="838200" y="1610139"/>
            <a:ext cx="10515600" cy="4566824"/>
          </a:xfrm>
        </p:spPr>
        <p:txBody>
          <a:bodyPr/>
          <a:lstStyle/>
          <a:p>
            <a:pPr algn="just"/>
            <a:r>
              <a:rPr lang="en-US" dirty="0"/>
              <a:t>Example: In a standard convolution, if we have 64 input channels and apply a 3x3 filter, the filter spans all 64 channels. In grouped convolutions, the input channels are split into groups (e.g., 2 groups of 32 channels each), and separate filters are applied to each group. This reduces the number of connections and parameters.</a:t>
            </a:r>
          </a:p>
          <a:p>
            <a:pPr algn="just"/>
            <a:endParaRPr lang="en-US" dirty="0"/>
          </a:p>
          <a:p>
            <a:pPr algn="just"/>
            <a:r>
              <a:rPr lang="en-US" dirty="0"/>
              <a:t>Use Case: </a:t>
            </a:r>
            <a:r>
              <a:rPr lang="en-US" dirty="0" err="1"/>
              <a:t>AlexNet</a:t>
            </a:r>
            <a:r>
              <a:rPr lang="en-US" dirty="0"/>
              <a:t> uses grouped convolutions to distribute the workload across two GPUs. </a:t>
            </a:r>
            <a:r>
              <a:rPr lang="en-US" dirty="0" err="1"/>
              <a:t>ResNeXt</a:t>
            </a:r>
            <a:r>
              <a:rPr lang="en-US" dirty="0"/>
              <a:t> further develops this idea, using grouped convolutions to increase model capacity efficiently by splitting filters into multiple groups.</a:t>
            </a:r>
            <a:endParaRPr lang="en-IN" dirty="0"/>
          </a:p>
        </p:txBody>
      </p:sp>
    </p:spTree>
    <p:extLst>
      <p:ext uri="{BB962C8B-B14F-4D97-AF65-F5344CB8AC3E}">
        <p14:creationId xmlns:p14="http://schemas.microsoft.com/office/powerpoint/2010/main" val="40324524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D2FF-8343-9F5D-F021-C4679637D5E1}"/>
              </a:ext>
            </a:extLst>
          </p:cNvPr>
          <p:cNvSpPr>
            <a:spLocks noGrp="1"/>
          </p:cNvSpPr>
          <p:nvPr>
            <p:ph type="title"/>
          </p:nvPr>
        </p:nvSpPr>
        <p:spPr>
          <a:xfrm>
            <a:off x="838200" y="2541794"/>
            <a:ext cx="10515600" cy="1325563"/>
          </a:xfrm>
        </p:spPr>
        <p:txBody>
          <a:bodyPr/>
          <a:lstStyle/>
          <a:p>
            <a:pPr algn="ctr"/>
            <a:r>
              <a:rPr lang="en-IN" dirty="0"/>
              <a:t>Structured Outputs</a:t>
            </a:r>
          </a:p>
        </p:txBody>
      </p:sp>
    </p:spTree>
    <p:extLst>
      <p:ext uri="{BB962C8B-B14F-4D97-AF65-F5344CB8AC3E}">
        <p14:creationId xmlns:p14="http://schemas.microsoft.com/office/powerpoint/2010/main" val="113655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D5E13-2D6C-7777-F822-B2410A6BF729}"/>
              </a:ext>
            </a:extLst>
          </p:cNvPr>
          <p:cNvSpPr>
            <a:spLocks noGrp="1"/>
          </p:cNvSpPr>
          <p:nvPr>
            <p:ph idx="1"/>
          </p:nvPr>
        </p:nvSpPr>
        <p:spPr>
          <a:xfrm>
            <a:off x="838200" y="785191"/>
            <a:ext cx="10515600" cy="5391772"/>
          </a:xfrm>
        </p:spPr>
        <p:txBody>
          <a:bodyPr>
            <a:normAutofit/>
          </a:bodyPr>
          <a:lstStyle/>
          <a:p>
            <a:r>
              <a:rPr lang="en-US" dirty="0"/>
              <a:t>Structured outputs in Convolutional Neural Networks (CNNs) refer to outputs that have a specific format or structure, often involving complex relationships between output elements rather than producing a single scalar or a simple label. </a:t>
            </a:r>
          </a:p>
          <a:p>
            <a:endParaRPr lang="en-US" dirty="0"/>
          </a:p>
          <a:p>
            <a:r>
              <a:rPr lang="en-US" dirty="0"/>
              <a:t>This is essential for tasks where the output needs to convey more information than just a single classification.</a:t>
            </a:r>
          </a:p>
          <a:p>
            <a:endParaRPr lang="en-US" dirty="0"/>
          </a:p>
          <a:p>
            <a:r>
              <a:rPr lang="en-IN" dirty="0"/>
              <a:t>Approaches to Structured Output:</a:t>
            </a:r>
          </a:p>
          <a:p>
            <a:pPr lvl="1"/>
            <a:r>
              <a:rPr lang="en-US" dirty="0"/>
              <a:t>Multi-task learning.</a:t>
            </a:r>
          </a:p>
          <a:p>
            <a:pPr lvl="1"/>
            <a:r>
              <a:rPr lang="en-US" dirty="0"/>
              <a:t>Region Proposal Networks (RPN)</a:t>
            </a:r>
          </a:p>
          <a:p>
            <a:pPr lvl="1"/>
            <a:r>
              <a:rPr lang="en-US" dirty="0"/>
              <a:t>Conditional Random Fields (CRFs)</a:t>
            </a:r>
            <a:endParaRPr lang="en-IN" dirty="0"/>
          </a:p>
        </p:txBody>
      </p:sp>
    </p:spTree>
    <p:extLst>
      <p:ext uri="{BB962C8B-B14F-4D97-AF65-F5344CB8AC3E}">
        <p14:creationId xmlns:p14="http://schemas.microsoft.com/office/powerpoint/2010/main" val="28398419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5BC6B-843C-8CDC-1665-D65DB3E045FE}"/>
              </a:ext>
            </a:extLst>
          </p:cNvPr>
          <p:cNvSpPr>
            <a:spLocks noGrp="1"/>
          </p:cNvSpPr>
          <p:nvPr>
            <p:ph idx="1"/>
          </p:nvPr>
        </p:nvSpPr>
        <p:spPr>
          <a:xfrm>
            <a:off x="838200" y="824948"/>
            <a:ext cx="10515600" cy="5352015"/>
          </a:xfrm>
        </p:spPr>
        <p:txBody>
          <a:bodyPr>
            <a:normAutofit lnSpcReduction="10000"/>
          </a:bodyPr>
          <a:lstStyle/>
          <a:p>
            <a:pPr algn="just"/>
            <a:r>
              <a:rPr lang="en-US" sz="4000" dirty="0">
                <a:highlight>
                  <a:srgbClr val="FFFF00"/>
                </a:highlight>
              </a:rPr>
              <a:t>Multi-task learning</a:t>
            </a:r>
            <a:r>
              <a:rPr lang="en-US" sz="4000" dirty="0"/>
              <a:t>: </a:t>
            </a:r>
          </a:p>
          <a:p>
            <a:pPr lvl="1" algn="just"/>
            <a:r>
              <a:rPr lang="en-US" sz="3600" dirty="0"/>
              <a:t>A single model is trained to predict multiple outputs simultaneously.</a:t>
            </a:r>
          </a:p>
          <a:p>
            <a:pPr algn="just"/>
            <a:r>
              <a:rPr lang="en-US" sz="4000" dirty="0">
                <a:highlight>
                  <a:srgbClr val="FFFF00"/>
                </a:highlight>
              </a:rPr>
              <a:t>Region Proposal Networks (RPN): </a:t>
            </a:r>
          </a:p>
          <a:p>
            <a:pPr lvl="1" algn="just"/>
            <a:r>
              <a:rPr lang="en-US" sz="3600" dirty="0"/>
              <a:t>Used in object detection, they generate possible regions where objects could be located.</a:t>
            </a:r>
          </a:p>
          <a:p>
            <a:pPr algn="just"/>
            <a:r>
              <a:rPr lang="en-US" sz="4000" dirty="0">
                <a:highlight>
                  <a:srgbClr val="FFFF00"/>
                </a:highlight>
              </a:rPr>
              <a:t>Conditional Random Fields (CRFs):</a:t>
            </a:r>
          </a:p>
          <a:p>
            <a:pPr lvl="1" algn="just"/>
            <a:r>
              <a:rPr lang="en-US" sz="3600" dirty="0"/>
              <a:t> These can be combined with deep networks (e.g., for segmentation tasks) to model the dependencies between output variables.</a:t>
            </a:r>
            <a:endParaRPr lang="en-IN" sz="3600" dirty="0"/>
          </a:p>
        </p:txBody>
      </p:sp>
    </p:spTree>
    <p:extLst>
      <p:ext uri="{BB962C8B-B14F-4D97-AF65-F5344CB8AC3E}">
        <p14:creationId xmlns:p14="http://schemas.microsoft.com/office/powerpoint/2010/main" val="23048130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6D32-5C23-93FA-42F3-9B62BDC935D9}"/>
              </a:ext>
            </a:extLst>
          </p:cNvPr>
          <p:cNvSpPr>
            <a:spLocks noGrp="1"/>
          </p:cNvSpPr>
          <p:nvPr>
            <p:ph type="title"/>
          </p:nvPr>
        </p:nvSpPr>
        <p:spPr/>
        <p:txBody>
          <a:bodyPr/>
          <a:lstStyle/>
          <a:p>
            <a:r>
              <a:rPr lang="en-IN" dirty="0"/>
              <a:t>Structured Output : Example 1</a:t>
            </a:r>
          </a:p>
        </p:txBody>
      </p:sp>
      <p:sp>
        <p:nvSpPr>
          <p:cNvPr id="3" name="Content Placeholder 2">
            <a:extLst>
              <a:ext uri="{FF2B5EF4-FFF2-40B4-BE49-F238E27FC236}">
                <a16:creationId xmlns:a16="http://schemas.microsoft.com/office/drawing/2014/main" id="{85B2E1B4-69B2-56FB-4506-F448A7C4B236}"/>
              </a:ext>
            </a:extLst>
          </p:cNvPr>
          <p:cNvSpPr>
            <a:spLocks noGrp="1"/>
          </p:cNvSpPr>
          <p:nvPr>
            <p:ph idx="1"/>
          </p:nvPr>
        </p:nvSpPr>
        <p:spPr/>
        <p:txBody>
          <a:bodyPr>
            <a:normAutofit lnSpcReduction="10000"/>
          </a:bodyPr>
          <a:lstStyle/>
          <a:p>
            <a:r>
              <a:rPr lang="en-US" dirty="0"/>
              <a:t>Image Segmentation:</a:t>
            </a:r>
          </a:p>
          <a:p>
            <a:pPr lvl="1"/>
            <a:endParaRPr lang="en-US" sz="2800" dirty="0"/>
          </a:p>
          <a:p>
            <a:pPr lvl="1"/>
            <a:r>
              <a:rPr lang="en-US" sz="2800" dirty="0"/>
              <a:t>Task: Classifying each pixel in an image into different categories (e.g., background, car, road).</a:t>
            </a:r>
          </a:p>
          <a:p>
            <a:pPr lvl="1"/>
            <a:endParaRPr lang="en-US" sz="2800" dirty="0"/>
          </a:p>
          <a:p>
            <a:pPr lvl="1"/>
            <a:r>
              <a:rPr lang="en-US" sz="2800" dirty="0"/>
              <a:t>Output: A 2D grid where each element corresponds to the class label of a pixel. </a:t>
            </a:r>
          </a:p>
          <a:p>
            <a:pPr lvl="2"/>
            <a:r>
              <a:rPr lang="en-US" sz="2800" dirty="0"/>
              <a:t>For instance, a segmentation output for a 256x256 image will be a 256x256 matrix with class labels for each pixel.</a:t>
            </a:r>
          </a:p>
          <a:p>
            <a:pPr lvl="2"/>
            <a:r>
              <a:rPr lang="en-US" sz="2800" dirty="0"/>
              <a:t>Image segmentation example output where each pixel is labeled with a class.</a:t>
            </a:r>
            <a:endParaRPr lang="en-IN" sz="2800" dirty="0"/>
          </a:p>
        </p:txBody>
      </p:sp>
    </p:spTree>
    <p:extLst>
      <p:ext uri="{BB962C8B-B14F-4D97-AF65-F5344CB8AC3E}">
        <p14:creationId xmlns:p14="http://schemas.microsoft.com/office/powerpoint/2010/main" val="25433554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6D32-5C23-93FA-42F3-9B62BDC935D9}"/>
              </a:ext>
            </a:extLst>
          </p:cNvPr>
          <p:cNvSpPr>
            <a:spLocks noGrp="1"/>
          </p:cNvSpPr>
          <p:nvPr>
            <p:ph type="title"/>
          </p:nvPr>
        </p:nvSpPr>
        <p:spPr/>
        <p:txBody>
          <a:bodyPr/>
          <a:lstStyle/>
          <a:p>
            <a:r>
              <a:rPr lang="en-IN" dirty="0"/>
              <a:t>Structured Output : Example 2</a:t>
            </a:r>
          </a:p>
        </p:txBody>
      </p:sp>
      <p:sp>
        <p:nvSpPr>
          <p:cNvPr id="3" name="Content Placeholder 2">
            <a:extLst>
              <a:ext uri="{FF2B5EF4-FFF2-40B4-BE49-F238E27FC236}">
                <a16:creationId xmlns:a16="http://schemas.microsoft.com/office/drawing/2014/main" id="{85B2E1B4-69B2-56FB-4506-F448A7C4B236}"/>
              </a:ext>
            </a:extLst>
          </p:cNvPr>
          <p:cNvSpPr>
            <a:spLocks noGrp="1"/>
          </p:cNvSpPr>
          <p:nvPr>
            <p:ph idx="1"/>
          </p:nvPr>
        </p:nvSpPr>
        <p:spPr>
          <a:xfrm>
            <a:off x="927652" y="1690688"/>
            <a:ext cx="10515600" cy="4351338"/>
          </a:xfrm>
        </p:spPr>
        <p:txBody>
          <a:bodyPr>
            <a:noAutofit/>
          </a:bodyPr>
          <a:lstStyle/>
          <a:p>
            <a:pPr algn="just"/>
            <a:r>
              <a:rPr lang="en-US" dirty="0"/>
              <a:t>Object Detection:</a:t>
            </a:r>
          </a:p>
          <a:p>
            <a:pPr lvl="1" algn="just"/>
            <a:endParaRPr lang="en-US" sz="2800" dirty="0"/>
          </a:p>
          <a:p>
            <a:pPr lvl="1" algn="just"/>
            <a:r>
              <a:rPr lang="en-US" sz="2800" dirty="0"/>
              <a:t>Task: Detecting and localizing multiple objects within an image.</a:t>
            </a:r>
          </a:p>
          <a:p>
            <a:pPr lvl="1" algn="just"/>
            <a:endParaRPr lang="en-US" sz="2800" dirty="0"/>
          </a:p>
          <a:p>
            <a:pPr lvl="1" algn="just"/>
            <a:r>
              <a:rPr lang="en-US" sz="2800" dirty="0"/>
              <a:t>Output: For each detected object, the output includes bounding box coordinates (x, y, width, height) and the corresponding class label (e.g., car, pedestrian). </a:t>
            </a:r>
          </a:p>
          <a:p>
            <a:pPr lvl="2" algn="just"/>
            <a:r>
              <a:rPr lang="en-US" sz="2800" dirty="0"/>
              <a:t>This might result in a structured output like a list of bounding boxes and labels.</a:t>
            </a:r>
          </a:p>
          <a:p>
            <a:pPr lvl="2" algn="just"/>
            <a:r>
              <a:rPr lang="en-US" sz="2800" dirty="0"/>
              <a:t>Object detection output example with bounding boxes and class labels.</a:t>
            </a:r>
            <a:endParaRPr lang="en-IN" sz="2800" dirty="0"/>
          </a:p>
        </p:txBody>
      </p:sp>
    </p:spTree>
    <p:extLst>
      <p:ext uri="{BB962C8B-B14F-4D97-AF65-F5344CB8AC3E}">
        <p14:creationId xmlns:p14="http://schemas.microsoft.com/office/powerpoint/2010/main" val="7428460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6D32-5C23-93FA-42F3-9B62BDC935D9}"/>
              </a:ext>
            </a:extLst>
          </p:cNvPr>
          <p:cNvSpPr>
            <a:spLocks noGrp="1"/>
          </p:cNvSpPr>
          <p:nvPr>
            <p:ph type="title"/>
          </p:nvPr>
        </p:nvSpPr>
        <p:spPr/>
        <p:txBody>
          <a:bodyPr/>
          <a:lstStyle/>
          <a:p>
            <a:r>
              <a:rPr lang="en-IN" dirty="0"/>
              <a:t>Structured Output : Example 3</a:t>
            </a:r>
          </a:p>
        </p:txBody>
      </p:sp>
      <p:sp>
        <p:nvSpPr>
          <p:cNvPr id="3" name="Content Placeholder 2">
            <a:extLst>
              <a:ext uri="{FF2B5EF4-FFF2-40B4-BE49-F238E27FC236}">
                <a16:creationId xmlns:a16="http://schemas.microsoft.com/office/drawing/2014/main" id="{85B2E1B4-69B2-56FB-4506-F448A7C4B236}"/>
              </a:ext>
            </a:extLst>
          </p:cNvPr>
          <p:cNvSpPr>
            <a:spLocks noGrp="1"/>
          </p:cNvSpPr>
          <p:nvPr>
            <p:ph idx="1"/>
          </p:nvPr>
        </p:nvSpPr>
        <p:spPr/>
        <p:txBody>
          <a:bodyPr>
            <a:normAutofit fontScale="92500" lnSpcReduction="10000"/>
          </a:bodyPr>
          <a:lstStyle/>
          <a:p>
            <a:pPr algn="just"/>
            <a:r>
              <a:rPr lang="en-US" sz="3200" dirty="0" err="1"/>
              <a:t>Keypoint</a:t>
            </a:r>
            <a:r>
              <a:rPr lang="en-US" sz="3200" dirty="0"/>
              <a:t> Detection:</a:t>
            </a:r>
          </a:p>
          <a:p>
            <a:pPr lvl="1" algn="just"/>
            <a:r>
              <a:rPr lang="en-US" sz="3200" dirty="0"/>
              <a:t>Task: Identifying specific points of interest in images (e.g., human pose estimation).</a:t>
            </a:r>
          </a:p>
          <a:p>
            <a:pPr lvl="1" algn="just"/>
            <a:endParaRPr lang="en-US" sz="3200" dirty="0"/>
          </a:p>
          <a:p>
            <a:pPr lvl="1" algn="just"/>
            <a:r>
              <a:rPr lang="en-US" sz="3200" dirty="0"/>
              <a:t>Output: A set of </a:t>
            </a:r>
            <a:r>
              <a:rPr lang="en-US" sz="3200" dirty="0" err="1"/>
              <a:t>keypoint</a:t>
            </a:r>
            <a:r>
              <a:rPr lang="en-US" sz="3200" dirty="0"/>
              <a:t> coordinates (x, y) corresponding to different parts of an object (e.g., joints of a human body). </a:t>
            </a:r>
          </a:p>
          <a:p>
            <a:pPr lvl="2" algn="just"/>
            <a:r>
              <a:rPr lang="en-US" sz="3200" dirty="0"/>
              <a:t>The output structure typically includes multiple </a:t>
            </a:r>
            <a:r>
              <a:rPr lang="en-US" sz="3200" dirty="0" err="1"/>
              <a:t>keypoints</a:t>
            </a:r>
            <a:r>
              <a:rPr lang="en-US" sz="3200" dirty="0"/>
              <a:t> and can also indicate confidence scores for each </a:t>
            </a:r>
            <a:r>
              <a:rPr lang="en-US" sz="3200" dirty="0" err="1"/>
              <a:t>keypoint</a:t>
            </a:r>
            <a:r>
              <a:rPr lang="en-US" sz="3200" dirty="0"/>
              <a:t>.</a:t>
            </a:r>
          </a:p>
          <a:p>
            <a:pPr lvl="2" algn="just"/>
            <a:r>
              <a:rPr lang="en-US" sz="3200" dirty="0" err="1"/>
              <a:t>Keypoint</a:t>
            </a:r>
            <a:r>
              <a:rPr lang="en-US" sz="3200" dirty="0"/>
              <a:t> detection output showing </a:t>
            </a:r>
            <a:r>
              <a:rPr lang="en-US" sz="3200" dirty="0" err="1"/>
              <a:t>keypoints</a:t>
            </a:r>
            <a:r>
              <a:rPr lang="en-US" sz="3200" dirty="0"/>
              <a:t> for human pose estimation.</a:t>
            </a:r>
            <a:endParaRPr lang="en-IN" sz="3200" dirty="0"/>
          </a:p>
        </p:txBody>
      </p:sp>
    </p:spTree>
    <p:extLst>
      <p:ext uri="{BB962C8B-B14F-4D97-AF65-F5344CB8AC3E}">
        <p14:creationId xmlns:p14="http://schemas.microsoft.com/office/powerpoint/2010/main" val="29019733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6D32-5C23-93FA-42F3-9B62BDC935D9}"/>
              </a:ext>
            </a:extLst>
          </p:cNvPr>
          <p:cNvSpPr>
            <a:spLocks noGrp="1"/>
          </p:cNvSpPr>
          <p:nvPr>
            <p:ph type="title"/>
          </p:nvPr>
        </p:nvSpPr>
        <p:spPr/>
        <p:txBody>
          <a:bodyPr/>
          <a:lstStyle/>
          <a:p>
            <a:r>
              <a:rPr lang="en-IN" dirty="0"/>
              <a:t>Structured Output : Example 4</a:t>
            </a:r>
          </a:p>
        </p:txBody>
      </p:sp>
      <p:sp>
        <p:nvSpPr>
          <p:cNvPr id="3" name="Content Placeholder 2">
            <a:extLst>
              <a:ext uri="{FF2B5EF4-FFF2-40B4-BE49-F238E27FC236}">
                <a16:creationId xmlns:a16="http://schemas.microsoft.com/office/drawing/2014/main" id="{85B2E1B4-69B2-56FB-4506-F448A7C4B236}"/>
              </a:ext>
            </a:extLst>
          </p:cNvPr>
          <p:cNvSpPr>
            <a:spLocks noGrp="1"/>
          </p:cNvSpPr>
          <p:nvPr>
            <p:ph idx="1"/>
          </p:nvPr>
        </p:nvSpPr>
        <p:spPr/>
        <p:txBody>
          <a:bodyPr>
            <a:normAutofit fontScale="92500"/>
          </a:bodyPr>
          <a:lstStyle/>
          <a:p>
            <a:pPr algn="just"/>
            <a:r>
              <a:rPr lang="en-US" sz="3600" dirty="0"/>
              <a:t>Sequence-to-Sequence Tasks:</a:t>
            </a:r>
          </a:p>
          <a:p>
            <a:pPr algn="just"/>
            <a:endParaRPr lang="en-US" sz="3600" dirty="0"/>
          </a:p>
          <a:p>
            <a:pPr lvl="1" algn="just"/>
            <a:r>
              <a:rPr lang="en-US" sz="3200" dirty="0"/>
              <a:t>Task: Tasks like machine translation or text summarization, where the model outputs a sequence based on an input sequence.</a:t>
            </a:r>
          </a:p>
          <a:p>
            <a:pPr algn="just"/>
            <a:endParaRPr lang="en-US" sz="3600" dirty="0"/>
          </a:p>
          <a:p>
            <a:pPr lvl="1" algn="just"/>
            <a:r>
              <a:rPr lang="en-US" sz="3200" dirty="0"/>
              <a:t>Output: For example, translating a sentence in English to French, where the output is a sequence of words in the target language, each possibly influenced by previous outputs.</a:t>
            </a:r>
            <a:endParaRPr lang="en-IN" sz="3200" dirty="0"/>
          </a:p>
        </p:txBody>
      </p:sp>
    </p:spTree>
    <p:extLst>
      <p:ext uri="{BB962C8B-B14F-4D97-AF65-F5344CB8AC3E}">
        <p14:creationId xmlns:p14="http://schemas.microsoft.com/office/powerpoint/2010/main" val="22484887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A5C4-BF39-A3DB-ED16-790B30B465E0}"/>
              </a:ext>
            </a:extLst>
          </p:cNvPr>
          <p:cNvSpPr>
            <a:spLocks noGrp="1"/>
          </p:cNvSpPr>
          <p:nvPr>
            <p:ph type="title"/>
          </p:nvPr>
        </p:nvSpPr>
        <p:spPr>
          <a:xfrm>
            <a:off x="748747" y="2511977"/>
            <a:ext cx="10515600" cy="1325563"/>
          </a:xfrm>
        </p:spPr>
        <p:txBody>
          <a:bodyPr/>
          <a:lstStyle/>
          <a:p>
            <a:pPr algn="ctr"/>
            <a:r>
              <a:rPr lang="en-IN" dirty="0"/>
              <a:t>DATA TYPES</a:t>
            </a:r>
          </a:p>
        </p:txBody>
      </p:sp>
    </p:spTree>
    <p:extLst>
      <p:ext uri="{BB962C8B-B14F-4D97-AF65-F5344CB8AC3E}">
        <p14:creationId xmlns:p14="http://schemas.microsoft.com/office/powerpoint/2010/main" val="842321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A80692-B0CE-B63E-ACEA-F6E33BE2BA7D}"/>
              </a:ext>
            </a:extLst>
          </p:cNvPr>
          <p:cNvSpPr>
            <a:spLocks noGrp="1"/>
          </p:cNvSpPr>
          <p:nvPr>
            <p:ph idx="1"/>
          </p:nvPr>
        </p:nvSpPr>
        <p:spPr>
          <a:xfrm>
            <a:off x="496957" y="208722"/>
            <a:ext cx="10856843" cy="6311348"/>
          </a:xfrm>
        </p:spPr>
        <p:txBody>
          <a:bodyPr>
            <a:normAutofit lnSpcReduction="10000"/>
          </a:bodyPr>
          <a:lstStyle/>
          <a:p>
            <a:r>
              <a:rPr lang="en-US" dirty="0"/>
              <a:t>Convolutional networks are typically applied to grid-like data (e.g., images), but the principles can extend to other types of data:</a:t>
            </a:r>
          </a:p>
          <a:p>
            <a:endParaRPr lang="en-US" dirty="0"/>
          </a:p>
          <a:p>
            <a:r>
              <a:rPr lang="en-US" dirty="0">
                <a:highlight>
                  <a:srgbClr val="FFFF00"/>
                </a:highlight>
              </a:rPr>
              <a:t>Image Data (2D grids): </a:t>
            </a:r>
            <a:r>
              <a:rPr lang="en-US" dirty="0"/>
              <a:t>The most common application of </a:t>
            </a:r>
            <a:r>
              <a:rPr lang="en-US" dirty="0" err="1"/>
              <a:t>ConvNets</a:t>
            </a:r>
            <a:r>
              <a:rPr lang="en-US" dirty="0"/>
              <a:t>, where the input data is a 2D grid of pixel values (height x width).</a:t>
            </a:r>
          </a:p>
          <a:p>
            <a:endParaRPr lang="en-US" dirty="0"/>
          </a:p>
          <a:p>
            <a:r>
              <a:rPr lang="en-US" dirty="0">
                <a:highlight>
                  <a:srgbClr val="FFFF00"/>
                </a:highlight>
              </a:rPr>
              <a:t>Video Data (3D grids): </a:t>
            </a:r>
            <a:r>
              <a:rPr lang="en-US" dirty="0"/>
              <a:t>Video can be considered a sequence of images, or a 3D grid of data (height x width x time). </a:t>
            </a:r>
            <a:r>
              <a:rPr lang="en-US" dirty="0" err="1"/>
              <a:t>ConvNets</a:t>
            </a:r>
            <a:r>
              <a:rPr lang="en-US" dirty="0"/>
              <a:t> can be extended to handle this by using 3D convolution, where filters slide over time as well as spatial dimensions.</a:t>
            </a:r>
          </a:p>
          <a:p>
            <a:endParaRPr lang="en-US" dirty="0"/>
          </a:p>
          <a:p>
            <a:r>
              <a:rPr lang="en-US" dirty="0">
                <a:highlight>
                  <a:srgbClr val="FFFF00"/>
                </a:highlight>
              </a:rPr>
              <a:t>Text Data (1D sequences</a:t>
            </a:r>
            <a:r>
              <a:rPr lang="en-US" dirty="0"/>
              <a:t>): In NLP tasks, text is usually represented as a sequence of words (or characters). While recurrent networks (RNNs) are more common for handling sequences, </a:t>
            </a:r>
            <a:r>
              <a:rPr lang="en-US" dirty="0" err="1"/>
              <a:t>ConvNets</a:t>
            </a:r>
            <a:r>
              <a:rPr lang="en-US" dirty="0"/>
              <a:t> can also be applied. In this case, 1D convolutions are used over the sequence.</a:t>
            </a:r>
            <a:endParaRPr lang="en-IN" dirty="0"/>
          </a:p>
        </p:txBody>
      </p:sp>
    </p:spTree>
    <p:extLst>
      <p:ext uri="{BB962C8B-B14F-4D97-AF65-F5344CB8AC3E}">
        <p14:creationId xmlns:p14="http://schemas.microsoft.com/office/powerpoint/2010/main" val="33725885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A80692-B0CE-B63E-ACEA-F6E33BE2BA7D}"/>
              </a:ext>
            </a:extLst>
          </p:cNvPr>
          <p:cNvSpPr>
            <a:spLocks noGrp="1"/>
          </p:cNvSpPr>
          <p:nvPr>
            <p:ph idx="1"/>
          </p:nvPr>
        </p:nvSpPr>
        <p:spPr>
          <a:xfrm>
            <a:off x="838200" y="208722"/>
            <a:ext cx="10515600" cy="5968241"/>
          </a:xfrm>
        </p:spPr>
        <p:txBody>
          <a:bodyPr>
            <a:normAutofit/>
          </a:bodyPr>
          <a:lstStyle/>
          <a:p>
            <a:pPr algn="just"/>
            <a:endParaRPr lang="en-US" dirty="0"/>
          </a:p>
          <a:p>
            <a:pPr algn="just"/>
            <a:r>
              <a:rPr lang="en-US" dirty="0">
                <a:highlight>
                  <a:srgbClr val="FFFF00"/>
                </a:highlight>
              </a:rPr>
              <a:t>Graph Data</a:t>
            </a:r>
            <a:r>
              <a:rPr lang="en-US" dirty="0"/>
              <a:t>: Although not a grid, data can be represented as graphs (e.g., social networks, molecular structures). Graph Convolutional Networks (GCNs) have been developed to generalize convolutions to work on graphs.</a:t>
            </a:r>
          </a:p>
          <a:p>
            <a:pPr algn="just"/>
            <a:endParaRPr lang="en-US" dirty="0"/>
          </a:p>
          <a:p>
            <a:pPr algn="just"/>
            <a:r>
              <a:rPr lang="en-US" dirty="0">
                <a:highlight>
                  <a:srgbClr val="FFFF00"/>
                </a:highlight>
              </a:rPr>
              <a:t>Audio Data (1D signals</a:t>
            </a:r>
            <a:r>
              <a:rPr lang="en-US" dirty="0"/>
              <a:t>): Audio can be represented as a 1D time-series signal. </a:t>
            </a:r>
            <a:r>
              <a:rPr lang="en-US" dirty="0" err="1"/>
              <a:t>ConvNets</a:t>
            </a:r>
            <a:r>
              <a:rPr lang="en-US" dirty="0"/>
              <a:t> are applied to raw waveforms, spectrograms, or other representations of sound.</a:t>
            </a:r>
            <a:endParaRPr lang="en-IN" dirty="0"/>
          </a:p>
        </p:txBody>
      </p:sp>
    </p:spTree>
    <p:extLst>
      <p:ext uri="{BB962C8B-B14F-4D97-AF65-F5344CB8AC3E}">
        <p14:creationId xmlns:p14="http://schemas.microsoft.com/office/powerpoint/2010/main" val="32066064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27EA-3395-AE1E-C9FC-FA96FF6DC972}"/>
              </a:ext>
            </a:extLst>
          </p:cNvPr>
          <p:cNvSpPr>
            <a:spLocks noGrp="1"/>
          </p:cNvSpPr>
          <p:nvPr>
            <p:ph type="title"/>
          </p:nvPr>
        </p:nvSpPr>
        <p:spPr/>
        <p:txBody>
          <a:bodyPr/>
          <a:lstStyle/>
          <a:p>
            <a:pPr algn="ctr"/>
            <a:r>
              <a:rPr lang="en-IN" dirty="0"/>
              <a:t>Image Data </a:t>
            </a:r>
          </a:p>
        </p:txBody>
      </p:sp>
      <p:sp>
        <p:nvSpPr>
          <p:cNvPr id="3" name="Content Placeholder 2">
            <a:extLst>
              <a:ext uri="{FF2B5EF4-FFF2-40B4-BE49-F238E27FC236}">
                <a16:creationId xmlns:a16="http://schemas.microsoft.com/office/drawing/2014/main" id="{F8A3A60F-CFF8-42B1-0E44-E5FB2D87F5F5}"/>
              </a:ext>
            </a:extLst>
          </p:cNvPr>
          <p:cNvSpPr>
            <a:spLocks noGrp="1"/>
          </p:cNvSpPr>
          <p:nvPr>
            <p:ph idx="1"/>
          </p:nvPr>
        </p:nvSpPr>
        <p:spPr/>
        <p:txBody>
          <a:bodyPr/>
          <a:lstStyle/>
          <a:p>
            <a:pPr algn="just"/>
            <a:r>
              <a:rPr lang="en-US" dirty="0"/>
              <a:t>Example: Standard image classification tasks, such as classifying an image of a dog or cat, rely on applying 2D convolutions to image inputs, which are represented as 2D grids of pixel values (height x width).</a:t>
            </a:r>
          </a:p>
          <a:p>
            <a:pPr algn="just"/>
            <a:endParaRPr lang="en-US" dirty="0"/>
          </a:p>
          <a:p>
            <a:pPr algn="just"/>
            <a:r>
              <a:rPr lang="en-US" dirty="0"/>
              <a:t>Use Case: Networks like </a:t>
            </a:r>
            <a:r>
              <a:rPr lang="en-US" dirty="0" err="1"/>
              <a:t>VGGNet</a:t>
            </a:r>
            <a:r>
              <a:rPr lang="en-US" dirty="0"/>
              <a:t>, </a:t>
            </a:r>
            <a:r>
              <a:rPr lang="en-US" dirty="0" err="1"/>
              <a:t>ResNet</a:t>
            </a:r>
            <a:r>
              <a:rPr lang="en-US" dirty="0"/>
              <a:t>, and Inception architectures apply convolutions to 2D images for object recognition tasks like ImageNet classification.</a:t>
            </a:r>
            <a:endParaRPr lang="en-IN" dirty="0"/>
          </a:p>
        </p:txBody>
      </p:sp>
    </p:spTree>
    <p:extLst>
      <p:ext uri="{BB962C8B-B14F-4D97-AF65-F5344CB8AC3E}">
        <p14:creationId xmlns:p14="http://schemas.microsoft.com/office/powerpoint/2010/main" val="16686959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72F5-A10E-3F05-B343-AEEB78748CBB}"/>
              </a:ext>
            </a:extLst>
          </p:cNvPr>
          <p:cNvSpPr>
            <a:spLocks noGrp="1"/>
          </p:cNvSpPr>
          <p:nvPr>
            <p:ph type="title"/>
          </p:nvPr>
        </p:nvSpPr>
        <p:spPr/>
        <p:txBody>
          <a:bodyPr/>
          <a:lstStyle/>
          <a:p>
            <a:pPr algn="ctr"/>
            <a:r>
              <a:rPr lang="en-IN" dirty="0"/>
              <a:t>Video Data </a:t>
            </a:r>
          </a:p>
        </p:txBody>
      </p:sp>
      <p:sp>
        <p:nvSpPr>
          <p:cNvPr id="3" name="Content Placeholder 2">
            <a:extLst>
              <a:ext uri="{FF2B5EF4-FFF2-40B4-BE49-F238E27FC236}">
                <a16:creationId xmlns:a16="http://schemas.microsoft.com/office/drawing/2014/main" id="{ECC4EB9F-F6BD-6571-5042-34AFF1FEDAD1}"/>
              </a:ext>
            </a:extLst>
          </p:cNvPr>
          <p:cNvSpPr>
            <a:spLocks noGrp="1"/>
          </p:cNvSpPr>
          <p:nvPr>
            <p:ph idx="1"/>
          </p:nvPr>
        </p:nvSpPr>
        <p:spPr/>
        <p:txBody>
          <a:bodyPr/>
          <a:lstStyle/>
          <a:p>
            <a:pPr algn="just"/>
            <a:r>
              <a:rPr lang="en-US" dirty="0"/>
              <a:t>Example: A video can be thought of as a stack of frames (images) over time. Each frame is a 2D grid, and the video as a whole is a 3D grid (height x width x time). A 3D convolution can process not just the spatial dimensions but also the temporal dimension.</a:t>
            </a:r>
          </a:p>
          <a:p>
            <a:pPr algn="just"/>
            <a:endParaRPr lang="en-US" dirty="0"/>
          </a:p>
          <a:p>
            <a:pPr algn="just"/>
            <a:r>
              <a:rPr lang="en-US" dirty="0"/>
              <a:t>Use Case: 3D </a:t>
            </a:r>
            <a:r>
              <a:rPr lang="en-US" dirty="0" err="1"/>
              <a:t>ConvNets</a:t>
            </a:r>
            <a:r>
              <a:rPr lang="en-US" dirty="0"/>
              <a:t> are used for action recognition in video clips, such as detecting whether someone is running, jumping, or dancing.</a:t>
            </a:r>
            <a:endParaRPr lang="en-IN" dirty="0"/>
          </a:p>
        </p:txBody>
      </p:sp>
    </p:spTree>
    <p:extLst>
      <p:ext uri="{BB962C8B-B14F-4D97-AF65-F5344CB8AC3E}">
        <p14:creationId xmlns:p14="http://schemas.microsoft.com/office/powerpoint/2010/main" val="20461756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AB0A0-0AFB-D840-9080-269FEDAC70EC}"/>
              </a:ext>
            </a:extLst>
          </p:cNvPr>
          <p:cNvSpPr>
            <a:spLocks noGrp="1"/>
          </p:cNvSpPr>
          <p:nvPr>
            <p:ph type="title"/>
          </p:nvPr>
        </p:nvSpPr>
        <p:spPr/>
        <p:txBody>
          <a:bodyPr/>
          <a:lstStyle/>
          <a:p>
            <a:pPr algn="ctr"/>
            <a:r>
              <a:rPr lang="en-IN" dirty="0"/>
              <a:t>Text Data </a:t>
            </a:r>
          </a:p>
        </p:txBody>
      </p:sp>
      <p:sp>
        <p:nvSpPr>
          <p:cNvPr id="3" name="Content Placeholder 2">
            <a:extLst>
              <a:ext uri="{FF2B5EF4-FFF2-40B4-BE49-F238E27FC236}">
                <a16:creationId xmlns:a16="http://schemas.microsoft.com/office/drawing/2014/main" id="{E23FA82A-FF1C-B77A-C087-39D6EAB21FA9}"/>
              </a:ext>
            </a:extLst>
          </p:cNvPr>
          <p:cNvSpPr>
            <a:spLocks noGrp="1"/>
          </p:cNvSpPr>
          <p:nvPr>
            <p:ph idx="1"/>
          </p:nvPr>
        </p:nvSpPr>
        <p:spPr/>
        <p:txBody>
          <a:bodyPr/>
          <a:lstStyle/>
          <a:p>
            <a:pPr algn="just"/>
            <a:r>
              <a:rPr lang="en-US" dirty="0"/>
              <a:t>Example: In NLP, text data is typically represented as a sequence of word embeddings. 1D convolutions can slide filters over these embeddings to capture local patterns, such as phrases or word combinations.</a:t>
            </a:r>
          </a:p>
          <a:p>
            <a:pPr algn="just"/>
            <a:endParaRPr lang="en-US" dirty="0"/>
          </a:p>
          <a:p>
            <a:pPr algn="just"/>
            <a:r>
              <a:rPr lang="en-US" dirty="0"/>
              <a:t>Use Case: Text classification models such as character-level CNNs or sentence classification networks use 1D convolutions to capture features from text sequences, like sentiment analysis or spam detection.</a:t>
            </a:r>
            <a:endParaRPr lang="en-IN" dirty="0"/>
          </a:p>
        </p:txBody>
      </p:sp>
    </p:spTree>
    <p:extLst>
      <p:ext uri="{BB962C8B-B14F-4D97-AF65-F5344CB8AC3E}">
        <p14:creationId xmlns:p14="http://schemas.microsoft.com/office/powerpoint/2010/main" val="15401132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D8FA0-67B4-36C6-247D-F2B94B5F69F3}"/>
              </a:ext>
            </a:extLst>
          </p:cNvPr>
          <p:cNvSpPr>
            <a:spLocks noGrp="1"/>
          </p:cNvSpPr>
          <p:nvPr>
            <p:ph type="title"/>
          </p:nvPr>
        </p:nvSpPr>
        <p:spPr/>
        <p:txBody>
          <a:bodyPr/>
          <a:lstStyle/>
          <a:p>
            <a:pPr algn="ctr"/>
            <a:r>
              <a:rPr lang="en-IN" dirty="0"/>
              <a:t>Graph Data</a:t>
            </a:r>
          </a:p>
        </p:txBody>
      </p:sp>
      <p:sp>
        <p:nvSpPr>
          <p:cNvPr id="3" name="Content Placeholder 2">
            <a:extLst>
              <a:ext uri="{FF2B5EF4-FFF2-40B4-BE49-F238E27FC236}">
                <a16:creationId xmlns:a16="http://schemas.microsoft.com/office/drawing/2014/main" id="{1A1819AB-93B7-88C2-5A1C-2C683A58B220}"/>
              </a:ext>
            </a:extLst>
          </p:cNvPr>
          <p:cNvSpPr>
            <a:spLocks noGrp="1"/>
          </p:cNvSpPr>
          <p:nvPr>
            <p:ph idx="1"/>
          </p:nvPr>
        </p:nvSpPr>
        <p:spPr/>
        <p:txBody>
          <a:bodyPr/>
          <a:lstStyle/>
          <a:p>
            <a:pPr algn="just"/>
            <a:r>
              <a:rPr lang="en-US" dirty="0"/>
              <a:t>Example: In a graph, nodes represent entities, and edges represent relationships between them. Graph Convolutional Networks (GCNs) generalize the concept of convolution to graphs by learning to aggregate information from neighboring nodes.</a:t>
            </a:r>
          </a:p>
          <a:p>
            <a:pPr algn="just"/>
            <a:endParaRPr lang="en-US" dirty="0"/>
          </a:p>
          <a:p>
            <a:pPr algn="just"/>
            <a:r>
              <a:rPr lang="en-US" dirty="0"/>
              <a:t>Use Case: Social network analysis uses GCNs to predict connections between people or detect communities. In molecular chemistry, GCNs help predict molecular properties by analyzing graph-like representations of molecules.</a:t>
            </a:r>
            <a:endParaRPr lang="en-IN" dirty="0"/>
          </a:p>
        </p:txBody>
      </p:sp>
    </p:spTree>
    <p:extLst>
      <p:ext uri="{BB962C8B-B14F-4D97-AF65-F5344CB8AC3E}">
        <p14:creationId xmlns:p14="http://schemas.microsoft.com/office/powerpoint/2010/main" val="38848978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A997-9276-CA82-A5DF-7C3CA92816B4}"/>
              </a:ext>
            </a:extLst>
          </p:cNvPr>
          <p:cNvSpPr>
            <a:spLocks noGrp="1"/>
          </p:cNvSpPr>
          <p:nvPr>
            <p:ph type="title"/>
          </p:nvPr>
        </p:nvSpPr>
        <p:spPr/>
        <p:txBody>
          <a:bodyPr/>
          <a:lstStyle/>
          <a:p>
            <a:pPr algn="ctr"/>
            <a:r>
              <a:rPr lang="en-IN" dirty="0"/>
              <a:t>Audio Data </a:t>
            </a:r>
          </a:p>
        </p:txBody>
      </p:sp>
      <p:sp>
        <p:nvSpPr>
          <p:cNvPr id="3" name="Content Placeholder 2">
            <a:extLst>
              <a:ext uri="{FF2B5EF4-FFF2-40B4-BE49-F238E27FC236}">
                <a16:creationId xmlns:a16="http://schemas.microsoft.com/office/drawing/2014/main" id="{C0517F52-1233-D807-69A1-B19075E5FAC0}"/>
              </a:ext>
            </a:extLst>
          </p:cNvPr>
          <p:cNvSpPr>
            <a:spLocks noGrp="1"/>
          </p:cNvSpPr>
          <p:nvPr>
            <p:ph idx="1"/>
          </p:nvPr>
        </p:nvSpPr>
        <p:spPr/>
        <p:txBody>
          <a:bodyPr/>
          <a:lstStyle/>
          <a:p>
            <a:pPr algn="just"/>
            <a:endParaRPr lang="en-US" dirty="0"/>
          </a:p>
          <a:p>
            <a:pPr algn="just"/>
            <a:r>
              <a:rPr lang="en-US" dirty="0"/>
              <a:t>Example: An audio signal is a 1D time-series data. 1D convolutions can be applied to capture temporal features in the waveform, such as the pitch or rhythm.</a:t>
            </a:r>
          </a:p>
          <a:p>
            <a:pPr algn="just"/>
            <a:endParaRPr lang="en-US" dirty="0"/>
          </a:p>
          <a:p>
            <a:pPr algn="just"/>
            <a:r>
              <a:rPr lang="en-US" dirty="0"/>
              <a:t>Use Case: Speech recognition models, such as </a:t>
            </a:r>
            <a:r>
              <a:rPr lang="en-US" dirty="0" err="1"/>
              <a:t>WaveNet</a:t>
            </a:r>
            <a:r>
              <a:rPr lang="en-US" dirty="0"/>
              <a:t>, use 1D convolutions to process raw audio data for tasks like transcribing spoken language.</a:t>
            </a:r>
            <a:endParaRPr lang="en-IN" dirty="0"/>
          </a:p>
        </p:txBody>
      </p:sp>
    </p:spTree>
    <p:extLst>
      <p:ext uri="{BB962C8B-B14F-4D97-AF65-F5344CB8AC3E}">
        <p14:creationId xmlns:p14="http://schemas.microsoft.com/office/powerpoint/2010/main" val="22910723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6A30-DDA8-008D-E038-3252580BDC38}"/>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1279186A-1656-C42B-F0D9-918C060FF6F2}"/>
              </a:ext>
            </a:extLst>
          </p:cNvPr>
          <p:cNvSpPr>
            <a:spLocks noGrp="1"/>
          </p:cNvSpPr>
          <p:nvPr>
            <p:ph idx="1"/>
          </p:nvPr>
        </p:nvSpPr>
        <p:spPr>
          <a:xfrm>
            <a:off x="487017" y="1825625"/>
            <a:ext cx="10866783" cy="4744140"/>
          </a:xfrm>
        </p:spPr>
        <p:txBody>
          <a:bodyPr>
            <a:normAutofit/>
          </a:bodyPr>
          <a:lstStyle/>
          <a:p>
            <a:pPr algn="just"/>
            <a:r>
              <a:rPr lang="en-IN" dirty="0"/>
              <a:t>Basic Concept of Convolution</a:t>
            </a:r>
          </a:p>
          <a:p>
            <a:pPr lvl="1" algn="just"/>
            <a:r>
              <a:rPr lang="en-US" dirty="0"/>
              <a:t>In CNNs, the convolution operation is used to extract features from data (e.g., images).</a:t>
            </a:r>
          </a:p>
          <a:p>
            <a:pPr lvl="1" algn="just"/>
            <a:r>
              <a:rPr lang="en-US" dirty="0"/>
              <a:t>Typically, a kernel (or filter) slides over the input, performing element-wise multiplications and summing the results, which captures spatial information.</a:t>
            </a:r>
          </a:p>
          <a:p>
            <a:pPr algn="just"/>
            <a:endParaRPr lang="en-US" dirty="0"/>
          </a:p>
          <a:p>
            <a:pPr algn="just"/>
            <a:r>
              <a:rPr lang="en-US" dirty="0"/>
              <a:t>Challenges with Convolutions</a:t>
            </a:r>
          </a:p>
          <a:p>
            <a:pPr lvl="1" algn="just"/>
            <a:r>
              <a:rPr lang="en-US" dirty="0"/>
              <a:t>Convolutions, especially in high-dimensional data (e.g., images with large dimensions and multiple channels), can be computationally expensive.</a:t>
            </a:r>
          </a:p>
          <a:p>
            <a:pPr lvl="1" algn="just"/>
            <a:r>
              <a:rPr lang="en-US" dirty="0"/>
              <a:t>The main goal of efficient convolution algorithms is to reduce the computational cost while retaining accuracy.</a:t>
            </a:r>
          </a:p>
          <a:p>
            <a:endParaRPr lang="en-US" dirty="0"/>
          </a:p>
          <a:p>
            <a:endParaRPr lang="en-IN" dirty="0"/>
          </a:p>
        </p:txBody>
      </p:sp>
    </p:spTree>
    <p:extLst>
      <p:ext uri="{BB962C8B-B14F-4D97-AF65-F5344CB8AC3E}">
        <p14:creationId xmlns:p14="http://schemas.microsoft.com/office/powerpoint/2010/main" val="11992841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49E8-103F-9205-C907-69A570BC4776}"/>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C25CA26C-71AA-B60F-F695-EDE75424B32B}"/>
              </a:ext>
            </a:extLst>
          </p:cNvPr>
          <p:cNvSpPr>
            <a:spLocks noGrp="1"/>
          </p:cNvSpPr>
          <p:nvPr>
            <p:ph idx="1"/>
          </p:nvPr>
        </p:nvSpPr>
        <p:spPr>
          <a:xfrm>
            <a:off x="838199" y="1825625"/>
            <a:ext cx="10721009" cy="4667250"/>
          </a:xfrm>
        </p:spPr>
        <p:txBody>
          <a:bodyPr>
            <a:normAutofit/>
          </a:bodyPr>
          <a:lstStyle/>
          <a:p>
            <a:r>
              <a:rPr lang="en-US" dirty="0"/>
              <a:t>Several algorithmic approaches to make convolutions more efficient:</a:t>
            </a:r>
          </a:p>
          <a:p>
            <a:endParaRPr lang="en-US" dirty="0"/>
          </a:p>
          <a:p>
            <a:r>
              <a:rPr lang="en-US" dirty="0">
                <a:highlight>
                  <a:srgbClr val="FFFF00"/>
                </a:highlight>
              </a:rPr>
              <a:t>FFT-based Convolutions</a:t>
            </a:r>
            <a:r>
              <a:rPr lang="en-US" dirty="0"/>
              <a:t>:</a:t>
            </a:r>
          </a:p>
          <a:p>
            <a:pPr lvl="1" algn="just"/>
            <a:r>
              <a:rPr lang="en-US" dirty="0"/>
              <a:t>By using the Fast Fourier Transform (FFT), convolution can be converted into element-wise multiplication in the frequency domain.</a:t>
            </a:r>
          </a:p>
          <a:p>
            <a:pPr lvl="1" algn="just"/>
            <a:endParaRPr lang="en-US" dirty="0"/>
          </a:p>
          <a:p>
            <a:pPr lvl="1" algn="just"/>
            <a:r>
              <a:rPr lang="en-US" dirty="0"/>
              <a:t>This is more computationally efficient for large kernel sizes because FFTs reduce the complexity from 𝑂(𝑛</a:t>
            </a:r>
            <a:r>
              <a:rPr lang="en-US" baseline="30000" dirty="0"/>
              <a:t>2</a:t>
            </a:r>
            <a:r>
              <a:rPr lang="en-US" dirty="0"/>
              <a:t>) to 𝑂(𝑛log⁡𝑛) per image.</a:t>
            </a:r>
          </a:p>
          <a:p>
            <a:pPr lvl="1" algn="just"/>
            <a:endParaRPr lang="en-US" dirty="0"/>
          </a:p>
          <a:p>
            <a:pPr lvl="1" algn="just"/>
            <a:r>
              <a:rPr lang="en-US" dirty="0"/>
              <a:t>However, FFT-based convolution can introduce some overhead due to padding and may not be as efficient for small kernels (e.g., 3x3 filters).</a:t>
            </a:r>
            <a:endParaRPr lang="en-IN" dirty="0"/>
          </a:p>
        </p:txBody>
      </p:sp>
    </p:spTree>
    <p:extLst>
      <p:ext uri="{BB962C8B-B14F-4D97-AF65-F5344CB8AC3E}">
        <p14:creationId xmlns:p14="http://schemas.microsoft.com/office/powerpoint/2010/main" val="15624837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58FB-414A-1E3D-4103-68B508634DDE}"/>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993F2979-4D51-C1F9-FD6A-95FFD4D9D826}"/>
              </a:ext>
            </a:extLst>
          </p:cNvPr>
          <p:cNvSpPr>
            <a:spLocks noGrp="1"/>
          </p:cNvSpPr>
          <p:nvPr>
            <p:ph idx="1"/>
          </p:nvPr>
        </p:nvSpPr>
        <p:spPr/>
        <p:txBody>
          <a:bodyPr/>
          <a:lstStyle/>
          <a:p>
            <a:r>
              <a:rPr lang="en-US" dirty="0">
                <a:highlight>
                  <a:srgbClr val="FFFF00"/>
                </a:highlight>
              </a:rPr>
              <a:t>Winograd Convolution Algorithm</a:t>
            </a:r>
            <a:r>
              <a:rPr lang="en-US" dirty="0"/>
              <a:t>:</a:t>
            </a:r>
          </a:p>
          <a:p>
            <a:pPr lvl="1" algn="just"/>
            <a:r>
              <a:rPr lang="en-US" sz="2800" dirty="0"/>
              <a:t>Winograd's algorithm is highly efficient for small filters, like 3x3, and uses a minimal number of multiplications.</a:t>
            </a:r>
          </a:p>
          <a:p>
            <a:pPr lvl="1" algn="just"/>
            <a:endParaRPr lang="en-US" sz="2800" dirty="0"/>
          </a:p>
          <a:p>
            <a:pPr lvl="1" algn="just"/>
            <a:r>
              <a:rPr lang="en-US" sz="2800" dirty="0"/>
              <a:t>By restructuring the convolution process, it reduces the number of required arithmetic operations by transforming the convolution problem into a series of smaller multiplications and additions.</a:t>
            </a:r>
          </a:p>
          <a:p>
            <a:pPr lvl="1" algn="just"/>
            <a:endParaRPr lang="en-US" sz="2800" dirty="0"/>
          </a:p>
          <a:p>
            <a:pPr lvl="1" algn="just"/>
            <a:r>
              <a:rPr lang="en-US" sz="2800" dirty="0"/>
              <a:t>Winograd convolution is well-suited for hardware acceleration because of its reduced complexity.</a:t>
            </a:r>
            <a:endParaRPr lang="en-IN" sz="2800" dirty="0"/>
          </a:p>
        </p:txBody>
      </p:sp>
    </p:spTree>
    <p:extLst>
      <p:ext uri="{BB962C8B-B14F-4D97-AF65-F5344CB8AC3E}">
        <p14:creationId xmlns:p14="http://schemas.microsoft.com/office/powerpoint/2010/main" val="8340305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5B61E-22F0-F5ED-E39F-FE4693CDB9E5}"/>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C11180B9-FCA7-105E-DB58-944D742CE9BD}"/>
              </a:ext>
            </a:extLst>
          </p:cNvPr>
          <p:cNvSpPr>
            <a:spLocks noGrp="1"/>
          </p:cNvSpPr>
          <p:nvPr>
            <p:ph idx="1"/>
          </p:nvPr>
        </p:nvSpPr>
        <p:spPr/>
        <p:txBody>
          <a:bodyPr/>
          <a:lstStyle/>
          <a:p>
            <a:r>
              <a:rPr lang="en-US" dirty="0">
                <a:highlight>
                  <a:srgbClr val="FFFF00"/>
                </a:highlight>
              </a:rPr>
              <a:t>Strassen Multiplication</a:t>
            </a:r>
            <a:r>
              <a:rPr lang="en-US" dirty="0"/>
              <a:t>:</a:t>
            </a:r>
          </a:p>
          <a:p>
            <a:pPr lvl="1" algn="just"/>
            <a:endParaRPr lang="en-US" sz="2800" dirty="0"/>
          </a:p>
          <a:p>
            <a:pPr lvl="1" algn="just"/>
            <a:r>
              <a:rPr lang="en-US" sz="2800" dirty="0"/>
              <a:t>Strassen’s algorithm is used in some contexts to speed up matrix multiplications by reducing the number of multiplication operations required.</a:t>
            </a:r>
          </a:p>
          <a:p>
            <a:pPr lvl="1" algn="just"/>
            <a:endParaRPr lang="en-US" sz="2800" dirty="0"/>
          </a:p>
          <a:p>
            <a:pPr lvl="1" algn="just"/>
            <a:r>
              <a:rPr lang="en-US" sz="2800" dirty="0"/>
              <a:t>This approach is not always applied directly in CNNs but is part of the family of ideas used in efficient convolution techniques.</a:t>
            </a:r>
            <a:endParaRPr lang="en-IN" sz="2800" dirty="0"/>
          </a:p>
        </p:txBody>
      </p:sp>
    </p:spTree>
    <p:extLst>
      <p:ext uri="{BB962C8B-B14F-4D97-AF65-F5344CB8AC3E}">
        <p14:creationId xmlns:p14="http://schemas.microsoft.com/office/powerpoint/2010/main" val="10214207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F59D-62A9-393D-5538-200FD16853AF}"/>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319394A3-8391-098F-A969-CF06AA8008B9}"/>
              </a:ext>
            </a:extLst>
          </p:cNvPr>
          <p:cNvSpPr>
            <a:spLocks noGrp="1"/>
          </p:cNvSpPr>
          <p:nvPr>
            <p:ph idx="1"/>
          </p:nvPr>
        </p:nvSpPr>
        <p:spPr/>
        <p:txBody>
          <a:bodyPr/>
          <a:lstStyle/>
          <a:p>
            <a:r>
              <a:rPr lang="en-US" dirty="0">
                <a:highlight>
                  <a:srgbClr val="FFFF00"/>
                </a:highlight>
              </a:rPr>
              <a:t>Separability of Kernels</a:t>
            </a:r>
            <a:r>
              <a:rPr lang="en-US" dirty="0"/>
              <a:t>:</a:t>
            </a:r>
          </a:p>
          <a:p>
            <a:pPr lvl="1" algn="just"/>
            <a:endParaRPr lang="en-US" sz="2800" dirty="0"/>
          </a:p>
          <a:p>
            <a:pPr lvl="1" algn="just"/>
            <a:r>
              <a:rPr lang="en-US" sz="2800" dirty="0"/>
              <a:t>For specific types of kernels (e.g., Gaussian blur), separability allows a 2D convolution to be broken down into two 1D convolutions (one for each dimension).</a:t>
            </a:r>
          </a:p>
          <a:p>
            <a:pPr lvl="1" algn="just"/>
            <a:endParaRPr lang="en-US" sz="2800" dirty="0"/>
          </a:p>
          <a:p>
            <a:pPr lvl="1" algn="just"/>
            <a:r>
              <a:rPr lang="en-US" sz="2800" dirty="0"/>
              <a:t>This reduces the computation from 𝑂(𝑛</a:t>
            </a:r>
            <a:r>
              <a:rPr lang="en-US" sz="2800" baseline="30000" dirty="0"/>
              <a:t>2</a:t>
            </a:r>
            <a:r>
              <a:rPr lang="en-US" sz="2800" dirty="0"/>
              <a:t>) to O(n) for each axis, saving resources and improving speed without needing complex algorithms.</a:t>
            </a:r>
            <a:endParaRPr lang="en-IN" sz="2800" dirty="0"/>
          </a:p>
        </p:txBody>
      </p:sp>
    </p:spTree>
    <p:extLst>
      <p:ext uri="{BB962C8B-B14F-4D97-AF65-F5344CB8AC3E}">
        <p14:creationId xmlns:p14="http://schemas.microsoft.com/office/powerpoint/2010/main" val="32697077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0D754-C746-9B0F-D5A7-C5599B4AB0C2}"/>
              </a:ext>
            </a:extLst>
          </p:cNvPr>
          <p:cNvSpPr>
            <a:spLocks noGrp="1"/>
          </p:cNvSpPr>
          <p:nvPr>
            <p:ph type="title"/>
          </p:nvPr>
        </p:nvSpPr>
        <p:spPr/>
        <p:txBody>
          <a:bodyPr/>
          <a:lstStyle/>
          <a:p>
            <a:pPr algn="ctr"/>
            <a:r>
              <a:rPr lang="en-IN" dirty="0"/>
              <a:t>Efficient Convolution Algorithms</a:t>
            </a:r>
          </a:p>
        </p:txBody>
      </p:sp>
      <p:sp>
        <p:nvSpPr>
          <p:cNvPr id="3" name="Content Placeholder 2">
            <a:extLst>
              <a:ext uri="{FF2B5EF4-FFF2-40B4-BE49-F238E27FC236}">
                <a16:creationId xmlns:a16="http://schemas.microsoft.com/office/drawing/2014/main" id="{0F64C363-4D3B-BC4F-1C7F-4CCD76E0FD3A}"/>
              </a:ext>
            </a:extLst>
          </p:cNvPr>
          <p:cNvSpPr>
            <a:spLocks noGrp="1"/>
          </p:cNvSpPr>
          <p:nvPr>
            <p:ph idx="1"/>
          </p:nvPr>
        </p:nvSpPr>
        <p:spPr>
          <a:xfrm>
            <a:off x="606287" y="1361661"/>
            <a:ext cx="10747513" cy="5396948"/>
          </a:xfrm>
        </p:spPr>
        <p:txBody>
          <a:bodyPr>
            <a:normAutofit fontScale="85000" lnSpcReduction="20000"/>
          </a:bodyPr>
          <a:lstStyle/>
          <a:p>
            <a:r>
              <a:rPr lang="en-IN" dirty="0">
                <a:highlight>
                  <a:srgbClr val="FFFF00"/>
                </a:highlight>
              </a:rPr>
              <a:t>Grouped Convolutions and Depth-wise Convolutions</a:t>
            </a:r>
            <a:r>
              <a:rPr lang="en-IN" dirty="0"/>
              <a:t>:</a:t>
            </a:r>
          </a:p>
          <a:p>
            <a:pPr lvl="1" algn="just"/>
            <a:endParaRPr lang="en-US" sz="2600" dirty="0"/>
          </a:p>
          <a:p>
            <a:pPr lvl="1" algn="just"/>
            <a:r>
              <a:rPr lang="en-US" sz="2600" dirty="0"/>
              <a:t>Grouped convolutions split the input channels into groups, allowing separate convolutions within each group.</a:t>
            </a:r>
          </a:p>
          <a:p>
            <a:pPr lvl="1" algn="just"/>
            <a:endParaRPr lang="en-US" sz="2600" dirty="0"/>
          </a:p>
          <a:p>
            <a:pPr lvl="1" algn="just"/>
            <a:r>
              <a:rPr lang="en-US" sz="2600" dirty="0"/>
              <a:t>Suppose we have 8 input channels and want to use 4 groups in a convolution layer. We split the 8 input channels into 4 groups of 2 channels each, and then we apply convolution separately within each group. Each group has its own filter(s) that do not interact with the other groups.</a:t>
            </a:r>
          </a:p>
          <a:p>
            <a:pPr lvl="1" algn="just"/>
            <a:endParaRPr lang="en-US" sz="2600" dirty="0"/>
          </a:p>
          <a:p>
            <a:pPr lvl="1" algn="just"/>
            <a:r>
              <a:rPr lang="en-US" sz="2600" dirty="0"/>
              <a:t>Benefits: This reduces the computational cost because we are only computing convolutions within smaller groups instead of across all channels. Additionally, grouped convolutions enable more flexible and modular filter architectures.</a:t>
            </a:r>
          </a:p>
          <a:p>
            <a:pPr lvl="1" algn="just"/>
            <a:endParaRPr lang="en-US" sz="2600" dirty="0"/>
          </a:p>
          <a:p>
            <a:pPr lvl="1" algn="just"/>
            <a:r>
              <a:rPr lang="en-US" sz="2600" dirty="0"/>
              <a:t>Depth-wise separable convolutions divide the standard convolution into two parts: </a:t>
            </a:r>
          </a:p>
          <a:p>
            <a:pPr lvl="2" algn="just"/>
            <a:r>
              <a:rPr lang="en-US" sz="2600" dirty="0"/>
              <a:t>Depth-wise convolution (each channel independently) and pointwise convolution (combines results across channels).These are widely used in modern CNN architectures (e.g., </a:t>
            </a:r>
            <a:r>
              <a:rPr lang="en-US" sz="2600" dirty="0" err="1"/>
              <a:t>MobileNet</a:t>
            </a:r>
            <a:r>
              <a:rPr lang="en-US" sz="2600" dirty="0"/>
              <a:t>) for efficiency, especially in mobile or embedded systems.</a:t>
            </a:r>
            <a:endParaRPr lang="en-IN" sz="2600" dirty="0"/>
          </a:p>
        </p:txBody>
      </p:sp>
    </p:spTree>
    <p:extLst>
      <p:ext uri="{BB962C8B-B14F-4D97-AF65-F5344CB8AC3E}">
        <p14:creationId xmlns:p14="http://schemas.microsoft.com/office/powerpoint/2010/main" val="12697909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31D65-C711-DF9E-E567-D788E866CB32}"/>
              </a:ext>
            </a:extLst>
          </p:cNvPr>
          <p:cNvSpPr>
            <a:spLocks noGrp="1"/>
          </p:cNvSpPr>
          <p:nvPr>
            <p:ph type="title"/>
          </p:nvPr>
        </p:nvSpPr>
        <p:spPr/>
        <p:txBody>
          <a:bodyPr/>
          <a:lstStyle/>
          <a:p>
            <a:pPr algn="ctr"/>
            <a:r>
              <a:rPr lang="en-IN" dirty="0" err="1"/>
              <a:t>ReLu</a:t>
            </a:r>
            <a:r>
              <a:rPr lang="en-IN" dirty="0"/>
              <a:t> AF</a:t>
            </a:r>
          </a:p>
        </p:txBody>
      </p:sp>
      <p:sp>
        <p:nvSpPr>
          <p:cNvPr id="3" name="Content Placeholder 2">
            <a:extLst>
              <a:ext uri="{FF2B5EF4-FFF2-40B4-BE49-F238E27FC236}">
                <a16:creationId xmlns:a16="http://schemas.microsoft.com/office/drawing/2014/main" id="{F21BA0FF-0897-8CDB-41F0-428CDA1B89B4}"/>
              </a:ext>
            </a:extLst>
          </p:cNvPr>
          <p:cNvSpPr>
            <a:spLocks noGrp="1"/>
          </p:cNvSpPr>
          <p:nvPr>
            <p:ph idx="1"/>
          </p:nvPr>
        </p:nvSpPr>
        <p:spPr>
          <a:xfrm>
            <a:off x="838200" y="1825625"/>
            <a:ext cx="5091734" cy="4351338"/>
          </a:xfrm>
        </p:spPr>
        <p:txBody>
          <a:bodyPr/>
          <a:lstStyle/>
          <a:p>
            <a:r>
              <a:rPr lang="en-US" dirty="0" err="1"/>
              <a:t>ReLU</a:t>
            </a:r>
            <a:r>
              <a:rPr lang="en-US" dirty="0"/>
              <a:t> formula is :  f(x) = max(0,x)</a:t>
            </a:r>
          </a:p>
          <a:p>
            <a:endParaRPr lang="en-US" dirty="0"/>
          </a:p>
          <a:p>
            <a:r>
              <a:rPr lang="en-US" dirty="0"/>
              <a:t>This means that if the input value 𝑥 is positive, the output is 𝑥. If 𝑥 is negative or zero, the output is zero. </a:t>
            </a:r>
          </a:p>
          <a:p>
            <a:r>
              <a:rPr lang="en-US" dirty="0"/>
              <a:t>In other words, </a:t>
            </a:r>
            <a:r>
              <a:rPr lang="en-US" dirty="0" err="1"/>
              <a:t>ReLU</a:t>
            </a:r>
            <a:r>
              <a:rPr lang="en-US" dirty="0"/>
              <a:t> keeps positive values unchanged and replaces all negative values with zero.</a:t>
            </a:r>
            <a:endParaRPr lang="en-IN" dirty="0"/>
          </a:p>
        </p:txBody>
      </p:sp>
      <p:pic>
        <p:nvPicPr>
          <p:cNvPr id="4" name="Picture 3">
            <a:extLst>
              <a:ext uri="{FF2B5EF4-FFF2-40B4-BE49-F238E27FC236}">
                <a16:creationId xmlns:a16="http://schemas.microsoft.com/office/drawing/2014/main" id="{CFF6F005-888B-2148-A26A-62BD3F9CE7C5}"/>
              </a:ext>
            </a:extLst>
          </p:cNvPr>
          <p:cNvPicPr>
            <a:picLocks noChangeAspect="1"/>
          </p:cNvPicPr>
          <p:nvPr/>
        </p:nvPicPr>
        <p:blipFill>
          <a:blip r:embed="rId2"/>
          <a:stretch>
            <a:fillRect/>
          </a:stretch>
        </p:blipFill>
        <p:spPr>
          <a:xfrm>
            <a:off x="5929934" y="2366963"/>
            <a:ext cx="6076950" cy="3810000"/>
          </a:xfrm>
          <a:prstGeom prst="rect">
            <a:avLst/>
          </a:prstGeom>
        </p:spPr>
      </p:pic>
    </p:spTree>
    <p:extLst>
      <p:ext uri="{BB962C8B-B14F-4D97-AF65-F5344CB8AC3E}">
        <p14:creationId xmlns:p14="http://schemas.microsoft.com/office/powerpoint/2010/main" val="26930384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F0A7-4970-04E5-AC88-19AEF98BB9C9}"/>
              </a:ext>
            </a:extLst>
          </p:cNvPr>
          <p:cNvSpPr>
            <a:spLocks noGrp="1"/>
          </p:cNvSpPr>
          <p:nvPr>
            <p:ph type="title"/>
          </p:nvPr>
        </p:nvSpPr>
        <p:spPr/>
        <p:txBody>
          <a:bodyPr/>
          <a:lstStyle/>
          <a:p>
            <a:r>
              <a:rPr lang="en-IN" dirty="0"/>
              <a:t>Key Properties of </a:t>
            </a:r>
            <a:r>
              <a:rPr lang="en-IN" dirty="0" err="1"/>
              <a:t>ReLU</a:t>
            </a:r>
            <a:endParaRPr lang="en-IN" dirty="0"/>
          </a:p>
        </p:txBody>
      </p:sp>
      <p:sp>
        <p:nvSpPr>
          <p:cNvPr id="3" name="Content Placeholder 2">
            <a:extLst>
              <a:ext uri="{FF2B5EF4-FFF2-40B4-BE49-F238E27FC236}">
                <a16:creationId xmlns:a16="http://schemas.microsoft.com/office/drawing/2014/main" id="{D34DF1B7-A6D6-CAD6-3786-D716B2987E67}"/>
              </a:ext>
            </a:extLst>
          </p:cNvPr>
          <p:cNvSpPr>
            <a:spLocks noGrp="1"/>
          </p:cNvSpPr>
          <p:nvPr>
            <p:ph idx="1"/>
          </p:nvPr>
        </p:nvSpPr>
        <p:spPr>
          <a:xfrm>
            <a:off x="357809" y="1467816"/>
            <a:ext cx="11598965" cy="5181462"/>
          </a:xfrm>
        </p:spPr>
        <p:txBody>
          <a:bodyPr>
            <a:normAutofit lnSpcReduction="10000"/>
          </a:bodyPr>
          <a:lstStyle/>
          <a:p>
            <a:r>
              <a:rPr lang="en-US" dirty="0"/>
              <a:t>Non-Linearity:</a:t>
            </a:r>
          </a:p>
          <a:p>
            <a:pPr lvl="1"/>
            <a:r>
              <a:rPr lang="en-US" dirty="0" err="1"/>
              <a:t>ReLU</a:t>
            </a:r>
            <a:r>
              <a:rPr lang="en-US" dirty="0"/>
              <a:t> introduces non-linearity to the network, allowing it to learn complex patterns.</a:t>
            </a:r>
          </a:p>
          <a:p>
            <a:endParaRPr lang="en-US" dirty="0"/>
          </a:p>
          <a:p>
            <a:r>
              <a:rPr lang="en-US" dirty="0"/>
              <a:t>Simplicity and Efficiency:</a:t>
            </a:r>
          </a:p>
          <a:p>
            <a:pPr lvl="1"/>
            <a:r>
              <a:rPr lang="en-US" dirty="0" err="1"/>
              <a:t>ReLU</a:t>
            </a:r>
            <a:r>
              <a:rPr lang="en-US" dirty="0"/>
              <a:t> is computationally efficient because it only requires a simple thresholding operation, making it faster than other activation functions like sigmoid or tanh. This efficiency is especially useful in deep networks, where many neurons need to be activated per layer.</a:t>
            </a:r>
          </a:p>
          <a:p>
            <a:endParaRPr lang="en-US" dirty="0"/>
          </a:p>
          <a:p>
            <a:r>
              <a:rPr lang="en-US" dirty="0"/>
              <a:t>Sparsity:</a:t>
            </a:r>
          </a:p>
          <a:p>
            <a:pPr lvl="1"/>
            <a:r>
              <a:rPr lang="en-US" dirty="0"/>
              <a:t>By setting negative values to zero, </a:t>
            </a:r>
            <a:r>
              <a:rPr lang="en-US" dirty="0" err="1"/>
              <a:t>ReLU</a:t>
            </a:r>
            <a:r>
              <a:rPr lang="en-US" dirty="0"/>
              <a:t> makes the network sparse, meaning only a subset of neurons are activated at any time. Sparse representations reduce the computational load and can help with feature extraction by allowing the network to focus on important features.</a:t>
            </a:r>
            <a:endParaRPr lang="en-IN" dirty="0"/>
          </a:p>
        </p:txBody>
      </p:sp>
    </p:spTree>
    <p:extLst>
      <p:ext uri="{BB962C8B-B14F-4D97-AF65-F5344CB8AC3E}">
        <p14:creationId xmlns:p14="http://schemas.microsoft.com/office/powerpoint/2010/main" val="303153117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5E193-B587-AA7E-5820-427F061401CC}"/>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5CBE0F8A-EF40-6AF7-1E95-FEA29BD214A1}"/>
              </a:ext>
            </a:extLst>
          </p:cNvPr>
          <p:cNvSpPr>
            <a:spLocks noGrp="1"/>
          </p:cNvSpPr>
          <p:nvPr>
            <p:ph idx="1"/>
          </p:nvPr>
        </p:nvSpPr>
        <p:spPr/>
        <p:txBody>
          <a:bodyPr>
            <a:normAutofit/>
          </a:bodyPr>
          <a:lstStyle/>
          <a:p>
            <a:r>
              <a:rPr lang="en-US" dirty="0"/>
              <a:t>Reduces the Vanishing Gradient Problem:</a:t>
            </a:r>
          </a:p>
          <a:p>
            <a:pPr lvl="1"/>
            <a:r>
              <a:rPr lang="en-US" dirty="0"/>
              <a:t>Unlike the sigmoid or tanh functions, which can cause gradients to shrink towards zero (making training slow), </a:t>
            </a:r>
            <a:r>
              <a:rPr lang="en-US" dirty="0" err="1"/>
              <a:t>ReLU’s</a:t>
            </a:r>
            <a:r>
              <a:rPr lang="en-US" dirty="0"/>
              <a:t> gradient is either 1 (for positive inputs) or 0 (for negative inputs). This allows gradients to remain large enough to propagate through many layers, speeding up training in deep networks.</a:t>
            </a:r>
          </a:p>
          <a:p>
            <a:endParaRPr lang="en-US" dirty="0"/>
          </a:p>
          <a:p>
            <a:r>
              <a:rPr lang="en-US" dirty="0"/>
              <a:t>Faster Convergence:</a:t>
            </a:r>
          </a:p>
          <a:p>
            <a:pPr lvl="1"/>
            <a:r>
              <a:rPr lang="en-US" dirty="0" err="1"/>
              <a:t>ReLU’s</a:t>
            </a:r>
            <a:r>
              <a:rPr lang="en-US" dirty="0"/>
              <a:t> simple derivative properties make it easier for optimization algorithms to adjust weights, often resulting in faster convergence during training compared to saturating functions like sigmoid.</a:t>
            </a:r>
            <a:endParaRPr lang="en-IN" dirty="0"/>
          </a:p>
        </p:txBody>
      </p:sp>
    </p:spTree>
    <p:extLst>
      <p:ext uri="{BB962C8B-B14F-4D97-AF65-F5344CB8AC3E}">
        <p14:creationId xmlns:p14="http://schemas.microsoft.com/office/powerpoint/2010/main" val="20337365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52147-8867-C497-03E1-DC2EC841A58D}"/>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82883596-C537-6A45-0238-4C98D73892DB}"/>
              </a:ext>
            </a:extLst>
          </p:cNvPr>
          <p:cNvSpPr>
            <a:spLocks noGrp="1"/>
          </p:cNvSpPr>
          <p:nvPr>
            <p:ph idx="1"/>
          </p:nvPr>
        </p:nvSpPr>
        <p:spPr/>
        <p:txBody>
          <a:bodyPr>
            <a:normAutofit lnSpcReduction="10000"/>
          </a:bodyPr>
          <a:lstStyle/>
          <a:p>
            <a:r>
              <a:rPr lang="en-US" dirty="0"/>
              <a:t>Dying </a:t>
            </a:r>
            <a:r>
              <a:rPr lang="en-US" dirty="0" err="1"/>
              <a:t>ReLU</a:t>
            </a:r>
            <a:r>
              <a:rPr lang="en-US" dirty="0"/>
              <a:t> Problem:</a:t>
            </a:r>
          </a:p>
          <a:p>
            <a:pPr lvl="1"/>
            <a:r>
              <a:rPr lang="en-US" dirty="0"/>
              <a:t>In some cases, neurons can get stuck with negative values and thus output zero for all inputs. This “dead” neuron problem can occur during training if the input values lead to weights that produce consistently negative outputs. Once a neuron is dead, it no longer contributes to learning, reducing the model's capacity.</a:t>
            </a:r>
          </a:p>
          <a:p>
            <a:endParaRPr lang="en-US" dirty="0"/>
          </a:p>
          <a:p>
            <a:r>
              <a:rPr lang="en-US" dirty="0"/>
              <a:t>Not Zero-Centered:</a:t>
            </a:r>
          </a:p>
          <a:p>
            <a:pPr lvl="1"/>
            <a:r>
              <a:rPr lang="en-US" dirty="0" err="1"/>
              <a:t>ReLU</a:t>
            </a:r>
            <a:r>
              <a:rPr lang="en-US" dirty="0"/>
              <a:t> outputs only positive values, which means the average activation can be greater than zero. This non-zero mean can sometimes slow down convergence, though this effect is generally minimal compared to the advantages of </a:t>
            </a:r>
            <a:r>
              <a:rPr lang="en-US" dirty="0" err="1"/>
              <a:t>ReLU</a:t>
            </a:r>
            <a:r>
              <a:rPr lang="en-US" dirty="0"/>
              <a:t>.</a:t>
            </a:r>
            <a:endParaRPr lang="en-IN" dirty="0"/>
          </a:p>
        </p:txBody>
      </p:sp>
    </p:spTree>
    <p:extLst>
      <p:ext uri="{BB962C8B-B14F-4D97-AF65-F5344CB8AC3E}">
        <p14:creationId xmlns:p14="http://schemas.microsoft.com/office/powerpoint/2010/main" val="13795194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5F5D-F2C1-D562-6695-94F83B5C2A2F}"/>
              </a:ext>
            </a:extLst>
          </p:cNvPr>
          <p:cNvSpPr>
            <a:spLocks noGrp="1"/>
          </p:cNvSpPr>
          <p:nvPr>
            <p:ph type="title"/>
          </p:nvPr>
        </p:nvSpPr>
        <p:spPr/>
        <p:txBody>
          <a:bodyPr/>
          <a:lstStyle/>
          <a:p>
            <a:pPr algn="ctr"/>
            <a:r>
              <a:rPr lang="en-IN" dirty="0" err="1"/>
              <a:t>AlexNet</a:t>
            </a:r>
            <a:endParaRPr lang="en-IN" dirty="0"/>
          </a:p>
        </p:txBody>
      </p:sp>
      <p:sp>
        <p:nvSpPr>
          <p:cNvPr id="3" name="Content Placeholder 2">
            <a:extLst>
              <a:ext uri="{FF2B5EF4-FFF2-40B4-BE49-F238E27FC236}">
                <a16:creationId xmlns:a16="http://schemas.microsoft.com/office/drawing/2014/main" id="{439F1E9C-7CE5-ABCA-9303-40F317D64C0C}"/>
              </a:ext>
            </a:extLst>
          </p:cNvPr>
          <p:cNvSpPr>
            <a:spLocks noGrp="1"/>
          </p:cNvSpPr>
          <p:nvPr>
            <p:ph idx="1"/>
          </p:nvPr>
        </p:nvSpPr>
        <p:spPr/>
        <p:txBody>
          <a:bodyPr/>
          <a:lstStyle/>
          <a:p>
            <a:endParaRPr lang="en-US" dirty="0"/>
          </a:p>
          <a:p>
            <a:r>
              <a:rPr lang="en-US" dirty="0" err="1"/>
              <a:t>AlexNet</a:t>
            </a:r>
            <a:r>
              <a:rPr lang="en-US" dirty="0"/>
              <a:t> was a breakthrough convolutional neural network (CNN) model that emerged in 2012 and set a new standard for deep learning in computer vision. </a:t>
            </a:r>
          </a:p>
          <a:p>
            <a:endParaRPr lang="en-US" dirty="0"/>
          </a:p>
          <a:p>
            <a:r>
              <a:rPr lang="en-US" dirty="0"/>
              <a:t>It was developed by Alex </a:t>
            </a:r>
            <a:r>
              <a:rPr lang="en-US" dirty="0" err="1"/>
              <a:t>Krizhevsky</a:t>
            </a:r>
            <a:r>
              <a:rPr lang="en-US" dirty="0"/>
              <a:t>, Ilya </a:t>
            </a:r>
            <a:r>
              <a:rPr lang="en-US" dirty="0" err="1"/>
              <a:t>Sutskever</a:t>
            </a:r>
            <a:r>
              <a:rPr lang="en-US" dirty="0"/>
              <a:t>, and their advisor Geoffrey Hinton at the University of Toronto</a:t>
            </a:r>
            <a:endParaRPr lang="en-IN" dirty="0"/>
          </a:p>
        </p:txBody>
      </p:sp>
    </p:spTree>
    <p:extLst>
      <p:ext uri="{BB962C8B-B14F-4D97-AF65-F5344CB8AC3E}">
        <p14:creationId xmlns:p14="http://schemas.microsoft.com/office/powerpoint/2010/main" val="32060995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2F533-111E-B2E9-E935-E4386F0013E0}"/>
              </a:ext>
            </a:extLst>
          </p:cNvPr>
          <p:cNvSpPr>
            <a:spLocks noGrp="1"/>
          </p:cNvSpPr>
          <p:nvPr>
            <p:ph type="title"/>
          </p:nvPr>
        </p:nvSpPr>
        <p:spPr/>
        <p:txBody>
          <a:bodyPr/>
          <a:lstStyle/>
          <a:p>
            <a:pPr algn="just"/>
            <a:r>
              <a:rPr lang="en-US" dirty="0"/>
              <a:t>Background in Computer Vision and ImageNet</a:t>
            </a:r>
            <a:endParaRPr lang="en-IN" dirty="0"/>
          </a:p>
        </p:txBody>
      </p:sp>
      <p:sp>
        <p:nvSpPr>
          <p:cNvPr id="3" name="Content Placeholder 2">
            <a:extLst>
              <a:ext uri="{FF2B5EF4-FFF2-40B4-BE49-F238E27FC236}">
                <a16:creationId xmlns:a16="http://schemas.microsoft.com/office/drawing/2014/main" id="{7B591C41-DBB9-9AC3-CD55-730C0687B88F}"/>
              </a:ext>
            </a:extLst>
          </p:cNvPr>
          <p:cNvSpPr>
            <a:spLocks noGrp="1"/>
          </p:cNvSpPr>
          <p:nvPr>
            <p:ph idx="1"/>
          </p:nvPr>
        </p:nvSpPr>
        <p:spPr/>
        <p:txBody>
          <a:bodyPr/>
          <a:lstStyle/>
          <a:p>
            <a:pPr algn="just"/>
            <a:r>
              <a:rPr lang="en-US" dirty="0">
                <a:highlight>
                  <a:srgbClr val="FFFF00"/>
                </a:highlight>
              </a:rPr>
              <a:t>ImageNet Dataset</a:t>
            </a:r>
            <a:r>
              <a:rPr lang="en-US" dirty="0"/>
              <a:t>: Around 2009, Fei-Fei Li and her team at Stanford introduced ImageNet, a large-scale dataset of millions of labeled images across thousands of categories. The sheer size of ImageNet presented a unique challenge for developing algorithms capable of learning effectively from vast, diverse visual data.</a:t>
            </a:r>
          </a:p>
          <a:p>
            <a:pPr algn="just"/>
            <a:endParaRPr lang="en-US" dirty="0"/>
          </a:p>
          <a:p>
            <a:pPr algn="just"/>
            <a:r>
              <a:rPr lang="en-US" dirty="0">
                <a:highlight>
                  <a:srgbClr val="FFFF00"/>
                </a:highlight>
              </a:rPr>
              <a:t>Challenges in Traditional Methods</a:t>
            </a:r>
            <a:r>
              <a:rPr lang="en-US" dirty="0"/>
              <a:t>: Prior to </a:t>
            </a:r>
            <a:r>
              <a:rPr lang="en-US" dirty="0" err="1"/>
              <a:t>AlexNet</a:t>
            </a:r>
            <a:r>
              <a:rPr lang="en-US" dirty="0"/>
              <a:t>, most computer vision techniques relied on hand-crafted feature extraction methods like SIFT or HOG, which had limited success in tasks with significant variation (like ImageNet) and often required task-specific tuning.</a:t>
            </a:r>
            <a:endParaRPr lang="en-IN" dirty="0"/>
          </a:p>
        </p:txBody>
      </p:sp>
    </p:spTree>
    <p:extLst>
      <p:ext uri="{BB962C8B-B14F-4D97-AF65-F5344CB8AC3E}">
        <p14:creationId xmlns:p14="http://schemas.microsoft.com/office/powerpoint/2010/main" val="5237506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EA4ED-B2A5-A470-EFFB-115A99C9FD5E}"/>
              </a:ext>
            </a:extLst>
          </p:cNvPr>
          <p:cNvSpPr>
            <a:spLocks noGrp="1"/>
          </p:cNvSpPr>
          <p:nvPr>
            <p:ph type="title"/>
          </p:nvPr>
        </p:nvSpPr>
        <p:spPr/>
        <p:txBody>
          <a:bodyPr/>
          <a:lstStyle/>
          <a:p>
            <a:pPr algn="ctr"/>
            <a:r>
              <a:rPr lang="en-IN" dirty="0"/>
              <a:t>Design of </a:t>
            </a:r>
            <a:r>
              <a:rPr lang="en-IN" dirty="0" err="1"/>
              <a:t>AlexNet</a:t>
            </a:r>
            <a:endParaRPr lang="en-IN" dirty="0"/>
          </a:p>
        </p:txBody>
      </p:sp>
      <p:sp>
        <p:nvSpPr>
          <p:cNvPr id="3" name="Content Placeholder 2">
            <a:extLst>
              <a:ext uri="{FF2B5EF4-FFF2-40B4-BE49-F238E27FC236}">
                <a16:creationId xmlns:a16="http://schemas.microsoft.com/office/drawing/2014/main" id="{C714CEC2-E03A-EFF7-B006-99A267BC7FBA}"/>
              </a:ext>
            </a:extLst>
          </p:cNvPr>
          <p:cNvSpPr>
            <a:spLocks noGrp="1"/>
          </p:cNvSpPr>
          <p:nvPr>
            <p:ph idx="1"/>
          </p:nvPr>
        </p:nvSpPr>
        <p:spPr>
          <a:xfrm>
            <a:off x="669234" y="1447938"/>
            <a:ext cx="11078817" cy="4833592"/>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Eight Layers: </a:t>
            </a:r>
          </a:p>
          <a:p>
            <a:pPr lvl="1" algn="just"/>
            <a:r>
              <a:rPr lang="en-US" dirty="0">
                <a:latin typeface="Times New Roman" panose="02020603050405020304" pitchFamily="18" charset="0"/>
                <a:cs typeface="Times New Roman" panose="02020603050405020304" pitchFamily="18" charset="0"/>
              </a:rPr>
              <a:t>It consisted of five convolutional layers followed by three fully connected layers, making it one of the deepest networks at the time.</a:t>
            </a:r>
          </a:p>
          <a:p>
            <a:pPr algn="just"/>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Activation Function: </a:t>
            </a:r>
          </a:p>
          <a:p>
            <a:pPr lvl="1" algn="just"/>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used Rectified Linear Units (</a:t>
            </a:r>
            <a:r>
              <a:rPr lang="en-US" dirty="0" err="1">
                <a:latin typeface="Times New Roman" panose="02020603050405020304" pitchFamily="18" charset="0"/>
                <a:cs typeface="Times New Roman" panose="02020603050405020304" pitchFamily="18" charset="0"/>
              </a:rPr>
              <a:t>ReLUs</a:t>
            </a:r>
            <a:r>
              <a:rPr lang="en-US" dirty="0">
                <a:latin typeface="Times New Roman" panose="02020603050405020304" pitchFamily="18" charset="0"/>
                <a:cs typeface="Times New Roman" panose="02020603050405020304" pitchFamily="18" charset="0"/>
              </a:rPr>
              <a:t>) instead of traditional sigmoid or tanh activations. </a:t>
            </a:r>
            <a:r>
              <a:rPr lang="en-US" dirty="0" err="1">
                <a:latin typeface="Times New Roman" panose="02020603050405020304" pitchFamily="18" charset="0"/>
                <a:cs typeface="Times New Roman" panose="02020603050405020304" pitchFamily="18" charset="0"/>
              </a:rPr>
              <a:t>ReLUs</a:t>
            </a:r>
            <a:r>
              <a:rPr lang="en-US" dirty="0">
                <a:latin typeface="Times New Roman" panose="02020603050405020304" pitchFamily="18" charset="0"/>
                <a:cs typeface="Times New Roman" panose="02020603050405020304" pitchFamily="18" charset="0"/>
              </a:rPr>
              <a:t> reduce issues like vanishing gradients and improve convergence speed.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Overlapping Pooling:</a:t>
            </a:r>
          </a:p>
          <a:p>
            <a:pPr lvl="1"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used overlapping max-pooling layers, which improved the model’s ability to generalize and reduced the risk of overfitting.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0345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03BA9-849A-302E-9DA3-DF6209B57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16A33-84AC-11DE-D52E-550E041432E3}"/>
              </a:ext>
            </a:extLst>
          </p:cNvPr>
          <p:cNvSpPr>
            <a:spLocks noGrp="1"/>
          </p:cNvSpPr>
          <p:nvPr>
            <p:ph type="title"/>
          </p:nvPr>
        </p:nvSpPr>
        <p:spPr/>
        <p:txBody>
          <a:bodyPr/>
          <a:lstStyle/>
          <a:p>
            <a:pPr algn="ctr"/>
            <a:r>
              <a:rPr lang="en-IN" dirty="0"/>
              <a:t>Design of </a:t>
            </a:r>
            <a:r>
              <a:rPr lang="en-IN" dirty="0" err="1"/>
              <a:t>AlexNet</a:t>
            </a:r>
            <a:endParaRPr lang="en-IN" dirty="0"/>
          </a:p>
        </p:txBody>
      </p:sp>
      <p:sp>
        <p:nvSpPr>
          <p:cNvPr id="3" name="Content Placeholder 2">
            <a:extLst>
              <a:ext uri="{FF2B5EF4-FFF2-40B4-BE49-F238E27FC236}">
                <a16:creationId xmlns:a16="http://schemas.microsoft.com/office/drawing/2014/main" id="{33FF2532-3760-E6A3-443D-B0DE11CC9C08}"/>
              </a:ext>
            </a:extLst>
          </p:cNvPr>
          <p:cNvSpPr>
            <a:spLocks noGrp="1"/>
          </p:cNvSpPr>
          <p:nvPr>
            <p:ph idx="1"/>
          </p:nvPr>
        </p:nvSpPr>
        <p:spPr/>
        <p:txBody>
          <a:bodyPr>
            <a:normAutofit/>
          </a:bodyPr>
          <a:lstStyle/>
          <a:p>
            <a:pPr algn="just"/>
            <a:r>
              <a:rPr lang="en-US" dirty="0"/>
              <a:t>Dropout for Regularization:</a:t>
            </a:r>
          </a:p>
          <a:p>
            <a:pPr lvl="1" algn="just"/>
            <a:r>
              <a:rPr lang="en-US" sz="2800" dirty="0"/>
              <a:t>To prevent overfitting, </a:t>
            </a:r>
            <a:r>
              <a:rPr lang="en-US" sz="2800" dirty="0" err="1"/>
              <a:t>AlexNet</a:t>
            </a:r>
            <a:r>
              <a:rPr lang="en-US" sz="2800" dirty="0"/>
              <a:t> introduced dropout in the fully connected layers, randomly dropping units during training to encourage the network to develop more robust feature representations.</a:t>
            </a:r>
          </a:p>
          <a:p>
            <a:pPr algn="just"/>
            <a:endParaRPr lang="en-US" dirty="0"/>
          </a:p>
          <a:p>
            <a:pPr algn="just"/>
            <a:r>
              <a:rPr lang="en-US" dirty="0"/>
              <a:t>Data Augmentation:</a:t>
            </a:r>
          </a:p>
          <a:p>
            <a:pPr lvl="1" algn="just"/>
            <a:r>
              <a:rPr lang="en-US" sz="2800" dirty="0"/>
              <a:t>To artificially expand the dataset and reduce overfitting, </a:t>
            </a:r>
            <a:r>
              <a:rPr lang="en-US" sz="2800" dirty="0" err="1"/>
              <a:t>AlexNet</a:t>
            </a:r>
            <a:r>
              <a:rPr lang="en-US" sz="2800" dirty="0"/>
              <a:t> used techniques like image translation, horizontal flipping, and changing color intensities.</a:t>
            </a:r>
            <a:endParaRPr lang="en-IN" sz="2800" dirty="0"/>
          </a:p>
        </p:txBody>
      </p:sp>
    </p:spTree>
    <p:extLst>
      <p:ext uri="{BB962C8B-B14F-4D97-AF65-F5344CB8AC3E}">
        <p14:creationId xmlns:p14="http://schemas.microsoft.com/office/powerpoint/2010/main" val="16021765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E609-4D3E-91A9-F9F6-841F878E07CC}"/>
              </a:ext>
            </a:extLst>
          </p:cNvPr>
          <p:cNvSpPr>
            <a:spLocks noGrp="1"/>
          </p:cNvSpPr>
          <p:nvPr>
            <p:ph type="title"/>
          </p:nvPr>
        </p:nvSpPr>
        <p:spPr>
          <a:xfrm>
            <a:off x="838200" y="365125"/>
            <a:ext cx="10515600" cy="803275"/>
          </a:xfrm>
        </p:spPr>
        <p:txBody>
          <a:bodyPr/>
          <a:lstStyle/>
          <a:p>
            <a:pPr algn="ctr"/>
            <a:r>
              <a:rPr lang="en-IN" dirty="0"/>
              <a:t>Architecture</a:t>
            </a:r>
          </a:p>
        </p:txBody>
      </p:sp>
      <p:sp>
        <p:nvSpPr>
          <p:cNvPr id="3" name="Content Placeholder 2">
            <a:extLst>
              <a:ext uri="{FF2B5EF4-FFF2-40B4-BE49-F238E27FC236}">
                <a16:creationId xmlns:a16="http://schemas.microsoft.com/office/drawing/2014/main" id="{DDC2B1F4-CB39-2EEA-BB39-B5B750B5498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B4242EC-4DB7-1900-AF09-178324ACB381}"/>
              </a:ext>
            </a:extLst>
          </p:cNvPr>
          <p:cNvPicPr>
            <a:picLocks noChangeAspect="1"/>
          </p:cNvPicPr>
          <p:nvPr/>
        </p:nvPicPr>
        <p:blipFill>
          <a:blip r:embed="rId3"/>
          <a:stretch>
            <a:fillRect/>
          </a:stretch>
        </p:blipFill>
        <p:spPr>
          <a:xfrm>
            <a:off x="407284" y="1027906"/>
            <a:ext cx="11195436" cy="5573486"/>
          </a:xfrm>
          <a:prstGeom prst="rect">
            <a:avLst/>
          </a:prstGeom>
        </p:spPr>
      </p:pic>
    </p:spTree>
    <p:extLst>
      <p:ext uri="{BB962C8B-B14F-4D97-AF65-F5344CB8AC3E}">
        <p14:creationId xmlns:p14="http://schemas.microsoft.com/office/powerpoint/2010/main" val="369026339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1DC3-C645-7E2A-9DAD-57A71D984E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0698D06-B5BE-79AF-8166-FDB28676C03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6BD32CE-83E7-2022-A4C0-C46DC32D0980}"/>
              </a:ext>
            </a:extLst>
          </p:cNvPr>
          <p:cNvPicPr>
            <a:picLocks noChangeAspect="1"/>
          </p:cNvPicPr>
          <p:nvPr/>
        </p:nvPicPr>
        <p:blipFill>
          <a:blip r:embed="rId2"/>
          <a:stretch>
            <a:fillRect/>
          </a:stretch>
        </p:blipFill>
        <p:spPr>
          <a:xfrm>
            <a:off x="1219200" y="681037"/>
            <a:ext cx="9753600" cy="5324475"/>
          </a:xfrm>
          <a:prstGeom prst="rect">
            <a:avLst/>
          </a:prstGeom>
        </p:spPr>
      </p:pic>
    </p:spTree>
    <p:extLst>
      <p:ext uri="{BB962C8B-B14F-4D97-AF65-F5344CB8AC3E}">
        <p14:creationId xmlns:p14="http://schemas.microsoft.com/office/powerpoint/2010/main" val="31401352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873B-ACA5-A84B-4177-79559353CEF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AAA6158-3A3F-2433-562C-BF3DDC1FBE31}"/>
              </a:ext>
            </a:extLst>
          </p:cNvPr>
          <p:cNvSpPr>
            <a:spLocks noGrp="1"/>
          </p:cNvSpPr>
          <p:nvPr>
            <p:ph idx="1"/>
          </p:nvPr>
        </p:nvSpPr>
        <p:spPr/>
        <p:txBody>
          <a:bodyPr/>
          <a:lstStyle/>
          <a:p>
            <a:r>
              <a:rPr lang="en-US" b="1" dirty="0"/>
              <a:t>Architecture and Layers</a:t>
            </a:r>
            <a:r>
              <a:rPr lang="en-US" dirty="0"/>
              <a:t>:</a:t>
            </a:r>
          </a:p>
          <a:p>
            <a:pPr>
              <a:buFont typeface="Arial" panose="020B0604020202020204" pitchFamily="34" charset="0"/>
              <a:buChar char="•"/>
            </a:pPr>
            <a:r>
              <a:rPr lang="en-US" dirty="0" err="1"/>
              <a:t>AlexNet</a:t>
            </a:r>
            <a:r>
              <a:rPr lang="en-US" dirty="0"/>
              <a:t> consists of </a:t>
            </a:r>
            <a:r>
              <a:rPr lang="en-US" b="1" dirty="0"/>
              <a:t>five convolutional layers</a:t>
            </a:r>
            <a:r>
              <a:rPr lang="en-US" dirty="0"/>
              <a:t> followed by </a:t>
            </a:r>
            <a:r>
              <a:rPr lang="en-US" b="1" dirty="0"/>
              <a:t>three fully connected layers</a:t>
            </a:r>
            <a:r>
              <a:rPr lang="en-US" dirty="0"/>
              <a:t>. It uses </a:t>
            </a:r>
            <a:r>
              <a:rPr lang="en-US" b="1" dirty="0"/>
              <a:t>max-pooling layers</a:t>
            </a:r>
            <a:r>
              <a:rPr lang="en-US" dirty="0"/>
              <a:t> to reduce spatial dimensions and </a:t>
            </a:r>
            <a:r>
              <a:rPr lang="en-US" b="1" dirty="0"/>
              <a:t>dropout layers</a:t>
            </a:r>
            <a:r>
              <a:rPr lang="en-US" dirty="0"/>
              <a:t> to prevent overfitting.</a:t>
            </a:r>
          </a:p>
          <a:p>
            <a:pPr>
              <a:buFont typeface="Arial" panose="020B0604020202020204" pitchFamily="34" charset="0"/>
              <a:buChar char="•"/>
            </a:pPr>
            <a:r>
              <a:rPr lang="en-US" dirty="0"/>
              <a:t>The network was designed with </a:t>
            </a:r>
            <a:r>
              <a:rPr lang="en-US" b="1" dirty="0" err="1"/>
              <a:t>ReLU</a:t>
            </a:r>
            <a:r>
              <a:rPr lang="en-US" b="1" dirty="0"/>
              <a:t> (Rectified Linear Unit) activation functions</a:t>
            </a:r>
            <a:r>
              <a:rPr lang="en-US" dirty="0"/>
              <a:t>, which improve training speed compared to traditional activation functions like sigmoid or tanh by preventing saturation and facilitating faster gradient-based optimization.</a:t>
            </a:r>
          </a:p>
          <a:p>
            <a:endParaRPr lang="en-IN" dirty="0"/>
          </a:p>
        </p:txBody>
      </p:sp>
    </p:spTree>
    <p:extLst>
      <p:ext uri="{BB962C8B-B14F-4D97-AF65-F5344CB8AC3E}">
        <p14:creationId xmlns:p14="http://schemas.microsoft.com/office/powerpoint/2010/main" val="2689998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22618-D389-6450-469F-C5BB4CFAC2B7}"/>
              </a:ext>
            </a:extLst>
          </p:cNvPr>
          <p:cNvSpPr>
            <a:spLocks noGrp="1"/>
          </p:cNvSpPr>
          <p:nvPr>
            <p:ph idx="1"/>
          </p:nvPr>
        </p:nvSpPr>
        <p:spPr>
          <a:xfrm>
            <a:off x="838200" y="337930"/>
            <a:ext cx="10515600" cy="5839033"/>
          </a:xfrm>
        </p:spPr>
        <p:txBody>
          <a:bodyPr/>
          <a:lstStyle/>
          <a:p>
            <a:endParaRPr lang="en-US" dirty="0"/>
          </a:p>
          <a:p>
            <a:r>
              <a:rPr lang="en-US" dirty="0"/>
              <a:t>Dataset:</a:t>
            </a:r>
          </a:p>
          <a:p>
            <a:r>
              <a:rPr lang="en-US" dirty="0"/>
              <a:t>Trained on the ImageNet dataset, </a:t>
            </a:r>
            <a:r>
              <a:rPr lang="en-US" dirty="0" err="1"/>
              <a:t>AlexNet</a:t>
            </a:r>
            <a:r>
              <a:rPr lang="en-US" dirty="0"/>
              <a:t> used 1.2 million training images, 50,000 validation images, and 150,000 testing images. The model's input images were down-sampled and cropped to 256x256 pixels, and mean normalization was applied for preprocessing.</a:t>
            </a:r>
          </a:p>
          <a:p>
            <a:endParaRPr lang="en-US" dirty="0"/>
          </a:p>
          <a:p>
            <a:r>
              <a:rPr lang="en-US" dirty="0"/>
              <a:t>Local Response Normalization (LRN):</a:t>
            </a:r>
          </a:p>
          <a:p>
            <a:r>
              <a:rPr lang="en-US" dirty="0"/>
              <a:t>This technique was used to improve generalization. It normalizes a neuron’s output based on the activity of neighboring neurons, which helped reduce error rates by maintaining a diverse range of activations across layers.</a:t>
            </a:r>
            <a:endParaRPr lang="en-IN" dirty="0"/>
          </a:p>
        </p:txBody>
      </p:sp>
    </p:spTree>
    <p:extLst>
      <p:ext uri="{BB962C8B-B14F-4D97-AF65-F5344CB8AC3E}">
        <p14:creationId xmlns:p14="http://schemas.microsoft.com/office/powerpoint/2010/main" val="18428349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B3CE0-DDEF-536D-641C-AE3F4321B995}"/>
              </a:ext>
            </a:extLst>
          </p:cNvPr>
          <p:cNvSpPr>
            <a:spLocks noGrp="1"/>
          </p:cNvSpPr>
          <p:nvPr>
            <p:ph idx="1"/>
          </p:nvPr>
        </p:nvSpPr>
        <p:spPr>
          <a:xfrm>
            <a:off x="838200" y="725557"/>
            <a:ext cx="10515600" cy="5451406"/>
          </a:xfrm>
        </p:spPr>
        <p:txBody>
          <a:bodyPr/>
          <a:lstStyle/>
          <a:p>
            <a:endParaRPr lang="en-US" dirty="0"/>
          </a:p>
          <a:p>
            <a:r>
              <a:rPr lang="en-US" dirty="0"/>
              <a:t>Overlapping Pooling:</a:t>
            </a:r>
          </a:p>
          <a:p>
            <a:r>
              <a:rPr lang="en-US" dirty="0"/>
              <a:t>Unlike traditional pooling, where regions are non-overlapping, </a:t>
            </a:r>
            <a:r>
              <a:rPr lang="en-US" dirty="0" err="1"/>
              <a:t>AlexNet’s</a:t>
            </a:r>
            <a:r>
              <a:rPr lang="en-US" dirty="0"/>
              <a:t> use of overlapping pooling allows neighboring regions to contribute to the pooled result, reducing error rates and improving feature extraction.</a:t>
            </a:r>
          </a:p>
          <a:p>
            <a:endParaRPr lang="en-US" dirty="0"/>
          </a:p>
          <a:p>
            <a:r>
              <a:rPr lang="en-US" dirty="0"/>
              <a:t>Data Augmentation:</a:t>
            </a:r>
          </a:p>
          <a:p>
            <a:r>
              <a:rPr lang="en-US" dirty="0"/>
              <a:t>To reduce overfitting, two data augmentation techniques were used: image translations and horizontal reflections and adjustments to intensity of RGB channels. This allowed the network to generalize better by creating variations in the training data.</a:t>
            </a:r>
            <a:endParaRPr lang="en-IN" dirty="0"/>
          </a:p>
        </p:txBody>
      </p:sp>
    </p:spTree>
    <p:extLst>
      <p:ext uri="{BB962C8B-B14F-4D97-AF65-F5344CB8AC3E}">
        <p14:creationId xmlns:p14="http://schemas.microsoft.com/office/powerpoint/2010/main" val="24436032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933022-895C-0268-BE66-AA83A9232AA6}"/>
              </a:ext>
            </a:extLst>
          </p:cNvPr>
          <p:cNvSpPr>
            <a:spLocks noGrp="1"/>
          </p:cNvSpPr>
          <p:nvPr>
            <p:ph idx="1"/>
          </p:nvPr>
        </p:nvSpPr>
        <p:spPr>
          <a:xfrm>
            <a:off x="838200" y="467139"/>
            <a:ext cx="10515600" cy="5709824"/>
          </a:xfrm>
        </p:spPr>
        <p:txBody>
          <a:bodyPr>
            <a:normAutofit/>
          </a:bodyPr>
          <a:lstStyle/>
          <a:p>
            <a:pPr algn="just"/>
            <a:endParaRPr lang="en-US" dirty="0"/>
          </a:p>
          <a:p>
            <a:pPr algn="just"/>
            <a:r>
              <a:rPr lang="en-US" dirty="0"/>
              <a:t>Dropout Regularization:</a:t>
            </a:r>
          </a:p>
          <a:p>
            <a:pPr algn="just"/>
            <a:r>
              <a:rPr lang="en-US" dirty="0"/>
              <a:t>Dropout was used to set random neurons’ outputs to zero with a 0.5 probability during training, making </a:t>
            </a:r>
            <a:r>
              <a:rPr lang="en-US" dirty="0" err="1"/>
              <a:t>AlexNet</a:t>
            </a:r>
            <a:r>
              <a:rPr lang="en-US" dirty="0"/>
              <a:t> more robust by forcing it to learn redundant representations. Although it doubled the required training time, it effectively prevented overfitting.</a:t>
            </a:r>
          </a:p>
          <a:p>
            <a:pPr algn="just"/>
            <a:endParaRPr lang="en-US" dirty="0"/>
          </a:p>
          <a:p>
            <a:pPr algn="just"/>
            <a:r>
              <a:rPr lang="en-US" dirty="0"/>
              <a:t>Stochastic Gradient Descent (SGD):</a:t>
            </a:r>
          </a:p>
          <a:p>
            <a:pPr algn="just"/>
            <a:r>
              <a:rPr lang="en-US" dirty="0"/>
              <a:t>The network used SGD with a batch size of 128 to minimize the cross-entropy loss function. Learning rates were adaptively adjusted, and momentum and weight decay were used to stabilize and accelerate convergence during training.</a:t>
            </a:r>
            <a:endParaRPr lang="en-IN" dirty="0"/>
          </a:p>
        </p:txBody>
      </p:sp>
    </p:spTree>
    <p:extLst>
      <p:ext uri="{BB962C8B-B14F-4D97-AF65-F5344CB8AC3E}">
        <p14:creationId xmlns:p14="http://schemas.microsoft.com/office/powerpoint/2010/main" val="34603855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35C480-B14E-6B23-6C5C-7CFC914FC4F3}"/>
              </a:ext>
            </a:extLst>
          </p:cNvPr>
          <p:cNvSpPr>
            <a:spLocks noGrp="1"/>
          </p:cNvSpPr>
          <p:nvPr>
            <p:ph idx="1"/>
          </p:nvPr>
        </p:nvSpPr>
        <p:spPr>
          <a:xfrm>
            <a:off x="838200" y="1013791"/>
            <a:ext cx="10515600" cy="5163172"/>
          </a:xfrm>
        </p:spPr>
        <p:txBody>
          <a:bodyPr/>
          <a:lstStyle/>
          <a:p>
            <a:endParaRPr lang="en-US" dirty="0"/>
          </a:p>
          <a:p>
            <a:r>
              <a:rPr lang="en-US" dirty="0"/>
              <a:t>Multi-GPU Training:</a:t>
            </a:r>
          </a:p>
          <a:p>
            <a:r>
              <a:rPr lang="en-US" dirty="0" err="1"/>
              <a:t>AlexNet</a:t>
            </a:r>
            <a:r>
              <a:rPr lang="en-US" dirty="0"/>
              <a:t> was one of the first models to leverage multiple GPUs for training. Half of the neurons in certain layers were assigned to each GPU, with inter-GPU communication occurring selectively to reduce training time and improve performance.</a:t>
            </a:r>
            <a:endParaRPr lang="en-IN" dirty="0"/>
          </a:p>
        </p:txBody>
      </p:sp>
    </p:spTree>
    <p:extLst>
      <p:ext uri="{BB962C8B-B14F-4D97-AF65-F5344CB8AC3E}">
        <p14:creationId xmlns:p14="http://schemas.microsoft.com/office/powerpoint/2010/main" val="3830162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4A6-970E-0CD4-FC22-D5F88A4F453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8ED328A-B081-CAF6-BBF9-992CE2D7D706}"/>
              </a:ext>
            </a:extLst>
          </p:cNvPr>
          <p:cNvSpPr>
            <a:spLocks noGrp="1"/>
          </p:cNvSpPr>
          <p:nvPr>
            <p:ph idx="1"/>
          </p:nvPr>
        </p:nvSpPr>
        <p:spPr/>
        <p:txBody>
          <a:bodyPr>
            <a:normAutofit/>
          </a:bodyPr>
          <a:lstStyle/>
          <a:p>
            <a:r>
              <a:rPr lang="en-US" dirty="0"/>
              <a:t>Suppose we input a 224x224x3 RGB image of a cat into </a:t>
            </a:r>
            <a:r>
              <a:rPr lang="en-US" dirty="0" err="1"/>
              <a:t>AlexNet</a:t>
            </a:r>
            <a:r>
              <a:rPr lang="en-US" dirty="0"/>
              <a:t>. </a:t>
            </a:r>
          </a:p>
          <a:p>
            <a:r>
              <a:rPr lang="en-US" dirty="0"/>
              <a:t>The network processes this image through the following stages:</a:t>
            </a:r>
          </a:p>
          <a:p>
            <a:endParaRPr lang="en-US" dirty="0"/>
          </a:p>
          <a:p>
            <a:r>
              <a:rPr lang="en-US" dirty="0"/>
              <a:t>1. Input </a:t>
            </a:r>
            <a:r>
              <a:rPr lang="en-US" dirty="0" err="1"/>
              <a:t>LayerInput</a:t>
            </a:r>
            <a:r>
              <a:rPr lang="en-US" dirty="0"/>
              <a:t>: </a:t>
            </a:r>
          </a:p>
          <a:p>
            <a:pPr lvl="1"/>
            <a:r>
              <a:rPr lang="en-US" dirty="0"/>
              <a:t>A 224x224x3 image.</a:t>
            </a:r>
          </a:p>
          <a:p>
            <a:pPr lvl="1"/>
            <a:r>
              <a:rPr lang="en-US" dirty="0" err="1"/>
              <a:t>AlexNet</a:t>
            </a:r>
            <a:r>
              <a:rPr lang="en-US" dirty="0"/>
              <a:t> actually resizes the input to 227x227x3 using padding or resizing for compatibility with its specific architecture.</a:t>
            </a:r>
          </a:p>
          <a:p>
            <a:pPr lvl="1"/>
            <a:r>
              <a:rPr lang="en-US" dirty="0"/>
              <a:t>Why Resize?</a:t>
            </a:r>
          </a:p>
          <a:p>
            <a:pPr lvl="2"/>
            <a:r>
              <a:rPr lang="en-US" dirty="0"/>
              <a:t>Filter and Stride Requirements: In </a:t>
            </a:r>
            <a:r>
              <a:rPr lang="en-US" dirty="0" err="1"/>
              <a:t>AlexNet</a:t>
            </a:r>
            <a:r>
              <a:rPr lang="en-US" dirty="0"/>
              <a:t>, the first layer’s filter size is 11x11 with a stride of 4.</a:t>
            </a:r>
            <a:endParaRPr lang="en-IN" dirty="0"/>
          </a:p>
        </p:txBody>
      </p:sp>
    </p:spTree>
    <p:extLst>
      <p:ext uri="{BB962C8B-B14F-4D97-AF65-F5344CB8AC3E}">
        <p14:creationId xmlns:p14="http://schemas.microsoft.com/office/powerpoint/2010/main" val="682900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794CC-B5C9-EDEF-D7D3-A0CEB479584B}"/>
              </a:ext>
            </a:extLst>
          </p:cNvPr>
          <p:cNvSpPr>
            <a:spLocks noGrp="1"/>
          </p:cNvSpPr>
          <p:nvPr>
            <p:ph idx="1"/>
          </p:nvPr>
        </p:nvSpPr>
        <p:spPr>
          <a:xfrm>
            <a:off x="838200" y="983974"/>
            <a:ext cx="10515600" cy="5192989"/>
          </a:xfrm>
        </p:spPr>
        <p:txBody>
          <a:bodyPr>
            <a:normAutofit lnSpcReduction="10000"/>
          </a:bodyPr>
          <a:lstStyle/>
          <a:p>
            <a:r>
              <a:rPr lang="en-US" dirty="0"/>
              <a:t>Fixed Filter Sizes:</a:t>
            </a:r>
          </a:p>
          <a:p>
            <a:r>
              <a:rPr lang="en-US" dirty="0"/>
              <a:t>Each convolutional layer in </a:t>
            </a:r>
            <a:r>
              <a:rPr lang="en-US" dirty="0" err="1"/>
              <a:t>AlexNet</a:t>
            </a:r>
            <a:r>
              <a:rPr lang="en-US" dirty="0"/>
              <a:t> has a set filter size, optimized for image feature extraction. For example, the first convolutional layer uses an 11x11 filter, the second layer uses a 5x5 filter, and subsequent layers use 3x3 </a:t>
            </a:r>
            <a:r>
              <a:rPr lang="en-US" dirty="0" err="1"/>
              <a:t>filters.These</a:t>
            </a:r>
            <a:r>
              <a:rPr lang="en-US" dirty="0"/>
              <a:t> filter sizes are fixed throughout training and do not change dynamically.</a:t>
            </a:r>
          </a:p>
          <a:p>
            <a:endParaRPr lang="en-US" dirty="0"/>
          </a:p>
          <a:p>
            <a:r>
              <a:rPr lang="en-US" dirty="0"/>
              <a:t>Fixed Input Size:</a:t>
            </a:r>
          </a:p>
          <a:p>
            <a:r>
              <a:rPr lang="en-US" dirty="0"/>
              <a:t>The input image dimensions for </a:t>
            </a:r>
            <a:r>
              <a:rPr lang="en-US" dirty="0" err="1"/>
              <a:t>AlexNet</a:t>
            </a:r>
            <a:r>
              <a:rPr lang="en-US" dirty="0"/>
              <a:t> are standardized to 256x256 pixels. During preprocessing, images are down-sampled and cropped to this fixed size to maintain uniformity across the dataset, ensuring that every image input has the same dimensions.</a:t>
            </a:r>
            <a:endParaRPr lang="en-IN" dirty="0"/>
          </a:p>
        </p:txBody>
      </p:sp>
    </p:spTree>
    <p:extLst>
      <p:ext uri="{BB962C8B-B14F-4D97-AF65-F5344CB8AC3E}">
        <p14:creationId xmlns:p14="http://schemas.microsoft.com/office/powerpoint/2010/main" val="24839437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6B56B-F4F2-E7B5-421F-04F9A253FB89}"/>
              </a:ext>
            </a:extLst>
          </p:cNvPr>
          <p:cNvSpPr>
            <a:spLocks noGrp="1"/>
          </p:cNvSpPr>
          <p:nvPr>
            <p:ph idx="1"/>
          </p:nvPr>
        </p:nvSpPr>
        <p:spPr>
          <a:xfrm>
            <a:off x="838200" y="715617"/>
            <a:ext cx="10515600" cy="5461346"/>
          </a:xfrm>
        </p:spPr>
        <p:txBody>
          <a:bodyPr/>
          <a:lstStyle/>
          <a:p>
            <a:r>
              <a:rPr lang="en-US" dirty="0"/>
              <a:t>First Convolutional Layer (Conv1)Filters: </a:t>
            </a:r>
          </a:p>
          <a:p>
            <a:endParaRPr lang="en-US" dirty="0"/>
          </a:p>
          <a:p>
            <a:pPr lvl="1"/>
            <a:r>
              <a:rPr lang="en-US" dirty="0"/>
              <a:t>96 filters of size 11x11 with a stride of 4.</a:t>
            </a:r>
          </a:p>
          <a:p>
            <a:pPr lvl="1"/>
            <a:endParaRPr lang="en-US" dirty="0"/>
          </a:p>
          <a:p>
            <a:pPr lvl="1"/>
            <a:r>
              <a:rPr lang="en-US" dirty="0"/>
              <a:t>Output: After applying 96 filters, we get a 55x55x96 feature map.</a:t>
            </a:r>
          </a:p>
          <a:p>
            <a:pPr lvl="1"/>
            <a:endParaRPr lang="en-US" dirty="0"/>
          </a:p>
          <a:p>
            <a:pPr lvl="1"/>
            <a:r>
              <a:rPr lang="en-US" dirty="0"/>
              <a:t>Activation: </a:t>
            </a:r>
            <a:r>
              <a:rPr lang="en-US" dirty="0" err="1"/>
              <a:t>ReLU</a:t>
            </a:r>
            <a:r>
              <a:rPr lang="en-US" dirty="0"/>
              <a:t> activation is applied after convolution to introduce non-linearity.</a:t>
            </a:r>
          </a:p>
          <a:p>
            <a:pPr lvl="1"/>
            <a:endParaRPr lang="en-US" dirty="0"/>
          </a:p>
          <a:p>
            <a:pPr lvl="1"/>
            <a:r>
              <a:rPr lang="en-US" dirty="0"/>
              <a:t>Pooling: Max pooling with a 3x3 filter and stride of 2, reducing output to 27x27x96.</a:t>
            </a:r>
            <a:endParaRPr lang="en-IN" dirty="0"/>
          </a:p>
        </p:txBody>
      </p:sp>
    </p:spTree>
    <p:extLst>
      <p:ext uri="{BB962C8B-B14F-4D97-AF65-F5344CB8AC3E}">
        <p14:creationId xmlns:p14="http://schemas.microsoft.com/office/powerpoint/2010/main" val="8709939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BD0E3-14E2-BDAA-F623-9A1C862CA92A}"/>
              </a:ext>
            </a:extLst>
          </p:cNvPr>
          <p:cNvSpPr>
            <a:spLocks noGrp="1"/>
          </p:cNvSpPr>
          <p:nvPr>
            <p:ph idx="1"/>
          </p:nvPr>
        </p:nvSpPr>
        <p:spPr>
          <a:xfrm>
            <a:off x="838200" y="934278"/>
            <a:ext cx="10515600" cy="5242685"/>
          </a:xfrm>
        </p:spPr>
        <p:txBody>
          <a:bodyPr/>
          <a:lstStyle/>
          <a:p>
            <a:r>
              <a:rPr lang="en-US" dirty="0"/>
              <a:t>Second Convolutional Layer (Conv2)Filters: </a:t>
            </a:r>
          </a:p>
          <a:p>
            <a:endParaRPr lang="en-US" dirty="0"/>
          </a:p>
          <a:p>
            <a:pPr lvl="1"/>
            <a:r>
              <a:rPr lang="en-US" dirty="0"/>
              <a:t>256 filters of size 5x5 with stride 1.</a:t>
            </a:r>
          </a:p>
          <a:p>
            <a:pPr lvl="1"/>
            <a:endParaRPr lang="en-US" dirty="0"/>
          </a:p>
          <a:p>
            <a:pPr lvl="1"/>
            <a:r>
              <a:rPr lang="en-US" dirty="0"/>
              <a:t>Output: Results in a 27x27x256 feature map after convolution and </a:t>
            </a:r>
            <a:r>
              <a:rPr lang="en-US" dirty="0" err="1"/>
              <a:t>ReLU</a:t>
            </a:r>
            <a:r>
              <a:rPr lang="en-US" dirty="0"/>
              <a:t>.</a:t>
            </a:r>
          </a:p>
          <a:p>
            <a:pPr lvl="1"/>
            <a:endParaRPr lang="en-US" dirty="0"/>
          </a:p>
          <a:p>
            <a:pPr lvl="1"/>
            <a:r>
              <a:rPr lang="en-US" dirty="0"/>
              <a:t>Pooling: Max pooling with a 3x3 filter and stride of 2, reducing output to 13x13x256.</a:t>
            </a:r>
            <a:endParaRPr lang="en-IN" dirty="0"/>
          </a:p>
        </p:txBody>
      </p:sp>
    </p:spTree>
    <p:extLst>
      <p:ext uri="{BB962C8B-B14F-4D97-AF65-F5344CB8AC3E}">
        <p14:creationId xmlns:p14="http://schemas.microsoft.com/office/powerpoint/2010/main" val="7002118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F7B8-21B5-2254-5C35-22BA2EB97D3F}"/>
              </a:ext>
            </a:extLst>
          </p:cNvPr>
          <p:cNvSpPr>
            <a:spLocks noGrp="1"/>
          </p:cNvSpPr>
          <p:nvPr>
            <p:ph type="title"/>
          </p:nvPr>
        </p:nvSpPr>
        <p:spPr/>
        <p:txBody>
          <a:bodyPr/>
          <a:lstStyle/>
          <a:p>
            <a:r>
              <a:rPr lang="en-IN" dirty="0"/>
              <a:t>Why different size filter for different layers?</a:t>
            </a:r>
          </a:p>
        </p:txBody>
      </p:sp>
      <p:sp>
        <p:nvSpPr>
          <p:cNvPr id="3" name="Content Placeholder 2">
            <a:extLst>
              <a:ext uri="{FF2B5EF4-FFF2-40B4-BE49-F238E27FC236}">
                <a16:creationId xmlns:a16="http://schemas.microsoft.com/office/drawing/2014/main" id="{28E2B31F-F47B-28EC-A91D-20E7E9FBA3BB}"/>
              </a:ext>
            </a:extLst>
          </p:cNvPr>
          <p:cNvSpPr>
            <a:spLocks noGrp="1"/>
          </p:cNvSpPr>
          <p:nvPr>
            <p:ph idx="1"/>
          </p:nvPr>
        </p:nvSpPr>
        <p:spPr/>
        <p:txBody>
          <a:bodyPr>
            <a:normAutofit/>
          </a:bodyPr>
          <a:lstStyle/>
          <a:p>
            <a:r>
              <a:rPr lang="en-US" dirty="0"/>
              <a:t>First Convolutional Layer (11x11 filter):</a:t>
            </a:r>
          </a:p>
          <a:p>
            <a:pPr lvl="1"/>
            <a:endParaRPr lang="en-US" dirty="0"/>
          </a:p>
          <a:p>
            <a:pPr lvl="1"/>
            <a:r>
              <a:rPr lang="en-US" dirty="0"/>
              <a:t>Large Receptive Field: The 11×11 filter in the first layer covers a larger area of the input image, allowing it to capture low-level features such as edges, textures, and colors over a larger spatial context.</a:t>
            </a:r>
          </a:p>
          <a:p>
            <a:pPr lvl="1"/>
            <a:endParaRPr lang="en-US" dirty="0"/>
          </a:p>
          <a:p>
            <a:pPr lvl="1"/>
            <a:r>
              <a:rPr lang="en-US" dirty="0"/>
              <a:t>Large Stride (4): With a stride of 4, the filter skips pixels to reduce computation and quickly down-sample the image size, which also helps in managing the large input image dimensions (227x227).Reason: Since initial layers detect basic features, larger filters help capture more spatially extended patterns.</a:t>
            </a:r>
            <a:endParaRPr lang="en-IN" dirty="0"/>
          </a:p>
        </p:txBody>
      </p:sp>
    </p:spTree>
    <p:extLst>
      <p:ext uri="{BB962C8B-B14F-4D97-AF65-F5344CB8AC3E}">
        <p14:creationId xmlns:p14="http://schemas.microsoft.com/office/powerpoint/2010/main" val="29975797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5BCA-941A-81E9-6D48-F8DC15A8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69B7B-9333-6F89-76C2-2C699791FCDE}"/>
              </a:ext>
            </a:extLst>
          </p:cNvPr>
          <p:cNvSpPr>
            <a:spLocks noGrp="1"/>
          </p:cNvSpPr>
          <p:nvPr>
            <p:ph type="title"/>
          </p:nvPr>
        </p:nvSpPr>
        <p:spPr/>
        <p:txBody>
          <a:bodyPr/>
          <a:lstStyle/>
          <a:p>
            <a:r>
              <a:rPr lang="en-IN" dirty="0"/>
              <a:t>Why different size filter for different layers?</a:t>
            </a:r>
          </a:p>
        </p:txBody>
      </p:sp>
      <p:sp>
        <p:nvSpPr>
          <p:cNvPr id="3" name="Content Placeholder 2">
            <a:extLst>
              <a:ext uri="{FF2B5EF4-FFF2-40B4-BE49-F238E27FC236}">
                <a16:creationId xmlns:a16="http://schemas.microsoft.com/office/drawing/2014/main" id="{85B43986-01CE-ACA8-1238-04876AAC6566}"/>
              </a:ext>
            </a:extLst>
          </p:cNvPr>
          <p:cNvSpPr>
            <a:spLocks noGrp="1"/>
          </p:cNvSpPr>
          <p:nvPr>
            <p:ph idx="1"/>
          </p:nvPr>
        </p:nvSpPr>
        <p:spPr/>
        <p:txBody>
          <a:bodyPr>
            <a:normAutofit/>
          </a:bodyPr>
          <a:lstStyle/>
          <a:p>
            <a:r>
              <a:rPr lang="en-US" dirty="0"/>
              <a:t>Second Convolutional Layer (5x5 filter):</a:t>
            </a:r>
          </a:p>
          <a:p>
            <a:pPr lvl="1"/>
            <a:endParaRPr lang="en-US" dirty="0"/>
          </a:p>
          <a:p>
            <a:pPr lvl="1"/>
            <a:r>
              <a:rPr lang="en-US" dirty="0"/>
              <a:t>Intermediate Receptive Field: As the network moves deeper, the filters are smaller, allowing the network to capture finer details of the features detected by the first layer.</a:t>
            </a:r>
          </a:p>
          <a:p>
            <a:pPr lvl="1"/>
            <a:endParaRPr lang="en-US" dirty="0"/>
          </a:p>
          <a:p>
            <a:pPr lvl="1"/>
            <a:r>
              <a:rPr lang="en-US" dirty="0"/>
              <a:t>Reason: The second layer builds on the low-level features detected in the first layer to recognize more complex patterns, so a 5×5 filter size provides a good balance of detail and abstraction.</a:t>
            </a:r>
            <a:endParaRPr lang="en-IN" dirty="0"/>
          </a:p>
        </p:txBody>
      </p:sp>
    </p:spTree>
    <p:extLst>
      <p:ext uri="{BB962C8B-B14F-4D97-AF65-F5344CB8AC3E}">
        <p14:creationId xmlns:p14="http://schemas.microsoft.com/office/powerpoint/2010/main" val="27630241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6D03-B156-9103-37D2-D41CB869A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E8322-85BC-D25F-4096-DE93AFFDEE20}"/>
              </a:ext>
            </a:extLst>
          </p:cNvPr>
          <p:cNvSpPr>
            <a:spLocks noGrp="1"/>
          </p:cNvSpPr>
          <p:nvPr>
            <p:ph type="title"/>
          </p:nvPr>
        </p:nvSpPr>
        <p:spPr/>
        <p:txBody>
          <a:bodyPr/>
          <a:lstStyle/>
          <a:p>
            <a:r>
              <a:rPr lang="en-IN" dirty="0"/>
              <a:t>Why different size filter for different layers?</a:t>
            </a:r>
          </a:p>
        </p:txBody>
      </p:sp>
      <p:sp>
        <p:nvSpPr>
          <p:cNvPr id="3" name="Content Placeholder 2">
            <a:extLst>
              <a:ext uri="{FF2B5EF4-FFF2-40B4-BE49-F238E27FC236}">
                <a16:creationId xmlns:a16="http://schemas.microsoft.com/office/drawing/2014/main" id="{02682236-136E-A770-35FF-07D7D3173362}"/>
              </a:ext>
            </a:extLst>
          </p:cNvPr>
          <p:cNvSpPr>
            <a:spLocks noGrp="1"/>
          </p:cNvSpPr>
          <p:nvPr>
            <p:ph idx="1"/>
          </p:nvPr>
        </p:nvSpPr>
        <p:spPr>
          <a:xfrm>
            <a:off x="477078" y="1855442"/>
            <a:ext cx="11237843" cy="4351338"/>
          </a:xfrm>
        </p:spPr>
        <p:txBody>
          <a:bodyPr>
            <a:normAutofit/>
          </a:bodyPr>
          <a:lstStyle/>
          <a:p>
            <a:r>
              <a:rPr lang="en-US" dirty="0"/>
              <a:t>Third, Fourth, and Fifth Convolutional Layers (3x3 filters):</a:t>
            </a:r>
          </a:p>
          <a:p>
            <a:pPr lvl="1"/>
            <a:r>
              <a:rPr lang="en-US" dirty="0"/>
              <a:t>Small Receptive Field: In these deeper layers, the 3×3 filters are focused on small details, combining and refining features detected by the previous layers. </a:t>
            </a:r>
          </a:p>
          <a:p>
            <a:pPr lvl="1"/>
            <a:r>
              <a:rPr lang="en-US" dirty="0"/>
              <a:t>These filters allow the network to capture intricate patterns like shapes, textures, and object parts.</a:t>
            </a:r>
          </a:p>
          <a:p>
            <a:pPr lvl="1"/>
            <a:endParaRPr lang="en-US" dirty="0"/>
          </a:p>
          <a:p>
            <a:pPr lvl="1"/>
            <a:r>
              <a:rPr lang="en-US" dirty="0"/>
              <a:t>Reason: Smaller filters in deeper layers are more efficient and computationally less intensive. Since the network has already down-sampled the spatial dimensions by this point, these smaller filters can capture highly specific, fine-grained details needed for classification.</a:t>
            </a:r>
            <a:endParaRPr lang="en-IN" dirty="0"/>
          </a:p>
        </p:txBody>
      </p:sp>
    </p:spTree>
    <p:extLst>
      <p:ext uri="{BB962C8B-B14F-4D97-AF65-F5344CB8AC3E}">
        <p14:creationId xmlns:p14="http://schemas.microsoft.com/office/powerpoint/2010/main" val="37281771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2583-D4D3-F307-3CD0-EFE2DAE6DB42}"/>
              </a:ext>
            </a:extLst>
          </p:cNvPr>
          <p:cNvSpPr>
            <a:spLocks noGrp="1"/>
          </p:cNvSpPr>
          <p:nvPr>
            <p:ph type="title"/>
          </p:nvPr>
        </p:nvSpPr>
        <p:spPr/>
        <p:txBody>
          <a:bodyPr/>
          <a:lstStyle/>
          <a:p>
            <a:r>
              <a:rPr lang="en-IN" dirty="0"/>
              <a:t>Why various sizes of pooling and overlapping?</a:t>
            </a:r>
          </a:p>
        </p:txBody>
      </p:sp>
      <p:sp>
        <p:nvSpPr>
          <p:cNvPr id="3" name="Content Placeholder 2">
            <a:extLst>
              <a:ext uri="{FF2B5EF4-FFF2-40B4-BE49-F238E27FC236}">
                <a16:creationId xmlns:a16="http://schemas.microsoft.com/office/drawing/2014/main" id="{1466B7A6-B22A-532D-2F1E-DACB44DF21A5}"/>
              </a:ext>
            </a:extLst>
          </p:cNvPr>
          <p:cNvSpPr>
            <a:spLocks noGrp="1"/>
          </p:cNvSpPr>
          <p:nvPr>
            <p:ph idx="1"/>
          </p:nvPr>
        </p:nvSpPr>
        <p:spPr>
          <a:xfrm>
            <a:off x="838200" y="1825625"/>
            <a:ext cx="10515600" cy="4585114"/>
          </a:xfrm>
        </p:spPr>
        <p:txBody>
          <a:bodyPr>
            <a:normAutofit fontScale="92500" lnSpcReduction="10000"/>
          </a:bodyPr>
          <a:lstStyle/>
          <a:p>
            <a:r>
              <a:rPr lang="en-US" sz="3200" b="1" dirty="0">
                <a:latin typeface="Times New Roman" panose="02020603050405020304" pitchFamily="18" charset="0"/>
                <a:cs typeface="Times New Roman" panose="02020603050405020304" pitchFamily="18" charset="0"/>
              </a:rPr>
              <a:t>Balance Between Dimensionality Reduction and Information Retention</a:t>
            </a:r>
          </a:p>
          <a:p>
            <a:pPr lvl="1"/>
            <a:r>
              <a:rPr lang="en-IN" sz="2800" b="1" dirty="0">
                <a:latin typeface="Times New Roman" panose="02020603050405020304" pitchFamily="18" charset="0"/>
                <a:cs typeface="Times New Roman" panose="02020603050405020304" pitchFamily="18" charset="0"/>
              </a:rPr>
              <a:t>Larger Pooling Sizes </a:t>
            </a:r>
            <a:endParaRPr lang="en-US" sz="2800" b="1" dirty="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Smaller Pooling Sizes</a:t>
            </a:r>
          </a:p>
          <a:p>
            <a:endParaRPr lang="en-IN" sz="3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Control Overfitting</a:t>
            </a:r>
          </a:p>
          <a:p>
            <a:endParaRPr lang="en-IN" sz="3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Preserving Feature Localization</a:t>
            </a:r>
          </a:p>
          <a:p>
            <a:endParaRPr lang="en-IN" sz="3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Spatial Invariance</a:t>
            </a:r>
          </a:p>
        </p:txBody>
      </p:sp>
    </p:spTree>
    <p:extLst>
      <p:ext uri="{BB962C8B-B14F-4D97-AF65-F5344CB8AC3E}">
        <p14:creationId xmlns:p14="http://schemas.microsoft.com/office/powerpoint/2010/main" val="32693945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CDF94-6400-C81E-D351-B6581B8CEE27}"/>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E694A94A-6CCD-B211-8330-C892E79E1A74}"/>
              </a:ext>
            </a:extLst>
          </p:cNvPr>
          <p:cNvSpPr>
            <a:spLocks noGrp="1"/>
          </p:cNvSpPr>
          <p:nvPr>
            <p:ph idx="1"/>
          </p:nvPr>
        </p:nvSpPr>
        <p:spPr/>
        <p:txBody>
          <a:bodyPr/>
          <a:lstStyle/>
          <a:p>
            <a:r>
              <a:rPr lang="en-US" dirty="0"/>
              <a:t>Breakthrough in Deep Learning and CNNs:</a:t>
            </a:r>
          </a:p>
          <a:p>
            <a:r>
              <a:rPr lang="en-US" dirty="0" err="1"/>
              <a:t>AlexNet’s</a:t>
            </a:r>
            <a:r>
              <a:rPr lang="en-US" dirty="0"/>
              <a:t> success in the 2012 ImageNet competition demonstrated the effectiveness of deep learning and CNNs for large-scale image classification, establishing CNNs as the standard for many computer vision tasks.</a:t>
            </a:r>
          </a:p>
          <a:p>
            <a:r>
              <a:rPr lang="en-US" dirty="0"/>
              <a:t>Efficient Use of GPUs:</a:t>
            </a:r>
          </a:p>
          <a:p>
            <a:r>
              <a:rPr lang="en-US" dirty="0" err="1"/>
              <a:t>AlexNet</a:t>
            </a:r>
            <a:r>
              <a:rPr lang="en-US" dirty="0"/>
              <a:t> was one of the first models to leverage multiple GPUs for training, which greatly reduced the training time on large datasets. This approach paved the way for further advancements in model parallelism.</a:t>
            </a:r>
            <a:endParaRPr lang="en-IN" dirty="0"/>
          </a:p>
        </p:txBody>
      </p:sp>
    </p:spTree>
    <p:extLst>
      <p:ext uri="{BB962C8B-B14F-4D97-AF65-F5344CB8AC3E}">
        <p14:creationId xmlns:p14="http://schemas.microsoft.com/office/powerpoint/2010/main" val="308290048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433C-FD28-AA20-4337-FB08523F42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D508AC-2E26-5CAF-BC38-E47D4CB89488}"/>
              </a:ext>
            </a:extLst>
          </p:cNvPr>
          <p:cNvSpPr>
            <a:spLocks noGrp="1"/>
          </p:cNvSpPr>
          <p:nvPr>
            <p:ph idx="1"/>
          </p:nvPr>
        </p:nvSpPr>
        <p:spPr/>
        <p:txBody>
          <a:bodyPr>
            <a:normAutofit/>
          </a:bodyPr>
          <a:lstStyle/>
          <a:p>
            <a:r>
              <a:rPr lang="en-US" dirty="0"/>
              <a:t>Introduction of Key Techniques:</a:t>
            </a:r>
          </a:p>
          <a:p>
            <a:r>
              <a:rPr lang="en-US" dirty="0" err="1"/>
              <a:t>AlexNet</a:t>
            </a:r>
            <a:r>
              <a:rPr lang="en-US" dirty="0"/>
              <a:t> introduced several techniques that improved performance and training efficiency, including:</a:t>
            </a:r>
          </a:p>
          <a:p>
            <a:pPr lvl="1"/>
            <a:r>
              <a:rPr lang="en-US" dirty="0" err="1">
                <a:highlight>
                  <a:srgbClr val="FFFF00"/>
                </a:highlight>
              </a:rPr>
              <a:t>ReLU</a:t>
            </a:r>
            <a:r>
              <a:rPr lang="en-US" dirty="0">
                <a:highlight>
                  <a:srgbClr val="FFFF00"/>
                </a:highlight>
              </a:rPr>
              <a:t> activation functions</a:t>
            </a:r>
            <a:r>
              <a:rPr lang="en-US" dirty="0"/>
              <a:t>: Faster convergence compared to traditional activation functions like sigmoid or tanh.</a:t>
            </a:r>
          </a:p>
          <a:p>
            <a:pPr lvl="1"/>
            <a:r>
              <a:rPr lang="en-US" dirty="0">
                <a:highlight>
                  <a:srgbClr val="FFFF00"/>
                </a:highlight>
              </a:rPr>
              <a:t>Dropout regularization</a:t>
            </a:r>
            <a:r>
              <a:rPr lang="en-US" dirty="0"/>
              <a:t>: Helped reduce overfitting by randomly setting neuron outputs to zero during training, which made the model more robust.</a:t>
            </a:r>
          </a:p>
          <a:p>
            <a:pPr lvl="1"/>
            <a:r>
              <a:rPr lang="en-US" dirty="0">
                <a:highlight>
                  <a:srgbClr val="FFFF00"/>
                </a:highlight>
              </a:rPr>
              <a:t>Data augmentation</a:t>
            </a:r>
            <a:r>
              <a:rPr lang="en-US" dirty="0"/>
              <a:t>: Increased the size and diversity of training data by applying transformations like image flipping and color variation, helping improve generalization.</a:t>
            </a:r>
            <a:endParaRPr lang="en-IN" dirty="0"/>
          </a:p>
        </p:txBody>
      </p:sp>
    </p:spTree>
    <p:extLst>
      <p:ext uri="{BB962C8B-B14F-4D97-AF65-F5344CB8AC3E}">
        <p14:creationId xmlns:p14="http://schemas.microsoft.com/office/powerpoint/2010/main" val="42758044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F8D1-D0E9-A846-C0E4-5700E8217296}"/>
              </a:ext>
            </a:extLst>
          </p:cNvPr>
          <p:cNvSpPr>
            <a:spLocks noGrp="1"/>
          </p:cNvSpPr>
          <p:nvPr>
            <p:ph type="title"/>
          </p:nvPr>
        </p:nvSpPr>
        <p:spPr/>
        <p:txBody>
          <a:bodyPr/>
          <a:lstStyle/>
          <a:p>
            <a:pPr algn="ctr"/>
            <a:r>
              <a:rPr lang="en-IN" dirty="0"/>
              <a:t>Disadvantages of </a:t>
            </a:r>
            <a:r>
              <a:rPr lang="en-IN" dirty="0" err="1"/>
              <a:t>AlexNet</a:t>
            </a:r>
            <a:endParaRPr lang="en-IN" dirty="0"/>
          </a:p>
        </p:txBody>
      </p:sp>
      <p:sp>
        <p:nvSpPr>
          <p:cNvPr id="3" name="Content Placeholder 2">
            <a:extLst>
              <a:ext uri="{FF2B5EF4-FFF2-40B4-BE49-F238E27FC236}">
                <a16:creationId xmlns:a16="http://schemas.microsoft.com/office/drawing/2014/main" id="{40A37488-171A-8DE2-C0A2-5E7CDBDAD2B0}"/>
              </a:ext>
            </a:extLst>
          </p:cNvPr>
          <p:cNvSpPr>
            <a:spLocks noGrp="1"/>
          </p:cNvSpPr>
          <p:nvPr>
            <p:ph idx="1"/>
          </p:nvPr>
        </p:nvSpPr>
        <p:spPr>
          <a:xfrm>
            <a:off x="838199" y="1825625"/>
            <a:ext cx="10850217" cy="4667250"/>
          </a:xfrm>
        </p:spPr>
        <p:txBody>
          <a:bodyPr>
            <a:normAutofit/>
          </a:bodyPr>
          <a:lstStyle/>
          <a:p>
            <a:pPr algn="just"/>
            <a:r>
              <a:rPr lang="en-US" sz="2400" dirty="0"/>
              <a:t>Large Memory and Computational Requirements:</a:t>
            </a:r>
          </a:p>
          <a:p>
            <a:pPr lvl="1" algn="just"/>
            <a:r>
              <a:rPr lang="en-US" dirty="0" err="1"/>
              <a:t>AlexNet’s</a:t>
            </a:r>
            <a:r>
              <a:rPr lang="en-US" dirty="0"/>
              <a:t> architecture, though efficient at the time, is relatively large and computationally demanding. The model has millions of parameters, which require significant memory and computational power for both training and inference.</a:t>
            </a:r>
          </a:p>
          <a:p>
            <a:pPr algn="just"/>
            <a:endParaRPr lang="en-US" sz="2400" dirty="0"/>
          </a:p>
          <a:p>
            <a:pPr algn="just"/>
            <a:r>
              <a:rPr lang="en-US" sz="2400" dirty="0"/>
              <a:t>High Overfitting Tendency:</a:t>
            </a:r>
          </a:p>
          <a:p>
            <a:pPr lvl="1" algn="just"/>
            <a:r>
              <a:rPr lang="en-US" dirty="0"/>
              <a:t>While dropout helped address overfitting, </a:t>
            </a:r>
            <a:r>
              <a:rPr lang="en-US" dirty="0" err="1"/>
              <a:t>AlexNet</a:t>
            </a:r>
            <a:r>
              <a:rPr lang="en-US" dirty="0"/>
              <a:t> still has a large number of parameters, making it prone to overfitting on smaller datasets. Newer architectures like VGG and </a:t>
            </a:r>
            <a:r>
              <a:rPr lang="en-US" dirty="0" err="1"/>
              <a:t>ResNet</a:t>
            </a:r>
            <a:r>
              <a:rPr lang="en-US" dirty="0"/>
              <a:t> incorporate additional strategies to further mitigate overfitting.</a:t>
            </a:r>
            <a:endParaRPr lang="en-IN" dirty="0"/>
          </a:p>
        </p:txBody>
      </p:sp>
    </p:spTree>
    <p:extLst>
      <p:ext uri="{BB962C8B-B14F-4D97-AF65-F5344CB8AC3E}">
        <p14:creationId xmlns:p14="http://schemas.microsoft.com/office/powerpoint/2010/main" val="39727032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A01C5-0637-82F6-CB44-63BE43B3359D}"/>
              </a:ext>
            </a:extLst>
          </p:cNvPr>
          <p:cNvSpPr>
            <a:spLocks noGrp="1"/>
          </p:cNvSpPr>
          <p:nvPr>
            <p:ph idx="1"/>
          </p:nvPr>
        </p:nvSpPr>
        <p:spPr>
          <a:xfrm>
            <a:off x="838200" y="606286"/>
            <a:ext cx="10515600" cy="6023113"/>
          </a:xfrm>
        </p:spPr>
        <p:txBody>
          <a:bodyPr>
            <a:normAutofit/>
          </a:bodyPr>
          <a:lstStyle/>
          <a:p>
            <a:pPr algn="just"/>
            <a:r>
              <a:rPr lang="en-US" dirty="0"/>
              <a:t>No Batch Normalization:</a:t>
            </a:r>
          </a:p>
          <a:p>
            <a:pPr lvl="1" algn="just"/>
            <a:r>
              <a:rPr lang="en-US" dirty="0" err="1"/>
              <a:t>AlexNet</a:t>
            </a:r>
            <a:r>
              <a:rPr lang="en-US" dirty="0"/>
              <a:t> does not include batch normalization, which was later introduced to improve training stability and speed by normalizing layer inputs. Batch normalization is now standard in most deep networks, as it addresses internal covariate shift and allows for higher learning rates.</a:t>
            </a:r>
          </a:p>
          <a:p>
            <a:pPr algn="just"/>
            <a:endParaRPr lang="en-US" dirty="0"/>
          </a:p>
          <a:p>
            <a:pPr algn="just"/>
            <a:r>
              <a:rPr lang="en-US" dirty="0"/>
              <a:t>Fixed Filter Sizes:</a:t>
            </a:r>
          </a:p>
          <a:p>
            <a:pPr lvl="1" algn="just"/>
            <a:r>
              <a:rPr lang="en-US" dirty="0" err="1"/>
              <a:t>AlexNet</a:t>
            </a:r>
            <a:r>
              <a:rPr lang="en-US" dirty="0"/>
              <a:t> uses fixed filter sizes (e.g., 11x11, 5x5), which limits its flexibility in capturing multi-scale features. Newer architectures, like Inception and </a:t>
            </a:r>
            <a:r>
              <a:rPr lang="en-US" dirty="0" err="1"/>
              <a:t>ResNet</a:t>
            </a:r>
            <a:r>
              <a:rPr lang="en-US" dirty="0"/>
              <a:t>, use a combination of different filter sizes within the same layer, enabling better feature extraction.</a:t>
            </a:r>
            <a:endParaRPr lang="en-IN" dirty="0"/>
          </a:p>
        </p:txBody>
      </p:sp>
    </p:spTree>
    <p:extLst>
      <p:ext uri="{BB962C8B-B14F-4D97-AF65-F5344CB8AC3E}">
        <p14:creationId xmlns:p14="http://schemas.microsoft.com/office/powerpoint/2010/main" val="111240627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B9EB2D-AFFA-9ACE-220D-0B24099CA498}"/>
              </a:ext>
            </a:extLst>
          </p:cNvPr>
          <p:cNvSpPr>
            <a:spLocks noGrp="1"/>
          </p:cNvSpPr>
          <p:nvPr>
            <p:ph idx="1"/>
          </p:nvPr>
        </p:nvSpPr>
        <p:spPr>
          <a:xfrm>
            <a:off x="708991" y="970860"/>
            <a:ext cx="10515600" cy="4351338"/>
          </a:xfrm>
        </p:spPr>
        <p:txBody>
          <a:bodyPr/>
          <a:lstStyle/>
          <a:p>
            <a:r>
              <a:rPr lang="en-US" dirty="0"/>
              <a:t>Lack of Depth and Efficiency Compared to Modern Architectures:</a:t>
            </a:r>
          </a:p>
          <a:p>
            <a:pPr lvl="1"/>
            <a:r>
              <a:rPr lang="en-US" dirty="0"/>
              <a:t>With only 5 convolutional layers, </a:t>
            </a:r>
            <a:r>
              <a:rPr lang="en-US" dirty="0" err="1"/>
              <a:t>AlexNet</a:t>
            </a:r>
            <a:r>
              <a:rPr lang="en-US" dirty="0"/>
              <a:t> is relatively shallow compared to newer architectures (e.g., VGG with 16-19 layers, </a:t>
            </a:r>
            <a:r>
              <a:rPr lang="en-US" dirty="0" err="1"/>
              <a:t>ResNet</a:t>
            </a:r>
            <a:r>
              <a:rPr lang="en-US" dirty="0"/>
              <a:t> with 50+ layers), which often outperform </a:t>
            </a:r>
            <a:r>
              <a:rPr lang="en-US" dirty="0" err="1"/>
              <a:t>AlexNet</a:t>
            </a:r>
            <a:r>
              <a:rPr lang="en-US" dirty="0"/>
              <a:t> on complex tasks due to their greater capacity to learn hierarchical features.</a:t>
            </a:r>
          </a:p>
          <a:p>
            <a:endParaRPr lang="en-IN" dirty="0"/>
          </a:p>
        </p:txBody>
      </p:sp>
    </p:spTree>
    <p:extLst>
      <p:ext uri="{BB962C8B-B14F-4D97-AF65-F5344CB8AC3E}">
        <p14:creationId xmlns:p14="http://schemas.microsoft.com/office/powerpoint/2010/main" val="405797513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4430-BAB0-5D83-B39D-35204394C0E1}"/>
              </a:ext>
            </a:extLst>
          </p:cNvPr>
          <p:cNvSpPr>
            <a:spLocks noGrp="1"/>
          </p:cNvSpPr>
          <p:nvPr>
            <p:ph type="title"/>
          </p:nvPr>
        </p:nvSpPr>
        <p:spPr/>
        <p:txBody>
          <a:bodyPr/>
          <a:lstStyle/>
          <a:p>
            <a:pPr algn="ctr"/>
            <a:r>
              <a:rPr lang="en-IN" dirty="0" err="1"/>
              <a:t>LeNet</a:t>
            </a:r>
            <a:endParaRPr lang="en-IN" dirty="0"/>
          </a:p>
        </p:txBody>
      </p:sp>
      <p:sp>
        <p:nvSpPr>
          <p:cNvPr id="3" name="Content Placeholder 2">
            <a:extLst>
              <a:ext uri="{FF2B5EF4-FFF2-40B4-BE49-F238E27FC236}">
                <a16:creationId xmlns:a16="http://schemas.microsoft.com/office/drawing/2014/main" id="{36E82500-C908-E8E6-ACFE-B528CB3F5594}"/>
              </a:ext>
            </a:extLst>
          </p:cNvPr>
          <p:cNvSpPr>
            <a:spLocks noGrp="1"/>
          </p:cNvSpPr>
          <p:nvPr>
            <p:ph idx="1"/>
          </p:nvPr>
        </p:nvSpPr>
        <p:spPr/>
        <p:txBody>
          <a:bodyPr/>
          <a:lstStyle/>
          <a:p>
            <a:r>
              <a:rPr lang="en-US" dirty="0"/>
              <a:t>The </a:t>
            </a:r>
            <a:r>
              <a:rPr lang="en-US" dirty="0" err="1"/>
              <a:t>LeNet</a:t>
            </a:r>
            <a:r>
              <a:rPr lang="en-US" dirty="0"/>
              <a:t> model is one of the earliest convolutional neural networks (CNNs) designed for image recognition tasks.</a:t>
            </a:r>
          </a:p>
          <a:p>
            <a:endParaRPr lang="en-US" dirty="0"/>
          </a:p>
          <a:p>
            <a:pPr algn="just"/>
            <a:r>
              <a:rPr lang="en-US" dirty="0"/>
              <a:t>It was developed by Yann LeCun and his collaborators in the late 1980s and early 1990s, and it became widely known for its application in handwritten digit recognition on the MNIST dataset.</a:t>
            </a:r>
            <a:endParaRPr lang="en-IN" dirty="0"/>
          </a:p>
        </p:txBody>
      </p:sp>
    </p:spTree>
    <p:extLst>
      <p:ext uri="{BB962C8B-B14F-4D97-AF65-F5344CB8AC3E}">
        <p14:creationId xmlns:p14="http://schemas.microsoft.com/office/powerpoint/2010/main" val="22832266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2690D9-BC57-BED0-5F97-C82657517584}"/>
              </a:ext>
            </a:extLst>
          </p:cNvPr>
          <p:cNvPicPr>
            <a:picLocks noChangeAspect="1"/>
          </p:cNvPicPr>
          <p:nvPr/>
        </p:nvPicPr>
        <p:blipFill>
          <a:blip r:embed="rId2"/>
          <a:stretch>
            <a:fillRect/>
          </a:stretch>
        </p:blipFill>
        <p:spPr>
          <a:xfrm>
            <a:off x="626165" y="1318988"/>
            <a:ext cx="11161643" cy="4220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119328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788F-B39E-9B04-88EE-DB892F68E463}"/>
              </a:ext>
            </a:extLst>
          </p:cNvPr>
          <p:cNvSpPr>
            <a:spLocks noGrp="1"/>
          </p:cNvSpPr>
          <p:nvPr>
            <p:ph type="title"/>
          </p:nvPr>
        </p:nvSpPr>
        <p:spPr/>
        <p:txBody>
          <a:bodyPr/>
          <a:lstStyle/>
          <a:p>
            <a:pPr algn="ctr"/>
            <a:r>
              <a:rPr lang="en-IN" dirty="0"/>
              <a:t>Architecture of </a:t>
            </a:r>
            <a:r>
              <a:rPr lang="en-IN" dirty="0" err="1"/>
              <a:t>LeNet</a:t>
            </a:r>
            <a:endParaRPr lang="en-IN" dirty="0"/>
          </a:p>
        </p:txBody>
      </p:sp>
      <p:sp>
        <p:nvSpPr>
          <p:cNvPr id="3" name="Content Placeholder 2">
            <a:extLst>
              <a:ext uri="{FF2B5EF4-FFF2-40B4-BE49-F238E27FC236}">
                <a16:creationId xmlns:a16="http://schemas.microsoft.com/office/drawing/2014/main" id="{035DCECA-DE73-DFFC-DB24-B0BA103E0F7D}"/>
              </a:ext>
            </a:extLst>
          </p:cNvPr>
          <p:cNvSpPr>
            <a:spLocks noGrp="1"/>
          </p:cNvSpPr>
          <p:nvPr>
            <p:ph idx="1"/>
          </p:nvPr>
        </p:nvSpPr>
        <p:spPr>
          <a:xfrm>
            <a:off x="838200" y="1825624"/>
            <a:ext cx="10515600" cy="4783897"/>
          </a:xfrm>
        </p:spPr>
        <p:txBody>
          <a:bodyPr>
            <a:normAutofit/>
          </a:bodyPr>
          <a:lstStyle/>
          <a:p>
            <a:r>
              <a:rPr lang="en-US" dirty="0"/>
              <a:t>Input Layer:</a:t>
            </a:r>
          </a:p>
          <a:p>
            <a:pPr lvl="1"/>
            <a:r>
              <a:rPr lang="en-US" dirty="0"/>
              <a:t>The input to the model is a 32x32 grayscale image (e.g., handwritten digit images).</a:t>
            </a:r>
          </a:p>
          <a:p>
            <a:pPr lvl="1"/>
            <a:r>
              <a:rPr lang="en-US" dirty="0"/>
              <a:t>Since MNIST images are typically 28x28, they’re usually zero-padded to 32x32 to preserve edge features better during convolution.</a:t>
            </a:r>
          </a:p>
          <a:p>
            <a:endParaRPr lang="en-US" dirty="0"/>
          </a:p>
          <a:p>
            <a:r>
              <a:rPr lang="en-US" dirty="0"/>
              <a:t>C1 - Convolutional Layer:</a:t>
            </a:r>
          </a:p>
          <a:p>
            <a:pPr lvl="1"/>
            <a:r>
              <a:rPr lang="en-US" dirty="0"/>
              <a:t>Applies 6 convolutional filters of size 5x5 with a stride of 1.</a:t>
            </a:r>
          </a:p>
          <a:p>
            <a:pPr lvl="1"/>
            <a:r>
              <a:rPr lang="en-US" dirty="0"/>
              <a:t>Produces 6 feature maps of size 28x28 (the original size of MNIST images).</a:t>
            </a:r>
          </a:p>
          <a:p>
            <a:pPr lvl="1"/>
            <a:r>
              <a:rPr lang="en-US" dirty="0"/>
              <a:t>Extracts low-level features from the input image, such as edges, textures, and shapes.</a:t>
            </a:r>
            <a:endParaRPr lang="en-IN" dirty="0"/>
          </a:p>
        </p:txBody>
      </p:sp>
    </p:spTree>
    <p:extLst>
      <p:ext uri="{BB962C8B-B14F-4D97-AF65-F5344CB8AC3E}">
        <p14:creationId xmlns:p14="http://schemas.microsoft.com/office/powerpoint/2010/main" val="36614698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8AAAC4-059E-2B14-5227-7C91DC1C27E2}"/>
              </a:ext>
            </a:extLst>
          </p:cNvPr>
          <p:cNvSpPr>
            <a:spLocks noGrp="1"/>
          </p:cNvSpPr>
          <p:nvPr>
            <p:ph idx="1"/>
          </p:nvPr>
        </p:nvSpPr>
        <p:spPr>
          <a:xfrm>
            <a:off x="327991" y="298174"/>
            <a:ext cx="11025809" cy="6370983"/>
          </a:xfrm>
        </p:spPr>
        <p:txBody>
          <a:bodyPr>
            <a:normAutofit fontScale="92500" lnSpcReduction="20000"/>
          </a:bodyPr>
          <a:lstStyle/>
          <a:p>
            <a:pPr algn="just"/>
            <a:r>
              <a:rPr lang="en-US" sz="2600" dirty="0"/>
              <a:t>S2 – Sub-sampling (Pooling) Layer:</a:t>
            </a:r>
          </a:p>
          <a:p>
            <a:pPr lvl="1" algn="just"/>
            <a:r>
              <a:rPr lang="en-US" sz="2600" dirty="0"/>
              <a:t>Applies </a:t>
            </a:r>
            <a:r>
              <a:rPr lang="en-US" sz="2600" b="1" dirty="0"/>
              <a:t>average pooling </a:t>
            </a:r>
            <a:r>
              <a:rPr lang="en-US" sz="2600" dirty="0"/>
              <a:t>with a 2x2 filter and a stride of 2, reducing each feature map size to 14x14x6.</a:t>
            </a:r>
          </a:p>
          <a:p>
            <a:pPr lvl="1" algn="just"/>
            <a:r>
              <a:rPr lang="en-US" sz="2600" dirty="0"/>
              <a:t>This layer also uses a learnable parameter to adjust the pooled output.</a:t>
            </a:r>
          </a:p>
          <a:p>
            <a:pPr lvl="1" algn="just"/>
            <a:r>
              <a:rPr lang="en-US" sz="2600" dirty="0"/>
              <a:t>Reduces the spatial dimensions of each feature map from 28x28 to 14x14, </a:t>
            </a:r>
            <a:r>
              <a:rPr lang="en-US" sz="2600" b="1" dirty="0"/>
              <a:t>effectively down-sampling the feature maps</a:t>
            </a:r>
            <a:r>
              <a:rPr lang="en-US" sz="2600" dirty="0"/>
              <a:t>. </a:t>
            </a:r>
          </a:p>
          <a:p>
            <a:pPr lvl="1" algn="just"/>
            <a:r>
              <a:rPr lang="en-US" sz="2600" dirty="0"/>
              <a:t>This reduces the amount of computation in later layers, makes the network more </a:t>
            </a:r>
            <a:r>
              <a:rPr lang="en-US" sz="2600" b="1" dirty="0"/>
              <a:t>robust to small spatial shifts in the input</a:t>
            </a:r>
            <a:r>
              <a:rPr lang="en-US" sz="2600" dirty="0"/>
              <a:t>, and helps </a:t>
            </a:r>
            <a:r>
              <a:rPr lang="en-US" sz="2600" b="1" dirty="0"/>
              <a:t>reduce overfitting</a:t>
            </a:r>
            <a:r>
              <a:rPr lang="en-US" sz="2600" dirty="0"/>
              <a:t>.</a:t>
            </a:r>
          </a:p>
          <a:p>
            <a:pPr algn="just"/>
            <a:endParaRPr lang="en-US" sz="2600" dirty="0"/>
          </a:p>
          <a:p>
            <a:pPr algn="just"/>
            <a:r>
              <a:rPr lang="en-US" sz="2600" dirty="0"/>
              <a:t>C3 - Convolutional Layer:</a:t>
            </a:r>
          </a:p>
          <a:p>
            <a:pPr lvl="1" algn="just"/>
            <a:r>
              <a:rPr lang="en-US" sz="2600" dirty="0"/>
              <a:t>Applies 16 convolutional filters of size 5x5, producing 16 feature maps of size 10x10 and Stride: 1.</a:t>
            </a:r>
          </a:p>
          <a:p>
            <a:pPr lvl="2" algn="just"/>
            <a:r>
              <a:rPr lang="en-US" sz="2600" dirty="0"/>
              <a:t>Connectivity Pattern:</a:t>
            </a:r>
          </a:p>
          <a:p>
            <a:pPr lvl="3" algn="just"/>
            <a:r>
              <a:rPr lang="en-US" sz="2600" dirty="0"/>
              <a:t>Not all of the 6 input channels from S2 are connected to every output channel in C3. Instead, a partial connection pattern was used to reduce the number of parameters while preserving important spatial information.</a:t>
            </a:r>
          </a:p>
          <a:p>
            <a:pPr lvl="2" algn="just"/>
            <a:r>
              <a:rPr lang="en-US" sz="2600" dirty="0"/>
              <a:t>Purpose: </a:t>
            </a:r>
          </a:p>
          <a:p>
            <a:pPr lvl="3" algn="just"/>
            <a:r>
              <a:rPr lang="en-US" sz="2600" b="1" dirty="0"/>
              <a:t>Captures more complex features by learning to combine features extracted in the first convolutional layer. </a:t>
            </a:r>
            <a:r>
              <a:rPr lang="en-US" sz="2600" dirty="0"/>
              <a:t>Each of the 16 filters detects different patterns across the spatial locations of the 6 input feature maps from the previous layer.</a:t>
            </a:r>
          </a:p>
          <a:p>
            <a:pPr lvl="1" algn="just"/>
            <a:endParaRPr lang="en-IN" dirty="0"/>
          </a:p>
        </p:txBody>
      </p:sp>
    </p:spTree>
    <p:extLst>
      <p:ext uri="{BB962C8B-B14F-4D97-AF65-F5344CB8AC3E}">
        <p14:creationId xmlns:p14="http://schemas.microsoft.com/office/powerpoint/2010/main" val="67647879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0BF6C-C568-8D5A-6A6D-59F3218EAA96}"/>
              </a:ext>
            </a:extLst>
          </p:cNvPr>
          <p:cNvSpPr>
            <a:spLocks noGrp="1"/>
          </p:cNvSpPr>
          <p:nvPr>
            <p:ph idx="1"/>
          </p:nvPr>
        </p:nvSpPr>
        <p:spPr>
          <a:xfrm>
            <a:off x="258418" y="377686"/>
            <a:ext cx="11562522" cy="6202017"/>
          </a:xfrm>
        </p:spPr>
        <p:txBody>
          <a:bodyPr>
            <a:noAutofit/>
          </a:bodyPr>
          <a:lstStyle/>
          <a:p>
            <a:r>
              <a:rPr lang="en-US" sz="2000" b="1" dirty="0"/>
              <a:t>S4 - Subsampling (Pooling) Layer:</a:t>
            </a:r>
          </a:p>
          <a:p>
            <a:pPr lvl="1"/>
            <a:r>
              <a:rPr lang="en-US" sz="2000" dirty="0"/>
              <a:t>Similar to S2, it applies 2x2 average pooling, reducing each feature map to 5x5, with Stride =2. </a:t>
            </a:r>
          </a:p>
          <a:p>
            <a:pPr lvl="1"/>
            <a:r>
              <a:rPr lang="en-US" sz="2000" dirty="0"/>
              <a:t>Purpose: </a:t>
            </a:r>
          </a:p>
          <a:p>
            <a:pPr lvl="2"/>
            <a:r>
              <a:rPr lang="en-US" dirty="0"/>
              <a:t>Similar to the first pooling layer, this layer down-samples the feature maps from 10x10 to 5x5, further reducing the spatial dimensions</a:t>
            </a:r>
            <a:r>
              <a:rPr lang="en-US" b="1" dirty="0">
                <a:solidFill>
                  <a:srgbClr val="FF0000"/>
                </a:solidFill>
              </a:rPr>
              <a:t>. It helps generalize the network by focusing on essential spatial patterns and discarding finer details, which may help improve translation invariance</a:t>
            </a:r>
            <a:r>
              <a:rPr lang="en-US" dirty="0">
                <a:solidFill>
                  <a:srgbClr val="FF0000"/>
                </a:solidFill>
              </a:rPr>
              <a:t>.</a:t>
            </a:r>
          </a:p>
          <a:p>
            <a:endParaRPr lang="en-US" sz="2000" b="1" dirty="0"/>
          </a:p>
          <a:p>
            <a:r>
              <a:rPr lang="en-US" sz="2000" b="1" dirty="0"/>
              <a:t>C5 - Convolutional Layer:</a:t>
            </a:r>
          </a:p>
          <a:p>
            <a:pPr lvl="1"/>
            <a:r>
              <a:rPr lang="en-US" sz="2000" dirty="0"/>
              <a:t>This layer has 120 filters of size 5x5 (fully connected to the 5x5 input from S4), resulting in a 1x1 output per filter, producing 120 feature maps of size 1x1, stride = 1.</a:t>
            </a:r>
          </a:p>
          <a:p>
            <a:pPr lvl="1"/>
            <a:endParaRPr lang="en-US" sz="2000" dirty="0"/>
          </a:p>
          <a:p>
            <a:pPr lvl="1"/>
            <a:r>
              <a:rPr lang="en-US" sz="2000" dirty="0"/>
              <a:t>Connectivity Pattern: </a:t>
            </a:r>
          </a:p>
          <a:p>
            <a:pPr lvl="2"/>
            <a:r>
              <a:rPr lang="en-US" b="1" dirty="0">
                <a:solidFill>
                  <a:srgbClr val="FF0000"/>
                </a:solidFill>
              </a:rPr>
              <a:t>Each filter in this layer is connected to all 16 feature maps </a:t>
            </a:r>
            <a:r>
              <a:rPr lang="en-US" dirty="0"/>
              <a:t>of the previous layer (S4), making it </a:t>
            </a:r>
            <a:r>
              <a:rPr lang="en-US" b="1" dirty="0">
                <a:solidFill>
                  <a:srgbClr val="FF0000"/>
                </a:solidFill>
              </a:rPr>
              <a:t>fully connected </a:t>
            </a:r>
            <a:r>
              <a:rPr lang="en-US" dirty="0"/>
              <a:t>spatially.</a:t>
            </a:r>
          </a:p>
          <a:p>
            <a:pPr lvl="1"/>
            <a:r>
              <a:rPr lang="en-US" sz="2000" dirty="0"/>
              <a:t>Purpose: </a:t>
            </a:r>
          </a:p>
          <a:p>
            <a:pPr lvl="2"/>
            <a:r>
              <a:rPr lang="en-US" dirty="0"/>
              <a:t>Since the input to this layer is 5x5, applying a 5x5 filter with a stride of 1 </a:t>
            </a:r>
            <a:r>
              <a:rPr lang="en-US" dirty="0">
                <a:solidFill>
                  <a:srgbClr val="00B050"/>
                </a:solidFill>
              </a:rPr>
              <a:t>effectively collapses each feature map into a single scalar value. This layer captures high-level, abstract patterns by combining information from the previous layers and outputs 120 distinct feature maps of size 1x1</a:t>
            </a:r>
            <a:r>
              <a:rPr lang="en-US" dirty="0"/>
              <a:t>.</a:t>
            </a:r>
            <a:endParaRPr lang="en-IN" dirty="0"/>
          </a:p>
        </p:txBody>
      </p:sp>
    </p:spTree>
    <p:extLst>
      <p:ext uri="{BB962C8B-B14F-4D97-AF65-F5344CB8AC3E}">
        <p14:creationId xmlns:p14="http://schemas.microsoft.com/office/powerpoint/2010/main" val="134417194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0DDC1-85B9-3122-882A-3F6619B03271}"/>
              </a:ext>
            </a:extLst>
          </p:cNvPr>
          <p:cNvSpPr>
            <a:spLocks noGrp="1"/>
          </p:cNvSpPr>
          <p:nvPr>
            <p:ph type="title"/>
          </p:nvPr>
        </p:nvSpPr>
        <p:spPr/>
        <p:txBody>
          <a:bodyPr/>
          <a:lstStyle/>
          <a:p>
            <a:r>
              <a:rPr lang="en-IN" dirty="0"/>
              <a:t>Architecture of </a:t>
            </a:r>
            <a:r>
              <a:rPr lang="en-IN" dirty="0" err="1"/>
              <a:t>LeNet</a:t>
            </a:r>
            <a:endParaRPr lang="en-IN" dirty="0"/>
          </a:p>
        </p:txBody>
      </p:sp>
      <p:sp>
        <p:nvSpPr>
          <p:cNvPr id="3" name="Content Placeholder 2">
            <a:extLst>
              <a:ext uri="{FF2B5EF4-FFF2-40B4-BE49-F238E27FC236}">
                <a16:creationId xmlns:a16="http://schemas.microsoft.com/office/drawing/2014/main" id="{D36B918E-64E6-DDEF-A0D3-5087ECF920F0}"/>
              </a:ext>
            </a:extLst>
          </p:cNvPr>
          <p:cNvSpPr>
            <a:spLocks noGrp="1"/>
          </p:cNvSpPr>
          <p:nvPr>
            <p:ph idx="1"/>
          </p:nvPr>
        </p:nvSpPr>
        <p:spPr>
          <a:xfrm>
            <a:off x="387626" y="1547330"/>
            <a:ext cx="10966174" cy="4863410"/>
          </a:xfrm>
        </p:spPr>
        <p:txBody>
          <a:bodyPr>
            <a:normAutofit lnSpcReduction="10000"/>
          </a:bodyPr>
          <a:lstStyle/>
          <a:p>
            <a:pPr algn="just"/>
            <a:r>
              <a:rPr lang="en-US" dirty="0"/>
              <a:t>F6 - Fully Connected Layer:</a:t>
            </a:r>
          </a:p>
          <a:p>
            <a:pPr lvl="1" algn="just"/>
            <a:r>
              <a:rPr lang="en-US" b="1" dirty="0"/>
              <a:t>This layer is a fully connected layer with 84 units</a:t>
            </a:r>
            <a:r>
              <a:rPr lang="en-US" dirty="0"/>
              <a:t>, which applies the sigmoid activation. The 84 units were chosen to resemble the structure of the hidden layer in earlier neural network architectures. This layer helps combine all the learned features to detect more complex patterns and relationships and prepares the data for classification.</a:t>
            </a:r>
          </a:p>
          <a:p>
            <a:pPr algn="just"/>
            <a:endParaRPr lang="en-US" dirty="0"/>
          </a:p>
          <a:p>
            <a:pPr algn="just"/>
            <a:r>
              <a:rPr lang="en-US" dirty="0"/>
              <a:t>Output Layer:</a:t>
            </a:r>
          </a:p>
          <a:p>
            <a:pPr lvl="1" algn="just"/>
            <a:r>
              <a:rPr lang="en-US" b="1" dirty="0"/>
              <a:t>The final layer is a fully connected layer with 10 units</a:t>
            </a:r>
            <a:r>
              <a:rPr lang="en-US" dirty="0"/>
              <a:t>, corresponding to the 10 digit classes (0 to 9).</a:t>
            </a:r>
          </a:p>
          <a:p>
            <a:pPr lvl="1" algn="just"/>
            <a:r>
              <a:rPr lang="en-US" dirty="0"/>
              <a:t>Uses a </a:t>
            </a:r>
            <a:r>
              <a:rPr lang="en-US" b="1" dirty="0" err="1"/>
              <a:t>softmax</a:t>
            </a:r>
            <a:r>
              <a:rPr lang="en-US" b="1" dirty="0"/>
              <a:t> activation </a:t>
            </a:r>
            <a:r>
              <a:rPr lang="en-US" dirty="0"/>
              <a:t>function to output probabilities for each class.</a:t>
            </a:r>
          </a:p>
          <a:p>
            <a:pPr lvl="1" algn="just"/>
            <a:r>
              <a:rPr lang="en-US" dirty="0"/>
              <a:t>This final layer provides the classification output. Each of the 10 units outputs the probability of the input image belonging to one of the 10 digit classes. The class with the highest probability is chosen as the predicted label.</a:t>
            </a:r>
            <a:endParaRPr lang="en-IN" dirty="0"/>
          </a:p>
        </p:txBody>
      </p:sp>
    </p:spTree>
    <p:extLst>
      <p:ext uri="{BB962C8B-B14F-4D97-AF65-F5344CB8AC3E}">
        <p14:creationId xmlns:p14="http://schemas.microsoft.com/office/powerpoint/2010/main" val="19027940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6AAB-9DB5-80F0-9CB9-78D2D42CECF3}"/>
              </a:ext>
            </a:extLst>
          </p:cNvPr>
          <p:cNvSpPr>
            <a:spLocks noGrp="1"/>
          </p:cNvSpPr>
          <p:nvPr>
            <p:ph type="title"/>
          </p:nvPr>
        </p:nvSpPr>
        <p:spPr/>
        <p:txBody>
          <a:bodyPr/>
          <a:lstStyle/>
          <a:p>
            <a:r>
              <a:rPr lang="en-IN" dirty="0"/>
              <a:t>Characteristics of </a:t>
            </a:r>
            <a:r>
              <a:rPr lang="en-IN" dirty="0" err="1"/>
              <a:t>LeNet</a:t>
            </a:r>
            <a:endParaRPr lang="en-IN" dirty="0"/>
          </a:p>
        </p:txBody>
      </p:sp>
      <p:sp>
        <p:nvSpPr>
          <p:cNvPr id="3" name="Content Placeholder 2">
            <a:extLst>
              <a:ext uri="{FF2B5EF4-FFF2-40B4-BE49-F238E27FC236}">
                <a16:creationId xmlns:a16="http://schemas.microsoft.com/office/drawing/2014/main" id="{D4EA0FEA-A70C-984D-3220-76BA9EA014F3}"/>
              </a:ext>
            </a:extLst>
          </p:cNvPr>
          <p:cNvSpPr>
            <a:spLocks noGrp="1"/>
          </p:cNvSpPr>
          <p:nvPr>
            <p:ph idx="1"/>
          </p:nvPr>
        </p:nvSpPr>
        <p:spPr>
          <a:xfrm>
            <a:off x="838200" y="1606964"/>
            <a:ext cx="10515600" cy="4744140"/>
          </a:xfrm>
        </p:spPr>
        <p:txBody>
          <a:bodyPr>
            <a:normAutofit/>
          </a:bodyPr>
          <a:lstStyle/>
          <a:p>
            <a:r>
              <a:rPr lang="en-US" dirty="0"/>
              <a:t>Convolutional and Pooling Layers:</a:t>
            </a:r>
          </a:p>
          <a:p>
            <a:pPr lvl="1"/>
            <a:r>
              <a:rPr lang="en-US" dirty="0" err="1"/>
              <a:t>LeNet’s</a:t>
            </a:r>
            <a:r>
              <a:rPr lang="en-US" dirty="0"/>
              <a:t> convolutional and pooling layers allow it to capture spatial hierarchies in images, learning increasingly complex features.</a:t>
            </a:r>
          </a:p>
          <a:p>
            <a:endParaRPr lang="en-US" dirty="0"/>
          </a:p>
          <a:p>
            <a:r>
              <a:rPr lang="en-US" dirty="0"/>
              <a:t>Parameter Efficiency: </a:t>
            </a:r>
          </a:p>
          <a:p>
            <a:pPr lvl="1"/>
            <a:r>
              <a:rPr lang="en-US" dirty="0"/>
              <a:t>Its small number of parameters makes it relatively lightweight compared to modern deep networks.</a:t>
            </a:r>
          </a:p>
          <a:p>
            <a:endParaRPr lang="en-US" dirty="0"/>
          </a:p>
          <a:p>
            <a:r>
              <a:rPr lang="en-US" dirty="0"/>
              <a:t>Pioneering Architecture: </a:t>
            </a:r>
          </a:p>
          <a:p>
            <a:pPr lvl="1"/>
            <a:r>
              <a:rPr lang="en-US" dirty="0"/>
              <a:t>LeNet-5 set the foundation for many CNN models that followed, showcasing the effectiveness of convolutional and pooling layers.</a:t>
            </a:r>
            <a:endParaRPr lang="en-IN" dirty="0"/>
          </a:p>
        </p:txBody>
      </p:sp>
    </p:spTree>
    <p:extLst>
      <p:ext uri="{BB962C8B-B14F-4D97-AF65-F5344CB8AC3E}">
        <p14:creationId xmlns:p14="http://schemas.microsoft.com/office/powerpoint/2010/main" val="314418857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4BA9-927B-026C-9687-AC8ED2AF7407}"/>
              </a:ext>
            </a:extLst>
          </p:cNvPr>
          <p:cNvSpPr>
            <a:spLocks noGrp="1"/>
          </p:cNvSpPr>
          <p:nvPr>
            <p:ph type="title"/>
          </p:nvPr>
        </p:nvSpPr>
        <p:spPr/>
        <p:txBody>
          <a:bodyPr/>
          <a:lstStyle/>
          <a:p>
            <a:r>
              <a:rPr lang="en-IN" dirty="0"/>
              <a:t>Characteristics of </a:t>
            </a:r>
            <a:r>
              <a:rPr lang="en-IN" dirty="0" err="1"/>
              <a:t>LeNet</a:t>
            </a:r>
            <a:endParaRPr lang="en-IN" dirty="0"/>
          </a:p>
        </p:txBody>
      </p:sp>
      <p:sp>
        <p:nvSpPr>
          <p:cNvPr id="3" name="Content Placeholder 2">
            <a:extLst>
              <a:ext uri="{FF2B5EF4-FFF2-40B4-BE49-F238E27FC236}">
                <a16:creationId xmlns:a16="http://schemas.microsoft.com/office/drawing/2014/main" id="{EF340B8D-E2D6-BF66-D6CA-0182547AB175}"/>
              </a:ext>
            </a:extLst>
          </p:cNvPr>
          <p:cNvSpPr>
            <a:spLocks noGrp="1"/>
          </p:cNvSpPr>
          <p:nvPr>
            <p:ph idx="1"/>
          </p:nvPr>
        </p:nvSpPr>
        <p:spPr/>
        <p:txBody>
          <a:bodyPr>
            <a:normAutofit fontScale="92500" lnSpcReduction="20000"/>
          </a:bodyPr>
          <a:lstStyle/>
          <a:p>
            <a:r>
              <a:rPr lang="en-US" dirty="0"/>
              <a:t>Layer Progression: </a:t>
            </a:r>
          </a:p>
          <a:p>
            <a:pPr lvl="1"/>
            <a:r>
              <a:rPr lang="en-US" dirty="0"/>
              <a:t>LeNet-5 follows a structure of alternating convolutional and pooling layers, with convolutional layers extracting features and pooling layers </a:t>
            </a:r>
            <a:r>
              <a:rPr lang="en-US" dirty="0" err="1"/>
              <a:t>downsampling</a:t>
            </a:r>
            <a:r>
              <a:rPr lang="en-US" dirty="0"/>
              <a:t> the feature maps.</a:t>
            </a:r>
          </a:p>
          <a:p>
            <a:endParaRPr lang="en-US" dirty="0"/>
          </a:p>
          <a:p>
            <a:r>
              <a:rPr lang="en-US" dirty="0"/>
              <a:t>Fully Connected Layers: </a:t>
            </a:r>
          </a:p>
          <a:p>
            <a:pPr lvl="1"/>
            <a:r>
              <a:rPr lang="en-US" dirty="0"/>
              <a:t>At the end, fully connected layers interpret the feature maps to produce the final classification.</a:t>
            </a:r>
          </a:p>
          <a:p>
            <a:endParaRPr lang="en-US" dirty="0"/>
          </a:p>
          <a:p>
            <a:r>
              <a:rPr lang="en-US" dirty="0"/>
              <a:t>Early Use of CNN Principles: </a:t>
            </a:r>
          </a:p>
          <a:p>
            <a:pPr lvl="1"/>
            <a:r>
              <a:rPr lang="en-US" dirty="0"/>
              <a:t>Although relatively simple, LeNet-5 effectively showcases key CNN principles like local receptive fields, shared weights, and </a:t>
            </a:r>
            <a:r>
              <a:rPr lang="en-US" dirty="0" err="1"/>
              <a:t>downsampling</a:t>
            </a:r>
            <a:r>
              <a:rPr lang="en-US" dirty="0"/>
              <a:t>, which have influenced the design of modern CNN architectures.</a:t>
            </a:r>
            <a:endParaRPr lang="en-IN" dirty="0"/>
          </a:p>
        </p:txBody>
      </p:sp>
    </p:spTree>
    <p:extLst>
      <p:ext uri="{BB962C8B-B14F-4D97-AF65-F5344CB8AC3E}">
        <p14:creationId xmlns:p14="http://schemas.microsoft.com/office/powerpoint/2010/main" val="250568344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83EB2-DD9C-0CE3-4EB6-EABD0C5686FF}"/>
              </a:ext>
            </a:extLst>
          </p:cNvPr>
          <p:cNvSpPr>
            <a:spLocks noGrp="1"/>
          </p:cNvSpPr>
          <p:nvPr>
            <p:ph type="title"/>
          </p:nvPr>
        </p:nvSpPr>
        <p:spPr/>
        <p:txBody>
          <a:bodyPr/>
          <a:lstStyle/>
          <a:p>
            <a:r>
              <a:rPr lang="en-IN" dirty="0"/>
              <a:t>Advantages of </a:t>
            </a:r>
            <a:r>
              <a:rPr lang="en-IN" dirty="0" err="1"/>
              <a:t>LeNet</a:t>
            </a:r>
            <a:endParaRPr lang="en-IN" dirty="0"/>
          </a:p>
        </p:txBody>
      </p:sp>
      <p:sp>
        <p:nvSpPr>
          <p:cNvPr id="3" name="Content Placeholder 2">
            <a:extLst>
              <a:ext uri="{FF2B5EF4-FFF2-40B4-BE49-F238E27FC236}">
                <a16:creationId xmlns:a16="http://schemas.microsoft.com/office/drawing/2014/main" id="{54B98230-9DAD-BF27-2C2E-BBA2F1BDCEF6}"/>
              </a:ext>
            </a:extLst>
          </p:cNvPr>
          <p:cNvSpPr>
            <a:spLocks noGrp="1"/>
          </p:cNvSpPr>
          <p:nvPr>
            <p:ph idx="1"/>
          </p:nvPr>
        </p:nvSpPr>
        <p:spPr/>
        <p:txBody>
          <a:bodyPr/>
          <a:lstStyle/>
          <a:p>
            <a:r>
              <a:rPr lang="en-US" dirty="0"/>
              <a:t>Foundational Architecture:</a:t>
            </a:r>
          </a:p>
          <a:p>
            <a:pPr lvl="1"/>
            <a:r>
              <a:rPr lang="en-US" dirty="0" err="1"/>
              <a:t>LeNet</a:t>
            </a:r>
            <a:r>
              <a:rPr lang="en-US" dirty="0"/>
              <a:t> introduced core CNN concepts like convolutional and pooling layers, weight sharing, and local receptive fields, which inspired modern CNN designs. Its simplicity and modular structure make it easy to understand, serving as a foundational learning model for beginners in deep learning.</a:t>
            </a:r>
          </a:p>
          <a:p>
            <a:endParaRPr lang="en-US" dirty="0"/>
          </a:p>
          <a:p>
            <a:r>
              <a:rPr lang="en-US" dirty="0"/>
              <a:t>Low Computational Cost:</a:t>
            </a:r>
          </a:p>
          <a:p>
            <a:pPr lvl="1"/>
            <a:r>
              <a:rPr lang="en-US" dirty="0"/>
              <a:t>With relatively few parameters compared to modern CNNs, </a:t>
            </a:r>
            <a:r>
              <a:rPr lang="en-US" dirty="0" err="1"/>
              <a:t>LeNet</a:t>
            </a:r>
            <a:r>
              <a:rPr lang="en-US" dirty="0"/>
              <a:t> is computationally lightweight. This makes it ideal for low-power devices or environments with limited computational resources.</a:t>
            </a:r>
            <a:endParaRPr lang="en-IN" dirty="0"/>
          </a:p>
        </p:txBody>
      </p:sp>
    </p:spTree>
    <p:extLst>
      <p:ext uri="{BB962C8B-B14F-4D97-AF65-F5344CB8AC3E}">
        <p14:creationId xmlns:p14="http://schemas.microsoft.com/office/powerpoint/2010/main" val="5988984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47C01-21BA-89FD-0D8B-24260F29356D}"/>
              </a:ext>
            </a:extLst>
          </p:cNvPr>
          <p:cNvSpPr>
            <a:spLocks noGrp="1"/>
          </p:cNvSpPr>
          <p:nvPr>
            <p:ph idx="1"/>
          </p:nvPr>
        </p:nvSpPr>
        <p:spPr>
          <a:xfrm>
            <a:off x="838200" y="447261"/>
            <a:ext cx="10515600" cy="5729702"/>
          </a:xfrm>
        </p:spPr>
        <p:txBody>
          <a:bodyPr/>
          <a:lstStyle/>
          <a:p>
            <a:pPr algn="just"/>
            <a:r>
              <a:rPr lang="en-US" dirty="0"/>
              <a:t>Effective for Simple, Low-Resolution Images:</a:t>
            </a:r>
          </a:p>
          <a:p>
            <a:pPr lvl="1" algn="just"/>
            <a:r>
              <a:rPr lang="en-US" dirty="0" err="1"/>
              <a:t>LeNet</a:t>
            </a:r>
            <a:r>
              <a:rPr lang="en-US" dirty="0"/>
              <a:t> was highly effective for tasks involving simple, low-resolution grayscale images, like handwritten digit recognition on the MNIST dataset. It performs well on these tasks despite its limited depth and complexity.</a:t>
            </a:r>
          </a:p>
          <a:p>
            <a:pPr algn="just"/>
            <a:endParaRPr lang="en-US" dirty="0"/>
          </a:p>
          <a:p>
            <a:pPr algn="just"/>
            <a:r>
              <a:rPr lang="en-US" dirty="0"/>
              <a:t>Reduces Overfitting:</a:t>
            </a:r>
          </a:p>
          <a:p>
            <a:pPr lvl="1" algn="just"/>
            <a:r>
              <a:rPr lang="en-US" dirty="0" err="1"/>
              <a:t>LeNet’s</a:t>
            </a:r>
            <a:r>
              <a:rPr lang="en-US" dirty="0"/>
              <a:t> use of pooling layers and relatively few parameters helps to control overfitting on smaller datasets, as it reduces the risk of memorizing patterns that don't generalize well.</a:t>
            </a:r>
          </a:p>
          <a:p>
            <a:pPr algn="just"/>
            <a:endParaRPr lang="en-US" dirty="0"/>
          </a:p>
          <a:p>
            <a:pPr algn="just"/>
            <a:r>
              <a:rPr lang="en-US" dirty="0"/>
              <a:t>Efficient Training:</a:t>
            </a:r>
          </a:p>
          <a:p>
            <a:pPr lvl="1" algn="just"/>
            <a:r>
              <a:rPr lang="en-US" dirty="0"/>
              <a:t>Due to its simplicity and relatively shallow architecture, </a:t>
            </a:r>
            <a:r>
              <a:rPr lang="en-US" dirty="0" err="1"/>
              <a:t>LeNet</a:t>
            </a:r>
            <a:r>
              <a:rPr lang="en-US" dirty="0"/>
              <a:t> can train relatively quickly and doesn’t require the vast datasets and computational resources needed for deeper CNNs.</a:t>
            </a:r>
            <a:endParaRPr lang="en-IN" dirty="0"/>
          </a:p>
        </p:txBody>
      </p:sp>
    </p:spTree>
    <p:extLst>
      <p:ext uri="{BB962C8B-B14F-4D97-AF65-F5344CB8AC3E}">
        <p14:creationId xmlns:p14="http://schemas.microsoft.com/office/powerpoint/2010/main" val="21688579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1853-09E9-8A36-0C19-49752A2CD305}"/>
              </a:ext>
            </a:extLst>
          </p:cNvPr>
          <p:cNvSpPr>
            <a:spLocks noGrp="1"/>
          </p:cNvSpPr>
          <p:nvPr>
            <p:ph type="title"/>
          </p:nvPr>
        </p:nvSpPr>
        <p:spPr/>
        <p:txBody>
          <a:bodyPr/>
          <a:lstStyle/>
          <a:p>
            <a:r>
              <a:rPr lang="en-IN" dirty="0"/>
              <a:t>Disadvantages of </a:t>
            </a:r>
            <a:r>
              <a:rPr lang="en-IN" dirty="0" err="1"/>
              <a:t>LeNet</a:t>
            </a:r>
            <a:endParaRPr lang="en-IN" dirty="0"/>
          </a:p>
        </p:txBody>
      </p:sp>
      <p:sp>
        <p:nvSpPr>
          <p:cNvPr id="3" name="Content Placeholder 2">
            <a:extLst>
              <a:ext uri="{FF2B5EF4-FFF2-40B4-BE49-F238E27FC236}">
                <a16:creationId xmlns:a16="http://schemas.microsoft.com/office/drawing/2014/main" id="{AFE6590C-AEB7-D941-65F2-43AC0F883EA0}"/>
              </a:ext>
            </a:extLst>
          </p:cNvPr>
          <p:cNvSpPr>
            <a:spLocks noGrp="1"/>
          </p:cNvSpPr>
          <p:nvPr>
            <p:ph idx="1"/>
          </p:nvPr>
        </p:nvSpPr>
        <p:spPr>
          <a:xfrm>
            <a:off x="626165" y="1690688"/>
            <a:ext cx="10727635" cy="4938712"/>
          </a:xfrm>
        </p:spPr>
        <p:txBody>
          <a:bodyPr>
            <a:normAutofit/>
          </a:bodyPr>
          <a:lstStyle/>
          <a:p>
            <a:pPr algn="just"/>
            <a:r>
              <a:rPr lang="en-US" dirty="0"/>
              <a:t>Limited to Simple, Small-Scale Images:</a:t>
            </a:r>
          </a:p>
          <a:p>
            <a:pPr lvl="1" algn="just"/>
            <a:r>
              <a:rPr lang="en-US" dirty="0" err="1"/>
              <a:t>LeNet’s</a:t>
            </a:r>
            <a:r>
              <a:rPr lang="en-US" dirty="0"/>
              <a:t> design is optimized for small, grayscale images (like 32x32 MNIST images), making it less suitable for complex, high-resolution color images (such as those in CIFAR-10 or ImageNet). It lacks the capacity to handle high-level feature hierarchies present in more intricate datasets.</a:t>
            </a:r>
          </a:p>
          <a:p>
            <a:pPr algn="just"/>
            <a:endParaRPr lang="en-US" dirty="0"/>
          </a:p>
          <a:p>
            <a:pPr algn="just"/>
            <a:r>
              <a:rPr lang="en-US" dirty="0"/>
              <a:t>Shallow Network Depth:</a:t>
            </a:r>
          </a:p>
          <a:p>
            <a:pPr lvl="1" algn="just"/>
            <a:r>
              <a:rPr lang="en-US" dirty="0"/>
              <a:t>With only a few convolutional layers, </a:t>
            </a:r>
            <a:r>
              <a:rPr lang="en-US" dirty="0" err="1"/>
              <a:t>LeNet</a:t>
            </a:r>
            <a:r>
              <a:rPr lang="en-US" dirty="0"/>
              <a:t> lacks the depth needed for learning complex and abstract representations. Modern tasks typically require much deeper architectures to capture subtle patterns and achieve high performance on challenging datasets.</a:t>
            </a:r>
            <a:endParaRPr lang="en-IN" dirty="0"/>
          </a:p>
        </p:txBody>
      </p:sp>
    </p:spTree>
    <p:extLst>
      <p:ext uri="{BB962C8B-B14F-4D97-AF65-F5344CB8AC3E}">
        <p14:creationId xmlns:p14="http://schemas.microsoft.com/office/powerpoint/2010/main" val="27628608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E7E07-DDD9-2365-5A15-249C5C3BD70F}"/>
              </a:ext>
            </a:extLst>
          </p:cNvPr>
          <p:cNvSpPr>
            <a:spLocks noGrp="1"/>
          </p:cNvSpPr>
          <p:nvPr>
            <p:ph idx="1"/>
          </p:nvPr>
        </p:nvSpPr>
        <p:spPr>
          <a:xfrm>
            <a:off x="838199" y="387626"/>
            <a:ext cx="10740887" cy="6192078"/>
          </a:xfrm>
        </p:spPr>
        <p:txBody>
          <a:bodyPr>
            <a:normAutofit fontScale="92500" lnSpcReduction="10000"/>
          </a:bodyPr>
          <a:lstStyle/>
          <a:p>
            <a:pPr algn="just"/>
            <a:r>
              <a:rPr lang="en-US" sz="3200" dirty="0"/>
              <a:t>Outdated Activation Functions:</a:t>
            </a:r>
          </a:p>
          <a:p>
            <a:pPr lvl="1" algn="just"/>
            <a:r>
              <a:rPr lang="en-US" sz="2800" dirty="0" err="1"/>
              <a:t>LeNet</a:t>
            </a:r>
            <a:r>
              <a:rPr lang="en-US" sz="2800" dirty="0"/>
              <a:t> originally used the sigmoid activation function, which can lead to problems like vanishing gradients. Most modern CNNs use </a:t>
            </a:r>
            <a:r>
              <a:rPr lang="en-US" sz="2800" dirty="0" err="1"/>
              <a:t>ReLU</a:t>
            </a:r>
            <a:r>
              <a:rPr lang="en-US" sz="2800" dirty="0"/>
              <a:t> or its variants to address this, leading to faster and more stable training.</a:t>
            </a:r>
          </a:p>
          <a:p>
            <a:pPr algn="just"/>
            <a:endParaRPr lang="en-US" sz="3200" dirty="0"/>
          </a:p>
          <a:p>
            <a:pPr algn="just"/>
            <a:r>
              <a:rPr lang="en-US" sz="3200" dirty="0"/>
              <a:t>Limited Pooling Strategy:</a:t>
            </a:r>
          </a:p>
          <a:p>
            <a:pPr lvl="1" algn="just"/>
            <a:r>
              <a:rPr lang="en-US" sz="2800" dirty="0" err="1"/>
              <a:t>LeNet</a:t>
            </a:r>
            <a:r>
              <a:rPr lang="en-US" sz="2800" dirty="0"/>
              <a:t> uses average pooling, whereas max pooling has since proven more effective at preserving essential features and improving generalization by focusing on the most prominent signals.</a:t>
            </a:r>
          </a:p>
          <a:p>
            <a:pPr algn="just"/>
            <a:endParaRPr lang="en-US" sz="3200" dirty="0"/>
          </a:p>
          <a:p>
            <a:pPr algn="just"/>
            <a:r>
              <a:rPr lang="en-US" sz="3200" dirty="0"/>
              <a:t>Inefficient for Large Datasets and Applications:</a:t>
            </a:r>
          </a:p>
          <a:p>
            <a:pPr lvl="1" algn="just"/>
            <a:r>
              <a:rPr lang="en-US" sz="2800" dirty="0" err="1"/>
              <a:t>LeNet</a:t>
            </a:r>
            <a:r>
              <a:rPr lang="en-US" sz="2800" dirty="0"/>
              <a:t> does not scale well to larger, more diverse datasets, as its small filter size and layer count limit its representational power. For large-scale image classification tasks, modern networks like </a:t>
            </a:r>
            <a:r>
              <a:rPr lang="en-US" sz="2800" dirty="0" err="1"/>
              <a:t>AlexNet</a:t>
            </a:r>
            <a:r>
              <a:rPr lang="en-US" sz="2800" dirty="0"/>
              <a:t>, VGG, and </a:t>
            </a:r>
            <a:r>
              <a:rPr lang="en-US" sz="2800" dirty="0" err="1"/>
              <a:t>ResNet</a:t>
            </a:r>
            <a:r>
              <a:rPr lang="en-US" sz="2800" dirty="0"/>
              <a:t> are far more effective.</a:t>
            </a:r>
            <a:endParaRPr lang="en-IN" sz="2800" dirty="0"/>
          </a:p>
        </p:txBody>
      </p:sp>
    </p:spTree>
    <p:extLst>
      <p:ext uri="{BB962C8B-B14F-4D97-AF65-F5344CB8AC3E}">
        <p14:creationId xmlns:p14="http://schemas.microsoft.com/office/powerpoint/2010/main" val="3588143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2283</TotalTime>
  <Words>10524</Words>
  <Application>Microsoft Office PowerPoint</Application>
  <PresentationFormat>Widescreen</PresentationFormat>
  <Paragraphs>2840</Paragraphs>
  <Slides>132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132</vt:i4>
      </vt:variant>
    </vt:vector>
  </HeadingPairs>
  <TitlesOfParts>
    <vt:vector size="138" baseType="lpstr">
      <vt:lpstr>Arial</vt:lpstr>
      <vt:lpstr>Calibri</vt:lpstr>
      <vt:lpstr>Calibri Light</vt:lpstr>
      <vt:lpstr>Cambria Math</vt:lpstr>
      <vt:lpstr>Times New Roman</vt:lpstr>
      <vt:lpstr>Office Theme</vt:lpstr>
      <vt:lpstr>CNN</vt:lpstr>
      <vt:lpstr>Convolutional Networks</vt:lpstr>
      <vt:lpstr>What is Convolution Operation?</vt:lpstr>
      <vt:lpstr>PowerPoint Presentation</vt:lpstr>
      <vt:lpstr>What is a Kernel?</vt:lpstr>
      <vt:lpstr>PowerPoint Presentation</vt:lpstr>
      <vt:lpstr>PowerPoint Presentation</vt:lpstr>
      <vt:lpstr>What is a STRIDE?</vt:lpstr>
      <vt:lpstr>How Stride Affects Output?</vt:lpstr>
      <vt:lpstr>Formula for Output Size</vt:lpstr>
      <vt:lpstr>PowerPoint Presentation</vt:lpstr>
      <vt:lpstr>PowerPoint Presentation</vt:lpstr>
      <vt:lpstr>PowerPoint Presentation</vt:lpstr>
      <vt:lpstr>PowerPoint Presentation</vt:lpstr>
      <vt:lpstr>PowerPoint Presentation</vt:lpstr>
      <vt:lpstr>Padding</vt:lpstr>
      <vt:lpstr>PowerPoint Presentation</vt:lpstr>
      <vt:lpstr>Types of Padding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Pooling Layer</vt:lpstr>
      <vt:lpstr>Pooling Layer</vt:lpstr>
      <vt:lpstr>Max Pooling</vt:lpstr>
      <vt:lpstr>2×2 max pooling </vt:lpstr>
      <vt:lpstr>2×2 max pooling </vt:lpstr>
      <vt:lpstr>2×2 max pooling Output Feature Map</vt:lpstr>
      <vt:lpstr>PowerPoint Presentation</vt:lpstr>
      <vt:lpstr>Average Pooling</vt:lpstr>
      <vt:lpstr>2×2 Average pooling </vt:lpstr>
      <vt:lpstr>2×2 average pooling </vt:lpstr>
      <vt:lpstr>2×2 Average pooling Output Feature Map</vt:lpstr>
      <vt:lpstr>PowerPoint Presentation</vt:lpstr>
      <vt:lpstr>ReLU Activation Function</vt:lpstr>
      <vt:lpstr>Where is ReLU Applied in This Process?</vt:lpstr>
      <vt:lpstr>Basic Architecture of CNN</vt:lpstr>
      <vt:lpstr>Basic Architecture of CNN</vt:lpstr>
      <vt:lpstr>Basic Architecture of CNN</vt:lpstr>
      <vt:lpstr>PowerPoint Presentation</vt:lpstr>
      <vt:lpstr>What Are Parameters in a Neural Network?</vt:lpstr>
      <vt:lpstr>Conv2D_1 (Convolutional Layer)</vt:lpstr>
      <vt:lpstr>Batch Normalization</vt:lpstr>
      <vt:lpstr>Dropout</vt:lpstr>
      <vt:lpstr>Max Pooling</vt:lpstr>
      <vt:lpstr>Conv2D_2 (Convolutional Layer)</vt:lpstr>
      <vt:lpstr>Variants of the Basic Convolution Function</vt:lpstr>
      <vt:lpstr>1. Convolution with Strides</vt:lpstr>
      <vt:lpstr>Convolution with Strides</vt:lpstr>
      <vt:lpstr> 2. Zero Padding (Padding)</vt:lpstr>
      <vt:lpstr>Zero Padding</vt:lpstr>
      <vt:lpstr>3. Dilated Convolution (Atrous Convolution)</vt:lpstr>
      <vt:lpstr>Dilated Convolution</vt:lpstr>
      <vt:lpstr>4. Transposed Convolution (Deconvolution)</vt:lpstr>
      <vt:lpstr>Transposed Convolution</vt:lpstr>
      <vt:lpstr>5. Separable Convolutions</vt:lpstr>
      <vt:lpstr>Separable Convolutions</vt:lpstr>
      <vt:lpstr>6. Grouped Convolution</vt:lpstr>
      <vt:lpstr>Grouped Convolution</vt:lpstr>
      <vt:lpstr>Structured Outputs</vt:lpstr>
      <vt:lpstr>PowerPoint Presentation</vt:lpstr>
      <vt:lpstr>PowerPoint Presentation</vt:lpstr>
      <vt:lpstr>Structured Output : Example 1</vt:lpstr>
      <vt:lpstr>Structured Output : Example 2</vt:lpstr>
      <vt:lpstr>Structured Output : Example 3</vt:lpstr>
      <vt:lpstr>Structured Output : Example 4</vt:lpstr>
      <vt:lpstr>DATA TYPES</vt:lpstr>
      <vt:lpstr>PowerPoint Presentation</vt:lpstr>
      <vt:lpstr>PowerPoint Presentation</vt:lpstr>
      <vt:lpstr>Image Data </vt:lpstr>
      <vt:lpstr>Video Data </vt:lpstr>
      <vt:lpstr>Text Data </vt:lpstr>
      <vt:lpstr>Graph Data</vt:lpstr>
      <vt:lpstr>Audio Data </vt:lpstr>
      <vt:lpstr>Efficient Convolution Algorithms</vt:lpstr>
      <vt:lpstr>Efficient Convolution Algorithms</vt:lpstr>
      <vt:lpstr>Efficient Convolution Algorithms</vt:lpstr>
      <vt:lpstr>Efficient Convolution Algorithms</vt:lpstr>
      <vt:lpstr>Efficient Convolution Algorithms</vt:lpstr>
      <vt:lpstr>Efficient Convolution Algorithms</vt:lpstr>
      <vt:lpstr>ReLu AF</vt:lpstr>
      <vt:lpstr>Key Properties of ReLU</vt:lpstr>
      <vt:lpstr>Advantages</vt:lpstr>
      <vt:lpstr>Disadvantages</vt:lpstr>
      <vt:lpstr>AlexNet</vt:lpstr>
      <vt:lpstr>Background in Computer Vision and ImageNet</vt:lpstr>
      <vt:lpstr>Design of AlexNet</vt:lpstr>
      <vt:lpstr>Design of AlexNet</vt:lpstr>
      <vt:lpstr>Architecture</vt:lpstr>
      <vt:lpstr>PowerPoint Presentation</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PowerPoint Presentation</vt:lpstr>
      <vt:lpstr>Why different size filter for different layers?</vt:lpstr>
      <vt:lpstr>Why different size filter for different layers?</vt:lpstr>
      <vt:lpstr>Why different size filter for different layers?</vt:lpstr>
      <vt:lpstr>Why various sizes of pooling and overlapping?</vt:lpstr>
      <vt:lpstr>Advantages</vt:lpstr>
      <vt:lpstr>PowerPoint Presentation</vt:lpstr>
      <vt:lpstr>Disadvantages of AlexNet</vt:lpstr>
      <vt:lpstr>PowerPoint Presentation</vt:lpstr>
      <vt:lpstr>PowerPoint Presentation</vt:lpstr>
      <vt:lpstr>LeNet</vt:lpstr>
      <vt:lpstr>PowerPoint Presentation</vt:lpstr>
      <vt:lpstr>Architecture of LeNet</vt:lpstr>
      <vt:lpstr>PowerPoint Presentation</vt:lpstr>
      <vt:lpstr>PowerPoint Presentation</vt:lpstr>
      <vt:lpstr>Architecture of LeNet</vt:lpstr>
      <vt:lpstr>Characteristics of LeNet</vt:lpstr>
      <vt:lpstr>Characteristics of LeNet</vt:lpstr>
      <vt:lpstr>Advantages of LeNet</vt:lpstr>
      <vt:lpstr>PowerPoint Presentation</vt:lpstr>
      <vt:lpstr>Disadvantages of LeNet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Kamat</dc:creator>
  <cp:lastModifiedBy>Vaishnavi Kamat</cp:lastModifiedBy>
  <cp:revision>16</cp:revision>
  <dcterms:created xsi:type="dcterms:W3CDTF">2024-10-22T07:19:13Z</dcterms:created>
  <dcterms:modified xsi:type="dcterms:W3CDTF">2025-08-03T10:36:03Z</dcterms:modified>
</cp:coreProperties>
</file>