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7"/>
  </p:notesMasterIdLst>
  <p:sldIdLst>
    <p:sldId id="256" r:id="rId2"/>
    <p:sldId id="271" r:id="rId3"/>
    <p:sldId id="272" r:id="rId4"/>
    <p:sldId id="258" r:id="rId5"/>
    <p:sldId id="260" r:id="rId6"/>
    <p:sldId id="261" r:id="rId7"/>
    <p:sldId id="262" r:id="rId8"/>
    <p:sldId id="264" r:id="rId9"/>
    <p:sldId id="265" r:id="rId10"/>
    <p:sldId id="268" r:id="rId11"/>
    <p:sldId id="266" r:id="rId12"/>
    <p:sldId id="269" r:id="rId13"/>
    <p:sldId id="270" r:id="rId14"/>
    <p:sldId id="273"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5UWh2ZbPbTAYZMN0lrxSg==" hashData="OcBBZRuu2LahQuJJVvBkWwxtNFcw1X+bDEcP+hnElr5sBffGLS8ygYx59Lr9r2gg/3Xypd9MWkViIUSwlMbdPg=="/>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1AA32-C5B8-41F9-A8A2-74EB20F692B5}" type="datetimeFigureOut">
              <a:rPr lang="en-IN" smtClean="0"/>
              <a:t>25-09-2024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5655F3-93AC-4305-B127-C1B015C08E22}" type="slidenum">
              <a:rPr lang="en-IN" smtClean="0"/>
              <a:t>‹#›</a:t>
            </a:fld>
            <a:endParaRPr lang="en-IN"/>
          </a:p>
        </p:txBody>
      </p:sp>
    </p:spTree>
    <p:extLst>
      <p:ext uri="{BB962C8B-B14F-4D97-AF65-F5344CB8AC3E}">
        <p14:creationId xmlns:p14="http://schemas.microsoft.com/office/powerpoint/2010/main" val="328461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6</a:t>
            </a:fld>
            <a:endParaRPr lang="en-IN"/>
          </a:p>
        </p:txBody>
      </p:sp>
    </p:spTree>
    <p:extLst>
      <p:ext uri="{BB962C8B-B14F-4D97-AF65-F5344CB8AC3E}">
        <p14:creationId xmlns:p14="http://schemas.microsoft.com/office/powerpoint/2010/main" val="1194656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7</a:t>
            </a:fld>
            <a:endParaRPr lang="en-IN"/>
          </a:p>
        </p:txBody>
      </p:sp>
    </p:spTree>
    <p:extLst>
      <p:ext uri="{BB962C8B-B14F-4D97-AF65-F5344CB8AC3E}">
        <p14:creationId xmlns:p14="http://schemas.microsoft.com/office/powerpoint/2010/main" val="293780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8</a:t>
            </a:fld>
            <a:endParaRPr lang="en-IN"/>
          </a:p>
        </p:txBody>
      </p:sp>
    </p:spTree>
    <p:extLst>
      <p:ext uri="{BB962C8B-B14F-4D97-AF65-F5344CB8AC3E}">
        <p14:creationId xmlns:p14="http://schemas.microsoft.com/office/powerpoint/2010/main" val="3533243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9</a:t>
            </a:fld>
            <a:endParaRPr lang="en-IN"/>
          </a:p>
        </p:txBody>
      </p:sp>
    </p:spTree>
    <p:extLst>
      <p:ext uri="{BB962C8B-B14F-4D97-AF65-F5344CB8AC3E}">
        <p14:creationId xmlns:p14="http://schemas.microsoft.com/office/powerpoint/2010/main" val="2665932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10</a:t>
            </a:fld>
            <a:endParaRPr lang="en-IN"/>
          </a:p>
        </p:txBody>
      </p:sp>
    </p:spTree>
    <p:extLst>
      <p:ext uri="{BB962C8B-B14F-4D97-AF65-F5344CB8AC3E}">
        <p14:creationId xmlns:p14="http://schemas.microsoft.com/office/powerpoint/2010/main" val="4030928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11</a:t>
            </a:fld>
            <a:endParaRPr lang="en-IN"/>
          </a:p>
        </p:txBody>
      </p:sp>
    </p:spTree>
    <p:extLst>
      <p:ext uri="{BB962C8B-B14F-4D97-AF65-F5344CB8AC3E}">
        <p14:creationId xmlns:p14="http://schemas.microsoft.com/office/powerpoint/2010/main" val="675042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655F3-93AC-4305-B127-C1B015C08E22}" type="slidenum">
              <a:rPr lang="en-IN" smtClean="0"/>
              <a:t>12</a:t>
            </a:fld>
            <a:endParaRPr lang="en-IN"/>
          </a:p>
        </p:txBody>
      </p:sp>
    </p:spTree>
    <p:extLst>
      <p:ext uri="{BB962C8B-B14F-4D97-AF65-F5344CB8AC3E}">
        <p14:creationId xmlns:p14="http://schemas.microsoft.com/office/powerpoint/2010/main" val="1675026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5655F3-93AC-4305-B127-C1B015C08E2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1740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7CCA0-F534-DF2D-DE1F-5828A93158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F4C32-1B5D-D02E-A8AA-E91C4A5E2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97C028-67AA-9C67-4D32-B44925B355FF}"/>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D02512E4-72B3-D286-AF92-5F59E5437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E0CA4-6822-1417-7657-665AE46A562F}"/>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3664123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1401-7A82-8E62-C441-D77B0B629F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1B5AA8-A295-8F58-DE85-7E695E81F3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54A33-B313-656E-6D97-20DE55D49A8C}"/>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BF568588-BA55-4501-7E16-0F80FB038F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6603EF-BF49-6137-6BB1-41B3E219151E}"/>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3439592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515E4-9E08-86AB-37D9-370669655D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EF99B5-FFF0-E360-0474-C3757C3946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0273D3-8C0D-F8CB-567B-C5C36B248B4D}"/>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11EB91CE-C0AE-9B6F-C901-92B2EE8F9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C29C42-20BD-48A1-1B6B-E927BAACE399}"/>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2826556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7255E-D906-8152-C2CE-2CAC482EEF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81E577-635A-643F-D1FE-67C4335616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14711A-E126-F43B-0AD4-775958DDFE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CC91D3-1DA6-4B6B-CFC6-E4E090ABC325}"/>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6" name="Footer Placeholder 5">
            <a:extLst>
              <a:ext uri="{FF2B5EF4-FFF2-40B4-BE49-F238E27FC236}">
                <a16:creationId xmlns:a16="http://schemas.microsoft.com/office/drawing/2014/main" id="{90589985-A802-96FE-753E-7C0917532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1E2835-7901-8333-6F5F-80714C58C47E}"/>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4029074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6ABAA-45B2-D351-105D-2C822697B8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455993-0DD9-93F0-217F-65879CAEE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737C89-4DA7-3A23-1278-9C560AB944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962DAB-24B4-CF3E-C61D-E008D5E245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BE7884-C25E-9033-46F7-9D2A4E6371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9EC2402-1745-17CD-D7A7-C100C73A2C97}"/>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8" name="Footer Placeholder 7">
            <a:extLst>
              <a:ext uri="{FF2B5EF4-FFF2-40B4-BE49-F238E27FC236}">
                <a16:creationId xmlns:a16="http://schemas.microsoft.com/office/drawing/2014/main" id="{F40CFCD7-1EED-7509-3F2D-D092F48996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89BD80-9B26-E294-397C-212310C3EB02}"/>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353151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35F7-E449-58BE-AD44-0ACC18E64D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2BA60F-EBAB-1986-5C5F-BEADD085F267}"/>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4" name="Footer Placeholder 3">
            <a:extLst>
              <a:ext uri="{FF2B5EF4-FFF2-40B4-BE49-F238E27FC236}">
                <a16:creationId xmlns:a16="http://schemas.microsoft.com/office/drawing/2014/main" id="{A6C577E5-A1BD-72D9-ACFC-67D08A4AA52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8428F1-9CED-7918-00C4-17E619C2DA3B}"/>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231362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B69765-8D4F-CBE9-157A-26D57B89FFC1}"/>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3" name="Footer Placeholder 2">
            <a:extLst>
              <a:ext uri="{FF2B5EF4-FFF2-40B4-BE49-F238E27FC236}">
                <a16:creationId xmlns:a16="http://schemas.microsoft.com/office/drawing/2014/main" id="{7DC36BC3-13A7-F924-F1AC-EAE56E9DD2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EBBD50-FEB8-AB96-9F83-FD5E81CF1B79}"/>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838716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1EDD-298C-927C-2A39-B122DF4D7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871EC0-FAA9-83B6-E7FF-2046C2E5F4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79EBB7-FC59-7F92-E3FC-924A5483C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B83B9-4EC7-2387-F026-0932B90BBDCD}"/>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6" name="Footer Placeholder 5">
            <a:extLst>
              <a:ext uri="{FF2B5EF4-FFF2-40B4-BE49-F238E27FC236}">
                <a16:creationId xmlns:a16="http://schemas.microsoft.com/office/drawing/2014/main" id="{A5153D6F-2381-83C6-C83A-D02238588A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54F481-1866-F303-564A-BA8DCF4EFC3B}"/>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14205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BBC6-9B14-D83A-BCF8-B6A0AE380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125601-9C09-09EA-273B-C4D59AE89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00CD35-76D1-9EE6-D9DB-7F26F5547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3E9C7D-85B9-6F5B-A6FE-4ECFDFB04B45}"/>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6" name="Footer Placeholder 5">
            <a:extLst>
              <a:ext uri="{FF2B5EF4-FFF2-40B4-BE49-F238E27FC236}">
                <a16:creationId xmlns:a16="http://schemas.microsoft.com/office/drawing/2014/main" id="{713CFAE9-3941-8B6D-3E26-039E551AA2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56129F-2C6E-6861-EDC8-9DE5B3903D4F}"/>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269766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8E3B9-549F-AF7B-CAED-593C130EE6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280A13-5C67-851D-F7CE-A3620B43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193845-0876-2C15-A819-1D85BD697C25}"/>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0EF1BB0B-2707-7D11-4969-B56D64A6C4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E1E8F6-768B-498B-83C3-1D8BE1B5DE3D}"/>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359920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1AA8A-460D-A861-0C08-D94E8CE227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9F0BD5-D35A-6353-81B2-EFE8E15AE5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9C0738-E411-8F59-7FC1-81A3BAAAA3D7}"/>
              </a:ext>
            </a:extLst>
          </p:cNvPr>
          <p:cNvSpPr>
            <a:spLocks noGrp="1"/>
          </p:cNvSpPr>
          <p:nvPr>
            <p:ph type="dt" sz="half" idx="10"/>
          </p:nvPr>
        </p:nvSpPr>
        <p:spPr/>
        <p:txBody>
          <a:body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E71732CE-5E23-0803-3DFF-F3E06AF0EC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5D1706-8201-D8D9-76B9-7F377E919475}"/>
              </a:ext>
            </a:extLst>
          </p:cNvPr>
          <p:cNvSpPr>
            <a:spLocks noGrp="1"/>
          </p:cNvSpPr>
          <p:nvPr>
            <p:ph type="sldNum" sz="quarter" idx="12"/>
          </p:nvPr>
        </p:nvSpPr>
        <p:spPr/>
        <p:txBody>
          <a:bodyPr/>
          <a:lstStyle/>
          <a:p>
            <a:fld id="{872B4C75-EBB0-48F8-B05D-3BE55E633529}" type="slidenum">
              <a:rPr lang="en-IN" smtClean="0"/>
              <a:t>‹#›</a:t>
            </a:fld>
            <a:endParaRPr lang="en-IN"/>
          </a:p>
        </p:txBody>
      </p:sp>
    </p:spTree>
    <p:extLst>
      <p:ext uri="{BB962C8B-B14F-4D97-AF65-F5344CB8AC3E}">
        <p14:creationId xmlns:p14="http://schemas.microsoft.com/office/powerpoint/2010/main" val="3229230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8EC93-61C0-84BE-91F4-D36B20C70D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551796-8673-4CF8-AF80-C1546D0536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D40DD-3535-C93B-6680-3BCE9EC1D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C1E02-978A-4C99-94EA-7E2F694EAD54}" type="datetimeFigureOut">
              <a:rPr lang="en-IN" smtClean="0"/>
              <a:t>25-09-2024</a:t>
            </a:fld>
            <a:endParaRPr lang="en-IN"/>
          </a:p>
        </p:txBody>
      </p:sp>
      <p:sp>
        <p:nvSpPr>
          <p:cNvPr id="5" name="Footer Placeholder 4">
            <a:extLst>
              <a:ext uri="{FF2B5EF4-FFF2-40B4-BE49-F238E27FC236}">
                <a16:creationId xmlns:a16="http://schemas.microsoft.com/office/drawing/2014/main" id="{C65925ED-9236-6526-FA36-EF9F4AD57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8DC410-C02D-5350-D6B9-8B54178A9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B4C75-EBB0-48F8-B05D-3BE55E633529}" type="slidenum">
              <a:rPr lang="en-IN" smtClean="0"/>
              <a:t>‹#›</a:t>
            </a:fld>
            <a:endParaRPr lang="en-IN"/>
          </a:p>
        </p:txBody>
      </p:sp>
    </p:spTree>
    <p:extLst>
      <p:ext uri="{BB962C8B-B14F-4D97-AF65-F5344CB8AC3E}">
        <p14:creationId xmlns:p14="http://schemas.microsoft.com/office/powerpoint/2010/main" val="945599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3D700-C7C2-07E7-BFAC-7A3C85F1F42A}"/>
              </a:ext>
            </a:extLst>
          </p:cNvPr>
          <p:cNvSpPr>
            <a:spLocks noGrp="1"/>
          </p:cNvSpPr>
          <p:nvPr>
            <p:ph type="ctrTitle"/>
          </p:nvPr>
        </p:nvSpPr>
        <p:spPr/>
        <p:txBody>
          <a:bodyPr/>
          <a:lstStyle/>
          <a:p>
            <a:r>
              <a:rPr lang="en-IN" dirty="0"/>
              <a:t>Unit - 1</a:t>
            </a:r>
          </a:p>
        </p:txBody>
      </p:sp>
      <p:sp>
        <p:nvSpPr>
          <p:cNvPr id="3" name="Subtitle 2">
            <a:extLst>
              <a:ext uri="{FF2B5EF4-FFF2-40B4-BE49-F238E27FC236}">
                <a16:creationId xmlns:a16="http://schemas.microsoft.com/office/drawing/2014/main" id="{3B427209-372A-1A7E-0BA6-744381450E0E}"/>
              </a:ext>
            </a:extLst>
          </p:cNvPr>
          <p:cNvSpPr>
            <a:spLocks noGrp="1"/>
          </p:cNvSpPr>
          <p:nvPr>
            <p:ph type="subTitle" idx="1"/>
          </p:nvPr>
        </p:nvSpPr>
        <p:spPr/>
        <p:txBody>
          <a:bodyPr/>
          <a:lstStyle/>
          <a:p>
            <a:r>
              <a:rPr lang="en-IN" dirty="0"/>
              <a:t>NNDL</a:t>
            </a:r>
          </a:p>
        </p:txBody>
      </p:sp>
    </p:spTree>
    <p:extLst>
      <p:ext uri="{BB962C8B-B14F-4D97-AF65-F5344CB8AC3E}">
        <p14:creationId xmlns:p14="http://schemas.microsoft.com/office/powerpoint/2010/main" val="448344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D054-D8E2-0EF0-6EC4-E6535C6EC432}"/>
              </a:ext>
            </a:extLst>
          </p:cNvPr>
          <p:cNvSpPr>
            <a:spLocks noGrp="1"/>
          </p:cNvSpPr>
          <p:nvPr>
            <p:ph type="title"/>
          </p:nvPr>
        </p:nvSpPr>
        <p:spPr/>
        <p:txBody>
          <a:bodyPr/>
          <a:lstStyle/>
          <a:p>
            <a:r>
              <a:rPr lang="en-IN" dirty="0"/>
              <a:t>What is a Neural Network?</a:t>
            </a:r>
          </a:p>
        </p:txBody>
      </p:sp>
      <p:sp>
        <p:nvSpPr>
          <p:cNvPr id="3" name="Content Placeholder 2">
            <a:extLst>
              <a:ext uri="{FF2B5EF4-FFF2-40B4-BE49-F238E27FC236}">
                <a16:creationId xmlns:a16="http://schemas.microsoft.com/office/drawing/2014/main" id="{D1E75779-54F1-2206-342E-07DCE6203C2E}"/>
              </a:ext>
            </a:extLst>
          </p:cNvPr>
          <p:cNvSpPr>
            <a:spLocks noGrp="1"/>
          </p:cNvSpPr>
          <p:nvPr>
            <p:ph idx="1"/>
          </p:nvPr>
        </p:nvSpPr>
        <p:spPr/>
        <p:txBody>
          <a:bodyPr/>
          <a:lstStyle/>
          <a:p>
            <a:endParaRPr lang="en-US" dirty="0"/>
          </a:p>
          <a:p>
            <a:pPr algn="just"/>
            <a:r>
              <a:rPr lang="en-US" dirty="0"/>
              <a:t>A neural network is a massively parallel distributed processor made up of simple processing units, which has a natural propensity for storing experiential knowledge and making it available for use.</a:t>
            </a:r>
          </a:p>
          <a:p>
            <a:pPr algn="just"/>
            <a:endParaRPr lang="en-US" dirty="0"/>
          </a:p>
          <a:p>
            <a:pPr algn="just"/>
            <a:r>
              <a:rPr lang="en-US" dirty="0"/>
              <a:t>Knowledge is acquired by the network from its environment through a learning process. The procedure performing learning process is called a learning algorithm.</a:t>
            </a:r>
          </a:p>
          <a:p>
            <a:endParaRPr lang="en-IN" dirty="0"/>
          </a:p>
        </p:txBody>
      </p:sp>
    </p:spTree>
    <p:extLst>
      <p:ext uri="{BB962C8B-B14F-4D97-AF65-F5344CB8AC3E}">
        <p14:creationId xmlns:p14="http://schemas.microsoft.com/office/powerpoint/2010/main" val="113129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7282-80A1-5D7A-A281-50EC7141DE94}"/>
              </a:ext>
            </a:extLst>
          </p:cNvPr>
          <p:cNvSpPr>
            <a:spLocks noGrp="1"/>
          </p:cNvSpPr>
          <p:nvPr>
            <p:ph type="title"/>
          </p:nvPr>
        </p:nvSpPr>
        <p:spPr/>
        <p:txBody>
          <a:bodyPr/>
          <a:lstStyle/>
          <a:p>
            <a:endParaRPr lang="en-IN"/>
          </a:p>
        </p:txBody>
      </p:sp>
      <p:graphicFrame>
        <p:nvGraphicFramePr>
          <p:cNvPr id="5" name="Table 5">
            <a:extLst>
              <a:ext uri="{FF2B5EF4-FFF2-40B4-BE49-F238E27FC236}">
                <a16:creationId xmlns:a16="http://schemas.microsoft.com/office/drawing/2014/main" id="{B154BE0B-7B5C-507F-84CC-20D6E47A69FD}"/>
              </a:ext>
            </a:extLst>
          </p:cNvPr>
          <p:cNvGraphicFramePr>
            <a:graphicFrameLocks/>
          </p:cNvGraphicFramePr>
          <p:nvPr>
            <p:extLst>
              <p:ext uri="{D42A27DB-BD31-4B8C-83A1-F6EECF244321}">
                <p14:modId xmlns:p14="http://schemas.microsoft.com/office/powerpoint/2010/main" val="589649397"/>
              </p:ext>
            </p:extLst>
          </p:nvPr>
        </p:nvGraphicFramePr>
        <p:xfrm>
          <a:off x="367748" y="268357"/>
          <a:ext cx="11430000" cy="6224517"/>
        </p:xfrm>
        <a:graphic>
          <a:graphicData uri="http://schemas.openxmlformats.org/drawingml/2006/table">
            <a:tbl>
              <a:tblPr firstRow="1" bandRow="1"/>
              <a:tblGrid>
                <a:gridCol w="5329655">
                  <a:extLst>
                    <a:ext uri="{9D8B030D-6E8A-4147-A177-3AD203B41FA5}">
                      <a16:colId xmlns:a16="http://schemas.microsoft.com/office/drawing/2014/main" val="20000"/>
                    </a:ext>
                  </a:extLst>
                </a:gridCol>
                <a:gridCol w="6100345">
                  <a:extLst>
                    <a:ext uri="{9D8B030D-6E8A-4147-A177-3AD203B41FA5}">
                      <a16:colId xmlns:a16="http://schemas.microsoft.com/office/drawing/2014/main" val="20001"/>
                    </a:ext>
                  </a:extLst>
                </a:gridCol>
              </a:tblGrid>
              <a:tr h="472193">
                <a:tc>
                  <a:txBody>
                    <a:bodyPr/>
                    <a:lstStyle>
                      <a:lvl1pPr marL="0" algn="l" defTabSz="914400" rtl="0" eaLnBrk="1" latinLnBrk="0" hangingPunct="1">
                        <a:defRPr sz="1800" b="1" kern="1200">
                          <a:solidFill>
                            <a:schemeClr val="lt1"/>
                          </a:solidFill>
                          <a:latin typeface="Arial"/>
                          <a:ea typeface="新細明體"/>
                        </a:defRPr>
                      </a:lvl1pPr>
                      <a:lvl2pPr marL="457200" algn="l" defTabSz="914400" rtl="0" eaLnBrk="1" latinLnBrk="0" hangingPunct="1">
                        <a:defRPr sz="1800" b="1" kern="1200">
                          <a:solidFill>
                            <a:schemeClr val="lt1"/>
                          </a:solidFill>
                          <a:latin typeface="Arial"/>
                          <a:ea typeface="新細明體"/>
                        </a:defRPr>
                      </a:lvl2pPr>
                      <a:lvl3pPr marL="914400" algn="l" defTabSz="914400" rtl="0" eaLnBrk="1" latinLnBrk="0" hangingPunct="1">
                        <a:defRPr sz="1800" b="1" kern="1200">
                          <a:solidFill>
                            <a:schemeClr val="lt1"/>
                          </a:solidFill>
                          <a:latin typeface="Arial"/>
                          <a:ea typeface="新細明體"/>
                        </a:defRPr>
                      </a:lvl3pPr>
                      <a:lvl4pPr marL="1371600" algn="l" defTabSz="914400" rtl="0" eaLnBrk="1" latinLnBrk="0" hangingPunct="1">
                        <a:defRPr sz="1800" b="1" kern="1200">
                          <a:solidFill>
                            <a:schemeClr val="lt1"/>
                          </a:solidFill>
                          <a:latin typeface="Arial"/>
                          <a:ea typeface="新細明體"/>
                        </a:defRPr>
                      </a:lvl4pPr>
                      <a:lvl5pPr marL="1828800" algn="l" defTabSz="914400" rtl="0" eaLnBrk="1" latinLnBrk="0" hangingPunct="1">
                        <a:defRPr sz="1800" b="1" kern="1200">
                          <a:solidFill>
                            <a:schemeClr val="lt1"/>
                          </a:solidFill>
                          <a:latin typeface="Arial"/>
                          <a:ea typeface="新細明體"/>
                        </a:defRPr>
                      </a:lvl5pPr>
                      <a:lvl6pPr marL="2286000" algn="l" defTabSz="914400" rtl="0" eaLnBrk="1" latinLnBrk="0" hangingPunct="1">
                        <a:defRPr sz="1800" b="1" kern="1200">
                          <a:solidFill>
                            <a:schemeClr val="lt1"/>
                          </a:solidFill>
                          <a:latin typeface="Arial"/>
                          <a:ea typeface="新細明體"/>
                        </a:defRPr>
                      </a:lvl6pPr>
                      <a:lvl7pPr marL="2743200" algn="l" defTabSz="914400" rtl="0" eaLnBrk="1" latinLnBrk="0" hangingPunct="1">
                        <a:defRPr sz="1800" b="1" kern="1200">
                          <a:solidFill>
                            <a:schemeClr val="lt1"/>
                          </a:solidFill>
                          <a:latin typeface="Arial"/>
                          <a:ea typeface="新細明體"/>
                        </a:defRPr>
                      </a:lvl7pPr>
                      <a:lvl8pPr marL="3200400" algn="l" defTabSz="914400" rtl="0" eaLnBrk="1" latinLnBrk="0" hangingPunct="1">
                        <a:defRPr sz="1800" b="1" kern="1200">
                          <a:solidFill>
                            <a:schemeClr val="lt1"/>
                          </a:solidFill>
                          <a:latin typeface="Arial"/>
                          <a:ea typeface="新細明體"/>
                        </a:defRPr>
                      </a:lvl8pPr>
                      <a:lvl9pPr marL="3657600" algn="l" defTabSz="914400" rtl="0" eaLnBrk="1" latinLnBrk="0" hangingPunct="1">
                        <a:defRPr sz="1800" b="1" kern="1200">
                          <a:solidFill>
                            <a:schemeClr val="lt1"/>
                          </a:solidFill>
                          <a:latin typeface="Arial"/>
                          <a:ea typeface="新細明體"/>
                        </a:defRPr>
                      </a:lvl9pPr>
                    </a:lstStyle>
                    <a:p>
                      <a:r>
                        <a:rPr lang="en-IN" sz="1800" dirty="0"/>
                        <a:t>Conventional Computer</a:t>
                      </a:r>
                    </a:p>
                  </a:txBody>
                  <a:tcPr marL="91434" marR="91434" marT="45711" marB="45711">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CCCC"/>
                    </a:solidFill>
                  </a:tcPr>
                </a:tc>
                <a:tc>
                  <a:txBody>
                    <a:bodyPr/>
                    <a:lstStyle>
                      <a:lvl1pPr marL="0" algn="l" defTabSz="914400" rtl="0" eaLnBrk="1" latinLnBrk="0" hangingPunct="1">
                        <a:defRPr sz="1800" b="1" kern="1200">
                          <a:solidFill>
                            <a:schemeClr val="lt1"/>
                          </a:solidFill>
                          <a:latin typeface="Arial"/>
                          <a:ea typeface="新細明體"/>
                        </a:defRPr>
                      </a:lvl1pPr>
                      <a:lvl2pPr marL="457200" algn="l" defTabSz="914400" rtl="0" eaLnBrk="1" latinLnBrk="0" hangingPunct="1">
                        <a:defRPr sz="1800" b="1" kern="1200">
                          <a:solidFill>
                            <a:schemeClr val="lt1"/>
                          </a:solidFill>
                          <a:latin typeface="Arial"/>
                          <a:ea typeface="新細明體"/>
                        </a:defRPr>
                      </a:lvl2pPr>
                      <a:lvl3pPr marL="914400" algn="l" defTabSz="914400" rtl="0" eaLnBrk="1" latinLnBrk="0" hangingPunct="1">
                        <a:defRPr sz="1800" b="1" kern="1200">
                          <a:solidFill>
                            <a:schemeClr val="lt1"/>
                          </a:solidFill>
                          <a:latin typeface="Arial"/>
                          <a:ea typeface="新細明體"/>
                        </a:defRPr>
                      </a:lvl3pPr>
                      <a:lvl4pPr marL="1371600" algn="l" defTabSz="914400" rtl="0" eaLnBrk="1" latinLnBrk="0" hangingPunct="1">
                        <a:defRPr sz="1800" b="1" kern="1200">
                          <a:solidFill>
                            <a:schemeClr val="lt1"/>
                          </a:solidFill>
                          <a:latin typeface="Arial"/>
                          <a:ea typeface="新細明體"/>
                        </a:defRPr>
                      </a:lvl4pPr>
                      <a:lvl5pPr marL="1828800" algn="l" defTabSz="914400" rtl="0" eaLnBrk="1" latinLnBrk="0" hangingPunct="1">
                        <a:defRPr sz="1800" b="1" kern="1200">
                          <a:solidFill>
                            <a:schemeClr val="lt1"/>
                          </a:solidFill>
                          <a:latin typeface="Arial"/>
                          <a:ea typeface="新細明體"/>
                        </a:defRPr>
                      </a:lvl5pPr>
                      <a:lvl6pPr marL="2286000" algn="l" defTabSz="914400" rtl="0" eaLnBrk="1" latinLnBrk="0" hangingPunct="1">
                        <a:defRPr sz="1800" b="1" kern="1200">
                          <a:solidFill>
                            <a:schemeClr val="lt1"/>
                          </a:solidFill>
                          <a:latin typeface="Arial"/>
                          <a:ea typeface="新細明體"/>
                        </a:defRPr>
                      </a:lvl6pPr>
                      <a:lvl7pPr marL="2743200" algn="l" defTabSz="914400" rtl="0" eaLnBrk="1" latinLnBrk="0" hangingPunct="1">
                        <a:defRPr sz="1800" b="1" kern="1200">
                          <a:solidFill>
                            <a:schemeClr val="lt1"/>
                          </a:solidFill>
                          <a:latin typeface="Arial"/>
                          <a:ea typeface="新細明體"/>
                        </a:defRPr>
                      </a:lvl7pPr>
                      <a:lvl8pPr marL="3200400" algn="l" defTabSz="914400" rtl="0" eaLnBrk="1" latinLnBrk="0" hangingPunct="1">
                        <a:defRPr sz="1800" b="1" kern="1200">
                          <a:solidFill>
                            <a:schemeClr val="lt1"/>
                          </a:solidFill>
                          <a:latin typeface="Arial"/>
                          <a:ea typeface="新細明體"/>
                        </a:defRPr>
                      </a:lvl8pPr>
                      <a:lvl9pPr marL="3657600" algn="l" defTabSz="914400" rtl="0" eaLnBrk="1" latinLnBrk="0" hangingPunct="1">
                        <a:defRPr sz="1800" b="1" kern="1200">
                          <a:solidFill>
                            <a:schemeClr val="lt1"/>
                          </a:solidFill>
                          <a:latin typeface="Arial"/>
                          <a:ea typeface="新細明體"/>
                        </a:defRPr>
                      </a:lvl9pPr>
                    </a:lstStyle>
                    <a:p>
                      <a:r>
                        <a:rPr lang="en-IN" sz="1800" dirty="0"/>
                        <a:t>    Human brain</a:t>
                      </a:r>
                    </a:p>
                  </a:txBody>
                  <a:tcPr marL="91434" marR="91434" marT="45711" marB="45711">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CCCC"/>
                    </a:solidFill>
                  </a:tcPr>
                </a:tc>
                <a:extLst>
                  <a:ext uri="{0D108BD9-81ED-4DB2-BD59-A6C34878D82A}">
                    <a16:rowId xmlns:a16="http://schemas.microsoft.com/office/drawing/2014/main" val="10000"/>
                  </a:ext>
                </a:extLst>
              </a:tr>
              <a:tr h="1330773">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70C0"/>
                          </a:solidFill>
                        </a:rPr>
                        <a:t>To solve the problem computer uses sequential approach. It follows the set of instructions to solve the given problem. It restricts problem solving ability of computer.</a:t>
                      </a:r>
                    </a:p>
                  </a:txBody>
                  <a:tcPr marL="91434" marR="91434" marT="45711" marB="4571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B050"/>
                          </a:solidFill>
                        </a:rPr>
                        <a:t>To solve the problem large number of highly interconnected nodes work in parallel. It learns by example.</a:t>
                      </a:r>
                    </a:p>
                    <a:p>
                      <a:pPr algn="just"/>
                      <a:r>
                        <a:rPr lang="en-IN" sz="1800" b="1" dirty="0" err="1">
                          <a:solidFill>
                            <a:srgbClr val="00B050"/>
                          </a:solidFill>
                        </a:rPr>
                        <a:t>Eg</a:t>
                      </a:r>
                      <a:r>
                        <a:rPr lang="en-IN" sz="1800" b="1" dirty="0">
                          <a:solidFill>
                            <a:srgbClr val="00B050"/>
                          </a:solidFill>
                        </a:rPr>
                        <a:t>: Small child, experienced doctor.  </a:t>
                      </a:r>
                    </a:p>
                  </a:txBody>
                  <a:tcPr marL="91434" marR="91434" marT="45711" marB="4571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extLst>
                  <a:ext uri="{0D108BD9-81ED-4DB2-BD59-A6C34878D82A}">
                    <a16:rowId xmlns:a16="http://schemas.microsoft.com/office/drawing/2014/main" val="10001"/>
                  </a:ext>
                </a:extLst>
              </a:tr>
              <a:tr h="1030270">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70C0"/>
                          </a:solidFill>
                        </a:rPr>
                        <a:t>Computer has centralised control for  all the operations.</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20000"/>
                      </a:srgbClr>
                    </a:solidFill>
                  </a:tcPr>
                </a:tc>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B050"/>
                          </a:solidFill>
                        </a:rPr>
                        <a:t>It is a distributed control system. Each neuron acts based on information locally available and transmits info of its output to neuron connected to it.</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20000"/>
                      </a:srgbClr>
                    </a:solidFill>
                  </a:tcPr>
                </a:tc>
                <a:extLst>
                  <a:ext uri="{0D108BD9-81ED-4DB2-BD59-A6C34878D82A}">
                    <a16:rowId xmlns:a16="http://schemas.microsoft.com/office/drawing/2014/main" val="10002"/>
                  </a:ext>
                </a:extLst>
              </a:tr>
              <a:tr h="729735">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70C0"/>
                          </a:solidFill>
                        </a:rPr>
                        <a:t>Computer stores the information in memory.</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B050"/>
                          </a:solidFill>
                        </a:rPr>
                        <a:t>Human brain stores information in its connection weights.</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extLst>
                  <a:ext uri="{0D108BD9-81ED-4DB2-BD59-A6C34878D82A}">
                    <a16:rowId xmlns:a16="http://schemas.microsoft.com/office/drawing/2014/main" val="10003"/>
                  </a:ext>
                </a:extLst>
              </a:tr>
              <a:tr h="729767">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70C0"/>
                          </a:solidFill>
                        </a:rPr>
                        <a:t>Information stored in computer memory is replaceable.</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20000"/>
                      </a:srgbClr>
                    </a:solidFill>
                  </a:tcPr>
                </a:tc>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dirty="0">
                          <a:solidFill>
                            <a:srgbClr val="00B050"/>
                          </a:solidFill>
                        </a:rPr>
                        <a:t>Information stored in human brain is adaptable. </a:t>
                      </a:r>
                      <a:r>
                        <a:rPr lang="en-IN" sz="1800" b="1" dirty="0" err="1">
                          <a:solidFill>
                            <a:srgbClr val="00B050"/>
                          </a:solidFill>
                        </a:rPr>
                        <a:t>Eg</a:t>
                      </a:r>
                      <a:r>
                        <a:rPr lang="en-IN" sz="1800" b="1" dirty="0">
                          <a:solidFill>
                            <a:srgbClr val="00B050"/>
                          </a:solidFill>
                        </a:rPr>
                        <a:t>: Face recognition.</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20000"/>
                      </a:srgbClr>
                    </a:solidFill>
                  </a:tcPr>
                </a:tc>
                <a:extLst>
                  <a:ext uri="{0D108BD9-81ED-4DB2-BD59-A6C34878D82A}">
                    <a16:rowId xmlns:a16="http://schemas.microsoft.com/office/drawing/2014/main" val="10004"/>
                  </a:ext>
                </a:extLst>
              </a:tr>
              <a:tr h="1931779">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kern="1200" dirty="0">
                          <a:solidFill>
                            <a:srgbClr val="0070C0"/>
                          </a:solidFill>
                          <a:latin typeface="+mn-lt"/>
                          <a:ea typeface="+mn-ea"/>
                          <a:cs typeface="+mn-cs"/>
                        </a:rPr>
                        <a:t>Computer has no tolerance. If information in memory is corrupt, it can not be retrieved. If one or other part goes the it stops working. </a:t>
                      </a:r>
                    </a:p>
                    <a:p>
                      <a:pPr algn="just"/>
                      <a:endParaRPr lang="en-IN" sz="1800" b="1" kern="1200" dirty="0">
                        <a:solidFill>
                          <a:srgbClr val="0070C0"/>
                        </a:solidFill>
                        <a:latin typeface="+mn-lt"/>
                        <a:ea typeface="+mn-ea"/>
                        <a:cs typeface="+mn-cs"/>
                      </a:endParaRPr>
                    </a:p>
                    <a:p>
                      <a:pPr algn="just"/>
                      <a:r>
                        <a:rPr lang="en-IN" sz="1800" b="1" kern="1200" dirty="0" err="1">
                          <a:solidFill>
                            <a:srgbClr val="0070C0"/>
                          </a:solidFill>
                          <a:latin typeface="+mn-lt"/>
                          <a:ea typeface="+mn-ea"/>
                          <a:cs typeface="+mn-cs"/>
                        </a:rPr>
                        <a:t>Eg</a:t>
                      </a:r>
                      <a:r>
                        <a:rPr lang="en-IN" sz="1800" b="1" kern="1200" dirty="0">
                          <a:solidFill>
                            <a:srgbClr val="0070C0"/>
                          </a:solidFill>
                          <a:latin typeface="+mn-lt"/>
                          <a:ea typeface="+mn-ea"/>
                          <a:cs typeface="+mn-cs"/>
                        </a:rPr>
                        <a:t>: SMPS, RAM, Hard disk.</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tc>
                  <a:txBody>
                    <a:bodyPr/>
                    <a:lstStyle>
                      <a:lvl1pPr marL="0" algn="l" defTabSz="914400" rtl="0" eaLnBrk="1" latinLnBrk="0" hangingPunct="1">
                        <a:defRPr sz="1800" kern="1200">
                          <a:solidFill>
                            <a:schemeClr val="dk1"/>
                          </a:solidFill>
                          <a:latin typeface="Arial"/>
                          <a:ea typeface="新細明體"/>
                        </a:defRPr>
                      </a:lvl1pPr>
                      <a:lvl2pPr marL="457200" algn="l" defTabSz="914400" rtl="0" eaLnBrk="1" latinLnBrk="0" hangingPunct="1">
                        <a:defRPr sz="1800" kern="1200">
                          <a:solidFill>
                            <a:schemeClr val="dk1"/>
                          </a:solidFill>
                          <a:latin typeface="Arial"/>
                          <a:ea typeface="新細明體"/>
                        </a:defRPr>
                      </a:lvl2pPr>
                      <a:lvl3pPr marL="914400" algn="l" defTabSz="914400" rtl="0" eaLnBrk="1" latinLnBrk="0" hangingPunct="1">
                        <a:defRPr sz="1800" kern="1200">
                          <a:solidFill>
                            <a:schemeClr val="dk1"/>
                          </a:solidFill>
                          <a:latin typeface="Arial"/>
                          <a:ea typeface="新細明體"/>
                        </a:defRPr>
                      </a:lvl3pPr>
                      <a:lvl4pPr marL="1371600" algn="l" defTabSz="914400" rtl="0" eaLnBrk="1" latinLnBrk="0" hangingPunct="1">
                        <a:defRPr sz="1800" kern="1200">
                          <a:solidFill>
                            <a:schemeClr val="dk1"/>
                          </a:solidFill>
                          <a:latin typeface="Arial"/>
                          <a:ea typeface="新細明體"/>
                        </a:defRPr>
                      </a:lvl4pPr>
                      <a:lvl5pPr marL="1828800" algn="l" defTabSz="914400" rtl="0" eaLnBrk="1" latinLnBrk="0" hangingPunct="1">
                        <a:defRPr sz="1800" kern="1200">
                          <a:solidFill>
                            <a:schemeClr val="dk1"/>
                          </a:solidFill>
                          <a:latin typeface="Arial"/>
                          <a:ea typeface="新細明體"/>
                        </a:defRPr>
                      </a:lvl5pPr>
                      <a:lvl6pPr marL="2286000" algn="l" defTabSz="914400" rtl="0" eaLnBrk="1" latinLnBrk="0" hangingPunct="1">
                        <a:defRPr sz="1800" kern="1200">
                          <a:solidFill>
                            <a:schemeClr val="dk1"/>
                          </a:solidFill>
                          <a:latin typeface="Arial"/>
                          <a:ea typeface="新細明體"/>
                        </a:defRPr>
                      </a:lvl6pPr>
                      <a:lvl7pPr marL="2743200" algn="l" defTabSz="914400" rtl="0" eaLnBrk="1" latinLnBrk="0" hangingPunct="1">
                        <a:defRPr sz="1800" kern="1200">
                          <a:solidFill>
                            <a:schemeClr val="dk1"/>
                          </a:solidFill>
                          <a:latin typeface="Arial"/>
                          <a:ea typeface="新細明體"/>
                        </a:defRPr>
                      </a:lvl7pPr>
                      <a:lvl8pPr marL="3200400" algn="l" defTabSz="914400" rtl="0" eaLnBrk="1" latinLnBrk="0" hangingPunct="1">
                        <a:defRPr sz="1800" kern="1200">
                          <a:solidFill>
                            <a:schemeClr val="dk1"/>
                          </a:solidFill>
                          <a:latin typeface="Arial"/>
                          <a:ea typeface="新細明體"/>
                        </a:defRPr>
                      </a:lvl8pPr>
                      <a:lvl9pPr marL="3657600" algn="l" defTabSz="914400" rtl="0" eaLnBrk="1" latinLnBrk="0" hangingPunct="1">
                        <a:defRPr sz="1800" kern="1200">
                          <a:solidFill>
                            <a:schemeClr val="dk1"/>
                          </a:solidFill>
                          <a:latin typeface="Arial"/>
                          <a:ea typeface="新細明體"/>
                        </a:defRPr>
                      </a:lvl9pPr>
                    </a:lstStyle>
                    <a:p>
                      <a:pPr algn="just"/>
                      <a:r>
                        <a:rPr lang="en-IN" sz="1800" b="1" kern="1200" dirty="0">
                          <a:solidFill>
                            <a:srgbClr val="00B050"/>
                          </a:solidFill>
                          <a:latin typeface="+mn-lt"/>
                          <a:ea typeface="+mn-ea"/>
                          <a:cs typeface="+mn-cs"/>
                        </a:rPr>
                        <a:t>In biological neural network the information is distributed in the connections through out the network. Even if one or other connection fails or one or other neuron stops working, information can still be retrieved. Still network performs well.  </a:t>
                      </a:r>
                    </a:p>
                    <a:p>
                      <a:pPr algn="just"/>
                      <a:endParaRPr lang="en-IN" sz="1800" b="1" kern="1200" dirty="0">
                        <a:solidFill>
                          <a:srgbClr val="00B050"/>
                        </a:solidFill>
                        <a:latin typeface="+mn-lt"/>
                        <a:ea typeface="+mn-ea"/>
                        <a:cs typeface="+mn-cs"/>
                      </a:endParaRPr>
                    </a:p>
                    <a:p>
                      <a:pPr algn="just"/>
                      <a:r>
                        <a:rPr lang="en-IN" sz="1800" b="1" kern="1200" dirty="0" err="1">
                          <a:solidFill>
                            <a:srgbClr val="00B050"/>
                          </a:solidFill>
                          <a:latin typeface="+mn-lt"/>
                          <a:ea typeface="+mn-ea"/>
                          <a:cs typeface="+mn-cs"/>
                        </a:rPr>
                        <a:t>Eg</a:t>
                      </a:r>
                      <a:r>
                        <a:rPr lang="en-IN" sz="1800" b="1" kern="1200" dirty="0">
                          <a:solidFill>
                            <a:srgbClr val="00B050"/>
                          </a:solidFill>
                          <a:latin typeface="+mn-lt"/>
                          <a:ea typeface="+mn-ea"/>
                          <a:cs typeface="+mn-cs"/>
                        </a:rPr>
                        <a:t>: Deaf and dumb person.</a:t>
                      </a:r>
                    </a:p>
                  </a:txBody>
                  <a:tcPr marL="91434" marR="91434" marT="45711" marB="4571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CCCC">
                        <a:tint val="4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5696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0" name="TextBox 9">
            <a:extLst>
              <a:ext uri="{FF2B5EF4-FFF2-40B4-BE49-F238E27FC236}">
                <a16:creationId xmlns:a16="http://schemas.microsoft.com/office/drawing/2014/main" id="{C6FE1DB2-0441-B446-03DA-F408529577A6}"/>
              </a:ext>
            </a:extLst>
          </p:cNvPr>
          <p:cNvSpPr txBox="1"/>
          <p:nvPr/>
        </p:nvSpPr>
        <p:spPr>
          <a:xfrm>
            <a:off x="296613" y="1361661"/>
            <a:ext cx="5096332"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Consider a single biological neuron…</a:t>
            </a:r>
          </a:p>
        </p:txBody>
      </p:sp>
      <p:sp>
        <p:nvSpPr>
          <p:cNvPr id="11" name="Oval 10">
            <a:extLst>
              <a:ext uri="{FF2B5EF4-FFF2-40B4-BE49-F238E27FC236}">
                <a16:creationId xmlns:a16="http://schemas.microsoft.com/office/drawing/2014/main" id="{13E1594E-E4BD-93D4-0E24-2B30C3BCFFED}"/>
              </a:ext>
            </a:extLst>
          </p:cNvPr>
          <p:cNvSpPr/>
          <p:nvPr/>
        </p:nvSpPr>
        <p:spPr>
          <a:xfrm>
            <a:off x="3925956" y="2042491"/>
            <a:ext cx="3389243" cy="2330727"/>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4FB237BB-6C45-5272-AE39-A713273FB55B}"/>
              </a:ext>
            </a:extLst>
          </p:cNvPr>
          <p:cNvCxnSpPr>
            <a:cxnSpLocks/>
            <a:endCxn id="11" idx="6"/>
          </p:cNvCxnSpPr>
          <p:nvPr/>
        </p:nvCxnSpPr>
        <p:spPr>
          <a:xfrm flipH="1">
            <a:off x="7315199" y="3207855"/>
            <a:ext cx="1918253" cy="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3BA4E90-2FF2-DBF6-FC06-BC7AABCA8072}"/>
              </a:ext>
            </a:extLst>
          </p:cNvPr>
          <p:cNvSpPr txBox="1"/>
          <p:nvPr/>
        </p:nvSpPr>
        <p:spPr>
          <a:xfrm>
            <a:off x="7872647" y="2792320"/>
            <a:ext cx="1364146" cy="461665"/>
          </a:xfrm>
          <a:prstGeom prst="rect">
            <a:avLst/>
          </a:prstGeom>
          <a:noFill/>
        </p:spPr>
        <p:txBody>
          <a:bodyPr wrap="square">
            <a:spAutoFit/>
          </a:bodyPr>
          <a:lstStyle/>
          <a:p>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neuron</a:t>
            </a:r>
            <a:endParaRPr lang="en-IN" dirty="0"/>
          </a:p>
        </p:txBody>
      </p:sp>
    </p:spTree>
    <p:extLst>
      <p:ext uri="{BB962C8B-B14F-4D97-AF65-F5344CB8AC3E}">
        <p14:creationId xmlns:p14="http://schemas.microsoft.com/office/powerpoint/2010/main" val="95050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1" name="Oval 10">
            <a:extLst>
              <a:ext uri="{FF2B5EF4-FFF2-40B4-BE49-F238E27FC236}">
                <a16:creationId xmlns:a16="http://schemas.microsoft.com/office/drawing/2014/main" id="{13E1594E-E4BD-93D4-0E24-2B30C3BCFFED}"/>
              </a:ext>
            </a:extLst>
          </p:cNvPr>
          <p:cNvSpPr/>
          <p:nvPr/>
        </p:nvSpPr>
        <p:spPr>
          <a:xfrm>
            <a:off x="2703443" y="2998815"/>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F1CBAB2-F429-2B9F-5D9E-7E356897BB94}"/>
              </a:ext>
            </a:extLst>
          </p:cNvPr>
          <p:cNvSpPr txBox="1"/>
          <p:nvPr/>
        </p:nvSpPr>
        <p:spPr>
          <a:xfrm>
            <a:off x="177343" y="1335157"/>
            <a:ext cx="6487610"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A neuron requires input(s) to perform its task…</a:t>
            </a:r>
          </a:p>
        </p:txBody>
      </p:sp>
      <p:sp>
        <p:nvSpPr>
          <p:cNvPr id="3" name="TextBox 2">
            <a:extLst>
              <a:ext uri="{FF2B5EF4-FFF2-40B4-BE49-F238E27FC236}">
                <a16:creationId xmlns:a16="http://schemas.microsoft.com/office/drawing/2014/main" id="{C8517C93-D570-5CF8-F09F-4473993C511A}"/>
              </a:ext>
            </a:extLst>
          </p:cNvPr>
          <p:cNvSpPr txBox="1"/>
          <p:nvPr/>
        </p:nvSpPr>
        <p:spPr>
          <a:xfrm>
            <a:off x="2118787" y="2166986"/>
            <a:ext cx="8915454"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So, we have </a:t>
            </a:r>
            <a:r>
              <a:rPr lang="en-IN" sz="2400" b="1" dirty="0">
                <a:solidFill>
                  <a:srgbClr val="FF0000"/>
                </a:solidFill>
                <a:latin typeface="Times New Roman" panose="02020603050405020304" pitchFamily="18" charset="0"/>
                <a:cs typeface="Times New Roman" panose="02020603050405020304" pitchFamily="18" charset="0"/>
              </a:rPr>
              <a:t>DENDRITES</a:t>
            </a:r>
            <a:r>
              <a:rPr lang="en-IN" sz="2400" b="1" dirty="0">
                <a:latin typeface="Times New Roman" panose="02020603050405020304" pitchFamily="18" charset="0"/>
                <a:cs typeface="Times New Roman" panose="02020603050405020304" pitchFamily="18" charset="0"/>
              </a:rPr>
              <a:t>, which act as input paths to the neuron. </a:t>
            </a:r>
          </a:p>
        </p:txBody>
      </p:sp>
      <p:pic>
        <p:nvPicPr>
          <p:cNvPr id="4" name="Picture 3">
            <a:extLst>
              <a:ext uri="{FF2B5EF4-FFF2-40B4-BE49-F238E27FC236}">
                <a16:creationId xmlns:a16="http://schemas.microsoft.com/office/drawing/2014/main" id="{3A62E550-3E36-1CF7-B19E-BB4CA831937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620" b="94855" l="2695" r="92814">
                        <a14:foregroundMark x1="12575" y1="48770" x2="12575" y2="48770"/>
                        <a14:foregroundMark x1="35329" y1="26398" x2="37725" y2="25727"/>
                        <a14:foregroundMark x1="23054" y1="64206" x2="23054" y2="64206"/>
                        <a14:foregroundMark x1="8683" y1="67114" x2="8683" y2="67114"/>
                        <a14:foregroundMark x1="2994" y1="63758" x2="2994" y2="63758"/>
                        <a14:foregroundMark x1="60778" y1="91275" x2="60778" y2="91275"/>
                        <a14:foregroundMark x1="66168" y1="93289" x2="66168" y2="93289"/>
                        <a14:foregroundMark x1="67066" y1="95302" x2="67066" y2="95302"/>
                        <a14:foregroundMark x1="45509" y1="95302" x2="45509" y2="95302"/>
                        <a14:foregroundMark x1="91317" y1="67785" x2="91317" y2="67785"/>
                        <a14:foregroundMark x1="53916" y1="64154" x2="54192" y2="64206"/>
                        <a14:foregroundMark x1="62275" y1="29530" x2="62275" y2="29530"/>
                        <a14:foregroundMark x1="92515" y1="27517" x2="92515" y2="27517"/>
                        <a14:foregroundMark x1="92814" y1="32662" x2="92814" y2="32662"/>
                        <a14:backgroundMark x1="81737" y1="50783" x2="81737" y2="50783"/>
                        <a14:backgroundMark x1="52994" y1="54362" x2="52994" y2="54362"/>
                        <a14:backgroundMark x1="56886" y1="55705" x2="56886" y2="55705"/>
                        <a14:backgroundMark x1="56886" y1="55705" x2="56886" y2="55705"/>
                        <a14:backgroundMark x1="56886" y1="54362" x2="56886" y2="54362"/>
                        <a14:backgroundMark x1="56886" y1="54362" x2="56886" y2="54362"/>
                        <a14:backgroundMark x1="52096" y1="54362" x2="52096" y2="54362"/>
                        <a14:backgroundMark x1="52096" y1="53915" x2="52695" y2="53020"/>
                        <a14:backgroundMark x1="55090" y1="51454" x2="56587" y2="53020"/>
                        <a14:backgroundMark x1="43413" y1="53691" x2="48204" y2="50112"/>
                        <a14:backgroundMark x1="48204" y1="60403" x2="45509" y2="52573"/>
                        <a14:backgroundMark x1="49401" y1="60850" x2="49401" y2="60850"/>
                        <a14:backgroundMark x1="49401" y1="60850" x2="49401" y2="60850"/>
                        <a14:backgroundMark x1="49401" y1="60850" x2="49401" y2="60850"/>
                        <a14:backgroundMark x1="49401" y1="60850" x2="49401" y2="60850"/>
                        <a14:backgroundMark x1="49401" y1="60850" x2="49401" y2="60850"/>
                        <a14:backgroundMark x1="49401" y1="60850" x2="49401" y2="60850"/>
                        <a14:backgroundMark x1="49401" y1="60850" x2="49401" y2="60850"/>
                        <a14:backgroundMark x1="49401" y1="60850" x2="49401" y2="60850"/>
                        <a14:backgroundMark x1="47006" y1="57942" x2="47006" y2="57942"/>
                        <a14:backgroundMark x1="47006" y1="57942" x2="47006" y2="57942"/>
                        <a14:backgroundMark x1="44910" y1="59060" x2="44910" y2="59060"/>
                        <a14:backgroundMark x1="44611" y1="59284" x2="44611" y2="59284"/>
                        <a14:backgroundMark x1="44611" y1="59284" x2="44611" y2="59284"/>
                        <a14:backgroundMark x1="43413" y1="52573" x2="43413" y2="52573"/>
                        <a14:backgroundMark x1="44012" y1="52573" x2="55389" y2="44743"/>
                        <a14:backgroundMark x1="54491" y1="47651" x2="58383" y2="49664"/>
                        <a14:backgroundMark x1="44611" y1="51230" x2="44611" y2="51230"/>
                        <a14:backgroundMark x1="39222" y1="54362" x2="62874" y2="46309"/>
                        <a14:backgroundMark x1="62874" y1="46309" x2="47904" y2="63087"/>
                        <a14:backgroundMark x1="47904" y1="63087" x2="42515" y2="53915"/>
                        <a14:backgroundMark x1="56821" y1="60184" x2="59581" y2="59955"/>
                        <a14:backgroundMark x1="61976" y1="58837" x2="63473" y2="51454"/>
                        <a14:backgroundMark x1="63772" y1="58837" x2="39820" y2="51902"/>
                        <a14:backgroundMark x1="39820" y1="51902" x2="40719" y2="53244"/>
                        <a14:backgroundMark x1="44311" y1="48546" x2="44311" y2="48546"/>
                        <a14:backgroundMark x1="44910" y1="49664" x2="46707" y2="46309"/>
                        <a14:backgroundMark x1="49401" y1="46532" x2="37725" y2="53468"/>
                        <a14:backgroundMark x1="43413" y1="46309" x2="37425" y2="57494"/>
                        <a14:backgroundMark x1="47605" y1="44743" x2="53293" y2="46309"/>
                        <a14:backgroundMark x1="49401" y1="45190" x2="59581" y2="43848"/>
                        <a14:backgroundMark x1="82635" y1="50783" x2="82635" y2="50783"/>
                        <a14:backgroundMark x1="85928" y1="52573" x2="85928" y2="52573"/>
                        <a14:backgroundMark x1="85928" y1="52573" x2="85928" y2="52573"/>
                        <a14:backgroundMark x1="85928" y1="52573" x2="85928" y2="52573"/>
                        <a14:backgroundMark x1="87425" y1="50112" x2="87425" y2="50112"/>
                        <a14:backgroundMark x1="87425" y1="51230" x2="87425" y2="51230"/>
                        <a14:backgroundMark x1="84731" y1="52349" x2="82635" y2="52349"/>
                        <a14:backgroundMark x1="82635" y1="52349" x2="82635" y2="52349"/>
                        <a14:backgroundMark x1="82635" y1="51454" x2="82635" y2="51454"/>
                        <a14:backgroundMark x1="88323" y1="51007" x2="88323" y2="51007"/>
                        <a14:backgroundMark x1="88024" y1="49888" x2="88024" y2="49888"/>
                        <a14:backgroundMark x1="84431" y1="49664" x2="84431" y2="49664"/>
                        <a14:backgroundMark x1="81437" y1="48993" x2="80240" y2="48993"/>
                        <a14:backgroundMark x1="80240" y1="48993" x2="80240" y2="48993"/>
                        <a14:backgroundMark x1="38623" y1="57494" x2="41018" y2="54362"/>
                        <a14:backgroundMark x1="42216" y1="56823" x2="43713" y2="60403"/>
                        <a14:backgroundMark x1="38623" y1="59508" x2="44012" y2="61298"/>
                        <a14:backgroundMark x1="38623" y1="59284" x2="44910" y2="63758"/>
                        <a14:backgroundMark x1="48204" y1="62416" x2="55689" y2="61969"/>
                        <a14:backgroundMark x1="48802" y1="63758" x2="53293" y2="63535"/>
                        <a14:backgroundMark x1="62874" y1="61745" x2="66766" y2="59732"/>
                        <a14:backgroundMark x1="60778" y1="48322" x2="64970" y2="58166"/>
                        <a14:backgroundMark x1="66467" y1="51007" x2="67665" y2="58166"/>
                      </a14:backgroundRemoval>
                    </a14:imgEffect>
                  </a14:imgLayer>
                </a14:imgProps>
              </a:ext>
            </a:extLst>
          </a:blip>
          <a:stretch>
            <a:fillRect/>
          </a:stretch>
        </p:blipFill>
        <p:spPr>
          <a:xfrm>
            <a:off x="3230810" y="3299791"/>
            <a:ext cx="2076686" cy="2779277"/>
          </a:xfrm>
          <a:prstGeom prst="rect">
            <a:avLst/>
          </a:prstGeom>
        </p:spPr>
      </p:pic>
      <p:cxnSp>
        <p:nvCxnSpPr>
          <p:cNvPr id="5" name="Straight Arrow Connector 4">
            <a:extLst>
              <a:ext uri="{FF2B5EF4-FFF2-40B4-BE49-F238E27FC236}">
                <a16:creationId xmlns:a16="http://schemas.microsoft.com/office/drawing/2014/main" id="{58C47AFA-1F83-FF9E-E9DC-BEB90786549F}"/>
              </a:ext>
            </a:extLst>
          </p:cNvPr>
          <p:cNvCxnSpPr>
            <a:cxnSpLocks/>
          </p:cNvCxnSpPr>
          <p:nvPr/>
        </p:nvCxnSpPr>
        <p:spPr>
          <a:xfrm>
            <a:off x="2237991" y="3616194"/>
            <a:ext cx="1458271" cy="354495"/>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B0FC9D0-FFBE-41F9-A083-2BFC103494AB}"/>
              </a:ext>
            </a:extLst>
          </p:cNvPr>
          <p:cNvSpPr txBox="1"/>
          <p:nvPr/>
        </p:nvSpPr>
        <p:spPr>
          <a:xfrm>
            <a:off x="650114" y="3404347"/>
            <a:ext cx="1735945" cy="461665"/>
          </a:xfrm>
          <a:prstGeom prst="rect">
            <a:avLst/>
          </a:prstGeom>
          <a:noFill/>
        </p:spPr>
        <p:txBody>
          <a:bodyPr wrap="square">
            <a:spAutoFit/>
          </a:bodyPr>
          <a:lstStyle/>
          <a:p>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Dendrites</a:t>
            </a:r>
            <a:endParaRPr lang="en-IN" dirty="0">
              <a:solidFill>
                <a:srgbClr val="FF0000"/>
              </a:solidFill>
            </a:endParaRPr>
          </a:p>
        </p:txBody>
      </p:sp>
      <p:cxnSp>
        <p:nvCxnSpPr>
          <p:cNvPr id="8" name="Straight Arrow Connector 7">
            <a:extLst>
              <a:ext uri="{FF2B5EF4-FFF2-40B4-BE49-F238E27FC236}">
                <a16:creationId xmlns:a16="http://schemas.microsoft.com/office/drawing/2014/main" id="{74D549D7-3B31-E76D-BC3E-ADA32BEB03AA}"/>
              </a:ext>
            </a:extLst>
          </p:cNvPr>
          <p:cNvCxnSpPr>
            <a:cxnSpLocks/>
          </p:cNvCxnSpPr>
          <p:nvPr/>
        </p:nvCxnSpPr>
        <p:spPr>
          <a:xfrm>
            <a:off x="2288395" y="3654165"/>
            <a:ext cx="1064405" cy="826349"/>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2558B9F-B018-8213-0D8C-7550B5C94DE8}"/>
              </a:ext>
            </a:extLst>
          </p:cNvPr>
          <p:cNvCxnSpPr>
            <a:cxnSpLocks/>
          </p:cNvCxnSpPr>
          <p:nvPr/>
        </p:nvCxnSpPr>
        <p:spPr>
          <a:xfrm flipV="1">
            <a:off x="2288395" y="3654165"/>
            <a:ext cx="2140730" cy="3797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C5CFCB-A2CA-223B-0E6B-54A6A06EEEB5}"/>
              </a:ext>
            </a:extLst>
          </p:cNvPr>
          <p:cNvCxnSpPr>
            <a:cxnSpLocks/>
          </p:cNvCxnSpPr>
          <p:nvPr/>
        </p:nvCxnSpPr>
        <p:spPr>
          <a:xfrm>
            <a:off x="2288395" y="3673149"/>
            <a:ext cx="942415" cy="1575126"/>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904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2CB55115-B05B-CFAB-3F34-6D4937A23270}"/>
              </a:ext>
            </a:extLst>
          </p:cNvPr>
          <p:cNvPicPr>
            <a:picLocks noChangeAspect="1"/>
          </p:cNvPicPr>
          <p:nvPr/>
        </p:nvPicPr>
        <p:blipFill>
          <a:blip r:embed="rId3"/>
          <a:stretch>
            <a:fillRect/>
          </a:stretch>
        </p:blipFill>
        <p:spPr>
          <a:xfrm>
            <a:off x="3400425" y="3534370"/>
            <a:ext cx="2257425" cy="2468228"/>
          </a:xfrm>
          <a:prstGeom prst="rect">
            <a:avLst/>
          </a:prstGeom>
        </p:spPr>
      </p:pic>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1" name="Oval 10">
            <a:extLst>
              <a:ext uri="{FF2B5EF4-FFF2-40B4-BE49-F238E27FC236}">
                <a16:creationId xmlns:a16="http://schemas.microsoft.com/office/drawing/2014/main" id="{13E1594E-E4BD-93D4-0E24-2B30C3BCFFED}"/>
              </a:ext>
            </a:extLst>
          </p:cNvPr>
          <p:cNvSpPr/>
          <p:nvPr/>
        </p:nvSpPr>
        <p:spPr>
          <a:xfrm>
            <a:off x="2741543" y="3017865"/>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F1CBAB2-F429-2B9F-5D9E-7E356897BB94}"/>
              </a:ext>
            </a:extLst>
          </p:cNvPr>
          <p:cNvSpPr txBox="1"/>
          <p:nvPr/>
        </p:nvSpPr>
        <p:spPr>
          <a:xfrm>
            <a:off x="177343" y="1335157"/>
            <a:ext cx="8104334"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The input needs to be collected and connected to the neuron.</a:t>
            </a:r>
          </a:p>
        </p:txBody>
      </p:sp>
      <p:sp>
        <p:nvSpPr>
          <p:cNvPr id="3" name="TextBox 2">
            <a:extLst>
              <a:ext uri="{FF2B5EF4-FFF2-40B4-BE49-F238E27FC236}">
                <a16:creationId xmlns:a16="http://schemas.microsoft.com/office/drawing/2014/main" id="{C8517C93-D570-5CF8-F09F-4473993C511A}"/>
              </a:ext>
            </a:extLst>
          </p:cNvPr>
          <p:cNvSpPr txBox="1"/>
          <p:nvPr/>
        </p:nvSpPr>
        <p:spPr>
          <a:xfrm>
            <a:off x="1756837" y="1875413"/>
            <a:ext cx="9902583" cy="830997"/>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So, all the </a:t>
            </a:r>
            <a:r>
              <a:rPr lang="en-IN" sz="2400" b="1" dirty="0">
                <a:solidFill>
                  <a:srgbClr val="FF0000"/>
                </a:solidFill>
                <a:latin typeface="Times New Roman" panose="02020603050405020304" pitchFamily="18" charset="0"/>
                <a:cs typeface="Times New Roman" panose="02020603050405020304" pitchFamily="18" charset="0"/>
              </a:rPr>
              <a:t>DENDRITES</a:t>
            </a:r>
            <a:r>
              <a:rPr lang="en-IN" sz="2400" b="1" dirty="0">
                <a:latin typeface="Times New Roman" panose="02020603050405020304" pitchFamily="18" charset="0"/>
                <a:cs typeface="Times New Roman" panose="02020603050405020304" pitchFamily="18" charset="0"/>
              </a:rPr>
              <a:t>, are connected to the </a:t>
            </a:r>
            <a:r>
              <a:rPr lang="en-IN" sz="2400" b="1" dirty="0">
                <a:solidFill>
                  <a:srgbClr val="FF0000"/>
                </a:solidFill>
                <a:latin typeface="Times New Roman" panose="02020603050405020304" pitchFamily="18" charset="0"/>
                <a:cs typeface="Times New Roman" panose="02020603050405020304" pitchFamily="18" charset="0"/>
              </a:rPr>
              <a:t>CELL BODY </a:t>
            </a:r>
            <a:r>
              <a:rPr lang="en-IN" sz="2400" b="1" dirty="0">
                <a:latin typeface="Times New Roman" panose="02020603050405020304" pitchFamily="18" charset="0"/>
                <a:cs typeface="Times New Roman" panose="02020603050405020304" pitchFamily="18" charset="0"/>
              </a:rPr>
              <a:t>of the neuron,</a:t>
            </a:r>
          </a:p>
          <a:p>
            <a:r>
              <a:rPr lang="en-IN" sz="2400" b="1" dirty="0">
                <a:latin typeface="Times New Roman" panose="02020603050405020304" pitchFamily="18" charset="0"/>
                <a:cs typeface="Times New Roman" panose="02020603050405020304" pitchFamily="18" charset="0"/>
              </a:rPr>
              <a:t> which collects all the inputs for further processing. </a:t>
            </a:r>
          </a:p>
        </p:txBody>
      </p:sp>
      <p:cxnSp>
        <p:nvCxnSpPr>
          <p:cNvPr id="17" name="Straight Arrow Connector 16">
            <a:extLst>
              <a:ext uri="{FF2B5EF4-FFF2-40B4-BE49-F238E27FC236}">
                <a16:creationId xmlns:a16="http://schemas.microsoft.com/office/drawing/2014/main" id="{25C5CFCB-A2CA-223B-0E6B-54A6A06EEEB5}"/>
              </a:ext>
            </a:extLst>
          </p:cNvPr>
          <p:cNvCxnSpPr>
            <a:cxnSpLocks/>
          </p:cNvCxnSpPr>
          <p:nvPr/>
        </p:nvCxnSpPr>
        <p:spPr>
          <a:xfrm>
            <a:off x="930640" y="4886325"/>
            <a:ext cx="3203210" cy="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34A28AB-1029-68C1-AABA-129DA8ED0904}"/>
              </a:ext>
            </a:extLst>
          </p:cNvPr>
          <p:cNvSpPr txBox="1"/>
          <p:nvPr/>
        </p:nvSpPr>
        <p:spPr>
          <a:xfrm>
            <a:off x="8829674" y="3450513"/>
            <a:ext cx="3019426" cy="1200329"/>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The cell body of the neuron is also called </a:t>
            </a:r>
            <a:r>
              <a:rPr lang="en-IN" sz="2400" b="1" dirty="0">
                <a:solidFill>
                  <a:srgbClr val="FF0000"/>
                </a:solidFill>
                <a:latin typeface="Times New Roman" panose="02020603050405020304" pitchFamily="18" charset="0"/>
                <a:cs typeface="Times New Roman" panose="02020603050405020304" pitchFamily="18" charset="0"/>
              </a:rPr>
              <a:t>SOMA</a:t>
            </a:r>
          </a:p>
        </p:txBody>
      </p:sp>
      <p:sp>
        <p:nvSpPr>
          <p:cNvPr id="23" name="TextBox 22">
            <a:extLst>
              <a:ext uri="{FF2B5EF4-FFF2-40B4-BE49-F238E27FC236}">
                <a16:creationId xmlns:a16="http://schemas.microsoft.com/office/drawing/2014/main" id="{2536B66B-3EE3-6611-C8E9-366D701823E1}"/>
              </a:ext>
            </a:extLst>
          </p:cNvPr>
          <p:cNvSpPr txBox="1"/>
          <p:nvPr/>
        </p:nvSpPr>
        <p:spPr>
          <a:xfrm>
            <a:off x="930640" y="4420009"/>
            <a:ext cx="1735945" cy="461665"/>
          </a:xfrm>
          <a:prstGeom prst="rect">
            <a:avLst/>
          </a:prstGeom>
          <a:noFill/>
        </p:spPr>
        <p:txBody>
          <a:bodyPr wrap="square">
            <a:spAutoFit/>
          </a:bodyPr>
          <a:lstStyle/>
          <a:p>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Cell Body</a:t>
            </a:r>
            <a:endParaRPr lang="en-IN" dirty="0">
              <a:solidFill>
                <a:srgbClr val="FF0000"/>
              </a:solidFill>
            </a:endParaRPr>
          </a:p>
        </p:txBody>
      </p:sp>
      <p:sp>
        <p:nvSpPr>
          <p:cNvPr id="25" name="TextBox 24">
            <a:extLst>
              <a:ext uri="{FF2B5EF4-FFF2-40B4-BE49-F238E27FC236}">
                <a16:creationId xmlns:a16="http://schemas.microsoft.com/office/drawing/2014/main" id="{C97CFC95-1103-7C1F-A527-40C7E0871AD1}"/>
              </a:ext>
            </a:extLst>
          </p:cNvPr>
          <p:cNvSpPr txBox="1"/>
          <p:nvPr/>
        </p:nvSpPr>
        <p:spPr>
          <a:xfrm>
            <a:off x="1063991" y="5005565"/>
            <a:ext cx="1183910" cy="461665"/>
          </a:xfrm>
          <a:prstGeom prst="rect">
            <a:avLst/>
          </a:prstGeom>
          <a:noFill/>
        </p:spPr>
        <p:txBody>
          <a:bodyPr wrap="square">
            <a:spAutoFit/>
          </a:bodyPr>
          <a:lstStyle/>
          <a:p>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SOMA</a:t>
            </a:r>
            <a:endParaRPr lang="en-IN" dirty="0">
              <a:solidFill>
                <a:srgbClr val="FF0000"/>
              </a:solidFill>
            </a:endParaRPr>
          </a:p>
        </p:txBody>
      </p:sp>
    </p:spTree>
    <p:extLst>
      <p:ext uri="{BB962C8B-B14F-4D97-AF65-F5344CB8AC3E}">
        <p14:creationId xmlns:p14="http://schemas.microsoft.com/office/powerpoint/2010/main" val="4019006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9B0D99-33E7-596D-8A42-7A2360B14D3F}"/>
              </a:ext>
            </a:extLst>
          </p:cNvPr>
          <p:cNvPicPr>
            <a:picLocks noChangeAspect="1"/>
          </p:cNvPicPr>
          <p:nvPr/>
        </p:nvPicPr>
        <p:blipFill>
          <a:blip r:embed="rId3"/>
          <a:stretch>
            <a:fillRect/>
          </a:stretch>
        </p:blipFill>
        <p:spPr>
          <a:xfrm>
            <a:off x="3358799" y="3536511"/>
            <a:ext cx="2237377" cy="2463946"/>
          </a:xfrm>
          <a:prstGeom prst="rect">
            <a:avLst/>
          </a:prstGeom>
        </p:spPr>
      </p:pic>
      <p:sp>
        <p:nvSpPr>
          <p:cNvPr id="11" name="Oval 10">
            <a:extLst>
              <a:ext uri="{FF2B5EF4-FFF2-40B4-BE49-F238E27FC236}">
                <a16:creationId xmlns:a16="http://schemas.microsoft.com/office/drawing/2014/main" id="{13E1594E-E4BD-93D4-0E24-2B30C3BCFFED}"/>
              </a:ext>
            </a:extLst>
          </p:cNvPr>
          <p:cNvSpPr/>
          <p:nvPr/>
        </p:nvSpPr>
        <p:spPr>
          <a:xfrm>
            <a:off x="2741543" y="3017865"/>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2" name="TextBox 11">
            <a:extLst>
              <a:ext uri="{FF2B5EF4-FFF2-40B4-BE49-F238E27FC236}">
                <a16:creationId xmlns:a16="http://schemas.microsoft.com/office/drawing/2014/main" id="{0F1CBAB2-F429-2B9F-5D9E-7E356897BB94}"/>
              </a:ext>
            </a:extLst>
          </p:cNvPr>
          <p:cNvSpPr txBox="1"/>
          <p:nvPr/>
        </p:nvSpPr>
        <p:spPr>
          <a:xfrm>
            <a:off x="177343" y="1335157"/>
            <a:ext cx="7560147"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The input collected needs to be </a:t>
            </a:r>
            <a:r>
              <a:rPr lang="en-IN" sz="2400" b="1" dirty="0">
                <a:solidFill>
                  <a:srgbClr val="FF0000"/>
                </a:solidFill>
                <a:latin typeface="Times New Roman" panose="02020603050405020304" pitchFamily="18" charset="0"/>
                <a:cs typeface="Times New Roman" panose="02020603050405020304" pitchFamily="18" charset="0"/>
              </a:rPr>
              <a:t>processed </a:t>
            </a:r>
            <a:r>
              <a:rPr lang="en-IN" sz="2400" b="1" dirty="0">
                <a:latin typeface="Times New Roman" panose="02020603050405020304" pitchFamily="18" charset="0"/>
                <a:cs typeface="Times New Roman" panose="02020603050405020304" pitchFamily="18" charset="0"/>
              </a:rPr>
              <a:t>by the neuron.</a:t>
            </a:r>
          </a:p>
        </p:txBody>
      </p:sp>
      <p:sp>
        <p:nvSpPr>
          <p:cNvPr id="3" name="TextBox 2">
            <a:extLst>
              <a:ext uri="{FF2B5EF4-FFF2-40B4-BE49-F238E27FC236}">
                <a16:creationId xmlns:a16="http://schemas.microsoft.com/office/drawing/2014/main" id="{C8517C93-D570-5CF8-F09F-4473993C511A}"/>
              </a:ext>
            </a:extLst>
          </p:cNvPr>
          <p:cNvSpPr txBox="1"/>
          <p:nvPr/>
        </p:nvSpPr>
        <p:spPr>
          <a:xfrm>
            <a:off x="3176062" y="1920883"/>
            <a:ext cx="6066084" cy="830997"/>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The </a:t>
            </a:r>
            <a:r>
              <a:rPr lang="en-IN" sz="2400" b="1" dirty="0">
                <a:solidFill>
                  <a:srgbClr val="FF0000"/>
                </a:solidFill>
                <a:latin typeface="Times New Roman" panose="02020603050405020304" pitchFamily="18" charset="0"/>
                <a:cs typeface="Times New Roman" panose="02020603050405020304" pitchFamily="18" charset="0"/>
              </a:rPr>
              <a:t>NUCLEUS </a:t>
            </a:r>
            <a:r>
              <a:rPr lang="en-IN" sz="2400" b="1" dirty="0">
                <a:latin typeface="Times New Roman" panose="02020603050405020304" pitchFamily="18" charset="0"/>
                <a:cs typeface="Times New Roman" panose="02020603050405020304" pitchFamily="18" charset="0"/>
              </a:rPr>
              <a:t>of the cell is in charge of the </a:t>
            </a:r>
          </a:p>
          <a:p>
            <a:r>
              <a:rPr lang="en-IN" sz="2400" b="1" dirty="0">
                <a:highlight>
                  <a:srgbClr val="FFFF00"/>
                </a:highlight>
                <a:latin typeface="Times New Roman" panose="02020603050405020304" pitchFamily="18" charset="0"/>
                <a:cs typeface="Times New Roman" panose="02020603050405020304" pitchFamily="18" charset="0"/>
              </a:rPr>
              <a:t>input processing </a:t>
            </a:r>
            <a:r>
              <a:rPr lang="en-IN" sz="2400" b="1" dirty="0">
                <a:latin typeface="Times New Roman" panose="02020603050405020304" pitchFamily="18" charset="0"/>
                <a:cs typeface="Times New Roman" panose="02020603050405020304" pitchFamily="18" charset="0"/>
              </a:rPr>
              <a:t>and </a:t>
            </a:r>
            <a:r>
              <a:rPr lang="en-IN" sz="2400" b="1" dirty="0">
                <a:highlight>
                  <a:srgbClr val="00FFFF"/>
                </a:highlight>
                <a:latin typeface="Times New Roman" panose="02020603050405020304" pitchFamily="18" charset="0"/>
                <a:cs typeface="Times New Roman" panose="02020603050405020304" pitchFamily="18" charset="0"/>
              </a:rPr>
              <a:t>generating output</a:t>
            </a:r>
            <a:r>
              <a:rPr lang="en-IN" sz="2400" b="1" dirty="0">
                <a:latin typeface="Times New Roman" panose="02020603050405020304" pitchFamily="18" charset="0"/>
                <a:cs typeface="Times New Roman" panose="02020603050405020304" pitchFamily="18" charset="0"/>
              </a:rPr>
              <a:t>.</a:t>
            </a:r>
          </a:p>
        </p:txBody>
      </p:sp>
      <p:cxnSp>
        <p:nvCxnSpPr>
          <p:cNvPr id="17" name="Straight Arrow Connector 16">
            <a:extLst>
              <a:ext uri="{FF2B5EF4-FFF2-40B4-BE49-F238E27FC236}">
                <a16:creationId xmlns:a16="http://schemas.microsoft.com/office/drawing/2014/main" id="{25C5CFCB-A2CA-223B-0E6B-54A6A06EEEB5}"/>
              </a:ext>
            </a:extLst>
          </p:cNvPr>
          <p:cNvCxnSpPr>
            <a:cxnSpLocks/>
          </p:cNvCxnSpPr>
          <p:nvPr/>
        </p:nvCxnSpPr>
        <p:spPr>
          <a:xfrm>
            <a:off x="930640" y="4886325"/>
            <a:ext cx="3422285" cy="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536B66B-3EE3-6611-C8E9-366D701823E1}"/>
              </a:ext>
            </a:extLst>
          </p:cNvPr>
          <p:cNvSpPr txBox="1"/>
          <p:nvPr/>
        </p:nvSpPr>
        <p:spPr>
          <a:xfrm>
            <a:off x="930640" y="4420009"/>
            <a:ext cx="1735945" cy="461665"/>
          </a:xfrm>
          <a:prstGeom prst="rect">
            <a:avLst/>
          </a:prstGeom>
          <a:noFill/>
        </p:spPr>
        <p:txBody>
          <a:bodyPr wrap="square">
            <a:spAutoFit/>
          </a:bodyPr>
          <a:lstStyle/>
          <a:p>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Nucleus</a:t>
            </a:r>
            <a:endParaRPr lang="en-IN" dirty="0">
              <a:solidFill>
                <a:srgbClr val="FF0000"/>
              </a:solidFill>
            </a:endParaRPr>
          </a:p>
        </p:txBody>
      </p:sp>
      <p:sp>
        <p:nvSpPr>
          <p:cNvPr id="8" name="TextBox 7">
            <a:extLst>
              <a:ext uri="{FF2B5EF4-FFF2-40B4-BE49-F238E27FC236}">
                <a16:creationId xmlns:a16="http://schemas.microsoft.com/office/drawing/2014/main" id="{035BA700-F749-660F-B87B-90E3CE17677B}"/>
              </a:ext>
            </a:extLst>
          </p:cNvPr>
          <p:cNvSpPr txBox="1"/>
          <p:nvPr/>
        </p:nvSpPr>
        <p:spPr>
          <a:xfrm>
            <a:off x="8989231" y="3265847"/>
            <a:ext cx="3152775" cy="23083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The nucleus acts as a reservoir of biological instructions. </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Controls the neuron activities.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81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3"/>
          <a:stretch>
            <a:fillRect/>
          </a:stretch>
        </p:blipFill>
        <p:spPr>
          <a:xfrm>
            <a:off x="2498317" y="3573109"/>
            <a:ext cx="4320914" cy="2415749"/>
          </a:xfrm>
          <a:prstGeom prst="rect">
            <a:avLst/>
          </a:prstGeom>
        </p:spPr>
      </p:pic>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2" name="TextBox 11">
            <a:extLst>
              <a:ext uri="{FF2B5EF4-FFF2-40B4-BE49-F238E27FC236}">
                <a16:creationId xmlns:a16="http://schemas.microsoft.com/office/drawing/2014/main" id="{0F1CBAB2-F429-2B9F-5D9E-7E356897BB94}"/>
              </a:ext>
            </a:extLst>
          </p:cNvPr>
          <p:cNvSpPr txBox="1"/>
          <p:nvPr/>
        </p:nvSpPr>
        <p:spPr>
          <a:xfrm>
            <a:off x="224968" y="1025926"/>
            <a:ext cx="11586057" cy="830997"/>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After </a:t>
            </a:r>
            <a:r>
              <a:rPr lang="en-IN" sz="2400" b="1" dirty="0">
                <a:highlight>
                  <a:srgbClr val="00FFFF"/>
                </a:highlight>
                <a:latin typeface="Times New Roman" panose="02020603050405020304" pitchFamily="18" charset="0"/>
                <a:cs typeface="Times New Roman" panose="02020603050405020304" pitchFamily="18" charset="0"/>
              </a:rPr>
              <a:t>generating output </a:t>
            </a:r>
            <a:r>
              <a:rPr lang="en-IN" sz="2400" b="1" dirty="0">
                <a:latin typeface="Times New Roman" panose="02020603050405020304" pitchFamily="18" charset="0"/>
                <a:cs typeface="Times New Roman" panose="02020603050405020304" pitchFamily="18" charset="0"/>
              </a:rPr>
              <a:t>at the nucleus, the </a:t>
            </a:r>
            <a:r>
              <a:rPr lang="en-IN" sz="2400" b="1" dirty="0">
                <a:highlight>
                  <a:srgbClr val="FFFF00"/>
                </a:highlight>
                <a:latin typeface="Times New Roman" panose="02020603050405020304" pitchFamily="18" charset="0"/>
                <a:cs typeface="Times New Roman" panose="02020603050405020304" pitchFamily="18" charset="0"/>
              </a:rPr>
              <a:t>output information needs to be transmitted</a:t>
            </a:r>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to corresponding neurons attached to the current neuron.</a:t>
            </a:r>
          </a:p>
        </p:txBody>
      </p:sp>
      <p:sp>
        <p:nvSpPr>
          <p:cNvPr id="3" name="TextBox 2">
            <a:extLst>
              <a:ext uri="{FF2B5EF4-FFF2-40B4-BE49-F238E27FC236}">
                <a16:creationId xmlns:a16="http://schemas.microsoft.com/office/drawing/2014/main" id="{C8517C93-D570-5CF8-F09F-4473993C511A}"/>
              </a:ext>
            </a:extLst>
          </p:cNvPr>
          <p:cNvSpPr txBox="1"/>
          <p:nvPr/>
        </p:nvSpPr>
        <p:spPr>
          <a:xfrm>
            <a:off x="1121561" y="2212811"/>
            <a:ext cx="9948877"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It is </a:t>
            </a:r>
            <a:r>
              <a:rPr lang="en-IN" sz="2400" b="1" dirty="0">
                <a:solidFill>
                  <a:srgbClr val="FF0000"/>
                </a:solidFill>
                <a:latin typeface="Times New Roman" panose="02020603050405020304" pitchFamily="18" charset="0"/>
                <a:cs typeface="Times New Roman" panose="02020603050405020304" pitchFamily="18" charset="0"/>
              </a:rPr>
              <a:t>AXON’s </a:t>
            </a:r>
            <a:r>
              <a:rPr lang="en-IN" sz="2400" b="1" dirty="0">
                <a:latin typeface="Times New Roman" panose="02020603050405020304" pitchFamily="18" charset="0"/>
                <a:cs typeface="Times New Roman" panose="02020603050405020304" pitchFamily="18" charset="0"/>
              </a:rPr>
              <a:t>responsibility to carry the output </a:t>
            </a:r>
            <a:r>
              <a:rPr lang="en-IN" sz="2400" b="1" dirty="0">
                <a:solidFill>
                  <a:srgbClr val="C00000"/>
                </a:solidFill>
                <a:latin typeface="Times New Roman" panose="02020603050405020304" pitchFamily="18" charset="0"/>
                <a:cs typeface="Times New Roman" panose="02020603050405020304" pitchFamily="18" charset="0"/>
              </a:rPr>
              <a:t>out from the cell’s nucleus</a:t>
            </a:r>
            <a:r>
              <a:rPr lang="en-IN" sz="2400" b="1" dirty="0">
                <a:latin typeface="Times New Roman" panose="02020603050405020304" pitchFamily="18" charset="0"/>
                <a:cs typeface="Times New Roman" panose="02020603050405020304" pitchFamily="18" charset="0"/>
              </a:rPr>
              <a:t>. </a:t>
            </a:r>
          </a:p>
        </p:txBody>
      </p:sp>
      <p:sp>
        <p:nvSpPr>
          <p:cNvPr id="23" name="TextBox 22">
            <a:extLst>
              <a:ext uri="{FF2B5EF4-FFF2-40B4-BE49-F238E27FC236}">
                <a16:creationId xmlns:a16="http://schemas.microsoft.com/office/drawing/2014/main" id="{2536B66B-3EE3-6611-C8E9-366D701823E1}"/>
              </a:ext>
            </a:extLst>
          </p:cNvPr>
          <p:cNvSpPr txBox="1"/>
          <p:nvPr/>
        </p:nvSpPr>
        <p:spPr>
          <a:xfrm rot="668488">
            <a:off x="5151010" y="4863620"/>
            <a:ext cx="900333" cy="461665"/>
          </a:xfrm>
          <a:prstGeom prst="rect">
            <a:avLst/>
          </a:prstGeom>
          <a:noFill/>
        </p:spPr>
        <p:txBody>
          <a:bodyPr wrap="square">
            <a:spAutoFit/>
          </a:bodyPr>
          <a:lstStyle/>
          <a:p>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Axon</a:t>
            </a:r>
            <a:endParaRPr lang="en-IN" dirty="0">
              <a:solidFill>
                <a:srgbClr val="FF0000"/>
              </a:solidFill>
            </a:endParaRPr>
          </a:p>
        </p:txBody>
      </p:sp>
      <p:sp>
        <p:nvSpPr>
          <p:cNvPr id="11" name="Oval 10">
            <a:extLst>
              <a:ext uri="{FF2B5EF4-FFF2-40B4-BE49-F238E27FC236}">
                <a16:creationId xmlns:a16="http://schemas.microsoft.com/office/drawing/2014/main" id="{13E1594E-E4BD-93D4-0E24-2B30C3BCFFED}"/>
              </a:ext>
            </a:extLst>
          </p:cNvPr>
          <p:cNvSpPr/>
          <p:nvPr/>
        </p:nvSpPr>
        <p:spPr>
          <a:xfrm>
            <a:off x="2187852" y="3030364"/>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reeform: Shape 15">
            <a:extLst>
              <a:ext uri="{FF2B5EF4-FFF2-40B4-BE49-F238E27FC236}">
                <a16:creationId xmlns:a16="http://schemas.microsoft.com/office/drawing/2014/main" id="{7D22D86E-5486-CE96-2CC7-133D010067D4}"/>
              </a:ext>
            </a:extLst>
          </p:cNvPr>
          <p:cNvSpPr/>
          <p:nvPr/>
        </p:nvSpPr>
        <p:spPr>
          <a:xfrm>
            <a:off x="4316049" y="4812135"/>
            <a:ext cx="2589575" cy="267141"/>
          </a:xfrm>
          <a:custGeom>
            <a:avLst/>
            <a:gdLst>
              <a:gd name="connsiteX0" fmla="*/ 0 w 2704394"/>
              <a:gd name="connsiteY0" fmla="*/ 109304 h 242822"/>
              <a:gd name="connsiteX1" fmla="*/ 1114425 w 2704394"/>
              <a:gd name="connsiteY1" fmla="*/ 4529 h 242822"/>
              <a:gd name="connsiteX2" fmla="*/ 2162175 w 2704394"/>
              <a:gd name="connsiteY2" fmla="*/ 242654 h 242822"/>
              <a:gd name="connsiteX3" fmla="*/ 2667000 w 2704394"/>
              <a:gd name="connsiteY3" fmla="*/ 42629 h 242822"/>
              <a:gd name="connsiteX4" fmla="*/ 2667000 w 2704394"/>
              <a:gd name="connsiteY4" fmla="*/ 52154 h 242822"/>
              <a:gd name="connsiteX5" fmla="*/ 2667000 w 2704394"/>
              <a:gd name="connsiteY5" fmla="*/ 52154 h 24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4394" h="242822">
                <a:moveTo>
                  <a:pt x="0" y="109304"/>
                </a:moveTo>
                <a:cubicBezTo>
                  <a:pt x="377031" y="45804"/>
                  <a:pt x="754063" y="-17696"/>
                  <a:pt x="1114425" y="4529"/>
                </a:cubicBezTo>
                <a:cubicBezTo>
                  <a:pt x="1474788" y="26754"/>
                  <a:pt x="1903413" y="236304"/>
                  <a:pt x="2162175" y="242654"/>
                </a:cubicBezTo>
                <a:cubicBezTo>
                  <a:pt x="2420937" y="249004"/>
                  <a:pt x="2582863" y="74379"/>
                  <a:pt x="2667000" y="42629"/>
                </a:cubicBezTo>
                <a:cubicBezTo>
                  <a:pt x="2751138" y="10879"/>
                  <a:pt x="2667000" y="52154"/>
                  <a:pt x="2667000" y="52154"/>
                </a:cubicBezTo>
                <a:lnTo>
                  <a:pt x="2667000" y="52154"/>
                </a:lnTo>
              </a:path>
            </a:pathLst>
          </a:cu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57847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B663BF-BD6A-0517-4315-D6A6B5CF386F}"/>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2" name="TextBox 11">
            <a:extLst>
              <a:ext uri="{FF2B5EF4-FFF2-40B4-BE49-F238E27FC236}">
                <a16:creationId xmlns:a16="http://schemas.microsoft.com/office/drawing/2014/main" id="{0F1CBAB2-F429-2B9F-5D9E-7E356897BB94}"/>
              </a:ext>
            </a:extLst>
          </p:cNvPr>
          <p:cNvSpPr txBox="1"/>
          <p:nvPr/>
        </p:nvSpPr>
        <p:spPr>
          <a:xfrm>
            <a:off x="224968" y="1025926"/>
            <a:ext cx="10776412"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Output carried by the Axon has to be transmitted to other co-ordinating neurons</a:t>
            </a:r>
          </a:p>
        </p:txBody>
      </p:sp>
      <p:sp>
        <p:nvSpPr>
          <p:cNvPr id="3" name="TextBox 2">
            <a:extLst>
              <a:ext uri="{FF2B5EF4-FFF2-40B4-BE49-F238E27FC236}">
                <a16:creationId xmlns:a16="http://schemas.microsoft.com/office/drawing/2014/main" id="{C8517C93-D570-5CF8-F09F-4473993C511A}"/>
              </a:ext>
            </a:extLst>
          </p:cNvPr>
          <p:cNvSpPr txBox="1"/>
          <p:nvPr/>
        </p:nvSpPr>
        <p:spPr>
          <a:xfrm>
            <a:off x="1273961" y="1932403"/>
            <a:ext cx="9315307" cy="830997"/>
          </a:xfrm>
          <a:prstGeom prst="rect">
            <a:avLst/>
          </a:prstGeom>
          <a:noFill/>
        </p:spPr>
        <p:txBody>
          <a:bodyPr wrap="non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AXON Terminals </a:t>
            </a:r>
            <a:r>
              <a:rPr lang="en-IN" sz="2400" b="1" dirty="0">
                <a:latin typeface="Times New Roman" panose="02020603050405020304" pitchFamily="18" charset="0"/>
                <a:cs typeface="Times New Roman" panose="02020603050405020304" pitchFamily="18" charset="0"/>
              </a:rPr>
              <a:t>are the elements that are responsible for connection</a:t>
            </a:r>
          </a:p>
          <a:p>
            <a:r>
              <a:rPr lang="en-IN" sz="2400" b="1" dirty="0">
                <a:latin typeface="Times New Roman" panose="02020603050405020304" pitchFamily="18" charset="0"/>
                <a:cs typeface="Times New Roman" panose="02020603050405020304" pitchFamily="18" charset="0"/>
              </a:rPr>
              <a:t> and transmission of information to other neurons. </a:t>
            </a:r>
          </a:p>
        </p:txBody>
      </p:sp>
      <p:sp>
        <p:nvSpPr>
          <p:cNvPr id="11" name="Oval 10">
            <a:extLst>
              <a:ext uri="{FF2B5EF4-FFF2-40B4-BE49-F238E27FC236}">
                <a16:creationId xmlns:a16="http://schemas.microsoft.com/office/drawing/2014/main" id="{13E1594E-E4BD-93D4-0E24-2B30C3BCFFED}"/>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Arrow Connector 6">
            <a:extLst>
              <a:ext uri="{FF2B5EF4-FFF2-40B4-BE49-F238E27FC236}">
                <a16:creationId xmlns:a16="http://schemas.microsoft.com/office/drawing/2014/main" id="{73420BE4-1EA2-F166-1126-A2D5126E43CB}"/>
              </a:ext>
            </a:extLst>
          </p:cNvPr>
          <p:cNvCxnSpPr>
            <a:cxnSpLocks/>
          </p:cNvCxnSpPr>
          <p:nvPr/>
        </p:nvCxnSpPr>
        <p:spPr>
          <a:xfrm flipH="1" flipV="1">
            <a:off x="7924800" y="4514850"/>
            <a:ext cx="1581150" cy="266133"/>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450BD9-2DA6-E8F4-23BB-C80E5231AD0B}"/>
              </a:ext>
            </a:extLst>
          </p:cNvPr>
          <p:cNvSpPr txBox="1"/>
          <p:nvPr/>
        </p:nvSpPr>
        <p:spPr>
          <a:xfrm>
            <a:off x="9435804" y="4443299"/>
            <a:ext cx="1581150" cy="830997"/>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Axon Terminals</a:t>
            </a:r>
            <a:endParaRPr lang="en-IN" dirty="0">
              <a:solidFill>
                <a:srgbClr val="FF0000"/>
              </a:solidFill>
            </a:endParaRPr>
          </a:p>
        </p:txBody>
      </p:sp>
      <p:cxnSp>
        <p:nvCxnSpPr>
          <p:cNvPr id="14" name="Straight Arrow Connector 13">
            <a:extLst>
              <a:ext uri="{FF2B5EF4-FFF2-40B4-BE49-F238E27FC236}">
                <a16:creationId xmlns:a16="http://schemas.microsoft.com/office/drawing/2014/main" id="{B11540AC-3A6F-9516-BE54-3CCC3E24B50A}"/>
              </a:ext>
            </a:extLst>
          </p:cNvPr>
          <p:cNvCxnSpPr>
            <a:cxnSpLocks/>
          </p:cNvCxnSpPr>
          <p:nvPr/>
        </p:nvCxnSpPr>
        <p:spPr>
          <a:xfrm flipH="1" flipV="1">
            <a:off x="7924800" y="4191000"/>
            <a:ext cx="1581150" cy="589983"/>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2D63BCE-1896-F059-1407-69CA9D35421E}"/>
              </a:ext>
            </a:extLst>
          </p:cNvPr>
          <p:cNvCxnSpPr>
            <a:cxnSpLocks/>
          </p:cNvCxnSpPr>
          <p:nvPr/>
        </p:nvCxnSpPr>
        <p:spPr>
          <a:xfrm flipH="1">
            <a:off x="7419975" y="4780983"/>
            <a:ext cx="2085975" cy="810192"/>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734862-79D4-3CDA-955B-3062860ED7EB}"/>
              </a:ext>
            </a:extLst>
          </p:cNvPr>
          <p:cNvCxnSpPr>
            <a:cxnSpLocks/>
          </p:cNvCxnSpPr>
          <p:nvPr/>
        </p:nvCxnSpPr>
        <p:spPr>
          <a:xfrm flipH="1">
            <a:off x="7924800" y="4780983"/>
            <a:ext cx="1476375" cy="181542"/>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743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grpSp>
        <p:nvGrpSpPr>
          <p:cNvPr id="4" name="Group 3">
            <a:extLst>
              <a:ext uri="{FF2B5EF4-FFF2-40B4-BE49-F238E27FC236}">
                <a16:creationId xmlns:a16="http://schemas.microsoft.com/office/drawing/2014/main" id="{79588DC2-4995-D477-3A7F-C0A14398102D}"/>
              </a:ext>
            </a:extLst>
          </p:cNvPr>
          <p:cNvGrpSpPr/>
          <p:nvPr/>
        </p:nvGrpSpPr>
        <p:grpSpPr>
          <a:xfrm>
            <a:off x="856079" y="2852379"/>
            <a:ext cx="3204400" cy="1889800"/>
            <a:chOff x="2372827" y="2957852"/>
            <a:chExt cx="6013173" cy="3501238"/>
          </a:xfrm>
        </p:grpSpPr>
        <p:pic>
          <p:nvPicPr>
            <p:cNvPr id="5" name="Picture 4">
              <a:extLst>
                <a:ext uri="{FF2B5EF4-FFF2-40B4-BE49-F238E27FC236}">
                  <a16:creationId xmlns:a16="http://schemas.microsoft.com/office/drawing/2014/main" id="{05B663BF-BD6A-0517-4315-D6A6B5CF386F}"/>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1" name="Oval 10">
              <a:extLst>
                <a:ext uri="{FF2B5EF4-FFF2-40B4-BE49-F238E27FC236}">
                  <a16:creationId xmlns:a16="http://schemas.microsoft.com/office/drawing/2014/main" id="{13E1594E-E4BD-93D4-0E24-2B30C3BCFFED}"/>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9" name="Group 8">
            <a:extLst>
              <a:ext uri="{FF2B5EF4-FFF2-40B4-BE49-F238E27FC236}">
                <a16:creationId xmlns:a16="http://schemas.microsoft.com/office/drawing/2014/main" id="{3555A810-D831-F825-C58A-C1223C3ABA24}"/>
              </a:ext>
            </a:extLst>
          </p:cNvPr>
          <p:cNvGrpSpPr/>
          <p:nvPr/>
        </p:nvGrpSpPr>
        <p:grpSpPr>
          <a:xfrm rot="20613930">
            <a:off x="4084032" y="1475515"/>
            <a:ext cx="3204400" cy="1889800"/>
            <a:chOff x="2372827" y="2957852"/>
            <a:chExt cx="6013173" cy="3501238"/>
          </a:xfrm>
        </p:grpSpPr>
        <p:pic>
          <p:nvPicPr>
            <p:cNvPr id="10" name="Picture 9">
              <a:extLst>
                <a:ext uri="{FF2B5EF4-FFF2-40B4-BE49-F238E27FC236}">
                  <a16:creationId xmlns:a16="http://schemas.microsoft.com/office/drawing/2014/main" id="{FE738C1B-4F98-A3C7-4105-3FAA88B70A4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3" name="Picture 12">
              <a:extLst>
                <a:ext uri="{FF2B5EF4-FFF2-40B4-BE49-F238E27FC236}">
                  <a16:creationId xmlns:a16="http://schemas.microsoft.com/office/drawing/2014/main" id="{8CB96692-F25B-F612-1FEA-15871526237D}"/>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5" name="Oval 14">
              <a:extLst>
                <a:ext uri="{FF2B5EF4-FFF2-40B4-BE49-F238E27FC236}">
                  <a16:creationId xmlns:a16="http://schemas.microsoft.com/office/drawing/2014/main" id="{90EC4EFF-4FEB-41AE-A288-455A35605791}"/>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6" name="Group 15">
            <a:extLst>
              <a:ext uri="{FF2B5EF4-FFF2-40B4-BE49-F238E27FC236}">
                <a16:creationId xmlns:a16="http://schemas.microsoft.com/office/drawing/2014/main" id="{B6FDAB9A-4BFF-27BA-D60F-4C510EE21484}"/>
              </a:ext>
            </a:extLst>
          </p:cNvPr>
          <p:cNvGrpSpPr/>
          <p:nvPr/>
        </p:nvGrpSpPr>
        <p:grpSpPr>
          <a:xfrm rot="1338781">
            <a:off x="3736880" y="4600175"/>
            <a:ext cx="3204400" cy="1889800"/>
            <a:chOff x="2372827" y="2957852"/>
            <a:chExt cx="6013173" cy="3501238"/>
          </a:xfrm>
        </p:grpSpPr>
        <p:pic>
          <p:nvPicPr>
            <p:cNvPr id="17" name="Picture 16">
              <a:extLst>
                <a:ext uri="{FF2B5EF4-FFF2-40B4-BE49-F238E27FC236}">
                  <a16:creationId xmlns:a16="http://schemas.microsoft.com/office/drawing/2014/main" id="{C88295AB-EEE5-B62E-1853-FDEAB0D53CE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9" name="Picture 18">
              <a:extLst>
                <a:ext uri="{FF2B5EF4-FFF2-40B4-BE49-F238E27FC236}">
                  <a16:creationId xmlns:a16="http://schemas.microsoft.com/office/drawing/2014/main" id="{E379E54D-44B5-49AE-FB94-B5C836BFA884}"/>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20" name="Oval 19">
              <a:extLst>
                <a:ext uri="{FF2B5EF4-FFF2-40B4-BE49-F238E27FC236}">
                  <a16:creationId xmlns:a16="http://schemas.microsoft.com/office/drawing/2014/main" id="{497890DB-BD63-EAD6-F636-69BFD33A761B}"/>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1" name="Circle: Hollow 20">
            <a:extLst>
              <a:ext uri="{FF2B5EF4-FFF2-40B4-BE49-F238E27FC236}">
                <a16:creationId xmlns:a16="http://schemas.microsoft.com/office/drawing/2014/main" id="{B9411841-40D1-9345-744D-A6AB0D82EBF3}"/>
              </a:ext>
            </a:extLst>
          </p:cNvPr>
          <p:cNvSpPr/>
          <p:nvPr/>
        </p:nvSpPr>
        <p:spPr>
          <a:xfrm rot="19740989">
            <a:off x="2994139" y="2599144"/>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Circle: Hollow 22">
            <a:extLst>
              <a:ext uri="{FF2B5EF4-FFF2-40B4-BE49-F238E27FC236}">
                <a16:creationId xmlns:a16="http://schemas.microsoft.com/office/drawing/2014/main" id="{2E973D33-D6C7-2299-6FA0-0598D9229F0A}"/>
              </a:ext>
            </a:extLst>
          </p:cNvPr>
          <p:cNvSpPr/>
          <p:nvPr/>
        </p:nvSpPr>
        <p:spPr>
          <a:xfrm rot="3412498">
            <a:off x="2852114" y="4112557"/>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4" name="Freeform: Shape 23">
            <a:extLst>
              <a:ext uri="{FF2B5EF4-FFF2-40B4-BE49-F238E27FC236}">
                <a16:creationId xmlns:a16="http://schemas.microsoft.com/office/drawing/2014/main" id="{367AE93C-C706-AAF4-60BF-3AA0F35BA3B1}"/>
              </a:ext>
            </a:extLst>
          </p:cNvPr>
          <p:cNvSpPr/>
          <p:nvPr/>
        </p:nvSpPr>
        <p:spPr>
          <a:xfrm>
            <a:off x="3571875" y="2714625"/>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CBBCE2C3-36C5-5B68-3777-884BDC943129}"/>
              </a:ext>
            </a:extLst>
          </p:cNvPr>
          <p:cNvSpPr/>
          <p:nvPr/>
        </p:nvSpPr>
        <p:spPr>
          <a:xfrm>
            <a:off x="3725265" y="2714625"/>
            <a:ext cx="723106" cy="759751"/>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25">
            <a:extLst>
              <a:ext uri="{FF2B5EF4-FFF2-40B4-BE49-F238E27FC236}">
                <a16:creationId xmlns:a16="http://schemas.microsoft.com/office/drawing/2014/main" id="{96F2F0FC-A9C4-26E1-5A84-59CCD05BFC18}"/>
              </a:ext>
            </a:extLst>
          </p:cNvPr>
          <p:cNvSpPr/>
          <p:nvPr/>
        </p:nvSpPr>
        <p:spPr>
          <a:xfrm>
            <a:off x="3741589" y="2904933"/>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3C270947-488A-5F42-3C9D-0394FCD5154D}"/>
              </a:ext>
            </a:extLst>
          </p:cNvPr>
          <p:cNvSpPr/>
          <p:nvPr/>
        </p:nvSpPr>
        <p:spPr>
          <a:xfrm>
            <a:off x="3830236" y="2942446"/>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reeform: Shape 27">
            <a:extLst>
              <a:ext uri="{FF2B5EF4-FFF2-40B4-BE49-F238E27FC236}">
                <a16:creationId xmlns:a16="http://schemas.microsoft.com/office/drawing/2014/main" id="{42C33F39-5F90-D137-58B4-537F576CCC33}"/>
              </a:ext>
            </a:extLst>
          </p:cNvPr>
          <p:cNvSpPr/>
          <p:nvPr/>
        </p:nvSpPr>
        <p:spPr>
          <a:xfrm rot="5117620">
            <a:off x="3076015" y="4502558"/>
            <a:ext cx="1102307" cy="52542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7649BF48-3021-5639-6712-2F2209F01340}"/>
              </a:ext>
            </a:extLst>
          </p:cNvPr>
          <p:cNvSpPr/>
          <p:nvPr/>
        </p:nvSpPr>
        <p:spPr>
          <a:xfrm rot="5179637">
            <a:off x="3218474" y="4512647"/>
            <a:ext cx="1085763" cy="48925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reeform: Shape 29">
            <a:extLst>
              <a:ext uri="{FF2B5EF4-FFF2-40B4-BE49-F238E27FC236}">
                <a16:creationId xmlns:a16="http://schemas.microsoft.com/office/drawing/2014/main" id="{21800355-166A-1C66-1138-66A52E428D97}"/>
              </a:ext>
            </a:extLst>
          </p:cNvPr>
          <p:cNvSpPr/>
          <p:nvPr/>
        </p:nvSpPr>
        <p:spPr>
          <a:xfrm flipV="1">
            <a:off x="3570707" y="4112613"/>
            <a:ext cx="647527" cy="83548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5A54AD5D-71C6-2F97-2307-A3EF7C6E2AC5}"/>
              </a:ext>
            </a:extLst>
          </p:cNvPr>
          <p:cNvSpPr/>
          <p:nvPr/>
        </p:nvSpPr>
        <p:spPr>
          <a:xfrm rot="6812312">
            <a:off x="3621150" y="3986698"/>
            <a:ext cx="508741" cy="83140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reeform: Shape 31">
            <a:extLst>
              <a:ext uri="{FF2B5EF4-FFF2-40B4-BE49-F238E27FC236}">
                <a16:creationId xmlns:a16="http://schemas.microsoft.com/office/drawing/2014/main" id="{E9A9A5CF-6F1A-4CC6-2B60-0D1EA444E6B5}"/>
              </a:ext>
            </a:extLst>
          </p:cNvPr>
          <p:cNvSpPr/>
          <p:nvPr/>
        </p:nvSpPr>
        <p:spPr>
          <a:xfrm flipV="1">
            <a:off x="3392821" y="4024894"/>
            <a:ext cx="825413" cy="114170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6A0B2C7D-6B9C-B943-C963-BC9498BF4DF1}"/>
              </a:ext>
            </a:extLst>
          </p:cNvPr>
          <p:cNvCxnSpPr>
            <a:cxnSpLocks/>
          </p:cNvCxnSpPr>
          <p:nvPr/>
        </p:nvCxnSpPr>
        <p:spPr>
          <a:xfrm>
            <a:off x="2929258" y="2234357"/>
            <a:ext cx="568842" cy="470827"/>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2C4FB55-4A1B-60E9-11C5-B2D43137B7B1}"/>
              </a:ext>
            </a:extLst>
          </p:cNvPr>
          <p:cNvSpPr txBox="1"/>
          <p:nvPr/>
        </p:nvSpPr>
        <p:spPr>
          <a:xfrm>
            <a:off x="771526" y="1454520"/>
            <a:ext cx="2766354" cy="830997"/>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Connecting Area of neurons</a:t>
            </a:r>
            <a:endParaRPr lang="en-IN" dirty="0">
              <a:solidFill>
                <a:srgbClr val="00B0F0"/>
              </a:solidFill>
            </a:endParaRPr>
          </a:p>
        </p:txBody>
      </p:sp>
      <p:sp>
        <p:nvSpPr>
          <p:cNvPr id="37" name="TextBox 36">
            <a:extLst>
              <a:ext uri="{FF2B5EF4-FFF2-40B4-BE49-F238E27FC236}">
                <a16:creationId xmlns:a16="http://schemas.microsoft.com/office/drawing/2014/main" id="{ADB0644A-27C1-71BB-2113-09FACA32865D}"/>
              </a:ext>
            </a:extLst>
          </p:cNvPr>
          <p:cNvSpPr txBox="1"/>
          <p:nvPr/>
        </p:nvSpPr>
        <p:spPr>
          <a:xfrm>
            <a:off x="486088" y="5644732"/>
            <a:ext cx="2766354"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Synapse</a:t>
            </a:r>
            <a:endParaRPr lang="en-IN" dirty="0">
              <a:solidFill>
                <a:srgbClr val="FF0000"/>
              </a:solidFill>
            </a:endParaRPr>
          </a:p>
        </p:txBody>
      </p:sp>
      <p:cxnSp>
        <p:nvCxnSpPr>
          <p:cNvPr id="38" name="Straight Arrow Connector 37">
            <a:extLst>
              <a:ext uri="{FF2B5EF4-FFF2-40B4-BE49-F238E27FC236}">
                <a16:creationId xmlns:a16="http://schemas.microsoft.com/office/drawing/2014/main" id="{B9EB129E-69FF-32A7-8F76-915C60F03C50}"/>
              </a:ext>
            </a:extLst>
          </p:cNvPr>
          <p:cNvCxnSpPr>
            <a:cxnSpLocks/>
            <a:endCxn id="28" idx="8"/>
          </p:cNvCxnSpPr>
          <p:nvPr/>
        </p:nvCxnSpPr>
        <p:spPr>
          <a:xfrm flipV="1">
            <a:off x="2057488" y="4691584"/>
            <a:ext cx="1552477" cy="953148"/>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E5BE6D7-4AF8-4B96-C884-6A1AB681C300}"/>
              </a:ext>
            </a:extLst>
          </p:cNvPr>
          <p:cNvSpPr txBox="1"/>
          <p:nvPr/>
        </p:nvSpPr>
        <p:spPr>
          <a:xfrm>
            <a:off x="7490303" y="2714625"/>
            <a:ext cx="4444522" cy="3785652"/>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The places where neurons connect and communicate with each other are called </a:t>
            </a:r>
            <a:r>
              <a:rPr lang="en-US" sz="2400" b="1" dirty="0">
                <a:solidFill>
                  <a:srgbClr val="FF0000"/>
                </a:solidFill>
                <a:latin typeface="Times New Roman" panose="02020603050405020304" pitchFamily="18" charset="0"/>
                <a:cs typeface="Times New Roman" panose="02020603050405020304" pitchFamily="18" charset="0"/>
              </a:rPr>
              <a:t>SYNAPSES</a:t>
            </a:r>
            <a:r>
              <a:rPr lang="en-US" sz="2400" b="1"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“Intended message” or “Action potential” is transmitted from the axon terminal of one neuron to the dendrites of another neuron.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749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grpSp>
        <p:nvGrpSpPr>
          <p:cNvPr id="4" name="Group 3">
            <a:extLst>
              <a:ext uri="{FF2B5EF4-FFF2-40B4-BE49-F238E27FC236}">
                <a16:creationId xmlns:a16="http://schemas.microsoft.com/office/drawing/2014/main" id="{79588DC2-4995-D477-3A7F-C0A14398102D}"/>
              </a:ext>
            </a:extLst>
          </p:cNvPr>
          <p:cNvGrpSpPr/>
          <p:nvPr/>
        </p:nvGrpSpPr>
        <p:grpSpPr>
          <a:xfrm>
            <a:off x="856079" y="2852379"/>
            <a:ext cx="3204400" cy="1889800"/>
            <a:chOff x="2372827" y="2957852"/>
            <a:chExt cx="6013173" cy="3501238"/>
          </a:xfrm>
        </p:grpSpPr>
        <p:pic>
          <p:nvPicPr>
            <p:cNvPr id="5" name="Picture 4">
              <a:extLst>
                <a:ext uri="{FF2B5EF4-FFF2-40B4-BE49-F238E27FC236}">
                  <a16:creationId xmlns:a16="http://schemas.microsoft.com/office/drawing/2014/main" id="{05B663BF-BD6A-0517-4315-D6A6B5CF386F}"/>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1" name="Oval 10">
              <a:extLst>
                <a:ext uri="{FF2B5EF4-FFF2-40B4-BE49-F238E27FC236}">
                  <a16:creationId xmlns:a16="http://schemas.microsoft.com/office/drawing/2014/main" id="{13E1594E-E4BD-93D4-0E24-2B30C3BCFFED}"/>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9" name="Group 8">
            <a:extLst>
              <a:ext uri="{FF2B5EF4-FFF2-40B4-BE49-F238E27FC236}">
                <a16:creationId xmlns:a16="http://schemas.microsoft.com/office/drawing/2014/main" id="{3555A810-D831-F825-C58A-C1223C3ABA24}"/>
              </a:ext>
            </a:extLst>
          </p:cNvPr>
          <p:cNvGrpSpPr/>
          <p:nvPr/>
        </p:nvGrpSpPr>
        <p:grpSpPr>
          <a:xfrm rot="20613930">
            <a:off x="4084032" y="1475515"/>
            <a:ext cx="3204400" cy="1889800"/>
            <a:chOff x="2372827" y="2957852"/>
            <a:chExt cx="6013173" cy="3501238"/>
          </a:xfrm>
        </p:grpSpPr>
        <p:pic>
          <p:nvPicPr>
            <p:cNvPr id="10" name="Picture 9">
              <a:extLst>
                <a:ext uri="{FF2B5EF4-FFF2-40B4-BE49-F238E27FC236}">
                  <a16:creationId xmlns:a16="http://schemas.microsoft.com/office/drawing/2014/main" id="{FE738C1B-4F98-A3C7-4105-3FAA88B70A4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3" name="Picture 12">
              <a:extLst>
                <a:ext uri="{FF2B5EF4-FFF2-40B4-BE49-F238E27FC236}">
                  <a16:creationId xmlns:a16="http://schemas.microsoft.com/office/drawing/2014/main" id="{8CB96692-F25B-F612-1FEA-15871526237D}"/>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5" name="Oval 14">
              <a:extLst>
                <a:ext uri="{FF2B5EF4-FFF2-40B4-BE49-F238E27FC236}">
                  <a16:creationId xmlns:a16="http://schemas.microsoft.com/office/drawing/2014/main" id="{90EC4EFF-4FEB-41AE-A288-455A35605791}"/>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6" name="Group 15">
            <a:extLst>
              <a:ext uri="{FF2B5EF4-FFF2-40B4-BE49-F238E27FC236}">
                <a16:creationId xmlns:a16="http://schemas.microsoft.com/office/drawing/2014/main" id="{B6FDAB9A-4BFF-27BA-D60F-4C510EE21484}"/>
              </a:ext>
            </a:extLst>
          </p:cNvPr>
          <p:cNvGrpSpPr/>
          <p:nvPr/>
        </p:nvGrpSpPr>
        <p:grpSpPr>
          <a:xfrm rot="1338781">
            <a:off x="3736880" y="4600175"/>
            <a:ext cx="3204400" cy="1889800"/>
            <a:chOff x="2372827" y="2957852"/>
            <a:chExt cx="6013173" cy="3501238"/>
          </a:xfrm>
        </p:grpSpPr>
        <p:pic>
          <p:nvPicPr>
            <p:cNvPr id="17" name="Picture 16">
              <a:extLst>
                <a:ext uri="{FF2B5EF4-FFF2-40B4-BE49-F238E27FC236}">
                  <a16:creationId xmlns:a16="http://schemas.microsoft.com/office/drawing/2014/main" id="{C88295AB-EEE5-B62E-1853-FDEAB0D53CE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9" name="Picture 18">
              <a:extLst>
                <a:ext uri="{FF2B5EF4-FFF2-40B4-BE49-F238E27FC236}">
                  <a16:creationId xmlns:a16="http://schemas.microsoft.com/office/drawing/2014/main" id="{E379E54D-44B5-49AE-FB94-B5C836BFA884}"/>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20" name="Oval 19">
              <a:extLst>
                <a:ext uri="{FF2B5EF4-FFF2-40B4-BE49-F238E27FC236}">
                  <a16:creationId xmlns:a16="http://schemas.microsoft.com/office/drawing/2014/main" id="{497890DB-BD63-EAD6-F636-69BFD33A761B}"/>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1" name="Circle: Hollow 20">
            <a:extLst>
              <a:ext uri="{FF2B5EF4-FFF2-40B4-BE49-F238E27FC236}">
                <a16:creationId xmlns:a16="http://schemas.microsoft.com/office/drawing/2014/main" id="{B9411841-40D1-9345-744D-A6AB0D82EBF3}"/>
              </a:ext>
            </a:extLst>
          </p:cNvPr>
          <p:cNvSpPr/>
          <p:nvPr/>
        </p:nvSpPr>
        <p:spPr>
          <a:xfrm rot="19740989">
            <a:off x="2994139" y="2599144"/>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Circle: Hollow 22">
            <a:extLst>
              <a:ext uri="{FF2B5EF4-FFF2-40B4-BE49-F238E27FC236}">
                <a16:creationId xmlns:a16="http://schemas.microsoft.com/office/drawing/2014/main" id="{2E973D33-D6C7-2299-6FA0-0598D9229F0A}"/>
              </a:ext>
            </a:extLst>
          </p:cNvPr>
          <p:cNvSpPr/>
          <p:nvPr/>
        </p:nvSpPr>
        <p:spPr>
          <a:xfrm rot="3412498">
            <a:off x="2852114" y="4112557"/>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4" name="Freeform: Shape 23">
            <a:extLst>
              <a:ext uri="{FF2B5EF4-FFF2-40B4-BE49-F238E27FC236}">
                <a16:creationId xmlns:a16="http://schemas.microsoft.com/office/drawing/2014/main" id="{367AE93C-C706-AAF4-60BF-3AA0F35BA3B1}"/>
              </a:ext>
            </a:extLst>
          </p:cNvPr>
          <p:cNvSpPr/>
          <p:nvPr/>
        </p:nvSpPr>
        <p:spPr>
          <a:xfrm>
            <a:off x="3571875" y="2714625"/>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CBBCE2C3-36C5-5B68-3777-884BDC943129}"/>
              </a:ext>
            </a:extLst>
          </p:cNvPr>
          <p:cNvSpPr/>
          <p:nvPr/>
        </p:nvSpPr>
        <p:spPr>
          <a:xfrm>
            <a:off x="3725265" y="2714625"/>
            <a:ext cx="723106" cy="759751"/>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25">
            <a:extLst>
              <a:ext uri="{FF2B5EF4-FFF2-40B4-BE49-F238E27FC236}">
                <a16:creationId xmlns:a16="http://schemas.microsoft.com/office/drawing/2014/main" id="{96F2F0FC-A9C4-26E1-5A84-59CCD05BFC18}"/>
              </a:ext>
            </a:extLst>
          </p:cNvPr>
          <p:cNvSpPr/>
          <p:nvPr/>
        </p:nvSpPr>
        <p:spPr>
          <a:xfrm>
            <a:off x="3741589" y="2904933"/>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3C270947-488A-5F42-3C9D-0394FCD5154D}"/>
              </a:ext>
            </a:extLst>
          </p:cNvPr>
          <p:cNvSpPr/>
          <p:nvPr/>
        </p:nvSpPr>
        <p:spPr>
          <a:xfrm>
            <a:off x="3830236" y="2942446"/>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reeform: Shape 27">
            <a:extLst>
              <a:ext uri="{FF2B5EF4-FFF2-40B4-BE49-F238E27FC236}">
                <a16:creationId xmlns:a16="http://schemas.microsoft.com/office/drawing/2014/main" id="{42C33F39-5F90-D137-58B4-537F576CCC33}"/>
              </a:ext>
            </a:extLst>
          </p:cNvPr>
          <p:cNvSpPr/>
          <p:nvPr/>
        </p:nvSpPr>
        <p:spPr>
          <a:xfrm rot="5117620">
            <a:off x="3076015" y="4502558"/>
            <a:ext cx="1102307" cy="52542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7649BF48-3021-5639-6712-2F2209F01340}"/>
              </a:ext>
            </a:extLst>
          </p:cNvPr>
          <p:cNvSpPr/>
          <p:nvPr/>
        </p:nvSpPr>
        <p:spPr>
          <a:xfrm rot="5179637">
            <a:off x="3218474" y="4512647"/>
            <a:ext cx="1085763" cy="48925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reeform: Shape 29">
            <a:extLst>
              <a:ext uri="{FF2B5EF4-FFF2-40B4-BE49-F238E27FC236}">
                <a16:creationId xmlns:a16="http://schemas.microsoft.com/office/drawing/2014/main" id="{21800355-166A-1C66-1138-66A52E428D97}"/>
              </a:ext>
            </a:extLst>
          </p:cNvPr>
          <p:cNvSpPr/>
          <p:nvPr/>
        </p:nvSpPr>
        <p:spPr>
          <a:xfrm flipV="1">
            <a:off x="3570707" y="4112613"/>
            <a:ext cx="647527" cy="83548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5A54AD5D-71C6-2F97-2307-A3EF7C6E2AC5}"/>
              </a:ext>
            </a:extLst>
          </p:cNvPr>
          <p:cNvSpPr/>
          <p:nvPr/>
        </p:nvSpPr>
        <p:spPr>
          <a:xfrm rot="6812312">
            <a:off x="3621150" y="3986698"/>
            <a:ext cx="508741" cy="83140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reeform: Shape 31">
            <a:extLst>
              <a:ext uri="{FF2B5EF4-FFF2-40B4-BE49-F238E27FC236}">
                <a16:creationId xmlns:a16="http://schemas.microsoft.com/office/drawing/2014/main" id="{E9A9A5CF-6F1A-4CC6-2B60-0D1EA444E6B5}"/>
              </a:ext>
            </a:extLst>
          </p:cNvPr>
          <p:cNvSpPr/>
          <p:nvPr/>
        </p:nvSpPr>
        <p:spPr>
          <a:xfrm flipV="1">
            <a:off x="3392821" y="4024894"/>
            <a:ext cx="825413" cy="114170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6A0B2C7D-6B9C-B943-C963-BC9498BF4DF1}"/>
              </a:ext>
            </a:extLst>
          </p:cNvPr>
          <p:cNvCxnSpPr>
            <a:cxnSpLocks/>
          </p:cNvCxnSpPr>
          <p:nvPr/>
        </p:nvCxnSpPr>
        <p:spPr>
          <a:xfrm>
            <a:off x="2929258" y="2234357"/>
            <a:ext cx="568842" cy="470827"/>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2C4FB55-4A1B-60E9-11C5-B2D43137B7B1}"/>
              </a:ext>
            </a:extLst>
          </p:cNvPr>
          <p:cNvSpPr txBox="1"/>
          <p:nvPr/>
        </p:nvSpPr>
        <p:spPr>
          <a:xfrm>
            <a:off x="771526" y="1454520"/>
            <a:ext cx="2766354" cy="830997"/>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Connecting Area of neurons</a:t>
            </a:r>
            <a:endParaRPr lang="en-IN" dirty="0">
              <a:solidFill>
                <a:srgbClr val="00B0F0"/>
              </a:solidFill>
            </a:endParaRPr>
          </a:p>
        </p:txBody>
      </p:sp>
      <p:sp>
        <p:nvSpPr>
          <p:cNvPr id="37" name="TextBox 36">
            <a:extLst>
              <a:ext uri="{FF2B5EF4-FFF2-40B4-BE49-F238E27FC236}">
                <a16:creationId xmlns:a16="http://schemas.microsoft.com/office/drawing/2014/main" id="{ADB0644A-27C1-71BB-2113-09FACA32865D}"/>
              </a:ext>
            </a:extLst>
          </p:cNvPr>
          <p:cNvSpPr txBox="1"/>
          <p:nvPr/>
        </p:nvSpPr>
        <p:spPr>
          <a:xfrm>
            <a:off x="486088" y="5644732"/>
            <a:ext cx="2766354"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Synapse</a:t>
            </a:r>
            <a:endParaRPr lang="en-IN" dirty="0">
              <a:solidFill>
                <a:srgbClr val="FF0000"/>
              </a:solidFill>
            </a:endParaRPr>
          </a:p>
        </p:txBody>
      </p:sp>
      <p:cxnSp>
        <p:nvCxnSpPr>
          <p:cNvPr id="38" name="Straight Arrow Connector 37">
            <a:extLst>
              <a:ext uri="{FF2B5EF4-FFF2-40B4-BE49-F238E27FC236}">
                <a16:creationId xmlns:a16="http://schemas.microsoft.com/office/drawing/2014/main" id="{B9EB129E-69FF-32A7-8F76-915C60F03C50}"/>
              </a:ext>
            </a:extLst>
          </p:cNvPr>
          <p:cNvCxnSpPr>
            <a:cxnSpLocks/>
            <a:endCxn id="28" idx="8"/>
          </p:cNvCxnSpPr>
          <p:nvPr/>
        </p:nvCxnSpPr>
        <p:spPr>
          <a:xfrm flipV="1">
            <a:off x="2057488" y="4691584"/>
            <a:ext cx="1552477" cy="953148"/>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E5BE6D7-4AF8-4B96-C884-6A1AB681C300}"/>
              </a:ext>
            </a:extLst>
          </p:cNvPr>
          <p:cNvSpPr txBox="1"/>
          <p:nvPr/>
        </p:nvSpPr>
        <p:spPr>
          <a:xfrm>
            <a:off x="7425718" y="2169798"/>
            <a:ext cx="4444522" cy="3785652"/>
          </a:xfrm>
          <a:prstGeom prst="rect">
            <a:avLst/>
          </a:prstGeom>
          <a:no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Question:</a:t>
            </a:r>
          </a:p>
          <a:p>
            <a:pPr algn="just"/>
            <a:r>
              <a:rPr lang="en-US" sz="2400" b="1" dirty="0">
                <a:latin typeface="Times New Roman" panose="02020603050405020304" pitchFamily="18" charset="0"/>
                <a:cs typeface="Times New Roman" panose="02020603050405020304" pitchFamily="18" charset="0"/>
              </a:rPr>
              <a:t>With multiple synapses trying to connect to the dendrites… which synapses should be allowed to connect?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solidFill>
                  <a:srgbClr val="00B0F0"/>
                </a:solidFill>
                <a:latin typeface="Times New Roman" panose="02020603050405020304" pitchFamily="18" charset="0"/>
                <a:cs typeface="Times New Roman" panose="02020603050405020304" pitchFamily="18" charset="0"/>
              </a:rPr>
              <a:t>Answer:</a:t>
            </a:r>
          </a:p>
          <a:p>
            <a:pPr algn="just"/>
            <a:r>
              <a:rPr lang="en-US" sz="2400" b="1" dirty="0">
                <a:solidFill>
                  <a:srgbClr val="C00000"/>
                </a:solidFill>
                <a:latin typeface="Times New Roman" panose="02020603050405020304" pitchFamily="18" charset="0"/>
                <a:cs typeface="Times New Roman" panose="02020603050405020304" pitchFamily="18" charset="0"/>
              </a:rPr>
              <a:t>The STRONGEST Synapse will be allowed to connect to the dendrites</a:t>
            </a:r>
            <a:r>
              <a:rPr lang="en-US" sz="2400" b="1" dirty="0">
                <a:latin typeface="Times New Roman" panose="02020603050405020304" pitchFamily="18" charset="0"/>
                <a:cs typeface="Times New Roman" panose="02020603050405020304" pitchFamily="18" charset="0"/>
              </a:rPr>
              <a: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0972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grpSp>
        <p:nvGrpSpPr>
          <p:cNvPr id="4" name="Group 3">
            <a:extLst>
              <a:ext uri="{FF2B5EF4-FFF2-40B4-BE49-F238E27FC236}">
                <a16:creationId xmlns:a16="http://schemas.microsoft.com/office/drawing/2014/main" id="{79588DC2-4995-D477-3A7F-C0A14398102D}"/>
              </a:ext>
            </a:extLst>
          </p:cNvPr>
          <p:cNvGrpSpPr/>
          <p:nvPr/>
        </p:nvGrpSpPr>
        <p:grpSpPr>
          <a:xfrm>
            <a:off x="856079" y="2852379"/>
            <a:ext cx="3204400" cy="1889800"/>
            <a:chOff x="2372827" y="2957852"/>
            <a:chExt cx="6013173" cy="3501238"/>
          </a:xfrm>
        </p:grpSpPr>
        <p:pic>
          <p:nvPicPr>
            <p:cNvPr id="5" name="Picture 4">
              <a:extLst>
                <a:ext uri="{FF2B5EF4-FFF2-40B4-BE49-F238E27FC236}">
                  <a16:creationId xmlns:a16="http://schemas.microsoft.com/office/drawing/2014/main" id="{05B663BF-BD6A-0517-4315-D6A6B5CF386F}"/>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1" name="Oval 10">
              <a:extLst>
                <a:ext uri="{FF2B5EF4-FFF2-40B4-BE49-F238E27FC236}">
                  <a16:creationId xmlns:a16="http://schemas.microsoft.com/office/drawing/2014/main" id="{13E1594E-E4BD-93D4-0E24-2B30C3BCFFED}"/>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9" name="Group 8">
            <a:extLst>
              <a:ext uri="{FF2B5EF4-FFF2-40B4-BE49-F238E27FC236}">
                <a16:creationId xmlns:a16="http://schemas.microsoft.com/office/drawing/2014/main" id="{3555A810-D831-F825-C58A-C1223C3ABA24}"/>
              </a:ext>
            </a:extLst>
          </p:cNvPr>
          <p:cNvGrpSpPr/>
          <p:nvPr/>
        </p:nvGrpSpPr>
        <p:grpSpPr>
          <a:xfrm rot="20613930">
            <a:off x="4084032" y="1475515"/>
            <a:ext cx="3204400" cy="1889800"/>
            <a:chOff x="2372827" y="2957852"/>
            <a:chExt cx="6013173" cy="3501238"/>
          </a:xfrm>
        </p:grpSpPr>
        <p:pic>
          <p:nvPicPr>
            <p:cNvPr id="10" name="Picture 9">
              <a:extLst>
                <a:ext uri="{FF2B5EF4-FFF2-40B4-BE49-F238E27FC236}">
                  <a16:creationId xmlns:a16="http://schemas.microsoft.com/office/drawing/2014/main" id="{FE738C1B-4F98-A3C7-4105-3FAA88B70A4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3" name="Picture 12">
              <a:extLst>
                <a:ext uri="{FF2B5EF4-FFF2-40B4-BE49-F238E27FC236}">
                  <a16:creationId xmlns:a16="http://schemas.microsoft.com/office/drawing/2014/main" id="{8CB96692-F25B-F612-1FEA-15871526237D}"/>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5" name="Oval 14">
              <a:extLst>
                <a:ext uri="{FF2B5EF4-FFF2-40B4-BE49-F238E27FC236}">
                  <a16:creationId xmlns:a16="http://schemas.microsoft.com/office/drawing/2014/main" id="{90EC4EFF-4FEB-41AE-A288-455A35605791}"/>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6" name="Group 15">
            <a:extLst>
              <a:ext uri="{FF2B5EF4-FFF2-40B4-BE49-F238E27FC236}">
                <a16:creationId xmlns:a16="http://schemas.microsoft.com/office/drawing/2014/main" id="{B6FDAB9A-4BFF-27BA-D60F-4C510EE21484}"/>
              </a:ext>
            </a:extLst>
          </p:cNvPr>
          <p:cNvGrpSpPr/>
          <p:nvPr/>
        </p:nvGrpSpPr>
        <p:grpSpPr>
          <a:xfrm rot="1338781">
            <a:off x="3736880" y="4600175"/>
            <a:ext cx="3204400" cy="1889800"/>
            <a:chOff x="2372827" y="2957852"/>
            <a:chExt cx="6013173" cy="3501238"/>
          </a:xfrm>
        </p:grpSpPr>
        <p:pic>
          <p:nvPicPr>
            <p:cNvPr id="17" name="Picture 16">
              <a:extLst>
                <a:ext uri="{FF2B5EF4-FFF2-40B4-BE49-F238E27FC236}">
                  <a16:creationId xmlns:a16="http://schemas.microsoft.com/office/drawing/2014/main" id="{C88295AB-EEE5-B62E-1853-FDEAB0D53CE1}"/>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19" name="Picture 18">
              <a:extLst>
                <a:ext uri="{FF2B5EF4-FFF2-40B4-BE49-F238E27FC236}">
                  <a16:creationId xmlns:a16="http://schemas.microsoft.com/office/drawing/2014/main" id="{E379E54D-44B5-49AE-FB94-B5C836BFA884}"/>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20" name="Oval 19">
              <a:extLst>
                <a:ext uri="{FF2B5EF4-FFF2-40B4-BE49-F238E27FC236}">
                  <a16:creationId xmlns:a16="http://schemas.microsoft.com/office/drawing/2014/main" id="{497890DB-BD63-EAD6-F636-69BFD33A761B}"/>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1" name="Circle: Hollow 20">
            <a:extLst>
              <a:ext uri="{FF2B5EF4-FFF2-40B4-BE49-F238E27FC236}">
                <a16:creationId xmlns:a16="http://schemas.microsoft.com/office/drawing/2014/main" id="{B9411841-40D1-9345-744D-A6AB0D82EBF3}"/>
              </a:ext>
            </a:extLst>
          </p:cNvPr>
          <p:cNvSpPr/>
          <p:nvPr/>
        </p:nvSpPr>
        <p:spPr>
          <a:xfrm rot="19740989">
            <a:off x="2994139" y="2599144"/>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Circle: Hollow 22">
            <a:extLst>
              <a:ext uri="{FF2B5EF4-FFF2-40B4-BE49-F238E27FC236}">
                <a16:creationId xmlns:a16="http://schemas.microsoft.com/office/drawing/2014/main" id="{2E973D33-D6C7-2299-6FA0-0598D9229F0A}"/>
              </a:ext>
            </a:extLst>
          </p:cNvPr>
          <p:cNvSpPr/>
          <p:nvPr/>
        </p:nvSpPr>
        <p:spPr>
          <a:xfrm rot="3412498">
            <a:off x="2852114" y="4112557"/>
            <a:ext cx="1857413" cy="1155548"/>
          </a:xfrm>
          <a:prstGeom prst="donut">
            <a:avLst>
              <a:gd name="adj" fmla="val 4316"/>
            </a:avLst>
          </a:prstGeom>
          <a:solidFill>
            <a:srgbClr val="00B0F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4" name="Freeform: Shape 23">
            <a:extLst>
              <a:ext uri="{FF2B5EF4-FFF2-40B4-BE49-F238E27FC236}">
                <a16:creationId xmlns:a16="http://schemas.microsoft.com/office/drawing/2014/main" id="{367AE93C-C706-AAF4-60BF-3AA0F35BA3B1}"/>
              </a:ext>
            </a:extLst>
          </p:cNvPr>
          <p:cNvSpPr/>
          <p:nvPr/>
        </p:nvSpPr>
        <p:spPr>
          <a:xfrm>
            <a:off x="3571875" y="2714625"/>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CBBCE2C3-36C5-5B68-3777-884BDC943129}"/>
              </a:ext>
            </a:extLst>
          </p:cNvPr>
          <p:cNvSpPr/>
          <p:nvPr/>
        </p:nvSpPr>
        <p:spPr>
          <a:xfrm>
            <a:off x="3725265" y="2714625"/>
            <a:ext cx="723106" cy="759751"/>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25">
            <a:extLst>
              <a:ext uri="{FF2B5EF4-FFF2-40B4-BE49-F238E27FC236}">
                <a16:creationId xmlns:a16="http://schemas.microsoft.com/office/drawing/2014/main" id="{96F2F0FC-A9C4-26E1-5A84-59CCD05BFC18}"/>
              </a:ext>
            </a:extLst>
          </p:cNvPr>
          <p:cNvSpPr/>
          <p:nvPr/>
        </p:nvSpPr>
        <p:spPr>
          <a:xfrm>
            <a:off x="3741589" y="2904933"/>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3C270947-488A-5F42-3C9D-0394FCD5154D}"/>
              </a:ext>
            </a:extLst>
          </p:cNvPr>
          <p:cNvSpPr/>
          <p:nvPr/>
        </p:nvSpPr>
        <p:spPr>
          <a:xfrm>
            <a:off x="3830236" y="2942446"/>
            <a:ext cx="771525" cy="676275"/>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reeform: Shape 27">
            <a:extLst>
              <a:ext uri="{FF2B5EF4-FFF2-40B4-BE49-F238E27FC236}">
                <a16:creationId xmlns:a16="http://schemas.microsoft.com/office/drawing/2014/main" id="{42C33F39-5F90-D137-58B4-537F576CCC33}"/>
              </a:ext>
            </a:extLst>
          </p:cNvPr>
          <p:cNvSpPr/>
          <p:nvPr/>
        </p:nvSpPr>
        <p:spPr>
          <a:xfrm rot="5117620">
            <a:off x="3076015" y="4502558"/>
            <a:ext cx="1102307" cy="52542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7649BF48-3021-5639-6712-2F2209F01340}"/>
              </a:ext>
            </a:extLst>
          </p:cNvPr>
          <p:cNvSpPr/>
          <p:nvPr/>
        </p:nvSpPr>
        <p:spPr>
          <a:xfrm rot="5179637">
            <a:off x="3218474" y="4512647"/>
            <a:ext cx="1085763" cy="48925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reeform: Shape 29">
            <a:extLst>
              <a:ext uri="{FF2B5EF4-FFF2-40B4-BE49-F238E27FC236}">
                <a16:creationId xmlns:a16="http://schemas.microsoft.com/office/drawing/2014/main" id="{21800355-166A-1C66-1138-66A52E428D97}"/>
              </a:ext>
            </a:extLst>
          </p:cNvPr>
          <p:cNvSpPr/>
          <p:nvPr/>
        </p:nvSpPr>
        <p:spPr>
          <a:xfrm flipV="1">
            <a:off x="3570707" y="4112613"/>
            <a:ext cx="647527" cy="83548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5A54AD5D-71C6-2F97-2307-A3EF7C6E2AC5}"/>
              </a:ext>
            </a:extLst>
          </p:cNvPr>
          <p:cNvSpPr/>
          <p:nvPr/>
        </p:nvSpPr>
        <p:spPr>
          <a:xfrm rot="6812312">
            <a:off x="3621150" y="3986698"/>
            <a:ext cx="508741" cy="831407"/>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reeform: Shape 31">
            <a:extLst>
              <a:ext uri="{FF2B5EF4-FFF2-40B4-BE49-F238E27FC236}">
                <a16:creationId xmlns:a16="http://schemas.microsoft.com/office/drawing/2014/main" id="{E9A9A5CF-6F1A-4CC6-2B60-0D1EA444E6B5}"/>
              </a:ext>
            </a:extLst>
          </p:cNvPr>
          <p:cNvSpPr/>
          <p:nvPr/>
        </p:nvSpPr>
        <p:spPr>
          <a:xfrm flipV="1">
            <a:off x="3392821" y="4024894"/>
            <a:ext cx="825413" cy="1141702"/>
          </a:xfrm>
          <a:custGeom>
            <a:avLst/>
            <a:gdLst>
              <a:gd name="connsiteX0" fmla="*/ 0 w 771525"/>
              <a:gd name="connsiteY0" fmla="*/ 676275 h 676275"/>
              <a:gd name="connsiteX1" fmla="*/ 47625 w 771525"/>
              <a:gd name="connsiteY1" fmla="*/ 666750 h 676275"/>
              <a:gd name="connsiteX2" fmla="*/ 76200 w 771525"/>
              <a:gd name="connsiteY2" fmla="*/ 638175 h 676275"/>
              <a:gd name="connsiteX3" fmla="*/ 104775 w 771525"/>
              <a:gd name="connsiteY3" fmla="*/ 619125 h 676275"/>
              <a:gd name="connsiteX4" fmla="*/ 171450 w 771525"/>
              <a:gd name="connsiteY4" fmla="*/ 542925 h 676275"/>
              <a:gd name="connsiteX5" fmla="*/ 209550 w 771525"/>
              <a:gd name="connsiteY5" fmla="*/ 533400 h 676275"/>
              <a:gd name="connsiteX6" fmla="*/ 247650 w 771525"/>
              <a:gd name="connsiteY6" fmla="*/ 466725 h 676275"/>
              <a:gd name="connsiteX7" fmla="*/ 276225 w 771525"/>
              <a:gd name="connsiteY7" fmla="*/ 409575 h 676275"/>
              <a:gd name="connsiteX8" fmla="*/ 333375 w 771525"/>
              <a:gd name="connsiteY8" fmla="*/ 352425 h 676275"/>
              <a:gd name="connsiteX9" fmla="*/ 361950 w 771525"/>
              <a:gd name="connsiteY9" fmla="*/ 333375 h 676275"/>
              <a:gd name="connsiteX10" fmla="*/ 428625 w 771525"/>
              <a:gd name="connsiteY10" fmla="*/ 266700 h 676275"/>
              <a:gd name="connsiteX11" fmla="*/ 485775 w 771525"/>
              <a:gd name="connsiteY11" fmla="*/ 228600 h 676275"/>
              <a:gd name="connsiteX12" fmla="*/ 552450 w 771525"/>
              <a:gd name="connsiteY12" fmla="*/ 152400 h 676275"/>
              <a:gd name="connsiteX13" fmla="*/ 590550 w 771525"/>
              <a:gd name="connsiteY13" fmla="*/ 95250 h 676275"/>
              <a:gd name="connsiteX14" fmla="*/ 647700 w 771525"/>
              <a:gd name="connsiteY14" fmla="*/ 57150 h 676275"/>
              <a:gd name="connsiteX15" fmla="*/ 666750 w 771525"/>
              <a:gd name="connsiteY15" fmla="*/ 28575 h 676275"/>
              <a:gd name="connsiteX16" fmla="*/ 723900 w 771525"/>
              <a:gd name="connsiteY16" fmla="*/ 19050 h 676275"/>
              <a:gd name="connsiteX17" fmla="*/ 771525 w 771525"/>
              <a:gd name="connsiteY17" fmla="*/ 0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1525" h="676275">
                <a:moveTo>
                  <a:pt x="0" y="676275"/>
                </a:moveTo>
                <a:cubicBezTo>
                  <a:pt x="15875" y="673100"/>
                  <a:pt x="33145" y="673990"/>
                  <a:pt x="47625" y="666750"/>
                </a:cubicBezTo>
                <a:cubicBezTo>
                  <a:pt x="59673" y="660726"/>
                  <a:pt x="65852" y="646799"/>
                  <a:pt x="76200" y="638175"/>
                </a:cubicBezTo>
                <a:cubicBezTo>
                  <a:pt x="84994" y="630846"/>
                  <a:pt x="96680" y="627220"/>
                  <a:pt x="104775" y="619125"/>
                </a:cubicBezTo>
                <a:cubicBezTo>
                  <a:pt x="135507" y="588393"/>
                  <a:pt x="131876" y="567659"/>
                  <a:pt x="171450" y="542925"/>
                </a:cubicBezTo>
                <a:cubicBezTo>
                  <a:pt x="182551" y="535987"/>
                  <a:pt x="196850" y="536575"/>
                  <a:pt x="209550" y="533400"/>
                </a:cubicBezTo>
                <a:cubicBezTo>
                  <a:pt x="228682" y="504702"/>
                  <a:pt x="233148" y="500562"/>
                  <a:pt x="247650" y="466725"/>
                </a:cubicBezTo>
                <a:cubicBezTo>
                  <a:pt x="261346" y="434767"/>
                  <a:pt x="250977" y="437979"/>
                  <a:pt x="276225" y="409575"/>
                </a:cubicBezTo>
                <a:cubicBezTo>
                  <a:pt x="294123" y="389439"/>
                  <a:pt x="310959" y="367369"/>
                  <a:pt x="333375" y="352425"/>
                </a:cubicBezTo>
                <a:cubicBezTo>
                  <a:pt x="342900" y="346075"/>
                  <a:pt x="353441" y="341033"/>
                  <a:pt x="361950" y="333375"/>
                </a:cubicBezTo>
                <a:cubicBezTo>
                  <a:pt x="385312" y="312349"/>
                  <a:pt x="402473" y="284135"/>
                  <a:pt x="428625" y="266700"/>
                </a:cubicBezTo>
                <a:cubicBezTo>
                  <a:pt x="447675" y="254000"/>
                  <a:pt x="467703" y="242656"/>
                  <a:pt x="485775" y="228600"/>
                </a:cubicBezTo>
                <a:cubicBezTo>
                  <a:pt x="506293" y="212641"/>
                  <a:pt x="539791" y="169807"/>
                  <a:pt x="552450" y="152400"/>
                </a:cubicBezTo>
                <a:cubicBezTo>
                  <a:pt x="565916" y="133884"/>
                  <a:pt x="571500" y="107950"/>
                  <a:pt x="590550" y="95250"/>
                </a:cubicBezTo>
                <a:lnTo>
                  <a:pt x="647700" y="57150"/>
                </a:lnTo>
                <a:cubicBezTo>
                  <a:pt x="654050" y="47625"/>
                  <a:pt x="656511" y="33695"/>
                  <a:pt x="666750" y="28575"/>
                </a:cubicBezTo>
                <a:cubicBezTo>
                  <a:pt x="684024" y="19938"/>
                  <a:pt x="705047" y="23240"/>
                  <a:pt x="723900" y="19050"/>
                </a:cubicBezTo>
                <a:cubicBezTo>
                  <a:pt x="745086" y="14342"/>
                  <a:pt x="753482" y="9022"/>
                  <a:pt x="771525" y="0"/>
                </a:cubicBezTo>
              </a:path>
            </a:pathLst>
          </a:cu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6A0B2C7D-6B9C-B943-C963-BC9498BF4DF1}"/>
              </a:ext>
            </a:extLst>
          </p:cNvPr>
          <p:cNvCxnSpPr>
            <a:cxnSpLocks/>
          </p:cNvCxnSpPr>
          <p:nvPr/>
        </p:nvCxnSpPr>
        <p:spPr>
          <a:xfrm>
            <a:off x="2929258" y="2234357"/>
            <a:ext cx="568842" cy="470827"/>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2C4FB55-4A1B-60E9-11C5-B2D43137B7B1}"/>
              </a:ext>
            </a:extLst>
          </p:cNvPr>
          <p:cNvSpPr txBox="1"/>
          <p:nvPr/>
        </p:nvSpPr>
        <p:spPr>
          <a:xfrm>
            <a:off x="771526" y="1454520"/>
            <a:ext cx="2766354" cy="830997"/>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Connecting Area of neurons</a:t>
            </a:r>
            <a:endParaRPr lang="en-IN" dirty="0">
              <a:solidFill>
                <a:srgbClr val="00B0F0"/>
              </a:solidFill>
            </a:endParaRPr>
          </a:p>
        </p:txBody>
      </p:sp>
      <p:sp>
        <p:nvSpPr>
          <p:cNvPr id="37" name="TextBox 36">
            <a:extLst>
              <a:ext uri="{FF2B5EF4-FFF2-40B4-BE49-F238E27FC236}">
                <a16:creationId xmlns:a16="http://schemas.microsoft.com/office/drawing/2014/main" id="{ADB0644A-27C1-71BB-2113-09FACA32865D}"/>
              </a:ext>
            </a:extLst>
          </p:cNvPr>
          <p:cNvSpPr txBox="1"/>
          <p:nvPr/>
        </p:nvSpPr>
        <p:spPr>
          <a:xfrm>
            <a:off x="486088" y="5644732"/>
            <a:ext cx="2766354"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Synapse</a:t>
            </a:r>
            <a:endParaRPr lang="en-IN" dirty="0">
              <a:solidFill>
                <a:srgbClr val="FF0000"/>
              </a:solidFill>
            </a:endParaRPr>
          </a:p>
        </p:txBody>
      </p:sp>
      <p:cxnSp>
        <p:nvCxnSpPr>
          <p:cNvPr id="38" name="Straight Arrow Connector 37">
            <a:extLst>
              <a:ext uri="{FF2B5EF4-FFF2-40B4-BE49-F238E27FC236}">
                <a16:creationId xmlns:a16="http://schemas.microsoft.com/office/drawing/2014/main" id="{B9EB129E-69FF-32A7-8F76-915C60F03C50}"/>
              </a:ext>
            </a:extLst>
          </p:cNvPr>
          <p:cNvCxnSpPr>
            <a:cxnSpLocks/>
            <a:endCxn id="28" idx="8"/>
          </p:cNvCxnSpPr>
          <p:nvPr/>
        </p:nvCxnSpPr>
        <p:spPr>
          <a:xfrm flipV="1">
            <a:off x="2057488" y="4691584"/>
            <a:ext cx="1552477" cy="953148"/>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E5BE6D7-4AF8-4B96-C884-6A1AB681C300}"/>
              </a:ext>
            </a:extLst>
          </p:cNvPr>
          <p:cNvSpPr txBox="1"/>
          <p:nvPr/>
        </p:nvSpPr>
        <p:spPr>
          <a:xfrm>
            <a:off x="7425717" y="2169798"/>
            <a:ext cx="4642457" cy="2677656"/>
          </a:xfrm>
          <a:prstGeom prst="rect">
            <a:avLst/>
          </a:prstGeom>
          <a:no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Question:</a:t>
            </a:r>
          </a:p>
          <a:p>
            <a:pPr algn="just"/>
            <a:r>
              <a:rPr lang="en-US" sz="2400" b="1" dirty="0">
                <a:latin typeface="Times New Roman" panose="02020603050405020304" pitchFamily="18" charset="0"/>
                <a:cs typeface="Times New Roman" panose="02020603050405020304" pitchFamily="18" charset="0"/>
              </a:rPr>
              <a:t>What makes a Synapse stronger?</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solidFill>
                  <a:srgbClr val="00B0F0"/>
                </a:solidFill>
                <a:latin typeface="Times New Roman" panose="02020603050405020304" pitchFamily="18" charset="0"/>
                <a:cs typeface="Times New Roman" panose="02020603050405020304" pitchFamily="18" charset="0"/>
              </a:rPr>
              <a:t>Answer:</a:t>
            </a:r>
          </a:p>
          <a:p>
            <a:pPr algn="just"/>
            <a:r>
              <a:rPr lang="en-US" sz="2400" b="1" dirty="0">
                <a:solidFill>
                  <a:srgbClr val="C00000"/>
                </a:solidFill>
                <a:latin typeface="Times New Roman" panose="02020603050405020304" pitchFamily="18" charset="0"/>
                <a:cs typeface="Times New Roman" panose="02020603050405020304" pitchFamily="18" charset="0"/>
              </a:rPr>
              <a:t>Rapidly and repeatedly activating the synapses makes them stronger.</a:t>
            </a:r>
            <a:endParaRPr lang="en-IN" sz="2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90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CF89-80B1-578F-2ED1-65EB6177FC42}"/>
              </a:ext>
            </a:extLst>
          </p:cNvPr>
          <p:cNvSpPr>
            <a:spLocks noGrp="1"/>
          </p:cNvSpPr>
          <p:nvPr>
            <p:ph type="title"/>
          </p:nvPr>
        </p:nvSpPr>
        <p:spPr>
          <a:xfrm>
            <a:off x="2458279" y="176282"/>
            <a:ext cx="6096441" cy="648666"/>
          </a:xfrm>
        </p:spPr>
        <p:txBody>
          <a:bodyPr>
            <a:normAutofit fontScale="90000"/>
          </a:bodyPr>
          <a:lstStyle/>
          <a:p>
            <a:r>
              <a:rPr lang="en-IN" b="1" dirty="0">
                <a:latin typeface="Times New Roman" panose="02020603050405020304" pitchFamily="18" charset="0"/>
                <a:cs typeface="Times New Roman" panose="02020603050405020304" pitchFamily="18" charset="0"/>
              </a:rPr>
              <a:t>Biological Neural Network</a:t>
            </a:r>
          </a:p>
        </p:txBody>
      </p:sp>
      <p:sp>
        <p:nvSpPr>
          <p:cNvPr id="12" name="TextBox 11">
            <a:extLst>
              <a:ext uri="{FF2B5EF4-FFF2-40B4-BE49-F238E27FC236}">
                <a16:creationId xmlns:a16="http://schemas.microsoft.com/office/drawing/2014/main" id="{0F1CBAB2-F429-2B9F-5D9E-7E356897BB94}"/>
              </a:ext>
            </a:extLst>
          </p:cNvPr>
          <p:cNvSpPr txBox="1"/>
          <p:nvPr/>
        </p:nvSpPr>
        <p:spPr>
          <a:xfrm>
            <a:off x="1244143" y="1014989"/>
            <a:ext cx="8713219"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Node of Ranvier</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a periodic gap in the insulating </a:t>
            </a: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Myelin sheath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 the axon of a neurons </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4" name="Group 3">
            <a:extLst>
              <a:ext uri="{FF2B5EF4-FFF2-40B4-BE49-F238E27FC236}">
                <a16:creationId xmlns:a16="http://schemas.microsoft.com/office/drawing/2014/main" id="{09CAB955-0ACE-E4CE-DCE6-0EFD679AA675}"/>
              </a:ext>
            </a:extLst>
          </p:cNvPr>
          <p:cNvGrpSpPr/>
          <p:nvPr/>
        </p:nvGrpSpPr>
        <p:grpSpPr>
          <a:xfrm>
            <a:off x="475079" y="2867025"/>
            <a:ext cx="3966400" cy="2593574"/>
            <a:chOff x="2372827" y="2957852"/>
            <a:chExt cx="6013173" cy="3501238"/>
          </a:xfrm>
        </p:grpSpPr>
        <p:pic>
          <p:nvPicPr>
            <p:cNvPr id="5" name="Picture 4">
              <a:extLst>
                <a:ext uri="{FF2B5EF4-FFF2-40B4-BE49-F238E27FC236}">
                  <a16:creationId xmlns:a16="http://schemas.microsoft.com/office/drawing/2014/main" id="{05B663BF-BD6A-0517-4315-D6A6B5CF386F}"/>
                </a:ext>
              </a:extLst>
            </p:cNvPr>
            <p:cNvPicPr>
              <a:picLocks noChangeAspect="1"/>
            </p:cNvPicPr>
            <p:nvPr/>
          </p:nvPicPr>
          <p:blipFill>
            <a:blip r:embed="rId3"/>
            <a:stretch>
              <a:fillRect/>
            </a:stretch>
          </p:blipFill>
          <p:spPr>
            <a:xfrm>
              <a:off x="6648535" y="3670139"/>
              <a:ext cx="1502533" cy="2076665"/>
            </a:xfrm>
            <a:prstGeom prst="rect">
              <a:avLst/>
            </a:prstGeom>
          </p:spPr>
        </p:pic>
        <p:pic>
          <p:nvPicPr>
            <p:cNvPr id="6" name="Picture 5">
              <a:extLst>
                <a:ext uri="{FF2B5EF4-FFF2-40B4-BE49-F238E27FC236}">
                  <a16:creationId xmlns:a16="http://schemas.microsoft.com/office/drawing/2014/main" id="{EEFB8B81-177E-0F9B-4F99-38E9954D2DA2}"/>
                </a:ext>
              </a:extLst>
            </p:cNvPr>
            <p:cNvPicPr>
              <a:picLocks noChangeAspect="1"/>
            </p:cNvPicPr>
            <p:nvPr/>
          </p:nvPicPr>
          <p:blipFill>
            <a:blip r:embed="rId4"/>
            <a:stretch>
              <a:fillRect/>
            </a:stretch>
          </p:blipFill>
          <p:spPr>
            <a:xfrm>
              <a:off x="2498317" y="3573109"/>
              <a:ext cx="4320914" cy="2415749"/>
            </a:xfrm>
            <a:prstGeom prst="rect">
              <a:avLst/>
            </a:prstGeom>
          </p:spPr>
        </p:pic>
        <p:sp>
          <p:nvSpPr>
            <p:cNvPr id="11" name="Oval 10">
              <a:extLst>
                <a:ext uri="{FF2B5EF4-FFF2-40B4-BE49-F238E27FC236}">
                  <a16:creationId xmlns:a16="http://schemas.microsoft.com/office/drawing/2014/main" id="{13E1594E-E4BD-93D4-0E24-2B30C3BCFFED}"/>
                </a:ext>
              </a:extLst>
            </p:cNvPr>
            <p:cNvSpPr/>
            <p:nvPr/>
          </p:nvSpPr>
          <p:spPr>
            <a:xfrm>
              <a:off x="2372827" y="2957852"/>
              <a:ext cx="6013173" cy="3501238"/>
            </a:xfrm>
            <a:prstGeom prst="ellipse">
              <a:avLst/>
            </a:prstGeom>
            <a:solidFill>
              <a:schemeClr val="accent4">
                <a:lumMod val="20000"/>
                <a:lumOff val="80000"/>
                <a:alpha val="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 name="TextBox 12">
            <a:extLst>
              <a:ext uri="{FF2B5EF4-FFF2-40B4-BE49-F238E27FC236}">
                <a16:creationId xmlns:a16="http://schemas.microsoft.com/office/drawing/2014/main" id="{AAD872B0-4A59-9F20-0E0A-5176FF65B8EA}"/>
              </a:ext>
            </a:extLst>
          </p:cNvPr>
          <p:cNvSpPr txBox="1"/>
          <p:nvPr/>
        </p:nvSpPr>
        <p:spPr>
          <a:xfrm>
            <a:off x="1024610" y="6178363"/>
            <a:ext cx="2766354"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Node of Ranvier</a:t>
            </a:r>
            <a:endParaRPr lang="en-IN" dirty="0">
              <a:solidFill>
                <a:srgbClr val="FF0000"/>
              </a:solidFill>
            </a:endParaRPr>
          </a:p>
        </p:txBody>
      </p:sp>
      <p:cxnSp>
        <p:nvCxnSpPr>
          <p:cNvPr id="15" name="Straight Arrow Connector 14">
            <a:extLst>
              <a:ext uri="{FF2B5EF4-FFF2-40B4-BE49-F238E27FC236}">
                <a16:creationId xmlns:a16="http://schemas.microsoft.com/office/drawing/2014/main" id="{119B1069-07FF-C06E-1786-0C0EA2670D2B}"/>
              </a:ext>
            </a:extLst>
          </p:cNvPr>
          <p:cNvCxnSpPr>
            <a:cxnSpLocks/>
            <a:stCxn id="13" idx="0"/>
          </p:cNvCxnSpPr>
          <p:nvPr/>
        </p:nvCxnSpPr>
        <p:spPr>
          <a:xfrm flipV="1">
            <a:off x="2407787" y="4217526"/>
            <a:ext cx="125863" cy="1960837"/>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A00CC7C-C7CD-9256-EA3A-13ED0A10B7C1}"/>
              </a:ext>
            </a:extLst>
          </p:cNvPr>
          <p:cNvCxnSpPr>
            <a:cxnSpLocks/>
            <a:stCxn id="13" idx="0"/>
          </p:cNvCxnSpPr>
          <p:nvPr/>
        </p:nvCxnSpPr>
        <p:spPr>
          <a:xfrm flipV="1">
            <a:off x="2407787" y="4262496"/>
            <a:ext cx="383715" cy="1915867"/>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CFFA82B-7C08-4798-C814-D0FA254CC29E}"/>
              </a:ext>
            </a:extLst>
          </p:cNvPr>
          <p:cNvCxnSpPr>
            <a:cxnSpLocks/>
          </p:cNvCxnSpPr>
          <p:nvPr/>
        </p:nvCxnSpPr>
        <p:spPr>
          <a:xfrm flipH="1">
            <a:off x="2128961" y="2462380"/>
            <a:ext cx="2332908" cy="1491329"/>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133FC3A-FD24-14E0-5774-882CB997AD89}"/>
              </a:ext>
            </a:extLst>
          </p:cNvPr>
          <p:cNvCxnSpPr>
            <a:cxnSpLocks/>
          </p:cNvCxnSpPr>
          <p:nvPr/>
        </p:nvCxnSpPr>
        <p:spPr>
          <a:xfrm flipH="1">
            <a:off x="2470718" y="2462380"/>
            <a:ext cx="1970761" cy="1547871"/>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BD9F1C5-42FC-DC45-278B-6433091AA741}"/>
              </a:ext>
            </a:extLst>
          </p:cNvPr>
          <p:cNvSpPr txBox="1"/>
          <p:nvPr/>
        </p:nvSpPr>
        <p:spPr>
          <a:xfrm>
            <a:off x="3196310" y="1967731"/>
            <a:ext cx="2766354"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Myelin Sheath</a:t>
            </a:r>
            <a:endParaRPr lang="en-IN" dirty="0">
              <a:solidFill>
                <a:srgbClr val="FF0000"/>
              </a:solidFill>
            </a:endParaRPr>
          </a:p>
        </p:txBody>
      </p:sp>
      <p:sp>
        <p:nvSpPr>
          <p:cNvPr id="30" name="TextBox 29">
            <a:extLst>
              <a:ext uri="{FF2B5EF4-FFF2-40B4-BE49-F238E27FC236}">
                <a16:creationId xmlns:a16="http://schemas.microsoft.com/office/drawing/2014/main" id="{C0BAB992-D2C3-3DB9-2E53-13B36B22E826}"/>
              </a:ext>
            </a:extLst>
          </p:cNvPr>
          <p:cNvSpPr txBox="1"/>
          <p:nvPr/>
        </p:nvSpPr>
        <p:spPr>
          <a:xfrm>
            <a:off x="5320873" y="2998387"/>
            <a:ext cx="6096000" cy="1200329"/>
          </a:xfrm>
          <a:prstGeom prst="rect">
            <a:avLst/>
          </a:prstGeom>
          <a:noFill/>
        </p:spPr>
        <p:txBody>
          <a:bodyPr wrap="square">
            <a:spAutoFit/>
          </a:bodyPr>
          <a:lstStyle>
            <a:defPPr>
              <a:defRPr lang="en-US"/>
            </a:defPPr>
            <a:lvl1pPr algn="just">
              <a:defRPr/>
            </a:lvl1pPr>
          </a:lstStyle>
          <a:p>
            <a:r>
              <a:rPr lang="en-US" sz="2400" b="1" dirty="0">
                <a:solidFill>
                  <a:prstClr val="black"/>
                </a:solidFill>
                <a:highlight>
                  <a:srgbClr val="FFFF00"/>
                </a:highlight>
                <a:latin typeface="Times New Roman" panose="02020603050405020304" pitchFamily="18" charset="0"/>
                <a:cs typeface="Times New Roman" panose="02020603050405020304" pitchFamily="18" charset="0"/>
              </a:rPr>
              <a:t>Myelin Sheath </a:t>
            </a:r>
            <a:r>
              <a:rPr lang="en-US" sz="2400" b="1" dirty="0">
                <a:solidFill>
                  <a:prstClr val="black"/>
                </a:solidFill>
                <a:latin typeface="Times New Roman" panose="02020603050405020304" pitchFamily="18" charset="0"/>
                <a:cs typeface="Times New Roman" panose="02020603050405020304" pitchFamily="18" charset="0"/>
              </a:rPr>
              <a:t>- It allows the electrical impulses to travel quickly and efficiently between one nerve cell and the next.</a:t>
            </a:r>
            <a:endParaRPr lang="en-IN" sz="2400" b="1" dirty="0">
              <a:solidFill>
                <a:prstClr val="black"/>
              </a:solidFill>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398E9060-C23F-BF3C-8901-8D8403D22AE8}"/>
              </a:ext>
            </a:extLst>
          </p:cNvPr>
          <p:cNvSpPr txBox="1"/>
          <p:nvPr/>
        </p:nvSpPr>
        <p:spPr>
          <a:xfrm>
            <a:off x="5320873" y="4413114"/>
            <a:ext cx="6096000" cy="1569660"/>
          </a:xfrm>
          <a:prstGeom prst="rect">
            <a:avLst/>
          </a:prstGeom>
          <a:noFill/>
        </p:spPr>
        <p:txBody>
          <a:bodyPr wrap="square">
            <a:spAutoFit/>
          </a:bodyPr>
          <a:lstStyle/>
          <a:p>
            <a:pPr algn="just"/>
            <a:r>
              <a:rPr lang="en-US" sz="2400" b="1" dirty="0">
                <a:solidFill>
                  <a:prstClr val="black"/>
                </a:solidFill>
                <a:latin typeface="Times New Roman" panose="02020603050405020304" pitchFamily="18" charset="0"/>
                <a:cs typeface="Times New Roman" panose="02020603050405020304" pitchFamily="18" charset="0"/>
              </a:rPr>
              <a:t>Due to the </a:t>
            </a:r>
            <a:r>
              <a:rPr lang="en-US" sz="2400" b="1" dirty="0">
                <a:solidFill>
                  <a:prstClr val="black"/>
                </a:solidFill>
                <a:highlight>
                  <a:srgbClr val="00FFFF"/>
                </a:highlight>
                <a:latin typeface="Times New Roman" panose="02020603050405020304" pitchFamily="18" charset="0"/>
                <a:cs typeface="Times New Roman" panose="02020603050405020304" pitchFamily="18" charset="0"/>
              </a:rPr>
              <a:t>Node of Ranvier </a:t>
            </a:r>
            <a:r>
              <a:rPr lang="en-US" sz="2400" b="1" dirty="0">
                <a:solidFill>
                  <a:prstClr val="black"/>
                </a:solidFill>
                <a:latin typeface="Times New Roman" panose="02020603050405020304" pitchFamily="18" charset="0"/>
                <a:cs typeface="Times New Roman" panose="02020603050405020304" pitchFamily="18" charset="0"/>
              </a:rPr>
              <a:t>– the action potential signal leaps from node to node across the axon instead of smoothly passing through the axon.</a:t>
            </a:r>
            <a:endParaRPr lang="en-IN" sz="24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789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064E7-30C8-A4D1-E7F1-0B91E650D0CE}"/>
              </a:ext>
            </a:extLst>
          </p:cNvPr>
          <p:cNvSpPr>
            <a:spLocks noGrp="1"/>
          </p:cNvSpPr>
          <p:nvPr>
            <p:ph idx="1"/>
          </p:nvPr>
        </p:nvSpPr>
        <p:spPr>
          <a:xfrm>
            <a:off x="838200" y="626165"/>
            <a:ext cx="10515600" cy="5550798"/>
          </a:xfrm>
        </p:spPr>
        <p:txBody>
          <a:bodyPr/>
          <a:lstStyle/>
          <a:p>
            <a:r>
              <a:rPr lang="en-IN" dirty="0"/>
              <a:t>02 types of Neurons:</a:t>
            </a:r>
          </a:p>
          <a:p>
            <a:pPr lvl="1"/>
            <a:r>
              <a:rPr lang="en-IN" sz="2800" b="1" dirty="0"/>
              <a:t>a. Sensory Neurons. </a:t>
            </a:r>
          </a:p>
          <a:p>
            <a:pPr lvl="1"/>
            <a:r>
              <a:rPr lang="en-IN" sz="2800" b="1" dirty="0"/>
              <a:t>b. Motor Neurons.</a:t>
            </a:r>
          </a:p>
          <a:p>
            <a:endParaRPr lang="en-IN" dirty="0"/>
          </a:p>
          <a:p>
            <a:r>
              <a:rPr lang="en-IN" dirty="0"/>
              <a:t>Important functions of a neuron:</a:t>
            </a:r>
          </a:p>
          <a:p>
            <a:pPr lvl="1"/>
            <a:r>
              <a:rPr lang="en-IN" sz="2800" dirty="0"/>
              <a:t>A</a:t>
            </a:r>
            <a:r>
              <a:rPr lang="en-IN" sz="2800" dirty="0">
                <a:solidFill>
                  <a:srgbClr val="00B050"/>
                </a:solidFill>
              </a:rPr>
              <a:t>. Chemical Synapse </a:t>
            </a:r>
          </a:p>
          <a:p>
            <a:pPr lvl="2"/>
            <a:r>
              <a:rPr lang="en-IN" sz="2800" dirty="0"/>
              <a:t>Neurotransmitters transfer nerve signal through chemical synapse</a:t>
            </a:r>
          </a:p>
          <a:p>
            <a:endParaRPr lang="en-IN" dirty="0"/>
          </a:p>
          <a:p>
            <a:pPr lvl="1"/>
            <a:r>
              <a:rPr lang="en-IN" sz="2800" dirty="0"/>
              <a:t>B. </a:t>
            </a:r>
            <a:r>
              <a:rPr lang="en-IN" sz="2800" dirty="0">
                <a:solidFill>
                  <a:srgbClr val="FF0000"/>
                </a:solidFill>
              </a:rPr>
              <a:t>Electrical Synapse</a:t>
            </a:r>
          </a:p>
          <a:p>
            <a:pPr lvl="2"/>
            <a:r>
              <a:rPr lang="en-IN" sz="2800" dirty="0"/>
              <a:t>When 2 neurons are connected by “gap junction”, it results in an electrical synapse. These gaps include ions.</a:t>
            </a:r>
          </a:p>
          <a:p>
            <a:endParaRPr lang="en-IN" dirty="0"/>
          </a:p>
          <a:p>
            <a:endParaRPr lang="en-IN" dirty="0"/>
          </a:p>
        </p:txBody>
      </p:sp>
    </p:spTree>
    <p:extLst>
      <p:ext uri="{BB962C8B-B14F-4D97-AF65-F5344CB8AC3E}">
        <p14:creationId xmlns:p14="http://schemas.microsoft.com/office/powerpoint/2010/main" val="218218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1D2D-705F-A5AF-EB66-9C6C41EBE54A}"/>
              </a:ext>
            </a:extLst>
          </p:cNvPr>
          <p:cNvSpPr>
            <a:spLocks noGrp="1"/>
          </p:cNvSpPr>
          <p:nvPr>
            <p:ph type="title"/>
          </p:nvPr>
        </p:nvSpPr>
        <p:spPr/>
        <p:txBody>
          <a:bodyPr/>
          <a:lstStyle/>
          <a:p>
            <a:pPr algn="ctr"/>
            <a:r>
              <a:rPr lang="en-IN" dirty="0">
                <a:solidFill>
                  <a:srgbClr val="FF0000"/>
                </a:solidFill>
              </a:rPr>
              <a:t>Why is brain a “massively parallel feedback” dynamical system?</a:t>
            </a:r>
          </a:p>
        </p:txBody>
      </p:sp>
      <p:sp>
        <p:nvSpPr>
          <p:cNvPr id="3" name="Content Placeholder 2">
            <a:extLst>
              <a:ext uri="{FF2B5EF4-FFF2-40B4-BE49-F238E27FC236}">
                <a16:creationId xmlns:a16="http://schemas.microsoft.com/office/drawing/2014/main" id="{CBCD814A-56E7-5D4B-F808-C26985A7BCC4}"/>
              </a:ext>
            </a:extLst>
          </p:cNvPr>
          <p:cNvSpPr>
            <a:spLocks noGrp="1"/>
          </p:cNvSpPr>
          <p:nvPr>
            <p:ph idx="1"/>
          </p:nvPr>
        </p:nvSpPr>
        <p:spPr/>
        <p:txBody>
          <a:bodyPr>
            <a:normAutofit/>
          </a:bodyPr>
          <a:lstStyle/>
          <a:p>
            <a:r>
              <a:rPr lang="en-IN" sz="4400" dirty="0">
                <a:solidFill>
                  <a:srgbClr val="00B050"/>
                </a:solidFill>
              </a:rPr>
              <a:t>Non-linear</a:t>
            </a:r>
          </a:p>
          <a:p>
            <a:endParaRPr lang="en-IN" sz="4400" dirty="0">
              <a:solidFill>
                <a:srgbClr val="00B050"/>
              </a:solidFill>
            </a:endParaRPr>
          </a:p>
          <a:p>
            <a:r>
              <a:rPr lang="en-IN" sz="4400" dirty="0">
                <a:solidFill>
                  <a:srgbClr val="00B050"/>
                </a:solidFill>
              </a:rPr>
              <a:t>Non-local</a:t>
            </a:r>
          </a:p>
          <a:p>
            <a:endParaRPr lang="en-IN" sz="4400" dirty="0">
              <a:solidFill>
                <a:srgbClr val="00B050"/>
              </a:solidFill>
            </a:endParaRPr>
          </a:p>
          <a:p>
            <a:r>
              <a:rPr lang="en-IN" sz="4400" dirty="0">
                <a:solidFill>
                  <a:srgbClr val="00B050"/>
                </a:solidFill>
              </a:rPr>
              <a:t>Non-stationary</a:t>
            </a:r>
          </a:p>
        </p:txBody>
      </p:sp>
    </p:spTree>
    <p:extLst>
      <p:ext uri="{BB962C8B-B14F-4D97-AF65-F5344CB8AC3E}">
        <p14:creationId xmlns:p14="http://schemas.microsoft.com/office/powerpoint/2010/main" val="132005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780</Words>
  <Application>Microsoft Office PowerPoint</Application>
  <PresentationFormat>Widescreen</PresentationFormat>
  <Paragraphs>109</Paragraphs>
  <Slides>15</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Unit - 1</vt:lpstr>
      <vt:lpstr>What is a Neural Network?</vt:lpstr>
      <vt:lpstr>PowerPoint Presentation</vt:lpstr>
      <vt:lpstr>Biological Neural Network</vt:lpstr>
      <vt:lpstr>Biological Neural Network</vt:lpstr>
      <vt:lpstr>Biological Neural Network</vt:lpstr>
      <vt:lpstr>Biological Neural Network</vt:lpstr>
      <vt:lpstr>Biological Neural Network</vt:lpstr>
      <vt:lpstr>Biological Neural Network</vt:lpstr>
      <vt:lpstr>Biological Neural Network</vt:lpstr>
      <vt:lpstr>Biological Neural Network</vt:lpstr>
      <vt:lpstr>Biological Neural Network</vt:lpstr>
      <vt:lpstr>Biological Neural Network</vt:lpstr>
      <vt:lpstr>PowerPoint Presentation</vt:lpstr>
      <vt:lpstr>Why is brain a “massively parallel feedback” dynamical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cp:revision>
  <dcterms:created xsi:type="dcterms:W3CDTF">2024-05-25T09:18:09Z</dcterms:created>
  <dcterms:modified xsi:type="dcterms:W3CDTF">2024-09-25T05:34:04Z</dcterms:modified>
</cp:coreProperties>
</file>