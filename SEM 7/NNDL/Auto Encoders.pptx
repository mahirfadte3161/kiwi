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0" r:id="rId6"/>
    <p:sldId id="263" r:id="rId7"/>
    <p:sldId id="261" r:id="rId8"/>
    <p:sldId id="264" r:id="rId9"/>
    <p:sldId id="265" r:id="rId10"/>
    <p:sldId id="266" r:id="rId11"/>
    <p:sldId id="267" r:id="rId12"/>
    <p:sldId id="268" r:id="rId13"/>
    <p:sldId id="269" r:id="rId14"/>
    <p:sldId id="270" r:id="rId15"/>
    <p:sldId id="276" r:id="rId16"/>
    <p:sldId id="272" r:id="rId17"/>
    <p:sldId id="274" r:id="rId18"/>
    <p:sldId id="271" r:id="rId19"/>
    <p:sldId id="275" r:id="rId20"/>
    <p:sldId id="273" r:id="rId21"/>
    <p:sldId id="277" r:id="rId22"/>
    <p:sldId id="279" r:id="rId23"/>
    <p:sldId id="280" r:id="rId24"/>
    <p:sldId id="281" r:id="rId25"/>
    <p:sldId id="282" r:id="rId26"/>
    <p:sldId id="283" r:id="rId27"/>
    <p:sldId id="284" r:id="rId28"/>
    <p:sldId id="285" r:id="rId29"/>
    <p:sldId id="287" r:id="rId30"/>
    <p:sldId id="286" r:id="rId31"/>
    <p:sldId id="293" r:id="rId32"/>
    <p:sldId id="294" r:id="rId33"/>
    <p:sldId id="288" r:id="rId34"/>
    <p:sldId id="295" r:id="rId35"/>
    <p:sldId id="296" r:id="rId36"/>
    <p:sldId id="289" r:id="rId37"/>
    <p:sldId id="290" r:id="rId38"/>
    <p:sldId id="297" r:id="rId39"/>
    <p:sldId id="298" r:id="rId40"/>
    <p:sldId id="291" r:id="rId41"/>
    <p:sldId id="299" r:id="rId42"/>
    <p:sldId id="301" r:id="rId43"/>
    <p:sldId id="302" r:id="rId44"/>
    <p:sldId id="300" r:id="rId45"/>
    <p:sldId id="304" r:id="rId46"/>
    <p:sldId id="303" r:id="rId47"/>
    <p:sldId id="306" r:id="rId48"/>
    <p:sldId id="30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A3215-2A7D-25B3-222A-7ED81300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130382-5F8F-AB62-02FB-583952B419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1406EC5-11A5-FF69-B64F-A1B5E3E7CF15}"/>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5" name="Footer Placeholder 4">
            <a:extLst>
              <a:ext uri="{FF2B5EF4-FFF2-40B4-BE49-F238E27FC236}">
                <a16:creationId xmlns:a16="http://schemas.microsoft.com/office/drawing/2014/main" id="{99935774-4D64-53B9-8354-A806FB18F5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5387DA-575A-2BFD-B1F7-AD01A14FF0E9}"/>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752670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7BC67-51CB-0C85-53C4-9281A696E0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EE03A3-C817-FCCA-3FBE-668A12DCB3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F7A9EA-536A-711E-33BC-75CF72FB1788}"/>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5" name="Footer Placeholder 4">
            <a:extLst>
              <a:ext uri="{FF2B5EF4-FFF2-40B4-BE49-F238E27FC236}">
                <a16:creationId xmlns:a16="http://schemas.microsoft.com/office/drawing/2014/main" id="{D9CF256E-E326-5CCA-E12F-BDB31436F9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5CA074-9A27-353B-D075-D0AD6113AED2}"/>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34910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E4129-AAFD-6707-04C2-4BDE8E2242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FFB25A-0AF3-046A-11B9-B5A32BD94B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9C16AF-922C-D25C-7BD0-0424956F3E29}"/>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5" name="Footer Placeholder 4">
            <a:extLst>
              <a:ext uri="{FF2B5EF4-FFF2-40B4-BE49-F238E27FC236}">
                <a16:creationId xmlns:a16="http://schemas.microsoft.com/office/drawing/2014/main" id="{F243A7D6-05EC-7539-F045-B7EA6CB89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22896-0DCB-AABE-6EB8-271A1FF3E2C5}"/>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799356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69F91-0974-494F-1A8F-809CD9F05F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3EB583-12EB-3E86-BE89-6B40349EFD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512AB7-6DFD-3DE8-2A85-65BAF2EC7B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E9E5C8-5554-5934-E0AE-A278E8338FCF}"/>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6" name="Footer Placeholder 5">
            <a:extLst>
              <a:ext uri="{FF2B5EF4-FFF2-40B4-BE49-F238E27FC236}">
                <a16:creationId xmlns:a16="http://schemas.microsoft.com/office/drawing/2014/main" id="{2E655F7B-222F-C744-E7AA-1722685976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6325D8-E970-CD99-EBE0-299F590F09C0}"/>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4269205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C2BD0-48A4-06E4-8323-C7AC83E67E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5E8288-275A-657E-1A01-D3A5803F4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23A076-EFAD-14B0-E8AF-D5C2141929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3A2527-8B7F-4F56-0B26-2AD0ECB255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1ED512-4555-F4C6-FECE-65F2768B5B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CEF87FD-E605-AA7E-75D9-4E3C8A260EC2}"/>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8" name="Footer Placeholder 7">
            <a:extLst>
              <a:ext uri="{FF2B5EF4-FFF2-40B4-BE49-F238E27FC236}">
                <a16:creationId xmlns:a16="http://schemas.microsoft.com/office/drawing/2014/main" id="{08A70084-C17A-E2A5-881B-54BB74715D2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17C93B-71B8-93D7-5213-16C6D7B56E6A}"/>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1424997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A6985-635A-D076-01B0-5B75DCE8E8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1373DD-E07B-5D9D-0FAC-299A3198B487}"/>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4" name="Footer Placeholder 3">
            <a:extLst>
              <a:ext uri="{FF2B5EF4-FFF2-40B4-BE49-F238E27FC236}">
                <a16:creationId xmlns:a16="http://schemas.microsoft.com/office/drawing/2014/main" id="{A8215270-93B3-3260-52BA-CA763D81B2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3B585A-3DB5-E94C-9257-CD6A6DCF5145}"/>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344108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C416B5-9496-F46C-A2AE-17F91B53056B}"/>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3" name="Footer Placeholder 2">
            <a:extLst>
              <a:ext uri="{FF2B5EF4-FFF2-40B4-BE49-F238E27FC236}">
                <a16:creationId xmlns:a16="http://schemas.microsoft.com/office/drawing/2014/main" id="{0DB8D284-2A0A-01C5-68ED-E46A26072C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B583EF8-7C9F-B837-FE70-6B4AE829088E}"/>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3501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A5EFA-8A5A-C4EB-BF0F-70992C81DD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AD62F6-E78A-CD1A-BB64-3A75DFA4AF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CCA4B3-3AF0-0D6A-574F-BC5379DA3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4B70A2-3DE1-5567-A95D-3BCE105BA0A1}"/>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6" name="Footer Placeholder 5">
            <a:extLst>
              <a:ext uri="{FF2B5EF4-FFF2-40B4-BE49-F238E27FC236}">
                <a16:creationId xmlns:a16="http://schemas.microsoft.com/office/drawing/2014/main" id="{9A152237-4889-5382-0CFB-E6F16636B0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A4827B-91A1-115A-8FA7-B46F86E4D54D}"/>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3725379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79FD-F56A-F575-2BF6-8360011B64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96AFAC-5253-AC66-2A3E-D1468EB61E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17F048-FDE0-9194-4524-1B499F8323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16728D-AA58-07F1-4788-AA271D596D78}"/>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6" name="Footer Placeholder 5">
            <a:extLst>
              <a:ext uri="{FF2B5EF4-FFF2-40B4-BE49-F238E27FC236}">
                <a16:creationId xmlns:a16="http://schemas.microsoft.com/office/drawing/2014/main" id="{9512AEB1-508A-F2E2-F736-57B61EABF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00588F-AFB0-3608-7BF0-2CAA24DB21BF}"/>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3958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3F683-3958-9502-2BCE-F4C43DD463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17FBC7-E842-DE4F-A7F6-8005DC1EAA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FABDD1-806C-9BBD-61A0-1AD47C412035}"/>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5" name="Footer Placeholder 4">
            <a:extLst>
              <a:ext uri="{FF2B5EF4-FFF2-40B4-BE49-F238E27FC236}">
                <a16:creationId xmlns:a16="http://schemas.microsoft.com/office/drawing/2014/main" id="{450FC15F-0968-13E8-258B-0726EA7B4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B01C3F-65AB-C3CA-C243-C98F8F5D6D8F}"/>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649835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6B688E-E2C6-0160-3273-F979176735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54A30E-F956-0536-D5F3-BFAE400969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72EE5-7EC9-28E6-69C9-866A6BB26F1E}"/>
              </a:ext>
            </a:extLst>
          </p:cNvPr>
          <p:cNvSpPr>
            <a:spLocks noGrp="1"/>
          </p:cNvSpPr>
          <p:nvPr>
            <p:ph type="dt" sz="half" idx="10"/>
          </p:nvPr>
        </p:nvSpPr>
        <p:spPr/>
        <p:txBody>
          <a:bodyPr/>
          <a:lstStyle/>
          <a:p>
            <a:fld id="{71BDBDC9-EB19-4B42-8FEC-2BD9CCCB4CD5}" type="datetimeFigureOut">
              <a:rPr lang="en-IN" smtClean="0"/>
              <a:t>18-10-2024</a:t>
            </a:fld>
            <a:endParaRPr lang="en-IN"/>
          </a:p>
        </p:txBody>
      </p:sp>
      <p:sp>
        <p:nvSpPr>
          <p:cNvPr id="5" name="Footer Placeholder 4">
            <a:extLst>
              <a:ext uri="{FF2B5EF4-FFF2-40B4-BE49-F238E27FC236}">
                <a16:creationId xmlns:a16="http://schemas.microsoft.com/office/drawing/2014/main" id="{919D18C6-B360-1E9B-27A5-7C8D02B693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A7D1AC-8D08-1CBB-0724-1986F470474C}"/>
              </a:ext>
            </a:extLst>
          </p:cNvPr>
          <p:cNvSpPr>
            <a:spLocks noGrp="1"/>
          </p:cNvSpPr>
          <p:nvPr>
            <p:ph type="sldNum" sz="quarter" idx="12"/>
          </p:nvPr>
        </p:nvSpPr>
        <p:spPr/>
        <p:txBody>
          <a:bodyPr/>
          <a:lstStyle/>
          <a:p>
            <a:fld id="{AC4FEEE1-E41C-4230-9B9A-0E06F4B5908A}" type="slidenum">
              <a:rPr lang="en-IN" smtClean="0"/>
              <a:t>‹#›</a:t>
            </a:fld>
            <a:endParaRPr lang="en-IN"/>
          </a:p>
        </p:txBody>
      </p:sp>
    </p:spTree>
    <p:extLst>
      <p:ext uri="{BB962C8B-B14F-4D97-AF65-F5344CB8AC3E}">
        <p14:creationId xmlns:p14="http://schemas.microsoft.com/office/powerpoint/2010/main" val="2115508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260C9-72E0-AA57-B1C2-36CF478005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696C26-AE1C-B9C4-BDE9-D19FB63391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D9C0F1-1AB8-61E0-69CC-01E50BD48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DBDC9-EB19-4B42-8FEC-2BD9CCCB4CD5}" type="datetimeFigureOut">
              <a:rPr lang="en-IN" smtClean="0"/>
              <a:t>18-10-2024</a:t>
            </a:fld>
            <a:endParaRPr lang="en-IN"/>
          </a:p>
        </p:txBody>
      </p:sp>
      <p:sp>
        <p:nvSpPr>
          <p:cNvPr id="5" name="Footer Placeholder 4">
            <a:extLst>
              <a:ext uri="{FF2B5EF4-FFF2-40B4-BE49-F238E27FC236}">
                <a16:creationId xmlns:a16="http://schemas.microsoft.com/office/drawing/2014/main" id="{17C9BF89-2AC1-7594-037F-7A86B13AEC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3BFC41C-2875-C262-B803-2582501434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4FEEE1-E41C-4230-9B9A-0E06F4B5908A}" type="slidenum">
              <a:rPr lang="en-IN" smtClean="0"/>
              <a:t>‹#›</a:t>
            </a:fld>
            <a:endParaRPr lang="en-IN"/>
          </a:p>
        </p:txBody>
      </p:sp>
    </p:spTree>
    <p:extLst>
      <p:ext uri="{BB962C8B-B14F-4D97-AF65-F5344CB8AC3E}">
        <p14:creationId xmlns:p14="http://schemas.microsoft.com/office/powerpoint/2010/main" val="302801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D2D4B-D030-689B-2463-9ED14BA3BB64}"/>
              </a:ext>
            </a:extLst>
          </p:cNvPr>
          <p:cNvSpPr>
            <a:spLocks noGrp="1"/>
          </p:cNvSpPr>
          <p:nvPr>
            <p:ph type="ctrTitle"/>
          </p:nvPr>
        </p:nvSpPr>
        <p:spPr/>
        <p:txBody>
          <a:bodyPr/>
          <a:lstStyle/>
          <a:p>
            <a:r>
              <a:rPr lang="en-IN" dirty="0"/>
              <a:t>Autoencoders</a:t>
            </a:r>
          </a:p>
        </p:txBody>
      </p:sp>
      <p:sp>
        <p:nvSpPr>
          <p:cNvPr id="3" name="Subtitle 2">
            <a:extLst>
              <a:ext uri="{FF2B5EF4-FFF2-40B4-BE49-F238E27FC236}">
                <a16:creationId xmlns:a16="http://schemas.microsoft.com/office/drawing/2014/main" id="{122B0730-2DF1-7042-E6B0-A06A409D60B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10183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B366B-1567-BC5E-ADB8-FFFDC40EAD9B}"/>
              </a:ext>
            </a:extLst>
          </p:cNvPr>
          <p:cNvSpPr>
            <a:spLocks noGrp="1"/>
          </p:cNvSpPr>
          <p:nvPr>
            <p:ph type="title"/>
          </p:nvPr>
        </p:nvSpPr>
        <p:spPr/>
        <p:txBody>
          <a:bodyPr/>
          <a:lstStyle/>
          <a:p>
            <a:pPr algn="ctr"/>
            <a:r>
              <a:rPr lang="en-IN" dirty="0"/>
              <a:t>What is an Autoencoder?</a:t>
            </a:r>
          </a:p>
        </p:txBody>
      </p:sp>
      <p:sp>
        <p:nvSpPr>
          <p:cNvPr id="3" name="Content Placeholder 2">
            <a:extLst>
              <a:ext uri="{FF2B5EF4-FFF2-40B4-BE49-F238E27FC236}">
                <a16:creationId xmlns:a16="http://schemas.microsoft.com/office/drawing/2014/main" id="{D8AA535F-4447-29D7-ABF3-E969730483DB}"/>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An autoencoder is a type of neural network designed to learn an efficient, </a:t>
            </a:r>
            <a:r>
              <a:rPr lang="en-US" sz="3200" b="1" dirty="0">
                <a:solidFill>
                  <a:srgbClr val="0070C0"/>
                </a:solidFill>
                <a:latin typeface="Times New Roman" panose="02020603050405020304" pitchFamily="18" charset="0"/>
                <a:cs typeface="Times New Roman" panose="02020603050405020304" pitchFamily="18" charset="0"/>
              </a:rPr>
              <a:t>compressed representation </a:t>
            </a:r>
            <a:r>
              <a:rPr lang="en-US" sz="3200" dirty="0">
                <a:latin typeface="Times New Roman" panose="02020603050405020304" pitchFamily="18" charset="0"/>
                <a:cs typeface="Times New Roman" panose="02020603050405020304" pitchFamily="18" charset="0"/>
              </a:rPr>
              <a:t>of input data in an </a:t>
            </a:r>
            <a:r>
              <a:rPr lang="en-US" sz="3200" b="1" dirty="0">
                <a:solidFill>
                  <a:srgbClr val="0070C0"/>
                </a:solidFill>
                <a:latin typeface="Times New Roman" panose="02020603050405020304" pitchFamily="18" charset="0"/>
                <a:cs typeface="Times New Roman" panose="02020603050405020304" pitchFamily="18" charset="0"/>
              </a:rPr>
              <a:t>unsupervised</a:t>
            </a:r>
            <a:r>
              <a:rPr lang="en-US" sz="3200" dirty="0">
                <a:latin typeface="Times New Roman" panose="02020603050405020304" pitchFamily="18" charset="0"/>
                <a:cs typeface="Times New Roman" panose="02020603050405020304" pitchFamily="18" charset="0"/>
              </a:rPr>
              <a:t> way.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It consists of two main parts:</a:t>
            </a:r>
          </a:p>
          <a:p>
            <a:pPr lvl="1" algn="just"/>
            <a:r>
              <a:rPr lang="en-US" sz="2800" b="1" dirty="0">
                <a:solidFill>
                  <a:srgbClr val="FF0000"/>
                </a:solidFill>
                <a:latin typeface="Times New Roman" panose="02020603050405020304" pitchFamily="18" charset="0"/>
                <a:cs typeface="Times New Roman" panose="02020603050405020304" pitchFamily="18" charset="0"/>
              </a:rPr>
              <a:t>Encoder:</a:t>
            </a:r>
            <a:r>
              <a:rPr lang="en-US" sz="2800" dirty="0">
                <a:latin typeface="Times New Roman" panose="02020603050405020304" pitchFamily="18" charset="0"/>
                <a:cs typeface="Times New Roman" panose="02020603050405020304" pitchFamily="18" charset="0"/>
              </a:rPr>
              <a:t> Compresses the input data into a lower-dimensional space (called the latent space or code).</a:t>
            </a:r>
          </a:p>
          <a:p>
            <a:pPr lvl="1" algn="just"/>
            <a:r>
              <a:rPr lang="en-US" sz="2800" b="1" dirty="0">
                <a:solidFill>
                  <a:srgbClr val="00B050"/>
                </a:solidFill>
                <a:latin typeface="Times New Roman" panose="02020603050405020304" pitchFamily="18" charset="0"/>
                <a:cs typeface="Times New Roman" panose="02020603050405020304" pitchFamily="18" charset="0"/>
              </a:rPr>
              <a:t>Decoder:</a:t>
            </a:r>
            <a:r>
              <a:rPr lang="en-US" sz="2800" dirty="0">
                <a:latin typeface="Times New Roman" panose="02020603050405020304" pitchFamily="18" charset="0"/>
                <a:cs typeface="Times New Roman" panose="02020603050405020304" pitchFamily="18" charset="0"/>
              </a:rPr>
              <a:t> Reconstructs the input data from this compressed representation.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9324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0FE33-7391-B7CF-2389-A86381D152F5}"/>
              </a:ext>
            </a:extLst>
          </p:cNvPr>
          <p:cNvPicPr>
            <a:picLocks noChangeAspect="1"/>
          </p:cNvPicPr>
          <p:nvPr/>
        </p:nvPicPr>
        <p:blipFill>
          <a:blip r:embed="rId2"/>
          <a:stretch>
            <a:fillRect/>
          </a:stretch>
        </p:blipFill>
        <p:spPr>
          <a:xfrm>
            <a:off x="877957" y="457201"/>
            <a:ext cx="2395330" cy="2395330"/>
          </a:xfrm>
          <a:prstGeom prst="ellipse">
            <a:avLst/>
          </a:prstGeom>
          <a:ln>
            <a:noFill/>
          </a:ln>
          <a:effectLst>
            <a:softEdge rad="112500"/>
          </a:effectLst>
        </p:spPr>
      </p:pic>
      <p:pic>
        <p:nvPicPr>
          <p:cNvPr id="5" name="Picture 4">
            <a:extLst>
              <a:ext uri="{FF2B5EF4-FFF2-40B4-BE49-F238E27FC236}">
                <a16:creationId xmlns:a16="http://schemas.microsoft.com/office/drawing/2014/main" id="{62B96BAB-139B-ADDB-5750-06710D008AEE}"/>
              </a:ext>
            </a:extLst>
          </p:cNvPr>
          <p:cNvPicPr>
            <a:picLocks noChangeAspect="1"/>
          </p:cNvPicPr>
          <p:nvPr/>
        </p:nvPicPr>
        <p:blipFill>
          <a:blip r:embed="rId2"/>
          <a:stretch>
            <a:fillRect/>
          </a:stretch>
        </p:blipFill>
        <p:spPr>
          <a:xfrm>
            <a:off x="8991600" y="457201"/>
            <a:ext cx="2395330" cy="2395330"/>
          </a:xfrm>
          <a:prstGeom prst="ellipse">
            <a:avLst/>
          </a:prstGeom>
          <a:ln>
            <a:noFill/>
          </a:ln>
          <a:effectLst>
            <a:softEdge rad="112500"/>
          </a:effectLst>
        </p:spPr>
      </p:pic>
      <p:pic>
        <p:nvPicPr>
          <p:cNvPr id="6" name="Picture 5">
            <a:extLst>
              <a:ext uri="{FF2B5EF4-FFF2-40B4-BE49-F238E27FC236}">
                <a16:creationId xmlns:a16="http://schemas.microsoft.com/office/drawing/2014/main" id="{E18624EB-0CBE-6AA8-52C5-991096AB909E}"/>
              </a:ext>
            </a:extLst>
          </p:cNvPr>
          <p:cNvPicPr>
            <a:picLocks noChangeAspect="1"/>
          </p:cNvPicPr>
          <p:nvPr/>
        </p:nvPicPr>
        <p:blipFill>
          <a:blip r:embed="rId3"/>
          <a:stretch>
            <a:fillRect/>
          </a:stretch>
        </p:blipFill>
        <p:spPr>
          <a:xfrm>
            <a:off x="4572000" y="4092643"/>
            <a:ext cx="3048000" cy="1495425"/>
          </a:xfrm>
          <a:prstGeom prst="ellipse">
            <a:avLst/>
          </a:prstGeom>
          <a:ln>
            <a:noFill/>
          </a:ln>
          <a:effectLst>
            <a:softEdge rad="112500"/>
          </a:effectLst>
        </p:spPr>
      </p:pic>
      <p:sp>
        <p:nvSpPr>
          <p:cNvPr id="7" name="Arrow: Bent-Up 6">
            <a:extLst>
              <a:ext uri="{FF2B5EF4-FFF2-40B4-BE49-F238E27FC236}">
                <a16:creationId xmlns:a16="http://schemas.microsoft.com/office/drawing/2014/main" id="{EFA4F525-40EA-51BD-9B5A-532CDFB592F0}"/>
              </a:ext>
            </a:extLst>
          </p:cNvPr>
          <p:cNvSpPr/>
          <p:nvPr/>
        </p:nvSpPr>
        <p:spPr>
          <a:xfrm>
            <a:off x="7426186" y="3344930"/>
            <a:ext cx="3284884" cy="1630016"/>
          </a:xfrm>
          <a:prstGeom prst="bentUpArrow">
            <a:avLst>
              <a:gd name="adj1" fmla="val 25000"/>
              <a:gd name="adj2" fmla="val 30435"/>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Bent-Up 7">
            <a:extLst>
              <a:ext uri="{FF2B5EF4-FFF2-40B4-BE49-F238E27FC236}">
                <a16:creationId xmlns:a16="http://schemas.microsoft.com/office/drawing/2014/main" id="{6D590954-3B9E-FCD6-04C9-CA5B11342693}"/>
              </a:ext>
            </a:extLst>
          </p:cNvPr>
          <p:cNvSpPr/>
          <p:nvPr/>
        </p:nvSpPr>
        <p:spPr>
          <a:xfrm flipH="1">
            <a:off x="1480930" y="3429000"/>
            <a:ext cx="3419060" cy="1495425"/>
          </a:xfrm>
          <a:prstGeom prst="bentUpArrow">
            <a:avLst>
              <a:gd name="adj1" fmla="val 25000"/>
              <a:gd name="adj2" fmla="val 30435"/>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74739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913E2B-EFF4-D567-B65B-1D15F04CB53A}"/>
              </a:ext>
            </a:extLst>
          </p:cNvPr>
          <p:cNvSpPr>
            <a:spLocks noGrp="1"/>
          </p:cNvSpPr>
          <p:nvPr>
            <p:ph idx="1"/>
          </p:nvPr>
        </p:nvSpPr>
        <p:spPr>
          <a:xfrm>
            <a:off x="838200" y="616226"/>
            <a:ext cx="10515600" cy="5560737"/>
          </a:xfrm>
        </p:spPr>
        <p:txBody>
          <a:bodyPr/>
          <a:lstStyle/>
          <a:p>
            <a:pPr algn="just"/>
            <a:endParaRPr lang="en-US" dirty="0"/>
          </a:p>
          <a:p>
            <a:pPr algn="just"/>
            <a:r>
              <a:rPr lang="en-US" dirty="0"/>
              <a:t>The goal of an autoencoder is to minimize the difference between the original input and its reconstruction by learning the most important features in the data.</a:t>
            </a:r>
          </a:p>
          <a:p>
            <a:pPr algn="just"/>
            <a:endParaRPr lang="en-US" dirty="0"/>
          </a:p>
          <a:p>
            <a:pPr algn="just"/>
            <a:r>
              <a:rPr lang="en-US" dirty="0"/>
              <a:t>They are essentially neural networks that are designed to reconstruct their input data as closely as possible. The ability to reconstruct the input is a way to ensure that the autoencoder is learning meaningful and useful representations of the data.</a:t>
            </a:r>
          </a:p>
          <a:p>
            <a:pPr algn="just"/>
            <a:endParaRPr lang="en-US" dirty="0"/>
          </a:p>
          <a:p>
            <a:pPr algn="just"/>
            <a:r>
              <a:rPr lang="en-US" dirty="0"/>
              <a:t>Autoencoders are primarily used for compression.</a:t>
            </a:r>
            <a:endParaRPr lang="en-IN" dirty="0"/>
          </a:p>
        </p:txBody>
      </p:sp>
    </p:spTree>
    <p:extLst>
      <p:ext uri="{BB962C8B-B14F-4D97-AF65-F5344CB8AC3E}">
        <p14:creationId xmlns:p14="http://schemas.microsoft.com/office/powerpoint/2010/main" val="2230481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7EB8A-D952-6B95-075B-FE81380822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A447CF-E235-D111-7E3C-B70F25FFC17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3E65037-6DE0-43EC-006F-0AD01A5F3A22}"/>
              </a:ext>
            </a:extLst>
          </p:cNvPr>
          <p:cNvPicPr>
            <a:picLocks noChangeAspect="1"/>
          </p:cNvPicPr>
          <p:nvPr/>
        </p:nvPicPr>
        <p:blipFill>
          <a:blip r:embed="rId2"/>
          <a:stretch>
            <a:fillRect/>
          </a:stretch>
        </p:blipFill>
        <p:spPr>
          <a:xfrm>
            <a:off x="838200" y="689975"/>
            <a:ext cx="10537137" cy="53462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63524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69535-60EA-7DA4-4D62-B289F709A6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525FC0-6D6A-42E3-178B-30A07D7F7352}"/>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A0B15C64-55F7-8296-4476-141506533408}"/>
              </a:ext>
            </a:extLst>
          </p:cNvPr>
          <p:cNvPicPr>
            <a:picLocks noChangeAspect="1"/>
          </p:cNvPicPr>
          <p:nvPr/>
        </p:nvPicPr>
        <p:blipFill>
          <a:blip r:embed="rId2"/>
          <a:stretch>
            <a:fillRect/>
          </a:stretch>
        </p:blipFill>
        <p:spPr>
          <a:xfrm>
            <a:off x="1345899" y="2158324"/>
            <a:ext cx="9284114" cy="27202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99322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7EB8A-D952-6B95-075B-FE81380822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A447CF-E235-D111-7E3C-B70F25FFC17B}"/>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6CE68176-1BA5-DFC4-9B26-E90085AE8193}"/>
              </a:ext>
            </a:extLst>
          </p:cNvPr>
          <p:cNvPicPr>
            <a:picLocks noChangeAspect="1"/>
          </p:cNvPicPr>
          <p:nvPr/>
        </p:nvPicPr>
        <p:blipFill>
          <a:blip r:embed="rId2"/>
          <a:stretch>
            <a:fillRect/>
          </a:stretch>
        </p:blipFill>
        <p:spPr>
          <a:xfrm>
            <a:off x="2823749" y="298692"/>
            <a:ext cx="6260616" cy="62606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2521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15B27-5ECE-3E1B-23AB-2500307A9B25}"/>
              </a:ext>
            </a:extLst>
          </p:cNvPr>
          <p:cNvSpPr>
            <a:spLocks noGrp="1"/>
          </p:cNvSpPr>
          <p:nvPr>
            <p:ph type="title"/>
          </p:nvPr>
        </p:nvSpPr>
        <p:spPr>
          <a:xfrm>
            <a:off x="3899452" y="416338"/>
            <a:ext cx="3783496" cy="529397"/>
          </a:xfrm>
        </p:spPr>
        <p:txBody>
          <a:bodyPr>
            <a:normAutofit fontScale="90000"/>
          </a:bodyPr>
          <a:lstStyle/>
          <a:p>
            <a:pPr algn="ctr"/>
            <a:r>
              <a:rPr lang="en-IN" b="1" dirty="0">
                <a:solidFill>
                  <a:srgbClr val="0070C0"/>
                </a:solidFill>
              </a:rPr>
              <a:t>Bottleneck Layer</a:t>
            </a:r>
          </a:p>
        </p:txBody>
      </p:sp>
      <p:sp>
        <p:nvSpPr>
          <p:cNvPr id="3" name="Content Placeholder 2">
            <a:extLst>
              <a:ext uri="{FF2B5EF4-FFF2-40B4-BE49-F238E27FC236}">
                <a16:creationId xmlns:a16="http://schemas.microsoft.com/office/drawing/2014/main" id="{C8761B33-B463-93FA-DED0-790FD3F2FA67}"/>
              </a:ext>
            </a:extLst>
          </p:cNvPr>
          <p:cNvSpPr>
            <a:spLocks noGrp="1"/>
          </p:cNvSpPr>
          <p:nvPr>
            <p:ph idx="1"/>
          </p:nvPr>
        </p:nvSpPr>
        <p:spPr>
          <a:xfrm>
            <a:off x="159026" y="1152939"/>
            <a:ext cx="11734800" cy="5288723"/>
          </a:xfrm>
        </p:spPr>
        <p:txBody>
          <a:bodyPr>
            <a:normAutofit fontScale="47500" lnSpcReduction="20000"/>
          </a:bodyPr>
          <a:lstStyle/>
          <a:p>
            <a:pPr algn="just"/>
            <a:endParaRPr lang="en-US" sz="6200" dirty="0">
              <a:latin typeface="Times New Roman" panose="02020603050405020304" pitchFamily="18" charset="0"/>
              <a:cs typeface="Times New Roman" panose="02020603050405020304" pitchFamily="18" charset="0"/>
            </a:endParaRPr>
          </a:p>
          <a:p>
            <a:pPr algn="just"/>
            <a:r>
              <a:rPr lang="en-US" sz="6200" dirty="0">
                <a:latin typeface="Times New Roman" panose="02020603050405020304" pitchFamily="18" charset="0"/>
                <a:cs typeface="Times New Roman" panose="02020603050405020304" pitchFamily="18" charset="0"/>
              </a:rPr>
              <a:t>The most important part of the neural network, and ironically the smallest one, is the bottleneck. </a:t>
            </a:r>
            <a:r>
              <a:rPr lang="en-US" sz="6200" dirty="0">
                <a:solidFill>
                  <a:srgbClr val="FF0000"/>
                </a:solidFill>
                <a:latin typeface="Times New Roman" panose="02020603050405020304" pitchFamily="18" charset="0"/>
                <a:cs typeface="Times New Roman" panose="02020603050405020304" pitchFamily="18" charset="0"/>
              </a:rPr>
              <a:t>The bottleneck exists to restrict the flow of information to the decoder from the encoder</a:t>
            </a:r>
            <a:r>
              <a:rPr lang="en-US" sz="6200" dirty="0">
                <a:latin typeface="Times New Roman" panose="02020603050405020304" pitchFamily="18" charset="0"/>
                <a:cs typeface="Times New Roman" panose="02020603050405020304" pitchFamily="18" charset="0"/>
              </a:rPr>
              <a:t>, thus, allowing only the most vital information to pass through.</a:t>
            </a:r>
          </a:p>
          <a:p>
            <a:pPr algn="just"/>
            <a:endParaRPr lang="en-US" sz="6200" dirty="0">
              <a:latin typeface="Times New Roman" panose="02020603050405020304" pitchFamily="18" charset="0"/>
              <a:cs typeface="Times New Roman" panose="02020603050405020304" pitchFamily="18" charset="0"/>
            </a:endParaRPr>
          </a:p>
          <a:p>
            <a:pPr algn="just"/>
            <a:r>
              <a:rPr lang="en-US" sz="6200" dirty="0">
                <a:latin typeface="Times New Roman" panose="02020603050405020304" pitchFamily="18" charset="0"/>
                <a:cs typeface="Times New Roman" panose="02020603050405020304" pitchFamily="18" charset="0"/>
              </a:rPr>
              <a:t>Since the bottleneck is designed in such a way that the </a:t>
            </a:r>
            <a:r>
              <a:rPr lang="en-US" sz="6200" b="1" dirty="0">
                <a:solidFill>
                  <a:srgbClr val="FF0000"/>
                </a:solidFill>
                <a:latin typeface="Times New Roman" panose="02020603050405020304" pitchFamily="18" charset="0"/>
                <a:cs typeface="Times New Roman" panose="02020603050405020304" pitchFamily="18" charset="0"/>
              </a:rPr>
              <a:t>maximum information possessed by an image is captured in it</a:t>
            </a:r>
            <a:r>
              <a:rPr lang="en-US" sz="6200" dirty="0">
                <a:latin typeface="Times New Roman" panose="02020603050405020304" pitchFamily="18" charset="0"/>
                <a:cs typeface="Times New Roman" panose="02020603050405020304" pitchFamily="18" charset="0"/>
              </a:rPr>
              <a:t>, we can say that the bottleneck helps us form a knowledge-representation of the input.</a:t>
            </a:r>
          </a:p>
          <a:p>
            <a:pPr algn="just"/>
            <a:endParaRPr lang="en-US" sz="6200" dirty="0">
              <a:latin typeface="Times New Roman" panose="02020603050405020304" pitchFamily="18" charset="0"/>
              <a:cs typeface="Times New Roman" panose="02020603050405020304" pitchFamily="18" charset="0"/>
            </a:endParaRPr>
          </a:p>
          <a:p>
            <a:pPr algn="just"/>
            <a:r>
              <a:rPr lang="en-US" sz="6200" dirty="0">
                <a:latin typeface="Times New Roman" panose="02020603050405020304" pitchFamily="18" charset="0"/>
                <a:cs typeface="Times New Roman" panose="02020603050405020304" pitchFamily="18" charset="0"/>
              </a:rPr>
              <a:t>Thus, the encoder-decoder structure helps us extract the most from an image in the form of data and establish useful correlations between various inputs within the network.</a:t>
            </a:r>
          </a:p>
          <a:p>
            <a:pPr algn="just"/>
            <a:endParaRPr lang="en-US" sz="6200"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3596388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15B27-5ECE-3E1B-23AB-2500307A9B25}"/>
              </a:ext>
            </a:extLst>
          </p:cNvPr>
          <p:cNvSpPr>
            <a:spLocks noGrp="1"/>
          </p:cNvSpPr>
          <p:nvPr>
            <p:ph type="title"/>
          </p:nvPr>
        </p:nvSpPr>
        <p:spPr>
          <a:xfrm>
            <a:off x="3899452" y="416338"/>
            <a:ext cx="3783496" cy="529397"/>
          </a:xfrm>
        </p:spPr>
        <p:txBody>
          <a:bodyPr>
            <a:normAutofit fontScale="90000"/>
          </a:bodyPr>
          <a:lstStyle/>
          <a:p>
            <a:pPr algn="ctr"/>
            <a:r>
              <a:rPr lang="en-IN" b="1" dirty="0">
                <a:solidFill>
                  <a:srgbClr val="0070C0"/>
                </a:solidFill>
              </a:rPr>
              <a:t>Bottleneck Layer</a:t>
            </a:r>
          </a:p>
        </p:txBody>
      </p:sp>
      <p:sp>
        <p:nvSpPr>
          <p:cNvPr id="3" name="Content Placeholder 2">
            <a:extLst>
              <a:ext uri="{FF2B5EF4-FFF2-40B4-BE49-F238E27FC236}">
                <a16:creationId xmlns:a16="http://schemas.microsoft.com/office/drawing/2014/main" id="{C8761B33-B463-93FA-DED0-790FD3F2FA67}"/>
              </a:ext>
            </a:extLst>
          </p:cNvPr>
          <p:cNvSpPr>
            <a:spLocks noGrp="1"/>
          </p:cNvSpPr>
          <p:nvPr>
            <p:ph idx="1"/>
          </p:nvPr>
        </p:nvSpPr>
        <p:spPr>
          <a:xfrm>
            <a:off x="159026" y="1152939"/>
            <a:ext cx="11734800" cy="5288723"/>
          </a:xfrm>
        </p:spPr>
        <p:txBody>
          <a:bodyPr>
            <a:normAutofit fontScale="55000" lnSpcReduction="20000"/>
          </a:bodyPr>
          <a:lstStyle/>
          <a:p>
            <a:pPr algn="just"/>
            <a:endParaRPr lang="en-US" sz="6200" dirty="0">
              <a:latin typeface="Times New Roman" panose="02020603050405020304" pitchFamily="18" charset="0"/>
              <a:cs typeface="Times New Roman" panose="02020603050405020304" pitchFamily="18" charset="0"/>
            </a:endParaRPr>
          </a:p>
          <a:p>
            <a:pPr algn="just"/>
            <a:r>
              <a:rPr lang="en-US" sz="6200" dirty="0">
                <a:latin typeface="Times New Roman" panose="02020603050405020304" pitchFamily="18" charset="0"/>
                <a:cs typeface="Times New Roman" panose="02020603050405020304" pitchFamily="18" charset="0"/>
              </a:rPr>
              <a:t>A bottleneck as a compressed representation of the input further prevents the neural network from memorizing the input and overfitting on the data.</a:t>
            </a:r>
          </a:p>
          <a:p>
            <a:pPr algn="just"/>
            <a:endParaRPr lang="en-US" sz="6200" dirty="0">
              <a:latin typeface="Times New Roman" panose="02020603050405020304" pitchFamily="18" charset="0"/>
              <a:cs typeface="Times New Roman" panose="02020603050405020304" pitchFamily="18" charset="0"/>
            </a:endParaRPr>
          </a:p>
          <a:p>
            <a:pPr algn="just"/>
            <a:r>
              <a:rPr lang="en-US" sz="6200" dirty="0">
                <a:latin typeface="Times New Roman" panose="02020603050405020304" pitchFamily="18" charset="0"/>
                <a:cs typeface="Times New Roman" panose="02020603050405020304" pitchFamily="18" charset="0"/>
              </a:rPr>
              <a:t>As a rule of thumb, remember this: The smaller the bottleneck, the lower the risk of overfitting.</a:t>
            </a:r>
          </a:p>
          <a:p>
            <a:pPr algn="just"/>
            <a:endParaRPr lang="en-US" sz="6200" dirty="0">
              <a:latin typeface="Times New Roman" panose="02020603050405020304" pitchFamily="18" charset="0"/>
              <a:cs typeface="Times New Roman" panose="02020603050405020304" pitchFamily="18" charset="0"/>
            </a:endParaRPr>
          </a:p>
          <a:p>
            <a:pPr algn="just"/>
            <a:r>
              <a:rPr lang="en-US" sz="6200" dirty="0">
                <a:latin typeface="Times New Roman" panose="02020603050405020304" pitchFamily="18" charset="0"/>
                <a:cs typeface="Times New Roman" panose="02020603050405020304" pitchFamily="18" charset="0"/>
              </a:rPr>
              <a:t>However— Very small bottlenecks would restrict the amount of information storable, which increases the chances of important information slipping out through the layers of the encoder.</a:t>
            </a:r>
          </a:p>
          <a:p>
            <a:pPr algn="just"/>
            <a:endParaRPr lang="en-IN" dirty="0"/>
          </a:p>
        </p:txBody>
      </p:sp>
    </p:spTree>
    <p:extLst>
      <p:ext uri="{BB962C8B-B14F-4D97-AF65-F5344CB8AC3E}">
        <p14:creationId xmlns:p14="http://schemas.microsoft.com/office/powerpoint/2010/main" val="319725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A95AF-10CC-CE33-390C-7625E8E4FAAA}"/>
              </a:ext>
            </a:extLst>
          </p:cNvPr>
          <p:cNvSpPr>
            <a:spLocks noGrp="1"/>
          </p:cNvSpPr>
          <p:nvPr>
            <p:ph type="title"/>
          </p:nvPr>
        </p:nvSpPr>
        <p:spPr/>
        <p:txBody>
          <a:bodyPr/>
          <a:lstStyle/>
          <a:p>
            <a:pPr algn="ctr"/>
            <a:r>
              <a:rPr lang="en-IN" dirty="0"/>
              <a:t>Need for Autoencoders</a:t>
            </a:r>
          </a:p>
        </p:txBody>
      </p:sp>
      <p:sp>
        <p:nvSpPr>
          <p:cNvPr id="3" name="Content Placeholder 2">
            <a:extLst>
              <a:ext uri="{FF2B5EF4-FFF2-40B4-BE49-F238E27FC236}">
                <a16:creationId xmlns:a16="http://schemas.microsoft.com/office/drawing/2014/main" id="{C53679F1-6002-2903-62B4-FD92812FF94A}"/>
              </a:ext>
            </a:extLst>
          </p:cNvPr>
          <p:cNvSpPr>
            <a:spLocks noGrp="1"/>
          </p:cNvSpPr>
          <p:nvPr>
            <p:ph idx="1"/>
          </p:nvPr>
        </p:nvSpPr>
        <p:spPr>
          <a:xfrm>
            <a:off x="838200" y="1825625"/>
            <a:ext cx="10515600" cy="4667250"/>
          </a:xfrm>
        </p:spPr>
        <p:txBody>
          <a:bodyPr/>
          <a:lstStyle/>
          <a:p>
            <a:pPr algn="just"/>
            <a:r>
              <a:rPr lang="en-IN" b="1" dirty="0">
                <a:solidFill>
                  <a:srgbClr val="0070C0"/>
                </a:solidFill>
              </a:rPr>
              <a:t>Efficient Representation Learning &amp; Dimensionality Reduction</a:t>
            </a:r>
          </a:p>
          <a:p>
            <a:pPr algn="just"/>
            <a:r>
              <a:rPr lang="en-US" dirty="0">
                <a:solidFill>
                  <a:srgbClr val="FF0000"/>
                </a:solidFill>
              </a:rPr>
              <a:t>The High-dimensional data, like images or audio, contains many variables. However, the most useful information is often concentrated in fewer dimensions</a:t>
            </a:r>
            <a:r>
              <a:rPr lang="en-US" dirty="0">
                <a:solidFill>
                  <a:srgbClr val="0070C0"/>
                </a:solidFill>
              </a:rPr>
              <a:t>. </a:t>
            </a:r>
          </a:p>
          <a:p>
            <a:pPr algn="just"/>
            <a:r>
              <a:rPr lang="en-US" dirty="0">
                <a:solidFill>
                  <a:srgbClr val="FF0000"/>
                </a:solidFill>
              </a:rPr>
              <a:t>Traditional methods like Principal Component Analysis have limitations in capturing non-linear relationships in data.</a:t>
            </a:r>
          </a:p>
          <a:p>
            <a:pPr algn="just"/>
            <a:r>
              <a:rPr lang="en-US" dirty="0">
                <a:solidFill>
                  <a:srgbClr val="00B050"/>
                </a:solidFill>
              </a:rPr>
              <a:t>Solution: Autoencoders help learn efficiently by lower-dimensional representations of data in an unsupervised manner by encoding the essential features, making subsequent tasks (e.g., classification, regression) easier and faster.</a:t>
            </a:r>
          </a:p>
          <a:p>
            <a:pPr algn="just"/>
            <a:endParaRPr lang="en-IN" dirty="0">
              <a:solidFill>
                <a:srgbClr val="00B050"/>
              </a:solidFill>
            </a:endParaRPr>
          </a:p>
        </p:txBody>
      </p:sp>
    </p:spTree>
    <p:extLst>
      <p:ext uri="{BB962C8B-B14F-4D97-AF65-F5344CB8AC3E}">
        <p14:creationId xmlns:p14="http://schemas.microsoft.com/office/powerpoint/2010/main" val="656043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8A4AC-27A6-4B79-3168-7CAB6B32F904}"/>
              </a:ext>
            </a:extLst>
          </p:cNvPr>
          <p:cNvSpPr>
            <a:spLocks noGrp="1"/>
          </p:cNvSpPr>
          <p:nvPr>
            <p:ph type="title"/>
          </p:nvPr>
        </p:nvSpPr>
        <p:spPr/>
        <p:txBody>
          <a:bodyPr/>
          <a:lstStyle/>
          <a:p>
            <a:pPr algn="ctr"/>
            <a:r>
              <a:rPr lang="en-IN" dirty="0"/>
              <a:t>Need for Autoencoders</a:t>
            </a:r>
          </a:p>
        </p:txBody>
      </p:sp>
      <p:sp>
        <p:nvSpPr>
          <p:cNvPr id="3" name="Content Placeholder 2">
            <a:extLst>
              <a:ext uri="{FF2B5EF4-FFF2-40B4-BE49-F238E27FC236}">
                <a16:creationId xmlns:a16="http://schemas.microsoft.com/office/drawing/2014/main" id="{2541FFDC-5819-DC47-8E20-141E81750044}"/>
              </a:ext>
            </a:extLst>
          </p:cNvPr>
          <p:cNvSpPr>
            <a:spLocks noGrp="1"/>
          </p:cNvSpPr>
          <p:nvPr>
            <p:ph idx="1"/>
          </p:nvPr>
        </p:nvSpPr>
        <p:spPr/>
        <p:txBody>
          <a:bodyPr/>
          <a:lstStyle/>
          <a:p>
            <a:pPr algn="just"/>
            <a:r>
              <a:rPr lang="en-IN" b="1" dirty="0">
                <a:solidFill>
                  <a:srgbClr val="0070C0"/>
                </a:solidFill>
              </a:rPr>
              <a:t>Unsupervised Feature Learning</a:t>
            </a:r>
          </a:p>
          <a:p>
            <a:pPr algn="just"/>
            <a:endParaRPr lang="en-US" dirty="0">
              <a:solidFill>
                <a:srgbClr val="FF0000"/>
              </a:solidFill>
            </a:endParaRPr>
          </a:p>
          <a:p>
            <a:pPr algn="just"/>
            <a:r>
              <a:rPr lang="en-US" dirty="0">
                <a:solidFill>
                  <a:srgbClr val="FF0000"/>
                </a:solidFill>
              </a:rPr>
              <a:t>Deep learning models often require a large amount of labeled data, which is difficult and expensive to obtain.</a:t>
            </a:r>
          </a:p>
          <a:p>
            <a:pPr algn="just"/>
            <a:endParaRPr lang="en-US" dirty="0">
              <a:solidFill>
                <a:srgbClr val="00B050"/>
              </a:solidFill>
            </a:endParaRPr>
          </a:p>
          <a:p>
            <a:pPr algn="just"/>
            <a:r>
              <a:rPr lang="en-US" dirty="0">
                <a:solidFill>
                  <a:srgbClr val="00B050"/>
                </a:solidFill>
              </a:rPr>
              <a:t>Solution: Autoencoders can learn useful features from unlabeled data in an unsupervised manner. These features can then be applied to various downstream tasks such as classification or clustering.</a:t>
            </a:r>
            <a:endParaRPr lang="en-IN" dirty="0">
              <a:solidFill>
                <a:srgbClr val="00B050"/>
              </a:solidFill>
            </a:endParaRPr>
          </a:p>
        </p:txBody>
      </p:sp>
    </p:spTree>
    <p:extLst>
      <p:ext uri="{BB962C8B-B14F-4D97-AF65-F5344CB8AC3E}">
        <p14:creationId xmlns:p14="http://schemas.microsoft.com/office/powerpoint/2010/main" val="3784613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61326-CF97-610B-B5D4-68D629D58157}"/>
              </a:ext>
            </a:extLst>
          </p:cNvPr>
          <p:cNvSpPr>
            <a:spLocks noGrp="1"/>
          </p:cNvSpPr>
          <p:nvPr>
            <p:ph type="title"/>
          </p:nvPr>
        </p:nvSpPr>
        <p:spPr/>
        <p:txBody>
          <a:bodyPr/>
          <a:lstStyle/>
          <a:p>
            <a:pPr algn="ctr"/>
            <a:r>
              <a:rPr lang="en-IN" dirty="0"/>
              <a:t>Need for Autoencoders</a:t>
            </a:r>
          </a:p>
        </p:txBody>
      </p:sp>
      <p:sp>
        <p:nvSpPr>
          <p:cNvPr id="3" name="Content Placeholder 2">
            <a:extLst>
              <a:ext uri="{FF2B5EF4-FFF2-40B4-BE49-F238E27FC236}">
                <a16:creationId xmlns:a16="http://schemas.microsoft.com/office/drawing/2014/main" id="{EBA77855-9C88-BD02-C611-6CA5B5BAAEDE}"/>
              </a:ext>
            </a:extLst>
          </p:cNvPr>
          <p:cNvSpPr>
            <a:spLocks noGrp="1"/>
          </p:cNvSpPr>
          <p:nvPr>
            <p:ph idx="1"/>
          </p:nvPr>
        </p:nvSpPr>
        <p:spPr/>
        <p:txBody>
          <a:bodyPr/>
          <a:lstStyle/>
          <a:p>
            <a:pPr algn="just"/>
            <a:r>
              <a:rPr lang="en-IN" b="1" dirty="0">
                <a:solidFill>
                  <a:srgbClr val="0070C0"/>
                </a:solidFill>
              </a:rPr>
              <a:t>Initialization of Deep Networks</a:t>
            </a:r>
          </a:p>
          <a:p>
            <a:pPr algn="just"/>
            <a:endParaRPr lang="en-US" dirty="0">
              <a:solidFill>
                <a:srgbClr val="FF0000"/>
              </a:solidFill>
            </a:endParaRPr>
          </a:p>
          <a:p>
            <a:pPr algn="just"/>
            <a:r>
              <a:rPr lang="en-US" dirty="0">
                <a:solidFill>
                  <a:srgbClr val="FF0000"/>
                </a:solidFill>
              </a:rPr>
              <a:t>Training deep networks from scratch was historically difficult due to issues like vanishing/exploding gradients.</a:t>
            </a:r>
          </a:p>
          <a:p>
            <a:pPr algn="just"/>
            <a:endParaRPr lang="en-US" dirty="0">
              <a:solidFill>
                <a:srgbClr val="00B050"/>
              </a:solidFill>
            </a:endParaRPr>
          </a:p>
          <a:p>
            <a:pPr algn="just"/>
            <a:r>
              <a:rPr lang="en-US" dirty="0">
                <a:solidFill>
                  <a:srgbClr val="00B050"/>
                </a:solidFill>
              </a:rPr>
              <a:t>Solution: Autoencoders, especially in the form of stacked autoencoders, were used to initialize deep networks layer by layer, a process called pretraining. This allowed networks to start with a good initialization before fine-tuning with supervised learning.</a:t>
            </a:r>
            <a:endParaRPr lang="en-IN" dirty="0">
              <a:solidFill>
                <a:srgbClr val="00B050"/>
              </a:solidFill>
            </a:endParaRPr>
          </a:p>
        </p:txBody>
      </p:sp>
    </p:spTree>
    <p:extLst>
      <p:ext uri="{BB962C8B-B14F-4D97-AF65-F5344CB8AC3E}">
        <p14:creationId xmlns:p14="http://schemas.microsoft.com/office/powerpoint/2010/main" val="195148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ACD04-E24E-5061-D4DE-22DD3E27C909}"/>
              </a:ext>
            </a:extLst>
          </p:cNvPr>
          <p:cNvSpPr>
            <a:spLocks noGrp="1"/>
          </p:cNvSpPr>
          <p:nvPr>
            <p:ph type="title"/>
          </p:nvPr>
        </p:nvSpPr>
        <p:spPr/>
        <p:txBody>
          <a:bodyPr/>
          <a:lstStyle/>
          <a:p>
            <a:pPr algn="ctr"/>
            <a:r>
              <a:rPr lang="en-IN" dirty="0"/>
              <a:t>Need for Autoencoders</a:t>
            </a:r>
          </a:p>
        </p:txBody>
      </p:sp>
      <p:sp>
        <p:nvSpPr>
          <p:cNvPr id="3" name="Content Placeholder 2">
            <a:extLst>
              <a:ext uri="{FF2B5EF4-FFF2-40B4-BE49-F238E27FC236}">
                <a16:creationId xmlns:a16="http://schemas.microsoft.com/office/drawing/2014/main" id="{488449D3-11A3-8086-B058-E2EC9E5541D3}"/>
              </a:ext>
            </a:extLst>
          </p:cNvPr>
          <p:cNvSpPr>
            <a:spLocks noGrp="1"/>
          </p:cNvSpPr>
          <p:nvPr>
            <p:ph idx="1"/>
          </p:nvPr>
        </p:nvSpPr>
        <p:spPr/>
        <p:txBody>
          <a:bodyPr/>
          <a:lstStyle/>
          <a:p>
            <a:pPr algn="just"/>
            <a:r>
              <a:rPr lang="en-IN" dirty="0">
                <a:solidFill>
                  <a:srgbClr val="0070C0"/>
                </a:solidFill>
              </a:rPr>
              <a:t>Data Denoising and Preprocessing</a:t>
            </a:r>
          </a:p>
          <a:p>
            <a:pPr algn="just"/>
            <a:endParaRPr lang="en-US" dirty="0">
              <a:solidFill>
                <a:srgbClr val="FF0000"/>
              </a:solidFill>
            </a:endParaRPr>
          </a:p>
          <a:p>
            <a:pPr algn="just"/>
            <a:r>
              <a:rPr lang="en-US" dirty="0">
                <a:solidFill>
                  <a:srgbClr val="FF0000"/>
                </a:solidFill>
              </a:rPr>
              <a:t>Real-world data is often noisy or incomplete, which affects the performance of machine learning models.</a:t>
            </a:r>
          </a:p>
          <a:p>
            <a:pPr algn="just"/>
            <a:endParaRPr lang="en-US" dirty="0">
              <a:solidFill>
                <a:srgbClr val="00B050"/>
              </a:solidFill>
            </a:endParaRPr>
          </a:p>
          <a:p>
            <a:pPr algn="just"/>
            <a:r>
              <a:rPr lang="en-US" dirty="0">
                <a:solidFill>
                  <a:srgbClr val="00B050"/>
                </a:solidFill>
              </a:rPr>
              <a:t>Solution: Denoising autoencoders can learn to recover clean data from noisy input, improving data quality for subsequent tasks.</a:t>
            </a:r>
            <a:endParaRPr lang="en-IN" dirty="0">
              <a:solidFill>
                <a:srgbClr val="00B050"/>
              </a:solidFill>
            </a:endParaRPr>
          </a:p>
        </p:txBody>
      </p:sp>
    </p:spTree>
    <p:extLst>
      <p:ext uri="{BB962C8B-B14F-4D97-AF65-F5344CB8AC3E}">
        <p14:creationId xmlns:p14="http://schemas.microsoft.com/office/powerpoint/2010/main" val="1826819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6EE2F-93C3-D59D-315F-BB3C683A7E78}"/>
              </a:ext>
            </a:extLst>
          </p:cNvPr>
          <p:cNvSpPr>
            <a:spLocks noGrp="1"/>
          </p:cNvSpPr>
          <p:nvPr>
            <p:ph type="title"/>
          </p:nvPr>
        </p:nvSpPr>
        <p:spPr/>
        <p:txBody>
          <a:bodyPr/>
          <a:lstStyle/>
          <a:p>
            <a:pPr algn="ctr"/>
            <a:r>
              <a:rPr lang="en-IN" dirty="0"/>
              <a:t>Need for Autoencoders</a:t>
            </a:r>
          </a:p>
        </p:txBody>
      </p:sp>
      <p:sp>
        <p:nvSpPr>
          <p:cNvPr id="3" name="Content Placeholder 2">
            <a:extLst>
              <a:ext uri="{FF2B5EF4-FFF2-40B4-BE49-F238E27FC236}">
                <a16:creationId xmlns:a16="http://schemas.microsoft.com/office/drawing/2014/main" id="{58C82AE9-85D2-B369-1F18-194FA2EAB249}"/>
              </a:ext>
            </a:extLst>
          </p:cNvPr>
          <p:cNvSpPr>
            <a:spLocks noGrp="1"/>
          </p:cNvSpPr>
          <p:nvPr>
            <p:ph idx="1"/>
          </p:nvPr>
        </p:nvSpPr>
        <p:spPr/>
        <p:txBody>
          <a:bodyPr/>
          <a:lstStyle/>
          <a:p>
            <a:pPr algn="just"/>
            <a:r>
              <a:rPr lang="en-US" dirty="0">
                <a:solidFill>
                  <a:srgbClr val="0070C0"/>
                </a:solidFill>
              </a:rPr>
              <a:t>Data Compression Problem</a:t>
            </a:r>
          </a:p>
          <a:p>
            <a:pPr algn="just"/>
            <a:endParaRPr lang="en-US" dirty="0">
              <a:solidFill>
                <a:srgbClr val="FF0000"/>
              </a:solidFill>
            </a:endParaRPr>
          </a:p>
          <a:p>
            <a:pPr algn="just"/>
            <a:r>
              <a:rPr lang="en-US" dirty="0">
                <a:solidFill>
                  <a:srgbClr val="FF0000"/>
                </a:solidFill>
              </a:rPr>
              <a:t>Storing and transmitting large volumes of data (e.g., images, videos) is resource-intensive.</a:t>
            </a:r>
          </a:p>
          <a:p>
            <a:pPr algn="just"/>
            <a:endParaRPr lang="en-US" dirty="0">
              <a:solidFill>
                <a:srgbClr val="00B050"/>
              </a:solidFill>
            </a:endParaRPr>
          </a:p>
          <a:p>
            <a:pPr algn="just"/>
            <a:r>
              <a:rPr lang="en-US" dirty="0">
                <a:solidFill>
                  <a:srgbClr val="00B050"/>
                </a:solidFill>
              </a:rPr>
              <a:t>Solution: Autoencoders provide a means of compressing data into a lower-dimensional space (latent code) that can be used for efficient storage and transmission, without significant loss of important information.</a:t>
            </a:r>
            <a:endParaRPr lang="en-IN" dirty="0">
              <a:solidFill>
                <a:srgbClr val="00B050"/>
              </a:solidFill>
            </a:endParaRPr>
          </a:p>
        </p:txBody>
      </p:sp>
    </p:spTree>
    <p:extLst>
      <p:ext uri="{BB962C8B-B14F-4D97-AF65-F5344CB8AC3E}">
        <p14:creationId xmlns:p14="http://schemas.microsoft.com/office/powerpoint/2010/main" val="1280727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91389-BF5B-C319-25A2-EA90E5F4826D}"/>
              </a:ext>
            </a:extLst>
          </p:cNvPr>
          <p:cNvSpPr>
            <a:spLocks noGrp="1"/>
          </p:cNvSpPr>
          <p:nvPr>
            <p:ph type="title"/>
          </p:nvPr>
        </p:nvSpPr>
        <p:spPr>
          <a:xfrm>
            <a:off x="838200" y="365126"/>
            <a:ext cx="10515600" cy="539336"/>
          </a:xfrm>
        </p:spPr>
        <p:txBody>
          <a:bodyPr>
            <a:normAutofit fontScale="90000"/>
          </a:bodyPr>
          <a:lstStyle/>
          <a:p>
            <a:pPr algn="ctr"/>
            <a:r>
              <a:rPr lang="en-IN" dirty="0"/>
              <a:t>Need for Autoencoders</a:t>
            </a:r>
          </a:p>
        </p:txBody>
      </p:sp>
      <p:sp>
        <p:nvSpPr>
          <p:cNvPr id="3" name="Content Placeholder 2">
            <a:extLst>
              <a:ext uri="{FF2B5EF4-FFF2-40B4-BE49-F238E27FC236}">
                <a16:creationId xmlns:a16="http://schemas.microsoft.com/office/drawing/2014/main" id="{54792D9E-D5AC-087F-C8D8-550899491AB6}"/>
              </a:ext>
            </a:extLst>
          </p:cNvPr>
          <p:cNvSpPr>
            <a:spLocks noGrp="1"/>
          </p:cNvSpPr>
          <p:nvPr>
            <p:ph idx="1"/>
          </p:nvPr>
        </p:nvSpPr>
        <p:spPr>
          <a:xfrm>
            <a:off x="838200" y="1272209"/>
            <a:ext cx="10515600" cy="5138530"/>
          </a:xfrm>
        </p:spPr>
        <p:txBody>
          <a:bodyPr>
            <a:normAutofit lnSpcReduction="10000"/>
          </a:bodyPr>
          <a:lstStyle/>
          <a:p>
            <a:r>
              <a:rPr lang="en-US" b="1" dirty="0">
                <a:solidFill>
                  <a:srgbClr val="00B0F0"/>
                </a:solidFill>
              </a:rPr>
              <a:t>Regularization</a:t>
            </a:r>
          </a:p>
          <a:p>
            <a:pPr>
              <a:buFont typeface="Arial" panose="020B0604020202020204" pitchFamily="34" charset="0"/>
              <a:buChar char="•"/>
            </a:pPr>
            <a:endParaRPr lang="en-US" dirty="0"/>
          </a:p>
          <a:p>
            <a:pPr>
              <a:buFont typeface="Arial" panose="020B0604020202020204" pitchFamily="34" charset="0"/>
              <a:buChar char="•"/>
            </a:pPr>
            <a:r>
              <a:rPr lang="en-US" dirty="0"/>
              <a:t>To prevent autoencoders from learning a trivial identity function (simply copying the input to the output without learning meaningful features), </a:t>
            </a:r>
            <a:r>
              <a:rPr lang="en-US" b="1" dirty="0">
                <a:solidFill>
                  <a:srgbClr val="FF0000"/>
                </a:solidFill>
              </a:rPr>
              <a:t>regularization techniques are often applied</a:t>
            </a:r>
            <a:r>
              <a:rPr lang="en-US" dirty="0"/>
              <a:t>:</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r>
              <a:rPr lang="en-US" b="1" dirty="0">
                <a:solidFill>
                  <a:srgbClr val="00B050"/>
                </a:solidFill>
              </a:rPr>
              <a:t>Sparsity</a:t>
            </a:r>
            <a:r>
              <a:rPr lang="en-US" dirty="0">
                <a:solidFill>
                  <a:srgbClr val="00B050"/>
                </a:solidFill>
              </a:rPr>
              <a:t>: Encouraging the latent code to contain mostly zeros, leading to sparse activations.</a:t>
            </a:r>
          </a:p>
          <a:p>
            <a:pPr marL="742950" lvl="1" indent="-285750">
              <a:buFont typeface="Arial" panose="020B0604020202020204" pitchFamily="34" charset="0"/>
              <a:buChar char="•"/>
            </a:pPr>
            <a:r>
              <a:rPr lang="en-US" b="1" dirty="0">
                <a:solidFill>
                  <a:srgbClr val="00B050"/>
                </a:solidFill>
              </a:rPr>
              <a:t>Denoising</a:t>
            </a:r>
            <a:r>
              <a:rPr lang="en-US" dirty="0">
                <a:solidFill>
                  <a:srgbClr val="00B050"/>
                </a:solidFill>
              </a:rPr>
              <a:t>: Adding noise to the input and training the autoencoder to remove the noise, improving the robustness of the learned representation (denoising autoencoders).</a:t>
            </a:r>
          </a:p>
          <a:p>
            <a:pPr marL="742950" lvl="1" indent="-285750">
              <a:buFont typeface="Arial" panose="020B0604020202020204" pitchFamily="34" charset="0"/>
              <a:buChar char="•"/>
            </a:pPr>
            <a:r>
              <a:rPr lang="en-US" b="1" dirty="0">
                <a:solidFill>
                  <a:srgbClr val="00B050"/>
                </a:solidFill>
              </a:rPr>
              <a:t>Weight Decay</a:t>
            </a:r>
            <a:r>
              <a:rPr lang="en-US" dirty="0">
                <a:solidFill>
                  <a:srgbClr val="00B050"/>
                </a:solidFill>
              </a:rPr>
              <a:t> or </a:t>
            </a:r>
            <a:r>
              <a:rPr lang="en-US" b="1" dirty="0">
                <a:solidFill>
                  <a:srgbClr val="00B050"/>
                </a:solidFill>
              </a:rPr>
              <a:t>Dropout</a:t>
            </a:r>
            <a:r>
              <a:rPr lang="en-US" dirty="0">
                <a:solidFill>
                  <a:srgbClr val="00B050"/>
                </a:solidFill>
              </a:rPr>
              <a:t>: Techniques to prevent overfitting and ensure the autoencoder generalizes well to unseen data.</a:t>
            </a:r>
          </a:p>
          <a:p>
            <a:endParaRPr lang="en-IN" dirty="0"/>
          </a:p>
        </p:txBody>
      </p:sp>
    </p:spTree>
    <p:extLst>
      <p:ext uri="{BB962C8B-B14F-4D97-AF65-F5344CB8AC3E}">
        <p14:creationId xmlns:p14="http://schemas.microsoft.com/office/powerpoint/2010/main" val="2330137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6A4A2-AE62-4BCA-58F6-1C621F13C179}"/>
              </a:ext>
            </a:extLst>
          </p:cNvPr>
          <p:cNvSpPr>
            <a:spLocks noGrp="1"/>
          </p:cNvSpPr>
          <p:nvPr>
            <p:ph type="title"/>
          </p:nvPr>
        </p:nvSpPr>
        <p:spPr/>
        <p:txBody>
          <a:bodyPr/>
          <a:lstStyle/>
          <a:p>
            <a:pPr algn="ctr"/>
            <a:r>
              <a:rPr lang="en-IN" dirty="0"/>
              <a:t>Autoencoder Architecture</a:t>
            </a:r>
          </a:p>
        </p:txBody>
      </p:sp>
      <p:sp>
        <p:nvSpPr>
          <p:cNvPr id="3" name="Content Placeholder 2">
            <a:extLst>
              <a:ext uri="{FF2B5EF4-FFF2-40B4-BE49-F238E27FC236}">
                <a16:creationId xmlns:a16="http://schemas.microsoft.com/office/drawing/2014/main" id="{4A40CE19-85FB-EAF3-9C5D-ADDAC62B119E}"/>
              </a:ext>
            </a:extLst>
          </p:cNvPr>
          <p:cNvSpPr>
            <a:spLocks noGrp="1"/>
          </p:cNvSpPr>
          <p:nvPr>
            <p:ph idx="1"/>
          </p:nvPr>
        </p:nvSpPr>
        <p:spPr/>
        <p:txBody>
          <a:bodyPr/>
          <a:lstStyle/>
          <a:p>
            <a:r>
              <a:rPr lang="en-US" dirty="0">
                <a:solidFill>
                  <a:srgbClr val="0070C0"/>
                </a:solidFill>
              </a:rPr>
              <a:t>Input Layer </a:t>
            </a:r>
            <a:r>
              <a:rPr lang="en-US" dirty="0"/>
              <a:t>(X): Original high-dimensional data.</a:t>
            </a:r>
          </a:p>
          <a:p>
            <a:r>
              <a:rPr lang="en-US" dirty="0">
                <a:solidFill>
                  <a:srgbClr val="0070C0"/>
                </a:solidFill>
              </a:rPr>
              <a:t>Encoder:</a:t>
            </a:r>
            <a:r>
              <a:rPr lang="en-US" dirty="0"/>
              <a:t> Neural network layers (e.g., dense layers, convolutional layers) that transform the input into the latent space.</a:t>
            </a:r>
          </a:p>
          <a:p>
            <a:r>
              <a:rPr lang="en-US" dirty="0">
                <a:solidFill>
                  <a:srgbClr val="0070C0"/>
                </a:solidFill>
              </a:rPr>
              <a:t>Latent Space </a:t>
            </a:r>
            <a:r>
              <a:rPr lang="en-US" dirty="0"/>
              <a:t>(Z): The compressed, lower-dimensional representation of the input.</a:t>
            </a:r>
          </a:p>
          <a:p>
            <a:r>
              <a:rPr lang="en-US" dirty="0">
                <a:solidFill>
                  <a:srgbClr val="0070C0"/>
                </a:solidFill>
              </a:rPr>
              <a:t>Decoder:</a:t>
            </a:r>
            <a:r>
              <a:rPr lang="en-US" dirty="0"/>
              <a:t> Neural network layers that take the latent space as input and attempt to reconstruct the original input.</a:t>
            </a:r>
          </a:p>
          <a:p>
            <a:r>
              <a:rPr lang="en-US" dirty="0">
                <a:solidFill>
                  <a:srgbClr val="0070C0"/>
                </a:solidFill>
              </a:rPr>
              <a:t>Output Layer (X'): </a:t>
            </a:r>
            <a:r>
              <a:rPr lang="en-US" dirty="0"/>
              <a:t>The final reconstructed data, aiming to be as close as possible to the input.</a:t>
            </a:r>
            <a:endParaRPr lang="en-IN" dirty="0"/>
          </a:p>
        </p:txBody>
      </p:sp>
    </p:spTree>
    <p:extLst>
      <p:ext uri="{BB962C8B-B14F-4D97-AF65-F5344CB8AC3E}">
        <p14:creationId xmlns:p14="http://schemas.microsoft.com/office/powerpoint/2010/main" val="1106557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C38AC-6B93-DB6B-A0B1-62D7609A3818}"/>
              </a:ext>
            </a:extLst>
          </p:cNvPr>
          <p:cNvSpPr>
            <a:spLocks noGrp="1"/>
          </p:cNvSpPr>
          <p:nvPr>
            <p:ph type="title"/>
          </p:nvPr>
        </p:nvSpPr>
        <p:spPr/>
        <p:txBody>
          <a:bodyPr/>
          <a:lstStyle/>
          <a:p>
            <a:pPr algn="ctr"/>
            <a:r>
              <a:rPr lang="en-IN" dirty="0"/>
              <a:t>Autoencoder Architecture</a:t>
            </a:r>
          </a:p>
        </p:txBody>
      </p:sp>
      <p:sp>
        <p:nvSpPr>
          <p:cNvPr id="3" name="Content Placeholder 2">
            <a:extLst>
              <a:ext uri="{FF2B5EF4-FFF2-40B4-BE49-F238E27FC236}">
                <a16:creationId xmlns:a16="http://schemas.microsoft.com/office/drawing/2014/main" id="{8479590B-B1BD-2A25-E004-ADEAD367B703}"/>
              </a:ext>
            </a:extLst>
          </p:cNvPr>
          <p:cNvSpPr>
            <a:spLocks noGrp="1"/>
          </p:cNvSpPr>
          <p:nvPr>
            <p:ph idx="1"/>
          </p:nvPr>
        </p:nvSpPr>
        <p:spPr/>
        <p:txBody>
          <a:bodyPr/>
          <a:lstStyle/>
          <a:p>
            <a:r>
              <a:rPr lang="en-US" b="1" dirty="0">
                <a:solidFill>
                  <a:srgbClr val="0070C0"/>
                </a:solidFill>
              </a:rPr>
              <a:t>Loss Function</a:t>
            </a:r>
          </a:p>
          <a:p>
            <a:endParaRPr lang="en-US" dirty="0"/>
          </a:p>
          <a:p>
            <a:r>
              <a:rPr lang="en-US" dirty="0"/>
              <a:t>The network is trained to minimize the </a:t>
            </a:r>
            <a:r>
              <a:rPr lang="en-US" b="1" dirty="0"/>
              <a:t>reconstruction loss</a:t>
            </a:r>
            <a:r>
              <a:rPr lang="en-US" dirty="0"/>
              <a:t>—the difference between the input (X) and the output (X’).</a:t>
            </a:r>
          </a:p>
          <a:p>
            <a:r>
              <a:rPr lang="en-US" dirty="0"/>
              <a:t> For continuous data, this is typically the mean squared error (MSE), and for categorical data, cross-entropy loss may be used.</a:t>
            </a:r>
          </a:p>
          <a:p>
            <a:endParaRPr lang="en-IN" dirty="0"/>
          </a:p>
        </p:txBody>
      </p:sp>
    </p:spTree>
    <p:extLst>
      <p:ext uri="{BB962C8B-B14F-4D97-AF65-F5344CB8AC3E}">
        <p14:creationId xmlns:p14="http://schemas.microsoft.com/office/powerpoint/2010/main" val="3971872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52B75-BC01-DAAB-AF29-A1E8B49F3668}"/>
              </a:ext>
            </a:extLst>
          </p:cNvPr>
          <p:cNvSpPr>
            <a:spLocks noGrp="1"/>
          </p:cNvSpPr>
          <p:nvPr>
            <p:ph type="title"/>
          </p:nvPr>
        </p:nvSpPr>
        <p:spPr>
          <a:xfrm>
            <a:off x="838200" y="365125"/>
            <a:ext cx="10515600" cy="618849"/>
          </a:xfrm>
        </p:spPr>
        <p:txBody>
          <a:bodyPr>
            <a:normAutofit fontScale="90000"/>
          </a:bodyPr>
          <a:lstStyle/>
          <a:p>
            <a:pPr algn="ctr"/>
            <a:r>
              <a:rPr lang="en-IN" dirty="0"/>
              <a:t>Numerical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51533B-B357-7837-558F-E79D8DC5DB86}"/>
                  </a:ext>
                </a:extLst>
              </p:cNvPr>
              <p:cNvSpPr>
                <a:spLocks noGrp="1"/>
              </p:cNvSpPr>
              <p:nvPr>
                <p:ph idx="1"/>
              </p:nvPr>
            </p:nvSpPr>
            <p:spPr>
              <a:xfrm>
                <a:off x="838200" y="1202635"/>
                <a:ext cx="10515600" cy="4974328"/>
              </a:xfrm>
              <a:noFill/>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Assumptions:</a:t>
                </a:r>
              </a:p>
              <a:p>
                <a:pPr lvl="1">
                  <a:buFont typeface="+mj-lt"/>
                  <a:buAutoNum type="arabicPeriod"/>
                </a:pPr>
                <a:r>
                  <a:rPr lang="en-US" b="1" dirty="0">
                    <a:solidFill>
                      <a:srgbClr val="00B0F0"/>
                    </a:solidFill>
                    <a:latin typeface="Times New Roman" panose="02020603050405020304" pitchFamily="18" charset="0"/>
                    <a:cs typeface="Times New Roman" panose="02020603050405020304" pitchFamily="18" charset="0"/>
                  </a:rPr>
                  <a:t>Input (X) is a 3-dimensional vector.</a:t>
                </a:r>
              </a:p>
              <a:p>
                <a:pPr lvl="1">
                  <a:buFont typeface="+mj-lt"/>
                  <a:buAutoNum type="arabicPeriod"/>
                </a:pPr>
                <a:r>
                  <a:rPr lang="en-US" b="1" dirty="0">
                    <a:solidFill>
                      <a:srgbClr val="00B0F0"/>
                    </a:solidFill>
                    <a:latin typeface="Times New Roman" panose="02020603050405020304" pitchFamily="18" charset="0"/>
                    <a:cs typeface="Times New Roman" panose="02020603050405020304" pitchFamily="18" charset="0"/>
                  </a:rPr>
                  <a:t>The encoder reduces the input to a 2-dimensional latent space (Z).</a:t>
                </a:r>
              </a:p>
              <a:p>
                <a:pPr lvl="1">
                  <a:buFont typeface="+mj-lt"/>
                  <a:buAutoNum type="arabicPeriod"/>
                </a:pPr>
                <a:r>
                  <a:rPr lang="en-US" b="1" dirty="0">
                    <a:solidFill>
                      <a:srgbClr val="00B0F0"/>
                    </a:solidFill>
                    <a:latin typeface="Times New Roman" panose="02020603050405020304" pitchFamily="18" charset="0"/>
                    <a:cs typeface="Times New Roman" panose="02020603050405020304" pitchFamily="18" charset="0"/>
                  </a:rPr>
                  <a:t>The decoder reconstructs the 3-dimensional output from the latent space.</a:t>
                </a:r>
              </a:p>
              <a:p>
                <a:pPr lvl="0"/>
                <a:endParaRPr lang="en-IN" dirty="0"/>
              </a:p>
              <a:p>
                <a:pPr lvl="0"/>
                <a:r>
                  <a:rPr lang="en-IN" dirty="0"/>
                  <a:t>X = </a:t>
                </a:r>
                <a14:m>
                  <m:oMath xmlns:m="http://schemas.openxmlformats.org/officeDocument/2006/math">
                    <m:d>
                      <m:dPr>
                        <m:begChr m:val="["/>
                        <m:endChr m:val="]"/>
                        <m:ctrlPr>
                          <a:rPr lang="en-IN" i="1" smtClean="0">
                            <a:latin typeface="Cambria Math" panose="02040503050406030204" pitchFamily="18" charset="0"/>
                          </a:rPr>
                        </m:ctrlPr>
                      </m:dPr>
                      <m:e>
                        <m:eqArr>
                          <m:eqArrPr>
                            <m:ctrlPr>
                              <a:rPr lang="en-IN" b="0" i="1" smtClean="0">
                                <a:latin typeface="Cambria Math" panose="02040503050406030204" pitchFamily="18" charset="0"/>
                              </a:rPr>
                            </m:ctrlPr>
                          </m:eqArrPr>
                          <m:e>
                            <m:r>
                              <a:rPr lang="en-IN" b="0" i="1" smtClean="0">
                                <a:latin typeface="Cambria Math" panose="02040503050406030204" pitchFamily="18" charset="0"/>
                              </a:rPr>
                              <m:t>1</m:t>
                            </m:r>
                          </m:e>
                          <m:e>
                            <m:r>
                              <a:rPr lang="en-IN" b="0" i="1"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5</m:t>
                            </m:r>
                          </m:e>
                          <m:e>
                            <m:r>
                              <a:rPr lang="en-IN" b="0" i="1"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2</m:t>
                            </m:r>
                          </m:e>
                        </m:eqArr>
                      </m:e>
                    </m:d>
                  </m:oMath>
                </a14:m>
                <a:endParaRPr lang="en-IN" dirty="0">
                  <a:solidFill>
                    <a:prstClr val="black"/>
                  </a:solidFill>
                </a:endParaRPr>
              </a:p>
              <a:p>
                <a:endParaRPr lang="en-IN" dirty="0"/>
              </a:p>
              <a:p>
                <a:r>
                  <a:rPr lang="en-IN" dirty="0"/>
                  <a:t>  Z  = W</a:t>
                </a:r>
                <a:r>
                  <a:rPr lang="en-IN" baseline="-25000" dirty="0"/>
                  <a:t>enc</a:t>
                </a:r>
                <a:r>
                  <a:rPr lang="en-IN" dirty="0"/>
                  <a:t> *  X   + Bias</a:t>
                </a:r>
              </a:p>
              <a:p>
                <a:endParaRPr lang="en-IN" dirty="0"/>
              </a:p>
              <a:p>
                <a:r>
                  <a:rPr lang="en-IN" dirty="0"/>
                  <a:t>Z = </a:t>
                </a:r>
                <a14:m>
                  <m:oMath xmlns:m="http://schemas.openxmlformats.org/officeDocument/2006/math">
                    <m:d>
                      <m:dPr>
                        <m:begChr m:val="["/>
                        <m:endChr m:val="]"/>
                        <m:ctrlPr>
                          <a:rPr lang="en-IN" i="1" smtClean="0">
                            <a:latin typeface="Cambria Math" panose="02040503050406030204" pitchFamily="18" charset="0"/>
                          </a:rPr>
                        </m:ctrlPr>
                      </m:dPr>
                      <m:e>
                        <m:eqArr>
                          <m:eqArrPr>
                            <m:ctrlPr>
                              <a:rPr lang="en-IN" b="0" i="1" smtClean="0">
                                <a:latin typeface="Cambria Math" panose="02040503050406030204" pitchFamily="18" charset="0"/>
                              </a:rPr>
                            </m:ctrlPr>
                          </m:eqArrPr>
                          <m:e>
                            <m:r>
                              <a:rPr lang="en-IN" b="0" i="1" smtClean="0">
                                <a:latin typeface="Cambria Math" panose="02040503050406030204" pitchFamily="18" charset="0"/>
                              </a:rPr>
                              <m:t>𝑃</m:t>
                            </m:r>
                          </m:e>
                          <m:e>
                            <m:r>
                              <a:rPr lang="en-IN" b="0" i="1" smtClean="0">
                                <a:latin typeface="Cambria Math" panose="02040503050406030204" pitchFamily="18" charset="0"/>
                              </a:rPr>
                              <m:t>𝑄</m:t>
                            </m:r>
                          </m:e>
                        </m:eqArr>
                      </m:e>
                    </m:d>
                  </m:oMath>
                </a14:m>
                <a:r>
                  <a:rPr lang="en-IN" dirty="0"/>
                  <a:t> </a:t>
                </a:r>
              </a:p>
            </p:txBody>
          </p:sp>
        </mc:Choice>
        <mc:Fallback xmlns="">
          <p:sp>
            <p:nvSpPr>
              <p:cNvPr id="3" name="Content Placeholder 2">
                <a:extLst>
                  <a:ext uri="{FF2B5EF4-FFF2-40B4-BE49-F238E27FC236}">
                    <a16:creationId xmlns:a16="http://schemas.microsoft.com/office/drawing/2014/main" id="{B551533B-B357-7837-558F-E79D8DC5DB86}"/>
                  </a:ext>
                </a:extLst>
              </p:cNvPr>
              <p:cNvSpPr>
                <a:spLocks noGrp="1" noRot="1" noChangeAspect="1" noMove="1" noResize="1" noEditPoints="1" noAdjustHandles="1" noChangeArrowheads="1" noChangeShapeType="1" noTextEdit="1"/>
              </p:cNvSpPr>
              <p:nvPr>
                <p:ph idx="1"/>
              </p:nvPr>
            </p:nvSpPr>
            <p:spPr>
              <a:xfrm>
                <a:off x="838200" y="1202635"/>
                <a:ext cx="10515600" cy="4974328"/>
              </a:xfrm>
              <a:blipFill>
                <a:blip r:embed="rId2"/>
                <a:stretch>
                  <a:fillRect l="-928" t="-2696"/>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13528439-17CE-0D25-40D4-184C6E94C1E9}"/>
              </a:ext>
            </a:extLst>
          </p:cNvPr>
          <p:cNvSpPr txBox="1"/>
          <p:nvPr/>
        </p:nvSpPr>
        <p:spPr>
          <a:xfrm>
            <a:off x="5640456" y="2971800"/>
            <a:ext cx="65" cy="276999"/>
          </a:xfrm>
          <a:prstGeom prst="rect">
            <a:avLst/>
          </a:prstGeom>
          <a:noFill/>
        </p:spPr>
        <p:txBody>
          <a:bodyPr wrap="none" lIns="0" tIns="0" rIns="0" bIns="0" rtlCol="0">
            <a:spAutoFit/>
          </a:bodyPr>
          <a:lstStyle/>
          <a:p>
            <a:endParaRPr lang="en-IN" dirty="0"/>
          </a:p>
        </p:txBody>
      </p:sp>
    </p:spTree>
    <p:extLst>
      <p:ext uri="{BB962C8B-B14F-4D97-AF65-F5344CB8AC3E}">
        <p14:creationId xmlns:p14="http://schemas.microsoft.com/office/powerpoint/2010/main" val="358421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Effect transition="in" filter="fade">
                                      <p:cBhvr>
                                        <p:cTn id="1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52B75-BC01-DAAB-AF29-A1E8B49F3668}"/>
              </a:ext>
            </a:extLst>
          </p:cNvPr>
          <p:cNvSpPr>
            <a:spLocks noGrp="1"/>
          </p:cNvSpPr>
          <p:nvPr>
            <p:ph type="title"/>
          </p:nvPr>
        </p:nvSpPr>
        <p:spPr>
          <a:xfrm>
            <a:off x="838200" y="365125"/>
            <a:ext cx="10515600" cy="618849"/>
          </a:xfrm>
        </p:spPr>
        <p:txBody>
          <a:bodyPr>
            <a:normAutofit fontScale="90000"/>
          </a:bodyPr>
          <a:lstStyle/>
          <a:p>
            <a:pPr algn="ctr"/>
            <a:r>
              <a:rPr lang="en-IN" dirty="0"/>
              <a:t>Numerical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51533B-B357-7837-558F-E79D8DC5DB86}"/>
                  </a:ext>
                </a:extLst>
              </p:cNvPr>
              <p:cNvSpPr>
                <a:spLocks noGrp="1"/>
              </p:cNvSpPr>
              <p:nvPr>
                <p:ph idx="1"/>
              </p:nvPr>
            </p:nvSpPr>
            <p:spPr>
              <a:xfrm>
                <a:off x="838200" y="1202635"/>
                <a:ext cx="10515600" cy="4974328"/>
              </a:xfrm>
              <a:noFill/>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Assumptions:</a:t>
                </a:r>
              </a:p>
              <a:p>
                <a:pPr lvl="1">
                  <a:buFont typeface="+mj-lt"/>
                  <a:buAutoNum type="arabicPeriod"/>
                </a:pPr>
                <a:r>
                  <a:rPr lang="en-US" b="1" dirty="0">
                    <a:solidFill>
                      <a:srgbClr val="00B0F0"/>
                    </a:solidFill>
                    <a:latin typeface="Times New Roman" panose="02020603050405020304" pitchFamily="18" charset="0"/>
                    <a:cs typeface="Times New Roman" panose="02020603050405020304" pitchFamily="18" charset="0"/>
                  </a:rPr>
                  <a:t>Input (X) is a 3-dimensional vector.</a:t>
                </a:r>
              </a:p>
              <a:p>
                <a:pPr lvl="1">
                  <a:buFont typeface="+mj-lt"/>
                  <a:buAutoNum type="arabicPeriod"/>
                </a:pPr>
                <a:r>
                  <a:rPr lang="en-US" b="1" dirty="0">
                    <a:solidFill>
                      <a:srgbClr val="00B0F0"/>
                    </a:solidFill>
                    <a:latin typeface="Times New Roman" panose="02020603050405020304" pitchFamily="18" charset="0"/>
                    <a:cs typeface="Times New Roman" panose="02020603050405020304" pitchFamily="18" charset="0"/>
                  </a:rPr>
                  <a:t>The encoder reduces the input to a 2-dimensional latent space (Z).</a:t>
                </a:r>
              </a:p>
              <a:p>
                <a:pPr lvl="1">
                  <a:buFont typeface="+mj-lt"/>
                  <a:buAutoNum type="arabicPeriod"/>
                </a:pPr>
                <a:r>
                  <a:rPr lang="en-US" b="1" dirty="0">
                    <a:solidFill>
                      <a:srgbClr val="00B0F0"/>
                    </a:solidFill>
                    <a:latin typeface="Times New Roman" panose="02020603050405020304" pitchFamily="18" charset="0"/>
                    <a:cs typeface="Times New Roman" panose="02020603050405020304" pitchFamily="18" charset="0"/>
                  </a:rPr>
                  <a:t>The decoder reconstructs the 3-dimensional output from the latent space.</a:t>
                </a:r>
              </a:p>
              <a:p>
                <a:pPr lvl="0"/>
                <a:endParaRPr lang="en-IN" dirty="0"/>
              </a:p>
              <a:p>
                <a:pPr lvl="0"/>
                <a:r>
                  <a:rPr lang="en-IN" dirty="0"/>
                  <a:t>X = </a:t>
                </a:r>
                <a14:m>
                  <m:oMath xmlns:m="http://schemas.openxmlformats.org/officeDocument/2006/math">
                    <m:d>
                      <m:dPr>
                        <m:begChr m:val="["/>
                        <m:endChr m:val="]"/>
                        <m:ctrlPr>
                          <a:rPr lang="en-IN" i="1" smtClean="0">
                            <a:latin typeface="Cambria Math" panose="02040503050406030204" pitchFamily="18" charset="0"/>
                          </a:rPr>
                        </m:ctrlPr>
                      </m:dPr>
                      <m:e>
                        <m:eqArr>
                          <m:eqArrPr>
                            <m:ctrlPr>
                              <a:rPr lang="en-IN" b="0" i="1" smtClean="0">
                                <a:latin typeface="Cambria Math" panose="02040503050406030204" pitchFamily="18" charset="0"/>
                              </a:rPr>
                            </m:ctrlPr>
                          </m:eqArrPr>
                          <m:e>
                            <m:r>
                              <a:rPr lang="en-IN" b="0" i="1" smtClean="0">
                                <a:latin typeface="Cambria Math" panose="02040503050406030204" pitchFamily="18" charset="0"/>
                              </a:rPr>
                              <m:t>1</m:t>
                            </m:r>
                          </m:e>
                          <m:e>
                            <m:r>
                              <a:rPr lang="en-IN" b="0" i="1"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5</m:t>
                            </m:r>
                          </m:e>
                          <m:e>
                            <m:r>
                              <a:rPr lang="en-IN" b="0" i="1"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2</m:t>
                            </m:r>
                          </m:e>
                        </m:eqArr>
                      </m:e>
                    </m:d>
                  </m:oMath>
                </a14:m>
                <a:r>
                  <a:rPr lang="en-IN" dirty="0"/>
                  <a:t>     W</a:t>
                </a:r>
                <a:r>
                  <a:rPr lang="en-IN" baseline="-25000" dirty="0"/>
                  <a:t>enc</a:t>
                </a:r>
                <a:r>
                  <a:rPr lang="en-IN" dirty="0"/>
                  <a:t> = </a:t>
                </a:r>
                <a:r>
                  <a:rPr lang="en-IN" dirty="0">
                    <a:solidFill>
                      <a:prstClr val="black"/>
                    </a:solidFill>
                  </a:rPr>
                  <a:t> </a:t>
                </a:r>
                <a14:m>
                  <m:oMath xmlns:m="http://schemas.openxmlformats.org/officeDocument/2006/math">
                    <m:d>
                      <m:dPr>
                        <m:begChr m:val="["/>
                        <m:endChr m:val="]"/>
                        <m:ctrlPr>
                          <a:rPr lang="en-IN" i="1">
                            <a:solidFill>
                              <a:prstClr val="black"/>
                            </a:solidFill>
                            <a:latin typeface="Cambria Math" panose="02040503050406030204" pitchFamily="18" charset="0"/>
                          </a:rPr>
                        </m:ctrlPr>
                      </m:dPr>
                      <m:e>
                        <m:eqArr>
                          <m:eqArrPr>
                            <m:ctrlPr>
                              <a:rPr lang="en-IN" b="0" i="1" smtClean="0">
                                <a:solidFill>
                                  <a:prstClr val="black"/>
                                </a:solidFill>
                                <a:latin typeface="Cambria Math" panose="02040503050406030204" pitchFamily="18" charset="0"/>
                              </a:rPr>
                            </m:ctrlPr>
                          </m:eqArrPr>
                          <m:e>
                            <m:r>
                              <a:rPr lang="en-IN" b="0" i="1" smtClean="0">
                                <a:solidFill>
                                  <a:prstClr val="black"/>
                                </a:solidFill>
                                <a:latin typeface="Cambria Math" panose="02040503050406030204" pitchFamily="18" charset="0"/>
                              </a:rPr>
                              <m:t>0</m:t>
                            </m:r>
                            <m:r>
                              <a:rPr lang="en-IN" b="0" i="1" smtClean="0">
                                <a:solidFill>
                                  <a:prstClr val="black"/>
                                </a:solidFill>
                                <a:latin typeface="Cambria Math" panose="02040503050406030204" pitchFamily="18" charset="0"/>
                              </a:rPr>
                              <m:t>.</m:t>
                            </m:r>
                            <m:r>
                              <a:rPr lang="en-IN" b="0" i="1" smtClean="0">
                                <a:solidFill>
                                  <a:prstClr val="black"/>
                                </a:solidFill>
                                <a:latin typeface="Cambria Math" panose="02040503050406030204" pitchFamily="18" charset="0"/>
                              </a:rPr>
                              <m:t>6</m:t>
                            </m:r>
                            <m:r>
                              <a:rPr lang="en-IN" b="0" i="1" smtClean="0">
                                <a:solidFill>
                                  <a:prstClr val="black"/>
                                </a:solidFill>
                                <a:latin typeface="Cambria Math" panose="02040503050406030204" pitchFamily="18" charset="0"/>
                              </a:rPr>
                              <m:t>    </m:t>
                            </m:r>
                            <m:r>
                              <a:rPr lang="en-IN" b="0" i="1" smtClean="0">
                                <a:solidFill>
                                  <a:prstClr val="black"/>
                                </a:solidFill>
                                <a:latin typeface="Cambria Math" panose="02040503050406030204" pitchFamily="18" charset="0"/>
                              </a:rPr>
                              <m:t>0</m:t>
                            </m:r>
                            <m:r>
                              <a:rPr lang="en-IN" b="0" i="1" smtClean="0">
                                <a:solidFill>
                                  <a:prstClr val="black"/>
                                </a:solidFill>
                                <a:latin typeface="Cambria Math" panose="02040503050406030204" pitchFamily="18" charset="0"/>
                              </a:rPr>
                              <m:t>.</m:t>
                            </m:r>
                            <m:r>
                              <a:rPr lang="en-IN" b="0" i="1" smtClean="0">
                                <a:solidFill>
                                  <a:prstClr val="black"/>
                                </a:solidFill>
                                <a:latin typeface="Cambria Math" panose="02040503050406030204" pitchFamily="18" charset="0"/>
                              </a:rPr>
                              <m:t>1</m:t>
                            </m:r>
                            <m:r>
                              <a:rPr lang="en-IN" b="0" i="1" smtClean="0">
                                <a:solidFill>
                                  <a:prstClr val="black"/>
                                </a:solidFill>
                                <a:latin typeface="Cambria Math" panose="02040503050406030204" pitchFamily="18" charset="0"/>
                              </a:rPr>
                              <m:t>   </m:t>
                            </m:r>
                            <m:r>
                              <a:rPr lang="en-IN" b="0" i="1" smtClean="0">
                                <a:solidFill>
                                  <a:prstClr val="black"/>
                                </a:solidFill>
                                <a:latin typeface="Cambria Math" panose="02040503050406030204" pitchFamily="18" charset="0"/>
                              </a:rPr>
                              <m:t>0</m:t>
                            </m:r>
                            <m:r>
                              <a:rPr lang="en-IN" b="0" i="1" smtClean="0">
                                <a:solidFill>
                                  <a:prstClr val="black"/>
                                </a:solidFill>
                                <a:latin typeface="Cambria Math" panose="02040503050406030204" pitchFamily="18" charset="0"/>
                              </a:rPr>
                              <m:t>.</m:t>
                            </m:r>
                            <m:r>
                              <a:rPr lang="en-IN" b="0" i="1" smtClean="0">
                                <a:solidFill>
                                  <a:prstClr val="black"/>
                                </a:solidFill>
                                <a:latin typeface="Cambria Math" panose="02040503050406030204" pitchFamily="18" charset="0"/>
                              </a:rPr>
                              <m:t>3</m:t>
                            </m:r>
                          </m:e>
                          <m:e>
                            <m:r>
                              <a:rPr lang="en-IN" b="0" i="1" smtClean="0">
                                <a:solidFill>
                                  <a:prstClr val="black"/>
                                </a:solidFill>
                                <a:latin typeface="Cambria Math" panose="02040503050406030204" pitchFamily="18" charset="0"/>
                              </a:rPr>
                              <m:t>0</m:t>
                            </m:r>
                            <m:r>
                              <a:rPr lang="en-IN" b="0" i="1" smtClean="0">
                                <a:solidFill>
                                  <a:prstClr val="black"/>
                                </a:solidFill>
                                <a:latin typeface="Cambria Math" panose="02040503050406030204" pitchFamily="18" charset="0"/>
                              </a:rPr>
                              <m:t>.</m:t>
                            </m:r>
                            <m:r>
                              <a:rPr lang="en-IN" b="0" i="1" smtClean="0">
                                <a:solidFill>
                                  <a:prstClr val="black"/>
                                </a:solidFill>
                                <a:latin typeface="Cambria Math" panose="02040503050406030204" pitchFamily="18" charset="0"/>
                              </a:rPr>
                              <m:t>2</m:t>
                            </m:r>
                            <m:r>
                              <a:rPr lang="en-IN" b="0" i="1" smtClean="0">
                                <a:solidFill>
                                  <a:prstClr val="black"/>
                                </a:solidFill>
                                <a:latin typeface="Cambria Math" panose="02040503050406030204" pitchFamily="18" charset="0"/>
                              </a:rPr>
                              <m:t>   </m:t>
                            </m:r>
                            <m:r>
                              <a:rPr lang="en-IN" b="0" i="1" smtClean="0">
                                <a:solidFill>
                                  <a:prstClr val="black"/>
                                </a:solidFill>
                                <a:latin typeface="Cambria Math" panose="02040503050406030204" pitchFamily="18" charset="0"/>
                              </a:rPr>
                              <m:t>0</m:t>
                            </m:r>
                            <m:r>
                              <a:rPr lang="en-IN" b="0" i="1" smtClean="0">
                                <a:solidFill>
                                  <a:prstClr val="black"/>
                                </a:solidFill>
                                <a:latin typeface="Cambria Math" panose="02040503050406030204" pitchFamily="18" charset="0"/>
                              </a:rPr>
                              <m:t>.</m:t>
                            </m:r>
                            <m:r>
                              <a:rPr lang="en-IN" b="0" i="1" smtClean="0">
                                <a:solidFill>
                                  <a:prstClr val="black"/>
                                </a:solidFill>
                                <a:latin typeface="Cambria Math" panose="02040503050406030204" pitchFamily="18" charset="0"/>
                              </a:rPr>
                              <m:t>5</m:t>
                            </m:r>
                            <m:r>
                              <a:rPr lang="en-IN" b="0" i="1" smtClean="0">
                                <a:solidFill>
                                  <a:prstClr val="black"/>
                                </a:solidFill>
                                <a:latin typeface="Cambria Math" panose="02040503050406030204" pitchFamily="18" charset="0"/>
                              </a:rPr>
                              <m:t>   </m:t>
                            </m:r>
                            <m:r>
                              <a:rPr lang="en-IN" b="0" i="1" smtClean="0">
                                <a:solidFill>
                                  <a:prstClr val="black"/>
                                </a:solidFill>
                                <a:latin typeface="Cambria Math" panose="02040503050406030204" pitchFamily="18" charset="0"/>
                              </a:rPr>
                              <m:t>0</m:t>
                            </m:r>
                            <m:r>
                              <a:rPr lang="en-IN" b="0" i="1" smtClean="0">
                                <a:solidFill>
                                  <a:prstClr val="black"/>
                                </a:solidFill>
                                <a:latin typeface="Cambria Math" panose="02040503050406030204" pitchFamily="18" charset="0"/>
                              </a:rPr>
                              <m:t>.</m:t>
                            </m:r>
                            <m:r>
                              <a:rPr lang="en-IN" b="0" i="1" smtClean="0">
                                <a:solidFill>
                                  <a:prstClr val="black"/>
                                </a:solidFill>
                                <a:latin typeface="Cambria Math" panose="02040503050406030204" pitchFamily="18" charset="0"/>
                              </a:rPr>
                              <m:t>4</m:t>
                            </m:r>
                          </m:e>
                        </m:eqArr>
                      </m:e>
                    </m:d>
                  </m:oMath>
                </a14:m>
                <a:r>
                  <a:rPr lang="en-IN" dirty="0">
                    <a:solidFill>
                      <a:prstClr val="black"/>
                    </a:solidFill>
                  </a:rPr>
                  <a:t>           Bias=</a:t>
                </a:r>
                <a:r>
                  <a:rPr lang="en-IN" dirty="0"/>
                  <a:t> </a:t>
                </a:r>
                <a14:m>
                  <m:oMath xmlns:m="http://schemas.openxmlformats.org/officeDocument/2006/math">
                    <m:d>
                      <m:dPr>
                        <m:begChr m:val="["/>
                        <m:endChr m:val="]"/>
                        <m:ctrlPr>
                          <a:rPr lang="en-IN" i="1">
                            <a:latin typeface="Cambria Math" panose="02040503050406030204" pitchFamily="18" charset="0"/>
                          </a:rPr>
                        </m:ctrlPr>
                      </m:dPr>
                      <m:e>
                        <m:eqArr>
                          <m:eqArrPr>
                            <m:ctrlPr>
                              <a:rPr lang="en-IN" b="0" i="1" smtClean="0">
                                <a:latin typeface="Cambria Math" panose="02040503050406030204" pitchFamily="18" charset="0"/>
                              </a:rPr>
                            </m:ctrlPr>
                          </m:eqArrPr>
                          <m:e>
                            <m:r>
                              <a:rPr lang="en-IN" b="0" i="1"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1</m:t>
                            </m:r>
                          </m:e>
                          <m:e>
                            <m:r>
                              <a:rPr lang="en-IN" b="0" i="1"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2</m:t>
                            </m:r>
                          </m:e>
                        </m:eqArr>
                      </m:e>
                    </m:d>
                  </m:oMath>
                </a14:m>
                <a:endParaRPr lang="en-IN" dirty="0">
                  <a:solidFill>
                    <a:prstClr val="black"/>
                  </a:solidFill>
                </a:endParaRPr>
              </a:p>
              <a:p>
                <a:endParaRPr lang="en-IN" dirty="0"/>
              </a:p>
              <a:p>
                <a:r>
                  <a:rPr lang="en-IN" dirty="0"/>
                  <a:t>   Z  = W</a:t>
                </a:r>
                <a:r>
                  <a:rPr lang="en-IN" baseline="-25000" dirty="0"/>
                  <a:t>enc</a:t>
                </a:r>
                <a:r>
                  <a:rPr lang="en-IN" dirty="0"/>
                  <a:t> *  X   + Bias</a:t>
                </a:r>
              </a:p>
              <a:p>
                <a:endParaRPr lang="en-IN" dirty="0"/>
              </a:p>
              <a:p>
                <a:r>
                  <a:rPr lang="en-IN" dirty="0"/>
                  <a:t>Latent Representation Z =  </a:t>
                </a:r>
                <a14:m>
                  <m:oMath xmlns:m="http://schemas.openxmlformats.org/officeDocument/2006/math">
                    <m:d>
                      <m:dPr>
                        <m:begChr m:val="["/>
                        <m:endChr m:val="]"/>
                        <m:ctrlPr>
                          <a:rPr lang="en-IN" i="1" smtClean="0">
                            <a:latin typeface="Cambria Math" panose="02040503050406030204" pitchFamily="18" charset="0"/>
                          </a:rPr>
                        </m:ctrlPr>
                      </m:dPr>
                      <m:e>
                        <m:eqArr>
                          <m:eqArrPr>
                            <m:ctrlPr>
                              <a:rPr lang="en-IN" b="0" i="1" smtClean="0">
                                <a:latin typeface="Cambria Math" panose="02040503050406030204" pitchFamily="18" charset="0"/>
                              </a:rPr>
                            </m:ctrlPr>
                          </m:eqArrPr>
                          <m:e>
                            <m:r>
                              <a:rPr lang="en-IN" b="0" i="1"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81</m:t>
                            </m:r>
                          </m:e>
                          <m:e>
                            <m:r>
                              <a:rPr lang="en-IN" b="0" i="1"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73</m:t>
                            </m:r>
                          </m:e>
                        </m:eqArr>
                      </m:e>
                    </m:d>
                  </m:oMath>
                </a14:m>
                <a:r>
                  <a:rPr lang="en-IN" dirty="0"/>
                  <a:t> </a:t>
                </a:r>
              </a:p>
            </p:txBody>
          </p:sp>
        </mc:Choice>
        <mc:Fallback xmlns="">
          <p:sp>
            <p:nvSpPr>
              <p:cNvPr id="3" name="Content Placeholder 2">
                <a:extLst>
                  <a:ext uri="{FF2B5EF4-FFF2-40B4-BE49-F238E27FC236}">
                    <a16:creationId xmlns:a16="http://schemas.microsoft.com/office/drawing/2014/main" id="{B551533B-B357-7837-558F-E79D8DC5DB86}"/>
                  </a:ext>
                </a:extLst>
              </p:cNvPr>
              <p:cNvSpPr>
                <a:spLocks noGrp="1" noRot="1" noChangeAspect="1" noMove="1" noResize="1" noEditPoints="1" noAdjustHandles="1" noChangeArrowheads="1" noChangeShapeType="1" noTextEdit="1"/>
              </p:cNvSpPr>
              <p:nvPr>
                <p:ph idx="1"/>
              </p:nvPr>
            </p:nvSpPr>
            <p:spPr>
              <a:xfrm>
                <a:off x="838200" y="1202635"/>
                <a:ext cx="10515600" cy="4974328"/>
              </a:xfrm>
              <a:blipFill>
                <a:blip r:embed="rId2"/>
                <a:stretch>
                  <a:fillRect l="-928" t="-2696"/>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13528439-17CE-0D25-40D4-184C6E94C1E9}"/>
              </a:ext>
            </a:extLst>
          </p:cNvPr>
          <p:cNvSpPr txBox="1"/>
          <p:nvPr/>
        </p:nvSpPr>
        <p:spPr>
          <a:xfrm>
            <a:off x="5640456" y="2971800"/>
            <a:ext cx="65" cy="276999"/>
          </a:xfrm>
          <a:prstGeom prst="rect">
            <a:avLst/>
          </a:prstGeom>
          <a:noFill/>
        </p:spPr>
        <p:txBody>
          <a:bodyPr wrap="none" lIns="0" tIns="0" rIns="0" bIns="0" rtlCol="0">
            <a:spAutoFit/>
          </a:bodyPr>
          <a:lstStyle/>
          <a:p>
            <a:endParaRPr lang="en-IN" dirty="0"/>
          </a:p>
        </p:txBody>
      </p:sp>
    </p:spTree>
    <p:extLst>
      <p:ext uri="{BB962C8B-B14F-4D97-AF65-F5344CB8AC3E}">
        <p14:creationId xmlns:p14="http://schemas.microsoft.com/office/powerpoint/2010/main" val="418868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EED6-7A17-A51F-6A4E-C37ED27A37E2}"/>
              </a:ext>
            </a:extLst>
          </p:cNvPr>
          <p:cNvSpPr>
            <a:spLocks noGrp="1"/>
          </p:cNvSpPr>
          <p:nvPr>
            <p:ph type="title"/>
          </p:nvPr>
        </p:nvSpPr>
        <p:spPr/>
        <p:txBody>
          <a:bodyPr/>
          <a:lstStyle/>
          <a:p>
            <a:r>
              <a:rPr lang="en-IN" dirty="0"/>
              <a:t>Decoder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8CE300-4BAA-2AD7-C48D-D7A9BD81ECC8}"/>
                  </a:ext>
                </a:extLst>
              </p:cNvPr>
              <p:cNvSpPr>
                <a:spLocks noGrp="1"/>
              </p:cNvSpPr>
              <p:nvPr>
                <p:ph idx="1"/>
              </p:nvPr>
            </p:nvSpPr>
            <p:spPr/>
            <p:txBody>
              <a:bodyPr/>
              <a:lstStyle/>
              <a:p>
                <a:r>
                  <a:rPr kumimoji="0" lang="en-IN" sz="26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IN" sz="2600" b="0" i="0" u="none" strike="noStrike" kern="1200" cap="none" spc="0" normalizeH="0" baseline="-25000" noProof="0" dirty="0" err="1">
                    <a:ln>
                      <a:noFill/>
                    </a:ln>
                    <a:solidFill>
                      <a:prstClr val="black"/>
                    </a:solidFill>
                    <a:effectLst/>
                    <a:uLnTx/>
                    <a:uFillTx/>
                    <a:latin typeface="Calibri" panose="020F0502020204030204"/>
                    <a:ea typeface="+mn-ea"/>
                    <a:cs typeface="+mn-cs"/>
                  </a:rPr>
                  <a:t>dec</a:t>
                </a:r>
                <a:r>
                  <a:rPr kumimoji="0" lang="en-IN" sz="2600" b="0" i="0" u="none" strike="noStrike" kern="1200" cap="none" spc="0" normalizeH="0" baseline="0" noProof="0" dirty="0">
                    <a:ln>
                      <a:noFill/>
                    </a:ln>
                    <a:solidFill>
                      <a:prstClr val="black"/>
                    </a:solidFill>
                    <a:effectLst/>
                    <a:uLnTx/>
                    <a:uFillTx/>
                    <a:latin typeface="Calibri" panose="020F0502020204030204"/>
                    <a:ea typeface="+mn-ea"/>
                    <a:cs typeface="+mn-cs"/>
                  </a:rPr>
                  <a:t> =  </a:t>
                </a:r>
                <a14:m>
                  <m:oMath xmlns:m="http://schemas.openxmlformats.org/officeDocument/2006/math">
                    <m:d>
                      <m:dPr>
                        <m:begChr m:val="["/>
                        <m:endChr m:val="]"/>
                        <m:ctrlPr>
                          <a:rPr kumimoji="0" lang="en-IN" sz="2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eqArr>
                          <m:eqArrPr>
                            <m:ctrlP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e>
                          <m:e>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e>
                          <m:e>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qArr>
                      </m:e>
                    </m:d>
                  </m:oMath>
                </a14:m>
                <a:r>
                  <a:rPr kumimoji="0" lang="en-IN"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2600" b="0" i="0" u="none" strike="noStrike" kern="1200" cap="none" spc="0" normalizeH="0" baseline="0" noProof="0" dirty="0" err="1">
                    <a:ln>
                      <a:noFill/>
                    </a:ln>
                    <a:solidFill>
                      <a:prstClr val="black"/>
                    </a:solidFill>
                    <a:effectLst/>
                    <a:uLnTx/>
                    <a:uFillTx/>
                    <a:latin typeface="Calibri" panose="020F0502020204030204"/>
                    <a:ea typeface="+mn-ea"/>
                    <a:cs typeface="+mn-cs"/>
                  </a:rPr>
                  <a:t>Bias</a:t>
                </a:r>
                <a:r>
                  <a:rPr kumimoji="0" lang="en-IN" sz="2600" b="0" i="0" u="none" strike="noStrike" kern="1200" cap="none" spc="0" normalizeH="0" baseline="-25000" noProof="0" dirty="0" err="1">
                    <a:ln>
                      <a:noFill/>
                    </a:ln>
                    <a:solidFill>
                      <a:prstClr val="black"/>
                    </a:solidFill>
                    <a:effectLst/>
                    <a:uLnTx/>
                    <a:uFillTx/>
                    <a:latin typeface="Calibri" panose="020F0502020204030204"/>
                    <a:ea typeface="+mn-ea"/>
                    <a:cs typeface="+mn-cs"/>
                  </a:rPr>
                  <a:t>dec</a:t>
                </a:r>
                <a:r>
                  <a:rPr kumimoji="0" lang="en-IN" sz="26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d>
                      <m:dPr>
                        <m:begChr m:val="["/>
                        <m:endChr m:val="]"/>
                        <m:ctrlPr>
                          <a:rPr kumimoji="0" lang="en-IN" sz="2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eqArr>
                          <m:eqArrPr>
                            <m:ctrlP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e>
                          <m:e>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e>
                        </m:eqArr>
                      </m:e>
                    </m:d>
                  </m:oMath>
                </a14:m>
                <a:endParaRPr kumimoji="0" lang="en-IN"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a:p>
                <a:r>
                  <a:rPr lang="en-IN" dirty="0"/>
                  <a:t>Decoder Operation</a:t>
                </a:r>
              </a:p>
              <a:p>
                <a:r>
                  <a:rPr lang="pl-PL" dirty="0"/>
                  <a:t>X</a:t>
                </a:r>
                <a:r>
                  <a:rPr lang="en-IN" dirty="0"/>
                  <a:t>’</a:t>
                </a:r>
                <a:r>
                  <a:rPr lang="pl-PL" dirty="0"/>
                  <a:t> =W</a:t>
                </a:r>
                <a:r>
                  <a:rPr lang="pl-PL" baseline="-25000" dirty="0"/>
                  <a:t>dec</a:t>
                </a:r>
                <a:r>
                  <a:rPr lang="pl-PL" dirty="0"/>
                  <a:t>​ </a:t>
                </a:r>
                <a:r>
                  <a:rPr lang="en-IN" dirty="0"/>
                  <a:t>* </a:t>
                </a:r>
                <a:r>
                  <a:rPr lang="pl-PL" dirty="0"/>
                  <a:t>Z</a:t>
                </a:r>
                <a:r>
                  <a:rPr lang="en-IN" dirty="0"/>
                  <a:t> </a:t>
                </a:r>
                <a:r>
                  <a:rPr lang="pl-PL" dirty="0"/>
                  <a:t>+</a:t>
                </a:r>
                <a:r>
                  <a:rPr lang="en-IN" dirty="0"/>
                  <a:t> Bias</a:t>
                </a:r>
                <a:r>
                  <a:rPr lang="pl-PL" baseline="-25000" dirty="0"/>
                  <a:t>dec</a:t>
                </a:r>
                <a:r>
                  <a:rPr lang="pl-PL" dirty="0"/>
                  <a:t>​</a:t>
                </a:r>
                <a:endParaRPr lang="en-IN" dirty="0"/>
              </a:p>
              <a:p>
                <a:endParaRPr lang="en-IN" dirty="0"/>
              </a:p>
              <a:p>
                <a:r>
                  <a:rPr lang="en-IN" dirty="0"/>
                  <a:t>X’  = </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d>
                      <m:dPr>
                        <m:begChr m:val="["/>
                        <m:endChr m:val="]"/>
                        <m:ctrlPr>
                          <a:rPr kumimoji="0" lang="en-IN"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eqArr>
                          <m:eqArrPr>
                            <m:ctrlP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824</m:t>
                            </m:r>
                          </m:e>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57</m:t>
                            </m:r>
                          </m:e>
                          <m:e>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859</m:t>
                            </m:r>
                          </m:e>
                        </m:eqArr>
                      </m:e>
                    </m:d>
                  </m:oMath>
                </a14:m>
                <a:endParaRPr lang="en-IN" dirty="0"/>
              </a:p>
            </p:txBody>
          </p:sp>
        </mc:Choice>
        <mc:Fallback xmlns="">
          <p:sp>
            <p:nvSpPr>
              <p:cNvPr id="3" name="Content Placeholder 2">
                <a:extLst>
                  <a:ext uri="{FF2B5EF4-FFF2-40B4-BE49-F238E27FC236}">
                    <a16:creationId xmlns:a16="http://schemas.microsoft.com/office/drawing/2014/main" id="{228CE300-4BAA-2AD7-C48D-D7A9BD81ECC8}"/>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IN">
                    <a:noFill/>
                  </a:rPr>
                  <a:t> </a:t>
                </a:r>
              </a:p>
            </p:txBody>
          </p:sp>
        </mc:Fallback>
      </mc:AlternateContent>
    </p:spTree>
    <p:extLst>
      <p:ext uri="{BB962C8B-B14F-4D97-AF65-F5344CB8AC3E}">
        <p14:creationId xmlns:p14="http://schemas.microsoft.com/office/powerpoint/2010/main" val="408542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0D468-000D-20FC-0A94-76ED3FE7BCD6}"/>
              </a:ext>
            </a:extLst>
          </p:cNvPr>
          <p:cNvSpPr>
            <a:spLocks noGrp="1"/>
          </p:cNvSpPr>
          <p:nvPr>
            <p:ph type="title"/>
          </p:nvPr>
        </p:nvSpPr>
        <p:spPr/>
        <p:txBody>
          <a:bodyPr/>
          <a:lstStyle/>
          <a:p>
            <a:pPr algn="ctr"/>
            <a:r>
              <a:rPr lang="en-IN" dirty="0"/>
              <a:t>Types of Autoencoders</a:t>
            </a:r>
          </a:p>
        </p:txBody>
      </p:sp>
      <p:sp>
        <p:nvSpPr>
          <p:cNvPr id="3" name="Content Placeholder 2">
            <a:extLst>
              <a:ext uri="{FF2B5EF4-FFF2-40B4-BE49-F238E27FC236}">
                <a16:creationId xmlns:a16="http://schemas.microsoft.com/office/drawing/2014/main" id="{CD25F71C-8BBD-7BDE-09DD-5CB8DE4BA8DD}"/>
              </a:ext>
            </a:extLst>
          </p:cNvPr>
          <p:cNvSpPr>
            <a:spLocks noGrp="1"/>
          </p:cNvSpPr>
          <p:nvPr>
            <p:ph idx="1"/>
          </p:nvPr>
        </p:nvSpPr>
        <p:spPr>
          <a:xfrm>
            <a:off x="838200" y="1825625"/>
            <a:ext cx="10515600" cy="4667250"/>
          </a:xfrm>
        </p:spPr>
        <p:txBody>
          <a:bodyPr>
            <a:normAutofit lnSpcReduction="10000"/>
          </a:bodyPr>
          <a:lstStyle/>
          <a:p>
            <a:r>
              <a:rPr lang="en-IN" dirty="0"/>
              <a:t>Undercomplete Autoencoders</a:t>
            </a:r>
          </a:p>
          <a:p>
            <a:endParaRPr lang="en-IN" dirty="0"/>
          </a:p>
          <a:p>
            <a:r>
              <a:rPr lang="en-IN" dirty="0"/>
              <a:t>Overcomplete Auto encoders</a:t>
            </a:r>
          </a:p>
          <a:p>
            <a:endParaRPr lang="en-IN" dirty="0"/>
          </a:p>
          <a:p>
            <a:r>
              <a:rPr lang="en-IN" dirty="0"/>
              <a:t>Regularized Autoencoders</a:t>
            </a:r>
          </a:p>
          <a:p>
            <a:pPr lvl="1"/>
            <a:r>
              <a:rPr lang="fr-FR" dirty="0" err="1"/>
              <a:t>Sparse</a:t>
            </a:r>
            <a:r>
              <a:rPr lang="fr-FR" dirty="0"/>
              <a:t> </a:t>
            </a:r>
            <a:r>
              <a:rPr lang="fr-FR" dirty="0" err="1"/>
              <a:t>autoencoders</a:t>
            </a:r>
            <a:endParaRPr lang="fr-FR" dirty="0"/>
          </a:p>
          <a:p>
            <a:pPr lvl="1"/>
            <a:r>
              <a:rPr lang="fr-FR" dirty="0" err="1"/>
              <a:t>Denoising</a:t>
            </a:r>
            <a:r>
              <a:rPr lang="fr-FR" dirty="0"/>
              <a:t> </a:t>
            </a:r>
            <a:r>
              <a:rPr lang="fr-FR" dirty="0" err="1"/>
              <a:t>autoencoder</a:t>
            </a:r>
            <a:endParaRPr lang="fr-FR" dirty="0"/>
          </a:p>
          <a:p>
            <a:pPr lvl="1"/>
            <a:r>
              <a:rPr lang="fr-FR" dirty="0"/>
              <a:t>Contractive </a:t>
            </a:r>
            <a:r>
              <a:rPr lang="fr-FR" dirty="0" err="1"/>
              <a:t>autoencoders</a:t>
            </a:r>
            <a:endParaRPr lang="fr-FR" dirty="0"/>
          </a:p>
          <a:p>
            <a:endParaRPr lang="en-IN" dirty="0"/>
          </a:p>
          <a:p>
            <a:r>
              <a:rPr lang="en-IN" dirty="0"/>
              <a:t>Stochastic Encoders and Decoders </a:t>
            </a:r>
          </a:p>
          <a:p>
            <a:endParaRPr lang="en-IN" dirty="0"/>
          </a:p>
          <a:p>
            <a:endParaRPr lang="en-IN" dirty="0"/>
          </a:p>
        </p:txBody>
      </p:sp>
    </p:spTree>
    <p:extLst>
      <p:ext uri="{BB962C8B-B14F-4D97-AF65-F5344CB8AC3E}">
        <p14:creationId xmlns:p14="http://schemas.microsoft.com/office/powerpoint/2010/main" val="1276549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403856-CA1E-31D6-F461-B34116787006}"/>
              </a:ext>
            </a:extLst>
          </p:cNvPr>
          <p:cNvPicPr>
            <a:picLocks noChangeAspect="1"/>
          </p:cNvPicPr>
          <p:nvPr/>
        </p:nvPicPr>
        <p:blipFill>
          <a:blip r:embed="rId2"/>
          <a:stretch>
            <a:fillRect/>
          </a:stretch>
        </p:blipFill>
        <p:spPr>
          <a:xfrm>
            <a:off x="1610140" y="242714"/>
            <a:ext cx="8590172" cy="41883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34BF55F8-5D0D-F272-A76C-CBE2E666FD91}"/>
              </a:ext>
            </a:extLst>
          </p:cNvPr>
          <p:cNvSpPr txBox="1"/>
          <p:nvPr/>
        </p:nvSpPr>
        <p:spPr>
          <a:xfrm>
            <a:off x="934279" y="4911229"/>
            <a:ext cx="10366512" cy="1384995"/>
          </a:xfrm>
          <a:prstGeom prst="rect">
            <a:avLst/>
          </a:prstGeom>
          <a:noFill/>
        </p:spPr>
        <p:txBody>
          <a:bodyPr wrap="square">
            <a:spAutoFit/>
          </a:bodyPr>
          <a:lstStyle/>
          <a:p>
            <a:pPr algn="just"/>
            <a:r>
              <a:rPr lang="en-IN" sz="2800" dirty="0">
                <a:solidFill>
                  <a:srgbClr val="0070C0"/>
                </a:solidFill>
              </a:rPr>
              <a:t>For Undercomplete autoencoder - output dimension of encoder is smaller than input dimension and</a:t>
            </a:r>
          </a:p>
          <a:p>
            <a:pPr algn="just"/>
            <a:r>
              <a:rPr lang="en-IN" sz="2800" dirty="0">
                <a:solidFill>
                  <a:srgbClr val="0070C0"/>
                </a:solidFill>
              </a:rPr>
              <a:t>vice versa for Overcomplete autoencoder</a:t>
            </a:r>
          </a:p>
        </p:txBody>
      </p:sp>
    </p:spTree>
    <p:extLst>
      <p:ext uri="{BB962C8B-B14F-4D97-AF65-F5344CB8AC3E}">
        <p14:creationId xmlns:p14="http://schemas.microsoft.com/office/powerpoint/2010/main" val="1053383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97E4A-A9F5-F66A-9960-B2BE67F39133}"/>
              </a:ext>
            </a:extLst>
          </p:cNvPr>
          <p:cNvSpPr>
            <a:spLocks noGrp="1"/>
          </p:cNvSpPr>
          <p:nvPr>
            <p:ph type="title"/>
          </p:nvPr>
        </p:nvSpPr>
        <p:spPr>
          <a:xfrm>
            <a:off x="838200" y="365125"/>
            <a:ext cx="10515600" cy="430005"/>
          </a:xfrm>
        </p:spPr>
        <p:txBody>
          <a:bodyPr>
            <a:normAutofit fontScale="90000"/>
          </a:bodyPr>
          <a:lstStyle/>
          <a:p>
            <a:pPr algn="ctr"/>
            <a:r>
              <a:rPr lang="en-IN" dirty="0"/>
              <a:t>Architecture</a:t>
            </a:r>
          </a:p>
        </p:txBody>
      </p:sp>
      <p:sp>
        <p:nvSpPr>
          <p:cNvPr id="3" name="Content Placeholder 2">
            <a:extLst>
              <a:ext uri="{FF2B5EF4-FFF2-40B4-BE49-F238E27FC236}">
                <a16:creationId xmlns:a16="http://schemas.microsoft.com/office/drawing/2014/main" id="{302C5303-46C6-29A7-2D4E-3053535E4CB6}"/>
              </a:ext>
            </a:extLst>
          </p:cNvPr>
          <p:cNvSpPr>
            <a:spLocks noGrp="1"/>
          </p:cNvSpPr>
          <p:nvPr>
            <p:ph idx="1"/>
          </p:nvPr>
        </p:nvSpPr>
        <p:spPr>
          <a:xfrm>
            <a:off x="311425" y="1795808"/>
            <a:ext cx="4797287" cy="4351338"/>
          </a:xfrm>
        </p:spPr>
        <p:txBody>
          <a:bodyPr>
            <a:normAutofit fontScale="92500" lnSpcReduction="10000"/>
          </a:bodyPr>
          <a:lstStyle/>
          <a:p>
            <a:pPr algn="just"/>
            <a:r>
              <a:rPr lang="en-US" dirty="0"/>
              <a:t>Latent space is smaller than the input space.</a:t>
            </a:r>
          </a:p>
          <a:p>
            <a:pPr algn="just"/>
            <a:endParaRPr lang="en-US" dirty="0"/>
          </a:p>
          <a:p>
            <a:pPr algn="just"/>
            <a:r>
              <a:rPr lang="en-US" dirty="0"/>
              <a:t>The bottleneck layer forces the model to learn compressed, essential features from the data by reducing its dimensionality.</a:t>
            </a:r>
          </a:p>
          <a:p>
            <a:pPr algn="just"/>
            <a:endParaRPr lang="en-US" dirty="0"/>
          </a:p>
          <a:p>
            <a:pPr algn="just"/>
            <a:r>
              <a:rPr lang="en-US" dirty="0"/>
              <a:t>For example, for an input of size 100 dimensions, the latent space might be 20 dimensions.</a:t>
            </a:r>
            <a:endParaRPr lang="en-IN" dirty="0"/>
          </a:p>
        </p:txBody>
      </p:sp>
      <p:sp>
        <p:nvSpPr>
          <p:cNvPr id="4" name="TextBox 3">
            <a:extLst>
              <a:ext uri="{FF2B5EF4-FFF2-40B4-BE49-F238E27FC236}">
                <a16:creationId xmlns:a16="http://schemas.microsoft.com/office/drawing/2014/main" id="{1D6A87CD-9FCB-19EE-B0E6-CBC89EE1BD4F}"/>
              </a:ext>
            </a:extLst>
          </p:cNvPr>
          <p:cNvSpPr txBox="1"/>
          <p:nvPr/>
        </p:nvSpPr>
        <p:spPr>
          <a:xfrm>
            <a:off x="556590"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UNDERCOMPLETE AUTOENCODER</a:t>
            </a:r>
          </a:p>
        </p:txBody>
      </p:sp>
      <p:sp>
        <p:nvSpPr>
          <p:cNvPr id="5" name="TextBox 4">
            <a:extLst>
              <a:ext uri="{FF2B5EF4-FFF2-40B4-BE49-F238E27FC236}">
                <a16:creationId xmlns:a16="http://schemas.microsoft.com/office/drawing/2014/main" id="{51B199D3-0E14-7C92-5563-C9E47C0581F3}"/>
              </a:ext>
            </a:extLst>
          </p:cNvPr>
          <p:cNvSpPr txBox="1"/>
          <p:nvPr/>
        </p:nvSpPr>
        <p:spPr>
          <a:xfrm>
            <a:off x="6901068"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OVERCOMPLETE AUTOENCODER</a:t>
            </a:r>
          </a:p>
        </p:txBody>
      </p:sp>
      <p:sp>
        <p:nvSpPr>
          <p:cNvPr id="6" name="Content Placeholder 2">
            <a:extLst>
              <a:ext uri="{FF2B5EF4-FFF2-40B4-BE49-F238E27FC236}">
                <a16:creationId xmlns:a16="http://schemas.microsoft.com/office/drawing/2014/main" id="{175BE89B-E50E-BA2D-76F5-88B5BC3596E0}"/>
              </a:ext>
            </a:extLst>
          </p:cNvPr>
          <p:cNvSpPr txBox="1">
            <a:spLocks/>
          </p:cNvSpPr>
          <p:nvPr/>
        </p:nvSpPr>
        <p:spPr>
          <a:xfrm>
            <a:off x="6674015" y="1795808"/>
            <a:ext cx="4797287" cy="469706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Latent space is larger than the input space.</a:t>
            </a:r>
          </a:p>
          <a:p>
            <a:pPr algn="just"/>
            <a:endParaRPr lang="en-US" dirty="0"/>
          </a:p>
          <a:p>
            <a:pPr algn="just"/>
            <a:r>
              <a:rPr lang="en-US" dirty="0"/>
              <a:t>The bottleneck layer has more neurons than the input, allowing the model to potentially learn a more complex or redundant representation of the data.</a:t>
            </a:r>
          </a:p>
          <a:p>
            <a:pPr algn="just"/>
            <a:endParaRPr lang="en-US" dirty="0"/>
          </a:p>
          <a:p>
            <a:pPr algn="just"/>
            <a:r>
              <a:rPr lang="en-US" dirty="0"/>
              <a:t>For example, for an input of size 100 dimensions, the latent space might be 200 dimensions.</a:t>
            </a:r>
            <a:endParaRPr lang="en-IN" dirty="0"/>
          </a:p>
        </p:txBody>
      </p:sp>
    </p:spTree>
    <p:extLst>
      <p:ext uri="{BB962C8B-B14F-4D97-AF65-F5344CB8AC3E}">
        <p14:creationId xmlns:p14="http://schemas.microsoft.com/office/powerpoint/2010/main" val="134399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97E4A-A9F5-F66A-9960-B2BE67F39133}"/>
              </a:ext>
            </a:extLst>
          </p:cNvPr>
          <p:cNvSpPr>
            <a:spLocks noGrp="1"/>
          </p:cNvSpPr>
          <p:nvPr>
            <p:ph type="title"/>
          </p:nvPr>
        </p:nvSpPr>
        <p:spPr>
          <a:xfrm>
            <a:off x="838200" y="365125"/>
            <a:ext cx="10515600" cy="430005"/>
          </a:xfrm>
        </p:spPr>
        <p:txBody>
          <a:bodyPr>
            <a:normAutofit fontScale="90000"/>
          </a:bodyPr>
          <a:lstStyle/>
          <a:p>
            <a:pPr algn="ctr"/>
            <a:r>
              <a:rPr lang="en-IN" dirty="0"/>
              <a:t>Feature Extraction</a:t>
            </a:r>
          </a:p>
        </p:txBody>
      </p:sp>
      <p:sp>
        <p:nvSpPr>
          <p:cNvPr id="3" name="Content Placeholder 2">
            <a:extLst>
              <a:ext uri="{FF2B5EF4-FFF2-40B4-BE49-F238E27FC236}">
                <a16:creationId xmlns:a16="http://schemas.microsoft.com/office/drawing/2014/main" id="{302C5303-46C6-29A7-2D4E-3053535E4CB6}"/>
              </a:ext>
            </a:extLst>
          </p:cNvPr>
          <p:cNvSpPr>
            <a:spLocks noGrp="1"/>
          </p:cNvSpPr>
          <p:nvPr>
            <p:ph idx="1"/>
          </p:nvPr>
        </p:nvSpPr>
        <p:spPr>
          <a:xfrm>
            <a:off x="311425" y="1795807"/>
            <a:ext cx="5206561" cy="4843531"/>
          </a:xfrm>
        </p:spPr>
        <p:txBody>
          <a:bodyPr>
            <a:normAutofit fontScale="92500" lnSpcReduction="10000"/>
          </a:bodyPr>
          <a:lstStyle/>
          <a:p>
            <a:pPr algn="just"/>
            <a:r>
              <a:rPr lang="en-US" dirty="0">
                <a:solidFill>
                  <a:srgbClr val="0070C0"/>
                </a:solidFill>
              </a:rPr>
              <a:t>Compression</a:t>
            </a:r>
            <a:r>
              <a:rPr lang="en-US" dirty="0"/>
              <a:t>: The goal is to capture the most important or relevant information in a compressed form by reducing dimensionality. The smaller latent space forces the model to focus on the core structure of the data, discarding noise or redundancy.</a:t>
            </a:r>
          </a:p>
          <a:p>
            <a:pPr algn="just"/>
            <a:endParaRPr lang="en-US" dirty="0"/>
          </a:p>
          <a:p>
            <a:pPr algn="just"/>
            <a:r>
              <a:rPr lang="en-US" dirty="0">
                <a:solidFill>
                  <a:srgbClr val="0070C0"/>
                </a:solidFill>
              </a:rPr>
              <a:t>Minimal Redundancy</a:t>
            </a:r>
            <a:r>
              <a:rPr lang="en-US" dirty="0"/>
              <a:t>: The limited number of latent dimensions prevents the model from simply copying the input; it must encode meaningful features.</a:t>
            </a:r>
            <a:endParaRPr lang="en-IN" dirty="0"/>
          </a:p>
        </p:txBody>
      </p:sp>
      <p:sp>
        <p:nvSpPr>
          <p:cNvPr id="4" name="TextBox 3">
            <a:extLst>
              <a:ext uri="{FF2B5EF4-FFF2-40B4-BE49-F238E27FC236}">
                <a16:creationId xmlns:a16="http://schemas.microsoft.com/office/drawing/2014/main" id="{1D6A87CD-9FCB-19EE-B0E6-CBC89EE1BD4F}"/>
              </a:ext>
            </a:extLst>
          </p:cNvPr>
          <p:cNvSpPr txBox="1"/>
          <p:nvPr/>
        </p:nvSpPr>
        <p:spPr>
          <a:xfrm>
            <a:off x="556590"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UNDERCOMPLETE AUTOENCODER</a:t>
            </a:r>
          </a:p>
        </p:txBody>
      </p:sp>
      <p:sp>
        <p:nvSpPr>
          <p:cNvPr id="5" name="TextBox 4">
            <a:extLst>
              <a:ext uri="{FF2B5EF4-FFF2-40B4-BE49-F238E27FC236}">
                <a16:creationId xmlns:a16="http://schemas.microsoft.com/office/drawing/2014/main" id="{51B199D3-0E14-7C92-5563-C9E47C0581F3}"/>
              </a:ext>
            </a:extLst>
          </p:cNvPr>
          <p:cNvSpPr txBox="1"/>
          <p:nvPr/>
        </p:nvSpPr>
        <p:spPr>
          <a:xfrm>
            <a:off x="6901068"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OVERCOMPLETE AUTOENCODER</a:t>
            </a:r>
          </a:p>
        </p:txBody>
      </p:sp>
      <p:sp>
        <p:nvSpPr>
          <p:cNvPr id="6" name="Content Placeholder 2">
            <a:extLst>
              <a:ext uri="{FF2B5EF4-FFF2-40B4-BE49-F238E27FC236}">
                <a16:creationId xmlns:a16="http://schemas.microsoft.com/office/drawing/2014/main" id="{175BE89B-E50E-BA2D-76F5-88B5BC3596E0}"/>
              </a:ext>
            </a:extLst>
          </p:cNvPr>
          <p:cNvSpPr txBox="1">
            <a:spLocks/>
          </p:cNvSpPr>
          <p:nvPr/>
        </p:nvSpPr>
        <p:spPr>
          <a:xfrm>
            <a:off x="6341165" y="1795808"/>
            <a:ext cx="5436705" cy="46970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solidFill>
                  <a:srgbClr val="0070C0"/>
                </a:solidFill>
              </a:rPr>
              <a:t>Potential for Redundancy</a:t>
            </a:r>
            <a:r>
              <a:rPr lang="en-US" sz="2400" dirty="0"/>
              <a:t>: Because the latent space is larger, the model has the capacity to "memorize" or learn an identity mapping of the input unless it is constrained.</a:t>
            </a:r>
          </a:p>
          <a:p>
            <a:pPr algn="just"/>
            <a:endParaRPr lang="en-US" sz="2400" dirty="0"/>
          </a:p>
          <a:p>
            <a:pPr algn="just"/>
            <a:r>
              <a:rPr lang="en-US" sz="2400" dirty="0">
                <a:solidFill>
                  <a:srgbClr val="0070C0"/>
                </a:solidFill>
              </a:rPr>
              <a:t>Need for Regularization</a:t>
            </a:r>
            <a:r>
              <a:rPr lang="en-US" sz="2400" dirty="0"/>
              <a:t>: Without techniques like sparsity, denoising, or contractive penalties, the model may just pass the input through without learning useful features. This is not desired unless specific regularization is applied.</a:t>
            </a:r>
            <a:endParaRPr lang="en-IN" sz="2400" dirty="0"/>
          </a:p>
        </p:txBody>
      </p:sp>
    </p:spTree>
    <p:extLst>
      <p:ext uri="{BB962C8B-B14F-4D97-AF65-F5344CB8AC3E}">
        <p14:creationId xmlns:p14="http://schemas.microsoft.com/office/powerpoint/2010/main" val="2333047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97E4A-A9F5-F66A-9960-B2BE67F39133}"/>
              </a:ext>
            </a:extLst>
          </p:cNvPr>
          <p:cNvSpPr>
            <a:spLocks noGrp="1"/>
          </p:cNvSpPr>
          <p:nvPr>
            <p:ph type="title"/>
          </p:nvPr>
        </p:nvSpPr>
        <p:spPr>
          <a:xfrm>
            <a:off x="838200" y="365125"/>
            <a:ext cx="10515600" cy="430005"/>
          </a:xfrm>
        </p:spPr>
        <p:txBody>
          <a:bodyPr>
            <a:normAutofit fontScale="90000"/>
          </a:bodyPr>
          <a:lstStyle/>
          <a:p>
            <a:pPr algn="ctr"/>
            <a:r>
              <a:rPr lang="en-IN" dirty="0"/>
              <a:t>Risk of Identity Mapping</a:t>
            </a:r>
          </a:p>
        </p:txBody>
      </p:sp>
      <p:sp>
        <p:nvSpPr>
          <p:cNvPr id="3" name="Content Placeholder 2">
            <a:extLst>
              <a:ext uri="{FF2B5EF4-FFF2-40B4-BE49-F238E27FC236}">
                <a16:creationId xmlns:a16="http://schemas.microsoft.com/office/drawing/2014/main" id="{302C5303-46C6-29A7-2D4E-3053535E4CB6}"/>
              </a:ext>
            </a:extLst>
          </p:cNvPr>
          <p:cNvSpPr>
            <a:spLocks noGrp="1"/>
          </p:cNvSpPr>
          <p:nvPr>
            <p:ph idx="1"/>
          </p:nvPr>
        </p:nvSpPr>
        <p:spPr>
          <a:xfrm>
            <a:off x="311425" y="1795808"/>
            <a:ext cx="5206561" cy="4697066"/>
          </a:xfrm>
        </p:spPr>
        <p:txBody>
          <a:bodyPr>
            <a:normAutofit fontScale="92500" lnSpcReduction="20000"/>
          </a:bodyPr>
          <a:lstStyle/>
          <a:p>
            <a:pPr algn="just"/>
            <a:r>
              <a:rPr lang="en-US" dirty="0">
                <a:solidFill>
                  <a:srgbClr val="0070C0"/>
                </a:solidFill>
              </a:rPr>
              <a:t>Low Risk</a:t>
            </a:r>
            <a:r>
              <a:rPr lang="en-US" dirty="0"/>
              <a:t>: The reduced dimensionality naturally prevents identity mapping (i.e., copying input to output). The network is constrained by the small latent space and must learn efficient representations.</a:t>
            </a:r>
          </a:p>
          <a:p>
            <a:pPr algn="just"/>
            <a:endParaRPr lang="en-US" dirty="0"/>
          </a:p>
          <a:p>
            <a:pPr algn="just"/>
            <a:r>
              <a:rPr lang="en-US" dirty="0">
                <a:solidFill>
                  <a:srgbClr val="0070C0"/>
                </a:solidFill>
              </a:rPr>
              <a:t>Better Generalization</a:t>
            </a:r>
            <a:r>
              <a:rPr lang="en-US" dirty="0"/>
              <a:t>: It’s more likely to capture general patterns or features that apply across the input data, as it doesn’t have enough capacity to memorize every detail of the data.</a:t>
            </a:r>
            <a:endParaRPr lang="en-IN" dirty="0"/>
          </a:p>
        </p:txBody>
      </p:sp>
      <p:sp>
        <p:nvSpPr>
          <p:cNvPr id="4" name="TextBox 3">
            <a:extLst>
              <a:ext uri="{FF2B5EF4-FFF2-40B4-BE49-F238E27FC236}">
                <a16:creationId xmlns:a16="http://schemas.microsoft.com/office/drawing/2014/main" id="{1D6A87CD-9FCB-19EE-B0E6-CBC89EE1BD4F}"/>
              </a:ext>
            </a:extLst>
          </p:cNvPr>
          <p:cNvSpPr txBox="1"/>
          <p:nvPr/>
        </p:nvSpPr>
        <p:spPr>
          <a:xfrm>
            <a:off x="556590"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UNDERCOMPLETE AUTOENCODER</a:t>
            </a:r>
          </a:p>
        </p:txBody>
      </p:sp>
      <p:sp>
        <p:nvSpPr>
          <p:cNvPr id="5" name="TextBox 4">
            <a:extLst>
              <a:ext uri="{FF2B5EF4-FFF2-40B4-BE49-F238E27FC236}">
                <a16:creationId xmlns:a16="http://schemas.microsoft.com/office/drawing/2014/main" id="{51B199D3-0E14-7C92-5563-C9E47C0581F3}"/>
              </a:ext>
            </a:extLst>
          </p:cNvPr>
          <p:cNvSpPr txBox="1"/>
          <p:nvPr/>
        </p:nvSpPr>
        <p:spPr>
          <a:xfrm>
            <a:off x="6901068"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OVERCOMPLETE AUTOENCODER</a:t>
            </a:r>
          </a:p>
        </p:txBody>
      </p:sp>
      <p:sp>
        <p:nvSpPr>
          <p:cNvPr id="6" name="Content Placeholder 2">
            <a:extLst>
              <a:ext uri="{FF2B5EF4-FFF2-40B4-BE49-F238E27FC236}">
                <a16:creationId xmlns:a16="http://schemas.microsoft.com/office/drawing/2014/main" id="{175BE89B-E50E-BA2D-76F5-88B5BC3596E0}"/>
              </a:ext>
            </a:extLst>
          </p:cNvPr>
          <p:cNvSpPr txBox="1">
            <a:spLocks/>
          </p:cNvSpPr>
          <p:nvPr/>
        </p:nvSpPr>
        <p:spPr>
          <a:xfrm>
            <a:off x="6510130" y="1586462"/>
            <a:ext cx="5370447" cy="498330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rgbClr val="0070C0"/>
                </a:solidFill>
              </a:rPr>
              <a:t>High Risk of Identity Mapping</a:t>
            </a:r>
            <a:r>
              <a:rPr lang="en-US" dirty="0"/>
              <a:t>: Without regularization, an overcomplete autoencoder can easily learn to just replicate the input at the output, failing to extract meaningful features or reduce dimensionality.</a:t>
            </a:r>
          </a:p>
          <a:p>
            <a:pPr algn="just"/>
            <a:endParaRPr lang="en-US" dirty="0">
              <a:solidFill>
                <a:srgbClr val="0070C0"/>
              </a:solidFill>
            </a:endParaRPr>
          </a:p>
          <a:p>
            <a:pPr algn="just"/>
            <a:r>
              <a:rPr lang="en-US" dirty="0">
                <a:solidFill>
                  <a:srgbClr val="0070C0"/>
                </a:solidFill>
              </a:rPr>
              <a:t>Need for Regularization</a:t>
            </a:r>
            <a:r>
              <a:rPr lang="en-US" dirty="0"/>
              <a:t>: Techniques like sparsity or denoising must be introduced to force the model to learn useful, generalized features rather than a direct copy of the input.</a:t>
            </a:r>
            <a:endParaRPr lang="en-IN" dirty="0"/>
          </a:p>
        </p:txBody>
      </p:sp>
    </p:spTree>
    <p:extLst>
      <p:ext uri="{BB962C8B-B14F-4D97-AF65-F5344CB8AC3E}">
        <p14:creationId xmlns:p14="http://schemas.microsoft.com/office/powerpoint/2010/main" val="633890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97E4A-A9F5-F66A-9960-B2BE67F39133}"/>
              </a:ext>
            </a:extLst>
          </p:cNvPr>
          <p:cNvSpPr>
            <a:spLocks noGrp="1"/>
          </p:cNvSpPr>
          <p:nvPr>
            <p:ph type="title"/>
          </p:nvPr>
        </p:nvSpPr>
        <p:spPr>
          <a:xfrm>
            <a:off x="838200" y="365125"/>
            <a:ext cx="10515600" cy="430005"/>
          </a:xfrm>
        </p:spPr>
        <p:txBody>
          <a:bodyPr>
            <a:normAutofit fontScale="90000"/>
          </a:bodyPr>
          <a:lstStyle/>
          <a:p>
            <a:pPr algn="ctr"/>
            <a:r>
              <a:rPr lang="en-IN" dirty="0"/>
              <a:t>Training and Learning Process</a:t>
            </a:r>
          </a:p>
        </p:txBody>
      </p:sp>
      <p:sp>
        <p:nvSpPr>
          <p:cNvPr id="3" name="Content Placeholder 2">
            <a:extLst>
              <a:ext uri="{FF2B5EF4-FFF2-40B4-BE49-F238E27FC236}">
                <a16:creationId xmlns:a16="http://schemas.microsoft.com/office/drawing/2014/main" id="{302C5303-46C6-29A7-2D4E-3053535E4CB6}"/>
              </a:ext>
            </a:extLst>
          </p:cNvPr>
          <p:cNvSpPr>
            <a:spLocks noGrp="1"/>
          </p:cNvSpPr>
          <p:nvPr>
            <p:ph idx="1"/>
          </p:nvPr>
        </p:nvSpPr>
        <p:spPr>
          <a:xfrm>
            <a:off x="311425" y="1795807"/>
            <a:ext cx="5206561" cy="4863410"/>
          </a:xfrm>
        </p:spPr>
        <p:txBody>
          <a:bodyPr>
            <a:normAutofit fontScale="92500" lnSpcReduction="10000"/>
          </a:bodyPr>
          <a:lstStyle/>
          <a:p>
            <a:pPr algn="just"/>
            <a:r>
              <a:rPr lang="en-US" dirty="0">
                <a:solidFill>
                  <a:srgbClr val="0070C0"/>
                </a:solidFill>
              </a:rPr>
              <a:t>Compression-Driven Learning</a:t>
            </a:r>
            <a:r>
              <a:rPr lang="en-US" dirty="0"/>
              <a:t>: The encoder learns to project the input data into a lower-dimensional latent space that preserves as much important information as possible.</a:t>
            </a:r>
          </a:p>
          <a:p>
            <a:pPr algn="just"/>
            <a:endParaRPr lang="en-US" dirty="0"/>
          </a:p>
          <a:p>
            <a:pPr algn="just"/>
            <a:r>
              <a:rPr lang="en-US" dirty="0">
                <a:solidFill>
                  <a:srgbClr val="0070C0"/>
                </a:solidFill>
              </a:rPr>
              <a:t>Reconstruction</a:t>
            </a:r>
            <a:r>
              <a:rPr lang="en-US" dirty="0"/>
              <a:t>: The decoder attempts to reconstruct the input from this compressed latent representation, minimizing the reconstruction loss (e.g., mean squared error) between the input and output.</a:t>
            </a:r>
            <a:endParaRPr lang="en-IN" dirty="0"/>
          </a:p>
        </p:txBody>
      </p:sp>
      <p:sp>
        <p:nvSpPr>
          <p:cNvPr id="4" name="TextBox 3">
            <a:extLst>
              <a:ext uri="{FF2B5EF4-FFF2-40B4-BE49-F238E27FC236}">
                <a16:creationId xmlns:a16="http://schemas.microsoft.com/office/drawing/2014/main" id="{1D6A87CD-9FCB-19EE-B0E6-CBC89EE1BD4F}"/>
              </a:ext>
            </a:extLst>
          </p:cNvPr>
          <p:cNvSpPr txBox="1"/>
          <p:nvPr/>
        </p:nvSpPr>
        <p:spPr>
          <a:xfrm>
            <a:off x="556590"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UNDERCOMPLETE AUTOENCODER</a:t>
            </a:r>
          </a:p>
        </p:txBody>
      </p:sp>
      <p:sp>
        <p:nvSpPr>
          <p:cNvPr id="5" name="TextBox 4">
            <a:extLst>
              <a:ext uri="{FF2B5EF4-FFF2-40B4-BE49-F238E27FC236}">
                <a16:creationId xmlns:a16="http://schemas.microsoft.com/office/drawing/2014/main" id="{51B199D3-0E14-7C92-5563-C9E47C0581F3}"/>
              </a:ext>
            </a:extLst>
          </p:cNvPr>
          <p:cNvSpPr txBox="1"/>
          <p:nvPr/>
        </p:nvSpPr>
        <p:spPr>
          <a:xfrm>
            <a:off x="6901068"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OVERCOMPLETE AUTOENCODER</a:t>
            </a:r>
          </a:p>
        </p:txBody>
      </p:sp>
      <p:sp>
        <p:nvSpPr>
          <p:cNvPr id="6" name="Content Placeholder 2">
            <a:extLst>
              <a:ext uri="{FF2B5EF4-FFF2-40B4-BE49-F238E27FC236}">
                <a16:creationId xmlns:a16="http://schemas.microsoft.com/office/drawing/2014/main" id="{175BE89B-E50E-BA2D-76F5-88B5BC3596E0}"/>
              </a:ext>
            </a:extLst>
          </p:cNvPr>
          <p:cNvSpPr txBox="1">
            <a:spLocks/>
          </p:cNvSpPr>
          <p:nvPr/>
        </p:nvSpPr>
        <p:spPr>
          <a:xfrm>
            <a:off x="6264741" y="1795808"/>
            <a:ext cx="5615834" cy="4697067"/>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rgbClr val="0070C0"/>
                </a:solidFill>
              </a:rPr>
              <a:t>Regularization-Driven Learning</a:t>
            </a:r>
            <a:r>
              <a:rPr lang="en-US" dirty="0"/>
              <a:t>: Since the latent space is larger, the model needs additional constraints to prevent it from merely copying the input. Regularization like sparsity or adding noise forces the model to focus on learning abstract or high-level patterns.</a:t>
            </a:r>
          </a:p>
          <a:p>
            <a:pPr algn="just"/>
            <a:endParaRPr lang="en-US" dirty="0"/>
          </a:p>
          <a:p>
            <a:pPr algn="just"/>
            <a:r>
              <a:rPr lang="en-US" b="1" dirty="0">
                <a:solidFill>
                  <a:srgbClr val="0070C0"/>
                </a:solidFill>
              </a:rPr>
              <a:t>Reconstruction:</a:t>
            </a:r>
            <a:r>
              <a:rPr lang="en-US" dirty="0"/>
              <a:t> Similar to an undercomplete autoencoder, the decoder reconstructs the input, but the training dynamics are different due to the use of regularization techniques.</a:t>
            </a:r>
            <a:endParaRPr lang="en-IN" dirty="0"/>
          </a:p>
        </p:txBody>
      </p:sp>
    </p:spTree>
    <p:extLst>
      <p:ext uri="{BB962C8B-B14F-4D97-AF65-F5344CB8AC3E}">
        <p14:creationId xmlns:p14="http://schemas.microsoft.com/office/powerpoint/2010/main" val="902906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97E4A-A9F5-F66A-9960-B2BE67F39133}"/>
              </a:ext>
            </a:extLst>
          </p:cNvPr>
          <p:cNvSpPr>
            <a:spLocks noGrp="1"/>
          </p:cNvSpPr>
          <p:nvPr>
            <p:ph type="title"/>
          </p:nvPr>
        </p:nvSpPr>
        <p:spPr>
          <a:xfrm>
            <a:off x="838200" y="365125"/>
            <a:ext cx="10515600" cy="430005"/>
          </a:xfrm>
        </p:spPr>
        <p:txBody>
          <a:bodyPr>
            <a:normAutofit fontScale="90000"/>
          </a:bodyPr>
          <a:lstStyle/>
          <a:p>
            <a:pPr algn="ctr"/>
            <a:r>
              <a:rPr lang="en-IN" dirty="0"/>
              <a:t>Use Cases</a:t>
            </a:r>
          </a:p>
        </p:txBody>
      </p:sp>
      <p:sp>
        <p:nvSpPr>
          <p:cNvPr id="3" name="Content Placeholder 2">
            <a:extLst>
              <a:ext uri="{FF2B5EF4-FFF2-40B4-BE49-F238E27FC236}">
                <a16:creationId xmlns:a16="http://schemas.microsoft.com/office/drawing/2014/main" id="{302C5303-46C6-29A7-2D4E-3053535E4CB6}"/>
              </a:ext>
            </a:extLst>
          </p:cNvPr>
          <p:cNvSpPr>
            <a:spLocks noGrp="1"/>
          </p:cNvSpPr>
          <p:nvPr>
            <p:ph idx="1"/>
          </p:nvPr>
        </p:nvSpPr>
        <p:spPr>
          <a:xfrm>
            <a:off x="311425" y="1795808"/>
            <a:ext cx="4797287" cy="4351338"/>
          </a:xfrm>
        </p:spPr>
        <p:txBody>
          <a:bodyPr>
            <a:normAutofit fontScale="92500"/>
          </a:bodyPr>
          <a:lstStyle/>
          <a:p>
            <a:pPr algn="just"/>
            <a:r>
              <a:rPr lang="en-US" dirty="0">
                <a:solidFill>
                  <a:srgbClr val="0070C0"/>
                </a:solidFill>
              </a:rPr>
              <a:t>Dimensionality Reduction: </a:t>
            </a:r>
            <a:r>
              <a:rPr lang="en-US" dirty="0"/>
              <a:t>Commonly used for compressing data to a lower-dimensional space, similar to PCA but with the ability to capture non-linear relationships.</a:t>
            </a:r>
          </a:p>
          <a:p>
            <a:pPr algn="just"/>
            <a:r>
              <a:rPr lang="en-US" dirty="0">
                <a:solidFill>
                  <a:srgbClr val="0070C0"/>
                </a:solidFill>
              </a:rPr>
              <a:t>Feature Learning</a:t>
            </a:r>
            <a:r>
              <a:rPr lang="en-US" dirty="0"/>
              <a:t>: Useful for discovering the most salient features in the data, especially in applications where the data is high-dimensional.</a:t>
            </a:r>
            <a:endParaRPr lang="en-IN" dirty="0"/>
          </a:p>
        </p:txBody>
      </p:sp>
      <p:sp>
        <p:nvSpPr>
          <p:cNvPr id="4" name="TextBox 3">
            <a:extLst>
              <a:ext uri="{FF2B5EF4-FFF2-40B4-BE49-F238E27FC236}">
                <a16:creationId xmlns:a16="http://schemas.microsoft.com/office/drawing/2014/main" id="{1D6A87CD-9FCB-19EE-B0E6-CBC89EE1BD4F}"/>
              </a:ext>
            </a:extLst>
          </p:cNvPr>
          <p:cNvSpPr txBox="1"/>
          <p:nvPr/>
        </p:nvSpPr>
        <p:spPr>
          <a:xfrm>
            <a:off x="556590"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UNDERCOMPLETE AUTOENCODER</a:t>
            </a:r>
          </a:p>
        </p:txBody>
      </p:sp>
      <p:sp>
        <p:nvSpPr>
          <p:cNvPr id="5" name="TextBox 4">
            <a:extLst>
              <a:ext uri="{FF2B5EF4-FFF2-40B4-BE49-F238E27FC236}">
                <a16:creationId xmlns:a16="http://schemas.microsoft.com/office/drawing/2014/main" id="{51B199D3-0E14-7C92-5563-C9E47C0581F3}"/>
              </a:ext>
            </a:extLst>
          </p:cNvPr>
          <p:cNvSpPr txBox="1"/>
          <p:nvPr/>
        </p:nvSpPr>
        <p:spPr>
          <a:xfrm>
            <a:off x="6901068"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OVERCOMPLETE AUTOENCODER</a:t>
            </a:r>
          </a:p>
        </p:txBody>
      </p:sp>
      <p:sp>
        <p:nvSpPr>
          <p:cNvPr id="6" name="Content Placeholder 2">
            <a:extLst>
              <a:ext uri="{FF2B5EF4-FFF2-40B4-BE49-F238E27FC236}">
                <a16:creationId xmlns:a16="http://schemas.microsoft.com/office/drawing/2014/main" id="{175BE89B-E50E-BA2D-76F5-88B5BC3596E0}"/>
              </a:ext>
            </a:extLst>
          </p:cNvPr>
          <p:cNvSpPr txBox="1">
            <a:spLocks/>
          </p:cNvSpPr>
          <p:nvPr/>
        </p:nvSpPr>
        <p:spPr>
          <a:xfrm>
            <a:off x="6361043" y="1795808"/>
            <a:ext cx="5110260" cy="46970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solidFill>
                  <a:srgbClr val="0070C0"/>
                </a:solidFill>
              </a:rPr>
              <a:t>Richer Feature Extraction</a:t>
            </a:r>
            <a:r>
              <a:rPr lang="en-US" sz="2400" dirty="0"/>
              <a:t>: Can learn more complex, detailed representations if properly regularized, which can be beneficial for certain tasks like image generation or anomaly detection.</a:t>
            </a:r>
          </a:p>
          <a:p>
            <a:pPr algn="just"/>
            <a:endParaRPr lang="en-US" sz="2400" dirty="0">
              <a:solidFill>
                <a:srgbClr val="0070C0"/>
              </a:solidFill>
            </a:endParaRPr>
          </a:p>
          <a:p>
            <a:pPr algn="just"/>
            <a:r>
              <a:rPr lang="en-US" sz="2400" dirty="0">
                <a:solidFill>
                  <a:srgbClr val="0070C0"/>
                </a:solidFill>
              </a:rPr>
              <a:t>Data Reconstruction and Generation</a:t>
            </a:r>
            <a:r>
              <a:rPr lang="en-US" sz="2400" dirty="0"/>
              <a:t>: Often used in tasks that require the model to capture fine-grained details or variations in the input data.</a:t>
            </a:r>
            <a:endParaRPr lang="en-IN" sz="2400" dirty="0"/>
          </a:p>
        </p:txBody>
      </p:sp>
    </p:spTree>
    <p:extLst>
      <p:ext uri="{BB962C8B-B14F-4D97-AF65-F5344CB8AC3E}">
        <p14:creationId xmlns:p14="http://schemas.microsoft.com/office/powerpoint/2010/main" val="351928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97E4A-A9F5-F66A-9960-B2BE67F39133}"/>
              </a:ext>
            </a:extLst>
          </p:cNvPr>
          <p:cNvSpPr>
            <a:spLocks noGrp="1"/>
          </p:cNvSpPr>
          <p:nvPr>
            <p:ph type="title"/>
          </p:nvPr>
        </p:nvSpPr>
        <p:spPr>
          <a:xfrm>
            <a:off x="838200" y="365125"/>
            <a:ext cx="10515600" cy="430005"/>
          </a:xfrm>
        </p:spPr>
        <p:txBody>
          <a:bodyPr>
            <a:normAutofit fontScale="90000"/>
          </a:bodyPr>
          <a:lstStyle/>
          <a:p>
            <a:pPr algn="ctr"/>
            <a:r>
              <a:rPr lang="en-IN" dirty="0"/>
              <a:t>Regularization Needs</a:t>
            </a:r>
          </a:p>
        </p:txBody>
      </p:sp>
      <p:sp>
        <p:nvSpPr>
          <p:cNvPr id="3" name="Content Placeholder 2">
            <a:extLst>
              <a:ext uri="{FF2B5EF4-FFF2-40B4-BE49-F238E27FC236}">
                <a16:creationId xmlns:a16="http://schemas.microsoft.com/office/drawing/2014/main" id="{302C5303-46C6-29A7-2D4E-3053535E4CB6}"/>
              </a:ext>
            </a:extLst>
          </p:cNvPr>
          <p:cNvSpPr>
            <a:spLocks noGrp="1"/>
          </p:cNvSpPr>
          <p:nvPr>
            <p:ph idx="1"/>
          </p:nvPr>
        </p:nvSpPr>
        <p:spPr>
          <a:xfrm>
            <a:off x="311425" y="1795808"/>
            <a:ext cx="4797287" cy="4351338"/>
          </a:xfrm>
        </p:spPr>
        <p:txBody>
          <a:bodyPr>
            <a:normAutofit/>
          </a:bodyPr>
          <a:lstStyle/>
          <a:p>
            <a:pPr algn="just"/>
            <a:r>
              <a:rPr lang="en-US" dirty="0">
                <a:solidFill>
                  <a:srgbClr val="0070C0"/>
                </a:solidFill>
              </a:rPr>
              <a:t>No Additional Regularization Needed: </a:t>
            </a:r>
            <a:r>
              <a:rPr lang="en-US" dirty="0"/>
              <a:t>The small latent space size acts as a built-in constraint, preventing overfitting and identity mapping.</a:t>
            </a:r>
            <a:endParaRPr lang="en-IN" dirty="0"/>
          </a:p>
        </p:txBody>
      </p:sp>
      <p:sp>
        <p:nvSpPr>
          <p:cNvPr id="4" name="TextBox 3">
            <a:extLst>
              <a:ext uri="{FF2B5EF4-FFF2-40B4-BE49-F238E27FC236}">
                <a16:creationId xmlns:a16="http://schemas.microsoft.com/office/drawing/2014/main" id="{1D6A87CD-9FCB-19EE-B0E6-CBC89EE1BD4F}"/>
              </a:ext>
            </a:extLst>
          </p:cNvPr>
          <p:cNvSpPr txBox="1"/>
          <p:nvPr/>
        </p:nvSpPr>
        <p:spPr>
          <a:xfrm>
            <a:off x="556590"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UNDERCOMPLETE AUTOENCODER</a:t>
            </a:r>
          </a:p>
        </p:txBody>
      </p:sp>
      <p:sp>
        <p:nvSpPr>
          <p:cNvPr id="5" name="TextBox 4">
            <a:extLst>
              <a:ext uri="{FF2B5EF4-FFF2-40B4-BE49-F238E27FC236}">
                <a16:creationId xmlns:a16="http://schemas.microsoft.com/office/drawing/2014/main" id="{51B199D3-0E14-7C92-5563-C9E47C0581F3}"/>
              </a:ext>
            </a:extLst>
          </p:cNvPr>
          <p:cNvSpPr txBox="1"/>
          <p:nvPr/>
        </p:nvSpPr>
        <p:spPr>
          <a:xfrm>
            <a:off x="6901068" y="990741"/>
            <a:ext cx="4651514"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OVERCOMPLETE AUTOENCODER</a:t>
            </a:r>
          </a:p>
        </p:txBody>
      </p:sp>
      <p:sp>
        <p:nvSpPr>
          <p:cNvPr id="6" name="Content Placeholder 2">
            <a:extLst>
              <a:ext uri="{FF2B5EF4-FFF2-40B4-BE49-F238E27FC236}">
                <a16:creationId xmlns:a16="http://schemas.microsoft.com/office/drawing/2014/main" id="{175BE89B-E50E-BA2D-76F5-88B5BC3596E0}"/>
              </a:ext>
            </a:extLst>
          </p:cNvPr>
          <p:cNvSpPr txBox="1">
            <a:spLocks/>
          </p:cNvSpPr>
          <p:nvPr/>
        </p:nvSpPr>
        <p:spPr>
          <a:xfrm>
            <a:off x="6231835" y="1795808"/>
            <a:ext cx="5239468" cy="469706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dirty="0"/>
              <a:t>Requires Regularization: </a:t>
            </a:r>
          </a:p>
          <a:p>
            <a:pPr algn="just">
              <a:buFont typeface="Arial" panose="020B0604020202020204" pitchFamily="34" charset="0"/>
              <a:buChar char="•"/>
            </a:pPr>
            <a:r>
              <a:rPr lang="en-US" dirty="0"/>
              <a:t>Regularization is needed to prevent identity mapping. Techniques such as:</a:t>
            </a:r>
          </a:p>
          <a:p>
            <a:pPr lvl="1" algn="just"/>
            <a:r>
              <a:rPr lang="en-US" dirty="0">
                <a:solidFill>
                  <a:srgbClr val="00B050"/>
                </a:solidFill>
              </a:rPr>
              <a:t>Sparsity: Encourages only a few neurons in the latent space to activate.</a:t>
            </a:r>
          </a:p>
          <a:p>
            <a:pPr lvl="1" algn="just"/>
            <a:r>
              <a:rPr lang="en-US" dirty="0">
                <a:solidFill>
                  <a:srgbClr val="00B050"/>
                </a:solidFill>
              </a:rPr>
              <a:t>Denoising: Trains the model to reconstruct clean inputs from noisy versions.</a:t>
            </a:r>
          </a:p>
          <a:p>
            <a:pPr lvl="1" algn="just"/>
            <a:r>
              <a:rPr lang="en-US" dirty="0">
                <a:solidFill>
                  <a:srgbClr val="00B050"/>
                </a:solidFill>
              </a:rPr>
              <a:t>Contractive Penalty: Encourages robustness by penalizing the sensitivity of the latent representation to input variations.</a:t>
            </a:r>
          </a:p>
        </p:txBody>
      </p:sp>
    </p:spTree>
    <p:extLst>
      <p:ext uri="{BB962C8B-B14F-4D97-AF65-F5344CB8AC3E}">
        <p14:creationId xmlns:p14="http://schemas.microsoft.com/office/powerpoint/2010/main" val="1337676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92B4A-9A66-9342-D54E-86484C373896}"/>
              </a:ext>
            </a:extLst>
          </p:cNvPr>
          <p:cNvSpPr>
            <a:spLocks noGrp="1"/>
          </p:cNvSpPr>
          <p:nvPr>
            <p:ph type="title"/>
          </p:nvPr>
        </p:nvSpPr>
        <p:spPr/>
        <p:txBody>
          <a:bodyPr/>
          <a:lstStyle/>
          <a:p>
            <a:pPr algn="ctr"/>
            <a:r>
              <a:rPr lang="en-IN" dirty="0"/>
              <a:t>Regularized Autoencoder</a:t>
            </a:r>
          </a:p>
        </p:txBody>
      </p:sp>
      <p:sp>
        <p:nvSpPr>
          <p:cNvPr id="3" name="Content Placeholder 2">
            <a:extLst>
              <a:ext uri="{FF2B5EF4-FFF2-40B4-BE49-F238E27FC236}">
                <a16:creationId xmlns:a16="http://schemas.microsoft.com/office/drawing/2014/main" id="{6BF9511D-9D67-0DF9-88E2-366D30BCCCCB}"/>
              </a:ext>
            </a:extLst>
          </p:cNvPr>
          <p:cNvSpPr>
            <a:spLocks noGrp="1"/>
          </p:cNvSpPr>
          <p:nvPr>
            <p:ph idx="1"/>
          </p:nvPr>
        </p:nvSpPr>
        <p:spPr/>
        <p:txBody>
          <a:bodyPr/>
          <a:lstStyle/>
          <a:p>
            <a:pPr algn="just"/>
            <a:endParaRPr lang="en-US" dirty="0"/>
          </a:p>
          <a:p>
            <a:pPr algn="just"/>
            <a:r>
              <a:rPr lang="en-US" dirty="0"/>
              <a:t>A Regularized Autoencoder is a type of autoencoder designed to prevent overfitting by adding a regularization term to the loss function or by modifying the architecture to impose certain constraints on the encoded representations. </a:t>
            </a:r>
          </a:p>
          <a:p>
            <a:pPr algn="just"/>
            <a:endParaRPr lang="en-US" dirty="0"/>
          </a:p>
          <a:p>
            <a:pPr algn="just"/>
            <a:r>
              <a:rPr lang="en-US" dirty="0"/>
              <a:t>The regularization helps the model learn meaningful, compact representations of the data by discouraging it from simply copying the input to the output without extracting useful features.</a:t>
            </a:r>
            <a:endParaRPr lang="en-IN" dirty="0"/>
          </a:p>
        </p:txBody>
      </p:sp>
    </p:spTree>
    <p:extLst>
      <p:ext uri="{BB962C8B-B14F-4D97-AF65-F5344CB8AC3E}">
        <p14:creationId xmlns:p14="http://schemas.microsoft.com/office/powerpoint/2010/main" val="72032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A2C12-ADCF-888B-BB5A-27BDFA876683}"/>
              </a:ext>
            </a:extLst>
          </p:cNvPr>
          <p:cNvSpPr>
            <a:spLocks noGrp="1"/>
          </p:cNvSpPr>
          <p:nvPr>
            <p:ph type="title"/>
          </p:nvPr>
        </p:nvSpPr>
        <p:spPr>
          <a:xfrm>
            <a:off x="838200" y="365126"/>
            <a:ext cx="10515600" cy="589032"/>
          </a:xfrm>
        </p:spPr>
        <p:txBody>
          <a:bodyPr>
            <a:normAutofit fontScale="90000"/>
          </a:bodyPr>
          <a:lstStyle/>
          <a:p>
            <a:pPr algn="ctr"/>
            <a:r>
              <a:rPr lang="en-IN" dirty="0"/>
              <a:t>Regularized Autoencoder</a:t>
            </a:r>
          </a:p>
        </p:txBody>
      </p:sp>
      <p:sp>
        <p:nvSpPr>
          <p:cNvPr id="3" name="Content Placeholder 2">
            <a:extLst>
              <a:ext uri="{FF2B5EF4-FFF2-40B4-BE49-F238E27FC236}">
                <a16:creationId xmlns:a16="http://schemas.microsoft.com/office/drawing/2014/main" id="{FC011916-4441-2341-A79C-2325BA59BB71}"/>
              </a:ext>
            </a:extLst>
          </p:cNvPr>
          <p:cNvSpPr>
            <a:spLocks noGrp="1"/>
          </p:cNvSpPr>
          <p:nvPr>
            <p:ph idx="1"/>
          </p:nvPr>
        </p:nvSpPr>
        <p:spPr>
          <a:xfrm>
            <a:off x="838200" y="1421296"/>
            <a:ext cx="10515600" cy="4755667"/>
          </a:xfrm>
        </p:spPr>
        <p:txBody>
          <a:bodyPr>
            <a:normAutofit lnSpcReduction="10000"/>
          </a:bodyPr>
          <a:lstStyle/>
          <a:p>
            <a:pPr algn="just"/>
            <a:r>
              <a:rPr lang="en-US" dirty="0"/>
              <a:t>A regularized autoencoder can be nonlinear and overcomplete but still learn something useful about the data distribution.</a:t>
            </a:r>
          </a:p>
          <a:p>
            <a:pPr algn="just"/>
            <a:endParaRPr lang="en-US" dirty="0"/>
          </a:p>
          <a:p>
            <a:pPr algn="just"/>
            <a:r>
              <a:rPr lang="en-US" dirty="0"/>
              <a:t>To properly train a Regularized autoencoder, we choose loss functions that help the model to learn better and capture all the essential features of the input data. </a:t>
            </a:r>
          </a:p>
          <a:p>
            <a:pPr algn="just"/>
            <a:endParaRPr lang="en-IN" dirty="0"/>
          </a:p>
          <a:p>
            <a:pPr algn="just"/>
            <a:r>
              <a:rPr lang="en-IN" dirty="0"/>
              <a:t>Three types of Regularized autoencoder:  </a:t>
            </a:r>
          </a:p>
          <a:p>
            <a:pPr lvl="1" algn="just"/>
            <a:r>
              <a:rPr lang="en-IN" dirty="0"/>
              <a:t>Sparse Autoencoder</a:t>
            </a:r>
          </a:p>
          <a:p>
            <a:pPr lvl="1" algn="just"/>
            <a:r>
              <a:rPr lang="en-IN" dirty="0"/>
              <a:t>Denoising Autoencoder</a:t>
            </a:r>
          </a:p>
          <a:p>
            <a:pPr lvl="1" algn="just"/>
            <a:r>
              <a:rPr lang="en-IN" dirty="0"/>
              <a:t>Contractive Autoencoder </a:t>
            </a:r>
          </a:p>
        </p:txBody>
      </p:sp>
    </p:spTree>
    <p:extLst>
      <p:ext uri="{BB962C8B-B14F-4D97-AF65-F5344CB8AC3E}">
        <p14:creationId xmlns:p14="http://schemas.microsoft.com/office/powerpoint/2010/main" val="1552484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FFAE-EE09-E742-BCB9-B0CE7BA95CB9}"/>
              </a:ext>
            </a:extLst>
          </p:cNvPr>
          <p:cNvSpPr>
            <a:spLocks noGrp="1"/>
          </p:cNvSpPr>
          <p:nvPr>
            <p:ph type="title"/>
          </p:nvPr>
        </p:nvSpPr>
        <p:spPr>
          <a:xfrm>
            <a:off x="838200" y="365125"/>
            <a:ext cx="10515600" cy="598971"/>
          </a:xfrm>
        </p:spPr>
        <p:txBody>
          <a:bodyPr>
            <a:normAutofit fontScale="90000"/>
          </a:bodyPr>
          <a:lstStyle/>
          <a:p>
            <a:pPr algn="ctr"/>
            <a:r>
              <a:rPr lang="en-IN" dirty="0"/>
              <a:t>L1 Regularization in Autoencoders</a:t>
            </a:r>
          </a:p>
        </p:txBody>
      </p:sp>
      <p:sp>
        <p:nvSpPr>
          <p:cNvPr id="3" name="Content Placeholder 2">
            <a:extLst>
              <a:ext uri="{FF2B5EF4-FFF2-40B4-BE49-F238E27FC236}">
                <a16:creationId xmlns:a16="http://schemas.microsoft.com/office/drawing/2014/main" id="{AAFA4EAD-FF8E-0C45-DD67-617501906A6F}"/>
              </a:ext>
            </a:extLst>
          </p:cNvPr>
          <p:cNvSpPr>
            <a:spLocks noGrp="1"/>
          </p:cNvSpPr>
          <p:nvPr>
            <p:ph idx="1"/>
          </p:nvPr>
        </p:nvSpPr>
        <p:spPr>
          <a:xfrm>
            <a:off x="838200" y="1451114"/>
            <a:ext cx="10515600" cy="5178286"/>
          </a:xfrm>
        </p:spPr>
        <p:txBody>
          <a:bodyPr>
            <a:normAutofit/>
          </a:bodyPr>
          <a:lstStyle/>
          <a:p>
            <a:r>
              <a:rPr lang="en-US" dirty="0"/>
              <a:t>L1 regularization adds a penalty proportional to the absolute values of the weights. </a:t>
            </a:r>
          </a:p>
          <a:p>
            <a:r>
              <a:rPr lang="en-US" dirty="0"/>
              <a:t>When applied to the autoencoder’s weights, it tends to encourage sparsity in the model by driving some weights to zero. </a:t>
            </a:r>
          </a:p>
          <a:p>
            <a:r>
              <a:rPr lang="en-US" dirty="0"/>
              <a:t>This helps in feature selection and forces the autoencoder to learn a sparse encoding of the input data.</a:t>
            </a:r>
          </a:p>
          <a:p>
            <a:endParaRPr lang="en-US" dirty="0"/>
          </a:p>
          <a:p>
            <a:endParaRPr lang="en-US" sz="2400" dirty="0"/>
          </a:p>
          <a:p>
            <a:pPr lvl="1"/>
            <a:r>
              <a:rPr lang="en-US" sz="2000" dirty="0"/>
              <a:t>Reconstruction Loss is usually the mean squared error or cross-entropy between the input and the reconstructed output.</a:t>
            </a:r>
          </a:p>
          <a:p>
            <a:pPr lvl="1"/>
            <a:r>
              <a:rPr lang="en-US" sz="2000" dirty="0"/>
              <a:t>W</a:t>
            </a:r>
            <a:r>
              <a:rPr lang="en-US" sz="2000" baseline="-25000" dirty="0"/>
              <a:t>i​  </a:t>
            </a:r>
            <a:r>
              <a:rPr lang="en-US" sz="2000" dirty="0"/>
              <a:t>are the model’s weights.</a:t>
            </a:r>
          </a:p>
          <a:p>
            <a:pPr lvl="1"/>
            <a:r>
              <a:rPr lang="en-US" sz="2000" dirty="0"/>
              <a:t>𝜆 controls the strength of the regularization.</a:t>
            </a:r>
          </a:p>
          <a:p>
            <a:endParaRPr lang="en-IN" dirty="0"/>
          </a:p>
        </p:txBody>
      </p:sp>
      <p:pic>
        <p:nvPicPr>
          <p:cNvPr id="5" name="Picture 4">
            <a:extLst>
              <a:ext uri="{FF2B5EF4-FFF2-40B4-BE49-F238E27FC236}">
                <a16:creationId xmlns:a16="http://schemas.microsoft.com/office/drawing/2014/main" id="{43161D35-7601-FDE8-ADAB-CE2A6F5F3887}"/>
              </a:ext>
            </a:extLst>
          </p:cNvPr>
          <p:cNvPicPr>
            <a:picLocks noChangeAspect="1"/>
          </p:cNvPicPr>
          <p:nvPr/>
        </p:nvPicPr>
        <p:blipFill>
          <a:blip r:embed="rId2"/>
          <a:stretch>
            <a:fillRect/>
          </a:stretch>
        </p:blipFill>
        <p:spPr>
          <a:xfrm>
            <a:off x="3401309" y="4251771"/>
            <a:ext cx="4435224" cy="5410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8891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FD7D5-7A7E-A49C-AA0B-0AEE4E9CA0EC}"/>
              </a:ext>
            </a:extLst>
          </p:cNvPr>
          <p:cNvSpPr>
            <a:spLocks noGrp="1"/>
          </p:cNvSpPr>
          <p:nvPr>
            <p:ph type="title"/>
          </p:nvPr>
        </p:nvSpPr>
        <p:spPr>
          <a:xfrm>
            <a:off x="838200" y="228601"/>
            <a:ext cx="10515600" cy="658605"/>
          </a:xfrm>
        </p:spPr>
        <p:txBody>
          <a:bodyPr>
            <a:normAutofit fontScale="90000"/>
          </a:bodyPr>
          <a:lstStyle/>
          <a:p>
            <a:pPr algn="ctr"/>
            <a:r>
              <a:rPr lang="en-US" dirty="0"/>
              <a:t>L2 Regularization in Autoencoders (Ridge)</a:t>
            </a:r>
            <a:endParaRPr lang="en-IN" dirty="0"/>
          </a:p>
        </p:txBody>
      </p:sp>
      <p:sp>
        <p:nvSpPr>
          <p:cNvPr id="3" name="Content Placeholder 2">
            <a:extLst>
              <a:ext uri="{FF2B5EF4-FFF2-40B4-BE49-F238E27FC236}">
                <a16:creationId xmlns:a16="http://schemas.microsoft.com/office/drawing/2014/main" id="{A2FE0804-84A7-0DF7-347A-0D19202AD2F4}"/>
              </a:ext>
            </a:extLst>
          </p:cNvPr>
          <p:cNvSpPr>
            <a:spLocks noGrp="1"/>
          </p:cNvSpPr>
          <p:nvPr>
            <p:ph idx="1"/>
          </p:nvPr>
        </p:nvSpPr>
        <p:spPr>
          <a:xfrm>
            <a:off x="487018" y="1129886"/>
            <a:ext cx="11330608" cy="5360366"/>
          </a:xfrm>
        </p:spPr>
        <p:txBody>
          <a:bodyPr>
            <a:normAutofit lnSpcReduction="10000"/>
          </a:bodyPr>
          <a:lstStyle/>
          <a:p>
            <a:pPr algn="just"/>
            <a:r>
              <a:rPr lang="en-US" sz="2400" dirty="0"/>
              <a:t>L2 regularization adds a penalty proportional to the square of the weights, encouraging the network to minimize the magnitude of the weights rather than eliminating them completely, as L1 does.</a:t>
            </a:r>
          </a:p>
          <a:p>
            <a:pPr algn="just"/>
            <a:endParaRPr lang="en-US" sz="2400" dirty="0"/>
          </a:p>
          <a:p>
            <a:pPr algn="just"/>
            <a:r>
              <a:rPr lang="en-US" sz="2400" b="1" dirty="0"/>
              <a:t>Weight shrinkage</a:t>
            </a:r>
            <a:r>
              <a:rPr lang="en-US" sz="2400" dirty="0"/>
              <a:t>: L2 regularization shrinks the weights towards zero, but unlike L1, it doesn’t make them exactly zero. This helps in preventing overfitting by controlling the complexity of the model.</a:t>
            </a:r>
          </a:p>
          <a:p>
            <a:pPr algn="just"/>
            <a:endParaRPr lang="en-US" sz="2400" dirty="0"/>
          </a:p>
          <a:p>
            <a:pPr algn="just"/>
            <a:r>
              <a:rPr lang="en-US" sz="2400" b="1" dirty="0"/>
              <a:t>Smooth latent representations</a:t>
            </a:r>
            <a:r>
              <a:rPr lang="en-US" sz="2400" dirty="0"/>
              <a:t>: L2 regularization encourages smoother weight distributions, which often results in smoother latent representations, making the encoded representations more continuous and less prone to overfitting.</a:t>
            </a:r>
          </a:p>
          <a:p>
            <a:pPr algn="just"/>
            <a:endParaRPr lang="en-US" sz="2400" dirty="0"/>
          </a:p>
          <a:p>
            <a:pPr marL="0" indent="0" algn="just">
              <a:buNone/>
            </a:pPr>
            <a:r>
              <a:rPr lang="en-US" sz="2400" dirty="0"/>
              <a:t>                                                                                 W</a:t>
            </a:r>
            <a:r>
              <a:rPr lang="en-US" sz="2400" baseline="-25000" dirty="0"/>
              <a:t>i​  </a:t>
            </a:r>
            <a:r>
              <a:rPr lang="en-US" sz="2400" dirty="0"/>
              <a:t>are the model’s weights.</a:t>
            </a:r>
          </a:p>
          <a:p>
            <a:pPr marL="0" indent="0" algn="just">
              <a:buNone/>
            </a:pPr>
            <a:r>
              <a:rPr lang="en-US" sz="2400" dirty="0"/>
              <a:t>                                                                                  𝜆 controls the strength of the regularization.</a:t>
            </a:r>
            <a:endParaRPr lang="en-IN" sz="2400" dirty="0"/>
          </a:p>
        </p:txBody>
      </p:sp>
      <p:pic>
        <p:nvPicPr>
          <p:cNvPr id="6" name="Picture 5">
            <a:extLst>
              <a:ext uri="{FF2B5EF4-FFF2-40B4-BE49-F238E27FC236}">
                <a16:creationId xmlns:a16="http://schemas.microsoft.com/office/drawing/2014/main" id="{549318FB-1EF5-B814-1EB7-FFC2588A30FE}"/>
              </a:ext>
            </a:extLst>
          </p:cNvPr>
          <p:cNvPicPr>
            <a:picLocks noChangeAspect="1"/>
          </p:cNvPicPr>
          <p:nvPr/>
        </p:nvPicPr>
        <p:blipFill>
          <a:blip r:embed="rId2"/>
          <a:stretch>
            <a:fillRect/>
          </a:stretch>
        </p:blipFill>
        <p:spPr>
          <a:xfrm>
            <a:off x="1013791" y="5529332"/>
            <a:ext cx="4182060" cy="7621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87144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2D2C-3243-6FCE-AC8D-2ACC816B532C}"/>
              </a:ext>
            </a:extLst>
          </p:cNvPr>
          <p:cNvSpPr>
            <a:spLocks noGrp="1"/>
          </p:cNvSpPr>
          <p:nvPr>
            <p:ph type="title"/>
          </p:nvPr>
        </p:nvSpPr>
        <p:spPr>
          <a:xfrm>
            <a:off x="838200" y="365126"/>
            <a:ext cx="3415748" cy="519458"/>
          </a:xfrm>
        </p:spPr>
        <p:txBody>
          <a:bodyPr>
            <a:normAutofit fontScale="90000"/>
          </a:bodyPr>
          <a:lstStyle/>
          <a:p>
            <a:pPr algn="ctr"/>
            <a:r>
              <a:rPr lang="en-IN" dirty="0"/>
              <a:t>Sparse Autoencoder</a:t>
            </a:r>
          </a:p>
        </p:txBody>
      </p:sp>
      <p:sp>
        <p:nvSpPr>
          <p:cNvPr id="3" name="Content Placeholder 2">
            <a:extLst>
              <a:ext uri="{FF2B5EF4-FFF2-40B4-BE49-F238E27FC236}">
                <a16:creationId xmlns:a16="http://schemas.microsoft.com/office/drawing/2014/main" id="{2D41D848-432F-8B0E-2DCE-C0F83047DBFF}"/>
              </a:ext>
            </a:extLst>
          </p:cNvPr>
          <p:cNvSpPr>
            <a:spLocks noGrp="1"/>
          </p:cNvSpPr>
          <p:nvPr>
            <p:ph idx="1"/>
          </p:nvPr>
        </p:nvSpPr>
        <p:spPr>
          <a:xfrm>
            <a:off x="296269" y="1252330"/>
            <a:ext cx="5716906" cy="5240544"/>
          </a:xfrm>
        </p:spPr>
        <p:txBody>
          <a:bodyPr>
            <a:normAutofit fontScale="85000" lnSpcReduction="20000"/>
          </a:bodyPr>
          <a:lstStyle/>
          <a:p>
            <a:pPr algn="just"/>
            <a:r>
              <a:rPr lang="en-US" dirty="0"/>
              <a:t>Sparse autoencoders have hidden nodes greater than input nodes.</a:t>
            </a:r>
          </a:p>
          <a:p>
            <a:pPr algn="just"/>
            <a:r>
              <a:rPr lang="en-US" dirty="0"/>
              <a:t>They can still discover important features from the data.</a:t>
            </a:r>
          </a:p>
          <a:p>
            <a:pPr algn="just"/>
            <a:r>
              <a:rPr lang="en-US" dirty="0"/>
              <a:t>A generic sparse autoencoder is visualized where the obscurity of a node corresponds with the level of activation. Sparsity constraint is introduced on the hidden layer.</a:t>
            </a:r>
          </a:p>
          <a:p>
            <a:pPr algn="just"/>
            <a:r>
              <a:rPr lang="en-US" dirty="0"/>
              <a:t>This is to prevent output layer copy input data.</a:t>
            </a:r>
          </a:p>
          <a:p>
            <a:pPr algn="just"/>
            <a:r>
              <a:rPr lang="en-US" dirty="0"/>
              <a:t>Sparsity may be obtained by additional terms in the loss function during the training process, either by comparing the probability distribution of the hidden unit activations with some low desired value, or by manually zeroing all but the strongest hidden unit activations.</a:t>
            </a:r>
            <a:endParaRPr lang="en-IN" dirty="0"/>
          </a:p>
        </p:txBody>
      </p:sp>
      <p:pic>
        <p:nvPicPr>
          <p:cNvPr id="5" name="Picture 4">
            <a:extLst>
              <a:ext uri="{FF2B5EF4-FFF2-40B4-BE49-F238E27FC236}">
                <a16:creationId xmlns:a16="http://schemas.microsoft.com/office/drawing/2014/main" id="{FBC27E5C-54D3-94A9-4188-7165001D0ED8}"/>
              </a:ext>
            </a:extLst>
          </p:cNvPr>
          <p:cNvPicPr>
            <a:picLocks noChangeAspect="1"/>
          </p:cNvPicPr>
          <p:nvPr/>
        </p:nvPicPr>
        <p:blipFill>
          <a:blip r:embed="rId2"/>
          <a:stretch>
            <a:fillRect/>
          </a:stretch>
        </p:blipFill>
        <p:spPr>
          <a:xfrm>
            <a:off x="6284843" y="1351028"/>
            <a:ext cx="5610889" cy="47272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12334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1C0E9-6516-00DC-D893-8FBEC4681489}"/>
              </a:ext>
            </a:extLst>
          </p:cNvPr>
          <p:cNvSpPr>
            <a:spLocks noGrp="1"/>
          </p:cNvSpPr>
          <p:nvPr>
            <p:ph type="title"/>
          </p:nvPr>
        </p:nvSpPr>
        <p:spPr/>
        <p:txBody>
          <a:bodyPr/>
          <a:lstStyle/>
          <a:p>
            <a:pPr algn="ctr"/>
            <a:r>
              <a:rPr lang="en-US" dirty="0" err="1"/>
              <a:t>Kullback-Leibler</a:t>
            </a:r>
            <a:r>
              <a:rPr lang="en-US" dirty="0"/>
              <a:t> (KL) divergence</a:t>
            </a:r>
            <a:endParaRPr lang="en-IN" dirty="0"/>
          </a:p>
        </p:txBody>
      </p:sp>
      <p:sp>
        <p:nvSpPr>
          <p:cNvPr id="3" name="Content Placeholder 2">
            <a:extLst>
              <a:ext uri="{FF2B5EF4-FFF2-40B4-BE49-F238E27FC236}">
                <a16:creationId xmlns:a16="http://schemas.microsoft.com/office/drawing/2014/main" id="{975F5086-A979-0D0C-0C96-A843428C7492}"/>
              </a:ext>
            </a:extLst>
          </p:cNvPr>
          <p:cNvSpPr>
            <a:spLocks noGrp="1"/>
          </p:cNvSpPr>
          <p:nvPr>
            <p:ph idx="1"/>
          </p:nvPr>
        </p:nvSpPr>
        <p:spPr/>
        <p:txBody>
          <a:bodyPr/>
          <a:lstStyle/>
          <a:p>
            <a:r>
              <a:rPr lang="en-US" dirty="0" err="1"/>
              <a:t>Kullback-Leibler</a:t>
            </a:r>
            <a:r>
              <a:rPr lang="en-US" dirty="0"/>
              <a:t> (KL) divergence to enforce a sparsity constraint on the hidden layer activations. This form of regularization encourages the autoencoder to learn representations where only a small subset of neurons are active for any given input, while most remain inactive.</a:t>
            </a:r>
          </a:p>
          <a:p>
            <a:r>
              <a:rPr lang="en-US" dirty="0"/>
              <a:t> The sparsity constraint in the hidden layer is enforced by making the average activation of each hidden neuron close to a desired value (</a:t>
            </a:r>
            <a:r>
              <a:rPr lang="en-US" sz="2000" i="1" dirty="0"/>
              <a:t>often a small value, such as 0.05, meaning neurons are inactive most of the time</a:t>
            </a:r>
            <a:r>
              <a:rPr lang="en-US" dirty="0"/>
              <a:t>).</a:t>
            </a:r>
          </a:p>
          <a:p>
            <a:endParaRPr lang="en-US" dirty="0"/>
          </a:p>
          <a:p>
            <a:r>
              <a:rPr lang="en-IN" sz="2400" dirty="0"/>
              <a:t>Desired sparsity </a:t>
            </a:r>
            <a:r>
              <a:rPr lang="en-IN" sz="2400" dirty="0">
                <a:sym typeface="Wingdings" panose="05000000000000000000" pitchFamily="2" charset="2"/>
              </a:rPr>
              <a:t>   </a:t>
            </a:r>
            <a:r>
              <a:rPr lang="en-IN" sz="2400" dirty="0"/>
              <a:t>KL divergence penalty  </a:t>
            </a:r>
            <a:r>
              <a:rPr lang="en-IN" sz="2400" dirty="0">
                <a:sym typeface="Wingdings" panose="05000000000000000000" pitchFamily="2" charset="2"/>
              </a:rPr>
              <a:t>  </a:t>
            </a:r>
            <a:r>
              <a:rPr lang="en-US" sz="2400" dirty="0">
                <a:sym typeface="Wingdings" panose="05000000000000000000" pitchFamily="2" charset="2"/>
              </a:rPr>
              <a:t>Regularization in the loss function</a:t>
            </a:r>
            <a:endParaRPr lang="en-IN" sz="2400" dirty="0"/>
          </a:p>
        </p:txBody>
      </p:sp>
      <p:pic>
        <p:nvPicPr>
          <p:cNvPr id="5" name="Picture 4">
            <a:extLst>
              <a:ext uri="{FF2B5EF4-FFF2-40B4-BE49-F238E27FC236}">
                <a16:creationId xmlns:a16="http://schemas.microsoft.com/office/drawing/2014/main" id="{F1E2F3E2-C023-ED82-B7D9-BCCF9F960E09}"/>
              </a:ext>
            </a:extLst>
          </p:cNvPr>
          <p:cNvPicPr>
            <a:picLocks noChangeAspect="1"/>
          </p:cNvPicPr>
          <p:nvPr/>
        </p:nvPicPr>
        <p:blipFill>
          <a:blip r:embed="rId2"/>
          <a:stretch>
            <a:fillRect/>
          </a:stretch>
        </p:blipFill>
        <p:spPr>
          <a:xfrm>
            <a:off x="2879858" y="5788309"/>
            <a:ext cx="3947502" cy="7773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75BA3B16-9A8E-CA9C-05D9-490B4B941A3A}"/>
              </a:ext>
            </a:extLst>
          </p:cNvPr>
          <p:cNvPicPr>
            <a:picLocks noChangeAspect="1"/>
          </p:cNvPicPr>
          <p:nvPr/>
        </p:nvPicPr>
        <p:blipFill>
          <a:blip r:embed="rId3"/>
          <a:stretch>
            <a:fillRect/>
          </a:stretch>
        </p:blipFill>
        <p:spPr>
          <a:xfrm>
            <a:off x="7051934" y="5867981"/>
            <a:ext cx="4846740" cy="6248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36974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146D0-B3BC-A074-3DDF-F3D026D14EBA}"/>
              </a:ext>
            </a:extLst>
          </p:cNvPr>
          <p:cNvSpPr>
            <a:spLocks noGrp="1"/>
          </p:cNvSpPr>
          <p:nvPr>
            <p:ph type="title"/>
          </p:nvPr>
        </p:nvSpPr>
        <p:spPr/>
        <p:txBody>
          <a:bodyPr/>
          <a:lstStyle/>
          <a:p>
            <a:pPr algn="ctr"/>
            <a:r>
              <a:rPr lang="en-US" dirty="0" err="1"/>
              <a:t>Kullback-Leibler</a:t>
            </a:r>
            <a:r>
              <a:rPr lang="en-US" dirty="0"/>
              <a:t> (KL) divergence</a:t>
            </a:r>
            <a:endParaRPr lang="en-IN" dirty="0"/>
          </a:p>
        </p:txBody>
      </p:sp>
      <p:sp>
        <p:nvSpPr>
          <p:cNvPr id="3" name="Content Placeholder 2">
            <a:extLst>
              <a:ext uri="{FF2B5EF4-FFF2-40B4-BE49-F238E27FC236}">
                <a16:creationId xmlns:a16="http://schemas.microsoft.com/office/drawing/2014/main" id="{20F34D0C-D06C-2540-E514-2EA52CAC9CEC}"/>
              </a:ext>
            </a:extLst>
          </p:cNvPr>
          <p:cNvSpPr>
            <a:spLocks noGrp="1"/>
          </p:cNvSpPr>
          <p:nvPr>
            <p:ph idx="1"/>
          </p:nvPr>
        </p:nvSpPr>
        <p:spPr/>
        <p:txBody>
          <a:bodyPr/>
          <a:lstStyle/>
          <a:p>
            <a:r>
              <a:rPr lang="en-US" dirty="0"/>
              <a:t>Feature selection: By forcing most neurons to stay inactive, the model learns to identify the most important features in the data.</a:t>
            </a:r>
          </a:p>
          <a:p>
            <a:endParaRPr lang="en-US" dirty="0"/>
          </a:p>
          <a:p>
            <a:r>
              <a:rPr lang="en-US" dirty="0"/>
              <a:t>Overfitting prevention: Sparsity helps avoid overfitting by reducing the network's capacity to memorize the training data.</a:t>
            </a:r>
          </a:p>
          <a:p>
            <a:endParaRPr lang="en-US" dirty="0"/>
          </a:p>
          <a:p>
            <a:r>
              <a:rPr lang="en-US" dirty="0"/>
              <a:t>Efficient representation: The learned representation is often more interpretable and compact, focusing on the key factors in the input.</a:t>
            </a:r>
            <a:endParaRPr lang="en-IN" dirty="0"/>
          </a:p>
        </p:txBody>
      </p:sp>
    </p:spTree>
    <p:extLst>
      <p:ext uri="{BB962C8B-B14F-4D97-AF65-F5344CB8AC3E}">
        <p14:creationId xmlns:p14="http://schemas.microsoft.com/office/powerpoint/2010/main" val="365107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2D2C-3243-6FCE-AC8D-2ACC816B532C}"/>
              </a:ext>
            </a:extLst>
          </p:cNvPr>
          <p:cNvSpPr>
            <a:spLocks noGrp="1"/>
          </p:cNvSpPr>
          <p:nvPr>
            <p:ph type="title"/>
          </p:nvPr>
        </p:nvSpPr>
        <p:spPr>
          <a:xfrm>
            <a:off x="838200" y="365126"/>
            <a:ext cx="10515600" cy="738118"/>
          </a:xfrm>
        </p:spPr>
        <p:txBody>
          <a:bodyPr/>
          <a:lstStyle/>
          <a:p>
            <a:pPr algn="ctr"/>
            <a:r>
              <a:rPr lang="en-IN" dirty="0"/>
              <a:t>Sparse Autoencoder</a:t>
            </a:r>
          </a:p>
        </p:txBody>
      </p:sp>
      <p:sp>
        <p:nvSpPr>
          <p:cNvPr id="3" name="Content Placeholder 2">
            <a:extLst>
              <a:ext uri="{FF2B5EF4-FFF2-40B4-BE49-F238E27FC236}">
                <a16:creationId xmlns:a16="http://schemas.microsoft.com/office/drawing/2014/main" id="{2D41D848-432F-8B0E-2DCE-C0F83047DBFF}"/>
              </a:ext>
            </a:extLst>
          </p:cNvPr>
          <p:cNvSpPr>
            <a:spLocks noGrp="1"/>
          </p:cNvSpPr>
          <p:nvPr>
            <p:ph idx="1"/>
          </p:nvPr>
        </p:nvSpPr>
        <p:spPr>
          <a:xfrm>
            <a:off x="838200" y="1411358"/>
            <a:ext cx="10515600" cy="4765606"/>
          </a:xfrm>
        </p:spPr>
        <p:txBody>
          <a:bodyPr>
            <a:normAutofit fontScale="92500" lnSpcReduction="10000"/>
          </a:bodyPr>
          <a:lstStyle/>
          <a:p>
            <a:pPr algn="just"/>
            <a:r>
              <a:rPr lang="en-US" dirty="0">
                <a:solidFill>
                  <a:srgbClr val="FF0000"/>
                </a:solidFill>
              </a:rPr>
              <a:t>Advantages</a:t>
            </a:r>
          </a:p>
          <a:p>
            <a:pPr algn="just"/>
            <a:r>
              <a:rPr lang="en-US" dirty="0"/>
              <a:t>The sparsity constraint in sparse autoencoders helps in filtering out noise and irrelevant features during the encoding process.</a:t>
            </a:r>
          </a:p>
          <a:p>
            <a:pPr algn="just"/>
            <a:r>
              <a:rPr lang="en-US" dirty="0"/>
              <a:t>These autoencoders often learn important and meaningful features due to their emphasis on sparse activations.</a:t>
            </a:r>
          </a:p>
          <a:p>
            <a:pPr algn="just"/>
            <a:endParaRPr lang="en-US" dirty="0"/>
          </a:p>
          <a:p>
            <a:pPr algn="just"/>
            <a:r>
              <a:rPr lang="en-US" dirty="0">
                <a:solidFill>
                  <a:srgbClr val="FF0000"/>
                </a:solidFill>
              </a:rPr>
              <a:t>Disadvantages</a:t>
            </a:r>
          </a:p>
          <a:p>
            <a:pPr algn="just"/>
            <a:r>
              <a:rPr lang="en-US" dirty="0"/>
              <a:t>The choice of hyperparameters play a significant role in the performance of this autoencoder. Different inputs should result in the activation of different nodes of the network.</a:t>
            </a:r>
          </a:p>
          <a:p>
            <a:pPr algn="just"/>
            <a:r>
              <a:rPr lang="en-US" dirty="0"/>
              <a:t>The application of sparsity constraint increases computational complexity.</a:t>
            </a:r>
          </a:p>
          <a:p>
            <a:pPr algn="just"/>
            <a:endParaRPr lang="en-IN" dirty="0"/>
          </a:p>
        </p:txBody>
      </p:sp>
    </p:spTree>
    <p:extLst>
      <p:ext uri="{BB962C8B-B14F-4D97-AF65-F5344CB8AC3E}">
        <p14:creationId xmlns:p14="http://schemas.microsoft.com/office/powerpoint/2010/main" val="4037368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2D2C-3243-6FCE-AC8D-2ACC816B532C}"/>
              </a:ext>
            </a:extLst>
          </p:cNvPr>
          <p:cNvSpPr>
            <a:spLocks noGrp="1"/>
          </p:cNvSpPr>
          <p:nvPr>
            <p:ph type="title"/>
          </p:nvPr>
        </p:nvSpPr>
        <p:spPr>
          <a:xfrm>
            <a:off x="838200" y="185780"/>
            <a:ext cx="10515600" cy="668545"/>
          </a:xfrm>
        </p:spPr>
        <p:txBody>
          <a:bodyPr>
            <a:normAutofit fontScale="90000"/>
          </a:bodyPr>
          <a:lstStyle/>
          <a:p>
            <a:pPr algn="ctr"/>
            <a:r>
              <a:rPr lang="en-IN" dirty="0"/>
              <a:t>Denoising Autoencoder</a:t>
            </a:r>
          </a:p>
        </p:txBody>
      </p:sp>
      <p:pic>
        <p:nvPicPr>
          <p:cNvPr id="5" name="Picture 4">
            <a:extLst>
              <a:ext uri="{FF2B5EF4-FFF2-40B4-BE49-F238E27FC236}">
                <a16:creationId xmlns:a16="http://schemas.microsoft.com/office/drawing/2014/main" id="{74E1AB70-FDB7-EEEA-EDCA-473F77A24D42}"/>
              </a:ext>
            </a:extLst>
          </p:cNvPr>
          <p:cNvPicPr>
            <a:picLocks noChangeAspect="1"/>
          </p:cNvPicPr>
          <p:nvPr/>
        </p:nvPicPr>
        <p:blipFill>
          <a:blip r:embed="rId2"/>
          <a:stretch>
            <a:fillRect/>
          </a:stretch>
        </p:blipFill>
        <p:spPr>
          <a:xfrm>
            <a:off x="2287217" y="1039781"/>
            <a:ext cx="7617566" cy="32906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4B70B17C-49BB-631D-3922-D19E48FD8E34}"/>
              </a:ext>
            </a:extLst>
          </p:cNvPr>
          <p:cNvPicPr>
            <a:picLocks noChangeAspect="1"/>
          </p:cNvPicPr>
          <p:nvPr/>
        </p:nvPicPr>
        <p:blipFill>
          <a:blip r:embed="rId3"/>
          <a:stretch>
            <a:fillRect/>
          </a:stretch>
        </p:blipFill>
        <p:spPr>
          <a:xfrm>
            <a:off x="2611627" y="4515854"/>
            <a:ext cx="6968745" cy="21563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95253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2B187-57B5-20CF-AE5E-8B92CAE283B1}"/>
              </a:ext>
            </a:extLst>
          </p:cNvPr>
          <p:cNvSpPr>
            <a:spLocks noGrp="1"/>
          </p:cNvSpPr>
          <p:nvPr>
            <p:ph type="title"/>
          </p:nvPr>
        </p:nvSpPr>
        <p:spPr/>
        <p:txBody>
          <a:bodyPr/>
          <a:lstStyle/>
          <a:p>
            <a:pPr algn="ctr"/>
            <a:r>
              <a:rPr lang="en-IN" dirty="0"/>
              <a:t>Denoising Autoencoder</a:t>
            </a:r>
          </a:p>
        </p:txBody>
      </p:sp>
      <p:sp>
        <p:nvSpPr>
          <p:cNvPr id="3" name="Content Placeholder 2">
            <a:extLst>
              <a:ext uri="{FF2B5EF4-FFF2-40B4-BE49-F238E27FC236}">
                <a16:creationId xmlns:a16="http://schemas.microsoft.com/office/drawing/2014/main" id="{3B092BF6-1F9B-B3A2-5ABD-C1EB5911794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2905C9C-A155-6657-2E75-1A848F706322}"/>
              </a:ext>
            </a:extLst>
          </p:cNvPr>
          <p:cNvPicPr>
            <a:picLocks noChangeAspect="1"/>
          </p:cNvPicPr>
          <p:nvPr/>
        </p:nvPicPr>
        <p:blipFill>
          <a:blip r:embed="rId2"/>
          <a:stretch>
            <a:fillRect/>
          </a:stretch>
        </p:blipFill>
        <p:spPr>
          <a:xfrm>
            <a:off x="3023241" y="2054215"/>
            <a:ext cx="5608806" cy="38941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88955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DF0AC-261F-7B72-7D25-A2B8128CF5FA}"/>
              </a:ext>
            </a:extLst>
          </p:cNvPr>
          <p:cNvSpPr>
            <a:spLocks noGrp="1"/>
          </p:cNvSpPr>
          <p:nvPr>
            <p:ph type="title"/>
          </p:nvPr>
        </p:nvSpPr>
        <p:spPr/>
        <p:txBody>
          <a:bodyPr/>
          <a:lstStyle/>
          <a:p>
            <a:pPr algn="ctr"/>
            <a:r>
              <a:rPr lang="en-IN" dirty="0"/>
              <a:t>Denoising Autoencoder</a:t>
            </a:r>
          </a:p>
        </p:txBody>
      </p:sp>
      <p:sp>
        <p:nvSpPr>
          <p:cNvPr id="3" name="Content Placeholder 2">
            <a:extLst>
              <a:ext uri="{FF2B5EF4-FFF2-40B4-BE49-F238E27FC236}">
                <a16:creationId xmlns:a16="http://schemas.microsoft.com/office/drawing/2014/main" id="{7F3C91A3-9025-8988-04A4-7D50ED97B0DD}"/>
              </a:ext>
            </a:extLst>
          </p:cNvPr>
          <p:cNvSpPr>
            <a:spLocks noGrp="1"/>
          </p:cNvSpPr>
          <p:nvPr>
            <p:ph idx="1"/>
          </p:nvPr>
        </p:nvSpPr>
        <p:spPr/>
        <p:txBody>
          <a:bodyPr>
            <a:normAutofit lnSpcReduction="10000"/>
          </a:bodyPr>
          <a:lstStyle/>
          <a:p>
            <a:pPr algn="just"/>
            <a:r>
              <a:rPr lang="en-US" dirty="0"/>
              <a:t>A Denoising Autoencoder (DAE) is a type of artificial neural network used primarily for unsupervised learning, especially in tasks like noise reduction, feature learning, and dimensionality reduction.</a:t>
            </a:r>
          </a:p>
          <a:p>
            <a:pPr algn="just"/>
            <a:endParaRPr lang="en-US" dirty="0"/>
          </a:p>
          <a:p>
            <a:pPr algn="just"/>
            <a:r>
              <a:rPr lang="en-US" dirty="0"/>
              <a:t>It is a variation of the standard autoencoder, but with an added objective: to reconstruct the input data from a corrupted version of it.</a:t>
            </a:r>
          </a:p>
          <a:p>
            <a:pPr algn="just"/>
            <a:endParaRPr lang="en-US" dirty="0"/>
          </a:p>
          <a:p>
            <a:pPr algn="just"/>
            <a:r>
              <a:rPr lang="en-US" dirty="0"/>
              <a:t>The idea is to teach the model to identify important features of the data that remain invariant under noise and to learn how to discard irrelevant or noisy features.</a:t>
            </a:r>
            <a:endParaRPr lang="en-IN" dirty="0"/>
          </a:p>
        </p:txBody>
      </p:sp>
    </p:spTree>
    <p:extLst>
      <p:ext uri="{BB962C8B-B14F-4D97-AF65-F5344CB8AC3E}">
        <p14:creationId xmlns:p14="http://schemas.microsoft.com/office/powerpoint/2010/main" val="22375750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2D2C-3243-6FCE-AC8D-2ACC816B532C}"/>
              </a:ext>
            </a:extLst>
          </p:cNvPr>
          <p:cNvSpPr>
            <a:spLocks noGrp="1"/>
          </p:cNvSpPr>
          <p:nvPr>
            <p:ph type="title"/>
          </p:nvPr>
        </p:nvSpPr>
        <p:spPr/>
        <p:txBody>
          <a:bodyPr/>
          <a:lstStyle/>
          <a:p>
            <a:pPr algn="ctr"/>
            <a:r>
              <a:rPr lang="en-IN" dirty="0"/>
              <a:t>Denoising Autoencoder</a:t>
            </a:r>
          </a:p>
        </p:txBody>
      </p:sp>
      <p:sp>
        <p:nvSpPr>
          <p:cNvPr id="3" name="Content Placeholder 2">
            <a:extLst>
              <a:ext uri="{FF2B5EF4-FFF2-40B4-BE49-F238E27FC236}">
                <a16:creationId xmlns:a16="http://schemas.microsoft.com/office/drawing/2014/main" id="{2D41D848-432F-8B0E-2DCE-C0F83047DBFF}"/>
              </a:ext>
            </a:extLst>
          </p:cNvPr>
          <p:cNvSpPr>
            <a:spLocks noGrp="1"/>
          </p:cNvSpPr>
          <p:nvPr>
            <p:ph idx="1"/>
          </p:nvPr>
        </p:nvSpPr>
        <p:spPr/>
        <p:txBody>
          <a:bodyPr>
            <a:normAutofit lnSpcReduction="10000"/>
          </a:bodyPr>
          <a:lstStyle/>
          <a:p>
            <a:pPr algn="just"/>
            <a:r>
              <a:rPr lang="en-US" dirty="0">
                <a:solidFill>
                  <a:srgbClr val="00B050"/>
                </a:solidFill>
              </a:rPr>
              <a:t>Corrupting the Input:</a:t>
            </a:r>
          </a:p>
          <a:p>
            <a:pPr lvl="1" algn="just"/>
            <a:r>
              <a:rPr lang="en-US" sz="2800" dirty="0"/>
              <a:t> The input data is modified by introducing noise, such as:</a:t>
            </a:r>
          </a:p>
          <a:p>
            <a:pPr lvl="2" algn="just"/>
            <a:r>
              <a:rPr lang="en-US" sz="2800" dirty="0">
                <a:solidFill>
                  <a:srgbClr val="0070C0"/>
                </a:solidFill>
              </a:rPr>
              <a:t>Gaussian noise</a:t>
            </a:r>
            <a:r>
              <a:rPr lang="en-US" sz="2800" dirty="0"/>
              <a:t>: Adding random noise to input values.</a:t>
            </a:r>
          </a:p>
          <a:p>
            <a:pPr lvl="2" algn="just"/>
            <a:r>
              <a:rPr lang="en-US" sz="2800" dirty="0">
                <a:solidFill>
                  <a:srgbClr val="0070C0"/>
                </a:solidFill>
              </a:rPr>
              <a:t>Salt-and-pepper noise</a:t>
            </a:r>
            <a:r>
              <a:rPr lang="en-US" sz="2800" dirty="0"/>
              <a:t>: Randomly switching some of the input values to zero or maximum values.</a:t>
            </a:r>
          </a:p>
          <a:p>
            <a:pPr lvl="2" algn="just"/>
            <a:r>
              <a:rPr lang="en-US" sz="2800" dirty="0">
                <a:solidFill>
                  <a:srgbClr val="0070C0"/>
                </a:solidFill>
              </a:rPr>
              <a:t>Dropout</a:t>
            </a:r>
            <a:r>
              <a:rPr lang="en-US" sz="2800" dirty="0"/>
              <a:t>: Randomly setting some of the input features to zero.</a:t>
            </a:r>
          </a:p>
          <a:p>
            <a:pPr algn="just"/>
            <a:endParaRPr lang="en-US" dirty="0">
              <a:solidFill>
                <a:srgbClr val="00B050"/>
              </a:solidFill>
            </a:endParaRPr>
          </a:p>
          <a:p>
            <a:pPr algn="just"/>
            <a:r>
              <a:rPr lang="en-US" dirty="0">
                <a:solidFill>
                  <a:srgbClr val="00B050"/>
                </a:solidFill>
              </a:rPr>
              <a:t>Reconstruction: </a:t>
            </a:r>
          </a:p>
          <a:p>
            <a:pPr lvl="1" algn="just"/>
            <a:r>
              <a:rPr lang="en-US" sz="2800" dirty="0"/>
              <a:t>The autoencoder then tries to reconstruct the original clean data from the noisy data through its encoder and decoder.</a:t>
            </a:r>
            <a:endParaRPr lang="en-IN" sz="2800" dirty="0"/>
          </a:p>
        </p:txBody>
      </p:sp>
    </p:spTree>
    <p:extLst>
      <p:ext uri="{BB962C8B-B14F-4D97-AF65-F5344CB8AC3E}">
        <p14:creationId xmlns:p14="http://schemas.microsoft.com/office/powerpoint/2010/main" val="19604207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D9785-9C9E-E9B8-FCD5-E8698B609B82}"/>
              </a:ext>
            </a:extLst>
          </p:cNvPr>
          <p:cNvSpPr>
            <a:spLocks noGrp="1"/>
          </p:cNvSpPr>
          <p:nvPr>
            <p:ph type="title"/>
          </p:nvPr>
        </p:nvSpPr>
        <p:spPr/>
        <p:txBody>
          <a:bodyPr/>
          <a:lstStyle/>
          <a:p>
            <a:pPr algn="ctr"/>
            <a:r>
              <a:rPr lang="en-IN" dirty="0"/>
              <a:t>Denoising Autoencoder</a:t>
            </a:r>
          </a:p>
        </p:txBody>
      </p:sp>
      <p:sp>
        <p:nvSpPr>
          <p:cNvPr id="3" name="Content Placeholder 2">
            <a:extLst>
              <a:ext uri="{FF2B5EF4-FFF2-40B4-BE49-F238E27FC236}">
                <a16:creationId xmlns:a16="http://schemas.microsoft.com/office/drawing/2014/main" id="{988E53B1-1F51-7FE0-EDD6-C3F4530A5F7B}"/>
              </a:ext>
            </a:extLst>
          </p:cNvPr>
          <p:cNvSpPr>
            <a:spLocks noGrp="1"/>
          </p:cNvSpPr>
          <p:nvPr>
            <p:ph idx="1"/>
          </p:nvPr>
        </p:nvSpPr>
        <p:spPr/>
        <p:txBody>
          <a:bodyPr/>
          <a:lstStyle/>
          <a:p>
            <a:r>
              <a:rPr lang="en-US" dirty="0"/>
              <a:t>Loss Function:</a:t>
            </a:r>
          </a:p>
          <a:p>
            <a:r>
              <a:rPr lang="en-US" dirty="0"/>
              <a:t>The loss function typically used in training is the mean squared error (MSE) between the original input and the reconstructed input. </a:t>
            </a:r>
          </a:p>
          <a:p>
            <a:r>
              <a:rPr lang="en-US" dirty="0"/>
              <a:t>The network minimizes the difference between the true input and the reconstructed input after denoising.</a:t>
            </a:r>
            <a:endParaRPr lang="en-IN" dirty="0"/>
          </a:p>
        </p:txBody>
      </p:sp>
    </p:spTree>
    <p:extLst>
      <p:ext uri="{BB962C8B-B14F-4D97-AF65-F5344CB8AC3E}">
        <p14:creationId xmlns:p14="http://schemas.microsoft.com/office/powerpoint/2010/main" val="4224897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3642-8431-43FE-E6F3-431AD62F1005}"/>
              </a:ext>
            </a:extLst>
          </p:cNvPr>
          <p:cNvSpPr>
            <a:spLocks noGrp="1"/>
          </p:cNvSpPr>
          <p:nvPr>
            <p:ph type="title"/>
          </p:nvPr>
        </p:nvSpPr>
        <p:spPr>
          <a:xfrm>
            <a:off x="838200" y="365125"/>
            <a:ext cx="10515600" cy="797753"/>
          </a:xfrm>
        </p:spPr>
        <p:txBody>
          <a:bodyPr/>
          <a:lstStyle/>
          <a:p>
            <a:pPr algn="ctr"/>
            <a:r>
              <a:rPr lang="en-IN" dirty="0"/>
              <a:t>Purpose of Denoising Autoencoders</a:t>
            </a:r>
          </a:p>
        </p:txBody>
      </p:sp>
      <p:sp>
        <p:nvSpPr>
          <p:cNvPr id="3" name="Content Placeholder 2">
            <a:extLst>
              <a:ext uri="{FF2B5EF4-FFF2-40B4-BE49-F238E27FC236}">
                <a16:creationId xmlns:a16="http://schemas.microsoft.com/office/drawing/2014/main" id="{48A22210-037C-9DBF-83DC-1D7A2AC452B8}"/>
              </a:ext>
            </a:extLst>
          </p:cNvPr>
          <p:cNvSpPr>
            <a:spLocks noGrp="1"/>
          </p:cNvSpPr>
          <p:nvPr>
            <p:ph idx="1"/>
          </p:nvPr>
        </p:nvSpPr>
        <p:spPr>
          <a:xfrm>
            <a:off x="838200" y="1461052"/>
            <a:ext cx="10515600" cy="4919870"/>
          </a:xfrm>
        </p:spPr>
        <p:txBody>
          <a:bodyPr>
            <a:normAutofit lnSpcReduction="10000"/>
          </a:bodyPr>
          <a:lstStyle/>
          <a:p>
            <a:pPr algn="just"/>
            <a:r>
              <a:rPr lang="en-US" dirty="0"/>
              <a:t>Noise Robustness: Denoising autoencoders are designed to be robust against noise. This makes them useful for tasks like removing noise from images, signals, or other data types.</a:t>
            </a:r>
          </a:p>
          <a:p>
            <a:pPr algn="just"/>
            <a:endParaRPr lang="en-US" dirty="0"/>
          </a:p>
          <a:p>
            <a:pPr algn="just"/>
            <a:r>
              <a:rPr lang="en-US" dirty="0"/>
              <a:t>Feature Extraction: By learning to reconstruct data from noisy versions, the autoencoder learns useful representations (features) of the data in the latent space. These learned features can be used in downstream tasks such as classification or clustering.</a:t>
            </a:r>
          </a:p>
          <a:p>
            <a:pPr algn="just"/>
            <a:endParaRPr lang="en-US" dirty="0"/>
          </a:p>
          <a:p>
            <a:pPr algn="just"/>
            <a:r>
              <a:rPr lang="en-US" dirty="0"/>
              <a:t>Regularization: The process of adding noise acts as a </a:t>
            </a:r>
            <a:r>
              <a:rPr lang="en-US" dirty="0" err="1"/>
              <a:t>regularizer</a:t>
            </a:r>
            <a:r>
              <a:rPr lang="en-US" dirty="0"/>
              <a:t>, preventing the model from simply learning the identity function and thus reducing overfitting.</a:t>
            </a:r>
            <a:endParaRPr lang="en-IN" dirty="0"/>
          </a:p>
        </p:txBody>
      </p:sp>
    </p:spTree>
    <p:extLst>
      <p:ext uri="{BB962C8B-B14F-4D97-AF65-F5344CB8AC3E}">
        <p14:creationId xmlns:p14="http://schemas.microsoft.com/office/powerpoint/2010/main" val="15861092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45882-6732-8517-6554-89DFEEB2227E}"/>
              </a:ext>
            </a:extLst>
          </p:cNvPr>
          <p:cNvSpPr>
            <a:spLocks noGrp="1"/>
          </p:cNvSpPr>
          <p:nvPr>
            <p:ph type="title"/>
          </p:nvPr>
        </p:nvSpPr>
        <p:spPr/>
        <p:txBody>
          <a:bodyPr/>
          <a:lstStyle/>
          <a:p>
            <a:pPr algn="ctr"/>
            <a:r>
              <a:rPr lang="en-IN" dirty="0"/>
              <a:t>Applications</a:t>
            </a:r>
          </a:p>
        </p:txBody>
      </p:sp>
      <p:sp>
        <p:nvSpPr>
          <p:cNvPr id="3" name="Content Placeholder 2">
            <a:extLst>
              <a:ext uri="{FF2B5EF4-FFF2-40B4-BE49-F238E27FC236}">
                <a16:creationId xmlns:a16="http://schemas.microsoft.com/office/drawing/2014/main" id="{B78AA48B-F4DA-6D5E-4CC9-CE587860E203}"/>
              </a:ext>
            </a:extLst>
          </p:cNvPr>
          <p:cNvSpPr>
            <a:spLocks noGrp="1"/>
          </p:cNvSpPr>
          <p:nvPr>
            <p:ph idx="1"/>
          </p:nvPr>
        </p:nvSpPr>
        <p:spPr/>
        <p:txBody>
          <a:bodyPr/>
          <a:lstStyle/>
          <a:p>
            <a:r>
              <a:rPr lang="en-US" dirty="0"/>
              <a:t>Image Denoising: Removing noise from corrupted or low-quality images.</a:t>
            </a:r>
          </a:p>
          <a:p>
            <a:r>
              <a:rPr lang="en-US" dirty="0"/>
              <a:t>Data Compression: Learning compact representations of high-dimensional data.</a:t>
            </a:r>
          </a:p>
          <a:p>
            <a:r>
              <a:rPr lang="en-US" dirty="0"/>
              <a:t>Pre-training: Denoising autoencoders can be used to initialize weights in deep neural networks before fine-tuning for a specific task.</a:t>
            </a:r>
          </a:p>
          <a:p>
            <a:r>
              <a:rPr lang="en-US" dirty="0"/>
              <a:t>Anomaly Detection: By learning to reconstruct clean data, they can identify anomalies in the input that deviate from the learned pattern.</a:t>
            </a:r>
            <a:endParaRPr lang="en-IN" dirty="0"/>
          </a:p>
        </p:txBody>
      </p:sp>
    </p:spTree>
    <p:extLst>
      <p:ext uri="{BB962C8B-B14F-4D97-AF65-F5344CB8AC3E}">
        <p14:creationId xmlns:p14="http://schemas.microsoft.com/office/powerpoint/2010/main" val="25593940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913463-6D04-32B0-A0E6-CAA9E50DDE3C}"/>
              </a:ext>
            </a:extLst>
          </p:cNvPr>
          <p:cNvPicPr>
            <a:picLocks noChangeAspect="1"/>
          </p:cNvPicPr>
          <p:nvPr/>
        </p:nvPicPr>
        <p:blipFill>
          <a:blip r:embed="rId2"/>
          <a:stretch>
            <a:fillRect/>
          </a:stretch>
        </p:blipFill>
        <p:spPr>
          <a:xfrm>
            <a:off x="557784" y="1027504"/>
            <a:ext cx="11076431" cy="52142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911145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2985D4-9479-2867-24C2-45900A6DBB4F}"/>
              </a:ext>
            </a:extLst>
          </p:cNvPr>
          <p:cNvSpPr>
            <a:spLocks noGrp="1"/>
          </p:cNvSpPr>
          <p:nvPr>
            <p:ph idx="1"/>
          </p:nvPr>
        </p:nvSpPr>
        <p:spPr>
          <a:xfrm>
            <a:off x="838200" y="337930"/>
            <a:ext cx="10515600" cy="5983357"/>
          </a:xfrm>
        </p:spPr>
        <p:txBody>
          <a:bodyPr>
            <a:normAutofit fontScale="92500"/>
          </a:bodyPr>
          <a:lstStyle/>
          <a:p>
            <a:r>
              <a:rPr lang="en-US" dirty="0"/>
              <a:t>Corruption Process:</a:t>
            </a:r>
          </a:p>
          <a:p>
            <a:pPr lvl="1"/>
            <a:r>
              <a:rPr lang="en-US" dirty="0"/>
              <a:t>The input data, denoted as x, is corrupted through a process represented as C(x̃ | x), where x̃ is the noisy version of x.</a:t>
            </a:r>
          </a:p>
          <a:p>
            <a:pPr lvl="1"/>
            <a:r>
              <a:rPr lang="en-US" dirty="0"/>
              <a:t>The goal is to learn how to recover the clean input x from the corrupted version x̃.</a:t>
            </a:r>
          </a:p>
          <a:p>
            <a:r>
              <a:rPr lang="en-US" dirty="0"/>
              <a:t>Encoder and Decoder:</a:t>
            </a:r>
          </a:p>
          <a:p>
            <a:pPr lvl="1"/>
            <a:r>
              <a:rPr lang="en-US" dirty="0"/>
              <a:t>f(x̃):  The encoder function f maps the noisy input x̃ to a hidden representation h.</a:t>
            </a:r>
          </a:p>
          <a:p>
            <a:pPr lvl="1"/>
            <a:r>
              <a:rPr lang="en-US" dirty="0"/>
              <a:t>g(h): The decoder function g then tries to reconstruct the clean input x from the hidden representation h.</a:t>
            </a:r>
          </a:p>
          <a:p>
            <a:r>
              <a:rPr lang="en-US" dirty="0"/>
              <a:t>This process is guided by minimizing the reconstruction loss </a:t>
            </a:r>
          </a:p>
          <a:p>
            <a:endParaRPr lang="en-US" dirty="0"/>
          </a:p>
          <a:p>
            <a:endParaRPr lang="en-US" dirty="0"/>
          </a:p>
          <a:p>
            <a:endParaRPr lang="en-US" dirty="0"/>
          </a:p>
          <a:p>
            <a:r>
              <a:rPr lang="en-US" dirty="0"/>
              <a:t>The loss L measures how well the decoder is able to reconstruct the clean input from the hidden representation of the corrupted data.</a:t>
            </a:r>
            <a:endParaRPr lang="en-IN" dirty="0"/>
          </a:p>
        </p:txBody>
      </p:sp>
      <p:pic>
        <p:nvPicPr>
          <p:cNvPr id="6" name="Picture 5">
            <a:extLst>
              <a:ext uri="{FF2B5EF4-FFF2-40B4-BE49-F238E27FC236}">
                <a16:creationId xmlns:a16="http://schemas.microsoft.com/office/drawing/2014/main" id="{DB3A469F-2804-8F7C-99C4-6F6A0FC17EC6}"/>
              </a:ext>
            </a:extLst>
          </p:cNvPr>
          <p:cNvPicPr>
            <a:picLocks noChangeAspect="1"/>
          </p:cNvPicPr>
          <p:nvPr/>
        </p:nvPicPr>
        <p:blipFill>
          <a:blip r:embed="rId2"/>
          <a:stretch>
            <a:fillRect/>
          </a:stretch>
        </p:blipFill>
        <p:spPr>
          <a:xfrm>
            <a:off x="3954633" y="4470269"/>
            <a:ext cx="5244098" cy="6881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926100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93B08-BD67-1811-77DE-D25A54B105B9}"/>
              </a:ext>
            </a:extLst>
          </p:cNvPr>
          <p:cNvSpPr>
            <a:spLocks noGrp="1"/>
          </p:cNvSpPr>
          <p:nvPr>
            <p:ph type="title"/>
          </p:nvPr>
        </p:nvSpPr>
        <p:spPr/>
        <p:txBody>
          <a:bodyPr>
            <a:normAutofit fontScale="90000"/>
          </a:bodyPr>
          <a:lstStyle/>
          <a:p>
            <a:r>
              <a:rPr lang="en-US" dirty="0"/>
              <a:t>How they learn to map corrupted data back to the "manifold" of the original data distribution.</a:t>
            </a:r>
            <a:endParaRPr lang="en-IN" dirty="0"/>
          </a:p>
        </p:txBody>
      </p:sp>
      <p:sp>
        <p:nvSpPr>
          <p:cNvPr id="3" name="Content Placeholder 2">
            <a:extLst>
              <a:ext uri="{FF2B5EF4-FFF2-40B4-BE49-F238E27FC236}">
                <a16:creationId xmlns:a16="http://schemas.microsoft.com/office/drawing/2014/main" id="{D3CFE413-1599-148C-F7C9-9B0BFF942824}"/>
              </a:ext>
            </a:extLst>
          </p:cNvPr>
          <p:cNvSpPr>
            <a:spLocks noGrp="1"/>
          </p:cNvSpPr>
          <p:nvPr>
            <p:ph idx="1"/>
          </p:nvPr>
        </p:nvSpPr>
        <p:spPr/>
        <p:txBody>
          <a:bodyPr/>
          <a:lstStyle/>
          <a:p>
            <a:r>
              <a:rPr lang="en-US" dirty="0"/>
              <a:t>Manifold of Data:</a:t>
            </a:r>
          </a:p>
          <a:p>
            <a:endParaRPr lang="en-US" dirty="0"/>
          </a:p>
          <a:p>
            <a:r>
              <a:rPr lang="en-US" dirty="0"/>
              <a:t>In this part of the image, the black curve represents the manifold of the data—essentially the lower-dimensional space where the true data points (uncorrupted data) lie.</a:t>
            </a:r>
          </a:p>
          <a:p>
            <a:r>
              <a:rPr lang="en-US" dirty="0"/>
              <a:t>The goal of a denoising autoencoder is to learn this manifold. Data points close to the manifold are considered true, meaningful data.</a:t>
            </a:r>
            <a:endParaRPr lang="en-IN" dirty="0"/>
          </a:p>
        </p:txBody>
      </p:sp>
    </p:spTree>
    <p:extLst>
      <p:ext uri="{BB962C8B-B14F-4D97-AF65-F5344CB8AC3E}">
        <p14:creationId xmlns:p14="http://schemas.microsoft.com/office/powerpoint/2010/main" val="15501165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5CE8D8-00A6-0A0C-446A-F18F89C4348D}"/>
              </a:ext>
            </a:extLst>
          </p:cNvPr>
          <p:cNvSpPr>
            <a:spLocks noGrp="1"/>
          </p:cNvSpPr>
          <p:nvPr>
            <p:ph idx="1"/>
          </p:nvPr>
        </p:nvSpPr>
        <p:spPr>
          <a:xfrm>
            <a:off x="838200" y="506896"/>
            <a:ext cx="10515600" cy="5670067"/>
          </a:xfrm>
        </p:spPr>
        <p:txBody>
          <a:bodyPr>
            <a:normAutofit/>
          </a:bodyPr>
          <a:lstStyle/>
          <a:p>
            <a:r>
              <a:rPr lang="en-US" dirty="0"/>
              <a:t>Corruption and Recovery:</a:t>
            </a:r>
          </a:p>
          <a:p>
            <a:pPr lvl="1"/>
            <a:r>
              <a:rPr lang="en-US" sz="2800" dirty="0"/>
              <a:t>The red points on the curve represent data points on the manifold.</a:t>
            </a:r>
          </a:p>
          <a:p>
            <a:pPr lvl="1"/>
            <a:r>
              <a:rPr lang="en-US" sz="2800" dirty="0"/>
              <a:t>The gray circle surrounding a red point represents the possible noisy versions (corrupted data) of that original data point. </a:t>
            </a:r>
          </a:p>
          <a:p>
            <a:pPr lvl="1"/>
            <a:r>
              <a:rPr lang="en-US" sz="2800" dirty="0"/>
              <a:t>The corrupted data (green arrows) can scatter in various directions, moving the point away from the manifold.</a:t>
            </a:r>
          </a:p>
          <a:p>
            <a:pPr lvl="1"/>
            <a:r>
              <a:rPr lang="en-US" sz="2800" dirty="0"/>
              <a:t>The decoder learns to map the corrupted points (like x̃) back to the nearest point on the manifold. </a:t>
            </a:r>
          </a:p>
          <a:p>
            <a:pPr lvl="1"/>
            <a:r>
              <a:rPr lang="en-US" sz="2800" dirty="0"/>
              <a:t>The green arrows show the network’s effort to pull these noisy points back to their original, clean locations on the manifold</a:t>
            </a:r>
            <a:r>
              <a:rPr lang="en-US" dirty="0"/>
              <a:t>.</a:t>
            </a:r>
            <a:endParaRPr lang="en-IN" dirty="0"/>
          </a:p>
        </p:txBody>
      </p:sp>
    </p:spTree>
    <p:extLst>
      <p:ext uri="{BB962C8B-B14F-4D97-AF65-F5344CB8AC3E}">
        <p14:creationId xmlns:p14="http://schemas.microsoft.com/office/powerpoint/2010/main" val="24639274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178103-80EA-5DA1-7972-D5F2918D36F9}"/>
              </a:ext>
            </a:extLst>
          </p:cNvPr>
          <p:cNvSpPr>
            <a:spLocks noGrp="1"/>
          </p:cNvSpPr>
          <p:nvPr>
            <p:ph idx="1"/>
          </p:nvPr>
        </p:nvSpPr>
        <p:spPr>
          <a:xfrm>
            <a:off x="838200" y="1023730"/>
            <a:ext cx="10515600" cy="5153233"/>
          </a:xfrm>
        </p:spPr>
        <p:txBody>
          <a:bodyPr/>
          <a:lstStyle/>
          <a:p>
            <a:pPr algn="just"/>
            <a:r>
              <a:rPr lang="en-US" dirty="0"/>
              <a:t>Denoising Objective:</a:t>
            </a:r>
          </a:p>
          <a:p>
            <a:pPr lvl="1" algn="just"/>
            <a:r>
              <a:rPr lang="en-US" sz="2800" dirty="0"/>
              <a:t>The corrupted point is projected back onto the manifold where the original data lies, ensuring that the denoising autoencoder not only removes noise but also forces the reconstruction to be close to the underlying true data distribution.</a:t>
            </a:r>
          </a:p>
          <a:p>
            <a:pPr lvl="1" algn="just"/>
            <a:r>
              <a:rPr lang="en-US" sz="2800" dirty="0"/>
              <a:t>This teaches the model to focus on the key features of the data, which remain unchanged by the corruption, making it robust to noise.</a:t>
            </a:r>
            <a:endParaRPr lang="en-IN" sz="2800" dirty="0"/>
          </a:p>
        </p:txBody>
      </p:sp>
    </p:spTree>
    <p:extLst>
      <p:ext uri="{BB962C8B-B14F-4D97-AF65-F5344CB8AC3E}">
        <p14:creationId xmlns:p14="http://schemas.microsoft.com/office/powerpoint/2010/main" val="8849288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797</TotalTime>
  <Words>3254</Words>
  <Application>Microsoft Office PowerPoint</Application>
  <PresentationFormat>Widescreen</PresentationFormat>
  <Paragraphs>288</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Calibri Light</vt:lpstr>
      <vt:lpstr>Cambria Math</vt:lpstr>
      <vt:lpstr>Times New Roman</vt:lpstr>
      <vt:lpstr>Wingdings</vt:lpstr>
      <vt:lpstr>Office Theme</vt:lpstr>
      <vt:lpstr>Autoencoders</vt:lpstr>
      <vt:lpstr>What is an Autoencoder?</vt:lpstr>
      <vt:lpstr>PowerPoint Presentation</vt:lpstr>
      <vt:lpstr>PowerPoint Presentation</vt:lpstr>
      <vt:lpstr>PowerPoint Presentation</vt:lpstr>
      <vt:lpstr>PowerPoint Presentation</vt:lpstr>
      <vt:lpstr>PowerPoint Presentation</vt:lpstr>
      <vt:lpstr>Bottleneck Layer</vt:lpstr>
      <vt:lpstr>Bottleneck Layer</vt:lpstr>
      <vt:lpstr>Need for Autoencoders</vt:lpstr>
      <vt:lpstr>Need for Autoencoders</vt:lpstr>
      <vt:lpstr>Need for Autoencoders</vt:lpstr>
      <vt:lpstr>Need for Autoencoders</vt:lpstr>
      <vt:lpstr>Need for Autoencoders</vt:lpstr>
      <vt:lpstr>Need for Autoencoders</vt:lpstr>
      <vt:lpstr>Autoencoder Architecture</vt:lpstr>
      <vt:lpstr>Autoencoder Architecture</vt:lpstr>
      <vt:lpstr>Numerical Example</vt:lpstr>
      <vt:lpstr>Numerical Example</vt:lpstr>
      <vt:lpstr>Decoder</vt:lpstr>
      <vt:lpstr>Types of Autoencoders</vt:lpstr>
      <vt:lpstr>PowerPoint Presentation</vt:lpstr>
      <vt:lpstr>Architecture</vt:lpstr>
      <vt:lpstr>Feature Extraction</vt:lpstr>
      <vt:lpstr>Risk of Identity Mapping</vt:lpstr>
      <vt:lpstr>Training and Learning Process</vt:lpstr>
      <vt:lpstr>Use Cases</vt:lpstr>
      <vt:lpstr>Regularization Needs</vt:lpstr>
      <vt:lpstr>Regularized Autoencoder</vt:lpstr>
      <vt:lpstr>Regularized Autoencoder</vt:lpstr>
      <vt:lpstr>L1 Regularization in Autoencoders</vt:lpstr>
      <vt:lpstr>L2 Regularization in Autoencoders (Ridge)</vt:lpstr>
      <vt:lpstr>Sparse Autoencoder</vt:lpstr>
      <vt:lpstr>Kullback-Leibler (KL) divergence</vt:lpstr>
      <vt:lpstr>Kullback-Leibler (KL) divergence</vt:lpstr>
      <vt:lpstr>Sparse Autoencoder</vt:lpstr>
      <vt:lpstr>Denoising Autoencoder</vt:lpstr>
      <vt:lpstr>Denoising Autoencoder</vt:lpstr>
      <vt:lpstr>Denoising Autoencoder</vt:lpstr>
      <vt:lpstr>Denoising Autoencoder</vt:lpstr>
      <vt:lpstr>Denoising Autoencoder</vt:lpstr>
      <vt:lpstr>Purpose of Denoising Autoencoders</vt:lpstr>
      <vt:lpstr>Applications</vt:lpstr>
      <vt:lpstr>PowerPoint Presentation</vt:lpstr>
      <vt:lpstr>PowerPoint Presentation</vt:lpstr>
      <vt:lpstr>How they learn to map corrupted data back to the "manifold" of the original data distribution.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Kamat</dc:creator>
  <cp:lastModifiedBy>Vaishnavi Kamat</cp:lastModifiedBy>
  <cp:revision>12</cp:revision>
  <dcterms:created xsi:type="dcterms:W3CDTF">2024-10-14T04:42:01Z</dcterms:created>
  <dcterms:modified xsi:type="dcterms:W3CDTF">2024-10-18T08:36:32Z</dcterms:modified>
</cp:coreProperties>
</file>