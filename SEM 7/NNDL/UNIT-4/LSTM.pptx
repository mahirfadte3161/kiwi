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CE08-CCB8-2A5E-4608-CC25BD677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138B1-3B34-DD3A-786D-918834659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2C523-E0FF-EB2E-F378-9BA46F92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7EC4E-CAD1-2DA1-C493-9AADBF23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6AE4C-D844-E3D4-89DB-3C03CF6B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20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69B5-F0B8-D52D-C75F-DC7CBA4E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047EC-88A7-41FB-89F4-2401055C6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9F7DD-8AC0-8558-9FE7-06BBF2FF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2128F-5D24-10ED-8CB5-AD2AEB09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80E0F-1C59-09DA-D06B-C2F7174E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6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0FBD4-66F5-E508-F4D1-7D6F9A786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55F55-2060-B954-1A19-A23F8B06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47CF9-C9E8-0BCA-BF70-40A51703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A893C-822E-3269-0303-8D292666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32B65-A950-244F-7CFF-AD2D75DC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6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6B09-4FCE-03CB-EF83-52105E08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EE606-0C8B-C61E-F2A3-D1CAE6C16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1976D-7B08-C0FC-1792-63B550DCB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86FDC-93E5-04BC-B991-251DB49A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9FA23-83F8-CBD2-5D38-F3554E35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1E8D9-C407-B317-BBFB-5C4593B2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6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947A-BDE4-A106-5457-8D10CFE0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A4F3B-74FF-C3F8-0318-E162A18A9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BE85B-9B67-9E40-416E-19CF46821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3CEC7-BC35-5CA7-9762-4CD5B10DE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1A640-B5B8-D157-A73B-E9D532850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D8CDF-D3F1-1E17-DFCC-2B5115DD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7F0E6-E4B2-A758-B7EC-931FE31C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2ED75-9E57-50F7-4D26-AFBF492F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55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0930B-B87B-C68B-776B-74574839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BBD59-7AEC-241A-1B98-115DB56D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70EF2-69ED-A4EE-0ED7-30F3B00C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17930-D4D2-0D4A-62E7-2024ACA5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51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5009F-7B98-25FF-F692-579007CA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EDB2D-638A-2EA3-71BB-BD72EDAE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908FC-4003-703D-3ABD-68424F22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05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B16C-6386-6B3F-1C52-C890562B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A2BC5-38E2-AC10-F3BC-28B21AA79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0BB0B-3341-A5EF-3992-02E6FE76C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025E8-C1B0-C48B-3167-1531A8AC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C9795-B58B-1EEB-1C78-50ACDD19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B274-C89C-62F4-EC3C-DAE6F9EC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06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7874-486D-A1E7-13BB-48CC2728D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EABB7-05EF-AE6F-53A0-06ABF3411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F6AF4-7847-2308-7945-58DE32052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4BFDB-12B3-20E4-4CDB-E0B6499F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0C9C8-D0F9-1A4D-EE28-D87936AE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D77C4-15F7-9F2C-3275-E2B47B9B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4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074E-A6AF-BAD9-D85E-A4E4A768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BDA0A-76C1-7F04-3B46-7B5D26FE7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3B6B2-2522-B2FC-0888-3EAA3F61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02707-DC04-159A-9E78-26D35748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9A7E7-CFC2-9E1B-4339-F0450BF0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755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F0EC-EB9C-EB4C-BC48-3C84DC475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521EB-A987-ACDC-498E-4FD554447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FC647-527D-97FB-297F-05547BAB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7FA67-F0CC-E3CB-82B9-26C8DD27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58200-9412-BF3E-B945-AF07896E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05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08999-B450-71FB-6B3F-BAC60BDB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253D7-989B-7EFE-5976-FB555CBCF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E3D5B-EE37-FFE8-8F79-BB74E56D9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29321-0493-4441-8774-4EFCF1A367FD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F0344-E440-5D82-DD14-1DE393261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7C14C-1DB4-85CC-FF00-DDB0D69F1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A8458-7EDE-4780-9DBD-BFB319805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4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nalyticsvidhya.com/blog/2021/01/understanding-architecture-of-lst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0007-C94D-DCFD-1E3D-04F2F3B07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10005391" cy="2387600"/>
          </a:xfrm>
        </p:spPr>
        <p:txBody>
          <a:bodyPr/>
          <a:lstStyle/>
          <a:p>
            <a:r>
              <a:rPr lang="en-IN" dirty="0"/>
              <a:t>The Long Short-Term Memory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4EED0-2F41-21DB-A5DA-C0D60DB83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- 4</a:t>
            </a:r>
          </a:p>
        </p:txBody>
      </p:sp>
    </p:spTree>
    <p:extLst>
      <p:ext uri="{BB962C8B-B14F-4D97-AF65-F5344CB8AC3E}">
        <p14:creationId xmlns:p14="http://schemas.microsoft.com/office/powerpoint/2010/main" val="141470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3018-5C09-F552-9D58-149E412D8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What is LSTM?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E270-8791-4B13-6689-AD384E749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0704" cy="466725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Long Short-Term Memory (LSTM) is a type of Recurrent Neural Network (RNN) architecture specifically designed to address the limitations of traditional RNNs, especially the vanishing and exploding gradient problems.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These problems often prevent traditional RNNs from effectively learning long-term dependencies in sequential data, which is critical for tasks like natural language processing, time-series forecasting, and speech recognition.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LSTMs introduce special mechanisms, called gates, to regulate the flow of information, enabling them to capture dependencies over longer time horizons.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6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0409-7EAF-C4D2-089F-94D0610B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988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LSTM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1DCD-5AA7-8B2F-4C4F-3121EE68F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83365"/>
            <a:ext cx="10919791" cy="5486400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Cell State (𝐶</a:t>
            </a:r>
            <a:r>
              <a:rPr lang="en-US" baseline="-25000" dirty="0">
                <a:highlight>
                  <a:srgbClr val="FFFF00"/>
                </a:highlight>
              </a:rPr>
              <a:t>t</a:t>
            </a:r>
            <a:r>
              <a:rPr lang="en-US" dirty="0">
                <a:highlight>
                  <a:srgbClr val="FFFF00"/>
                </a:highlight>
              </a:rPr>
              <a:t>​ ):</a:t>
            </a:r>
          </a:p>
          <a:p>
            <a:pPr lvl="1"/>
            <a:r>
              <a:rPr lang="en-US" dirty="0"/>
              <a:t>This is the "memory" of the LSTM, which carries information across different time steps. </a:t>
            </a:r>
          </a:p>
          <a:p>
            <a:pPr lvl="1"/>
            <a:r>
              <a:rPr lang="en-US" dirty="0"/>
              <a:t>The cell state can flow through the entire sequence with minimal modification, providing a way for the LSTM to remember information over long periods.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Gates:</a:t>
            </a:r>
          </a:p>
          <a:p>
            <a:pPr lvl="1"/>
            <a:r>
              <a:rPr lang="en-US" dirty="0"/>
              <a:t>Gates are a set of neural network layers that control the flow of information into and out of the cell state. </a:t>
            </a:r>
          </a:p>
          <a:p>
            <a:pPr lvl="1"/>
            <a:r>
              <a:rPr lang="en-US" dirty="0"/>
              <a:t>They help decide what information should be remembered, updated, or forgotten.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7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32DE-CB92-A6BD-9E0F-160844A7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130"/>
            <a:ext cx="10515600" cy="5381833"/>
          </a:xfrm>
        </p:spPr>
        <p:txBody>
          <a:bodyPr/>
          <a:lstStyle/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The three main gates are: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highlight>
                  <a:srgbClr val="00FFFF"/>
                </a:highlight>
              </a:rPr>
              <a:t>Forget Gate (𝑓</a:t>
            </a:r>
            <a:r>
              <a:rPr lang="en-US" sz="2800" baseline="-25000" dirty="0">
                <a:highlight>
                  <a:srgbClr val="00FFFF"/>
                </a:highlight>
              </a:rPr>
              <a:t>𝑡</a:t>
            </a:r>
            <a:r>
              <a:rPr lang="en-US" sz="2800" dirty="0">
                <a:highlight>
                  <a:srgbClr val="00FFFF"/>
                </a:highlight>
              </a:rPr>
              <a:t>): </a:t>
            </a:r>
            <a:r>
              <a:rPr lang="en-US" sz="2800" dirty="0"/>
              <a:t>Decides what information to discard from the cell state.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highlight>
                  <a:srgbClr val="00FFFF"/>
                </a:highlight>
              </a:rPr>
              <a:t>Input Gate (i</a:t>
            </a:r>
            <a:r>
              <a:rPr lang="en-US" sz="2800" baseline="-25000" dirty="0">
                <a:highlight>
                  <a:srgbClr val="00FFFF"/>
                </a:highlight>
              </a:rPr>
              <a:t>t</a:t>
            </a:r>
            <a:r>
              <a:rPr lang="en-US" sz="2800" dirty="0">
                <a:highlight>
                  <a:srgbClr val="00FFFF"/>
                </a:highlight>
              </a:rPr>
              <a:t>​ ): </a:t>
            </a:r>
            <a:r>
              <a:rPr lang="en-US" sz="2800" dirty="0"/>
              <a:t>Determines what new information will be stored in the cell state.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highlight>
                  <a:srgbClr val="00FFFF"/>
                </a:highlight>
              </a:rPr>
              <a:t>Output Gate (O</a:t>
            </a:r>
            <a:r>
              <a:rPr lang="en-US" sz="2800" baseline="-25000" dirty="0">
                <a:highlight>
                  <a:srgbClr val="00FFFF"/>
                </a:highlight>
              </a:rPr>
              <a:t>t</a:t>
            </a:r>
            <a:r>
              <a:rPr lang="en-US" sz="2800" dirty="0">
                <a:highlight>
                  <a:srgbClr val="00FFFF"/>
                </a:highlight>
              </a:rPr>
              <a:t>)</a:t>
            </a:r>
            <a:r>
              <a:rPr lang="en-US" sz="2800" dirty="0"/>
              <a:t>: Controls what part of the cell state to output at the current time step.</a:t>
            </a:r>
            <a:endParaRPr lang="en-IN" sz="2800" dirty="0"/>
          </a:p>
          <a:p>
            <a:endParaRPr lang="en-US" dirty="0"/>
          </a:p>
          <a:p>
            <a:r>
              <a:rPr lang="en-US" dirty="0"/>
              <a:t>These gates use activation functions (typically sigmoid and tanh) to control the flow of information between 0 and 1, where values close to 0 mean "forget" and values close to 1 mean "keep."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88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079F-54B3-2F38-5C70-B07990D0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Diagram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4BFD-888B-372D-C902-84D9A2785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F22D9-FD4E-B2BE-94E2-7DD54229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66" y="1810325"/>
            <a:ext cx="9541067" cy="4366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991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780B-3C77-A40E-9B2A-442517DD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E08C-EE14-B6CE-C4AB-0A97383B5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59EF6-9356-3F35-705C-5352ACF6213A}"/>
              </a:ext>
            </a:extLst>
          </p:cNvPr>
          <p:cNvSpPr txBox="1"/>
          <p:nvPr/>
        </p:nvSpPr>
        <p:spPr>
          <a:xfrm>
            <a:off x="3913533" y="6311900"/>
            <a:ext cx="8381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https://www.analyticsvidhya.com/blog/2021/01/understanding-architecture-of-lstm/</a:t>
            </a:r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8AF68-33E7-1BC9-B1AD-98B19F0CE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603664"/>
            <a:ext cx="890587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40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DD3B-F456-BCDF-F595-4C98FCCF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7D81E-DEB3-0A1A-39B7-D4ECEFC16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86349-219D-7875-9E3B-96A290C0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259" y="681037"/>
            <a:ext cx="94107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24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41B3-BECB-9730-E09D-A1D1BA4E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1DCF4-D971-5DE7-E8EC-B3F95F3CA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DA7C6-336F-D4C6-833E-2EC90D7DA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21" y="461720"/>
            <a:ext cx="6563670" cy="2494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D4502-172C-9762-15ED-7D3F2F60E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6" y="3891072"/>
            <a:ext cx="3680779" cy="2872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139C54-253E-DD9B-6371-5BFE13C1C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96" y="3902006"/>
            <a:ext cx="4641134" cy="27358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306B89-CBAA-2FA7-0200-DBE75C97E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965" y="457683"/>
            <a:ext cx="4990109" cy="3249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082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4892-2207-3FE4-214C-2EA43842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Working of 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0B58C-004D-59CE-4A3A-2939D0DC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Forget Gate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forget gate decides what information from the previous cell state C</a:t>
            </a:r>
            <a:r>
              <a:rPr lang="en-US" baseline="-25000" dirty="0"/>
              <a:t>t−1 </a:t>
            </a:r>
            <a:r>
              <a:rPr lang="en-US" dirty="0"/>
              <a:t>​ should be discarded. It takes the previous hidden state h</a:t>
            </a:r>
            <a:r>
              <a:rPr lang="en-US" baseline="-25000" dirty="0"/>
              <a:t>t−1 </a:t>
            </a:r>
            <a:r>
              <a:rPr lang="en-US" dirty="0"/>
              <a:t>and the current input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​, processes them through a sigmoid layer, and outputs a value between 0 and 1 for each number in the cell state.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17474-FA99-41E4-E968-B415D31F2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272" y="4377329"/>
            <a:ext cx="5872151" cy="136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46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BA437-1747-9BCF-62E7-E4F754B5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A52E-F94A-DB83-E156-61314E4C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Working of 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10287-9061-7FFC-9060-C755ED39E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 Gate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input gate determines which new information should be added to the cell state. It has two parts: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First, a sigmoid layer decides which values to update.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Then, a tanh layer creates new candidate values          to potentially add to the cell state.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E202B-0FDA-808D-45D9-6B1F882A6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416" y="3504520"/>
            <a:ext cx="331976" cy="569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37EBC-3575-C62D-51E0-3EB88B11F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524" y="4498976"/>
            <a:ext cx="6051754" cy="167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70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E5DC-A77E-EEE1-6AFE-C717FD75F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2C53-0443-4E14-FF01-4F685CD6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Working of 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45AA7-1977-8FF7-5D1D-BFED80FAF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825625"/>
            <a:ext cx="11370365" cy="4351338"/>
          </a:xfrm>
        </p:spPr>
        <p:txBody>
          <a:bodyPr/>
          <a:lstStyle/>
          <a:p>
            <a:r>
              <a:rPr lang="en-US" b="1" dirty="0"/>
              <a:t>Update Cell State</a:t>
            </a:r>
            <a:r>
              <a:rPr lang="en-US" dirty="0"/>
              <a:t>:</a:t>
            </a:r>
          </a:p>
          <a:p>
            <a:r>
              <a:rPr lang="en-US" dirty="0"/>
              <a:t>The cell state C</a:t>
            </a:r>
            <a:r>
              <a:rPr lang="en-US" baseline="-25000" dirty="0"/>
              <a:t>t</a:t>
            </a:r>
            <a:r>
              <a:rPr lang="en-US" dirty="0"/>
              <a:t>  is updated by combining the old cell state C</a:t>
            </a:r>
            <a:r>
              <a:rPr lang="en-US" baseline="-25000" dirty="0"/>
              <a:t>t-1</a:t>
            </a:r>
            <a:r>
              <a:rPr lang="en-US" dirty="0"/>
              <a:t> </a:t>
            </a:r>
            <a:r>
              <a:rPr lang="en-US" sz="2400" dirty="0"/>
              <a:t>(scaled by the forget gate f</a:t>
            </a:r>
            <a:r>
              <a:rPr lang="en-US" sz="2400" baseline="-25000" dirty="0"/>
              <a:t>t</a:t>
            </a:r>
            <a:r>
              <a:rPr lang="en-US" sz="2400" dirty="0"/>
              <a:t>​) </a:t>
            </a:r>
            <a:r>
              <a:rPr lang="en-US" dirty="0"/>
              <a:t>with the new candidate           values​ </a:t>
            </a:r>
            <a:r>
              <a:rPr lang="en-US" sz="2400" dirty="0"/>
              <a:t>(scaled by the input gate i</a:t>
            </a:r>
            <a:r>
              <a:rPr lang="en-US" sz="2400" baseline="-25000" dirty="0"/>
              <a:t>t</a:t>
            </a:r>
            <a:r>
              <a:rPr lang="en-US" sz="2400" dirty="0"/>
              <a:t>)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37264-016B-9D6D-0853-558ACA4F8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920" y="2693504"/>
            <a:ext cx="285213" cy="482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B7D2E7-A75E-7C53-8BAD-D476F06AF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798" y="4245831"/>
            <a:ext cx="3979897" cy="8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6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0814-6DCD-C860-B6FF-8800E8BB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345C-CD62-0FA4-A619-5DEA0297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Working of 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793FF-7787-3E62-0C22-2B1157A24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Gate:</a:t>
            </a:r>
          </a:p>
          <a:p>
            <a:r>
              <a:rPr lang="en-US" dirty="0"/>
              <a:t>The output gate decides what the next hidden state ℎ</a:t>
            </a:r>
            <a:r>
              <a:rPr lang="en-US" baseline="-25000" dirty="0"/>
              <a:t>𝑡 </a:t>
            </a:r>
            <a:r>
              <a:rPr lang="en-US" dirty="0"/>
              <a:t> should be, which also serves as the output of the LSTM cell for the current time step. </a:t>
            </a:r>
          </a:p>
          <a:p>
            <a:r>
              <a:rPr lang="en-US" dirty="0"/>
              <a:t>It is based on the current cell state 𝐶</a:t>
            </a:r>
            <a:r>
              <a:rPr lang="en-US" baseline="-25000" dirty="0"/>
              <a:t>𝑡</a:t>
            </a:r>
            <a:r>
              <a:rPr lang="en-US" dirty="0"/>
              <a:t> (passed through a tanh activation) and the output gate value  O</a:t>
            </a:r>
            <a:r>
              <a:rPr lang="en-US" baseline="-25000" dirty="0"/>
              <a:t>𝑡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83632-9C85-1E65-40C9-4F86A049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75" y="4729929"/>
            <a:ext cx="4770250" cy="158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31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76C8-6E93-26EA-DDA3-C7DD2F50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311D8-46CF-1C4F-584E-16898DECA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3" y="1825625"/>
            <a:ext cx="11459817" cy="466725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Ability to Capture Long-Term Dependencies:</a:t>
            </a:r>
          </a:p>
          <a:p>
            <a:pPr lvl="1" algn="just"/>
            <a:r>
              <a:rPr lang="en-US" dirty="0"/>
              <a:t>LSTMs are designed to address the vanishing gradient problem, which allows them to retain information over extended time steps. </a:t>
            </a:r>
          </a:p>
          <a:p>
            <a:pPr lvl="1" algn="just"/>
            <a:r>
              <a:rPr lang="en-US" dirty="0"/>
              <a:t>This makes them highly suitable for tasks that require understanding long-term dependencies in sequences, such as language processing or time-series forecasting.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Efficient Memory Management through Gates:</a:t>
            </a:r>
          </a:p>
          <a:p>
            <a:pPr lvl="1" algn="just"/>
            <a:r>
              <a:rPr lang="en-US" dirty="0"/>
              <a:t>The gating mechanisms in LSTMs (input, forget, and output gates) enable the model to selectively update and retain relevant information in the cell state.</a:t>
            </a:r>
          </a:p>
          <a:p>
            <a:pPr lvl="1" algn="just"/>
            <a:r>
              <a:rPr lang="en-US" dirty="0"/>
              <a:t>This structure allows LSTMs to learn when to remember and when to forget information, improving the model’s ability to focus on relevant parts of the sequence.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390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63415-C0E3-7CD6-5C2B-0DC2736B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D6E5-0611-8D5F-7F16-CC4B700A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0066"/>
          </a:xfrm>
        </p:spPr>
        <p:txBody>
          <a:bodyPr>
            <a:normAutofit fontScale="90000"/>
          </a:bodyPr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2862-47E5-1A67-38F8-2CB3F52D3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870" y="1013790"/>
            <a:ext cx="11628782" cy="55957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Effective for Complex Sequential Data:</a:t>
            </a:r>
          </a:p>
          <a:p>
            <a:pPr lvl="1"/>
            <a:r>
              <a:rPr lang="en-US" dirty="0"/>
              <a:t>LSTMs can model complex patterns and relationships in sequential data due to their ability to capture hierarchical dependencies. </a:t>
            </a:r>
          </a:p>
          <a:p>
            <a:pPr lvl="1"/>
            <a:r>
              <a:rPr lang="en-US" dirty="0"/>
              <a:t>This makes them useful for a variety of applications, including natural language processing (NLP), speech recognition, and video analysis.</a:t>
            </a:r>
          </a:p>
          <a:p>
            <a:endParaRPr lang="en-US" dirty="0"/>
          </a:p>
          <a:p>
            <a:r>
              <a:rPr lang="en-US" dirty="0"/>
              <a:t>Handles Variable-Length Sequences:</a:t>
            </a:r>
          </a:p>
          <a:p>
            <a:pPr lvl="1"/>
            <a:r>
              <a:rPr lang="en-US" dirty="0"/>
              <a:t>LSTMs can process sequences of varying lengths, making them ideal for real-world sequential data that might not have a fixed length. </a:t>
            </a:r>
          </a:p>
          <a:p>
            <a:pPr lvl="1"/>
            <a:r>
              <a:rPr lang="en-US" dirty="0"/>
              <a:t>For example, in NLP, sentences and paragraphs vary in length, and LSTMs can process them without needing padding or truncation.</a:t>
            </a:r>
          </a:p>
          <a:p>
            <a:endParaRPr lang="en-US" dirty="0"/>
          </a:p>
          <a:p>
            <a:r>
              <a:rPr lang="en-US" dirty="0"/>
              <a:t>Widely Applicable in Many Domains:</a:t>
            </a:r>
          </a:p>
          <a:p>
            <a:pPr lvl="1"/>
            <a:r>
              <a:rPr lang="en-US" dirty="0"/>
              <a:t>LSTMs have become a go-to architecture for many sequential tasks, ranging from language translation to music generation, sentiment analysis, and anomaly detection. </a:t>
            </a:r>
          </a:p>
          <a:p>
            <a:pPr lvl="1"/>
            <a:r>
              <a:rPr lang="en-US" dirty="0"/>
              <a:t>Their effectiveness across domains is a testament to their flexibility and reliability.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330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D1C8-B47A-ECCA-8737-7319E160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C156-2297-6BE1-632C-9F5A5340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3E0D-4FC7-5C9E-093F-F48AC6797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1451113"/>
            <a:ext cx="11151704" cy="504176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High Computational Cost:</a:t>
            </a:r>
          </a:p>
          <a:p>
            <a:pPr lvl="1" algn="just"/>
            <a:r>
              <a:rPr lang="en-US" dirty="0"/>
              <a:t>LSTMs are computationally intensive compared to traditional RNNs and simpler architectures. </a:t>
            </a:r>
          </a:p>
          <a:p>
            <a:pPr lvl="1" algn="just"/>
            <a:r>
              <a:rPr lang="en-US" dirty="0"/>
              <a:t>Their gating mechanisms require multiple matrix operations per time step, which increases both memory and processing requirements, particularly for long sequences or deep models.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Longer Training Times:</a:t>
            </a:r>
          </a:p>
          <a:p>
            <a:pPr lvl="1" algn="just"/>
            <a:r>
              <a:rPr lang="en-US" dirty="0"/>
              <a:t>Training LSTMs can be slow due to the complex computations within each cell and the sequential nature of the data. </a:t>
            </a:r>
          </a:p>
          <a:p>
            <a:pPr lvl="1" algn="just"/>
            <a:r>
              <a:rPr lang="en-US" dirty="0"/>
              <a:t>Each time step in the sequence must be processed in order, which limits parallelization and increases training time, especially for large datasets.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50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C26A-64EA-A581-1B3E-8ACE256E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A998-2CAA-9A3D-5E1D-D8D91CCA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118"/>
          </a:xfrm>
        </p:spPr>
        <p:txBody>
          <a:bodyPr/>
          <a:lstStyle/>
          <a:p>
            <a:r>
              <a:rPr lang="en-IN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B233-2D6D-3002-16CA-65580ACCF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2" y="1311965"/>
            <a:ext cx="11519452" cy="5277678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Difficulty with Very Long Sequences:</a:t>
            </a:r>
          </a:p>
          <a:p>
            <a:pPr lvl="1" algn="just"/>
            <a:r>
              <a:rPr lang="en-US" dirty="0"/>
              <a:t>While LSTMs are better than traditional RNNs at capturing long-term dependencies, they can still struggle with very long sequences. </a:t>
            </a:r>
          </a:p>
          <a:p>
            <a:pPr lvl="1" algn="just"/>
            <a:r>
              <a:rPr lang="en-US" dirty="0"/>
              <a:t>For extremely long dependencies, information can still decay, making it difficult for LSTMs to maintain relevant context over hundreds of time steps.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Sensitivity to Hyperparameters and Initialization:</a:t>
            </a:r>
          </a:p>
          <a:p>
            <a:pPr lvl="1" algn="just"/>
            <a:r>
              <a:rPr lang="en-US" dirty="0"/>
              <a:t>LSTMs require careful tuning of hyperparameters such as learning rate, dropout rate, number of layers, and the size of each layer.</a:t>
            </a:r>
          </a:p>
          <a:p>
            <a:pPr lvl="1" algn="just"/>
            <a:r>
              <a:rPr lang="en-US" dirty="0"/>
              <a:t>Improper initialization or poorly chosen parameters can lead to slow convergence or poor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553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ED86-89F0-4B35-CC1A-357526C8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A7FF-4598-334F-55B6-EFD62CF3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4C29E-F5D4-5370-10A0-F7AC5A09B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174"/>
            <a:ext cx="11029122" cy="4802187"/>
          </a:xfrm>
        </p:spPr>
        <p:txBody>
          <a:bodyPr>
            <a:normAutofit/>
          </a:bodyPr>
          <a:lstStyle/>
          <a:p>
            <a:r>
              <a:rPr lang="en-US" dirty="0"/>
              <a:t>Risk of Overfitting:</a:t>
            </a:r>
          </a:p>
          <a:p>
            <a:pPr lvl="1"/>
            <a:r>
              <a:rPr lang="en-US" dirty="0"/>
              <a:t>Due to their high model capacity and large number of parameters, LSTMs are prone to overfitting, especially when trained on small or noisy datasets.</a:t>
            </a:r>
          </a:p>
          <a:p>
            <a:pPr lvl="1"/>
            <a:r>
              <a:rPr lang="en-US" dirty="0"/>
              <a:t>Regularization techniques like dropout or early stopping are often required to mitigate this risk, which can make model training more complex.</a:t>
            </a:r>
          </a:p>
          <a:p>
            <a:endParaRPr lang="en-US" dirty="0"/>
          </a:p>
          <a:p>
            <a:r>
              <a:rPr lang="en-US" dirty="0"/>
              <a:t>Less Efficient on Extremely Long Sequences Compared to Transformers:</a:t>
            </a:r>
          </a:p>
          <a:p>
            <a:pPr lvl="1"/>
            <a:r>
              <a:rPr lang="en-US" dirty="0"/>
              <a:t>LSTMs process sequences sequentially, which is a disadvantage compared to Transformer architectures that use self-attention to access any part of the sequence directly. </a:t>
            </a:r>
          </a:p>
          <a:p>
            <a:pPr lvl="1"/>
            <a:r>
              <a:rPr lang="en-US" dirty="0"/>
              <a:t>Transformers tend to perform better on very long sequences (e.g., text generation tasks) and can be trained more efficiently using parallelization.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32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1101</Words>
  <Application>Microsoft Office PowerPoint</Application>
  <PresentationFormat>Widescreen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The Long Short-Term Memory</vt:lpstr>
      <vt:lpstr>What is LSTM?</vt:lpstr>
      <vt:lpstr>LSTM Components</vt:lpstr>
      <vt:lpstr>PowerPoint Presentation</vt:lpstr>
      <vt:lpstr>Diagram 1</vt:lpstr>
      <vt:lpstr>PowerPoint Presentation</vt:lpstr>
      <vt:lpstr>PowerPoint Presentation</vt:lpstr>
      <vt:lpstr>PowerPoint Presentation</vt:lpstr>
      <vt:lpstr>Working of LSTM</vt:lpstr>
      <vt:lpstr>Working of LSTM</vt:lpstr>
      <vt:lpstr>Working of LSTM</vt:lpstr>
      <vt:lpstr>Working of LSTM</vt:lpstr>
      <vt:lpstr>Advantages</vt:lpstr>
      <vt:lpstr>Advantages</vt:lpstr>
      <vt:lpstr>Disadvantages</vt:lpstr>
      <vt:lpstr>Disadvantages</vt:lpstr>
      <vt:lpstr>Disadvantages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Kamat</dc:creator>
  <cp:lastModifiedBy>Vaishnavi Kamat</cp:lastModifiedBy>
  <cp:revision>4</cp:revision>
  <dcterms:created xsi:type="dcterms:W3CDTF">2024-11-04T09:37:24Z</dcterms:created>
  <dcterms:modified xsi:type="dcterms:W3CDTF">2024-11-04T10:34:42Z</dcterms:modified>
</cp:coreProperties>
</file>