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35"/>
  </p:notesMasterIdLst>
  <p:sldIdLst>
    <p:sldId id="265" r:id="rId2"/>
    <p:sldId id="257" r:id="rId3"/>
    <p:sldId id="258" r:id="rId4"/>
    <p:sldId id="260" r:id="rId5"/>
    <p:sldId id="261" r:id="rId6"/>
    <p:sldId id="262" r:id="rId7"/>
    <p:sldId id="263" r:id="rId8"/>
    <p:sldId id="259" r:id="rId9"/>
    <p:sldId id="256" r:id="rId10"/>
    <p:sldId id="264" r:id="rId11"/>
    <p:sldId id="266" r:id="rId12"/>
    <p:sldId id="267" r:id="rId13"/>
    <p:sldId id="268" r:id="rId14"/>
    <p:sldId id="269" r:id="rId15"/>
    <p:sldId id="271" r:id="rId16"/>
    <p:sldId id="273" r:id="rId17"/>
    <p:sldId id="274" r:id="rId18"/>
    <p:sldId id="272" r:id="rId19"/>
    <p:sldId id="275" r:id="rId20"/>
    <p:sldId id="277" r:id="rId21"/>
    <p:sldId id="276" r:id="rId22"/>
    <p:sldId id="278" r:id="rId23"/>
    <p:sldId id="279" r:id="rId24"/>
    <p:sldId id="281" r:id="rId25"/>
    <p:sldId id="270" r:id="rId26"/>
    <p:sldId id="280" r:id="rId27"/>
    <p:sldId id="287" r:id="rId28"/>
    <p:sldId id="288" r:id="rId29"/>
    <p:sldId id="289" r:id="rId30"/>
    <p:sldId id="282" r:id="rId31"/>
    <p:sldId id="283" r:id="rId32"/>
    <p:sldId id="284" r:id="rId33"/>
    <p:sldId id="285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TGpCZ8Zb2feH9WTDxzhslQ==" hashData="Ck7AzUScY/eSiyIE455IBhv5JpfVuFqhM7ezCRSSq0WhM6zlJAgRYS3i96f0MfNNqgGScyPssPa8/Ir5fduMYg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  <a:srgbClr val="FF7C80"/>
    <a:srgbClr val="29B95C"/>
    <a:srgbClr val="76E3FF"/>
    <a:srgbClr val="F6C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09A15E-5C11-43CC-ABF4-B941179E63BD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87F36C-9A4D-4F10-9AB1-24553091FD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7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87F36C-9A4D-4F10-9AB1-24553091FD7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9193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87F36C-9A4D-4F10-9AB1-24553091FD78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730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87F36C-9A4D-4F10-9AB1-24553091FD78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750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FFA40-E9FB-69A4-9F20-4C3BC9D58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C53FC6-EBBB-A2F6-D41C-B5595D364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C0C7D-800B-107E-07AF-C58FBEBDA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542F4-EC14-48A5-9402-3D47FF9882BB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A9D15-4815-FA43-B8C8-3C772BAF3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2AAF2-112E-7F0A-5448-27E3F1763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AA15-93F7-40DE-BDC5-A8A858587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113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27015-A304-6BE6-803D-C7113D8E0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AF7E6-A223-E76B-33BA-E0E2829AF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F6410-5DA0-1480-8ECB-EC976FB55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542F4-EC14-48A5-9402-3D47FF9882BB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CCDE5-4983-E2B3-BD46-208D158A9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8F1F1-E128-1E80-3663-5D28BACF7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AA15-93F7-40DE-BDC5-A8A858587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91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0A4C5-BEE7-101F-CBDB-34ADD1DE0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37932-7583-7014-74D1-56AF66999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C2E99-45F7-DAEC-18C2-1F27A47B3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542F4-EC14-48A5-9402-3D47FF9882BB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73C82-6478-7D60-F226-57026C3A8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4F5CD-CE0C-27E7-2CED-DD5FC732A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AA15-93F7-40DE-BDC5-A8A858587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98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B3372-DC2A-E4DD-3CD7-BF27B6343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493A2-F291-4755-2778-80B1975D0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43A29-6229-B945-7686-E85F4EB01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237525-C0A4-D2E9-B677-5D5B112B3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542F4-EC14-48A5-9402-3D47FF9882BB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A4FE75-E450-7829-02B6-10D0417FC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F2DFA-64DE-AA21-FB3A-24D2243C8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AA15-93F7-40DE-BDC5-A8A858587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700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F8FDC-241F-5261-3282-DCC50205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08F12-F523-879F-267D-133FC75C1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878184-7283-D5D1-562A-14E91AE78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9AEA7-6209-ADC9-5487-15D353FC64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DEAE8-2BF0-CBA7-247C-8FBF1BC291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873754-7D86-9B59-0ED4-93E877E9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542F4-EC14-48A5-9402-3D47FF9882BB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2998CF-C683-F908-956E-50C6F49BA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13D029-EF36-F536-4519-6A48093CE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AA15-93F7-40DE-BDC5-A8A858587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102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8BB2F-E506-4C4D-71DD-5CBBC7A6A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5C82CB-4641-AD8E-B102-400D7088B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542F4-EC14-48A5-9402-3D47FF9882BB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3C3C0B-2C8C-520F-6DCA-D2CC77A0F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16029B-AE52-2DD3-230C-AD74BFAE9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AA15-93F7-40DE-BDC5-A8A858587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831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13F707-8108-CD80-19A2-87F4D47EE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542F4-EC14-48A5-9402-3D47FF9882BB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2C70C9-FAD1-627F-4570-996DF05AC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348C5-EF97-8BC4-2712-F5C1779E4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AA15-93F7-40DE-BDC5-A8A858587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853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6C706-69DA-4344-3FC0-96D9D91B0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6343F-43E1-D858-0BCA-C42E4F31F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9FB7F-F59D-7FE7-C463-2A6822C7F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378C5-350D-8EF0-2AE4-5DC865DCB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542F4-EC14-48A5-9402-3D47FF9882BB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0929A-458B-03B6-230F-1A1A15EFA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BE064-C83F-578C-351E-2280EF26D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AA15-93F7-40DE-BDC5-A8A858587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04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F8B26-6B3B-373D-08C0-FDDEA6D21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F6C549-363C-FD1F-D2CB-42FD4D0FDA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F316FD-16DE-8778-77C1-7A8E4F54D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C9030-8A61-8C7B-98B8-85FBEE5E5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542F4-EC14-48A5-9402-3D47FF9882BB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4AA80C-A41F-45B2-717A-1FA2D14D8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E246A-0C1B-44BC-ABC0-2342203AE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AA15-93F7-40DE-BDC5-A8A858587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590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F1DA1-8758-6DFB-2095-230E10233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2D103E-AB8C-2211-6D6F-1008D9ACB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FFD97-D13E-7101-302E-4D262EB7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542F4-EC14-48A5-9402-3D47FF9882BB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65101-C469-C3A4-F62A-18883A627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3315C-0B6C-12E3-AFB5-51966DEC0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AA15-93F7-40DE-BDC5-A8A858587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714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782D2E-283B-E7D7-B924-919A3D5948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6E7BD-3EC4-7461-1BE8-FE9F5C07D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3ACAF-4EAC-D2DA-CDCB-0B2BEA617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542F4-EC14-48A5-9402-3D47FF9882BB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D0AE9-B910-AB38-131B-94BE0352A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A83E5-901C-41B5-EC14-E258E2E1B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AA15-93F7-40DE-BDC5-A8A858587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867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B5E331-F71F-5D9F-D43D-A060A2F9F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70E0F-3569-A0FD-868F-CCC4BE9C6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BB338-11EF-3958-9A68-49D4CCFF57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542F4-EC14-48A5-9402-3D47FF9882BB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4A322-D614-CD40-8872-9A043BF8F8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EC34A-A983-E8E5-392A-884B7B1320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77AA15-93F7-40DE-BDC5-A8A858587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5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3AA0B-F90D-D1AB-A698-96A96C51F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935" y="2766218"/>
            <a:ext cx="2700130" cy="1325563"/>
          </a:xfrm>
        </p:spPr>
        <p:txBody>
          <a:bodyPr/>
          <a:lstStyle/>
          <a:p>
            <a:r>
              <a:rPr lang="en-IN" dirty="0"/>
              <a:t>XOR GATE </a:t>
            </a:r>
          </a:p>
        </p:txBody>
      </p:sp>
    </p:spTree>
    <p:extLst>
      <p:ext uri="{BB962C8B-B14F-4D97-AF65-F5344CB8AC3E}">
        <p14:creationId xmlns:p14="http://schemas.microsoft.com/office/powerpoint/2010/main" val="2371542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373AE-1798-B97E-C2AD-6310E4A2A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1678" y="235917"/>
            <a:ext cx="5887278" cy="579092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XOR Gate Realization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39F5A1-BE89-5309-C86A-1D74662241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14954"/>
              </p:ext>
            </p:extLst>
          </p:nvPr>
        </p:nvGraphicFramePr>
        <p:xfrm>
          <a:off x="93870" y="1167295"/>
          <a:ext cx="3240000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17568512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50866402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5746010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23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4899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9468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4055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00514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F8D116-9019-A9B0-E8DB-CA40E057E5EE}"/>
                  </a:ext>
                </a:extLst>
              </p:cNvPr>
              <p:cNvSpPr txBox="1"/>
              <p:nvPr/>
            </p:nvSpPr>
            <p:spPr>
              <a:xfrm>
                <a:off x="5501123" y="825022"/>
                <a:ext cx="6413166" cy="28623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According to Logic Design, </a:t>
                </a:r>
              </a:p>
              <a:p>
                <a:endParaRPr lang="en-IN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 of XOR Gate</a:t>
                </a:r>
              </a:p>
              <a:p>
                <a:r>
                  <a:rPr lang="en-I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 x</a:t>
                </a:r>
                <a:r>
                  <a:rPr lang="en-IN" sz="3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3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IN" sz="3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IN" sz="3600" i="1" baseline="-25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acc>
                  </m:oMath>
                </a14:m>
                <a:r>
                  <a:rPr lang="en-I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3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IN" sz="3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IN" sz="3600" b="0" i="1" baseline="-2500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acc>
                  </m:oMath>
                </a14:m>
                <a:r>
                  <a:rPr lang="en-I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:r>
                  <a:rPr lang="en-IN" sz="3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  <a:p>
                <a:r>
                  <a:rPr lang="en-IN" sz="3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(</a:t>
                </a:r>
                <a:r>
                  <a:rPr kumimoji="0" lang="en-IN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kumimoji="0" lang="en-IN" sz="3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1  </a:t>
                </a:r>
                <a:r>
                  <a:rPr kumimoji="0" lang="en-IN" sz="36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AND</a:t>
                </a:r>
                <a:r>
                  <a:rPr kumimoji="0" lang="en-IN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0" lang="en-IN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0" lang="en-IN" sz="3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kumimoji="0" lang="en-IN" sz="3600" b="0" i="1" u="none" strike="noStrike" kern="1200" cap="none" spc="0" normalizeH="0" baseline="-250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acc>
                  </m:oMath>
                </a14:m>
                <a:r>
                  <a:rPr kumimoji="0" lang="en-IN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) OR (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0" lang="en-IN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0" lang="en-IN" sz="3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kumimoji="0" lang="en-IN" sz="3600" b="0" i="1" u="none" strike="noStrike" kern="1200" cap="none" spc="0" normalizeH="0" baseline="-2500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acc>
                  </m:oMath>
                </a14:m>
                <a:r>
                  <a:rPr kumimoji="0" lang="en-IN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AND x</a:t>
                </a:r>
                <a:r>
                  <a:rPr kumimoji="0" lang="en-IN" sz="3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2</a:t>
                </a:r>
                <a:r>
                  <a:rPr lang="en-I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F8D116-9019-A9B0-E8DB-CA40E057E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1123" y="825022"/>
                <a:ext cx="6413166" cy="2862322"/>
              </a:xfrm>
              <a:prstGeom prst="rect">
                <a:avLst/>
              </a:prstGeom>
              <a:blipFill>
                <a:blip r:embed="rId2"/>
                <a:stretch>
                  <a:fillRect l="-2852" t="-3404" r="-1806" b="-6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57E24DE-F04F-4D62-E131-8C63368F4212}"/>
              </a:ext>
            </a:extLst>
          </p:cNvPr>
          <p:cNvSpPr txBox="1"/>
          <p:nvPr/>
        </p:nvSpPr>
        <p:spPr>
          <a:xfrm>
            <a:off x="892036" y="719794"/>
            <a:ext cx="1970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XOR Truth Table</a:t>
            </a:r>
            <a:endParaRPr lang="en-IN" sz="105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776054F-CCAF-02CA-D93F-592B19CE51D5}"/>
              </a:ext>
            </a:extLst>
          </p:cNvPr>
          <p:cNvCxnSpPr>
            <a:cxnSpLocks/>
          </p:cNvCxnSpPr>
          <p:nvPr/>
        </p:nvCxnSpPr>
        <p:spPr>
          <a:xfrm>
            <a:off x="0" y="3697357"/>
            <a:ext cx="12192000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3920BC76-8F95-A0BD-4D44-E3AD0C6B0184}"/>
              </a:ext>
            </a:extLst>
          </p:cNvPr>
          <p:cNvSpPr/>
          <p:nvPr/>
        </p:nvSpPr>
        <p:spPr>
          <a:xfrm>
            <a:off x="337931" y="3940866"/>
            <a:ext cx="834887" cy="76531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8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2800" b="1" dirty="0">
              <a:solidFill>
                <a:sysClr val="windowText" lastClr="00000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74FF837-2D6A-4DE3-5B2A-F608F4DE539E}"/>
              </a:ext>
            </a:extLst>
          </p:cNvPr>
          <p:cNvSpPr/>
          <p:nvPr/>
        </p:nvSpPr>
        <p:spPr>
          <a:xfrm>
            <a:off x="337930" y="5690705"/>
            <a:ext cx="834887" cy="76531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8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sz="2800" b="1" dirty="0">
              <a:solidFill>
                <a:sysClr val="windowText" lastClr="00000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4D5945A-9614-5972-4801-56F03B9D9387}"/>
              </a:ext>
            </a:extLst>
          </p:cNvPr>
          <p:cNvSpPr/>
          <p:nvPr/>
        </p:nvSpPr>
        <p:spPr>
          <a:xfrm>
            <a:off x="2574234" y="3940865"/>
            <a:ext cx="834887" cy="765311"/>
          </a:xfrm>
          <a:prstGeom prst="ellipse">
            <a:avLst/>
          </a:prstGeom>
          <a:solidFill>
            <a:srgbClr val="F6C3FF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IN" sz="28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2800" b="1" dirty="0">
              <a:solidFill>
                <a:sysClr val="windowText" lastClr="00000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16CE579-90ED-9D39-4E76-89A529C08F5C}"/>
              </a:ext>
            </a:extLst>
          </p:cNvPr>
          <p:cNvSpPr/>
          <p:nvPr/>
        </p:nvSpPr>
        <p:spPr>
          <a:xfrm>
            <a:off x="2574233" y="5690705"/>
            <a:ext cx="834887" cy="765311"/>
          </a:xfrm>
          <a:prstGeom prst="ellipse">
            <a:avLst/>
          </a:prstGeom>
          <a:solidFill>
            <a:srgbClr val="F6C3FF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IN" sz="28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sz="2800" b="1" dirty="0">
              <a:solidFill>
                <a:sysClr val="windowText" lastClr="000000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D6F024B-7DE4-AE37-133E-B2603586E2EF}"/>
              </a:ext>
            </a:extLst>
          </p:cNvPr>
          <p:cNvSpPr/>
          <p:nvPr/>
        </p:nvSpPr>
        <p:spPr>
          <a:xfrm>
            <a:off x="4734338" y="4838701"/>
            <a:ext cx="1040297" cy="935932"/>
          </a:xfrm>
          <a:prstGeom prst="ellipse">
            <a:avLst/>
          </a:prstGeom>
          <a:solidFill>
            <a:srgbClr val="76E3FF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28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en-IN" sz="2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BEE7AB5-1D0D-311C-CC4E-AF2F62C8005F}"/>
              </a:ext>
            </a:extLst>
          </p:cNvPr>
          <p:cNvCxnSpPr>
            <a:stCxn id="11" idx="6"/>
            <a:endCxn id="13" idx="2"/>
          </p:cNvCxnSpPr>
          <p:nvPr/>
        </p:nvCxnSpPr>
        <p:spPr>
          <a:xfrm flipV="1">
            <a:off x="1172818" y="4323521"/>
            <a:ext cx="1401416" cy="1"/>
          </a:xfrm>
          <a:prstGeom prst="straightConnector1">
            <a:avLst/>
          </a:prstGeom>
          <a:ln w="28575">
            <a:solidFill>
              <a:srgbClr val="FF66FF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B1E53A3-CC36-69B4-E2D5-DFEDEFC2E0B3}"/>
              </a:ext>
            </a:extLst>
          </p:cNvPr>
          <p:cNvCxnSpPr>
            <a:cxnSpLocks/>
            <a:stCxn id="12" idx="6"/>
            <a:endCxn id="13" idx="3"/>
          </p:cNvCxnSpPr>
          <p:nvPr/>
        </p:nvCxnSpPr>
        <p:spPr>
          <a:xfrm flipV="1">
            <a:off x="1172817" y="4594099"/>
            <a:ext cx="1523683" cy="1479262"/>
          </a:xfrm>
          <a:prstGeom prst="straightConnector1">
            <a:avLst/>
          </a:prstGeom>
          <a:ln w="28575">
            <a:solidFill>
              <a:srgbClr val="FF7C80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4A5FCFB-D559-EAEF-43D8-785A551426F9}"/>
              </a:ext>
            </a:extLst>
          </p:cNvPr>
          <p:cNvCxnSpPr>
            <a:cxnSpLocks/>
            <a:stCxn id="11" idx="6"/>
            <a:endCxn id="14" idx="1"/>
          </p:cNvCxnSpPr>
          <p:nvPr/>
        </p:nvCxnSpPr>
        <p:spPr>
          <a:xfrm>
            <a:off x="1172818" y="4323522"/>
            <a:ext cx="1523681" cy="1479260"/>
          </a:xfrm>
          <a:prstGeom prst="straightConnector1">
            <a:avLst/>
          </a:prstGeom>
          <a:ln w="28575">
            <a:solidFill>
              <a:srgbClr val="FF66FF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366321D-24A3-79DC-C6A5-81D02E6E2049}"/>
              </a:ext>
            </a:extLst>
          </p:cNvPr>
          <p:cNvCxnSpPr>
            <a:cxnSpLocks/>
            <a:stCxn id="12" idx="6"/>
            <a:endCxn id="14" idx="2"/>
          </p:cNvCxnSpPr>
          <p:nvPr/>
        </p:nvCxnSpPr>
        <p:spPr>
          <a:xfrm>
            <a:off x="1172817" y="6073361"/>
            <a:ext cx="1401416" cy="0"/>
          </a:xfrm>
          <a:prstGeom prst="straightConnector1">
            <a:avLst/>
          </a:prstGeom>
          <a:ln w="28575">
            <a:solidFill>
              <a:srgbClr val="FF7C80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CE5468C-0FF5-7007-FCCF-474B1E657223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3409121" y="4323521"/>
            <a:ext cx="1325217" cy="983146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FC9F53C-1240-098E-6FA6-A21E6A072CBA}"/>
              </a:ext>
            </a:extLst>
          </p:cNvPr>
          <p:cNvCxnSpPr>
            <a:cxnSpLocks/>
            <a:stCxn id="14" idx="6"/>
            <a:endCxn id="15" idx="2"/>
          </p:cNvCxnSpPr>
          <p:nvPr/>
        </p:nvCxnSpPr>
        <p:spPr>
          <a:xfrm flipV="1">
            <a:off x="3409120" y="5306667"/>
            <a:ext cx="1325218" cy="766694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3D1FBFA-BDBC-7695-F22A-E5BDACE5FE6E}"/>
              </a:ext>
            </a:extLst>
          </p:cNvPr>
          <p:cNvSpPr txBox="1"/>
          <p:nvPr/>
        </p:nvSpPr>
        <p:spPr>
          <a:xfrm>
            <a:off x="1511576" y="3927979"/>
            <a:ext cx="611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w11</a:t>
            </a:r>
            <a:endParaRPr lang="en-IN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781777-CC0C-5AEE-9504-402CCCE9D70F}"/>
              </a:ext>
            </a:extLst>
          </p:cNvPr>
          <p:cNvSpPr txBox="1"/>
          <p:nvPr/>
        </p:nvSpPr>
        <p:spPr>
          <a:xfrm rot="2643508">
            <a:off x="1469155" y="4527879"/>
            <a:ext cx="611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w12</a:t>
            </a:r>
            <a:endParaRPr lang="en-IN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59BFDF-A49B-9883-1BCB-CBDE4AFE3FCE}"/>
              </a:ext>
            </a:extLst>
          </p:cNvPr>
          <p:cNvSpPr txBox="1"/>
          <p:nvPr/>
        </p:nvSpPr>
        <p:spPr>
          <a:xfrm>
            <a:off x="1713870" y="5753406"/>
            <a:ext cx="611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w22</a:t>
            </a:r>
            <a:endParaRPr lang="en-IN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D98E05F-88F0-236C-453E-D97AAFD75FD0}"/>
              </a:ext>
            </a:extLst>
          </p:cNvPr>
          <p:cNvSpPr txBox="1"/>
          <p:nvPr/>
        </p:nvSpPr>
        <p:spPr>
          <a:xfrm rot="18858981">
            <a:off x="1163527" y="5242123"/>
            <a:ext cx="611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w21</a:t>
            </a:r>
            <a:endParaRPr lang="en-IN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F6EFBD-D4F2-6B75-45D1-B143A867EBB2}"/>
              </a:ext>
            </a:extLst>
          </p:cNvPr>
          <p:cNvSpPr txBox="1"/>
          <p:nvPr/>
        </p:nvSpPr>
        <p:spPr>
          <a:xfrm>
            <a:off x="3792287" y="4409433"/>
            <a:ext cx="611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wz1</a:t>
            </a:r>
            <a:endParaRPr lang="en-IN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435581-6757-8C26-3882-48227FA23725}"/>
              </a:ext>
            </a:extLst>
          </p:cNvPr>
          <p:cNvSpPr txBox="1"/>
          <p:nvPr/>
        </p:nvSpPr>
        <p:spPr>
          <a:xfrm>
            <a:off x="3531386" y="5384074"/>
            <a:ext cx="611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wz2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311835D-E784-83A0-5C4E-4CC26D09F118}"/>
                  </a:ext>
                </a:extLst>
              </p:cNvPr>
              <p:cNvSpPr txBox="1"/>
              <p:nvPr/>
            </p:nvSpPr>
            <p:spPr>
              <a:xfrm>
                <a:off x="6271591" y="3786808"/>
                <a:ext cx="5314275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comparing the equation </a:t>
                </a:r>
              </a:p>
              <a:p>
                <a:r>
                  <a:rPr lang="en-I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network diagram</a:t>
                </a:r>
              </a:p>
              <a:p>
                <a:endParaRPr lang="en-IN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 x</a:t>
                </a:r>
                <a:r>
                  <a:rPr lang="en-IN" sz="3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3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IN" sz="3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IN" sz="3600" i="1" baseline="-25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acc>
                  </m:oMath>
                </a14:m>
                <a:r>
                  <a:rPr lang="en-I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3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IN" sz="3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IN" sz="3600" b="0" i="1" baseline="-2500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acc>
                  </m:oMath>
                </a14:m>
                <a:r>
                  <a:rPr lang="en-I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:r>
                  <a:rPr lang="en-IN" sz="3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311835D-E784-83A0-5C4E-4CC26D09F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591" y="3786808"/>
                <a:ext cx="5314275" cy="2308324"/>
              </a:xfrm>
              <a:prstGeom prst="rect">
                <a:avLst/>
              </a:prstGeom>
              <a:blipFill>
                <a:blip r:embed="rId3"/>
                <a:stretch>
                  <a:fillRect l="-3555" t="-4222" r="-2408" b="-87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1CC36932-9C4E-6119-7B7E-38AFE5DFBF59}"/>
              </a:ext>
            </a:extLst>
          </p:cNvPr>
          <p:cNvSpPr/>
          <p:nvPr/>
        </p:nvSpPr>
        <p:spPr>
          <a:xfrm>
            <a:off x="6845258" y="5296205"/>
            <a:ext cx="1015711" cy="777155"/>
          </a:xfrm>
          <a:prstGeom prst="rect">
            <a:avLst/>
          </a:prstGeom>
          <a:solidFill>
            <a:schemeClr val="accent1">
              <a:alpha val="0"/>
            </a:schemeClr>
          </a:solidFill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4A866BD-1B21-150E-7B4B-EBEBEA0D80B6}"/>
              </a:ext>
            </a:extLst>
          </p:cNvPr>
          <p:cNvSpPr/>
          <p:nvPr/>
        </p:nvSpPr>
        <p:spPr>
          <a:xfrm>
            <a:off x="8199851" y="5319383"/>
            <a:ext cx="1015711" cy="777155"/>
          </a:xfrm>
          <a:prstGeom prst="rect">
            <a:avLst/>
          </a:prstGeom>
          <a:solidFill>
            <a:schemeClr val="accent1">
              <a:alpha val="0"/>
            </a:schemeClr>
          </a:solidFill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FD7ED71-2914-8360-34F8-4E7C6470F6CF}"/>
              </a:ext>
            </a:extLst>
          </p:cNvPr>
          <p:cNvSpPr txBox="1"/>
          <p:nvPr/>
        </p:nvSpPr>
        <p:spPr>
          <a:xfrm>
            <a:off x="7103811" y="6184582"/>
            <a:ext cx="8348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Z1</a:t>
            </a:r>
            <a:endParaRPr lang="en-IN" sz="2800" b="1" dirty="0">
              <a:solidFill>
                <a:srgbClr val="FF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0CDA057-4F1E-C3D0-3CAD-5A0E87117B28}"/>
              </a:ext>
            </a:extLst>
          </p:cNvPr>
          <p:cNvSpPr txBox="1"/>
          <p:nvPr/>
        </p:nvSpPr>
        <p:spPr>
          <a:xfrm>
            <a:off x="8461512" y="6169584"/>
            <a:ext cx="8348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Z2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979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16D79-2F21-5FBD-AE13-CC3B0C11C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47" y="722830"/>
            <a:ext cx="5532396" cy="3839231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When we have additional layers in the network, the output of the intermediate layers will be computed first, and the result will be passed onto the next layer.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Every neuron from one layer to another layer is INTERCONNECTED by using weights.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4AFC652-EF39-5455-79E6-CF8A595CEF5A}"/>
              </a:ext>
            </a:extLst>
          </p:cNvPr>
          <p:cNvSpPr/>
          <p:nvPr/>
        </p:nvSpPr>
        <p:spPr>
          <a:xfrm>
            <a:off x="268357" y="507025"/>
            <a:ext cx="834887" cy="76531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8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2800" b="1" dirty="0">
              <a:solidFill>
                <a:sysClr val="windowText" lastClr="000000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9A4494C-7C1F-4B69-025D-9BD01D6489EF}"/>
              </a:ext>
            </a:extLst>
          </p:cNvPr>
          <p:cNvSpPr/>
          <p:nvPr/>
        </p:nvSpPr>
        <p:spPr>
          <a:xfrm>
            <a:off x="268356" y="2256864"/>
            <a:ext cx="834887" cy="76531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8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sz="28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FB913FD-850E-E5FA-7F80-5B86DAB672E7}"/>
              </a:ext>
            </a:extLst>
          </p:cNvPr>
          <p:cNvSpPr/>
          <p:nvPr/>
        </p:nvSpPr>
        <p:spPr>
          <a:xfrm>
            <a:off x="2504660" y="507024"/>
            <a:ext cx="834887" cy="765311"/>
          </a:xfrm>
          <a:prstGeom prst="ellipse">
            <a:avLst/>
          </a:prstGeom>
          <a:solidFill>
            <a:srgbClr val="F6C3FF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IN" sz="28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28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AE4FA27-EC0D-C1CE-B45D-1D083B8B2488}"/>
              </a:ext>
            </a:extLst>
          </p:cNvPr>
          <p:cNvSpPr/>
          <p:nvPr/>
        </p:nvSpPr>
        <p:spPr>
          <a:xfrm>
            <a:off x="2504659" y="2256864"/>
            <a:ext cx="834887" cy="765311"/>
          </a:xfrm>
          <a:prstGeom prst="ellipse">
            <a:avLst/>
          </a:prstGeom>
          <a:solidFill>
            <a:srgbClr val="F6C3FF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IN" sz="28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sz="2800" b="1" dirty="0">
              <a:solidFill>
                <a:sysClr val="windowText" lastClr="00000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C66890-45C3-F0CA-9BF5-9A7F962C0508}"/>
              </a:ext>
            </a:extLst>
          </p:cNvPr>
          <p:cNvSpPr/>
          <p:nvPr/>
        </p:nvSpPr>
        <p:spPr>
          <a:xfrm>
            <a:off x="4664764" y="1404860"/>
            <a:ext cx="1040297" cy="935932"/>
          </a:xfrm>
          <a:prstGeom prst="ellipse">
            <a:avLst/>
          </a:prstGeom>
          <a:solidFill>
            <a:srgbClr val="76E3FF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28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en-IN" sz="2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B71AAC9-A057-2E38-DD41-C16EABD2C17E}"/>
              </a:ext>
            </a:extLst>
          </p:cNvPr>
          <p:cNvCxnSpPr>
            <a:stCxn id="4" idx="6"/>
            <a:endCxn id="6" idx="2"/>
          </p:cNvCxnSpPr>
          <p:nvPr/>
        </p:nvCxnSpPr>
        <p:spPr>
          <a:xfrm flipV="1">
            <a:off x="1103244" y="889680"/>
            <a:ext cx="1401416" cy="1"/>
          </a:xfrm>
          <a:prstGeom prst="straightConnector1">
            <a:avLst/>
          </a:prstGeom>
          <a:ln w="28575">
            <a:solidFill>
              <a:srgbClr val="FF66FF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CD4AB6C-2E0F-29CE-0A4F-E21BF70DA0E7}"/>
              </a:ext>
            </a:extLst>
          </p:cNvPr>
          <p:cNvCxnSpPr>
            <a:cxnSpLocks/>
            <a:stCxn id="5" idx="6"/>
            <a:endCxn id="6" idx="3"/>
          </p:cNvCxnSpPr>
          <p:nvPr/>
        </p:nvCxnSpPr>
        <p:spPr>
          <a:xfrm flipV="1">
            <a:off x="1103243" y="1160258"/>
            <a:ext cx="1523683" cy="1479262"/>
          </a:xfrm>
          <a:prstGeom prst="straightConnector1">
            <a:avLst/>
          </a:prstGeom>
          <a:ln w="28575">
            <a:solidFill>
              <a:srgbClr val="FF7C80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1833C8C-14C9-9787-6ECE-B106C1F2B240}"/>
              </a:ext>
            </a:extLst>
          </p:cNvPr>
          <p:cNvCxnSpPr>
            <a:cxnSpLocks/>
            <a:stCxn id="4" idx="6"/>
            <a:endCxn id="7" idx="1"/>
          </p:cNvCxnSpPr>
          <p:nvPr/>
        </p:nvCxnSpPr>
        <p:spPr>
          <a:xfrm>
            <a:off x="1103244" y="889681"/>
            <a:ext cx="1523681" cy="1479260"/>
          </a:xfrm>
          <a:prstGeom prst="straightConnector1">
            <a:avLst/>
          </a:prstGeom>
          <a:ln w="28575">
            <a:solidFill>
              <a:srgbClr val="FF66FF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E675444-5711-D137-699F-48E52E1F1B59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1103243" y="2639520"/>
            <a:ext cx="1401416" cy="0"/>
          </a:xfrm>
          <a:prstGeom prst="straightConnector1">
            <a:avLst/>
          </a:prstGeom>
          <a:ln w="28575">
            <a:solidFill>
              <a:srgbClr val="FF7C80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968DAE1-0C92-325F-C4DA-06DFF6AE37A8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3339547" y="889680"/>
            <a:ext cx="1325217" cy="983146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1E479CF-46AB-7D5F-700B-508D2D6C67D2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3339546" y="1872826"/>
            <a:ext cx="1325218" cy="766694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A6F03DC-5687-7E15-587F-9E06BAC31B07}"/>
              </a:ext>
            </a:extLst>
          </p:cNvPr>
          <p:cNvSpPr txBox="1"/>
          <p:nvPr/>
        </p:nvSpPr>
        <p:spPr>
          <a:xfrm>
            <a:off x="1442002" y="494138"/>
            <a:ext cx="611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w11</a:t>
            </a:r>
            <a:endParaRPr lang="en-IN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A5AD10-A02A-31C2-C62A-D651E864306A}"/>
              </a:ext>
            </a:extLst>
          </p:cNvPr>
          <p:cNvSpPr txBox="1"/>
          <p:nvPr/>
        </p:nvSpPr>
        <p:spPr>
          <a:xfrm rot="2643508">
            <a:off x="1399581" y="1094038"/>
            <a:ext cx="611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w12</a:t>
            </a:r>
            <a:endParaRPr lang="en-IN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41FE26-197B-6700-6A79-9EB945188AD9}"/>
              </a:ext>
            </a:extLst>
          </p:cNvPr>
          <p:cNvSpPr txBox="1"/>
          <p:nvPr/>
        </p:nvSpPr>
        <p:spPr>
          <a:xfrm>
            <a:off x="1644296" y="2319565"/>
            <a:ext cx="611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w22</a:t>
            </a:r>
            <a:endParaRPr lang="en-IN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F159EA-7287-1529-9CF2-910FD29A8A30}"/>
              </a:ext>
            </a:extLst>
          </p:cNvPr>
          <p:cNvSpPr txBox="1"/>
          <p:nvPr/>
        </p:nvSpPr>
        <p:spPr>
          <a:xfrm rot="18858981">
            <a:off x="1093953" y="1808282"/>
            <a:ext cx="611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w21</a:t>
            </a:r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161797-2450-1D9E-E424-D2FB7A2FABB0}"/>
              </a:ext>
            </a:extLst>
          </p:cNvPr>
          <p:cNvSpPr txBox="1"/>
          <p:nvPr/>
        </p:nvSpPr>
        <p:spPr>
          <a:xfrm>
            <a:off x="3722713" y="975592"/>
            <a:ext cx="611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wz1</a:t>
            </a:r>
            <a:endParaRPr lang="en-IN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DB407B-ECE2-3539-C386-9B275BA025CC}"/>
              </a:ext>
            </a:extLst>
          </p:cNvPr>
          <p:cNvSpPr txBox="1"/>
          <p:nvPr/>
        </p:nvSpPr>
        <p:spPr>
          <a:xfrm>
            <a:off x="3461812" y="1950233"/>
            <a:ext cx="611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wz2</a:t>
            </a:r>
            <a:endParaRPr lang="en-IN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DFB99F-AADA-E025-59E5-6496B8DE1B85}"/>
              </a:ext>
            </a:extLst>
          </p:cNvPr>
          <p:cNvSpPr txBox="1"/>
          <p:nvPr/>
        </p:nvSpPr>
        <p:spPr>
          <a:xfrm>
            <a:off x="2504659" y="3490586"/>
            <a:ext cx="946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1</a:t>
            </a:r>
            <a:endParaRPr lang="en-IN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C6E5F3-F9CA-12D9-887D-848C5671FCD7}"/>
              </a:ext>
            </a:extLst>
          </p:cNvPr>
          <p:cNvSpPr txBox="1"/>
          <p:nvPr/>
        </p:nvSpPr>
        <p:spPr>
          <a:xfrm>
            <a:off x="212448" y="3449112"/>
            <a:ext cx="9467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Layer</a:t>
            </a:r>
            <a:endParaRPr lang="en-IN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E3A590-4397-AFA9-D86C-90FB0ED5D065}"/>
              </a:ext>
            </a:extLst>
          </p:cNvPr>
          <p:cNvSpPr txBox="1"/>
          <p:nvPr/>
        </p:nvSpPr>
        <p:spPr>
          <a:xfrm>
            <a:off x="4893338" y="3352087"/>
            <a:ext cx="9467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</a:t>
            </a:r>
            <a:endParaRPr lang="en-IN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0C5DD6-A661-F680-8343-4BCB5E8A9760}"/>
              </a:ext>
            </a:extLst>
          </p:cNvPr>
          <p:cNvSpPr txBox="1"/>
          <p:nvPr/>
        </p:nvSpPr>
        <p:spPr>
          <a:xfrm>
            <a:off x="3722713" y="4751593"/>
            <a:ext cx="6097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Revised Definitions of the network nodes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48D974-0836-5D29-E7AF-4ABF67C763FD}"/>
              </a:ext>
            </a:extLst>
          </p:cNvPr>
          <p:cNvSpPr txBox="1"/>
          <p:nvPr/>
        </p:nvSpPr>
        <p:spPr>
          <a:xfrm>
            <a:off x="268356" y="5349691"/>
            <a:ext cx="13181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X1 and x2 remains as it is.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0B9081-F71B-D196-F159-C73E16C8EB49}"/>
              </a:ext>
            </a:extLst>
          </p:cNvPr>
          <p:cNvSpPr txBox="1"/>
          <p:nvPr/>
        </p:nvSpPr>
        <p:spPr>
          <a:xfrm>
            <a:off x="2003562" y="5111778"/>
            <a:ext cx="53174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Z</a:t>
            </a:r>
            <a:r>
              <a:rPr lang="en-IN" sz="3200" b="1" baseline="-25000" dirty="0"/>
              <a:t>1</a:t>
            </a:r>
            <a:r>
              <a:rPr lang="en-IN" sz="3200" b="1" dirty="0"/>
              <a:t>=  </a:t>
            </a:r>
            <a:r>
              <a:rPr kumimoji="0" lang="en-I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0" lang="en-IN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I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* w</a:t>
            </a:r>
            <a:r>
              <a:rPr kumimoji="0" lang="en-IN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11</a:t>
            </a:r>
            <a:r>
              <a:rPr kumimoji="0" lang="en-IN" sz="3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+ </a:t>
            </a:r>
            <a:r>
              <a:rPr kumimoji="0" lang="en-I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0" lang="en-IN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 </a:t>
            </a:r>
            <a:r>
              <a:rPr kumimoji="0" lang="en-IN" sz="3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 w</a:t>
            </a:r>
            <a:r>
              <a:rPr kumimoji="0" lang="en-IN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en-IN" sz="2000" b="1" baseline="-25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3B0537-BB8D-9D91-42B0-249F2A019362}"/>
              </a:ext>
            </a:extLst>
          </p:cNvPr>
          <p:cNvSpPr txBox="1"/>
          <p:nvPr/>
        </p:nvSpPr>
        <p:spPr>
          <a:xfrm>
            <a:off x="2003561" y="5882408"/>
            <a:ext cx="53174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Z</a:t>
            </a:r>
            <a:r>
              <a:rPr lang="en-IN" sz="3200" b="1" baseline="-25000" dirty="0"/>
              <a:t>2</a:t>
            </a:r>
            <a:r>
              <a:rPr lang="en-IN" sz="3200" b="1" dirty="0"/>
              <a:t>= </a:t>
            </a:r>
            <a:r>
              <a:rPr lang="en-IN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36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kumimoji="0" lang="en-I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 w</a:t>
            </a:r>
            <a:r>
              <a:rPr kumimoji="0" lang="en-IN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21</a:t>
            </a:r>
            <a:r>
              <a:rPr kumimoji="0" lang="en-IN" sz="3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+ x</a:t>
            </a:r>
            <a:r>
              <a:rPr kumimoji="0" lang="en-IN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en-IN" sz="3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* w</a:t>
            </a:r>
            <a:r>
              <a:rPr kumimoji="0" lang="en-IN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en-IN" sz="2000" b="1" baseline="-25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1503CC-FF87-4E35-8029-CC403A7DEB75}"/>
              </a:ext>
            </a:extLst>
          </p:cNvPr>
          <p:cNvSpPr txBox="1"/>
          <p:nvPr/>
        </p:nvSpPr>
        <p:spPr>
          <a:xfrm>
            <a:off x="7169105" y="5565134"/>
            <a:ext cx="46021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IN" sz="24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24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 </a:t>
            </a:r>
            <a:r>
              <a:rPr lang="en-IN" sz="2800" b="1" dirty="0"/>
              <a:t>= Z</a:t>
            </a:r>
            <a:r>
              <a:rPr lang="en-IN" sz="2800" b="1" baseline="-25000" dirty="0"/>
              <a:t>1</a:t>
            </a:r>
            <a:r>
              <a:rPr lang="en-IN" sz="2800" b="1" dirty="0"/>
              <a:t> 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 w</a:t>
            </a:r>
            <a:r>
              <a:rPr kumimoji="0" lang="en-IN" sz="3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Z1</a:t>
            </a:r>
            <a:r>
              <a:rPr kumimoji="0" lang="en-IN" sz="32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+ Z</a:t>
            </a:r>
            <a:r>
              <a:rPr kumimoji="0" lang="en-IN" sz="3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en-IN" sz="32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* w</a:t>
            </a:r>
            <a:r>
              <a:rPr kumimoji="0" lang="en-IN" sz="3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Z2</a:t>
            </a:r>
            <a:endParaRPr lang="en-IN" b="1" baseline="-25000" dirty="0"/>
          </a:p>
        </p:txBody>
      </p:sp>
    </p:spTree>
    <p:extLst>
      <p:ext uri="{BB962C8B-B14F-4D97-AF65-F5344CB8AC3E}">
        <p14:creationId xmlns:p14="http://schemas.microsoft.com/office/powerpoint/2010/main" val="4131558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24DE3-A38F-4B3A-FFAE-D1DCB704D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69487" cy="1325563"/>
          </a:xfrm>
        </p:spPr>
        <p:txBody>
          <a:bodyPr/>
          <a:lstStyle/>
          <a:p>
            <a:r>
              <a:rPr lang="en-IN" dirty="0"/>
              <a:t>Before proceeding for next layer computations verify it Z1 and Z2 Output is correct.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7CA7A-7E41-CE40-D4F2-A8786ED6E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Generate the truth table for Z1 and Z2 using </a:t>
            </a:r>
            <a:r>
              <a:rPr lang="en-IN" b="1" dirty="0">
                <a:solidFill>
                  <a:srgbClr val="FF0000"/>
                </a:solidFill>
              </a:rPr>
              <a:t>Logic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CDD39DD-F916-EABB-F87A-ADA9DC6032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8882827"/>
                  </p:ext>
                </p:extLst>
              </p:nvPr>
            </p:nvGraphicFramePr>
            <p:xfrm>
              <a:off x="1057966" y="3429000"/>
              <a:ext cx="3722755" cy="212401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0268">
                      <a:extLst>
                        <a:ext uri="{9D8B030D-6E8A-4147-A177-3AD203B41FA5}">
                          <a16:colId xmlns:a16="http://schemas.microsoft.com/office/drawing/2014/main" val="175685122"/>
                        </a:ext>
                      </a:extLst>
                    </a:gridCol>
                    <a:gridCol w="1002660">
                      <a:extLst>
                        <a:ext uri="{9D8B030D-6E8A-4147-A177-3AD203B41FA5}">
                          <a16:colId xmlns:a16="http://schemas.microsoft.com/office/drawing/2014/main" val="3508664021"/>
                        </a:ext>
                      </a:extLst>
                    </a:gridCol>
                    <a:gridCol w="1969827">
                      <a:extLst>
                        <a:ext uri="{9D8B030D-6E8A-4147-A177-3AD203B41FA5}">
                          <a16:colId xmlns:a16="http://schemas.microsoft.com/office/drawing/2014/main" val="15746010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Output</a:t>
                          </a:r>
                        </a:p>
                        <a:p>
                          <a:pPr algn="ctr"/>
                          <a:r>
                            <a:rPr lang="en-IN" sz="1800" b="1" kern="1200" noProof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x1  AND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IN" sz="1800" b="1" i="1" kern="1200" noProof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800" b="1" kern="1200" noProof="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IN" sz="1800" b="1" kern="1200" noProof="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e>
                              </m:acc>
                            </m:oMath>
                          </a14:m>
                          <a:endParaRPr lang="en-IN" sz="18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5233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48999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794689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640557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70051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CDD39DD-F916-EABB-F87A-ADA9DC6032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8882827"/>
                  </p:ext>
                </p:extLst>
              </p:nvPr>
            </p:nvGraphicFramePr>
            <p:xfrm>
              <a:off x="1057966" y="3429000"/>
              <a:ext cx="3722755" cy="212401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0268">
                      <a:extLst>
                        <a:ext uri="{9D8B030D-6E8A-4147-A177-3AD203B41FA5}">
                          <a16:colId xmlns:a16="http://schemas.microsoft.com/office/drawing/2014/main" val="175685122"/>
                        </a:ext>
                      </a:extLst>
                    </a:gridCol>
                    <a:gridCol w="1002660">
                      <a:extLst>
                        <a:ext uri="{9D8B030D-6E8A-4147-A177-3AD203B41FA5}">
                          <a16:colId xmlns:a16="http://schemas.microsoft.com/office/drawing/2014/main" val="3508664021"/>
                        </a:ext>
                      </a:extLst>
                    </a:gridCol>
                    <a:gridCol w="1969827">
                      <a:extLst>
                        <a:ext uri="{9D8B030D-6E8A-4147-A177-3AD203B41FA5}">
                          <a16:colId xmlns:a16="http://schemas.microsoft.com/office/drawing/2014/main" val="1574601099"/>
                        </a:ext>
                      </a:extLst>
                    </a:gridCol>
                  </a:tblGrid>
                  <a:tr h="6406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9198" t="-4762" r="-617" b="-24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5233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48999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794689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640557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700514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C32BC86-DBE6-6249-B588-8C3BCAE5BE06}"/>
              </a:ext>
            </a:extLst>
          </p:cNvPr>
          <p:cNvSpPr txBox="1"/>
          <p:nvPr/>
        </p:nvSpPr>
        <p:spPr>
          <a:xfrm flipH="1">
            <a:off x="2562777" y="2770843"/>
            <a:ext cx="7131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Z1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B5CC7DF9-2214-FDBB-F701-513BD18036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4486121"/>
                  </p:ext>
                </p:extLst>
              </p:nvPr>
            </p:nvGraphicFramePr>
            <p:xfrm>
              <a:off x="6676888" y="3431540"/>
              <a:ext cx="3722755" cy="211893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0268">
                      <a:extLst>
                        <a:ext uri="{9D8B030D-6E8A-4147-A177-3AD203B41FA5}">
                          <a16:colId xmlns:a16="http://schemas.microsoft.com/office/drawing/2014/main" val="175685122"/>
                        </a:ext>
                      </a:extLst>
                    </a:gridCol>
                    <a:gridCol w="1002660">
                      <a:extLst>
                        <a:ext uri="{9D8B030D-6E8A-4147-A177-3AD203B41FA5}">
                          <a16:colId xmlns:a16="http://schemas.microsoft.com/office/drawing/2014/main" val="3508664021"/>
                        </a:ext>
                      </a:extLst>
                    </a:gridCol>
                    <a:gridCol w="1969827">
                      <a:extLst>
                        <a:ext uri="{9D8B030D-6E8A-4147-A177-3AD203B41FA5}">
                          <a16:colId xmlns:a16="http://schemas.microsoft.com/office/drawing/2014/main" val="15746010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Output</a:t>
                          </a: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IN" sz="1800" b="1" i="1" kern="1200" noProof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800" b="1" kern="1200" noProof="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IN" sz="1800" b="1" kern="1200" noProof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acc>
                            </m:oMath>
                          </a14:m>
                          <a:r>
                            <a:rPr lang="en-IN" sz="1800" b="1" kern="1200" noProof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AND x2</a:t>
                          </a:r>
                          <a:endParaRPr lang="en-IN" sz="18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5233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48999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794689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64055726"/>
                      </a:ext>
                    </a:extLst>
                  </a:tr>
                  <a:tr h="2313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70051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B5CC7DF9-2214-FDBB-F701-513BD18036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4486121"/>
                  </p:ext>
                </p:extLst>
              </p:nvPr>
            </p:nvGraphicFramePr>
            <p:xfrm>
              <a:off x="6676888" y="3431540"/>
              <a:ext cx="3722755" cy="211893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0268">
                      <a:extLst>
                        <a:ext uri="{9D8B030D-6E8A-4147-A177-3AD203B41FA5}">
                          <a16:colId xmlns:a16="http://schemas.microsoft.com/office/drawing/2014/main" val="175685122"/>
                        </a:ext>
                      </a:extLst>
                    </a:gridCol>
                    <a:gridCol w="1002660">
                      <a:extLst>
                        <a:ext uri="{9D8B030D-6E8A-4147-A177-3AD203B41FA5}">
                          <a16:colId xmlns:a16="http://schemas.microsoft.com/office/drawing/2014/main" val="3508664021"/>
                        </a:ext>
                      </a:extLst>
                    </a:gridCol>
                    <a:gridCol w="1969827">
                      <a:extLst>
                        <a:ext uri="{9D8B030D-6E8A-4147-A177-3AD203B41FA5}">
                          <a16:colId xmlns:a16="http://schemas.microsoft.com/office/drawing/2014/main" val="1574601099"/>
                        </a:ext>
                      </a:extLst>
                    </a:gridCol>
                  </a:tblGrid>
                  <a:tr h="6406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9474" t="-4717" r="-929" b="-2443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5233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48999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794689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6405572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700514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7658CDC-DDEC-7A0F-048C-EE228D1EF325}"/>
              </a:ext>
            </a:extLst>
          </p:cNvPr>
          <p:cNvSpPr txBox="1"/>
          <p:nvPr/>
        </p:nvSpPr>
        <p:spPr>
          <a:xfrm flipH="1">
            <a:off x="8181699" y="2770843"/>
            <a:ext cx="7131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Z2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6666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47664-E6FD-E1D8-3ECD-2323972D8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22" y="225978"/>
            <a:ext cx="2252870" cy="549275"/>
          </a:xfrm>
        </p:spPr>
        <p:txBody>
          <a:bodyPr>
            <a:normAutofit fontScale="90000"/>
          </a:bodyPr>
          <a:lstStyle/>
          <a:p>
            <a:r>
              <a:rPr lang="en-IN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CASE - 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88E85F2-94E1-9F3E-77C6-328A1754E40B}"/>
              </a:ext>
            </a:extLst>
          </p:cNvPr>
          <p:cNvSpPr txBox="1">
            <a:spLocks/>
          </p:cNvSpPr>
          <p:nvPr/>
        </p:nvSpPr>
        <p:spPr>
          <a:xfrm>
            <a:off x="3216965" y="225978"/>
            <a:ext cx="8362122" cy="827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Assuming w</a:t>
            </a:r>
            <a:r>
              <a:rPr kumimoji="0" lang="en-IN" sz="3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11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 w</a:t>
            </a:r>
            <a:r>
              <a:rPr kumimoji="0" lang="en-IN" sz="3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21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 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2322AEE-DE0D-8F96-A2FF-ECBD783AD7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872269"/>
              </p:ext>
            </p:extLst>
          </p:nvPr>
        </p:nvGraphicFramePr>
        <p:xfrm>
          <a:off x="501375" y="2257349"/>
          <a:ext cx="6764130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3335">
                  <a:extLst>
                    <a:ext uri="{9D8B030D-6E8A-4147-A177-3AD203B41FA5}">
                      <a16:colId xmlns:a16="http://schemas.microsoft.com/office/drawing/2014/main" val="508131469"/>
                    </a:ext>
                  </a:extLst>
                </a:gridCol>
                <a:gridCol w="1477334">
                  <a:extLst>
                    <a:ext uri="{9D8B030D-6E8A-4147-A177-3AD203B41FA5}">
                      <a16:colId xmlns:a16="http://schemas.microsoft.com/office/drawing/2014/main" val="398427118"/>
                    </a:ext>
                  </a:extLst>
                </a:gridCol>
                <a:gridCol w="3903461">
                  <a:extLst>
                    <a:ext uri="{9D8B030D-6E8A-4147-A177-3AD203B41FA5}">
                      <a16:colId xmlns:a16="http://schemas.microsoft.com/office/drawing/2014/main" val="37985313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32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32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IN" sz="32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576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(0 * 1) + ( 0 * 1)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142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 (0 * 1) + ( 1 * 1) 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9736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 (1 * 1) + ( 0 * 1) 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713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 (1 * 1) + ( 1 * 1) =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226354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CB0DD12-DEBB-5EDF-CD2A-A69C6DE15313}"/>
              </a:ext>
            </a:extLst>
          </p:cNvPr>
          <p:cNvSpPr txBox="1"/>
          <p:nvPr/>
        </p:nvSpPr>
        <p:spPr>
          <a:xfrm>
            <a:off x="361122" y="1331635"/>
            <a:ext cx="2725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Layer 1 Computations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AF37FAC-7A20-ACDF-BFDF-4AAABA755B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4647287"/>
                  </p:ext>
                </p:extLst>
              </p:nvPr>
            </p:nvGraphicFramePr>
            <p:xfrm>
              <a:off x="8207514" y="2756409"/>
              <a:ext cx="3722755" cy="212401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0268">
                      <a:extLst>
                        <a:ext uri="{9D8B030D-6E8A-4147-A177-3AD203B41FA5}">
                          <a16:colId xmlns:a16="http://schemas.microsoft.com/office/drawing/2014/main" val="175685122"/>
                        </a:ext>
                      </a:extLst>
                    </a:gridCol>
                    <a:gridCol w="1002660">
                      <a:extLst>
                        <a:ext uri="{9D8B030D-6E8A-4147-A177-3AD203B41FA5}">
                          <a16:colId xmlns:a16="http://schemas.microsoft.com/office/drawing/2014/main" val="3508664021"/>
                        </a:ext>
                      </a:extLst>
                    </a:gridCol>
                    <a:gridCol w="1969827">
                      <a:extLst>
                        <a:ext uri="{9D8B030D-6E8A-4147-A177-3AD203B41FA5}">
                          <a16:colId xmlns:a16="http://schemas.microsoft.com/office/drawing/2014/main" val="15746010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Output</a:t>
                          </a:r>
                        </a:p>
                        <a:p>
                          <a:pPr algn="ctr"/>
                          <a:r>
                            <a:rPr lang="en-IN" sz="1800" b="1" kern="1200" noProof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x1  AND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IN" sz="1800" b="1" i="1" kern="1200" noProof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800" b="1" kern="1200" noProof="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IN" sz="1800" b="1" kern="1200" noProof="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e>
                              </m:acc>
                            </m:oMath>
                          </a14:m>
                          <a:endParaRPr lang="en-IN" sz="18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5233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48999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794689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640557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70051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AF37FAC-7A20-ACDF-BFDF-4AAABA755B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4647287"/>
                  </p:ext>
                </p:extLst>
              </p:nvPr>
            </p:nvGraphicFramePr>
            <p:xfrm>
              <a:off x="8207514" y="2756409"/>
              <a:ext cx="3722755" cy="212401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0268">
                      <a:extLst>
                        <a:ext uri="{9D8B030D-6E8A-4147-A177-3AD203B41FA5}">
                          <a16:colId xmlns:a16="http://schemas.microsoft.com/office/drawing/2014/main" val="175685122"/>
                        </a:ext>
                      </a:extLst>
                    </a:gridCol>
                    <a:gridCol w="1002660">
                      <a:extLst>
                        <a:ext uri="{9D8B030D-6E8A-4147-A177-3AD203B41FA5}">
                          <a16:colId xmlns:a16="http://schemas.microsoft.com/office/drawing/2014/main" val="3508664021"/>
                        </a:ext>
                      </a:extLst>
                    </a:gridCol>
                    <a:gridCol w="1969827">
                      <a:extLst>
                        <a:ext uri="{9D8B030D-6E8A-4147-A177-3AD203B41FA5}">
                          <a16:colId xmlns:a16="http://schemas.microsoft.com/office/drawing/2014/main" val="1574601099"/>
                        </a:ext>
                      </a:extLst>
                    </a:gridCol>
                  </a:tblGrid>
                  <a:tr h="6406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9198" t="-4762" r="-617" b="-24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5233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48999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794689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640557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700514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28EF137-368B-30DD-FE88-A6869C75D357}"/>
              </a:ext>
            </a:extLst>
          </p:cNvPr>
          <p:cNvSpPr txBox="1"/>
          <p:nvPr/>
        </p:nvSpPr>
        <p:spPr>
          <a:xfrm>
            <a:off x="7352507" y="3407039"/>
            <a:ext cx="5830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29C387-EB06-AED2-83EC-43ED4D3F175D}"/>
              </a:ext>
            </a:extLst>
          </p:cNvPr>
          <p:cNvSpPr txBox="1"/>
          <p:nvPr/>
        </p:nvSpPr>
        <p:spPr>
          <a:xfrm>
            <a:off x="7444961" y="4588033"/>
            <a:ext cx="5830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3D8F13-CA5D-CCA0-EB16-C7A739BB15EE}"/>
              </a:ext>
            </a:extLst>
          </p:cNvPr>
          <p:cNvSpPr txBox="1"/>
          <p:nvPr/>
        </p:nvSpPr>
        <p:spPr>
          <a:xfrm rot="1081659">
            <a:off x="7364517" y="2865442"/>
            <a:ext cx="559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29B9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en-IN" sz="3600" dirty="0">
              <a:solidFill>
                <a:srgbClr val="29B95C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DB72D8-2C4A-A7F0-B672-E4B8E237067C}"/>
              </a:ext>
            </a:extLst>
          </p:cNvPr>
          <p:cNvSpPr txBox="1"/>
          <p:nvPr/>
        </p:nvSpPr>
        <p:spPr>
          <a:xfrm rot="1081659">
            <a:off x="7364517" y="3966758"/>
            <a:ext cx="559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29B9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en-IN" sz="3600" dirty="0">
              <a:solidFill>
                <a:srgbClr val="29B95C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CF1E47-B89B-B205-A357-3224E623E35C}"/>
              </a:ext>
            </a:extLst>
          </p:cNvPr>
          <p:cNvSpPr txBox="1"/>
          <p:nvPr/>
        </p:nvSpPr>
        <p:spPr>
          <a:xfrm>
            <a:off x="3635237" y="5800211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But no Threshold Value can be decided…</a:t>
            </a:r>
          </a:p>
          <a:p>
            <a:endParaRPr lang="en-IN" b="1" dirty="0">
              <a:solidFill>
                <a:prstClr val="black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Hence weights need to be adjusted.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2A327A-D1A6-5DA0-041A-F8FC8366D797}"/>
              </a:ext>
            </a:extLst>
          </p:cNvPr>
          <p:cNvSpPr txBox="1"/>
          <p:nvPr/>
        </p:nvSpPr>
        <p:spPr>
          <a:xfrm>
            <a:off x="3216965" y="1228675"/>
            <a:ext cx="53174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Z</a:t>
            </a:r>
            <a:r>
              <a:rPr lang="en-IN" sz="3200" b="1" baseline="-25000" dirty="0"/>
              <a:t>1</a:t>
            </a:r>
            <a:r>
              <a:rPr lang="en-IN" sz="3200" b="1" dirty="0"/>
              <a:t>=  </a:t>
            </a:r>
            <a:r>
              <a:rPr kumimoji="0" lang="en-I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0" lang="en-IN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I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* w</a:t>
            </a:r>
            <a:r>
              <a:rPr kumimoji="0" lang="en-IN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11</a:t>
            </a:r>
            <a:r>
              <a:rPr kumimoji="0" lang="en-IN" sz="3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+ </a:t>
            </a:r>
            <a:r>
              <a:rPr kumimoji="0" lang="en-I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0" lang="en-IN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 </a:t>
            </a:r>
            <a:r>
              <a:rPr kumimoji="0" lang="en-IN" sz="3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 w</a:t>
            </a:r>
            <a:r>
              <a:rPr kumimoji="0" lang="en-IN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en-IN" sz="2000" b="1" baseline="-25000" dirty="0"/>
          </a:p>
        </p:txBody>
      </p:sp>
    </p:spTree>
    <p:extLst>
      <p:ext uri="{BB962C8B-B14F-4D97-AF65-F5344CB8AC3E}">
        <p14:creationId xmlns:p14="http://schemas.microsoft.com/office/powerpoint/2010/main" val="2808165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47664-E6FD-E1D8-3ECD-2323972D8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22" y="225978"/>
            <a:ext cx="2252870" cy="549275"/>
          </a:xfrm>
        </p:spPr>
        <p:txBody>
          <a:bodyPr>
            <a:normAutofit fontScale="90000"/>
          </a:bodyPr>
          <a:lstStyle/>
          <a:p>
            <a:r>
              <a:rPr lang="en-IN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CASE - II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88E85F2-94E1-9F3E-77C6-328A1754E40B}"/>
              </a:ext>
            </a:extLst>
          </p:cNvPr>
          <p:cNvSpPr txBox="1">
            <a:spLocks/>
          </p:cNvSpPr>
          <p:nvPr/>
        </p:nvSpPr>
        <p:spPr>
          <a:xfrm>
            <a:off x="3216965" y="225978"/>
            <a:ext cx="8362122" cy="827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Assuming w</a:t>
            </a:r>
            <a:r>
              <a:rPr kumimoji="0" lang="en-IN" sz="3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11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 1      w</a:t>
            </a:r>
            <a:r>
              <a:rPr kumimoji="0" lang="en-IN" sz="3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21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 -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2322AEE-DE0D-8F96-A2FF-ECBD783AD7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588057"/>
              </p:ext>
            </p:extLst>
          </p:nvPr>
        </p:nvGraphicFramePr>
        <p:xfrm>
          <a:off x="501375" y="2257349"/>
          <a:ext cx="6764130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8338">
                  <a:extLst>
                    <a:ext uri="{9D8B030D-6E8A-4147-A177-3AD203B41FA5}">
                      <a16:colId xmlns:a16="http://schemas.microsoft.com/office/drawing/2014/main" val="508131469"/>
                    </a:ext>
                  </a:extLst>
                </a:gridCol>
                <a:gridCol w="1202635">
                  <a:extLst>
                    <a:ext uri="{9D8B030D-6E8A-4147-A177-3AD203B41FA5}">
                      <a16:colId xmlns:a16="http://schemas.microsoft.com/office/drawing/2014/main" val="398427118"/>
                    </a:ext>
                  </a:extLst>
                </a:gridCol>
                <a:gridCol w="4383157">
                  <a:extLst>
                    <a:ext uri="{9D8B030D-6E8A-4147-A177-3AD203B41FA5}">
                      <a16:colId xmlns:a16="http://schemas.microsoft.com/office/drawing/2014/main" val="37985313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32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32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IN" sz="32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576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(0 * 1) + ( 0 * -1)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142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 (0 * 1) + ( 1 * -1) = 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9736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 (1 * 1) + ( 0 * -1) 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713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 (1 * 1) + ( 1 * -1)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226354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CB0DD12-DEBB-5EDF-CD2A-A69C6DE15313}"/>
              </a:ext>
            </a:extLst>
          </p:cNvPr>
          <p:cNvSpPr txBox="1"/>
          <p:nvPr/>
        </p:nvSpPr>
        <p:spPr>
          <a:xfrm>
            <a:off x="361122" y="1331635"/>
            <a:ext cx="2725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Layer 1 Computations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AF37FAC-7A20-ACDF-BFDF-4AAABA755B7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207514" y="2756409"/>
              <a:ext cx="3722755" cy="212401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0268">
                      <a:extLst>
                        <a:ext uri="{9D8B030D-6E8A-4147-A177-3AD203B41FA5}">
                          <a16:colId xmlns:a16="http://schemas.microsoft.com/office/drawing/2014/main" val="175685122"/>
                        </a:ext>
                      </a:extLst>
                    </a:gridCol>
                    <a:gridCol w="1002660">
                      <a:extLst>
                        <a:ext uri="{9D8B030D-6E8A-4147-A177-3AD203B41FA5}">
                          <a16:colId xmlns:a16="http://schemas.microsoft.com/office/drawing/2014/main" val="3508664021"/>
                        </a:ext>
                      </a:extLst>
                    </a:gridCol>
                    <a:gridCol w="1969827">
                      <a:extLst>
                        <a:ext uri="{9D8B030D-6E8A-4147-A177-3AD203B41FA5}">
                          <a16:colId xmlns:a16="http://schemas.microsoft.com/office/drawing/2014/main" val="15746010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Output</a:t>
                          </a:r>
                        </a:p>
                        <a:p>
                          <a:pPr algn="ctr"/>
                          <a:r>
                            <a:rPr lang="en-IN" sz="1800" b="1" kern="1200" noProof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x1  AND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IN" sz="1800" b="1" i="1" kern="1200" noProof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800" b="1" kern="1200" noProof="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IN" sz="1800" b="1" kern="1200" noProof="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e>
                              </m:acc>
                            </m:oMath>
                          </a14:m>
                          <a:endParaRPr lang="en-IN" sz="18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5233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48999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794689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640557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70051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AF37FAC-7A20-ACDF-BFDF-4AAABA755B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4647287"/>
                  </p:ext>
                </p:extLst>
              </p:nvPr>
            </p:nvGraphicFramePr>
            <p:xfrm>
              <a:off x="8207514" y="2756409"/>
              <a:ext cx="3722755" cy="212401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0268">
                      <a:extLst>
                        <a:ext uri="{9D8B030D-6E8A-4147-A177-3AD203B41FA5}">
                          <a16:colId xmlns:a16="http://schemas.microsoft.com/office/drawing/2014/main" val="175685122"/>
                        </a:ext>
                      </a:extLst>
                    </a:gridCol>
                    <a:gridCol w="1002660">
                      <a:extLst>
                        <a:ext uri="{9D8B030D-6E8A-4147-A177-3AD203B41FA5}">
                          <a16:colId xmlns:a16="http://schemas.microsoft.com/office/drawing/2014/main" val="3508664021"/>
                        </a:ext>
                      </a:extLst>
                    </a:gridCol>
                    <a:gridCol w="1969827">
                      <a:extLst>
                        <a:ext uri="{9D8B030D-6E8A-4147-A177-3AD203B41FA5}">
                          <a16:colId xmlns:a16="http://schemas.microsoft.com/office/drawing/2014/main" val="1574601099"/>
                        </a:ext>
                      </a:extLst>
                    </a:gridCol>
                  </a:tblGrid>
                  <a:tr h="6406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9198" t="-4762" r="-617" b="-24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5233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48999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794689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640557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700514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B3D8F13-CA5D-CCA0-EB16-C7A739BB15EE}"/>
              </a:ext>
            </a:extLst>
          </p:cNvPr>
          <p:cNvSpPr txBox="1"/>
          <p:nvPr/>
        </p:nvSpPr>
        <p:spPr>
          <a:xfrm rot="1081659">
            <a:off x="7364517" y="2865442"/>
            <a:ext cx="559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srgbClr val="29B95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√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29B95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DB72D8-2C4A-A7F0-B672-E4B8E237067C}"/>
              </a:ext>
            </a:extLst>
          </p:cNvPr>
          <p:cNvSpPr txBox="1"/>
          <p:nvPr/>
        </p:nvSpPr>
        <p:spPr>
          <a:xfrm rot="1081659">
            <a:off x="7364517" y="3966758"/>
            <a:ext cx="559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srgbClr val="29B95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√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29B95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CF1E47-B89B-B205-A357-3224E623E35C}"/>
              </a:ext>
            </a:extLst>
          </p:cNvPr>
          <p:cNvSpPr txBox="1"/>
          <p:nvPr/>
        </p:nvSpPr>
        <p:spPr>
          <a:xfrm>
            <a:off x="5120654" y="5535292"/>
            <a:ext cx="28892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   1    if Z</a:t>
            </a:r>
            <a:r>
              <a:rPr kumimoji="0" lang="en-IN" sz="2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&gt;=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0    if Z</a:t>
            </a:r>
            <a:r>
              <a:rPr lang="en-IN" sz="2800" b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1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2A327A-D1A6-5DA0-041A-F8FC8366D797}"/>
              </a:ext>
            </a:extLst>
          </p:cNvPr>
          <p:cNvSpPr txBox="1"/>
          <p:nvPr/>
        </p:nvSpPr>
        <p:spPr>
          <a:xfrm>
            <a:off x="3216965" y="1228675"/>
            <a:ext cx="53174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  <a:r>
              <a:rPr kumimoji="0" lang="en-IN" sz="3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 </a:t>
            </a:r>
            <a:r>
              <a:rPr kumimoji="0" lang="en-I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0" lang="en-IN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I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* w</a:t>
            </a:r>
            <a:r>
              <a:rPr kumimoji="0" lang="en-IN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11</a:t>
            </a:r>
            <a:r>
              <a:rPr kumimoji="0" lang="en-I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+ x</a:t>
            </a:r>
            <a:r>
              <a:rPr kumimoji="0" lang="en-IN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 </a:t>
            </a:r>
            <a:r>
              <a:rPr kumimoji="0" lang="en-I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 w</a:t>
            </a:r>
            <a:r>
              <a:rPr kumimoji="0" lang="en-IN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21</a:t>
            </a:r>
            <a:endParaRPr kumimoji="0" lang="en-IN" sz="20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ADB914-6F51-2AE7-092A-FB7DAA818005}"/>
              </a:ext>
            </a:extLst>
          </p:cNvPr>
          <p:cNvSpPr txBox="1"/>
          <p:nvPr/>
        </p:nvSpPr>
        <p:spPr>
          <a:xfrm rot="1081659">
            <a:off x="7346341" y="3382974"/>
            <a:ext cx="559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srgbClr val="29B95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√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29B95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26AAA5-DDEA-C345-DF37-6F182FD503AE}"/>
              </a:ext>
            </a:extLst>
          </p:cNvPr>
          <p:cNvSpPr txBox="1"/>
          <p:nvPr/>
        </p:nvSpPr>
        <p:spPr>
          <a:xfrm rot="1081659">
            <a:off x="7377241" y="4484289"/>
            <a:ext cx="559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srgbClr val="29B95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√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29B95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1194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47664-E6FD-E1D8-3ECD-2323972D8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22" y="225978"/>
            <a:ext cx="2252870" cy="549275"/>
          </a:xfrm>
        </p:spPr>
        <p:txBody>
          <a:bodyPr>
            <a:normAutofit fontScale="90000"/>
          </a:bodyPr>
          <a:lstStyle/>
          <a:p>
            <a:r>
              <a:rPr lang="en-IN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CASE - II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88E85F2-94E1-9F3E-77C6-328A1754E40B}"/>
              </a:ext>
            </a:extLst>
          </p:cNvPr>
          <p:cNvSpPr txBox="1">
            <a:spLocks/>
          </p:cNvSpPr>
          <p:nvPr/>
        </p:nvSpPr>
        <p:spPr>
          <a:xfrm>
            <a:off x="3216965" y="225978"/>
            <a:ext cx="8362122" cy="827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Assuming w</a:t>
            </a:r>
            <a:r>
              <a:rPr kumimoji="0" lang="en-IN" sz="3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12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 -1      w</a:t>
            </a:r>
            <a:r>
              <a:rPr kumimoji="0" lang="en-IN" sz="3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22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 1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2322AEE-DE0D-8F96-A2FF-ECBD783AD7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34541"/>
              </p:ext>
            </p:extLst>
          </p:nvPr>
        </p:nvGraphicFramePr>
        <p:xfrm>
          <a:off x="501375" y="2257349"/>
          <a:ext cx="6764130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8338">
                  <a:extLst>
                    <a:ext uri="{9D8B030D-6E8A-4147-A177-3AD203B41FA5}">
                      <a16:colId xmlns:a16="http://schemas.microsoft.com/office/drawing/2014/main" val="508131469"/>
                    </a:ext>
                  </a:extLst>
                </a:gridCol>
                <a:gridCol w="1202635">
                  <a:extLst>
                    <a:ext uri="{9D8B030D-6E8A-4147-A177-3AD203B41FA5}">
                      <a16:colId xmlns:a16="http://schemas.microsoft.com/office/drawing/2014/main" val="398427118"/>
                    </a:ext>
                  </a:extLst>
                </a:gridCol>
                <a:gridCol w="4383157">
                  <a:extLst>
                    <a:ext uri="{9D8B030D-6E8A-4147-A177-3AD203B41FA5}">
                      <a16:colId xmlns:a16="http://schemas.microsoft.com/office/drawing/2014/main" val="37985313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32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32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IN" sz="32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576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(0 * -1) + ( 0 * 1)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142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 (0 * -1) + ( 1 * 1) 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9736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 (1 * -1) + ( 0 * 1) = 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713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 (1 * -1) + ( 1 * 1)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226354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CB0DD12-DEBB-5EDF-CD2A-A69C6DE15313}"/>
              </a:ext>
            </a:extLst>
          </p:cNvPr>
          <p:cNvSpPr txBox="1"/>
          <p:nvPr/>
        </p:nvSpPr>
        <p:spPr>
          <a:xfrm>
            <a:off x="361122" y="1331635"/>
            <a:ext cx="2725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Layer 1 Computations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3D8F13-CA5D-CCA0-EB16-C7A739BB15EE}"/>
              </a:ext>
            </a:extLst>
          </p:cNvPr>
          <p:cNvSpPr txBox="1"/>
          <p:nvPr/>
        </p:nvSpPr>
        <p:spPr>
          <a:xfrm rot="1081659">
            <a:off x="7364517" y="2865442"/>
            <a:ext cx="559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srgbClr val="29B95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√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29B95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DB72D8-2C4A-A7F0-B672-E4B8E237067C}"/>
              </a:ext>
            </a:extLst>
          </p:cNvPr>
          <p:cNvSpPr txBox="1"/>
          <p:nvPr/>
        </p:nvSpPr>
        <p:spPr>
          <a:xfrm rot="1081659">
            <a:off x="7364517" y="3966758"/>
            <a:ext cx="559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srgbClr val="29B95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√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29B95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CF1E47-B89B-B205-A357-3224E623E35C}"/>
              </a:ext>
            </a:extLst>
          </p:cNvPr>
          <p:cNvSpPr txBox="1"/>
          <p:nvPr/>
        </p:nvSpPr>
        <p:spPr>
          <a:xfrm>
            <a:off x="5120654" y="5535292"/>
            <a:ext cx="28892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   1    if Z</a:t>
            </a:r>
            <a:r>
              <a:rPr kumimoji="0" lang="en-IN" sz="2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&gt;=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   0    if Z</a:t>
            </a:r>
            <a:r>
              <a:rPr kumimoji="0" lang="en-IN" sz="2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&lt; 1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ADB914-6F51-2AE7-092A-FB7DAA818005}"/>
              </a:ext>
            </a:extLst>
          </p:cNvPr>
          <p:cNvSpPr txBox="1"/>
          <p:nvPr/>
        </p:nvSpPr>
        <p:spPr>
          <a:xfrm rot="1081659">
            <a:off x="7346341" y="3382974"/>
            <a:ext cx="559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srgbClr val="29B95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√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29B95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26AAA5-DDEA-C345-DF37-6F182FD503AE}"/>
              </a:ext>
            </a:extLst>
          </p:cNvPr>
          <p:cNvSpPr txBox="1"/>
          <p:nvPr/>
        </p:nvSpPr>
        <p:spPr>
          <a:xfrm rot="1081659">
            <a:off x="7377241" y="4484289"/>
            <a:ext cx="559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srgbClr val="29B95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√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29B95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BE9E4E-9ACA-3C94-9218-0D534EA31594}"/>
              </a:ext>
            </a:extLst>
          </p:cNvPr>
          <p:cNvSpPr txBox="1"/>
          <p:nvPr/>
        </p:nvSpPr>
        <p:spPr>
          <a:xfrm>
            <a:off x="3437281" y="1112725"/>
            <a:ext cx="53174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Z</a:t>
            </a:r>
            <a:r>
              <a:rPr lang="en-IN" sz="3200" b="1" baseline="-25000" dirty="0"/>
              <a:t>2</a:t>
            </a:r>
            <a:r>
              <a:rPr lang="en-IN" sz="3200" b="1" dirty="0"/>
              <a:t>= </a:t>
            </a:r>
            <a:r>
              <a:rPr lang="en-IN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36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kumimoji="0" lang="en-I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 w</a:t>
            </a:r>
            <a:r>
              <a:rPr kumimoji="0" lang="en-IN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21</a:t>
            </a:r>
            <a:r>
              <a:rPr kumimoji="0" lang="en-IN" sz="3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+ x</a:t>
            </a:r>
            <a:r>
              <a:rPr kumimoji="0" lang="en-IN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en-IN" sz="3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* w</a:t>
            </a:r>
            <a:r>
              <a:rPr kumimoji="0" lang="en-IN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en-IN" sz="2000" b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FD335536-1721-314E-B504-027C6EE37D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3986066"/>
                  </p:ext>
                </p:extLst>
              </p:nvPr>
            </p:nvGraphicFramePr>
            <p:xfrm>
              <a:off x="8128001" y="2522953"/>
              <a:ext cx="3722755" cy="211893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0268">
                      <a:extLst>
                        <a:ext uri="{9D8B030D-6E8A-4147-A177-3AD203B41FA5}">
                          <a16:colId xmlns:a16="http://schemas.microsoft.com/office/drawing/2014/main" val="175685122"/>
                        </a:ext>
                      </a:extLst>
                    </a:gridCol>
                    <a:gridCol w="1002660">
                      <a:extLst>
                        <a:ext uri="{9D8B030D-6E8A-4147-A177-3AD203B41FA5}">
                          <a16:colId xmlns:a16="http://schemas.microsoft.com/office/drawing/2014/main" val="3508664021"/>
                        </a:ext>
                      </a:extLst>
                    </a:gridCol>
                    <a:gridCol w="1969827">
                      <a:extLst>
                        <a:ext uri="{9D8B030D-6E8A-4147-A177-3AD203B41FA5}">
                          <a16:colId xmlns:a16="http://schemas.microsoft.com/office/drawing/2014/main" val="15746010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Output</a:t>
                          </a: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IN" sz="1800" b="1" i="1" kern="1200" noProof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800" b="1" kern="1200" noProof="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IN" sz="1800" b="1" kern="1200" noProof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acc>
                            </m:oMath>
                          </a14:m>
                          <a:r>
                            <a:rPr lang="en-IN" sz="1800" b="1" kern="1200" noProof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AND x2</a:t>
                          </a:r>
                          <a:endParaRPr lang="en-IN" sz="18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5233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48999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794689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64055726"/>
                      </a:ext>
                    </a:extLst>
                  </a:tr>
                  <a:tr h="2313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70051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FD335536-1721-314E-B504-027C6EE37D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3986066"/>
                  </p:ext>
                </p:extLst>
              </p:nvPr>
            </p:nvGraphicFramePr>
            <p:xfrm>
              <a:off x="8128001" y="2522953"/>
              <a:ext cx="3722755" cy="211893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0268">
                      <a:extLst>
                        <a:ext uri="{9D8B030D-6E8A-4147-A177-3AD203B41FA5}">
                          <a16:colId xmlns:a16="http://schemas.microsoft.com/office/drawing/2014/main" val="175685122"/>
                        </a:ext>
                      </a:extLst>
                    </a:gridCol>
                    <a:gridCol w="1002660">
                      <a:extLst>
                        <a:ext uri="{9D8B030D-6E8A-4147-A177-3AD203B41FA5}">
                          <a16:colId xmlns:a16="http://schemas.microsoft.com/office/drawing/2014/main" val="3508664021"/>
                        </a:ext>
                      </a:extLst>
                    </a:gridCol>
                    <a:gridCol w="1969827">
                      <a:extLst>
                        <a:ext uri="{9D8B030D-6E8A-4147-A177-3AD203B41FA5}">
                          <a16:colId xmlns:a16="http://schemas.microsoft.com/office/drawing/2014/main" val="1574601099"/>
                        </a:ext>
                      </a:extLst>
                    </a:gridCol>
                  </a:tblGrid>
                  <a:tr h="6406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9198" t="-4717" r="-617" b="-2433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5233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48999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794689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6405572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70051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3704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47664-E6FD-E1D8-3ECD-2323972D8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22" y="225978"/>
            <a:ext cx="2252870" cy="549275"/>
          </a:xfrm>
        </p:spPr>
        <p:txBody>
          <a:bodyPr>
            <a:normAutofit fontScale="90000"/>
          </a:bodyPr>
          <a:lstStyle/>
          <a:p>
            <a:r>
              <a:rPr lang="en-IN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CASE - 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88E85F2-94E1-9F3E-77C6-328A1754E40B}"/>
              </a:ext>
            </a:extLst>
          </p:cNvPr>
          <p:cNvSpPr txBox="1">
            <a:spLocks/>
          </p:cNvSpPr>
          <p:nvPr/>
        </p:nvSpPr>
        <p:spPr>
          <a:xfrm>
            <a:off x="3216965" y="225978"/>
            <a:ext cx="8362122" cy="827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Assuming w</a:t>
            </a:r>
            <a:r>
              <a:rPr lang="en-IN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z1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w</a:t>
            </a:r>
            <a:r>
              <a:rPr lang="en-IN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z2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IN" sz="3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2322AEE-DE0D-8F96-A2FF-ECBD783AD7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303522"/>
              </p:ext>
            </p:extLst>
          </p:nvPr>
        </p:nvGraphicFramePr>
        <p:xfrm>
          <a:off x="600766" y="3204449"/>
          <a:ext cx="6764130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9982">
                  <a:extLst>
                    <a:ext uri="{9D8B030D-6E8A-4147-A177-3AD203B41FA5}">
                      <a16:colId xmlns:a16="http://schemas.microsoft.com/office/drawing/2014/main" val="508131469"/>
                    </a:ext>
                  </a:extLst>
                </a:gridCol>
                <a:gridCol w="1043609">
                  <a:extLst>
                    <a:ext uri="{9D8B030D-6E8A-4147-A177-3AD203B41FA5}">
                      <a16:colId xmlns:a16="http://schemas.microsoft.com/office/drawing/2014/main" val="398427118"/>
                    </a:ext>
                  </a:extLst>
                </a:gridCol>
                <a:gridCol w="4810539">
                  <a:extLst>
                    <a:ext uri="{9D8B030D-6E8A-4147-A177-3AD203B41FA5}">
                      <a16:colId xmlns:a16="http://schemas.microsoft.com/office/drawing/2014/main" val="37985313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IN" sz="32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IN" sz="32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IN" sz="32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576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(0 * 1) + ( 0 * 1)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142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 (0 * 1) + ( 1 * 1) 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9736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 (1 * 1) + ( 0 * 1) 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713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 (0 * 1) + ( 0 * 1)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226354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CB0DD12-DEBB-5EDF-CD2A-A69C6DE15313}"/>
              </a:ext>
            </a:extLst>
          </p:cNvPr>
          <p:cNvSpPr txBox="1"/>
          <p:nvPr/>
        </p:nvSpPr>
        <p:spPr>
          <a:xfrm>
            <a:off x="361122" y="1331635"/>
            <a:ext cx="2725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2 Computations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3BA25-8856-6FF4-0EBA-9E5F27642354}"/>
              </a:ext>
            </a:extLst>
          </p:cNvPr>
          <p:cNvSpPr txBox="1"/>
          <p:nvPr/>
        </p:nvSpPr>
        <p:spPr>
          <a:xfrm>
            <a:off x="2872088" y="1219443"/>
            <a:ext cx="46021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IN" sz="24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24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 </a:t>
            </a:r>
            <a:r>
              <a:rPr lang="en-IN" sz="2800" b="1" dirty="0"/>
              <a:t>= Z</a:t>
            </a:r>
            <a:r>
              <a:rPr lang="en-IN" sz="2800" b="1" baseline="-25000" dirty="0"/>
              <a:t>1</a:t>
            </a:r>
            <a:r>
              <a:rPr lang="en-IN" sz="2800" b="1" dirty="0"/>
              <a:t> 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 w</a:t>
            </a:r>
            <a:r>
              <a:rPr kumimoji="0" lang="en-IN" sz="3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Z1</a:t>
            </a:r>
            <a:r>
              <a:rPr kumimoji="0" lang="en-IN" sz="32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+ Z</a:t>
            </a:r>
            <a:r>
              <a:rPr kumimoji="0" lang="en-IN" sz="3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en-IN" sz="32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* w</a:t>
            </a:r>
            <a:r>
              <a:rPr kumimoji="0" lang="en-IN" sz="3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Z2</a:t>
            </a:r>
            <a:endParaRPr lang="en-IN" b="1" baseline="-25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F76AB7-89A7-59E3-4117-C7AE14FDA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99" y="225978"/>
            <a:ext cx="4284469" cy="2808308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CB80856-17B2-20A1-427C-C2EA26BE4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627603"/>
              </p:ext>
            </p:extLst>
          </p:nvPr>
        </p:nvGraphicFramePr>
        <p:xfrm>
          <a:off x="8400930" y="3612321"/>
          <a:ext cx="3240000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17568512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50866402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5746010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23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4899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9468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4055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005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1932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AD3D8-3469-D908-5CE5-8ADA22A5C5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Neuron Modelling for ANN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181056-8DB2-8635-5780-440C7DDF6E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Unit - 1</a:t>
            </a:r>
          </a:p>
        </p:txBody>
      </p:sp>
    </p:spTree>
    <p:extLst>
      <p:ext uri="{BB962C8B-B14F-4D97-AF65-F5344CB8AC3E}">
        <p14:creationId xmlns:p14="http://schemas.microsoft.com/office/powerpoint/2010/main" val="3039170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3AA0B-F90D-D1AB-A698-96A96C51F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General symbol for a neuron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89FF64-8FA3-2A0D-0EDA-85F5086C8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651" y="2112232"/>
            <a:ext cx="6282884" cy="35793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406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551E2-CD66-A070-D3E3-224EEBD71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an Activation Function?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A023F-4633-02F6-6F67-CF0940181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An activation function is a mathematical expression that </a:t>
            </a:r>
            <a:r>
              <a:rPr lang="en-US" b="1" dirty="0">
                <a:solidFill>
                  <a:srgbClr val="FF0000"/>
                </a:solidFill>
              </a:rPr>
              <a:t>calculates the output of a nod</a:t>
            </a:r>
            <a:r>
              <a:rPr lang="en-US" dirty="0"/>
              <a:t>e in an artificial neural network </a:t>
            </a:r>
            <a:r>
              <a:rPr lang="en-US" b="1" dirty="0">
                <a:solidFill>
                  <a:srgbClr val="FF0000"/>
                </a:solidFill>
              </a:rPr>
              <a:t>based on its inputs and their weights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Also known as “Transfer Function”, “Squashing function”.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It </a:t>
            </a:r>
            <a:r>
              <a:rPr lang="en-US" b="1" dirty="0">
                <a:solidFill>
                  <a:srgbClr val="FF0000"/>
                </a:solidFill>
              </a:rPr>
              <a:t>limits the amplitude </a:t>
            </a:r>
            <a:r>
              <a:rPr lang="en-US" dirty="0"/>
              <a:t>range of neuron’s output to a finite value.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3532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9CF30-CC13-67DB-7C6E-7665F253D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do we use Activation Function?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4FCF6-B6FD-2412-4154-33AC629C0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Introduction of non-linearity.</a:t>
            </a:r>
          </a:p>
          <a:p>
            <a:endParaRPr lang="en-IN" sz="3600" dirty="0"/>
          </a:p>
          <a:p>
            <a:r>
              <a:rPr lang="en-IN" sz="3600" dirty="0"/>
              <a:t>Mitigation vanishing or exploding gradients.</a:t>
            </a:r>
          </a:p>
          <a:p>
            <a:endParaRPr lang="en-IN" sz="3600" dirty="0"/>
          </a:p>
          <a:p>
            <a:r>
              <a:rPr lang="en-IN" sz="3600" dirty="0"/>
              <a:t>Enabling decision boundaries.</a:t>
            </a:r>
          </a:p>
        </p:txBody>
      </p:sp>
    </p:spTree>
    <p:extLst>
      <p:ext uri="{BB962C8B-B14F-4D97-AF65-F5344CB8AC3E}">
        <p14:creationId xmlns:p14="http://schemas.microsoft.com/office/powerpoint/2010/main" val="1654897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2E10BC8-B733-9E24-28BE-B61CD9DFA801}"/>
              </a:ext>
            </a:extLst>
          </p:cNvPr>
          <p:cNvSpPr/>
          <p:nvPr/>
        </p:nvSpPr>
        <p:spPr>
          <a:xfrm>
            <a:off x="202026" y="198783"/>
            <a:ext cx="1169576" cy="1088333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8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2800" b="1" dirty="0">
              <a:solidFill>
                <a:sysClr val="windowText" lastClr="000000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24A99D8-BCFA-5B50-90DD-FB45B4F91699}"/>
              </a:ext>
            </a:extLst>
          </p:cNvPr>
          <p:cNvSpPr/>
          <p:nvPr/>
        </p:nvSpPr>
        <p:spPr>
          <a:xfrm>
            <a:off x="202025" y="1948622"/>
            <a:ext cx="1169576" cy="1088333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8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sz="2800" b="1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40361F6-7949-42EC-0802-5B877AD57202}"/>
                  </a:ext>
                </a:extLst>
              </p:cNvPr>
              <p:cNvSpPr/>
              <p:nvPr/>
            </p:nvSpPr>
            <p:spPr>
              <a:xfrm>
                <a:off x="4974371" y="1102450"/>
                <a:ext cx="3146367" cy="2919593"/>
              </a:xfrm>
              <a:prstGeom prst="ellipse">
                <a:avLst/>
              </a:prstGeom>
              <a:solidFill>
                <a:srgbClr val="76E3FF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b="1" dirty="0">
                    <a:solidFill>
                      <a:sysClr val="windowText" lastClr="000000"/>
                    </a:solidFill>
                  </a:rPr>
                  <a:t>f(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28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8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IN" sz="28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IN" sz="28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r>
                          <a:rPr lang="en-IN" sz="28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IN" sz="2800" b="1" dirty="0">
                    <a:solidFill>
                      <a:sysClr val="windowText" lastClr="000000"/>
                    </a:solidFill>
                  </a:rPr>
                  <a:t>w</a:t>
                </a:r>
                <a:r>
                  <a:rPr lang="en-IN" sz="2800" b="1" baseline="-25000" dirty="0">
                    <a:solidFill>
                      <a:sysClr val="windowText" lastClr="000000"/>
                    </a:solidFill>
                  </a:rPr>
                  <a:t>i </a:t>
                </a:r>
                <a:r>
                  <a:rPr kumimoji="0" lang="en-I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x</a:t>
                </a:r>
                <a:r>
                  <a:rPr kumimoji="0" lang="en-IN" sz="2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</a:t>
                </a:r>
                <a:r>
                  <a:rPr lang="en-IN" sz="2800" b="1" baseline="-25000" dirty="0">
                    <a:solidFill>
                      <a:sysClr val="windowText" lastClr="000000"/>
                    </a:solidFill>
                  </a:rPr>
                  <a:t> </a:t>
                </a:r>
                <a:r>
                  <a:rPr lang="en-IN" sz="2800" b="1" dirty="0">
                    <a:solidFill>
                      <a:sysClr val="windowText" lastClr="00000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40361F6-7949-42EC-0802-5B877AD572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4371" y="1102450"/>
                <a:ext cx="3146367" cy="2919593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04F8DF5-6D7B-3A6F-48FA-DFBDA8B67DB4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1371602" y="742950"/>
            <a:ext cx="3572484" cy="1719251"/>
          </a:xfrm>
          <a:prstGeom prst="straightConnector1">
            <a:avLst/>
          </a:prstGeom>
          <a:ln w="28575">
            <a:solidFill>
              <a:srgbClr val="FF66FF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4D4E87-560D-2B9B-BDCB-782F5DDA58A0}"/>
              </a:ext>
            </a:extLst>
          </p:cNvPr>
          <p:cNvCxnSpPr>
            <a:cxnSpLocks/>
          </p:cNvCxnSpPr>
          <p:nvPr/>
        </p:nvCxnSpPr>
        <p:spPr>
          <a:xfrm flipV="1">
            <a:off x="1369191" y="2675775"/>
            <a:ext cx="3574895" cy="1801426"/>
          </a:xfrm>
          <a:prstGeom prst="straightConnector1">
            <a:avLst/>
          </a:prstGeom>
          <a:ln w="28575">
            <a:solidFill>
              <a:srgbClr val="FF7C80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86B36C6-669B-5649-5B34-D60286E0D385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>
            <a:off x="1371601" y="2492789"/>
            <a:ext cx="3602770" cy="69458"/>
          </a:xfrm>
          <a:prstGeom prst="straightConnector1">
            <a:avLst/>
          </a:prstGeom>
          <a:ln w="28575">
            <a:solidFill>
              <a:srgbClr val="FF7C80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859CFA9-2D15-2F36-95A6-472D3DC43178}"/>
              </a:ext>
            </a:extLst>
          </p:cNvPr>
          <p:cNvSpPr txBox="1"/>
          <p:nvPr/>
        </p:nvSpPr>
        <p:spPr>
          <a:xfrm>
            <a:off x="2282570" y="917784"/>
            <a:ext cx="611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w1</a:t>
            </a:r>
            <a:endParaRPr lang="en-IN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413310-FE52-B187-9399-7CC3829DE54A}"/>
              </a:ext>
            </a:extLst>
          </p:cNvPr>
          <p:cNvSpPr txBox="1"/>
          <p:nvPr/>
        </p:nvSpPr>
        <p:spPr>
          <a:xfrm>
            <a:off x="1828004" y="2206378"/>
            <a:ext cx="611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w2</a:t>
            </a:r>
            <a:endParaRPr lang="en-IN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C15FF7-B127-26F7-1DF8-C47AEDD46A95}"/>
              </a:ext>
            </a:extLst>
          </p:cNvPr>
          <p:cNvSpPr txBox="1"/>
          <p:nvPr/>
        </p:nvSpPr>
        <p:spPr>
          <a:xfrm rot="20054028">
            <a:off x="2130685" y="3506890"/>
            <a:ext cx="611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wn</a:t>
            </a:r>
            <a:endParaRPr lang="en-IN" b="1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C28759E-77BF-982F-1523-0F6680C1C4DF}"/>
              </a:ext>
            </a:extLst>
          </p:cNvPr>
          <p:cNvSpPr/>
          <p:nvPr/>
        </p:nvSpPr>
        <p:spPr>
          <a:xfrm>
            <a:off x="152768" y="3933034"/>
            <a:ext cx="1186138" cy="1088333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800" b="1" baseline="-250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IN" sz="2800" b="1" dirty="0">
              <a:solidFill>
                <a:sysClr val="windowText" lastClr="00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6E923B-ACC0-6391-3979-E219F92365AE}"/>
              </a:ext>
            </a:extLst>
          </p:cNvPr>
          <p:cNvSpPr txBox="1"/>
          <p:nvPr/>
        </p:nvSpPr>
        <p:spPr>
          <a:xfrm>
            <a:off x="8442495" y="1896646"/>
            <a:ext cx="12945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3600" b="1" baseline="-250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en-IN" sz="3600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446D1A4-76C8-C7DD-324D-13373B0AD830}"/>
              </a:ext>
            </a:extLst>
          </p:cNvPr>
          <p:cNvCxnSpPr>
            <a:cxnSpLocks/>
          </p:cNvCxnSpPr>
          <p:nvPr/>
        </p:nvCxnSpPr>
        <p:spPr>
          <a:xfrm flipH="1" flipV="1">
            <a:off x="6639339" y="2951922"/>
            <a:ext cx="839858" cy="1620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07E9302-1877-91F3-C7BD-4C7E22AD82FE}"/>
              </a:ext>
            </a:extLst>
          </p:cNvPr>
          <p:cNvSpPr txBox="1"/>
          <p:nvPr/>
        </p:nvSpPr>
        <p:spPr>
          <a:xfrm>
            <a:off x="7581103" y="4248834"/>
            <a:ext cx="20399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 input</a:t>
            </a:r>
          </a:p>
          <a:p>
            <a:r>
              <a:rPr lang="en-IN" sz="36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f(W</a:t>
            </a:r>
            <a:r>
              <a:rPr lang="en-IN" sz="3600" b="1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36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X)</a:t>
            </a:r>
            <a:endParaRPr lang="en-IN" sz="3600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187D35B-49E8-56FE-22AC-E54BC4100E92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8120738" y="2562247"/>
            <a:ext cx="1192227" cy="0"/>
          </a:xfrm>
          <a:prstGeom prst="straightConnector1">
            <a:avLst/>
          </a:prstGeom>
          <a:ln w="28575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6B9D103-85E6-5EBC-B3C4-06C05E1FF4D1}"/>
              </a:ext>
            </a:extLst>
          </p:cNvPr>
          <p:cNvSpPr txBox="1"/>
          <p:nvPr/>
        </p:nvSpPr>
        <p:spPr>
          <a:xfrm>
            <a:off x="8417491" y="367099"/>
            <a:ext cx="35724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 = Activation Function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95522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FB0BD-3A02-E8FE-4E46-9D87AF767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Linear Activation Function</a:t>
            </a:r>
            <a:br>
              <a:rPr lang="en-IN" dirty="0"/>
            </a:br>
            <a:r>
              <a:rPr lang="en-IN" dirty="0"/>
              <a:t>(</a:t>
            </a:r>
            <a:r>
              <a:rPr lang="en-IN" i="1" dirty="0"/>
              <a:t>Identification Function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6D9D9-04E4-180D-EE46-F64842670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82678" cy="4351338"/>
          </a:xfrm>
        </p:spPr>
        <p:txBody>
          <a:bodyPr>
            <a:normAutofit fontScale="92500" lnSpcReduction="20000"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 marL="0" indent="0">
              <a:buNone/>
            </a:pPr>
            <a:r>
              <a:rPr lang="en-IN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f(x) = x   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all x</a:t>
            </a:r>
          </a:p>
          <a:p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when </a:t>
            </a:r>
            <a:r>
              <a:rPr lang="en-IN" sz="3300" dirty="0">
                <a:solidFill>
                  <a:srgbClr val="FF7C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should be same as input signal</a:t>
            </a: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“</a:t>
            </a:r>
            <a:r>
              <a:rPr lang="en-IN" sz="33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 gradient</a:t>
            </a: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for “</a:t>
            </a:r>
            <a:r>
              <a:rPr lang="en-IN" sz="33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sz="33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not squash </a:t>
            </a: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transform the output.</a:t>
            </a: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= (-∞, +∞)</a:t>
            </a:r>
          </a:p>
          <a:p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8076AD-991D-BD84-1A32-A9D038F9F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878" y="2575136"/>
            <a:ext cx="3903481" cy="28523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44499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73590-82A0-441C-5E35-9E3D3B8CA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22" y="358710"/>
            <a:ext cx="4509052" cy="499579"/>
          </a:xfrm>
        </p:spPr>
        <p:txBody>
          <a:bodyPr>
            <a:normAutofit fontScale="90000"/>
          </a:bodyPr>
          <a:lstStyle/>
          <a:p>
            <a:r>
              <a:rPr lang="en-IN" dirty="0"/>
              <a:t>Binary Step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9A39E-925D-054B-29B6-0976187C9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2635"/>
            <a:ext cx="10515600" cy="4974328"/>
          </a:xfrm>
        </p:spPr>
        <p:txBody>
          <a:bodyPr/>
          <a:lstStyle/>
          <a:p>
            <a:r>
              <a:rPr lang="en-IN" dirty="0"/>
              <a:t>Defined as:</a:t>
            </a:r>
          </a:p>
          <a:p>
            <a:pPr marL="0" indent="0">
              <a:buNone/>
            </a:pPr>
            <a:r>
              <a:rPr lang="en-IN" sz="37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kumimoji="0" lang="en-IN" sz="37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f(x) =  1   ≥  Ɵ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37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=  0   &lt;  </a:t>
            </a:r>
            <a:r>
              <a:rPr kumimoji="0" lang="en-IN" sz="37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Ɵ </a:t>
            </a:r>
          </a:p>
          <a:p>
            <a:pPr marL="0" indent="0">
              <a:buNone/>
            </a:pPr>
            <a:endParaRPr kumimoji="0" lang="en-IN" sz="37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function is a “threshold based” activation function.</a:t>
            </a:r>
          </a:p>
          <a:p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for “</a:t>
            </a:r>
            <a:r>
              <a:rPr lang="en-IN" sz="31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= (0,1)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8059A5-4BB8-65FA-F027-072291073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1828" y="1"/>
            <a:ext cx="4870172" cy="265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336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73590-82A0-441C-5E35-9E3D3B8CA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21" y="358710"/>
            <a:ext cx="4870171" cy="499579"/>
          </a:xfrm>
        </p:spPr>
        <p:txBody>
          <a:bodyPr>
            <a:normAutofit fontScale="90000"/>
          </a:bodyPr>
          <a:lstStyle/>
          <a:p>
            <a:r>
              <a:rPr lang="en-IN" dirty="0"/>
              <a:t>Bipolar Step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9A39E-925D-054B-29B6-0976187C9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2635"/>
            <a:ext cx="7083287" cy="4974328"/>
          </a:xfrm>
        </p:spPr>
        <p:txBody>
          <a:bodyPr/>
          <a:lstStyle/>
          <a:p>
            <a:r>
              <a:rPr lang="en-IN" dirty="0"/>
              <a:t>Defined as:</a:t>
            </a:r>
          </a:p>
          <a:p>
            <a:pPr marL="0" indent="0">
              <a:buNone/>
            </a:pPr>
            <a:r>
              <a:rPr lang="en-IN" sz="37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kumimoji="0" lang="en-IN" sz="37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f(x) =  1   ≥  Ɵ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37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=  -1  &lt;  </a:t>
            </a:r>
            <a:r>
              <a:rPr kumimoji="0" lang="en-IN" sz="37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Ɵ </a:t>
            </a:r>
          </a:p>
          <a:p>
            <a:pPr marL="0" indent="0">
              <a:buNone/>
            </a:pPr>
            <a:endParaRPr kumimoji="0" lang="en-IN" sz="37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function is a “threshold based” activation function.</a:t>
            </a:r>
          </a:p>
          <a:p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for “</a:t>
            </a:r>
            <a:r>
              <a:rPr lang="en-IN" sz="31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= (-1 , 1)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90348D-69F6-1F0E-2477-E5A300AF2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100" y="358710"/>
            <a:ext cx="3680779" cy="35664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7974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73590-82A0-441C-5E35-9E3D3B8CA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21" y="358710"/>
            <a:ext cx="4870171" cy="499579"/>
          </a:xfrm>
        </p:spPr>
        <p:txBody>
          <a:bodyPr>
            <a:normAutofit fontScale="90000"/>
          </a:bodyPr>
          <a:lstStyle/>
          <a:p>
            <a:r>
              <a:rPr lang="en-IN" dirty="0"/>
              <a:t>Signum Step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9A39E-925D-054B-29B6-0976187C9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2635"/>
            <a:ext cx="7083287" cy="4974328"/>
          </a:xfrm>
        </p:spPr>
        <p:txBody>
          <a:bodyPr>
            <a:normAutofit lnSpcReduction="10000"/>
          </a:bodyPr>
          <a:lstStyle/>
          <a:p>
            <a:r>
              <a:rPr lang="en-IN" dirty="0"/>
              <a:t>Defined as:</a:t>
            </a:r>
          </a:p>
          <a:p>
            <a:pPr marL="0" indent="0">
              <a:buNone/>
            </a:pPr>
            <a:r>
              <a:rPr lang="en-IN" sz="37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kumimoji="0" lang="en-IN" sz="37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f(x) =  1    </a:t>
            </a:r>
            <a:r>
              <a:rPr kumimoji="0" lang="en-IN" sz="3700" b="1" i="0" u="none" strike="noStrike" kern="1200" cap="none" spc="0" normalizeH="0" baseline="0" noProof="0" dirty="0">
                <a:ln>
                  <a:noFill/>
                </a:ln>
                <a:solidFill>
                  <a:srgbClr val="FF7C8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&gt;  0 </a:t>
            </a:r>
          </a:p>
          <a:p>
            <a:pPr marL="0" indent="0">
              <a:buNone/>
            </a:pPr>
            <a:r>
              <a:rPr kumimoji="0" lang="en-IN" sz="37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=   0   </a:t>
            </a:r>
            <a:r>
              <a:rPr kumimoji="0" lang="en-IN" sz="3700" b="1" i="0" u="none" strike="noStrike" kern="1200" cap="none" spc="0" normalizeH="0" baseline="0" noProof="0" dirty="0">
                <a:ln>
                  <a:noFill/>
                </a:ln>
                <a:solidFill>
                  <a:srgbClr val="FF7C8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0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37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=  -1   </a:t>
            </a:r>
            <a:r>
              <a:rPr lang="en-IN" sz="3700" b="1" dirty="0">
                <a:solidFill>
                  <a:srgbClr val="FF7C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 0</a:t>
            </a:r>
            <a:r>
              <a:rPr kumimoji="0" lang="en-IN" sz="3700" b="1" i="0" u="none" strike="noStrike" kern="1200" cap="none" spc="0" normalizeH="0" baseline="0" noProof="0" dirty="0">
                <a:ln>
                  <a:noFill/>
                </a:ln>
                <a:solidFill>
                  <a:srgbClr val="FF7C8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kumimoji="0" lang="en-IN" sz="37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function is a “threshold based” activation function.</a:t>
            </a:r>
          </a:p>
          <a:p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for “</a:t>
            </a:r>
            <a:r>
              <a:rPr lang="en-IN" sz="31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= (-1 , 1)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90348D-69F6-1F0E-2477-E5A300AF2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100" y="358710"/>
            <a:ext cx="3680779" cy="35664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1412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3EB8B4-407C-85E3-3FD9-FED6B7734BDD}"/>
              </a:ext>
            </a:extLst>
          </p:cNvPr>
          <p:cNvSpPr/>
          <p:nvPr/>
        </p:nvSpPr>
        <p:spPr>
          <a:xfrm>
            <a:off x="4303642" y="149087"/>
            <a:ext cx="3349488" cy="56653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tx1"/>
                </a:solidFill>
              </a:rPr>
              <a:t>Sigmoid Function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127EEB-AC9E-F627-EDBF-B1FD1864247E}"/>
              </a:ext>
            </a:extLst>
          </p:cNvPr>
          <p:cNvSpPr/>
          <p:nvPr/>
        </p:nvSpPr>
        <p:spPr>
          <a:xfrm>
            <a:off x="1252330" y="1444487"/>
            <a:ext cx="4726056" cy="56653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tx1"/>
                </a:solidFill>
              </a:rPr>
              <a:t>Binary Sigmoid Function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88FEC2-744B-E245-D4DE-47E82C813BF4}"/>
              </a:ext>
            </a:extLst>
          </p:cNvPr>
          <p:cNvSpPr/>
          <p:nvPr/>
        </p:nvSpPr>
        <p:spPr>
          <a:xfrm>
            <a:off x="6344476" y="1444487"/>
            <a:ext cx="4726056" cy="56653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tx1"/>
                </a:solidFill>
              </a:rPr>
              <a:t>Bipolar Sigmoid Function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9567FD2-81F4-8F33-A528-44227018F2D5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3615358" y="715617"/>
            <a:ext cx="2363028" cy="7288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5CF5FC9-9CE0-A006-7EA7-FB0119F9E984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5978386" y="715617"/>
            <a:ext cx="2729118" cy="7288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65F532B-20C4-74E2-94D1-0F3DED7D8749}"/>
              </a:ext>
            </a:extLst>
          </p:cNvPr>
          <p:cNvSpPr txBox="1"/>
          <p:nvPr/>
        </p:nvSpPr>
        <p:spPr>
          <a:xfrm>
            <a:off x="1418182" y="107515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/ Unipolar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566A7E-C788-5E9F-86D7-F7822B903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7519" y="2173357"/>
            <a:ext cx="3192246" cy="12960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00CDE1C-C70E-4873-2F02-8CDB12C42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487" y="4057297"/>
            <a:ext cx="3762278" cy="26781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EDDE03C-C36D-4594-4115-2D7C8B4B0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471" y="3859520"/>
            <a:ext cx="3762278" cy="26781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430F57B-AC0D-FCB2-8EC9-92F0E6055E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30" y="2072655"/>
            <a:ext cx="2488578" cy="18169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99C1017-B89A-8A96-A694-59799F6F15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4306" y="2173357"/>
            <a:ext cx="4099443" cy="11196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0AFEB17-1629-4A7E-1528-C5DA440459F8}"/>
              </a:ext>
            </a:extLst>
          </p:cNvPr>
          <p:cNvSpPr txBox="1"/>
          <p:nvPr/>
        </p:nvSpPr>
        <p:spPr>
          <a:xfrm>
            <a:off x="236667" y="4829249"/>
            <a:ext cx="175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= (0 to 1)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A5EE9E-61C8-B06A-831F-D2CA2805C3BC}"/>
              </a:ext>
            </a:extLst>
          </p:cNvPr>
          <p:cNvSpPr txBox="1"/>
          <p:nvPr/>
        </p:nvSpPr>
        <p:spPr>
          <a:xfrm>
            <a:off x="10194330" y="3429000"/>
            <a:ext cx="1829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= (-1 to 1)</a:t>
            </a:r>
          </a:p>
        </p:txBody>
      </p:sp>
    </p:spTree>
    <p:extLst>
      <p:ext uri="{BB962C8B-B14F-4D97-AF65-F5344CB8AC3E}">
        <p14:creationId xmlns:p14="http://schemas.microsoft.com/office/powerpoint/2010/main" val="2756896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E6BEF-A053-86E5-697F-AE86B098A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9884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Derivative of the Sigmoid Functions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77988C-A6F4-1816-4A32-5DB2247118CB}"/>
              </a:ext>
            </a:extLst>
          </p:cNvPr>
          <p:cNvSpPr/>
          <p:nvPr/>
        </p:nvSpPr>
        <p:spPr>
          <a:xfrm>
            <a:off x="1252330" y="1444487"/>
            <a:ext cx="4726056" cy="56653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tx1"/>
                </a:solidFill>
              </a:rPr>
              <a:t>Binary Sigmoid Function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B94B37-C7BE-BB45-DBED-900CD9C57264}"/>
              </a:ext>
            </a:extLst>
          </p:cNvPr>
          <p:cNvSpPr/>
          <p:nvPr/>
        </p:nvSpPr>
        <p:spPr>
          <a:xfrm>
            <a:off x="6344476" y="1444487"/>
            <a:ext cx="4726056" cy="56653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tx1"/>
                </a:solidFill>
              </a:rPr>
              <a:t>Bipolar Sigmoid Function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E5C597-00E2-1E39-DFDE-2929A730F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965" y="2960007"/>
            <a:ext cx="3822235" cy="10057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C14008-8961-DC06-415A-58D2831B4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500" y="2960007"/>
            <a:ext cx="3684519" cy="10057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10505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6D805-CCCE-AA11-3678-62B6E95FE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982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Hyperbolic Tangent(Tanh)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80EED-6EBD-72E1-53DB-402F20C4C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641"/>
            <a:ext cx="6049617" cy="500523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Definition: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just"/>
            <a:r>
              <a:rPr lang="en-US" sz="2400" dirty="0"/>
              <a:t>It can deal with negative values more effectively than the sigmoid function.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Tanh is zero-centered, which means that its output is symmetric around the origin of the coordinate system.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The sigmoid function has a slower rate of change than the tanh function, which means that the derivative of the sigmoid function will be smaller than the derivative of the tanh function for a given input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68A264-9C4C-CBEE-4BED-65322346B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495" y="1612502"/>
            <a:ext cx="2545975" cy="15175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88FAFF-E658-A76B-E0C6-49B8438CC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186" y="1887925"/>
            <a:ext cx="4630392" cy="30821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46517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C2A9A-E331-22A3-300E-5B450C0D2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3222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Ramp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08D18-AE22-4B51-F60C-DE3210D3C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356" y="1756051"/>
            <a:ext cx="10515600" cy="4351338"/>
          </a:xfrm>
        </p:spPr>
        <p:txBody>
          <a:bodyPr>
            <a:normAutofit lnSpcReduction="1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Defined as: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37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f(x) =   1      </a:t>
            </a:r>
            <a:r>
              <a:rPr kumimoji="0" lang="en-IN" sz="3700" b="1" i="0" u="none" strike="noStrike" kern="120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x&gt;1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37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=   x      </a:t>
            </a:r>
            <a:r>
              <a:rPr kumimoji="0" lang="en-IN" sz="3700" b="1" i="0" u="none" strike="noStrike" kern="120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 ≤ x ≤1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37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=   0      </a:t>
            </a:r>
            <a:r>
              <a:rPr kumimoji="0" lang="en-IN" sz="3700" b="1" i="0" u="none" strike="noStrike" kern="120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x&lt;0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 sz="3700" b="1" dirty="0">
              <a:solidFill>
                <a:srgbClr val="FF66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However the ramp will have a steep curve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rather than a smooth one.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linear function that has been shortened.</a:t>
            </a:r>
            <a:endParaRPr kumimoji="0" lang="en-IN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DE6FA2-04EC-D5C3-40E3-3E97BECE7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040" y="1877347"/>
            <a:ext cx="4427604" cy="27967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36202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C51B9-FFC4-624A-627F-7D2125C3B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611737" cy="628788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ReLU</a:t>
            </a:r>
            <a:r>
              <a:rPr lang="en-IN" dirty="0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A1B2D-3422-A419-4256-5B0E1C37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148"/>
            <a:ext cx="5075583" cy="489481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dirty="0"/>
              <a:t>Rectified Linear Unit</a:t>
            </a:r>
          </a:p>
          <a:p>
            <a:pPr algn="just"/>
            <a:r>
              <a:rPr lang="en-IN" dirty="0"/>
              <a:t>It seems as a Linear function in nature, but </a:t>
            </a:r>
            <a:r>
              <a:rPr lang="en-IN" dirty="0" err="1"/>
              <a:t>ReLU</a:t>
            </a:r>
            <a:r>
              <a:rPr lang="en-IN" dirty="0"/>
              <a:t> has a derivative function and allows backpropagation while simultaneously making it computationally efficient.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The main point – </a:t>
            </a:r>
            <a:r>
              <a:rPr lang="en-IN" dirty="0" err="1"/>
              <a:t>ReLU</a:t>
            </a:r>
            <a:r>
              <a:rPr lang="en-IN" dirty="0"/>
              <a:t> function does not activate all the neurons at the same time.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Range = ( 0 to  ∞)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DD5CEF-5EBB-1D1F-0DC6-7366FE7BE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480" y="2280237"/>
            <a:ext cx="4591358" cy="42725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18DA46-2274-36F5-A36A-0D34A1579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0570" y="536714"/>
            <a:ext cx="4707268" cy="914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10564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7FF5B-E588-4081-838B-E9DBB571B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7632"/>
          </a:xfrm>
        </p:spPr>
        <p:txBody>
          <a:bodyPr/>
          <a:lstStyle/>
          <a:p>
            <a:pPr algn="ctr"/>
            <a:r>
              <a:rPr lang="en-IN" dirty="0"/>
              <a:t>Gaussian Activation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DED48-59A1-E3C3-7023-B2EA9DFD8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99113" cy="4351338"/>
          </a:xfrm>
        </p:spPr>
        <p:txBody>
          <a:bodyPr/>
          <a:lstStyle/>
          <a:p>
            <a:pPr algn="just"/>
            <a:r>
              <a:rPr lang="en-US" dirty="0"/>
              <a:t>Characterized by its bell-shaped graph, where most data points are near the middle (average), and the likelihood of getting values decreases as you move away from the average. </a:t>
            </a:r>
          </a:p>
          <a:p>
            <a:pPr algn="just"/>
            <a:r>
              <a:rPr lang="en-US" dirty="0"/>
              <a:t>This curve is symmetric.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2A481E-6911-BB52-E74F-8C962F67D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6660" y="3849068"/>
            <a:ext cx="4637765" cy="27365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9F85CE-610F-61DA-549D-2D314754D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140" y="1661107"/>
            <a:ext cx="5312304" cy="17678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83291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BBCEF-5DD6-CD13-65D3-0A0285DB2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ECAC3-2B7F-1534-5E22-E9D5851B9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A7DD14-91E9-BF62-D3D3-A68313DEE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461" y="365125"/>
            <a:ext cx="8319050" cy="58780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50714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4CAEF-152F-3586-CE53-F215606A8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60" y="5098774"/>
            <a:ext cx="4804449" cy="1302026"/>
          </a:xfrm>
        </p:spPr>
        <p:txBody>
          <a:bodyPr>
            <a:normAutofit fontScale="90000"/>
          </a:bodyPr>
          <a:lstStyle/>
          <a:p>
            <a:r>
              <a:rPr lang="en-IN" dirty="0"/>
              <a:t>Net input = 0.37</a:t>
            </a:r>
            <a:br>
              <a:rPr lang="en-IN" dirty="0"/>
            </a:br>
            <a:br>
              <a:rPr lang="en-IN" dirty="0"/>
            </a:br>
            <a:r>
              <a:rPr lang="en-IN" dirty="0"/>
              <a:t>f(x) = f(0.37) = 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01DDE7-65D0-6F3E-81E4-9E32D3E9B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58" y="142515"/>
            <a:ext cx="5391455" cy="39921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A8D5335-53E4-63D5-6D69-0C6CB642F6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29728"/>
              </p:ext>
            </p:extLst>
          </p:nvPr>
        </p:nvGraphicFramePr>
        <p:xfrm>
          <a:off x="6187108" y="2063622"/>
          <a:ext cx="563548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2001">
                  <a:extLst>
                    <a:ext uri="{9D8B030D-6E8A-4147-A177-3AD203B41FA5}">
                      <a16:colId xmlns:a16="http://schemas.microsoft.com/office/drawing/2014/main" val="1908454513"/>
                    </a:ext>
                  </a:extLst>
                </a:gridCol>
                <a:gridCol w="2863487">
                  <a:extLst>
                    <a:ext uri="{9D8B030D-6E8A-4147-A177-3AD203B41FA5}">
                      <a16:colId xmlns:a16="http://schemas.microsoft.com/office/drawing/2014/main" val="19223690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f(x) = x   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all 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0.37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778943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E60B205-222A-A0E7-BF11-306376337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492431"/>
              </p:ext>
            </p:extLst>
          </p:nvPr>
        </p:nvGraphicFramePr>
        <p:xfrm>
          <a:off x="6251713" y="3083450"/>
          <a:ext cx="519153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3629">
                  <a:extLst>
                    <a:ext uri="{9D8B030D-6E8A-4147-A177-3AD203B41FA5}">
                      <a16:colId xmlns:a16="http://schemas.microsoft.com/office/drawing/2014/main" val="1908454513"/>
                    </a:ext>
                  </a:extLst>
                </a:gridCol>
                <a:gridCol w="2637909">
                  <a:extLst>
                    <a:ext uri="{9D8B030D-6E8A-4147-A177-3AD203B41FA5}">
                      <a16:colId xmlns:a16="http://schemas.microsoft.com/office/drawing/2014/main" val="19223690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Step Function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778943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8299236-997E-F036-015B-C24E5511F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377277"/>
              </p:ext>
            </p:extLst>
          </p:nvPr>
        </p:nvGraphicFramePr>
        <p:xfrm>
          <a:off x="6251713" y="4288698"/>
          <a:ext cx="5506279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8445">
                  <a:extLst>
                    <a:ext uri="{9D8B030D-6E8A-4147-A177-3AD203B41FA5}">
                      <a16:colId xmlns:a16="http://schemas.microsoft.com/office/drawing/2014/main" val="1908454513"/>
                    </a:ext>
                  </a:extLst>
                </a:gridCol>
                <a:gridCol w="2797834">
                  <a:extLst>
                    <a:ext uri="{9D8B030D-6E8A-4147-A177-3AD203B41FA5}">
                      <a16:colId xmlns:a16="http://schemas.microsoft.com/office/drawing/2014/main" val="19223690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Unipolar Sigmoid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0.5914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778943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BDFF703-65FA-32C6-389C-D01D20995C45}"/>
              </a:ext>
            </a:extLst>
          </p:cNvPr>
          <p:cNvSpPr txBox="1"/>
          <p:nvPr/>
        </p:nvSpPr>
        <p:spPr>
          <a:xfrm>
            <a:off x="872158" y="4290206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 = 0.5 and  Lambda =1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692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E24E5-693F-4E58-7C5B-292D32946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Unit – 1 : Assignment Q2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204CA-CEA3-F735-1AC3-121AD6344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3367F4-E44B-F33A-74CB-F0DF58129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023" y="1825625"/>
            <a:ext cx="8333954" cy="43513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77812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006137-9346-22C8-C846-1F4D80863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978" y="886419"/>
            <a:ext cx="10015822" cy="462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0095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A03F6-0DA0-00EF-9372-1D22F42EB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6661E-6F76-AF44-9208-7A182A7D2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B3B07B-BE2D-A686-EDDF-1FAB10757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9767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CC9616-C8C5-2324-5475-0FABD8C1A360}"/>
              </a:ext>
            </a:extLst>
          </p:cNvPr>
          <p:cNvSpPr/>
          <p:nvPr/>
        </p:nvSpPr>
        <p:spPr>
          <a:xfrm>
            <a:off x="1382422" y="3339548"/>
            <a:ext cx="3467874" cy="412474"/>
          </a:xfrm>
          <a:prstGeom prst="rect">
            <a:avLst/>
          </a:prstGeom>
          <a:solidFill>
            <a:schemeClr val="accent1">
              <a:alpha val="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F1D9FD-87B7-644B-4E33-C337F00817AF}"/>
              </a:ext>
            </a:extLst>
          </p:cNvPr>
          <p:cNvSpPr/>
          <p:nvPr/>
        </p:nvSpPr>
        <p:spPr>
          <a:xfrm>
            <a:off x="1695946" y="6176963"/>
            <a:ext cx="3467874" cy="422515"/>
          </a:xfrm>
          <a:prstGeom prst="rect">
            <a:avLst/>
          </a:prstGeom>
          <a:solidFill>
            <a:schemeClr val="accent1">
              <a:alpha val="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D657CF-1A8E-4873-B599-98FAF8715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3554" y="-89452"/>
            <a:ext cx="5145378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A125913-C7D1-C641-2E5F-C692D0ADD20B}"/>
              </a:ext>
            </a:extLst>
          </p:cNvPr>
          <p:cNvSpPr/>
          <p:nvPr/>
        </p:nvSpPr>
        <p:spPr>
          <a:xfrm>
            <a:off x="7344686" y="2577548"/>
            <a:ext cx="4471393" cy="851452"/>
          </a:xfrm>
          <a:prstGeom prst="rect">
            <a:avLst/>
          </a:prstGeom>
          <a:solidFill>
            <a:schemeClr val="accent1">
              <a:alpha val="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65FF2D-AD2B-7049-73D1-5DB67ACDED23}"/>
              </a:ext>
            </a:extLst>
          </p:cNvPr>
          <p:cNvSpPr/>
          <p:nvPr/>
        </p:nvSpPr>
        <p:spPr>
          <a:xfrm>
            <a:off x="7436126" y="4728928"/>
            <a:ext cx="4623794" cy="1031792"/>
          </a:xfrm>
          <a:prstGeom prst="rect">
            <a:avLst/>
          </a:prstGeom>
          <a:solidFill>
            <a:schemeClr val="accent1">
              <a:alpha val="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702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BBC0A-6568-F820-F1AE-1EB817642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17A06-A780-87CC-3AF2-DD9D25BA1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49BB1E-66FA-100A-8DEE-34AA236DF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819400" y="-50800"/>
            <a:ext cx="67564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77D5193-4585-4059-61EE-1D0FFC3212B9}"/>
              </a:ext>
            </a:extLst>
          </p:cNvPr>
          <p:cNvSpPr/>
          <p:nvPr/>
        </p:nvSpPr>
        <p:spPr>
          <a:xfrm>
            <a:off x="2941652" y="4555435"/>
            <a:ext cx="3011888" cy="851452"/>
          </a:xfrm>
          <a:prstGeom prst="rect">
            <a:avLst/>
          </a:prstGeom>
          <a:solidFill>
            <a:schemeClr val="accent1">
              <a:alpha val="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A1FD96-09F2-1C9A-7E32-E25CE48D4DD6}"/>
              </a:ext>
            </a:extLst>
          </p:cNvPr>
          <p:cNvSpPr/>
          <p:nvPr/>
        </p:nvSpPr>
        <p:spPr>
          <a:xfrm>
            <a:off x="6503174" y="4807226"/>
            <a:ext cx="3011888" cy="851452"/>
          </a:xfrm>
          <a:prstGeom prst="rect">
            <a:avLst/>
          </a:prstGeom>
          <a:solidFill>
            <a:schemeClr val="accent1">
              <a:alpha val="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427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EB94F-33D5-65AA-B0D7-64DC383C8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Neural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A9FE5E-C784-C714-4145-F9DCA445A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253" y="1894152"/>
            <a:ext cx="9121930" cy="42828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439415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7DC18-0CF4-DD69-ACC4-1B8CF4310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73" y="385004"/>
            <a:ext cx="4946374" cy="579092"/>
          </a:xfrm>
        </p:spPr>
        <p:txBody>
          <a:bodyPr>
            <a:normAutofit fontScale="90000"/>
          </a:bodyPr>
          <a:lstStyle/>
          <a:p>
            <a:r>
              <a:rPr lang="en-IN" dirty="0"/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041BA-23D2-8C31-7D80-F64882FD9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4269" y="385004"/>
            <a:ext cx="5985258" cy="608537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Given: Input samples and desired outputs.</a:t>
            </a:r>
          </a:p>
          <a:p>
            <a:pPr algn="just"/>
            <a:r>
              <a:rPr lang="en-US" dirty="0"/>
              <a:t>The input samples are presented to network and actual output is calculated.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error between actual and desired output is calculated.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This error is used for weight updating iteratively in step by step manner.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Training stops when error for all pattern becomes 0 over the iterations (When actual and expected outputs match for all patterns over number of iterations).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Applications: pattern classify-cation, function approximation</a:t>
            </a:r>
          </a:p>
          <a:p>
            <a:pPr algn="just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716C3D-B9DA-C502-EA4C-8248A77D2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73" y="1506393"/>
            <a:ext cx="5127180" cy="41151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14638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3FA80-1BD5-0A28-CA63-E9FA2774D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05400" cy="678484"/>
          </a:xfrm>
        </p:spPr>
        <p:txBody>
          <a:bodyPr>
            <a:normAutofit fontScale="90000"/>
          </a:bodyPr>
          <a:lstStyle/>
          <a:p>
            <a:r>
              <a:rPr lang="en-IN" dirty="0"/>
              <a:t>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CDF9-9BFD-BE8A-CFE5-F42338C03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Given: Input patterns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It is carried out in absence of teacher.</a:t>
            </a:r>
          </a:p>
          <a:p>
            <a:pPr algn="just"/>
            <a:r>
              <a:rPr lang="en-US" dirty="0"/>
              <a:t>Desired response is unknown. No information is available to correct the response.</a:t>
            </a:r>
          </a:p>
          <a:p>
            <a:pPr algn="just"/>
            <a:r>
              <a:rPr lang="en-US" dirty="0"/>
              <a:t>The network modifies the weights depending on observations of the responses of the output.</a:t>
            </a:r>
          </a:p>
          <a:p>
            <a:pPr algn="just"/>
            <a:r>
              <a:rPr lang="en-US" dirty="0"/>
              <a:t>The weights are adjusted in such a way that most similar input patterns are assigned to same output unit.</a:t>
            </a:r>
          </a:p>
          <a:p>
            <a:pPr algn="just"/>
            <a:r>
              <a:rPr lang="en-US" dirty="0"/>
              <a:t>The training is complete when the patterns starts getting classified to same class over number of iterations.</a:t>
            </a:r>
          </a:p>
          <a:p>
            <a:pPr algn="just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3496B9-06EF-8B54-A76A-ACF52344A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1407" y="1219961"/>
            <a:ext cx="3712786" cy="78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7330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776ED-7AFB-1813-952F-89085F4CE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604591" cy="1325563"/>
          </a:xfrm>
        </p:spPr>
        <p:txBody>
          <a:bodyPr/>
          <a:lstStyle/>
          <a:p>
            <a:r>
              <a:rPr lang="en-IN" dirty="0"/>
              <a:t>Reinforcement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55622-1A3F-E5A8-ADCD-6FFAA73A4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470" y="725557"/>
            <a:ext cx="6738730" cy="545140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Reinforcement learning (RL) is a type of machine learning where an agent learns to make decisions by performing actions in an environment to maximize a reward.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Agent – Environment – State - Action – Reward – Policy – Value Function - </a:t>
            </a:r>
            <a:r>
              <a:rPr lang="en-US" dirty="0" err="1"/>
              <a:t>QLearning</a:t>
            </a:r>
            <a:r>
              <a:rPr lang="en-US" dirty="0"/>
              <a:t>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Workflow of RL</a:t>
            </a:r>
          </a:p>
          <a:p>
            <a:pPr lvl="1" algn="just"/>
            <a:r>
              <a:rPr lang="en-US" dirty="0"/>
              <a:t>Initialization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Interaction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Learning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Exploration vs. Exploitation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Convergence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7F7E03-F7C8-DD30-9F8B-FB27B823B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51" y="2017653"/>
            <a:ext cx="4249280" cy="37072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5193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1575</Words>
  <Application>Microsoft Office PowerPoint</Application>
  <PresentationFormat>Widescreen</PresentationFormat>
  <Paragraphs>396</Paragraphs>
  <Slides>33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XOR GATE </vt:lpstr>
      <vt:lpstr>XOR Gate Realization</vt:lpstr>
      <vt:lpstr>PowerPoint Presentation</vt:lpstr>
      <vt:lpstr>Before proceeding for next layer computations verify it Z1 and Z2 Output is correct.</vt:lpstr>
      <vt:lpstr>CASE - I</vt:lpstr>
      <vt:lpstr>CASE - II</vt:lpstr>
      <vt:lpstr>CASE - II</vt:lpstr>
      <vt:lpstr>CASE - I</vt:lpstr>
      <vt:lpstr>Neuron Modelling for ANN</vt:lpstr>
      <vt:lpstr>General symbol for a neuron</vt:lpstr>
      <vt:lpstr>What is an Activation Function?</vt:lpstr>
      <vt:lpstr>Why do we use Activation Function?</vt:lpstr>
      <vt:lpstr>PowerPoint Presentation</vt:lpstr>
      <vt:lpstr>Linear Activation Function (Identification Function)</vt:lpstr>
      <vt:lpstr>Binary Step Function</vt:lpstr>
      <vt:lpstr>Bipolar Step Function</vt:lpstr>
      <vt:lpstr>Signum Step Function</vt:lpstr>
      <vt:lpstr>PowerPoint Presentation</vt:lpstr>
      <vt:lpstr>Derivative of the Sigmoid Functions</vt:lpstr>
      <vt:lpstr>Hyperbolic Tangent(Tanh) Function</vt:lpstr>
      <vt:lpstr>Ramp Function</vt:lpstr>
      <vt:lpstr>ReLU Function</vt:lpstr>
      <vt:lpstr>Gaussian Activation Function</vt:lpstr>
      <vt:lpstr>PowerPoint Presentation</vt:lpstr>
      <vt:lpstr>Net input = 0.37  f(x) = f(0.37) = ?</vt:lpstr>
      <vt:lpstr>Unit – 1 : Assignment Q2</vt:lpstr>
      <vt:lpstr>PowerPoint Presentation</vt:lpstr>
      <vt:lpstr>PowerPoint Presentation</vt:lpstr>
      <vt:lpstr>PowerPoint Presentation</vt:lpstr>
      <vt:lpstr>Neural Learning</vt:lpstr>
      <vt:lpstr>Supervised Learning</vt:lpstr>
      <vt:lpstr>Unsupervised Learning</vt:lpstr>
      <vt:lpstr>Reinforcement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23</cp:revision>
  <dcterms:created xsi:type="dcterms:W3CDTF">2024-08-28T05:18:25Z</dcterms:created>
  <dcterms:modified xsi:type="dcterms:W3CDTF">2024-09-25T05:33:14Z</dcterms:modified>
</cp:coreProperties>
</file>