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7" r:id="rId3"/>
  </p:sldMasterIdLst>
  <p:notesMasterIdLst>
    <p:notesMasterId r:id="rId99"/>
  </p:notesMasterIdLst>
  <p:sldIdLst>
    <p:sldId id="568" r:id="rId4"/>
    <p:sldId id="574" r:id="rId5"/>
    <p:sldId id="569" r:id="rId6"/>
    <p:sldId id="570" r:id="rId7"/>
    <p:sldId id="492" r:id="rId8"/>
    <p:sldId id="571" r:id="rId9"/>
    <p:sldId id="514" r:id="rId10"/>
    <p:sldId id="515" r:id="rId11"/>
    <p:sldId id="447" r:id="rId12"/>
    <p:sldId id="573" r:id="rId13"/>
    <p:sldId id="260" r:id="rId14"/>
    <p:sldId id="261" r:id="rId15"/>
    <p:sldId id="262" r:id="rId16"/>
    <p:sldId id="263" r:id="rId17"/>
    <p:sldId id="264" r:id="rId18"/>
    <p:sldId id="265" r:id="rId19"/>
    <p:sldId id="266" r:id="rId20"/>
    <p:sldId id="267" r:id="rId21"/>
    <p:sldId id="268" r:id="rId22"/>
    <p:sldId id="269" r:id="rId23"/>
    <p:sldId id="271" r:id="rId24"/>
    <p:sldId id="272" r:id="rId25"/>
    <p:sldId id="273" r:id="rId26"/>
    <p:sldId id="274" r:id="rId27"/>
    <p:sldId id="550" r:id="rId28"/>
    <p:sldId id="488" r:id="rId29"/>
    <p:sldId id="284" r:id="rId30"/>
    <p:sldId id="532" r:id="rId31"/>
    <p:sldId id="537" r:id="rId32"/>
    <p:sldId id="547" r:id="rId33"/>
    <p:sldId id="549" r:id="rId34"/>
    <p:sldId id="539" r:id="rId35"/>
    <p:sldId id="533" r:id="rId36"/>
    <p:sldId id="552" r:id="rId37"/>
    <p:sldId id="551" r:id="rId38"/>
    <p:sldId id="554" r:id="rId39"/>
    <p:sldId id="553" r:id="rId40"/>
    <p:sldId id="540" r:id="rId41"/>
    <p:sldId id="535" r:id="rId42"/>
    <p:sldId id="276" r:id="rId43"/>
    <p:sldId id="277" r:id="rId44"/>
    <p:sldId id="278" r:id="rId45"/>
    <p:sldId id="279" r:id="rId46"/>
    <p:sldId id="280" r:id="rId47"/>
    <p:sldId id="281" r:id="rId48"/>
    <p:sldId id="491" r:id="rId49"/>
    <p:sldId id="538" r:id="rId50"/>
    <p:sldId id="567" r:id="rId51"/>
    <p:sldId id="521" r:id="rId52"/>
    <p:sldId id="522" r:id="rId53"/>
    <p:sldId id="548" r:id="rId54"/>
    <p:sldId id="556" r:id="rId55"/>
    <p:sldId id="557" r:id="rId56"/>
    <p:sldId id="558" r:id="rId57"/>
    <p:sldId id="545" r:id="rId58"/>
    <p:sldId id="542" r:id="rId59"/>
    <p:sldId id="559" r:id="rId60"/>
    <p:sldId id="560" r:id="rId61"/>
    <p:sldId id="546" r:id="rId62"/>
    <p:sldId id="543" r:id="rId63"/>
    <p:sldId id="561" r:id="rId64"/>
    <p:sldId id="562" r:id="rId65"/>
    <p:sldId id="563" r:id="rId66"/>
    <p:sldId id="564" r:id="rId67"/>
    <p:sldId id="565" r:id="rId68"/>
    <p:sldId id="519" r:id="rId69"/>
    <p:sldId id="530" r:id="rId70"/>
    <p:sldId id="572" r:id="rId71"/>
    <p:sldId id="575" r:id="rId72"/>
    <p:sldId id="577" r:id="rId73"/>
    <p:sldId id="578" r:id="rId74"/>
    <p:sldId id="576" r:id="rId75"/>
    <p:sldId id="494" r:id="rId76"/>
    <p:sldId id="496" r:id="rId77"/>
    <p:sldId id="501" r:id="rId78"/>
    <p:sldId id="493" r:id="rId79"/>
    <p:sldId id="497" r:id="rId80"/>
    <p:sldId id="499" r:id="rId81"/>
    <p:sldId id="502" r:id="rId82"/>
    <p:sldId id="503" r:id="rId83"/>
    <p:sldId id="511" r:id="rId84"/>
    <p:sldId id="512" r:id="rId85"/>
    <p:sldId id="500" r:id="rId86"/>
    <p:sldId id="517" r:id="rId87"/>
    <p:sldId id="516" r:id="rId88"/>
    <p:sldId id="518" r:id="rId89"/>
    <p:sldId id="504" r:id="rId90"/>
    <p:sldId id="508" r:id="rId91"/>
    <p:sldId id="505" r:id="rId92"/>
    <p:sldId id="513" r:id="rId93"/>
    <p:sldId id="509" r:id="rId94"/>
    <p:sldId id="506" r:id="rId95"/>
    <p:sldId id="579" r:id="rId96"/>
    <p:sldId id="581" r:id="rId97"/>
    <p:sldId id="495"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6" autoAdjust="0"/>
    <p:restoredTop sz="94206" autoAdjust="0"/>
  </p:normalViewPr>
  <p:slideViewPr>
    <p:cSldViewPr snapToGrid="0">
      <p:cViewPr varScale="1">
        <p:scale>
          <a:sx n="64" d="100"/>
          <a:sy n="64"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theme" Target="theme/theme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99F78-C16F-4C9D-BF69-368C105D0732}" type="datetimeFigureOut">
              <a:rPr lang="en-IN" smtClean="0"/>
              <a:t>27-10-2025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B555F-A393-4FA7-972B-3420C62B25F4}" type="slidenum">
              <a:rPr lang="en-IN" smtClean="0"/>
              <a:t>‹#›</a:t>
            </a:fld>
            <a:endParaRPr lang="en-IN"/>
          </a:p>
        </p:txBody>
      </p:sp>
    </p:spTree>
    <p:extLst>
      <p:ext uri="{BB962C8B-B14F-4D97-AF65-F5344CB8AC3E}">
        <p14:creationId xmlns:p14="http://schemas.microsoft.com/office/powerpoint/2010/main" val="636674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3.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85CC396E-8C87-4A6E-B12D-BDB6C37870D5}"/>
              </a:ext>
            </a:extLst>
          </p:cNvPr>
          <p:cNvGrpSpPr>
            <a:grpSpLocks/>
          </p:cNvGrpSpPr>
          <p:nvPr/>
        </p:nvGrpSpPr>
        <p:grpSpPr bwMode="auto">
          <a:xfrm>
            <a:off x="-1380067" y="1552576"/>
            <a:ext cx="13572067" cy="5305425"/>
            <a:chOff x="-652" y="978"/>
            <a:chExt cx="6412" cy="3342"/>
          </a:xfrm>
        </p:grpSpPr>
        <p:sp>
          <p:nvSpPr>
            <p:cNvPr id="5" name="Freeform 3">
              <a:extLst>
                <a:ext uri="{FF2B5EF4-FFF2-40B4-BE49-F238E27FC236}">
                  <a16:creationId xmlns:a16="http://schemas.microsoft.com/office/drawing/2014/main" id="{1D315168-AC4A-4268-BFA5-EDC48CCDC55B}"/>
                </a:ext>
              </a:extLst>
            </p:cNvPr>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eaLnBrk="1" hangingPunct="1">
                <a:defRPr/>
              </a:pPr>
              <a:endParaRPr lang="en-IN" sz="1800"/>
            </a:p>
          </p:txBody>
        </p:sp>
        <p:sp>
          <p:nvSpPr>
            <p:cNvPr id="6" name="Arc 4">
              <a:extLst>
                <a:ext uri="{FF2B5EF4-FFF2-40B4-BE49-F238E27FC236}">
                  <a16:creationId xmlns:a16="http://schemas.microsoft.com/office/drawing/2014/main" id="{70D4BF1D-19E8-43E9-B657-34A3C74DAB07}"/>
                </a:ext>
              </a:extLst>
            </p:cNvPr>
            <p:cNvSpPr>
              <a:spLocks/>
            </p:cNvSpPr>
            <p:nvPr/>
          </p:nvSpPr>
          <p:spPr bwMode="auto">
            <a:xfrm>
              <a:off x="-652" y="978"/>
              <a:ext cx="4237" cy="3342"/>
            </a:xfrm>
            <a:custGeom>
              <a:avLst/>
              <a:gdLst>
                <a:gd name="T0" fmla="*/ 780 w 21600"/>
                <a:gd name="T1" fmla="*/ 0 h 21231"/>
                <a:gd name="T2" fmla="*/ 4237 w 21600"/>
                <a:gd name="T3" fmla="*/ 3342 h 21231"/>
                <a:gd name="T4" fmla="*/ 0 w 21600"/>
                <a:gd name="T5" fmla="*/ 3342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78853" name="Rectangle 5"/>
          <p:cNvSpPr>
            <a:spLocks noGrp="1" noChangeArrowheads="1"/>
          </p:cNvSpPr>
          <p:nvPr>
            <p:ph type="ctrTitle" sz="quarter"/>
          </p:nvPr>
        </p:nvSpPr>
        <p:spPr>
          <a:xfrm>
            <a:off x="1725084" y="762000"/>
            <a:ext cx="10363200" cy="1143000"/>
          </a:xfrm>
        </p:spPr>
        <p:txBody>
          <a:bodyPr anchor="b"/>
          <a:lstStyle>
            <a:lvl1pPr>
              <a:defRPr/>
            </a:lvl1pPr>
          </a:lstStyle>
          <a:p>
            <a:pPr lvl="0"/>
            <a:r>
              <a:rPr lang="en-US" altLang="en-US" noProof="0"/>
              <a:t>Click to edit Master title style</a:t>
            </a:r>
          </a:p>
        </p:txBody>
      </p:sp>
      <p:sp>
        <p:nvSpPr>
          <p:cNvPr id="78854" name="Rectangle 6"/>
          <p:cNvSpPr>
            <a:spLocks noGrp="1" noChangeArrowheads="1"/>
          </p:cNvSpPr>
          <p:nvPr>
            <p:ph type="subTitle" sz="quarter" idx="1"/>
          </p:nvPr>
        </p:nvSpPr>
        <p:spPr>
          <a:xfrm>
            <a:off x="914400" y="3429000"/>
            <a:ext cx="8534400" cy="1752600"/>
          </a:xfrm>
        </p:spPr>
        <p:txBody>
          <a:bodyPr lIns="92075" tIns="46038" rIns="92075" bIns="46038"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7" name="Rectangle 7">
            <a:extLst>
              <a:ext uri="{FF2B5EF4-FFF2-40B4-BE49-F238E27FC236}">
                <a16:creationId xmlns:a16="http://schemas.microsoft.com/office/drawing/2014/main" id="{816A9C31-6891-460D-ADFA-768B8E83ABC2}"/>
              </a:ext>
            </a:extLst>
          </p:cNvPr>
          <p:cNvSpPr>
            <a:spLocks noGrp="1" noChangeArrowheads="1"/>
          </p:cNvSpPr>
          <p:nvPr>
            <p:ph type="dt" sz="quarter" idx="10"/>
          </p:nvPr>
        </p:nvSpPr>
        <p:spPr/>
        <p:txBody>
          <a:bodyPr/>
          <a:lstStyle>
            <a:lvl1pPr>
              <a:defRPr/>
            </a:lvl1pPr>
          </a:lstStyle>
          <a:p>
            <a:pPr>
              <a:defRPr/>
            </a:pPr>
            <a:endParaRPr lang="en-US" altLang="en-US"/>
          </a:p>
        </p:txBody>
      </p:sp>
      <p:sp>
        <p:nvSpPr>
          <p:cNvPr id="8" name="Rectangle 8">
            <a:extLst>
              <a:ext uri="{FF2B5EF4-FFF2-40B4-BE49-F238E27FC236}">
                <a16:creationId xmlns:a16="http://schemas.microsoft.com/office/drawing/2014/main" id="{BAD98A39-BE1F-4137-A0C5-B833764F7E15}"/>
              </a:ext>
            </a:extLst>
          </p:cNvPr>
          <p:cNvSpPr>
            <a:spLocks noGrp="1" noChangeArrowheads="1"/>
          </p:cNvSpPr>
          <p:nvPr>
            <p:ph type="ftr" sz="quarter" idx="11"/>
          </p:nvPr>
        </p:nvSpPr>
        <p:spPr/>
        <p:txBody>
          <a:bodyPr/>
          <a:lstStyle>
            <a:lvl1pPr>
              <a:defRPr/>
            </a:lvl1pPr>
          </a:lstStyle>
          <a:p>
            <a:pPr>
              <a:defRPr/>
            </a:pPr>
            <a:r>
              <a:rPr lang="en-US" altLang="en-US"/>
              <a:t>History of ANN</a:t>
            </a:r>
          </a:p>
        </p:txBody>
      </p:sp>
      <p:sp>
        <p:nvSpPr>
          <p:cNvPr id="9" name="Rectangle 9">
            <a:extLst>
              <a:ext uri="{FF2B5EF4-FFF2-40B4-BE49-F238E27FC236}">
                <a16:creationId xmlns:a16="http://schemas.microsoft.com/office/drawing/2014/main" id="{87941331-4D8A-42E9-BC1B-61F183DED67D}"/>
              </a:ext>
            </a:extLst>
          </p:cNvPr>
          <p:cNvSpPr>
            <a:spLocks noGrp="1" noChangeArrowheads="1"/>
          </p:cNvSpPr>
          <p:nvPr>
            <p:ph type="sldNum" sz="quarter" idx="12"/>
          </p:nvPr>
        </p:nvSpPr>
        <p:spPr/>
        <p:txBody>
          <a:bodyPr/>
          <a:lstStyle>
            <a:lvl1pPr>
              <a:defRPr smtClean="0"/>
            </a:lvl1pPr>
          </a:lstStyle>
          <a:p>
            <a:pPr>
              <a:defRPr/>
            </a:pPr>
            <a:fld id="{D032CE62-142D-476C-ACA7-B9CB9615FDD6}" type="slidenum">
              <a:rPr lang="en-US" altLang="en-US"/>
              <a:pPr>
                <a:defRPr/>
              </a:pPr>
              <a:t>‹#›</a:t>
            </a:fld>
            <a:endParaRPr lang="en-US" altLang="en-US"/>
          </a:p>
        </p:txBody>
      </p:sp>
    </p:spTree>
    <p:extLst>
      <p:ext uri="{BB962C8B-B14F-4D97-AF65-F5344CB8AC3E}">
        <p14:creationId xmlns:p14="http://schemas.microsoft.com/office/powerpoint/2010/main" val="2363563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B7002B01-0C5D-410D-B29F-90C66A477D6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3A90453F-A9D5-4CFC-8F9E-953BA3AC653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1A73A22D-B2EC-4CFF-847C-E9F6554574B1}"/>
              </a:ext>
            </a:extLst>
          </p:cNvPr>
          <p:cNvSpPr>
            <a:spLocks noGrp="1" noChangeArrowheads="1"/>
          </p:cNvSpPr>
          <p:nvPr>
            <p:ph type="sldNum" sz="quarter" idx="12"/>
          </p:nvPr>
        </p:nvSpPr>
        <p:spPr>
          <a:ln/>
        </p:spPr>
        <p:txBody>
          <a:bodyPr/>
          <a:lstStyle>
            <a:lvl1pPr>
              <a:defRPr/>
            </a:lvl1pPr>
          </a:lstStyle>
          <a:p>
            <a:pPr>
              <a:defRPr/>
            </a:pPr>
            <a:fld id="{96672317-DE08-4627-83BB-6064FEA462A5}" type="slidenum">
              <a:rPr lang="en-US" altLang="en-US"/>
              <a:pPr>
                <a:defRPr/>
              </a:pPr>
              <a:t>‹#›</a:t>
            </a:fld>
            <a:endParaRPr lang="en-US" altLang="en-US"/>
          </a:p>
        </p:txBody>
      </p:sp>
    </p:spTree>
    <p:extLst>
      <p:ext uri="{BB962C8B-B14F-4D97-AF65-F5344CB8AC3E}">
        <p14:creationId xmlns:p14="http://schemas.microsoft.com/office/powerpoint/2010/main" val="144659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41D009B8-D77D-4687-8057-A409AEEC490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501D131A-0BB6-413B-8B5D-F3E703A162C7}"/>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4253C493-2272-48A2-9B8D-3A1DF5722245}"/>
              </a:ext>
            </a:extLst>
          </p:cNvPr>
          <p:cNvSpPr>
            <a:spLocks noGrp="1" noChangeArrowheads="1"/>
          </p:cNvSpPr>
          <p:nvPr>
            <p:ph type="sldNum" sz="quarter" idx="12"/>
          </p:nvPr>
        </p:nvSpPr>
        <p:spPr>
          <a:ln/>
        </p:spPr>
        <p:txBody>
          <a:bodyPr/>
          <a:lstStyle>
            <a:lvl1pPr>
              <a:defRPr/>
            </a:lvl1pPr>
          </a:lstStyle>
          <a:p>
            <a:pPr>
              <a:defRPr/>
            </a:pPr>
            <a:fld id="{F7317AF7-E335-4ABD-ACD7-30D724C97104}" type="slidenum">
              <a:rPr lang="en-US" altLang="en-US"/>
              <a:pPr>
                <a:defRPr/>
              </a:pPr>
              <a:t>‹#›</a:t>
            </a:fld>
            <a:endParaRPr lang="en-US" altLang="en-US"/>
          </a:p>
        </p:txBody>
      </p:sp>
    </p:spTree>
    <p:extLst>
      <p:ext uri="{BB962C8B-B14F-4D97-AF65-F5344CB8AC3E}">
        <p14:creationId xmlns:p14="http://schemas.microsoft.com/office/powerpoint/2010/main" val="1209223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C96BFB6B-CCF0-4E18-B4DB-795F2B49320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2E3BEC9C-65F8-4086-BFF9-5AB977724A2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51EF3053-C901-4E07-BF70-69B227485CDD}"/>
              </a:ext>
            </a:extLst>
          </p:cNvPr>
          <p:cNvSpPr>
            <a:spLocks noGrp="1" noChangeArrowheads="1"/>
          </p:cNvSpPr>
          <p:nvPr>
            <p:ph type="sldNum" sz="quarter" idx="12"/>
          </p:nvPr>
        </p:nvSpPr>
        <p:spPr>
          <a:ln/>
        </p:spPr>
        <p:txBody>
          <a:bodyPr/>
          <a:lstStyle>
            <a:lvl1pPr>
              <a:defRPr/>
            </a:lvl1pPr>
          </a:lstStyle>
          <a:p>
            <a:pPr>
              <a:defRPr/>
            </a:pPr>
            <a:fld id="{FCD75397-4E07-4E92-9024-F55DED0FF5D3}" type="slidenum">
              <a:rPr lang="en-US" altLang="en-US"/>
              <a:pPr>
                <a:defRPr/>
              </a:pPr>
              <a:t>‹#›</a:t>
            </a:fld>
            <a:endParaRPr lang="en-US" altLang="en-US"/>
          </a:p>
        </p:txBody>
      </p:sp>
    </p:spTree>
    <p:extLst>
      <p:ext uri="{BB962C8B-B14F-4D97-AF65-F5344CB8AC3E}">
        <p14:creationId xmlns:p14="http://schemas.microsoft.com/office/powerpoint/2010/main" val="286853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77715020-1864-4135-A92E-94E55868A7F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7">
            <a:extLst>
              <a:ext uri="{FF2B5EF4-FFF2-40B4-BE49-F238E27FC236}">
                <a16:creationId xmlns:a16="http://schemas.microsoft.com/office/drawing/2014/main" id="{8BA65C2B-3E88-42A5-A4AA-B093A4C1C75C}"/>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9" name="Rectangle 8">
            <a:extLst>
              <a:ext uri="{FF2B5EF4-FFF2-40B4-BE49-F238E27FC236}">
                <a16:creationId xmlns:a16="http://schemas.microsoft.com/office/drawing/2014/main" id="{51C555D9-D1F0-4081-8F5F-E8BC3C0DA6C9}"/>
              </a:ext>
            </a:extLst>
          </p:cNvPr>
          <p:cNvSpPr>
            <a:spLocks noGrp="1" noChangeArrowheads="1"/>
          </p:cNvSpPr>
          <p:nvPr>
            <p:ph type="sldNum" sz="quarter" idx="12"/>
          </p:nvPr>
        </p:nvSpPr>
        <p:spPr>
          <a:ln/>
        </p:spPr>
        <p:txBody>
          <a:bodyPr/>
          <a:lstStyle>
            <a:lvl1pPr>
              <a:defRPr/>
            </a:lvl1pPr>
          </a:lstStyle>
          <a:p>
            <a:pPr>
              <a:defRPr/>
            </a:pPr>
            <a:fld id="{9A64C390-4508-4FE7-8CAB-6CD963CAFD8D}" type="slidenum">
              <a:rPr lang="en-US" altLang="en-US"/>
              <a:pPr>
                <a:defRPr/>
              </a:pPr>
              <a:t>‹#›</a:t>
            </a:fld>
            <a:endParaRPr lang="en-US" altLang="en-US"/>
          </a:p>
        </p:txBody>
      </p:sp>
    </p:spTree>
    <p:extLst>
      <p:ext uri="{BB962C8B-B14F-4D97-AF65-F5344CB8AC3E}">
        <p14:creationId xmlns:p14="http://schemas.microsoft.com/office/powerpoint/2010/main" val="138754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A0F8099F-32D2-43E2-A468-9D25BD98FA3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7">
            <a:extLst>
              <a:ext uri="{FF2B5EF4-FFF2-40B4-BE49-F238E27FC236}">
                <a16:creationId xmlns:a16="http://schemas.microsoft.com/office/drawing/2014/main" id="{AD651F53-21C8-4F74-9A46-C51586BC3388}"/>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5" name="Rectangle 8">
            <a:extLst>
              <a:ext uri="{FF2B5EF4-FFF2-40B4-BE49-F238E27FC236}">
                <a16:creationId xmlns:a16="http://schemas.microsoft.com/office/drawing/2014/main" id="{0E75F485-E151-43ED-9121-AD843F3D5741}"/>
              </a:ext>
            </a:extLst>
          </p:cNvPr>
          <p:cNvSpPr>
            <a:spLocks noGrp="1" noChangeArrowheads="1"/>
          </p:cNvSpPr>
          <p:nvPr>
            <p:ph type="sldNum" sz="quarter" idx="12"/>
          </p:nvPr>
        </p:nvSpPr>
        <p:spPr>
          <a:ln/>
        </p:spPr>
        <p:txBody>
          <a:bodyPr/>
          <a:lstStyle>
            <a:lvl1pPr>
              <a:defRPr/>
            </a:lvl1pPr>
          </a:lstStyle>
          <a:p>
            <a:pPr>
              <a:defRPr/>
            </a:pPr>
            <a:fld id="{5B108F20-C84D-4DE1-A31F-DFB5BC0E06EB}" type="slidenum">
              <a:rPr lang="en-US" altLang="en-US"/>
              <a:pPr>
                <a:defRPr/>
              </a:pPr>
              <a:t>‹#›</a:t>
            </a:fld>
            <a:endParaRPr lang="en-US" altLang="en-US"/>
          </a:p>
        </p:txBody>
      </p:sp>
    </p:spTree>
    <p:extLst>
      <p:ext uri="{BB962C8B-B14F-4D97-AF65-F5344CB8AC3E}">
        <p14:creationId xmlns:p14="http://schemas.microsoft.com/office/powerpoint/2010/main" val="4023917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B21A735-5A0E-4F17-BED1-70ECED5125D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7">
            <a:extLst>
              <a:ext uri="{FF2B5EF4-FFF2-40B4-BE49-F238E27FC236}">
                <a16:creationId xmlns:a16="http://schemas.microsoft.com/office/drawing/2014/main" id="{F3F36FA5-A4EA-4DD2-A73A-670D7365D9C8}"/>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4" name="Rectangle 8">
            <a:extLst>
              <a:ext uri="{FF2B5EF4-FFF2-40B4-BE49-F238E27FC236}">
                <a16:creationId xmlns:a16="http://schemas.microsoft.com/office/drawing/2014/main" id="{1C8A62FA-B41E-4585-9EED-E7D9EFD4BBB1}"/>
              </a:ext>
            </a:extLst>
          </p:cNvPr>
          <p:cNvSpPr>
            <a:spLocks noGrp="1" noChangeArrowheads="1"/>
          </p:cNvSpPr>
          <p:nvPr>
            <p:ph type="sldNum" sz="quarter" idx="12"/>
          </p:nvPr>
        </p:nvSpPr>
        <p:spPr>
          <a:ln/>
        </p:spPr>
        <p:txBody>
          <a:bodyPr/>
          <a:lstStyle>
            <a:lvl1pPr>
              <a:defRPr/>
            </a:lvl1pPr>
          </a:lstStyle>
          <a:p>
            <a:pPr>
              <a:defRPr/>
            </a:pPr>
            <a:fld id="{3773EDC7-102F-47E2-81FE-20082E375E08}" type="slidenum">
              <a:rPr lang="en-US" altLang="en-US"/>
              <a:pPr>
                <a:defRPr/>
              </a:pPr>
              <a:t>‹#›</a:t>
            </a:fld>
            <a:endParaRPr lang="en-US" altLang="en-US"/>
          </a:p>
        </p:txBody>
      </p:sp>
    </p:spTree>
    <p:extLst>
      <p:ext uri="{BB962C8B-B14F-4D97-AF65-F5344CB8AC3E}">
        <p14:creationId xmlns:p14="http://schemas.microsoft.com/office/powerpoint/2010/main" val="111941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EB9F5C89-F37B-4F6E-A625-DA188A5DCBA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A4FB3090-AD46-494B-9551-64DA6459726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B396E269-F789-4E23-B2CB-2CCC13C763A5}"/>
              </a:ext>
            </a:extLst>
          </p:cNvPr>
          <p:cNvSpPr>
            <a:spLocks noGrp="1" noChangeArrowheads="1"/>
          </p:cNvSpPr>
          <p:nvPr>
            <p:ph type="sldNum" sz="quarter" idx="12"/>
          </p:nvPr>
        </p:nvSpPr>
        <p:spPr>
          <a:ln/>
        </p:spPr>
        <p:txBody>
          <a:bodyPr/>
          <a:lstStyle>
            <a:lvl1pPr>
              <a:defRPr/>
            </a:lvl1pPr>
          </a:lstStyle>
          <a:p>
            <a:pPr>
              <a:defRPr/>
            </a:pPr>
            <a:fld id="{978C2E8F-AA52-4AF3-9E42-6EA8BBAF0DD6}" type="slidenum">
              <a:rPr lang="en-US" altLang="en-US"/>
              <a:pPr>
                <a:defRPr/>
              </a:pPr>
              <a:t>‹#›</a:t>
            </a:fld>
            <a:endParaRPr lang="en-US" altLang="en-US"/>
          </a:p>
        </p:txBody>
      </p:sp>
    </p:spTree>
    <p:extLst>
      <p:ext uri="{BB962C8B-B14F-4D97-AF65-F5344CB8AC3E}">
        <p14:creationId xmlns:p14="http://schemas.microsoft.com/office/powerpoint/2010/main" val="3323008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2733F34-173D-426E-832D-1F6368451D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0624AE16-FABB-457E-92E7-887FA4084A80}"/>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560606BD-5F5E-45F6-868E-8F9632DAEC83}"/>
              </a:ext>
            </a:extLst>
          </p:cNvPr>
          <p:cNvSpPr>
            <a:spLocks noGrp="1" noChangeArrowheads="1"/>
          </p:cNvSpPr>
          <p:nvPr>
            <p:ph type="sldNum" sz="quarter" idx="12"/>
          </p:nvPr>
        </p:nvSpPr>
        <p:spPr>
          <a:ln/>
        </p:spPr>
        <p:txBody>
          <a:bodyPr/>
          <a:lstStyle>
            <a:lvl1pPr>
              <a:defRPr/>
            </a:lvl1pPr>
          </a:lstStyle>
          <a:p>
            <a:pPr>
              <a:defRPr/>
            </a:pPr>
            <a:fld id="{A3D61DF5-3F0D-44F6-B291-B272C15AAFE9}" type="slidenum">
              <a:rPr lang="en-US" altLang="en-US"/>
              <a:pPr>
                <a:defRPr/>
              </a:pPr>
              <a:t>‹#›</a:t>
            </a:fld>
            <a:endParaRPr lang="en-US" altLang="en-US"/>
          </a:p>
        </p:txBody>
      </p:sp>
    </p:spTree>
    <p:extLst>
      <p:ext uri="{BB962C8B-B14F-4D97-AF65-F5344CB8AC3E}">
        <p14:creationId xmlns:p14="http://schemas.microsoft.com/office/powerpoint/2010/main" val="2626525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66DD26D7-F243-4C45-8785-97E26B6AC49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B38F62B5-8888-49A1-BA45-F63458B48DE9}"/>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4433F8E2-67C4-4579-86BD-29E1B1B5EBC5}"/>
              </a:ext>
            </a:extLst>
          </p:cNvPr>
          <p:cNvSpPr>
            <a:spLocks noGrp="1" noChangeArrowheads="1"/>
          </p:cNvSpPr>
          <p:nvPr>
            <p:ph type="sldNum" sz="quarter" idx="12"/>
          </p:nvPr>
        </p:nvSpPr>
        <p:spPr>
          <a:ln/>
        </p:spPr>
        <p:txBody>
          <a:bodyPr/>
          <a:lstStyle>
            <a:lvl1pPr>
              <a:defRPr/>
            </a:lvl1pPr>
          </a:lstStyle>
          <a:p>
            <a:pPr>
              <a:defRPr/>
            </a:pPr>
            <a:fld id="{5DA7DF76-BC44-45D4-870B-37FF259C294A}" type="slidenum">
              <a:rPr lang="en-US" altLang="en-US"/>
              <a:pPr>
                <a:defRPr/>
              </a:pPr>
              <a:t>‹#›</a:t>
            </a:fld>
            <a:endParaRPr lang="en-US" altLang="en-US"/>
          </a:p>
        </p:txBody>
      </p:sp>
    </p:spTree>
    <p:extLst>
      <p:ext uri="{BB962C8B-B14F-4D97-AF65-F5344CB8AC3E}">
        <p14:creationId xmlns:p14="http://schemas.microsoft.com/office/powerpoint/2010/main" val="2695764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3B021954-09FF-4BFC-8EA9-821CDBF146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0B07D670-F593-4A39-A781-D8AD9D448662}"/>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386C1FA3-EB9C-4FDE-B06E-4A95DCEFC230}"/>
              </a:ext>
            </a:extLst>
          </p:cNvPr>
          <p:cNvSpPr>
            <a:spLocks noGrp="1" noChangeArrowheads="1"/>
          </p:cNvSpPr>
          <p:nvPr>
            <p:ph type="sldNum" sz="quarter" idx="12"/>
          </p:nvPr>
        </p:nvSpPr>
        <p:spPr>
          <a:ln/>
        </p:spPr>
        <p:txBody>
          <a:bodyPr/>
          <a:lstStyle>
            <a:lvl1pPr>
              <a:defRPr/>
            </a:lvl1pPr>
          </a:lstStyle>
          <a:p>
            <a:pPr>
              <a:defRPr/>
            </a:pPr>
            <a:fld id="{F516A96A-4BFE-46FB-B812-5B9662907A4A}" type="slidenum">
              <a:rPr lang="en-US" altLang="en-US"/>
              <a:pPr>
                <a:defRPr/>
              </a:pPr>
              <a:t>‹#›</a:t>
            </a:fld>
            <a:endParaRPr lang="en-US" altLang="en-US"/>
          </a:p>
        </p:txBody>
      </p:sp>
    </p:spTree>
    <p:extLst>
      <p:ext uri="{BB962C8B-B14F-4D97-AF65-F5344CB8AC3E}">
        <p14:creationId xmlns:p14="http://schemas.microsoft.com/office/powerpoint/2010/main" val="2476551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74AB3479-3DB7-418A-AFD7-959088388FC1}"/>
              </a:ext>
            </a:extLst>
          </p:cNvPr>
          <p:cNvGrpSpPr>
            <a:grpSpLocks/>
          </p:cNvGrpSpPr>
          <p:nvPr/>
        </p:nvGrpSpPr>
        <p:grpSpPr bwMode="auto">
          <a:xfrm>
            <a:off x="0" y="0"/>
            <a:ext cx="7823200" cy="6858000"/>
            <a:chOff x="0" y="0"/>
            <a:chExt cx="3696" cy="4320"/>
          </a:xfrm>
        </p:grpSpPr>
        <p:sp>
          <p:nvSpPr>
            <p:cNvPr id="5" name="Rectangle 3">
              <a:extLst>
                <a:ext uri="{FF2B5EF4-FFF2-40B4-BE49-F238E27FC236}">
                  <a16:creationId xmlns:a16="http://schemas.microsoft.com/office/drawing/2014/main" id="{7635B212-6E77-4F38-B3C7-3CEBF3995A2F}"/>
                </a:ext>
              </a:extLst>
            </p:cNvPr>
            <p:cNvSpPr>
              <a:spLocks noChangeArrowheads="1"/>
            </p:cNvSpPr>
            <p:nvPr/>
          </p:nvSpPr>
          <p:spPr bwMode="auto">
            <a:xfrm>
              <a:off x="0" y="0"/>
              <a:ext cx="2880" cy="4320"/>
            </a:xfrm>
            <a:prstGeom prst="rect">
              <a:avLst/>
            </a:prstGeom>
            <a:solidFill>
              <a:schemeClr val="accent2"/>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algn="ctr" eaLnBrk="1" hangingPunct="1">
                <a:defRPr/>
              </a:pPr>
              <a:endParaRPr lang="en-US" altLang="en-US" sz="2400">
                <a:latin typeface="Times New Roman" panose="02020603050405020304" pitchFamily="18" charset="0"/>
              </a:endParaRPr>
            </a:p>
          </p:txBody>
        </p:sp>
        <p:sp>
          <p:nvSpPr>
            <p:cNvPr id="6" name="AutoShape 4">
              <a:extLst>
                <a:ext uri="{FF2B5EF4-FFF2-40B4-BE49-F238E27FC236}">
                  <a16:creationId xmlns:a16="http://schemas.microsoft.com/office/drawing/2014/main" id="{69906DEC-0F40-4737-8D03-8ED1E4601EA8}"/>
                </a:ext>
              </a:extLst>
            </p:cNvPr>
            <p:cNvSpPr>
              <a:spLocks noChangeArrowheads="1"/>
            </p:cNvSpPr>
            <p:nvPr/>
          </p:nvSpPr>
          <p:spPr bwMode="white">
            <a:xfrm>
              <a:off x="432" y="624"/>
              <a:ext cx="3264" cy="1200"/>
            </a:xfrm>
            <a:prstGeom prst="roundRect">
              <a:avLst>
                <a:gd name="adj" fmla="val 50000"/>
              </a:avLst>
            </a:prstGeom>
            <a:solidFill>
              <a:schemeClr val="bg1"/>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algn="ctr" eaLnBrk="1" hangingPunct="1">
                <a:defRPr/>
              </a:pPr>
              <a:endParaRPr lang="en-US" altLang="en-US" sz="2400">
                <a:latin typeface="Times New Roman" panose="02020603050405020304" pitchFamily="18" charset="0"/>
              </a:endParaRPr>
            </a:p>
          </p:txBody>
        </p:sp>
      </p:grpSp>
      <p:grpSp>
        <p:nvGrpSpPr>
          <p:cNvPr id="7" name="Group 5">
            <a:extLst>
              <a:ext uri="{FF2B5EF4-FFF2-40B4-BE49-F238E27FC236}">
                <a16:creationId xmlns:a16="http://schemas.microsoft.com/office/drawing/2014/main" id="{D2571172-1A4A-4262-A498-0F81DC7A7634}"/>
              </a:ext>
            </a:extLst>
          </p:cNvPr>
          <p:cNvGrpSpPr>
            <a:grpSpLocks/>
          </p:cNvGrpSpPr>
          <p:nvPr/>
        </p:nvGrpSpPr>
        <p:grpSpPr bwMode="auto">
          <a:xfrm>
            <a:off x="4842933" y="4889500"/>
            <a:ext cx="6502400" cy="319088"/>
            <a:chOff x="2288" y="3080"/>
            <a:chExt cx="3072" cy="201"/>
          </a:xfrm>
        </p:grpSpPr>
        <p:sp>
          <p:nvSpPr>
            <p:cNvPr id="8" name="AutoShape 6">
              <a:extLst>
                <a:ext uri="{FF2B5EF4-FFF2-40B4-BE49-F238E27FC236}">
                  <a16:creationId xmlns:a16="http://schemas.microsoft.com/office/drawing/2014/main" id="{F5430138-6CA7-40DF-B212-D36B18B49C4C}"/>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9" name="AutoShape 7">
              <a:extLst>
                <a:ext uri="{FF2B5EF4-FFF2-40B4-BE49-F238E27FC236}">
                  <a16:creationId xmlns:a16="http://schemas.microsoft.com/office/drawing/2014/main" id="{A1424726-28E2-4D4E-A8B1-BAC589020DB8}"/>
                </a:ext>
              </a:extLst>
            </p:cNvPr>
            <p:cNvSpPr>
              <a:spLocks noChangeArrowheads="1"/>
            </p:cNvSpPr>
            <p:nvPr/>
          </p:nvSpPr>
          <p:spPr bwMode="auto">
            <a:xfrm>
              <a:off x="5196" y="3080"/>
              <a:ext cx="164" cy="201"/>
            </a:xfrm>
            <a:prstGeom prst="flowChartDelay">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grpSp>
      <p:sp>
        <p:nvSpPr>
          <p:cNvPr id="5128" name="Rectangle 8"/>
          <p:cNvSpPr>
            <a:spLocks noGrp="1" noChangeArrowheads="1"/>
          </p:cNvSpPr>
          <p:nvPr>
            <p:ph type="subTitle" idx="1"/>
          </p:nvPr>
        </p:nvSpPr>
        <p:spPr>
          <a:xfrm>
            <a:off x="6231467" y="2927350"/>
            <a:ext cx="5350933" cy="1822450"/>
          </a:xfrm>
        </p:spPr>
        <p:txBody>
          <a:bodyPr anchor="b"/>
          <a:lstStyle>
            <a:lvl1pPr marL="0" indent="0">
              <a:buFont typeface="Wingdings" panose="05000000000000000000" pitchFamily="2" charset="2"/>
              <a:buNone/>
              <a:defRPr>
                <a:solidFill>
                  <a:schemeClr val="tx2"/>
                </a:solidFill>
              </a:defRPr>
            </a:lvl1pPr>
          </a:lstStyle>
          <a:p>
            <a:pPr lvl="0"/>
            <a:r>
              <a:rPr lang="zh-TW" altLang="en-US" noProof="0"/>
              <a:t>按一下以編輯母片副標題樣式</a:t>
            </a:r>
          </a:p>
        </p:txBody>
      </p:sp>
      <p:sp>
        <p:nvSpPr>
          <p:cNvPr id="5132" name="AutoShape 12"/>
          <p:cNvSpPr>
            <a:spLocks noGrp="1" noChangeArrowheads="1"/>
          </p:cNvSpPr>
          <p:nvPr>
            <p:ph type="ctrTitle" sz="quarter"/>
          </p:nvPr>
        </p:nvSpPr>
        <p:spPr>
          <a:xfrm>
            <a:off x="914400" y="990600"/>
            <a:ext cx="10972800" cy="1905000"/>
          </a:xfrm>
          <a:prstGeom prst="roundRect">
            <a:avLst>
              <a:gd name="adj" fmla="val 50000"/>
            </a:avLst>
          </a:prstGeom>
        </p:spPr>
        <p:txBody>
          <a:bodyPr anchor="ctr"/>
          <a:lstStyle>
            <a:lvl1pPr algn="ctr">
              <a:defRPr>
                <a:solidFill>
                  <a:schemeClr val="tx1"/>
                </a:solidFill>
              </a:defRPr>
            </a:lvl1pPr>
          </a:lstStyle>
          <a:p>
            <a:pPr lvl="0"/>
            <a:r>
              <a:rPr lang="zh-TW" altLang="en-US" noProof="0"/>
              <a:t>按一下以編輯母片標題樣式</a:t>
            </a:r>
          </a:p>
        </p:txBody>
      </p:sp>
      <p:sp>
        <p:nvSpPr>
          <p:cNvPr id="10" name="Date Placeholder 9">
            <a:extLst>
              <a:ext uri="{FF2B5EF4-FFF2-40B4-BE49-F238E27FC236}">
                <a16:creationId xmlns:a16="http://schemas.microsoft.com/office/drawing/2014/main" id="{1D6F9D48-02C2-4E27-96C2-5784C415C256}"/>
              </a:ext>
            </a:extLst>
          </p:cNvPr>
          <p:cNvSpPr>
            <a:spLocks noGrp="1" noChangeArrowheads="1"/>
          </p:cNvSpPr>
          <p:nvPr>
            <p:ph type="dt" sz="quarter" idx="10"/>
          </p:nvPr>
        </p:nvSpPr>
        <p:spPr/>
        <p:txBody>
          <a:bodyPr/>
          <a:lstStyle>
            <a:lvl1pPr>
              <a:defRPr>
                <a:solidFill>
                  <a:schemeClr val="bg1"/>
                </a:solidFill>
              </a:defRPr>
            </a:lvl1pPr>
          </a:lstStyle>
          <a:p>
            <a:pPr>
              <a:defRPr/>
            </a:pPr>
            <a:endParaRPr lang="en-US" altLang="zh-TW"/>
          </a:p>
        </p:txBody>
      </p:sp>
      <p:sp>
        <p:nvSpPr>
          <p:cNvPr id="11" name="Footer Placeholder 10">
            <a:extLst>
              <a:ext uri="{FF2B5EF4-FFF2-40B4-BE49-F238E27FC236}">
                <a16:creationId xmlns:a16="http://schemas.microsoft.com/office/drawing/2014/main" id="{78C73747-E9F0-4323-A3AB-2B7D299E697E}"/>
              </a:ext>
            </a:extLst>
          </p:cNvPr>
          <p:cNvSpPr>
            <a:spLocks noGrp="1" noChangeArrowheads="1"/>
          </p:cNvSpPr>
          <p:nvPr>
            <p:ph type="ftr" sz="quarter" idx="11"/>
          </p:nvPr>
        </p:nvSpPr>
        <p:spPr/>
        <p:txBody>
          <a:bodyPr/>
          <a:lstStyle>
            <a:lvl1pPr algn="r">
              <a:defRPr/>
            </a:lvl1pPr>
          </a:lstStyle>
          <a:p>
            <a:pPr>
              <a:defRPr/>
            </a:pPr>
            <a:endParaRPr lang="en-US" altLang="zh-TW"/>
          </a:p>
        </p:txBody>
      </p:sp>
      <p:sp>
        <p:nvSpPr>
          <p:cNvPr id="12" name="Slide Number Placeholder 11">
            <a:extLst>
              <a:ext uri="{FF2B5EF4-FFF2-40B4-BE49-F238E27FC236}">
                <a16:creationId xmlns:a16="http://schemas.microsoft.com/office/drawing/2014/main" id="{A8A4A43C-0786-4427-AB01-4B8249512846}"/>
              </a:ext>
            </a:extLst>
          </p:cNvPr>
          <p:cNvSpPr>
            <a:spLocks noGrp="1" noChangeArrowheads="1"/>
          </p:cNvSpPr>
          <p:nvPr>
            <p:ph type="sldNum" sz="quarter" idx="12"/>
          </p:nvPr>
        </p:nvSpPr>
        <p:spPr>
          <a:xfrm>
            <a:off x="101601" y="6248400"/>
            <a:ext cx="783167" cy="488950"/>
          </a:xfrm>
        </p:spPr>
        <p:txBody>
          <a:bodyPr anchorCtr="0"/>
          <a:lstStyle>
            <a:lvl1pPr>
              <a:defRPr/>
            </a:lvl1pPr>
          </a:lstStyle>
          <a:p>
            <a:pPr>
              <a:defRPr/>
            </a:pPr>
            <a:fld id="{4C6BED7D-1767-44D3-AA3E-05C846AC4F5C}" type="slidenum">
              <a:rPr lang="en-US" altLang="zh-TW"/>
              <a:pPr>
                <a:defRPr/>
              </a:pPr>
              <a:t>‹#›</a:t>
            </a:fld>
            <a:endParaRPr lang="en-US" altLang="zh-TW"/>
          </a:p>
        </p:txBody>
      </p:sp>
    </p:spTree>
    <p:extLst>
      <p:ext uri="{BB962C8B-B14F-4D97-AF65-F5344CB8AC3E}">
        <p14:creationId xmlns:p14="http://schemas.microsoft.com/office/powerpoint/2010/main" val="1508673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A793D05F-9E64-4515-976A-77D9EA5F3E1C}"/>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54AE1D28-C73E-4BB8-96E2-F25326663A4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E0B27634-ADBC-4B18-8EB1-9A0225F2165E}"/>
              </a:ext>
            </a:extLst>
          </p:cNvPr>
          <p:cNvSpPr>
            <a:spLocks noGrp="1" noChangeArrowheads="1"/>
          </p:cNvSpPr>
          <p:nvPr>
            <p:ph type="sldNum" sz="quarter" idx="12"/>
          </p:nvPr>
        </p:nvSpPr>
        <p:spPr>
          <a:ln/>
        </p:spPr>
        <p:txBody>
          <a:bodyPr/>
          <a:lstStyle>
            <a:lvl1pPr>
              <a:defRPr/>
            </a:lvl1pPr>
          </a:lstStyle>
          <a:p>
            <a:pPr>
              <a:defRPr/>
            </a:pPr>
            <a:fld id="{9AD681D7-8A59-4380-9311-10B86FF921AA}" type="slidenum">
              <a:rPr lang="en-US" altLang="zh-TW"/>
              <a:pPr>
                <a:defRPr/>
              </a:pPr>
              <a:t>‹#›</a:t>
            </a:fld>
            <a:endParaRPr lang="en-US" altLang="zh-TW"/>
          </a:p>
        </p:txBody>
      </p:sp>
    </p:spTree>
    <p:extLst>
      <p:ext uri="{BB962C8B-B14F-4D97-AF65-F5344CB8AC3E}">
        <p14:creationId xmlns:p14="http://schemas.microsoft.com/office/powerpoint/2010/main" val="1152206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1">
            <a:extLst>
              <a:ext uri="{FF2B5EF4-FFF2-40B4-BE49-F238E27FC236}">
                <a16:creationId xmlns:a16="http://schemas.microsoft.com/office/drawing/2014/main" id="{87B6B44E-3933-4F5D-B950-C0CF90FDB3DC}"/>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F8BA037F-B5F4-41BB-9518-6D65F8133BD9}"/>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55919052-59BB-42E8-97F2-40CCA44AA4AA}"/>
              </a:ext>
            </a:extLst>
          </p:cNvPr>
          <p:cNvSpPr>
            <a:spLocks noGrp="1" noChangeArrowheads="1"/>
          </p:cNvSpPr>
          <p:nvPr>
            <p:ph type="sldNum" sz="quarter" idx="12"/>
          </p:nvPr>
        </p:nvSpPr>
        <p:spPr>
          <a:ln/>
        </p:spPr>
        <p:txBody>
          <a:bodyPr/>
          <a:lstStyle>
            <a:lvl1pPr>
              <a:defRPr/>
            </a:lvl1pPr>
          </a:lstStyle>
          <a:p>
            <a:pPr>
              <a:defRPr/>
            </a:pPr>
            <a:fld id="{6AA599C2-4A57-4DB1-8B81-9F280CC1F027}" type="slidenum">
              <a:rPr lang="en-US" altLang="zh-TW"/>
              <a:pPr>
                <a:defRPr/>
              </a:pPr>
              <a:t>‹#›</a:t>
            </a:fld>
            <a:endParaRPr lang="en-US" altLang="zh-TW"/>
          </a:p>
        </p:txBody>
      </p:sp>
    </p:spTree>
    <p:extLst>
      <p:ext uri="{BB962C8B-B14F-4D97-AF65-F5344CB8AC3E}">
        <p14:creationId xmlns:p14="http://schemas.microsoft.com/office/powerpoint/2010/main" val="747853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a:extLst>
              <a:ext uri="{FF2B5EF4-FFF2-40B4-BE49-F238E27FC236}">
                <a16:creationId xmlns:a16="http://schemas.microsoft.com/office/drawing/2014/main" id="{5A5A9AFD-C05B-4434-9307-FC4756B6F20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7A72D88D-957F-4C96-BDAE-74BB70FBF12E}"/>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E8A471C8-A66D-4D2C-B946-3F750B7C0FAD}"/>
              </a:ext>
            </a:extLst>
          </p:cNvPr>
          <p:cNvSpPr>
            <a:spLocks noGrp="1" noChangeArrowheads="1"/>
          </p:cNvSpPr>
          <p:nvPr>
            <p:ph type="sldNum" sz="quarter" idx="12"/>
          </p:nvPr>
        </p:nvSpPr>
        <p:spPr>
          <a:ln/>
        </p:spPr>
        <p:txBody>
          <a:bodyPr/>
          <a:lstStyle>
            <a:lvl1pPr>
              <a:defRPr/>
            </a:lvl1pPr>
          </a:lstStyle>
          <a:p>
            <a:pPr>
              <a:defRPr/>
            </a:pPr>
            <a:fld id="{A1B8251C-95A8-4A42-9400-89CE2D964904}" type="slidenum">
              <a:rPr lang="en-US" altLang="zh-TW"/>
              <a:pPr>
                <a:defRPr/>
              </a:pPr>
              <a:t>‹#›</a:t>
            </a:fld>
            <a:endParaRPr lang="en-US" altLang="zh-TW"/>
          </a:p>
        </p:txBody>
      </p:sp>
    </p:spTree>
    <p:extLst>
      <p:ext uri="{BB962C8B-B14F-4D97-AF65-F5344CB8AC3E}">
        <p14:creationId xmlns:p14="http://schemas.microsoft.com/office/powerpoint/2010/main" val="3309541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1">
            <a:extLst>
              <a:ext uri="{FF2B5EF4-FFF2-40B4-BE49-F238E27FC236}">
                <a16:creationId xmlns:a16="http://schemas.microsoft.com/office/drawing/2014/main" id="{CDEBBA31-0202-469D-B684-3858FC350B52}"/>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12">
            <a:extLst>
              <a:ext uri="{FF2B5EF4-FFF2-40B4-BE49-F238E27FC236}">
                <a16:creationId xmlns:a16="http://schemas.microsoft.com/office/drawing/2014/main" id="{700944E0-3E58-47CB-BA52-60876312788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13">
            <a:extLst>
              <a:ext uri="{FF2B5EF4-FFF2-40B4-BE49-F238E27FC236}">
                <a16:creationId xmlns:a16="http://schemas.microsoft.com/office/drawing/2014/main" id="{CF4E96D4-EE29-4920-BD06-C423C4833DD6}"/>
              </a:ext>
            </a:extLst>
          </p:cNvPr>
          <p:cNvSpPr>
            <a:spLocks noGrp="1" noChangeArrowheads="1"/>
          </p:cNvSpPr>
          <p:nvPr>
            <p:ph type="sldNum" sz="quarter" idx="12"/>
          </p:nvPr>
        </p:nvSpPr>
        <p:spPr>
          <a:ln/>
        </p:spPr>
        <p:txBody>
          <a:bodyPr/>
          <a:lstStyle>
            <a:lvl1pPr>
              <a:defRPr/>
            </a:lvl1pPr>
          </a:lstStyle>
          <a:p>
            <a:pPr>
              <a:defRPr/>
            </a:pPr>
            <a:fld id="{4EBB1A02-0FB4-4B70-8BD6-F77A72070611}" type="slidenum">
              <a:rPr lang="en-US" altLang="zh-TW"/>
              <a:pPr>
                <a:defRPr/>
              </a:pPr>
              <a:t>‹#›</a:t>
            </a:fld>
            <a:endParaRPr lang="en-US" altLang="zh-TW"/>
          </a:p>
        </p:txBody>
      </p:sp>
    </p:spTree>
    <p:extLst>
      <p:ext uri="{BB962C8B-B14F-4D97-AF65-F5344CB8AC3E}">
        <p14:creationId xmlns:p14="http://schemas.microsoft.com/office/powerpoint/2010/main" val="209505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11">
            <a:extLst>
              <a:ext uri="{FF2B5EF4-FFF2-40B4-BE49-F238E27FC236}">
                <a16:creationId xmlns:a16="http://schemas.microsoft.com/office/drawing/2014/main" id="{720C0F30-408C-4F81-8075-B3579D169BE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12">
            <a:extLst>
              <a:ext uri="{FF2B5EF4-FFF2-40B4-BE49-F238E27FC236}">
                <a16:creationId xmlns:a16="http://schemas.microsoft.com/office/drawing/2014/main" id="{B325A890-1232-4BEC-AAD7-0EC3959501B4}"/>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13">
            <a:extLst>
              <a:ext uri="{FF2B5EF4-FFF2-40B4-BE49-F238E27FC236}">
                <a16:creationId xmlns:a16="http://schemas.microsoft.com/office/drawing/2014/main" id="{7030B279-F839-4297-AB4D-3537F312222A}"/>
              </a:ext>
            </a:extLst>
          </p:cNvPr>
          <p:cNvSpPr>
            <a:spLocks noGrp="1" noChangeArrowheads="1"/>
          </p:cNvSpPr>
          <p:nvPr>
            <p:ph type="sldNum" sz="quarter" idx="12"/>
          </p:nvPr>
        </p:nvSpPr>
        <p:spPr>
          <a:ln/>
        </p:spPr>
        <p:txBody>
          <a:bodyPr/>
          <a:lstStyle>
            <a:lvl1pPr>
              <a:defRPr/>
            </a:lvl1pPr>
          </a:lstStyle>
          <a:p>
            <a:pPr>
              <a:defRPr/>
            </a:pPr>
            <a:fld id="{5E6F4E6D-4432-4193-818F-C4E21AA2E2B6}" type="slidenum">
              <a:rPr lang="en-US" altLang="zh-TW"/>
              <a:pPr>
                <a:defRPr/>
              </a:pPr>
              <a:t>‹#›</a:t>
            </a:fld>
            <a:endParaRPr lang="en-US" altLang="zh-TW"/>
          </a:p>
        </p:txBody>
      </p:sp>
    </p:spTree>
    <p:extLst>
      <p:ext uri="{BB962C8B-B14F-4D97-AF65-F5344CB8AC3E}">
        <p14:creationId xmlns:p14="http://schemas.microsoft.com/office/powerpoint/2010/main" val="2415838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EE868EA-364F-4E5F-8679-849854B7845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12">
            <a:extLst>
              <a:ext uri="{FF2B5EF4-FFF2-40B4-BE49-F238E27FC236}">
                <a16:creationId xmlns:a16="http://schemas.microsoft.com/office/drawing/2014/main" id="{0178FDEB-9C2C-4CEC-A95D-9592A9BF6FD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13">
            <a:extLst>
              <a:ext uri="{FF2B5EF4-FFF2-40B4-BE49-F238E27FC236}">
                <a16:creationId xmlns:a16="http://schemas.microsoft.com/office/drawing/2014/main" id="{ABEE68DC-A9D9-4EB4-870D-AB7119C27E5B}"/>
              </a:ext>
            </a:extLst>
          </p:cNvPr>
          <p:cNvSpPr>
            <a:spLocks noGrp="1" noChangeArrowheads="1"/>
          </p:cNvSpPr>
          <p:nvPr>
            <p:ph type="sldNum" sz="quarter" idx="12"/>
          </p:nvPr>
        </p:nvSpPr>
        <p:spPr>
          <a:ln/>
        </p:spPr>
        <p:txBody>
          <a:bodyPr/>
          <a:lstStyle>
            <a:lvl1pPr>
              <a:defRPr/>
            </a:lvl1pPr>
          </a:lstStyle>
          <a:p>
            <a:pPr>
              <a:defRPr/>
            </a:pPr>
            <a:fld id="{FB5D1685-1E77-4490-9738-CE130DCABD3C}" type="slidenum">
              <a:rPr lang="en-US" altLang="zh-TW"/>
              <a:pPr>
                <a:defRPr/>
              </a:pPr>
              <a:t>‹#›</a:t>
            </a:fld>
            <a:endParaRPr lang="en-US" altLang="zh-TW"/>
          </a:p>
        </p:txBody>
      </p:sp>
    </p:spTree>
    <p:extLst>
      <p:ext uri="{BB962C8B-B14F-4D97-AF65-F5344CB8AC3E}">
        <p14:creationId xmlns:p14="http://schemas.microsoft.com/office/powerpoint/2010/main" val="31400574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C9D708E2-0303-4498-8CF1-6169EE85486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4FA2897C-1C40-4EC5-9790-F41F6B6FEB3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E8DD65CC-DFCF-4E65-B196-174D51BED0AF}"/>
              </a:ext>
            </a:extLst>
          </p:cNvPr>
          <p:cNvSpPr>
            <a:spLocks noGrp="1" noChangeArrowheads="1"/>
          </p:cNvSpPr>
          <p:nvPr>
            <p:ph type="sldNum" sz="quarter" idx="12"/>
          </p:nvPr>
        </p:nvSpPr>
        <p:spPr>
          <a:ln/>
        </p:spPr>
        <p:txBody>
          <a:bodyPr/>
          <a:lstStyle>
            <a:lvl1pPr>
              <a:defRPr/>
            </a:lvl1pPr>
          </a:lstStyle>
          <a:p>
            <a:pPr>
              <a:defRPr/>
            </a:pPr>
            <a:fld id="{D37888BC-E7AB-4CA8-8579-72E2C022E23A}" type="slidenum">
              <a:rPr lang="en-US" altLang="zh-TW"/>
              <a:pPr>
                <a:defRPr/>
              </a:pPr>
              <a:t>‹#›</a:t>
            </a:fld>
            <a:endParaRPr lang="en-US" altLang="zh-TW"/>
          </a:p>
        </p:txBody>
      </p:sp>
    </p:spTree>
    <p:extLst>
      <p:ext uri="{BB962C8B-B14F-4D97-AF65-F5344CB8AC3E}">
        <p14:creationId xmlns:p14="http://schemas.microsoft.com/office/powerpoint/2010/main" val="3515956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187C2654-EF72-465B-BCB7-7F2A1373417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715BDFD4-AC59-41E9-9F8C-F83382533CC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5033A6D5-46F5-4958-AB5C-E6689DB1B378}"/>
              </a:ext>
            </a:extLst>
          </p:cNvPr>
          <p:cNvSpPr>
            <a:spLocks noGrp="1" noChangeArrowheads="1"/>
          </p:cNvSpPr>
          <p:nvPr>
            <p:ph type="sldNum" sz="quarter" idx="12"/>
          </p:nvPr>
        </p:nvSpPr>
        <p:spPr>
          <a:ln/>
        </p:spPr>
        <p:txBody>
          <a:bodyPr/>
          <a:lstStyle>
            <a:lvl1pPr>
              <a:defRPr/>
            </a:lvl1pPr>
          </a:lstStyle>
          <a:p>
            <a:pPr>
              <a:defRPr/>
            </a:pPr>
            <a:fld id="{24D8AA2F-4EBC-4342-B5A0-BB2E8BD62C49}" type="slidenum">
              <a:rPr lang="en-US" altLang="zh-TW"/>
              <a:pPr>
                <a:defRPr/>
              </a:pPr>
              <a:t>‹#›</a:t>
            </a:fld>
            <a:endParaRPr lang="en-US" altLang="zh-TW"/>
          </a:p>
        </p:txBody>
      </p:sp>
    </p:spTree>
    <p:extLst>
      <p:ext uri="{BB962C8B-B14F-4D97-AF65-F5344CB8AC3E}">
        <p14:creationId xmlns:p14="http://schemas.microsoft.com/office/powerpoint/2010/main" val="3896907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E82B322D-44F7-4930-9E52-385E643214C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5BB762FC-A8C7-4778-A008-263ABDE2677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34382749-3BED-432D-B34A-D80D7D43643B}"/>
              </a:ext>
            </a:extLst>
          </p:cNvPr>
          <p:cNvSpPr>
            <a:spLocks noGrp="1" noChangeArrowheads="1"/>
          </p:cNvSpPr>
          <p:nvPr>
            <p:ph type="sldNum" sz="quarter" idx="12"/>
          </p:nvPr>
        </p:nvSpPr>
        <p:spPr>
          <a:ln/>
        </p:spPr>
        <p:txBody>
          <a:bodyPr/>
          <a:lstStyle>
            <a:lvl1pPr>
              <a:defRPr/>
            </a:lvl1pPr>
          </a:lstStyle>
          <a:p>
            <a:pPr>
              <a:defRPr/>
            </a:pPr>
            <a:fld id="{2D6336E1-E76D-4424-93FA-E9F001728934}" type="slidenum">
              <a:rPr lang="en-US" altLang="zh-TW"/>
              <a:pPr>
                <a:defRPr/>
              </a:pPr>
              <a:t>‹#›</a:t>
            </a:fld>
            <a:endParaRPr lang="en-US" altLang="zh-TW"/>
          </a:p>
        </p:txBody>
      </p:sp>
    </p:spTree>
    <p:extLst>
      <p:ext uri="{BB962C8B-B14F-4D97-AF65-F5344CB8AC3E}">
        <p14:creationId xmlns:p14="http://schemas.microsoft.com/office/powerpoint/2010/main" val="337082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0800" y="762001"/>
            <a:ext cx="2641600" cy="53244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016000" y="762001"/>
            <a:ext cx="77216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F5B5F5F2-D408-410C-8DBF-7C5EFE73D6F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C7E1E9A1-D479-4568-A100-4FE0B262775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59713532-74AF-4D9B-B96E-80E406374C1B}"/>
              </a:ext>
            </a:extLst>
          </p:cNvPr>
          <p:cNvSpPr>
            <a:spLocks noGrp="1" noChangeArrowheads="1"/>
          </p:cNvSpPr>
          <p:nvPr>
            <p:ph type="sldNum" sz="quarter" idx="12"/>
          </p:nvPr>
        </p:nvSpPr>
        <p:spPr>
          <a:ln/>
        </p:spPr>
        <p:txBody>
          <a:bodyPr/>
          <a:lstStyle>
            <a:lvl1pPr>
              <a:defRPr/>
            </a:lvl1pPr>
          </a:lstStyle>
          <a:p>
            <a:pPr>
              <a:defRPr/>
            </a:pPr>
            <a:fld id="{CAF4CF1D-4C99-4661-A2D4-4217BA60ABA0}" type="slidenum">
              <a:rPr lang="en-US" altLang="zh-TW"/>
              <a:pPr>
                <a:defRPr/>
              </a:pPr>
              <a:t>‹#›</a:t>
            </a:fld>
            <a:endParaRPr lang="en-US" altLang="zh-TW"/>
          </a:p>
        </p:txBody>
      </p:sp>
    </p:spTree>
    <p:extLst>
      <p:ext uri="{BB962C8B-B14F-4D97-AF65-F5344CB8AC3E}">
        <p14:creationId xmlns:p14="http://schemas.microsoft.com/office/powerpoint/2010/main" val="15254003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Content Placeholder 2"/>
          <p:cNvSpPr>
            <a:spLocks noGrp="1"/>
          </p:cNvSpPr>
          <p:nvPr>
            <p:ph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6347884" y="2362200"/>
            <a:ext cx="502708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6347884" y="4300539"/>
            <a:ext cx="5027083"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11">
            <a:extLst>
              <a:ext uri="{FF2B5EF4-FFF2-40B4-BE49-F238E27FC236}">
                <a16:creationId xmlns:a16="http://schemas.microsoft.com/office/drawing/2014/main" id="{4FA18B98-F6CA-40C0-9AB0-4389FCC9800D}"/>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7" name="Rectangle 12">
            <a:extLst>
              <a:ext uri="{FF2B5EF4-FFF2-40B4-BE49-F238E27FC236}">
                <a16:creationId xmlns:a16="http://schemas.microsoft.com/office/drawing/2014/main" id="{2A0C8064-7E90-477C-9464-6D30A4F0CFE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8" name="Rectangle 13">
            <a:extLst>
              <a:ext uri="{FF2B5EF4-FFF2-40B4-BE49-F238E27FC236}">
                <a16:creationId xmlns:a16="http://schemas.microsoft.com/office/drawing/2014/main" id="{E6510462-62FE-428E-A215-0A0573116BE2}"/>
              </a:ext>
            </a:extLst>
          </p:cNvPr>
          <p:cNvSpPr>
            <a:spLocks noGrp="1" noChangeArrowheads="1"/>
          </p:cNvSpPr>
          <p:nvPr>
            <p:ph type="sldNum" sz="quarter" idx="12"/>
          </p:nvPr>
        </p:nvSpPr>
        <p:spPr>
          <a:ln/>
        </p:spPr>
        <p:txBody>
          <a:bodyPr/>
          <a:lstStyle>
            <a:lvl1pPr>
              <a:defRPr/>
            </a:lvl1pPr>
          </a:lstStyle>
          <a:p>
            <a:pPr>
              <a:defRPr/>
            </a:pPr>
            <a:fld id="{3FFE08A4-0A34-4028-A27F-27CF704B0516}" type="slidenum">
              <a:rPr lang="en-US" altLang="zh-TW"/>
              <a:pPr>
                <a:defRPr/>
              </a:pPr>
              <a:t>‹#›</a:t>
            </a:fld>
            <a:endParaRPr lang="en-US" altLang="zh-TW"/>
          </a:p>
        </p:txBody>
      </p:sp>
    </p:spTree>
    <p:extLst>
      <p:ext uri="{BB962C8B-B14F-4D97-AF65-F5344CB8AC3E}">
        <p14:creationId xmlns:p14="http://schemas.microsoft.com/office/powerpoint/2010/main" val="1211914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a:extLst>
              <a:ext uri="{FF2B5EF4-FFF2-40B4-BE49-F238E27FC236}">
                <a16:creationId xmlns:a16="http://schemas.microsoft.com/office/drawing/2014/main" id="{7AD31F2D-FEEF-41BC-AF22-3A9DAC688B8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94277F79-D063-440F-80F2-9CB189271FE4}"/>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B84A55AC-D237-41B2-9B34-35B3A7DB1C31}"/>
              </a:ext>
            </a:extLst>
          </p:cNvPr>
          <p:cNvSpPr>
            <a:spLocks noGrp="1" noChangeArrowheads="1"/>
          </p:cNvSpPr>
          <p:nvPr>
            <p:ph type="sldNum" sz="quarter" idx="12"/>
          </p:nvPr>
        </p:nvSpPr>
        <p:spPr>
          <a:ln/>
        </p:spPr>
        <p:txBody>
          <a:bodyPr/>
          <a:lstStyle>
            <a:lvl1pPr>
              <a:defRPr/>
            </a:lvl1pPr>
          </a:lstStyle>
          <a:p>
            <a:pPr>
              <a:defRPr/>
            </a:pPr>
            <a:fld id="{6F344A81-72D1-4E0F-9D8D-D55E15C9F74D}" type="slidenum">
              <a:rPr lang="en-US" altLang="zh-TW"/>
              <a:pPr>
                <a:defRPr/>
              </a:pPr>
              <a:t>‹#›</a:t>
            </a:fld>
            <a:endParaRPr lang="en-US" altLang="zh-TW"/>
          </a:p>
        </p:txBody>
      </p:sp>
    </p:spTree>
    <p:extLst>
      <p:ext uri="{BB962C8B-B14F-4D97-AF65-F5344CB8AC3E}">
        <p14:creationId xmlns:p14="http://schemas.microsoft.com/office/powerpoint/2010/main" val="29653406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6347884" y="2362200"/>
            <a:ext cx="502708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6347884" y="4300539"/>
            <a:ext cx="5027083"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11">
            <a:extLst>
              <a:ext uri="{FF2B5EF4-FFF2-40B4-BE49-F238E27FC236}">
                <a16:creationId xmlns:a16="http://schemas.microsoft.com/office/drawing/2014/main" id="{089E88C0-2680-4372-85C4-5F96B71B7EA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7" name="Rectangle 12">
            <a:extLst>
              <a:ext uri="{FF2B5EF4-FFF2-40B4-BE49-F238E27FC236}">
                <a16:creationId xmlns:a16="http://schemas.microsoft.com/office/drawing/2014/main" id="{4C59EF94-9CC9-4EC6-B2D5-144000A8993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8" name="Rectangle 13">
            <a:extLst>
              <a:ext uri="{FF2B5EF4-FFF2-40B4-BE49-F238E27FC236}">
                <a16:creationId xmlns:a16="http://schemas.microsoft.com/office/drawing/2014/main" id="{ACAB46EA-F53C-40C5-A0B5-FBBAD67015D7}"/>
              </a:ext>
            </a:extLst>
          </p:cNvPr>
          <p:cNvSpPr>
            <a:spLocks noGrp="1" noChangeArrowheads="1"/>
          </p:cNvSpPr>
          <p:nvPr>
            <p:ph type="sldNum" sz="quarter" idx="12"/>
          </p:nvPr>
        </p:nvSpPr>
        <p:spPr>
          <a:ln/>
        </p:spPr>
        <p:txBody>
          <a:bodyPr/>
          <a:lstStyle>
            <a:lvl1pPr>
              <a:defRPr/>
            </a:lvl1pPr>
          </a:lstStyle>
          <a:p>
            <a:pPr>
              <a:defRPr/>
            </a:pPr>
            <a:fld id="{8FA16340-759C-4FEF-925E-8AFD4427B3FD}" type="slidenum">
              <a:rPr lang="en-US" altLang="zh-TW"/>
              <a:pPr>
                <a:defRPr/>
              </a:pPr>
              <a:t>‹#›</a:t>
            </a:fld>
            <a:endParaRPr lang="en-US" altLang="zh-TW"/>
          </a:p>
        </p:txBody>
      </p:sp>
    </p:spTree>
    <p:extLst>
      <p:ext uri="{BB962C8B-B14F-4D97-AF65-F5344CB8AC3E}">
        <p14:creationId xmlns:p14="http://schemas.microsoft.com/office/powerpoint/2010/main" val="26679951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6458366"/>
            <a:ext cx="12192000" cy="399633"/>
          </a:xfrm>
          <a:prstGeom prst="rect">
            <a:avLst/>
          </a:prstGeom>
        </p:spPr>
      </p:pic>
      <p:pic>
        <p:nvPicPr>
          <p:cNvPr id="17" name="bg object 17"/>
          <p:cNvPicPr/>
          <p:nvPr/>
        </p:nvPicPr>
        <p:blipFill>
          <a:blip r:embed="rId3" cstate="print"/>
          <a:stretch>
            <a:fillRect/>
          </a:stretch>
        </p:blipFill>
        <p:spPr>
          <a:xfrm>
            <a:off x="7824192" y="6543201"/>
            <a:ext cx="361397" cy="270181"/>
          </a:xfrm>
          <a:prstGeom prst="rect">
            <a:avLst/>
          </a:prstGeom>
        </p:spPr>
      </p:pic>
      <p:pic>
        <p:nvPicPr>
          <p:cNvPr id="18" name="bg object 18"/>
          <p:cNvPicPr/>
          <p:nvPr/>
        </p:nvPicPr>
        <p:blipFill>
          <a:blip r:embed="rId4" cstate="print"/>
          <a:stretch>
            <a:fillRect/>
          </a:stretch>
        </p:blipFill>
        <p:spPr>
          <a:xfrm>
            <a:off x="513418" y="1241212"/>
            <a:ext cx="227583" cy="177800"/>
          </a:xfrm>
          <a:prstGeom prst="rect">
            <a:avLst/>
          </a:prstGeom>
        </p:spPr>
      </p:pic>
      <p:sp>
        <p:nvSpPr>
          <p:cNvPr id="2" name="Holder 2"/>
          <p:cNvSpPr>
            <a:spLocks noGrp="1"/>
          </p:cNvSpPr>
          <p:nvPr>
            <p:ph type="ctrTitle"/>
          </p:nvPr>
        </p:nvSpPr>
        <p:spPr>
          <a:xfrm>
            <a:off x="348828" y="183388"/>
            <a:ext cx="11494345" cy="615553"/>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1" i="1">
                <a:solidFill>
                  <a:schemeClr val="bg1"/>
                </a:solidFill>
                <a:latin typeface="Georgia"/>
                <a:cs typeface="Georgia"/>
              </a:defRPr>
            </a:lvl1pPr>
          </a:lstStyle>
          <a:p>
            <a:pPr marL="12700">
              <a:lnSpc>
                <a:spcPts val="1885"/>
              </a:lnSpc>
            </a:pPr>
            <a:r>
              <a:rPr lang="en-IN" spc="-5"/>
              <a:t>InfoLab</a:t>
            </a:r>
            <a:endParaRPr lang="en-IN"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6" name="Holder 6"/>
          <p:cNvSpPr>
            <a:spLocks noGrp="1"/>
          </p:cNvSpPr>
          <p:nvPr>
            <p:ph type="sldNum" sz="quarter" idx="7"/>
          </p:nvPr>
        </p:nvSpPr>
        <p:spPr/>
        <p:txBody>
          <a:bodyPr lIns="0" tIns="0" rIns="0" bIns="0"/>
          <a:lstStyle>
            <a:lvl1pPr>
              <a:defRPr sz="1400" b="1" i="0">
                <a:solidFill>
                  <a:schemeClr val="bg1"/>
                </a:solidFill>
                <a:latin typeface="Arial"/>
                <a:cs typeface="Arial"/>
              </a:defRPr>
            </a:lvl1pPr>
          </a:lstStyle>
          <a:p>
            <a:pPr marL="38100">
              <a:lnSpc>
                <a:spcPts val="1460"/>
              </a:lnSpc>
            </a:pPr>
            <a:fld id="{81D60167-4931-47E6-BA6A-407CBD079E47}" type="slidenum">
              <a:rPr lang="en-IN" smtClean="0"/>
              <a:pPr marL="38100">
                <a:lnSpc>
                  <a:spcPts val="1460"/>
                </a:lnSpc>
              </a:pPr>
              <a:t>‹#›</a:t>
            </a:fld>
            <a:endParaRPr lang="en-IN" dirty="0"/>
          </a:p>
        </p:txBody>
      </p:sp>
    </p:spTree>
    <p:extLst>
      <p:ext uri="{BB962C8B-B14F-4D97-AF65-F5344CB8AC3E}">
        <p14:creationId xmlns:p14="http://schemas.microsoft.com/office/powerpoint/2010/main" val="37089498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600" b="1" i="1">
                <a:solidFill>
                  <a:schemeClr val="bg1"/>
                </a:solidFill>
                <a:latin typeface="Georgia"/>
                <a:cs typeface="Georgia"/>
              </a:defRPr>
            </a:lvl1pPr>
          </a:lstStyle>
          <a:p>
            <a:pPr marL="12700">
              <a:lnSpc>
                <a:spcPts val="1885"/>
              </a:lnSpc>
            </a:pPr>
            <a:r>
              <a:rPr lang="en-IN" spc="-5"/>
              <a:t>InfoLab</a:t>
            </a:r>
            <a:endParaRPr lang="en-IN"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6" name="Holder 6"/>
          <p:cNvSpPr>
            <a:spLocks noGrp="1"/>
          </p:cNvSpPr>
          <p:nvPr>
            <p:ph type="sldNum" sz="quarter" idx="7"/>
          </p:nvPr>
        </p:nvSpPr>
        <p:spPr/>
        <p:txBody>
          <a:bodyPr lIns="0" tIns="0" rIns="0" bIns="0"/>
          <a:lstStyle>
            <a:lvl1pPr>
              <a:defRPr sz="1400" b="1" i="0">
                <a:solidFill>
                  <a:schemeClr val="bg1"/>
                </a:solidFill>
                <a:latin typeface="Arial"/>
                <a:cs typeface="Arial"/>
              </a:defRPr>
            </a:lvl1pPr>
          </a:lstStyle>
          <a:p>
            <a:pPr marL="38100">
              <a:lnSpc>
                <a:spcPts val="1460"/>
              </a:lnSpc>
            </a:pPr>
            <a:fld id="{81D60167-4931-47E6-BA6A-407CBD079E47}" type="slidenum">
              <a:rPr lang="en-IN" smtClean="0"/>
              <a:pPr marL="38100">
                <a:lnSpc>
                  <a:spcPts val="1460"/>
                </a:lnSpc>
              </a:pPr>
              <a:t>‹#›</a:t>
            </a:fld>
            <a:endParaRPr lang="en-IN" dirty="0"/>
          </a:p>
        </p:txBody>
      </p:sp>
    </p:spTree>
    <p:extLst>
      <p:ext uri="{BB962C8B-B14F-4D97-AF65-F5344CB8AC3E}">
        <p14:creationId xmlns:p14="http://schemas.microsoft.com/office/powerpoint/2010/main" val="22657763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2"/>
                </a:solidFill>
                <a:latin typeface="Arial"/>
                <a:cs typeface="Arial"/>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1" i="1">
                <a:solidFill>
                  <a:schemeClr val="bg1"/>
                </a:solidFill>
                <a:latin typeface="Georgia"/>
                <a:cs typeface="Georgia"/>
              </a:defRPr>
            </a:lvl1pPr>
          </a:lstStyle>
          <a:p>
            <a:pPr marL="12700">
              <a:lnSpc>
                <a:spcPts val="1885"/>
              </a:lnSpc>
            </a:pPr>
            <a:r>
              <a:rPr lang="en-IN" spc="-5"/>
              <a:t>InfoLab</a:t>
            </a:r>
            <a:endParaRPr lang="en-IN"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7" name="Holder 7"/>
          <p:cNvSpPr>
            <a:spLocks noGrp="1"/>
          </p:cNvSpPr>
          <p:nvPr>
            <p:ph type="sldNum" sz="quarter" idx="7"/>
          </p:nvPr>
        </p:nvSpPr>
        <p:spPr/>
        <p:txBody>
          <a:bodyPr lIns="0" tIns="0" rIns="0" bIns="0"/>
          <a:lstStyle>
            <a:lvl1pPr>
              <a:defRPr sz="1400" b="1" i="0">
                <a:solidFill>
                  <a:schemeClr val="bg1"/>
                </a:solidFill>
                <a:latin typeface="Arial"/>
                <a:cs typeface="Arial"/>
              </a:defRPr>
            </a:lvl1pPr>
          </a:lstStyle>
          <a:p>
            <a:pPr marL="38100">
              <a:lnSpc>
                <a:spcPts val="1460"/>
              </a:lnSpc>
            </a:pPr>
            <a:fld id="{81D60167-4931-47E6-BA6A-407CBD079E47}" type="slidenum">
              <a:rPr lang="en-IN" smtClean="0"/>
              <a:pPr marL="38100">
                <a:lnSpc>
                  <a:spcPts val="1460"/>
                </a:lnSpc>
              </a:pPr>
              <a:t>‹#›</a:t>
            </a:fld>
            <a:endParaRPr lang="en-IN" dirty="0"/>
          </a:p>
        </p:txBody>
      </p:sp>
    </p:spTree>
    <p:extLst>
      <p:ext uri="{BB962C8B-B14F-4D97-AF65-F5344CB8AC3E}">
        <p14:creationId xmlns:p14="http://schemas.microsoft.com/office/powerpoint/2010/main" val="32868476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6"/>
            <a:ext cx="12192000" cy="4725138"/>
          </a:xfrm>
          <a:prstGeom prst="rect">
            <a:avLst/>
          </a:prstGeom>
        </p:spPr>
      </p:pic>
      <p:pic>
        <p:nvPicPr>
          <p:cNvPr id="17" name="bg object 17"/>
          <p:cNvPicPr/>
          <p:nvPr/>
        </p:nvPicPr>
        <p:blipFill>
          <a:blip r:embed="rId3" cstate="print"/>
          <a:stretch>
            <a:fillRect/>
          </a:stretch>
        </p:blipFill>
        <p:spPr>
          <a:xfrm>
            <a:off x="0" y="6458366"/>
            <a:ext cx="12192000" cy="399633"/>
          </a:xfrm>
          <a:prstGeom prst="rect">
            <a:avLst/>
          </a:prstGeom>
        </p:spPr>
      </p:pic>
      <p:sp>
        <p:nvSpPr>
          <p:cNvPr id="2" name="Holder 2"/>
          <p:cNvSpPr>
            <a:spLocks noGrp="1"/>
          </p:cNvSpPr>
          <p:nvPr>
            <p:ph type="title"/>
          </p:nvPr>
        </p:nvSpPr>
        <p:spPr/>
        <p:txBody>
          <a:bodyPr lIns="0" tIns="0" rIns="0" bIns="0"/>
          <a:lstStyle>
            <a:lvl1pPr>
              <a:defRPr sz="4000" b="1" i="0">
                <a:solidFill>
                  <a:schemeClr val="tx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600" b="1" i="1">
                <a:solidFill>
                  <a:schemeClr val="bg1"/>
                </a:solidFill>
                <a:latin typeface="Georgia"/>
                <a:cs typeface="Georgia"/>
              </a:defRPr>
            </a:lvl1pPr>
          </a:lstStyle>
          <a:p>
            <a:pPr marL="12700">
              <a:lnSpc>
                <a:spcPts val="1885"/>
              </a:lnSpc>
            </a:pPr>
            <a:r>
              <a:rPr lang="en-IN" spc="-5"/>
              <a:t>InfoLab</a:t>
            </a:r>
            <a:endParaRPr lang="en-IN" spc="-5"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5" name="Holder 5"/>
          <p:cNvSpPr>
            <a:spLocks noGrp="1"/>
          </p:cNvSpPr>
          <p:nvPr>
            <p:ph type="sldNum" sz="quarter" idx="7"/>
          </p:nvPr>
        </p:nvSpPr>
        <p:spPr/>
        <p:txBody>
          <a:bodyPr lIns="0" tIns="0" rIns="0" bIns="0"/>
          <a:lstStyle>
            <a:lvl1pPr>
              <a:defRPr sz="1400" b="1" i="0">
                <a:solidFill>
                  <a:schemeClr val="bg1"/>
                </a:solidFill>
                <a:latin typeface="Arial"/>
                <a:cs typeface="Arial"/>
              </a:defRPr>
            </a:lvl1pPr>
          </a:lstStyle>
          <a:p>
            <a:pPr marL="38100">
              <a:lnSpc>
                <a:spcPts val="1460"/>
              </a:lnSpc>
            </a:pPr>
            <a:fld id="{81D60167-4931-47E6-BA6A-407CBD079E47}" type="slidenum">
              <a:rPr lang="en-IN" smtClean="0"/>
              <a:pPr marL="38100">
                <a:lnSpc>
                  <a:spcPts val="1460"/>
                </a:lnSpc>
              </a:pPr>
              <a:t>‹#›</a:t>
            </a:fld>
            <a:endParaRPr lang="en-IN" dirty="0"/>
          </a:p>
        </p:txBody>
      </p:sp>
    </p:spTree>
    <p:extLst>
      <p:ext uri="{BB962C8B-B14F-4D97-AF65-F5344CB8AC3E}">
        <p14:creationId xmlns:p14="http://schemas.microsoft.com/office/powerpoint/2010/main" val="21471039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1" i="1">
                <a:solidFill>
                  <a:schemeClr val="bg1"/>
                </a:solidFill>
                <a:latin typeface="Georgia"/>
                <a:cs typeface="Georgia"/>
              </a:defRPr>
            </a:lvl1pPr>
          </a:lstStyle>
          <a:p>
            <a:pPr marL="12700">
              <a:lnSpc>
                <a:spcPts val="1885"/>
              </a:lnSpc>
            </a:pPr>
            <a:r>
              <a:rPr lang="en-IN" spc="-5"/>
              <a:t>InfoLab</a:t>
            </a:r>
            <a:endParaRPr lang="en-IN" spc="-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4" name="Holder 4"/>
          <p:cNvSpPr>
            <a:spLocks noGrp="1"/>
          </p:cNvSpPr>
          <p:nvPr>
            <p:ph type="sldNum" sz="quarter" idx="7"/>
          </p:nvPr>
        </p:nvSpPr>
        <p:spPr/>
        <p:txBody>
          <a:bodyPr lIns="0" tIns="0" rIns="0" bIns="0"/>
          <a:lstStyle>
            <a:lvl1pPr>
              <a:defRPr sz="1400" b="1" i="0">
                <a:solidFill>
                  <a:schemeClr val="bg1"/>
                </a:solidFill>
                <a:latin typeface="Arial"/>
                <a:cs typeface="Arial"/>
              </a:defRPr>
            </a:lvl1pPr>
          </a:lstStyle>
          <a:p>
            <a:pPr marL="38100">
              <a:lnSpc>
                <a:spcPts val="1460"/>
              </a:lnSpc>
            </a:pPr>
            <a:fld id="{81D60167-4931-47E6-BA6A-407CBD079E47}" type="slidenum">
              <a:rPr lang="en-IN" smtClean="0"/>
              <a:pPr marL="38100">
                <a:lnSpc>
                  <a:spcPts val="1460"/>
                </a:lnSpc>
              </a:pPr>
              <a:t>‹#›</a:t>
            </a:fld>
            <a:endParaRPr lang="en-IN" dirty="0"/>
          </a:p>
        </p:txBody>
      </p:sp>
    </p:spTree>
    <p:extLst>
      <p:ext uri="{BB962C8B-B14F-4D97-AF65-F5344CB8AC3E}">
        <p14:creationId xmlns:p14="http://schemas.microsoft.com/office/powerpoint/2010/main" val="128540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8.xml"/><Relationship Id="rId7" Type="http://schemas.openxmlformats.org/officeDocument/2006/relationships/image" Target="../media/image1.jp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3.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F0963D6-68F2-45E2-BDF5-5B0E58F0ABFE}"/>
              </a:ext>
            </a:extLst>
          </p:cNvPr>
          <p:cNvGrpSpPr>
            <a:grpSpLocks/>
          </p:cNvGrpSpPr>
          <p:nvPr/>
        </p:nvGrpSpPr>
        <p:grpSpPr bwMode="auto">
          <a:xfrm>
            <a:off x="0" y="1588"/>
            <a:ext cx="12177184" cy="6845300"/>
            <a:chOff x="0" y="1"/>
            <a:chExt cx="5753" cy="4312"/>
          </a:xfrm>
        </p:grpSpPr>
        <p:sp>
          <p:nvSpPr>
            <p:cNvPr id="77827" name="Freeform 3">
              <a:extLst>
                <a:ext uri="{FF2B5EF4-FFF2-40B4-BE49-F238E27FC236}">
                  <a16:creationId xmlns:a16="http://schemas.microsoft.com/office/drawing/2014/main" id="{86828E8B-082A-495B-8B0B-59F1669C0092}"/>
                </a:ext>
              </a:extLst>
            </p:cNvPr>
            <p:cNvSpPr>
              <a:spLocks/>
            </p:cNvSpPr>
            <p:nvPr/>
          </p:nvSpPr>
          <p:spPr bwMode="auto">
            <a:xfrm>
              <a:off x="3394" y="999"/>
              <a:ext cx="2359" cy="3314"/>
            </a:xfrm>
            <a:custGeom>
              <a:avLst/>
              <a:gdLst>
                <a:gd name="T0" fmla="*/ 1905 w 2359"/>
                <a:gd name="T1" fmla="*/ 3312 h 3314"/>
                <a:gd name="T2" fmla="*/ 2358 w 2359"/>
                <a:gd name="T3" fmla="*/ 3313 h 3314"/>
                <a:gd name="T4" fmla="*/ 2358 w 2359"/>
                <a:gd name="T5" fmla="*/ 1437 h 3314"/>
                <a:gd name="T6" fmla="*/ 0 w 2359"/>
                <a:gd name="T7" fmla="*/ 0 h 3314"/>
                <a:gd name="T8" fmla="*/ 201 w 2359"/>
                <a:gd name="T9" fmla="*/ 150 h 3314"/>
                <a:gd name="T10" fmla="*/ 366 w 2359"/>
                <a:gd name="T11" fmla="*/ 279 h 3314"/>
                <a:gd name="T12" fmla="*/ 552 w 2359"/>
                <a:gd name="T13" fmla="*/ 441 h 3314"/>
                <a:gd name="T14" fmla="*/ 732 w 2359"/>
                <a:gd name="T15" fmla="*/ 612 h 3314"/>
                <a:gd name="T16" fmla="*/ 996 w 2359"/>
                <a:gd name="T17" fmla="*/ 903 h 3314"/>
                <a:gd name="T18" fmla="*/ 1230 w 2359"/>
                <a:gd name="T19" fmla="*/ 1212 h 3314"/>
                <a:gd name="T20" fmla="*/ 1400 w 2359"/>
                <a:gd name="T21" fmla="*/ 1482 h 3314"/>
                <a:gd name="T22" fmla="*/ 1548 w 2359"/>
                <a:gd name="T23" fmla="*/ 1761 h 3314"/>
                <a:gd name="T24" fmla="*/ 1665 w 2359"/>
                <a:gd name="T25" fmla="*/ 2040 h 3314"/>
                <a:gd name="T26" fmla="*/ 1751 w 2359"/>
                <a:gd name="T27" fmla="*/ 2295 h 3314"/>
                <a:gd name="T28" fmla="*/ 1809 w 2359"/>
                <a:gd name="T29" fmla="*/ 2511 h 3314"/>
                <a:gd name="T30" fmla="*/ 1863 w 2359"/>
                <a:gd name="T31" fmla="*/ 2778 h 3314"/>
                <a:gd name="T32" fmla="*/ 1890 w 2359"/>
                <a:gd name="T33" fmla="*/ 3012 h 3314"/>
                <a:gd name="T34" fmla="*/ 1905 w 2359"/>
                <a:gd name="T35" fmla="*/ 3312 h 3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eaLnBrk="1" hangingPunct="1">
                <a:defRPr/>
              </a:pPr>
              <a:endParaRPr lang="en-IN" sz="1800"/>
            </a:p>
          </p:txBody>
        </p:sp>
        <p:sp>
          <p:nvSpPr>
            <p:cNvPr id="1033" name="Arc 4">
              <a:extLst>
                <a:ext uri="{FF2B5EF4-FFF2-40B4-BE49-F238E27FC236}">
                  <a16:creationId xmlns:a16="http://schemas.microsoft.com/office/drawing/2014/main" id="{40CE2D4C-5B4B-4E49-8163-AD358AEBB6D6}"/>
                </a:ext>
              </a:extLst>
            </p:cNvPr>
            <p:cNvSpPr>
              <a:spLocks/>
            </p:cNvSpPr>
            <p:nvPr/>
          </p:nvSpPr>
          <p:spPr bwMode="auto">
            <a:xfrm>
              <a:off x="0" y="1"/>
              <a:ext cx="5298" cy="4312"/>
            </a:xfrm>
            <a:custGeom>
              <a:avLst/>
              <a:gdLst>
                <a:gd name="T0" fmla="*/ 0 w 21600"/>
                <a:gd name="T1" fmla="*/ 0 h 21600"/>
                <a:gd name="T2" fmla="*/ 5298 w 21600"/>
                <a:gd name="T3" fmla="*/ 4312 h 21600"/>
                <a:gd name="T4" fmla="*/ 0 w 21600"/>
                <a:gd name="T5" fmla="*/ 431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77829" name="Rectangle 5">
            <a:extLst>
              <a:ext uri="{FF2B5EF4-FFF2-40B4-BE49-F238E27FC236}">
                <a16:creationId xmlns:a16="http://schemas.microsoft.com/office/drawing/2014/main" id="{7A11DCAA-D206-4140-8E01-17E678C7EB5E}"/>
              </a:ext>
            </a:extLst>
          </p:cNvPr>
          <p:cNvSpPr>
            <a:spLocks noGrp="1" noChangeArrowheads="1"/>
          </p:cNvSpPr>
          <p:nvPr>
            <p:ph type="title"/>
          </p:nvPr>
        </p:nvSpPr>
        <p:spPr bwMode="auto">
          <a:xfrm>
            <a:off x="914400" y="609600"/>
            <a:ext cx="10363200" cy="1143000"/>
          </a:xfrm>
          <a:prstGeom prst="rect">
            <a:avLst/>
          </a:prstGeom>
          <a:noFill/>
          <a:ln>
            <a:noFill/>
          </a:ln>
          <a:effec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77830" name="Rectangle 6">
            <a:extLst>
              <a:ext uri="{FF2B5EF4-FFF2-40B4-BE49-F238E27FC236}">
                <a16:creationId xmlns:a16="http://schemas.microsoft.com/office/drawing/2014/main" id="{D8039550-6EA7-4BEC-B116-68B4B1AA6C56}"/>
              </a:ext>
            </a:extLst>
          </p:cNvPr>
          <p:cNvSpPr>
            <a:spLocks noGrp="1" noChangeArrowheads="1"/>
          </p:cNvSpPr>
          <p:nvPr>
            <p:ph type="dt" sz="half" idx="2"/>
          </p:nvPr>
        </p:nvSpPr>
        <p:spPr bwMode="auto">
          <a:xfrm>
            <a:off x="914400" y="6248400"/>
            <a:ext cx="25400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eaLnBrk="1" hangingPunct="1">
              <a:defRPr sz="1400"/>
            </a:lvl1pPr>
          </a:lstStyle>
          <a:p>
            <a:pPr>
              <a:defRPr/>
            </a:pPr>
            <a:endParaRPr lang="en-US" altLang="en-US"/>
          </a:p>
        </p:txBody>
      </p:sp>
      <p:sp>
        <p:nvSpPr>
          <p:cNvPr id="77831" name="Rectangle 7">
            <a:extLst>
              <a:ext uri="{FF2B5EF4-FFF2-40B4-BE49-F238E27FC236}">
                <a16:creationId xmlns:a16="http://schemas.microsoft.com/office/drawing/2014/main" id="{434ADB45-691F-4BC9-925F-5D3E5C5EC165}"/>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ctr" eaLnBrk="1" hangingPunct="1">
              <a:defRPr sz="1400"/>
            </a:lvl1pPr>
          </a:lstStyle>
          <a:p>
            <a:pPr>
              <a:defRPr/>
            </a:pPr>
            <a:r>
              <a:rPr lang="en-US" altLang="en-US"/>
              <a:t>History of ANN</a:t>
            </a:r>
          </a:p>
        </p:txBody>
      </p:sp>
      <p:sp>
        <p:nvSpPr>
          <p:cNvPr id="77832" name="Rectangle 8">
            <a:extLst>
              <a:ext uri="{FF2B5EF4-FFF2-40B4-BE49-F238E27FC236}">
                <a16:creationId xmlns:a16="http://schemas.microsoft.com/office/drawing/2014/main" id="{D32993EA-43DF-4882-A621-3E0C9A8551B9}"/>
              </a:ext>
            </a:extLst>
          </p:cNvPr>
          <p:cNvSpPr>
            <a:spLocks noGrp="1" noChangeArrowheads="1"/>
          </p:cNvSpPr>
          <p:nvPr>
            <p:ph type="sldNum" sz="quarter" idx="4"/>
          </p:nvPr>
        </p:nvSpPr>
        <p:spPr bwMode="auto">
          <a:xfrm>
            <a:off x="8737600" y="6248400"/>
            <a:ext cx="25400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r" eaLnBrk="1" hangingPunct="1">
              <a:defRPr sz="1400" smtClean="0"/>
            </a:lvl1pPr>
          </a:lstStyle>
          <a:p>
            <a:pPr>
              <a:defRPr/>
            </a:pPr>
            <a:fld id="{1C51A5B0-5930-434E-B3CB-234EBE7D7E67}" type="slidenum">
              <a:rPr lang="en-US" altLang="en-US"/>
              <a:pPr>
                <a:defRPr/>
              </a:pPr>
              <a:t>‹#›</a:t>
            </a:fld>
            <a:endParaRPr lang="en-US" altLang="en-US"/>
          </a:p>
        </p:txBody>
      </p:sp>
      <p:sp>
        <p:nvSpPr>
          <p:cNvPr id="1031" name="Rectangle 9">
            <a:extLst>
              <a:ext uri="{FF2B5EF4-FFF2-40B4-BE49-F238E27FC236}">
                <a16:creationId xmlns:a16="http://schemas.microsoft.com/office/drawing/2014/main" id="{12603546-1BC9-49AB-B8CE-D29F759C27CD}"/>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2848622434"/>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990D50E-5370-4875-89A5-B43575EFBC2E}"/>
              </a:ext>
            </a:extLst>
          </p:cNvPr>
          <p:cNvGrpSpPr>
            <a:grpSpLocks/>
          </p:cNvGrpSpPr>
          <p:nvPr/>
        </p:nvGrpSpPr>
        <p:grpSpPr bwMode="auto">
          <a:xfrm>
            <a:off x="0" y="0"/>
            <a:ext cx="10160000" cy="6858000"/>
            <a:chOff x="0" y="0"/>
            <a:chExt cx="4800" cy="4320"/>
          </a:xfrm>
        </p:grpSpPr>
        <p:grpSp>
          <p:nvGrpSpPr>
            <p:cNvPr id="1032" name="Group 3">
              <a:extLst>
                <a:ext uri="{FF2B5EF4-FFF2-40B4-BE49-F238E27FC236}">
                  <a16:creationId xmlns:a16="http://schemas.microsoft.com/office/drawing/2014/main" id="{CC07D3A1-7E94-4410-8FFB-EAE9BED466D8}"/>
                </a:ext>
              </a:extLst>
            </p:cNvPr>
            <p:cNvGrpSpPr>
              <a:grpSpLocks/>
            </p:cNvGrpSpPr>
            <p:nvPr userDrawn="1"/>
          </p:nvGrpSpPr>
          <p:grpSpPr bwMode="auto">
            <a:xfrm>
              <a:off x="0" y="0"/>
              <a:ext cx="2016" cy="4320"/>
              <a:chOff x="0" y="0"/>
              <a:chExt cx="2016" cy="4320"/>
            </a:xfrm>
          </p:grpSpPr>
          <p:sp>
            <p:nvSpPr>
              <p:cNvPr id="1036" name="Rectangle 4">
                <a:extLst>
                  <a:ext uri="{FF2B5EF4-FFF2-40B4-BE49-F238E27FC236}">
                    <a16:creationId xmlns:a16="http://schemas.microsoft.com/office/drawing/2014/main" id="{C65CB585-0961-4998-8501-B63678626718}"/>
                  </a:ext>
                </a:extLst>
              </p:cNvPr>
              <p:cNvSpPr>
                <a:spLocks noChangeArrowheads="1"/>
              </p:cNvSpPr>
              <p:nvPr userDrawn="1"/>
            </p:nvSpPr>
            <p:spPr bwMode="auto">
              <a:xfrm>
                <a:off x="0" y="0"/>
                <a:ext cx="480" cy="4320"/>
              </a:xfrm>
              <a:prstGeom prst="rect">
                <a:avLst/>
              </a:prstGeom>
              <a:solidFill>
                <a:schemeClr val="accent2"/>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1037" name="Freeform 5">
                <a:extLst>
                  <a:ext uri="{FF2B5EF4-FFF2-40B4-BE49-F238E27FC236}">
                    <a16:creationId xmlns:a16="http://schemas.microsoft.com/office/drawing/2014/main" id="{CFFE8686-047B-4814-A4DE-06344472F067}"/>
                  </a:ext>
                </a:extLst>
              </p:cNvPr>
              <p:cNvSpPr>
                <a:spLocks/>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1800"/>
              </a:p>
            </p:txBody>
          </p:sp>
        </p:grpSp>
        <p:grpSp>
          <p:nvGrpSpPr>
            <p:cNvPr id="1033" name="Group 6">
              <a:extLst>
                <a:ext uri="{FF2B5EF4-FFF2-40B4-BE49-F238E27FC236}">
                  <a16:creationId xmlns:a16="http://schemas.microsoft.com/office/drawing/2014/main" id="{0523F05A-C690-4294-8CB6-DC8C2F996F5C}"/>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1B72F591-812D-4249-9290-A800D68787D4}"/>
                  </a:ext>
                </a:extLst>
              </p:cNvPr>
              <p:cNvSpPr>
                <a:spLocks noChangeArrowheads="1"/>
              </p:cNvSpPr>
              <p:nvPr/>
            </p:nvSpPr>
            <p:spPr bwMode="auto">
              <a:xfrm>
                <a:off x="384" y="1248"/>
                <a:ext cx="4416" cy="200"/>
              </a:xfrm>
              <a:prstGeom prst="roundRect">
                <a:avLst>
                  <a:gd name="adj" fmla="val 0"/>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1035" name="AutoShape 8">
                <a:extLst>
                  <a:ext uri="{FF2B5EF4-FFF2-40B4-BE49-F238E27FC236}">
                    <a16:creationId xmlns:a16="http://schemas.microsoft.com/office/drawing/2014/main" id="{285CBC24-AAE6-4C4D-A272-CAB9B772E96C}"/>
                  </a:ext>
                </a:extLst>
              </p:cNvPr>
              <p:cNvSpPr>
                <a:spLocks noChangeArrowheads="1"/>
              </p:cNvSpPr>
              <p:nvPr/>
            </p:nvSpPr>
            <p:spPr bwMode="auto">
              <a:xfrm flipH="1">
                <a:off x="144" y="1248"/>
                <a:ext cx="248" cy="201"/>
              </a:xfrm>
              <a:prstGeom prst="flowChartDelay">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grpSp>
      </p:grpSp>
      <p:sp>
        <p:nvSpPr>
          <p:cNvPr id="1027" name="AutoShape 9">
            <a:extLst>
              <a:ext uri="{FF2B5EF4-FFF2-40B4-BE49-F238E27FC236}">
                <a16:creationId xmlns:a16="http://schemas.microsoft.com/office/drawing/2014/main" id="{E893C7FF-6A4E-410F-9EBD-DC152F4CB29F}"/>
              </a:ext>
            </a:extLst>
          </p:cNvPr>
          <p:cNvSpPr>
            <a:spLocks noGrp="1" noChangeArrowheads="1"/>
          </p:cNvSpPr>
          <p:nvPr>
            <p:ph type="title"/>
          </p:nvPr>
        </p:nvSpPr>
        <p:spPr bwMode="auto">
          <a:xfrm>
            <a:off x="1016000" y="762000"/>
            <a:ext cx="10566400" cy="1143000"/>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1028" name="Rectangle 10">
            <a:extLst>
              <a:ext uri="{FF2B5EF4-FFF2-40B4-BE49-F238E27FC236}">
                <a16:creationId xmlns:a16="http://schemas.microsoft.com/office/drawing/2014/main" id="{1606ADDB-1DC4-444C-90E6-6486CCAC8D03}"/>
              </a:ext>
            </a:extLst>
          </p:cNvPr>
          <p:cNvSpPr>
            <a:spLocks noGrp="1" noChangeArrowheads="1"/>
          </p:cNvSpPr>
          <p:nvPr>
            <p:ph type="body" idx="1"/>
          </p:nvPr>
        </p:nvSpPr>
        <p:spPr bwMode="auto">
          <a:xfrm>
            <a:off x="1117601" y="2362201"/>
            <a:ext cx="10257367"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107" name="Rectangle 11">
            <a:extLst>
              <a:ext uri="{FF2B5EF4-FFF2-40B4-BE49-F238E27FC236}">
                <a16:creationId xmlns:a16="http://schemas.microsoft.com/office/drawing/2014/main" id="{91BDE505-5468-4C32-898F-655B0884D730}"/>
              </a:ext>
            </a:extLst>
          </p:cNvPr>
          <p:cNvSpPr>
            <a:spLocks noGrp="1" noChangeArrowheads="1"/>
          </p:cNvSpPr>
          <p:nvPr>
            <p:ph type="dt" sz="half" idx="2"/>
          </p:nvPr>
        </p:nvSpPr>
        <p:spPr bwMode="auto">
          <a:xfrm>
            <a:off x="3251201" y="6248401"/>
            <a:ext cx="2840567" cy="4746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0" sz="1400">
                <a:ea typeface="新細明體" panose="02020500000000000000" pitchFamily="18" charset="-120"/>
              </a:defRPr>
            </a:lvl1pPr>
          </a:lstStyle>
          <a:p>
            <a:pPr>
              <a:defRPr/>
            </a:pPr>
            <a:endParaRPr lang="en-US" altLang="zh-TW"/>
          </a:p>
        </p:txBody>
      </p:sp>
      <p:sp>
        <p:nvSpPr>
          <p:cNvPr id="4108" name="Rectangle 12">
            <a:extLst>
              <a:ext uri="{FF2B5EF4-FFF2-40B4-BE49-F238E27FC236}">
                <a16:creationId xmlns:a16="http://schemas.microsoft.com/office/drawing/2014/main" id="{A19BC657-9B74-4172-81F5-4D173EA383C0}"/>
              </a:ext>
            </a:extLst>
          </p:cNvPr>
          <p:cNvSpPr>
            <a:spLocks noGrp="1" noChangeArrowheads="1"/>
          </p:cNvSpPr>
          <p:nvPr>
            <p:ph type="ftr" sz="quarter" idx="3"/>
          </p:nvPr>
        </p:nvSpPr>
        <p:spPr bwMode="auto">
          <a:xfrm>
            <a:off x="7721600" y="6248401"/>
            <a:ext cx="3862917" cy="4746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kumimoji="0" sz="1400">
                <a:ea typeface="新細明體" panose="02020500000000000000" pitchFamily="18" charset="-120"/>
              </a:defRPr>
            </a:lvl1pPr>
          </a:lstStyle>
          <a:p>
            <a:pPr>
              <a:defRPr/>
            </a:pPr>
            <a:endParaRPr lang="en-US" altLang="zh-TW"/>
          </a:p>
        </p:txBody>
      </p:sp>
      <p:sp>
        <p:nvSpPr>
          <p:cNvPr id="4109" name="Rectangle 13">
            <a:extLst>
              <a:ext uri="{FF2B5EF4-FFF2-40B4-BE49-F238E27FC236}">
                <a16:creationId xmlns:a16="http://schemas.microsoft.com/office/drawing/2014/main" id="{72DB113F-F573-46B5-A403-797085015BEE}"/>
              </a:ext>
            </a:extLst>
          </p:cNvPr>
          <p:cNvSpPr>
            <a:spLocks noGrp="1" noChangeArrowheads="1"/>
          </p:cNvSpPr>
          <p:nvPr>
            <p:ph type="sldNum" sz="quarter" idx="4"/>
          </p:nvPr>
        </p:nvSpPr>
        <p:spPr bwMode="auto">
          <a:xfrm>
            <a:off x="112184" y="6242050"/>
            <a:ext cx="783167" cy="488950"/>
          </a:xfrm>
          <a:prstGeom prst="rect">
            <a:avLst/>
          </a:prstGeom>
          <a:noFill/>
          <a:ln>
            <a:noFill/>
          </a:ln>
          <a:effectLst/>
        </p:spPr>
        <p:txBody>
          <a:bodyPr vert="horz" wrap="square" lIns="91440" tIns="45720" rIns="91440" bIns="45720" numCol="1" anchor="b" anchorCtr="1" compatLnSpc="1">
            <a:prstTxWarp prst="textNoShape">
              <a:avLst/>
            </a:prstTxWarp>
          </a:bodyPr>
          <a:lstStyle>
            <a:lvl1pPr eaLnBrk="1" hangingPunct="1">
              <a:defRPr kumimoji="0" sz="2600" b="1">
                <a:solidFill>
                  <a:schemeClr val="bg1"/>
                </a:solidFill>
                <a:ea typeface="新細明體" panose="02020500000000000000" pitchFamily="18" charset="-120"/>
              </a:defRPr>
            </a:lvl1pPr>
          </a:lstStyle>
          <a:p>
            <a:pPr>
              <a:defRPr/>
            </a:pPr>
            <a:fld id="{F539A86A-3ED8-44C5-93A1-924184A034D5}" type="slidenum">
              <a:rPr lang="en-US" altLang="zh-TW"/>
              <a:pPr>
                <a:defRPr/>
              </a:pPr>
              <a:t>‹#›</a:t>
            </a:fld>
            <a:endParaRPr lang="en-US" altLang="zh-TW"/>
          </a:p>
        </p:txBody>
      </p:sp>
    </p:spTree>
    <p:extLst>
      <p:ext uri="{BB962C8B-B14F-4D97-AF65-F5344CB8AC3E}">
        <p14:creationId xmlns:p14="http://schemas.microsoft.com/office/powerpoint/2010/main" val="12258360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hdr="0" ftr="0" dt="0"/>
  <p:txStyles>
    <p:titleStyle>
      <a:lvl1pPr algn="l" rtl="0" eaLnBrk="0" fontAlgn="base" hangingPunct="0">
        <a:lnSpc>
          <a:spcPct val="90000"/>
        </a:lnSpc>
        <a:spcBef>
          <a:spcPct val="0"/>
        </a:spcBef>
        <a:spcAft>
          <a:spcPct val="0"/>
        </a:spcAft>
        <a:defRPr kumimoji="1" sz="3600" b="1" kern="1200">
          <a:solidFill>
            <a:schemeClr val="tx2"/>
          </a:solidFill>
          <a:latin typeface="+mj-lt"/>
          <a:ea typeface="PMingLiU" panose="02020500000000000000" pitchFamily="18" charset="-120"/>
          <a:cs typeface="+mj-cs"/>
        </a:defRPr>
      </a:lvl1pPr>
      <a:lvl2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2pPr>
      <a:lvl3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3pPr>
      <a:lvl4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4pPr>
      <a:lvl5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5pPr>
      <a:lvl6pPr marL="4572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6pPr>
      <a:lvl7pPr marL="9144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7pPr>
      <a:lvl8pPr marL="13716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8pPr>
      <a:lvl9pPr marL="18288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kumimoji="1" sz="2800" kern="1200">
          <a:solidFill>
            <a:schemeClr val="tx1"/>
          </a:solidFill>
          <a:latin typeface="+mn-lt"/>
          <a:ea typeface="PMingLiU" panose="02020500000000000000" pitchFamily="18" charset="-120"/>
          <a:cs typeface="+mn-cs"/>
        </a:defRPr>
      </a:lvl1pPr>
      <a:lvl2pPr marL="742950" indent="-285750" algn="l" rtl="0" eaLnBrk="0" fontAlgn="base" hangingPunct="0">
        <a:spcBef>
          <a:spcPct val="20000"/>
        </a:spcBef>
        <a:spcAft>
          <a:spcPct val="0"/>
        </a:spcAft>
        <a:buClr>
          <a:schemeClr val="tx1"/>
        </a:buClr>
        <a:buSzPct val="75000"/>
        <a:buChar char="–"/>
        <a:defRPr kumimoji="1" sz="2400" kern="1200">
          <a:solidFill>
            <a:schemeClr val="tx1"/>
          </a:solidFill>
          <a:latin typeface="+mn-lt"/>
          <a:ea typeface="PMingLiU" panose="02020500000000000000" pitchFamily="18" charset="-120"/>
          <a:cs typeface="+mn-cs"/>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kumimoji="1" sz="2000" kern="1200">
          <a:solidFill>
            <a:schemeClr val="tx1"/>
          </a:solidFill>
          <a:latin typeface="+mn-lt"/>
          <a:ea typeface="PMingLiU" panose="02020500000000000000" pitchFamily="18" charset="-120"/>
          <a:cs typeface="+mn-cs"/>
        </a:defRPr>
      </a:lvl3pPr>
      <a:lvl4pPr marL="1600200" indent="-228600" algn="l" rtl="0" eaLnBrk="0" fontAlgn="base" hangingPunct="0">
        <a:spcBef>
          <a:spcPct val="20000"/>
        </a:spcBef>
        <a:spcAft>
          <a:spcPct val="0"/>
        </a:spcAft>
        <a:buClr>
          <a:schemeClr val="tx1"/>
        </a:buClr>
        <a:buSzPct val="80000"/>
        <a:buChar char="–"/>
        <a:defRPr kumimoji="1" kern="1200">
          <a:solidFill>
            <a:schemeClr val="tx1"/>
          </a:solidFill>
          <a:latin typeface="+mn-lt"/>
          <a:ea typeface="PMingLiU" panose="02020500000000000000" pitchFamily="18" charset="-120"/>
          <a:cs typeface="+mn-cs"/>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kumimoji="1" kern="1200">
          <a:solidFill>
            <a:schemeClr val="tx1"/>
          </a:solidFill>
          <a:latin typeface="+mn-lt"/>
          <a:ea typeface="PMingLiU" panose="02020500000000000000" pitchFamily="18"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6458366"/>
            <a:ext cx="12192000" cy="399633"/>
          </a:xfrm>
          <a:prstGeom prst="rect">
            <a:avLst/>
          </a:prstGeom>
        </p:spPr>
      </p:pic>
      <p:pic>
        <p:nvPicPr>
          <p:cNvPr id="17" name="bg object 17"/>
          <p:cNvPicPr/>
          <p:nvPr/>
        </p:nvPicPr>
        <p:blipFill>
          <a:blip r:embed="rId8" cstate="print"/>
          <a:stretch>
            <a:fillRect/>
          </a:stretch>
        </p:blipFill>
        <p:spPr>
          <a:xfrm>
            <a:off x="7824192" y="6543201"/>
            <a:ext cx="361397" cy="270181"/>
          </a:xfrm>
          <a:prstGeom prst="rect">
            <a:avLst/>
          </a:prstGeom>
        </p:spPr>
      </p:pic>
      <p:sp>
        <p:nvSpPr>
          <p:cNvPr id="2" name="Holder 2"/>
          <p:cNvSpPr>
            <a:spLocks noGrp="1"/>
          </p:cNvSpPr>
          <p:nvPr>
            <p:ph type="title"/>
          </p:nvPr>
        </p:nvSpPr>
        <p:spPr>
          <a:xfrm>
            <a:off x="2127463" y="3095377"/>
            <a:ext cx="7937072" cy="635000"/>
          </a:xfrm>
          <a:prstGeom prst="rect">
            <a:avLst/>
          </a:prstGeom>
        </p:spPr>
        <p:txBody>
          <a:bodyPr wrap="square" lIns="0" tIns="0" rIns="0" bIns="0">
            <a:spAutoFit/>
          </a:bodyPr>
          <a:lstStyle>
            <a:lvl1pPr>
              <a:defRPr sz="4000" b="1" i="0">
                <a:solidFill>
                  <a:schemeClr val="tx2"/>
                </a:solidFill>
                <a:latin typeface="Arial"/>
                <a:cs typeface="Arial"/>
              </a:defRPr>
            </a:lvl1pPr>
          </a:lstStyle>
          <a:p>
            <a:endParaRPr/>
          </a:p>
        </p:txBody>
      </p:sp>
      <p:sp>
        <p:nvSpPr>
          <p:cNvPr id="3" name="Holder 3"/>
          <p:cNvSpPr>
            <a:spLocks noGrp="1"/>
          </p:cNvSpPr>
          <p:nvPr>
            <p:ph type="body" idx="1"/>
          </p:nvPr>
        </p:nvSpPr>
        <p:spPr>
          <a:xfrm>
            <a:off x="567606" y="1039664"/>
            <a:ext cx="11056788" cy="369332"/>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8258133" y="6541868"/>
            <a:ext cx="1160779" cy="243656"/>
          </a:xfrm>
          <a:prstGeom prst="rect">
            <a:avLst/>
          </a:prstGeom>
        </p:spPr>
        <p:txBody>
          <a:bodyPr wrap="square" lIns="0" tIns="0" rIns="0" bIns="0">
            <a:spAutoFit/>
          </a:bodyPr>
          <a:lstStyle>
            <a:lvl1pPr>
              <a:defRPr sz="1600" b="1" i="1">
                <a:solidFill>
                  <a:schemeClr val="bg1"/>
                </a:solidFill>
                <a:latin typeface="Georgia"/>
                <a:cs typeface="Georgia"/>
              </a:defRPr>
            </a:lvl1pPr>
          </a:lstStyle>
          <a:p>
            <a:pPr marL="12700">
              <a:lnSpc>
                <a:spcPts val="1885"/>
              </a:lnSpc>
            </a:pPr>
            <a:r>
              <a:rPr lang="en-IN" spc="-5"/>
              <a:t>InfoLab</a:t>
            </a:r>
            <a:endParaRPr lang="en-IN" spc="-5" dirty="0"/>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6" name="Holder 6"/>
          <p:cNvSpPr>
            <a:spLocks noGrp="1"/>
          </p:cNvSpPr>
          <p:nvPr>
            <p:ph type="sldNum" sz="quarter" idx="7"/>
          </p:nvPr>
        </p:nvSpPr>
        <p:spPr>
          <a:xfrm>
            <a:off x="5704185" y="6587087"/>
            <a:ext cx="364913" cy="192360"/>
          </a:xfrm>
          <a:prstGeom prst="rect">
            <a:avLst/>
          </a:prstGeom>
        </p:spPr>
        <p:txBody>
          <a:bodyPr wrap="square" lIns="0" tIns="0" rIns="0" bIns="0">
            <a:spAutoFit/>
          </a:bodyPr>
          <a:lstStyle>
            <a:lvl1pPr>
              <a:defRPr sz="1400" b="1" i="0">
                <a:solidFill>
                  <a:schemeClr val="bg1"/>
                </a:solidFill>
                <a:latin typeface="Arial"/>
                <a:cs typeface="Arial"/>
              </a:defRPr>
            </a:lvl1pPr>
          </a:lstStyle>
          <a:p>
            <a:pPr marL="38100">
              <a:lnSpc>
                <a:spcPts val="1460"/>
              </a:lnSpc>
            </a:pPr>
            <a:fld id="{81D60167-4931-47E6-BA6A-407CBD079E47}" type="slidenum">
              <a:rPr lang="en-IN" smtClean="0"/>
              <a:pPr marL="38100">
                <a:lnSpc>
                  <a:spcPts val="1460"/>
                </a:lnSpc>
              </a:pPr>
              <a:t>‹#›</a:t>
            </a:fld>
            <a:endParaRPr lang="en-IN" dirty="0"/>
          </a:p>
        </p:txBody>
      </p:sp>
    </p:spTree>
    <p:extLst>
      <p:ext uri="{BB962C8B-B14F-4D97-AF65-F5344CB8AC3E}">
        <p14:creationId xmlns:p14="http://schemas.microsoft.com/office/powerpoint/2010/main" val="1983082555"/>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upgrad.com/blog/deep-learning-career-path/" TargetMode="External"/><Relationship Id="rId1" Type="http://schemas.openxmlformats.org/officeDocument/2006/relationships/slideLayout" Target="../slideLayouts/slideLayout13.xml"/><Relationship Id="rId6" Type="http://schemas.openxmlformats.org/officeDocument/2006/relationships/hyperlink" Target="https://smartboost.com/blog/deep-learning-vs-neural-network/" TargetMode="External"/><Relationship Id="rId5" Type="http://schemas.openxmlformats.org/officeDocument/2006/relationships/hyperlink" Target="https://www.upgrad.com/blog/deep-learning-vs-neural-networks-difference-between-deep-learning-and-neural-networks/" TargetMode="Externa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prisma-ai.com/" TargetMode="External"/><Relationship Id="rId2" Type="http://schemas.openxmlformats.org/officeDocument/2006/relationships/hyperlink" Target="https://www.faceapp.com/" TargetMode="Externa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g"/><Relationship Id="rId1" Type="http://schemas.openxmlformats.org/officeDocument/2006/relationships/slideLayout" Target="../slideLayouts/slideLayout27.xml"/><Relationship Id="rId5" Type="http://schemas.openxmlformats.org/officeDocument/2006/relationships/hyperlink" Target="http://www.youtube.com/watch?v=vfnxKO2rMq4" TargetMode="External"/><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g"/><Relationship Id="rId1" Type="http://schemas.openxmlformats.org/officeDocument/2006/relationships/slideLayout" Target="../slideLayouts/slideLayout27.xml"/><Relationship Id="rId4" Type="http://schemas.openxmlformats.org/officeDocument/2006/relationships/image" Target="../media/image16.jp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g"/><Relationship Id="rId1" Type="http://schemas.openxmlformats.org/officeDocument/2006/relationships/slideLayout" Target="../slideLayouts/slideLayout27.xml"/><Relationship Id="rId5" Type="http://schemas.openxmlformats.org/officeDocument/2006/relationships/image" Target="../media/image18.png"/><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g"/><Relationship Id="rId1" Type="http://schemas.openxmlformats.org/officeDocument/2006/relationships/slideLayout" Target="../slideLayouts/slideLayout27.xml"/><Relationship Id="rId5" Type="http://schemas.openxmlformats.org/officeDocument/2006/relationships/image" Target="../media/image18.png"/><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g"/><Relationship Id="rId1" Type="http://schemas.openxmlformats.org/officeDocument/2006/relationships/slideLayout" Target="../slideLayouts/slideLayout27.xml"/><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g"/><Relationship Id="rId1" Type="http://schemas.openxmlformats.org/officeDocument/2006/relationships/slideLayout" Target="../slideLayouts/slideLayout27.xml"/><Relationship Id="rId6" Type="http://schemas.openxmlformats.org/officeDocument/2006/relationships/image" Target="../media/image16.jp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6.jpg"/><Relationship Id="rId2" Type="http://schemas.openxmlformats.org/officeDocument/2006/relationships/image" Target="../media/image3.jpg"/><Relationship Id="rId1" Type="http://schemas.openxmlformats.org/officeDocument/2006/relationships/slideLayout" Target="../slideLayouts/slideLayout2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jpg"/><Relationship Id="rId1" Type="http://schemas.openxmlformats.org/officeDocument/2006/relationships/slideLayout" Target="../slideLayouts/slideLayout2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pn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jpg"/><Relationship Id="rId1" Type="http://schemas.openxmlformats.org/officeDocument/2006/relationships/slideLayout" Target="../slideLayouts/slideLayout27.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jpg"/><Relationship Id="rId1" Type="http://schemas.openxmlformats.org/officeDocument/2006/relationships/slideLayout" Target="../slideLayouts/slideLayout27.xml"/><Relationship Id="rId5" Type="http://schemas.openxmlformats.org/officeDocument/2006/relationships/image" Target="../media/image50.png"/><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jpg"/><Relationship Id="rId1" Type="http://schemas.openxmlformats.org/officeDocument/2006/relationships/slideLayout" Target="../slideLayouts/slideLayout27.xml"/><Relationship Id="rId6" Type="http://schemas.openxmlformats.org/officeDocument/2006/relationships/image" Target="../media/image52.png"/><Relationship Id="rId5" Type="http://schemas.openxmlformats.org/officeDocument/2006/relationships/image" Target="../media/image51.jp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jpg"/><Relationship Id="rId1" Type="http://schemas.openxmlformats.org/officeDocument/2006/relationships/slideLayout" Target="../slideLayouts/slideLayout27.xml"/><Relationship Id="rId6" Type="http://schemas.openxmlformats.org/officeDocument/2006/relationships/image" Target="../media/image54.jpg"/><Relationship Id="rId5" Type="http://schemas.openxmlformats.org/officeDocument/2006/relationships/image" Target="../media/image53.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7.xml"/><Relationship Id="rId5" Type="http://schemas.openxmlformats.org/officeDocument/2006/relationships/image" Target="../media/image58.png"/><Relationship Id="rId4" Type="http://schemas.openxmlformats.org/officeDocument/2006/relationships/image" Target="../media/image57.pn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jpg"/><Relationship Id="rId1" Type="http://schemas.openxmlformats.org/officeDocument/2006/relationships/slideLayout" Target="../slideLayouts/slideLayout27.xml"/><Relationship Id="rId6" Type="http://schemas.openxmlformats.org/officeDocument/2006/relationships/image" Target="../media/image59.png"/><Relationship Id="rId5" Type="http://schemas.openxmlformats.org/officeDocument/2006/relationships/image" Target="../media/image57.png"/><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jpg"/><Relationship Id="rId1" Type="http://schemas.openxmlformats.org/officeDocument/2006/relationships/slideLayout" Target="../slideLayouts/slideLayout27.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3.xml"/><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jpe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 Id="rId5" Type="http://schemas.openxmlformats.org/officeDocument/2006/relationships/image" Target="../media/image84.png"/><Relationship Id="rId4" Type="http://schemas.openxmlformats.org/officeDocument/2006/relationships/image" Target="../media/image83.png"/></Relationships>
</file>

<file path=ppt/slides/_rels/slide7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1.png"/><Relationship Id="rId1" Type="http://schemas.openxmlformats.org/officeDocument/2006/relationships/slideLayout" Target="../slideLayouts/slideLayout13.xml"/><Relationship Id="rId4" Type="http://schemas.openxmlformats.org/officeDocument/2006/relationships/image" Target="../media/image82.png"/></Relationships>
</file>

<file path=ppt/slides/_rels/slide7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hyperlink" Target="https://en.wikipedia.org/wiki/Deep_neural_network" TargetMode="External"/><Relationship Id="rId2" Type="http://schemas.openxmlformats.org/officeDocument/2006/relationships/hyperlink" Target="https://en.wikipedia.org/wiki/Deep_learning" TargetMode="External"/><Relationship Id="rId1" Type="http://schemas.openxmlformats.org/officeDocument/2006/relationships/slideLayout" Target="../slideLayouts/slideLayout13.xml"/><Relationship Id="rId4" Type="http://schemas.openxmlformats.org/officeDocument/2006/relationships/image" Target="../media/image8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94.gif"/><Relationship Id="rId2" Type="http://schemas.openxmlformats.org/officeDocument/2006/relationships/image" Target="../media/image93.gif"/><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96.gif"/><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2">
            <a:extLst>
              <a:ext uri="{FF2B5EF4-FFF2-40B4-BE49-F238E27FC236}">
                <a16:creationId xmlns:a16="http://schemas.microsoft.com/office/drawing/2014/main" id="{D923436B-6153-4782-9A1E-16260624EA29}"/>
              </a:ext>
            </a:extLst>
          </p:cNvPr>
          <p:cNvSpPr>
            <a:spLocks noGrp="1" noChangeArrowheads="1"/>
          </p:cNvSpPr>
          <p:nvPr>
            <p:ph type="ctrTitle"/>
          </p:nvPr>
        </p:nvSpPr>
        <p:spPr>
          <a:xfrm>
            <a:off x="745067" y="990600"/>
            <a:ext cx="10961659" cy="2293938"/>
          </a:xfrm>
        </p:spPr>
        <p:txBody>
          <a:bodyPr/>
          <a:lstStyle/>
          <a:p>
            <a:pPr eaLnBrk="1" hangingPunct="1"/>
            <a:r>
              <a:rPr lang="en-IN" sz="4400" dirty="0"/>
              <a:t>Autoencoders and CNN</a:t>
            </a:r>
            <a:br>
              <a:rPr lang="en-IN" sz="4400" dirty="0"/>
            </a:br>
            <a:r>
              <a:rPr lang="en-US" altLang="zh-TW" sz="4400" dirty="0"/>
              <a:t>(UNIT-3)</a:t>
            </a:r>
          </a:p>
        </p:txBody>
      </p:sp>
      <p:sp>
        <p:nvSpPr>
          <p:cNvPr id="6" name="Subtitle 1">
            <a:extLst>
              <a:ext uri="{FF2B5EF4-FFF2-40B4-BE49-F238E27FC236}">
                <a16:creationId xmlns:a16="http://schemas.microsoft.com/office/drawing/2014/main" id="{B31A0392-2835-4BA5-95B7-9532FC0FEDCB}"/>
              </a:ext>
            </a:extLst>
          </p:cNvPr>
          <p:cNvSpPr>
            <a:spLocks noGrp="1"/>
          </p:cNvSpPr>
          <p:nvPr>
            <p:ph type="subTitle" idx="1"/>
          </p:nvPr>
        </p:nvSpPr>
        <p:spPr>
          <a:xfrm>
            <a:off x="6096000" y="3050918"/>
            <a:ext cx="5931877" cy="1822450"/>
          </a:xfrm>
        </p:spPr>
        <p:txBody>
          <a:bodyPr/>
          <a:lstStyle/>
          <a:p>
            <a:r>
              <a:rPr lang="en-IN" sz="3200" b="1" dirty="0"/>
              <a:t>Introduction to NN and DNN</a:t>
            </a:r>
          </a:p>
        </p:txBody>
      </p:sp>
      <p:sp>
        <p:nvSpPr>
          <p:cNvPr id="2" name="Subtitle 1">
            <a:extLst>
              <a:ext uri="{FF2B5EF4-FFF2-40B4-BE49-F238E27FC236}">
                <a16:creationId xmlns:a16="http://schemas.microsoft.com/office/drawing/2014/main" id="{577A55A2-8048-5586-9A52-FF151A92C1F6}"/>
              </a:ext>
            </a:extLst>
          </p:cNvPr>
          <p:cNvSpPr txBox="1">
            <a:spLocks/>
          </p:cNvSpPr>
          <p:nvPr/>
        </p:nvSpPr>
        <p:spPr bwMode="auto">
          <a:xfrm>
            <a:off x="6096000" y="5035550"/>
            <a:ext cx="5931877"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marL="0" indent="0" algn="l" rtl="0" eaLnBrk="0" fontAlgn="base" hangingPunct="0">
              <a:spcBef>
                <a:spcPct val="20000"/>
              </a:spcBef>
              <a:spcAft>
                <a:spcPct val="0"/>
              </a:spcAft>
              <a:buClr>
                <a:schemeClr val="tx1"/>
              </a:buClr>
              <a:buSzPct val="75000"/>
              <a:buFont typeface="Wingdings" panose="05000000000000000000" pitchFamily="2" charset="2"/>
              <a:buNone/>
              <a:defRPr kumimoji="1" sz="2800" kern="1200">
                <a:solidFill>
                  <a:schemeClr val="tx2"/>
                </a:solidFill>
                <a:latin typeface="+mn-lt"/>
                <a:ea typeface="PMingLiU" panose="02020500000000000000" pitchFamily="18" charset="-120"/>
                <a:cs typeface="+mn-cs"/>
              </a:defRPr>
            </a:lvl1pPr>
            <a:lvl2pPr marL="742950" indent="-285750" algn="l" rtl="0" eaLnBrk="0" fontAlgn="base" hangingPunct="0">
              <a:spcBef>
                <a:spcPct val="20000"/>
              </a:spcBef>
              <a:spcAft>
                <a:spcPct val="0"/>
              </a:spcAft>
              <a:buClr>
                <a:schemeClr val="tx1"/>
              </a:buClr>
              <a:buSzPct val="75000"/>
              <a:buChar char="–"/>
              <a:defRPr kumimoji="1" sz="2400" kern="1200">
                <a:solidFill>
                  <a:schemeClr val="tx1"/>
                </a:solidFill>
                <a:latin typeface="+mn-lt"/>
                <a:ea typeface="PMingLiU" panose="02020500000000000000" pitchFamily="18" charset="-120"/>
                <a:cs typeface="+mn-cs"/>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kumimoji="1" sz="2000" kern="1200">
                <a:solidFill>
                  <a:schemeClr val="tx1"/>
                </a:solidFill>
                <a:latin typeface="+mn-lt"/>
                <a:ea typeface="PMingLiU" panose="02020500000000000000" pitchFamily="18" charset="-120"/>
                <a:cs typeface="+mn-cs"/>
              </a:defRPr>
            </a:lvl3pPr>
            <a:lvl4pPr marL="1600200" indent="-228600" algn="l" rtl="0" eaLnBrk="0" fontAlgn="base" hangingPunct="0">
              <a:spcBef>
                <a:spcPct val="20000"/>
              </a:spcBef>
              <a:spcAft>
                <a:spcPct val="0"/>
              </a:spcAft>
              <a:buClr>
                <a:schemeClr val="tx1"/>
              </a:buClr>
              <a:buSzPct val="80000"/>
              <a:buChar char="–"/>
              <a:defRPr kumimoji="1" kern="1200">
                <a:solidFill>
                  <a:schemeClr val="tx1"/>
                </a:solidFill>
                <a:latin typeface="+mn-lt"/>
                <a:ea typeface="PMingLiU" panose="02020500000000000000" pitchFamily="18" charset="-120"/>
                <a:cs typeface="+mn-cs"/>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kumimoji="1" kern="1200">
                <a:solidFill>
                  <a:schemeClr val="tx1"/>
                </a:solidFill>
                <a:latin typeface="+mn-lt"/>
                <a:ea typeface="PMingLiU" panose="02020500000000000000" pitchFamily="18"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err="1"/>
              <a:t>Dr.</a:t>
            </a:r>
            <a:r>
              <a:rPr lang="en-IN" b="1" dirty="0"/>
              <a:t> Supriya Patil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2">
            <a:extLst>
              <a:ext uri="{FF2B5EF4-FFF2-40B4-BE49-F238E27FC236}">
                <a16:creationId xmlns:a16="http://schemas.microsoft.com/office/drawing/2014/main" id="{D923436B-6153-4782-9A1E-16260624EA29}"/>
              </a:ext>
            </a:extLst>
          </p:cNvPr>
          <p:cNvSpPr>
            <a:spLocks noGrp="1" noChangeArrowheads="1"/>
          </p:cNvSpPr>
          <p:nvPr>
            <p:ph type="ctrTitle"/>
          </p:nvPr>
        </p:nvSpPr>
        <p:spPr>
          <a:xfrm>
            <a:off x="745067" y="990600"/>
            <a:ext cx="10961659" cy="2293938"/>
          </a:xfrm>
        </p:spPr>
        <p:txBody>
          <a:bodyPr/>
          <a:lstStyle/>
          <a:p>
            <a:pPr algn="l" eaLnBrk="1" hangingPunct="1"/>
            <a:r>
              <a:rPr lang="en-IN" sz="6000" b="1" dirty="0"/>
              <a:t>Introduction</a:t>
            </a:r>
            <a:endParaRPr lang="en-US" altLang="zh-TW" sz="6000" dirty="0"/>
          </a:p>
        </p:txBody>
      </p:sp>
    </p:spTree>
    <p:extLst>
      <p:ext uri="{BB962C8B-B14F-4D97-AF65-F5344CB8AC3E}">
        <p14:creationId xmlns:p14="http://schemas.microsoft.com/office/powerpoint/2010/main" val="3001405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D6574-6D01-4971-9CF1-3EC582496B81}"/>
              </a:ext>
            </a:extLst>
          </p:cNvPr>
          <p:cNvSpPr>
            <a:spLocks noGrp="1"/>
          </p:cNvSpPr>
          <p:nvPr>
            <p:ph type="title"/>
          </p:nvPr>
        </p:nvSpPr>
        <p:spPr/>
        <p:txBody>
          <a:bodyPr/>
          <a:lstStyle/>
          <a:p>
            <a:r>
              <a:rPr lang="en-IN" dirty="0"/>
              <a:t>ANN and DNN</a:t>
            </a:r>
          </a:p>
        </p:txBody>
      </p:sp>
      <p:sp>
        <p:nvSpPr>
          <p:cNvPr id="4" name="Slide Number Placeholder 3">
            <a:extLst>
              <a:ext uri="{FF2B5EF4-FFF2-40B4-BE49-F238E27FC236}">
                <a16:creationId xmlns:a16="http://schemas.microsoft.com/office/drawing/2014/main" id="{50BC4BE5-31FB-45E8-A238-4621B9DACA6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1026" name="Picture 2">
            <a:extLst>
              <a:ext uri="{FF2B5EF4-FFF2-40B4-BE49-F238E27FC236}">
                <a16:creationId xmlns:a16="http://schemas.microsoft.com/office/drawing/2014/main" id="{B5FF143E-7200-4491-B1A7-98AF2D9C6B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4041" y="2362200"/>
            <a:ext cx="9723955" cy="3724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050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1FE5-1511-41F5-9658-9D8CCD7E2BA6}"/>
              </a:ext>
            </a:extLst>
          </p:cNvPr>
          <p:cNvSpPr>
            <a:spLocks noGrp="1"/>
          </p:cNvSpPr>
          <p:nvPr>
            <p:ph type="title"/>
          </p:nvPr>
        </p:nvSpPr>
        <p:spPr/>
        <p:txBody>
          <a:bodyPr/>
          <a:lstStyle/>
          <a:p>
            <a:r>
              <a:rPr lang="en-IN" dirty="0"/>
              <a:t>Difference between ANN and DNN</a:t>
            </a:r>
          </a:p>
        </p:txBody>
      </p:sp>
      <p:graphicFrame>
        <p:nvGraphicFramePr>
          <p:cNvPr id="5" name="Table 5">
            <a:extLst>
              <a:ext uri="{FF2B5EF4-FFF2-40B4-BE49-F238E27FC236}">
                <a16:creationId xmlns:a16="http://schemas.microsoft.com/office/drawing/2014/main" id="{7BFE2A54-C214-459D-B889-1D0394E6DED2}"/>
              </a:ext>
            </a:extLst>
          </p:cNvPr>
          <p:cNvGraphicFramePr>
            <a:graphicFrameLocks noGrp="1"/>
          </p:cNvGraphicFramePr>
          <p:nvPr>
            <p:ph idx="1"/>
          </p:nvPr>
        </p:nvGraphicFramePr>
        <p:xfrm>
          <a:off x="1106906" y="2407920"/>
          <a:ext cx="10972910" cy="4315078"/>
        </p:xfrm>
        <a:graphic>
          <a:graphicData uri="http://schemas.openxmlformats.org/drawingml/2006/table">
            <a:tbl>
              <a:tblPr firstRow="1" bandRow="1">
                <a:tableStyleId>{5C22544A-7EE6-4342-B048-85BDC9FD1C3A}</a:tableStyleId>
              </a:tblPr>
              <a:tblGrid>
                <a:gridCol w="1515978">
                  <a:extLst>
                    <a:ext uri="{9D8B030D-6E8A-4147-A177-3AD203B41FA5}">
                      <a16:colId xmlns:a16="http://schemas.microsoft.com/office/drawing/2014/main" val="4225163009"/>
                    </a:ext>
                  </a:extLst>
                </a:gridCol>
                <a:gridCol w="4656221">
                  <a:extLst>
                    <a:ext uri="{9D8B030D-6E8A-4147-A177-3AD203B41FA5}">
                      <a16:colId xmlns:a16="http://schemas.microsoft.com/office/drawing/2014/main" val="3492010168"/>
                    </a:ext>
                  </a:extLst>
                </a:gridCol>
                <a:gridCol w="4800711">
                  <a:extLst>
                    <a:ext uri="{9D8B030D-6E8A-4147-A177-3AD203B41FA5}">
                      <a16:colId xmlns:a16="http://schemas.microsoft.com/office/drawing/2014/main" val="1737782714"/>
                    </a:ext>
                  </a:extLst>
                </a:gridCol>
              </a:tblGrid>
              <a:tr h="1570047">
                <a:tc>
                  <a:txBody>
                    <a:bodyPr/>
                    <a:lstStyle/>
                    <a:p>
                      <a:endParaRPr lang="en-IN" dirty="0"/>
                    </a:p>
                    <a:p>
                      <a:endParaRPr lang="en-IN" dirty="0"/>
                    </a:p>
                    <a:p>
                      <a:endParaRPr lang="en-IN" dirty="0"/>
                    </a:p>
                    <a:p>
                      <a:endParaRPr lang="en-IN" dirty="0"/>
                    </a:p>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62816557"/>
                  </a:ext>
                </a:extLst>
              </a:tr>
              <a:tr h="883151">
                <a:tc>
                  <a:txBody>
                    <a:bodyPr/>
                    <a:lstStyle/>
                    <a:p>
                      <a:r>
                        <a:rPr lang="en-IN" sz="1200" b="1" dirty="0"/>
                        <a:t>Definition</a:t>
                      </a:r>
                    </a:p>
                  </a:txBody>
                  <a:tcPr/>
                </a:tc>
                <a:tc>
                  <a:txBody>
                    <a:bodyPr/>
                    <a:lstStyle/>
                    <a:p>
                      <a:r>
                        <a:rPr lang="en-IN" sz="1200" dirty="0"/>
                        <a:t>A neural network is a model of neurons inspired by the human brain. It consists of many neurons and their connections. A neuron can be represented as an activation function with several inputs and one output  </a:t>
                      </a:r>
                    </a:p>
                  </a:txBody>
                  <a:tcPr/>
                </a:tc>
                <a:tc>
                  <a:txBody>
                    <a:bodyPr/>
                    <a:lstStyle/>
                    <a:p>
                      <a:r>
                        <a:rPr lang="en-IN" sz="1200" dirty="0"/>
                        <a:t>DNN are distinguished from NN on the basis of their depth, which is the number of hidden layers through which the data is passed.</a:t>
                      </a:r>
                    </a:p>
                    <a:p>
                      <a:r>
                        <a:rPr lang="en-IN" sz="1200" dirty="0"/>
                        <a:t>DNNs have more nodes in all the hidden layers. </a:t>
                      </a:r>
                    </a:p>
                  </a:txBody>
                  <a:tcPr/>
                </a:tc>
                <a:extLst>
                  <a:ext uri="{0D108BD9-81ED-4DB2-BD59-A6C34878D82A}">
                    <a16:rowId xmlns:a16="http://schemas.microsoft.com/office/drawing/2014/main" val="1230589813"/>
                  </a:ext>
                </a:extLst>
              </a:tr>
              <a:tr h="490640">
                <a:tc>
                  <a:txBody>
                    <a:bodyPr/>
                    <a:lstStyle/>
                    <a:p>
                      <a:r>
                        <a:rPr lang="en-IN" sz="1200" b="1" dirty="0"/>
                        <a:t>Components</a:t>
                      </a:r>
                    </a:p>
                  </a:txBody>
                  <a:tcPr/>
                </a:tc>
                <a:tc>
                  <a:txBody>
                    <a:bodyPr/>
                    <a:lstStyle/>
                    <a:p>
                      <a:r>
                        <a:rPr lang="en-IN" sz="1200" dirty="0"/>
                        <a:t>Neurons. Connections, weights, activation functions and learning rate. </a:t>
                      </a:r>
                    </a:p>
                  </a:txBody>
                  <a:tcPr/>
                </a:tc>
                <a:tc>
                  <a:txBody>
                    <a:bodyPr/>
                    <a:lstStyle/>
                    <a:p>
                      <a:r>
                        <a:rPr lang="en-IN" sz="1200" dirty="0"/>
                        <a:t> Mother board (</a:t>
                      </a:r>
                      <a:r>
                        <a:rPr lang="en-IN" sz="1200" kern="1200" dirty="0">
                          <a:solidFill>
                            <a:schemeClr val="dk1"/>
                          </a:solidFill>
                          <a:latin typeface="+mn-lt"/>
                          <a:ea typeface="+mn-ea"/>
                          <a:cs typeface="+mn-cs"/>
                        </a:rPr>
                        <a:t>PCI-e lanes.), </a:t>
                      </a:r>
                      <a:r>
                        <a:rPr lang="en-IN" sz="1200" dirty="0"/>
                        <a:t>GPU, TPU, huge RAM, large Power supply unit.</a:t>
                      </a:r>
                    </a:p>
                  </a:txBody>
                  <a:tcPr/>
                </a:tc>
                <a:extLst>
                  <a:ext uri="{0D108BD9-81ED-4DB2-BD59-A6C34878D82A}">
                    <a16:rowId xmlns:a16="http://schemas.microsoft.com/office/drawing/2014/main" val="3289270321"/>
                  </a:ext>
                </a:extLst>
              </a:tr>
              <a:tr h="397963">
                <a:tc>
                  <a:txBody>
                    <a:bodyPr/>
                    <a:lstStyle/>
                    <a:p>
                      <a:pPr marL="0" algn="l" defTabSz="914400" rtl="0" eaLnBrk="1" latinLnBrk="0" hangingPunct="1"/>
                      <a:r>
                        <a:rPr lang="en-IN" sz="1200" b="1" kern="1200" dirty="0">
                          <a:solidFill>
                            <a:schemeClr val="dk1"/>
                          </a:solidFill>
                          <a:latin typeface="+mn-lt"/>
                          <a:ea typeface="+mn-ea"/>
                          <a:cs typeface="+mn-cs"/>
                        </a:rPr>
                        <a:t>Time taken</a:t>
                      </a:r>
                    </a:p>
                  </a:txBody>
                  <a:tcPr/>
                </a:tc>
                <a:tc>
                  <a:txBody>
                    <a:bodyPr/>
                    <a:lstStyle/>
                    <a:p>
                      <a:r>
                        <a:rPr lang="en-IN" sz="1200" kern="1200" dirty="0">
                          <a:solidFill>
                            <a:schemeClr val="dk1"/>
                          </a:solidFill>
                          <a:latin typeface="+mn-lt"/>
                          <a:ea typeface="+mn-ea"/>
                          <a:cs typeface="+mn-cs"/>
                        </a:rPr>
                        <a:t>Less time require to train the network</a:t>
                      </a:r>
                    </a:p>
                  </a:txBody>
                  <a:tcPr/>
                </a:tc>
                <a:tc>
                  <a:txBody>
                    <a:bodyPr/>
                    <a:lstStyle/>
                    <a:p>
                      <a:r>
                        <a:rPr lang="en-IN" sz="1200" kern="1200" dirty="0">
                          <a:solidFill>
                            <a:schemeClr val="dk1"/>
                          </a:solidFill>
                          <a:latin typeface="+mn-lt"/>
                          <a:ea typeface="+mn-ea"/>
                          <a:cs typeface="+mn-cs"/>
                        </a:rPr>
                        <a:t>More time required to train the network</a:t>
                      </a:r>
                    </a:p>
                  </a:txBody>
                  <a:tcPr/>
                </a:tc>
                <a:extLst>
                  <a:ext uri="{0D108BD9-81ED-4DB2-BD59-A6C34878D82A}">
                    <a16:rowId xmlns:a16="http://schemas.microsoft.com/office/drawing/2014/main" val="4149544521"/>
                  </a:ext>
                </a:extLst>
              </a:tr>
              <a:tr h="482637">
                <a:tc>
                  <a:txBody>
                    <a:bodyPr/>
                    <a:lstStyle/>
                    <a:p>
                      <a:pPr marL="0" algn="l" defTabSz="914400" rtl="0" eaLnBrk="1" latinLnBrk="0" hangingPunct="1"/>
                      <a:r>
                        <a:rPr lang="en-IN" sz="1200" b="1" kern="1200" dirty="0">
                          <a:solidFill>
                            <a:schemeClr val="dk1"/>
                          </a:solidFill>
                          <a:latin typeface="+mn-lt"/>
                          <a:ea typeface="+mn-ea"/>
                          <a:cs typeface="+mn-cs"/>
                        </a:rPr>
                        <a:t>Interpretability</a:t>
                      </a:r>
                    </a:p>
                  </a:txBody>
                  <a:tcPr/>
                </a:tc>
                <a:tc>
                  <a:txBody>
                    <a:bodyPr/>
                    <a:lstStyle/>
                    <a:p>
                      <a:r>
                        <a:rPr lang="en-IN" sz="1200" kern="1200" dirty="0">
                          <a:solidFill>
                            <a:schemeClr val="dk1"/>
                          </a:solidFill>
                          <a:latin typeface="+mn-lt"/>
                          <a:ea typeface="+mn-ea"/>
                          <a:cs typeface="+mn-cs"/>
                        </a:rPr>
                        <a:t>Less accuracy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noProof="0" dirty="0">
                          <a:solidFill>
                            <a:schemeClr val="dk1"/>
                          </a:solidFill>
                          <a:latin typeface="+mn-lt"/>
                          <a:ea typeface="+mn-ea"/>
                          <a:cs typeface="+mn-cs"/>
                        </a:rPr>
                        <a:t>Better accuracy</a:t>
                      </a:r>
                    </a:p>
                    <a:p>
                      <a:endParaRPr lang="en-IN" sz="1200" kern="1200" dirty="0">
                        <a:solidFill>
                          <a:schemeClr val="dk1"/>
                        </a:solidFill>
                        <a:latin typeface="+mn-lt"/>
                        <a:ea typeface="+mn-ea"/>
                        <a:cs typeface="+mn-cs"/>
                      </a:endParaRPr>
                    </a:p>
                  </a:txBody>
                  <a:tcPr/>
                </a:tc>
                <a:extLst>
                  <a:ext uri="{0D108BD9-81ED-4DB2-BD59-A6C34878D82A}">
                    <a16:rowId xmlns:a16="http://schemas.microsoft.com/office/drawing/2014/main" val="1291566894"/>
                  </a:ext>
                </a:extLst>
              </a:tr>
              <a:tr h="490640">
                <a:tc>
                  <a:txBody>
                    <a:bodyPr/>
                    <a:lstStyle/>
                    <a:p>
                      <a:pPr marL="0" algn="l" defTabSz="914400" rtl="0" eaLnBrk="1" latinLnBrk="0" hangingPunct="1"/>
                      <a:r>
                        <a:rPr lang="en-IN" sz="1200" b="1" kern="1200" dirty="0">
                          <a:solidFill>
                            <a:schemeClr val="dk1"/>
                          </a:solidFill>
                          <a:latin typeface="+mn-lt"/>
                          <a:ea typeface="+mn-ea"/>
                          <a:cs typeface="+mn-cs"/>
                        </a:rPr>
                        <a:t>Performance</a:t>
                      </a:r>
                    </a:p>
                  </a:txBody>
                  <a:tcPr/>
                </a:tc>
                <a:tc>
                  <a:txBody>
                    <a:bodyPr/>
                    <a:lstStyle/>
                    <a:p>
                      <a:r>
                        <a:rPr lang="en-IN" sz="1200" kern="1200" dirty="0">
                          <a:solidFill>
                            <a:schemeClr val="dk1"/>
                          </a:solidFill>
                          <a:latin typeface="+mn-lt"/>
                          <a:ea typeface="+mn-ea"/>
                          <a:cs typeface="+mn-cs"/>
                        </a:rPr>
                        <a:t>Shows low performance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noProof="0" dirty="0">
                          <a:solidFill>
                            <a:schemeClr val="dk1"/>
                          </a:solidFill>
                          <a:latin typeface="+mn-lt"/>
                          <a:ea typeface="+mn-ea"/>
                          <a:cs typeface="+mn-cs"/>
                        </a:rPr>
                        <a:t>Shows better performance</a:t>
                      </a:r>
                    </a:p>
                    <a:p>
                      <a:endParaRPr lang="en-IN" sz="1200" kern="1200" dirty="0">
                        <a:solidFill>
                          <a:schemeClr val="dk1"/>
                        </a:solidFill>
                        <a:latin typeface="+mn-lt"/>
                        <a:ea typeface="+mn-ea"/>
                        <a:cs typeface="+mn-cs"/>
                      </a:endParaRPr>
                    </a:p>
                  </a:txBody>
                  <a:tcPr/>
                </a:tc>
                <a:extLst>
                  <a:ext uri="{0D108BD9-81ED-4DB2-BD59-A6C34878D82A}">
                    <a16:rowId xmlns:a16="http://schemas.microsoft.com/office/drawing/2014/main" val="2328702400"/>
                  </a:ext>
                </a:extLst>
              </a:tr>
            </a:tbl>
          </a:graphicData>
        </a:graphic>
      </p:graphicFrame>
      <p:sp>
        <p:nvSpPr>
          <p:cNvPr id="4" name="Slide Number Placeholder 3">
            <a:extLst>
              <a:ext uri="{FF2B5EF4-FFF2-40B4-BE49-F238E27FC236}">
                <a16:creationId xmlns:a16="http://schemas.microsoft.com/office/drawing/2014/main" id="{9879B36A-7211-4B16-98FC-27AA7146A3A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7" name="Picture 6">
            <a:extLst>
              <a:ext uri="{FF2B5EF4-FFF2-40B4-BE49-F238E27FC236}">
                <a16:creationId xmlns:a16="http://schemas.microsoft.com/office/drawing/2014/main" id="{6741CF5E-ED88-41EA-84E3-CCA6409D657D}"/>
              </a:ext>
            </a:extLst>
          </p:cNvPr>
          <p:cNvPicPr>
            <a:picLocks noChangeAspect="1"/>
          </p:cNvPicPr>
          <p:nvPr/>
        </p:nvPicPr>
        <p:blipFill rotWithShape="1">
          <a:blip r:embed="rId2"/>
          <a:srcRect l="4730" t="15262" b="-2"/>
          <a:stretch/>
        </p:blipFill>
        <p:spPr>
          <a:xfrm>
            <a:off x="3657600" y="2598821"/>
            <a:ext cx="2298032" cy="1046747"/>
          </a:xfrm>
          <a:prstGeom prst="rect">
            <a:avLst/>
          </a:prstGeom>
        </p:spPr>
      </p:pic>
      <p:pic>
        <p:nvPicPr>
          <p:cNvPr id="9" name="Picture 8">
            <a:extLst>
              <a:ext uri="{FF2B5EF4-FFF2-40B4-BE49-F238E27FC236}">
                <a16:creationId xmlns:a16="http://schemas.microsoft.com/office/drawing/2014/main" id="{78D8C99E-CA64-474B-91D8-979E28B4FC26}"/>
              </a:ext>
            </a:extLst>
          </p:cNvPr>
          <p:cNvPicPr>
            <a:picLocks noChangeAspect="1"/>
          </p:cNvPicPr>
          <p:nvPr/>
        </p:nvPicPr>
        <p:blipFill rotWithShape="1">
          <a:blip r:embed="rId3"/>
          <a:srcRect l="7534"/>
          <a:stretch/>
        </p:blipFill>
        <p:spPr>
          <a:xfrm>
            <a:off x="7669860" y="2598821"/>
            <a:ext cx="2298032" cy="1046747"/>
          </a:xfrm>
          <a:prstGeom prst="rect">
            <a:avLst/>
          </a:prstGeom>
        </p:spPr>
      </p:pic>
    </p:spTree>
    <p:extLst>
      <p:ext uri="{BB962C8B-B14F-4D97-AF65-F5344CB8AC3E}">
        <p14:creationId xmlns:p14="http://schemas.microsoft.com/office/powerpoint/2010/main" val="1228189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ECB9C-2BA1-47B6-86BC-616C1AA9A763}"/>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A5E452DA-3539-4957-BD67-CF13CF6259C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graphicFrame>
        <p:nvGraphicFramePr>
          <p:cNvPr id="5" name="Table 5">
            <a:extLst>
              <a:ext uri="{FF2B5EF4-FFF2-40B4-BE49-F238E27FC236}">
                <a16:creationId xmlns:a16="http://schemas.microsoft.com/office/drawing/2014/main" id="{39375839-9DB5-49CE-A4C8-4BEC9D88B04E}"/>
              </a:ext>
            </a:extLst>
          </p:cNvPr>
          <p:cNvGraphicFramePr>
            <a:graphicFrameLocks noGrp="1"/>
          </p:cNvGraphicFramePr>
          <p:nvPr>
            <p:ph idx="1"/>
          </p:nvPr>
        </p:nvGraphicFramePr>
        <p:xfrm>
          <a:off x="112184" y="70164"/>
          <a:ext cx="11967632" cy="6171886"/>
        </p:xfrm>
        <a:graphic>
          <a:graphicData uri="http://schemas.openxmlformats.org/drawingml/2006/table">
            <a:tbl>
              <a:tblPr firstRow="1" bandRow="1">
                <a:tableStyleId>{5C22544A-7EE6-4342-B048-85BDC9FD1C3A}</a:tableStyleId>
              </a:tblPr>
              <a:tblGrid>
                <a:gridCol w="1284566">
                  <a:extLst>
                    <a:ext uri="{9D8B030D-6E8A-4147-A177-3AD203B41FA5}">
                      <a16:colId xmlns:a16="http://schemas.microsoft.com/office/drawing/2014/main" val="4225163009"/>
                    </a:ext>
                  </a:extLst>
                </a:gridCol>
                <a:gridCol w="5010351">
                  <a:extLst>
                    <a:ext uri="{9D8B030D-6E8A-4147-A177-3AD203B41FA5}">
                      <a16:colId xmlns:a16="http://schemas.microsoft.com/office/drawing/2014/main" val="3492010168"/>
                    </a:ext>
                  </a:extLst>
                </a:gridCol>
                <a:gridCol w="5672715">
                  <a:extLst>
                    <a:ext uri="{9D8B030D-6E8A-4147-A177-3AD203B41FA5}">
                      <a16:colId xmlns:a16="http://schemas.microsoft.com/office/drawing/2014/main" val="1737782714"/>
                    </a:ext>
                  </a:extLst>
                </a:gridCol>
              </a:tblGrid>
              <a:tr h="1892244">
                <a:tc>
                  <a:txBody>
                    <a:bodyPr/>
                    <a:lstStyle/>
                    <a:p>
                      <a:endParaRPr lang="en-IN" dirty="0"/>
                    </a:p>
                    <a:p>
                      <a:endParaRPr lang="en-IN" dirty="0"/>
                    </a:p>
                    <a:p>
                      <a:endParaRPr lang="en-IN" dirty="0"/>
                    </a:p>
                    <a:p>
                      <a:endParaRPr lang="en-IN" dirty="0"/>
                    </a:p>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62816557"/>
                  </a:ext>
                </a:extLst>
              </a:tr>
              <a:tr h="1578395">
                <a:tc>
                  <a:txBody>
                    <a:bodyPr/>
                    <a:lstStyle/>
                    <a:p>
                      <a:r>
                        <a:rPr lang="en-IN" sz="1200" b="1" dirty="0"/>
                        <a:t>Different Architectures</a:t>
                      </a:r>
                    </a:p>
                  </a:txBody>
                  <a:tcPr/>
                </a:tc>
                <a:tc>
                  <a:txBody>
                    <a:bodyPr/>
                    <a:lstStyle/>
                    <a:p>
                      <a:r>
                        <a:rPr lang="en-IN" sz="1200" b="1" dirty="0"/>
                        <a:t>Single layer feed forward network:</a:t>
                      </a:r>
                      <a:r>
                        <a:rPr lang="en-IN" sz="1200" dirty="0"/>
                        <a:t> A common type of neural network with an input layer, hidden layer and output layer.</a:t>
                      </a:r>
                    </a:p>
                    <a:p>
                      <a:r>
                        <a:rPr lang="en-IN" sz="1200" b="1" dirty="0"/>
                        <a:t>Recurrent Neural Network: </a:t>
                      </a:r>
                      <a:r>
                        <a:rPr lang="en-IN" sz="1200" kern="1200" dirty="0">
                          <a:solidFill>
                            <a:schemeClr val="dk1"/>
                          </a:solidFill>
                          <a:latin typeface="+mn-lt"/>
                          <a:ea typeface="+mn-ea"/>
                          <a:cs typeface="+mn-cs"/>
                        </a:rPr>
                        <a:t>In RNN data is processed in a sequence. It uses their internal state or memory to process sequences of inputs.</a:t>
                      </a:r>
                    </a:p>
                    <a:p>
                      <a:r>
                        <a:rPr lang="en-IN" sz="1200" b="1" kern="1200" dirty="0">
                          <a:solidFill>
                            <a:schemeClr val="dk1"/>
                          </a:solidFill>
                          <a:latin typeface="+mn-lt"/>
                          <a:ea typeface="+mn-ea"/>
                          <a:cs typeface="+mn-cs"/>
                        </a:rPr>
                        <a:t>Symmetrically Connected NN: </a:t>
                      </a:r>
                      <a:r>
                        <a:rPr lang="en-IN" sz="1200" kern="1200" dirty="0">
                          <a:solidFill>
                            <a:schemeClr val="dk1"/>
                          </a:solidFill>
                          <a:latin typeface="+mn-lt"/>
                          <a:ea typeface="+mn-ea"/>
                          <a:cs typeface="+mn-cs"/>
                        </a:rPr>
                        <a:t>They are similar to Recurrent NN with connections between the units symmetrical. </a:t>
                      </a:r>
                      <a:r>
                        <a:rPr lang="en-IN" sz="1200" kern="1200" dirty="0" err="1">
                          <a:solidFill>
                            <a:schemeClr val="dk1"/>
                          </a:solidFill>
                          <a:latin typeface="+mn-lt"/>
                          <a:ea typeface="+mn-ea"/>
                          <a:cs typeface="+mn-cs"/>
                        </a:rPr>
                        <a:t>I.e</a:t>
                      </a:r>
                      <a:r>
                        <a:rPr lang="en-IN" sz="1200" kern="1200" dirty="0">
                          <a:solidFill>
                            <a:schemeClr val="dk1"/>
                          </a:solidFill>
                          <a:latin typeface="+mn-lt"/>
                          <a:ea typeface="+mn-ea"/>
                          <a:cs typeface="+mn-cs"/>
                        </a:rPr>
                        <a:t> They have same weight values in both the directions.</a:t>
                      </a:r>
                    </a:p>
                  </a:txBody>
                  <a:tcPr/>
                </a:tc>
                <a:tc>
                  <a:txBody>
                    <a:bodyPr/>
                    <a:lstStyle/>
                    <a:p>
                      <a:r>
                        <a:rPr lang="en-IN" sz="1200" b="1" dirty="0"/>
                        <a:t>Unsupervised Pretrained networks: </a:t>
                      </a:r>
                      <a:r>
                        <a:rPr lang="en-IN" sz="1200" dirty="0"/>
                        <a:t>They are pretrained like Autoencoders.</a:t>
                      </a:r>
                    </a:p>
                    <a:p>
                      <a:r>
                        <a:rPr lang="en-IN" sz="1200" b="1" dirty="0"/>
                        <a:t>Convolutional Neural Networks:</a:t>
                      </a:r>
                      <a:r>
                        <a:rPr lang="en-IN" sz="1200" dirty="0"/>
                        <a:t> This is the network for images, videos etc.   </a:t>
                      </a:r>
                    </a:p>
                    <a:p>
                      <a:r>
                        <a:rPr lang="en-IN" sz="1200" b="1" dirty="0"/>
                        <a:t>Recurrent Neural networks</a:t>
                      </a:r>
                      <a:r>
                        <a:rPr lang="en-IN" sz="1200" dirty="0"/>
                        <a:t>: It is for parallel and sequence information.</a:t>
                      </a:r>
                    </a:p>
                  </a:txBody>
                  <a:tcPr/>
                </a:tc>
                <a:extLst>
                  <a:ext uri="{0D108BD9-81ED-4DB2-BD59-A6C34878D82A}">
                    <a16:rowId xmlns:a16="http://schemas.microsoft.com/office/drawing/2014/main" val="1230589813"/>
                  </a:ext>
                </a:extLst>
              </a:tr>
              <a:tr h="1873391">
                <a:tc>
                  <a:txBody>
                    <a:bodyPr/>
                    <a:lstStyle/>
                    <a:p>
                      <a:r>
                        <a:rPr lang="en-IN" sz="1200" b="1" dirty="0"/>
                        <a:t>Some more definitions</a:t>
                      </a:r>
                    </a:p>
                  </a:txBody>
                  <a:tcPr/>
                </a:tc>
                <a:tc>
                  <a:txBody>
                    <a:bodyPr/>
                    <a:lstStyle/>
                    <a:p>
                      <a:r>
                        <a:rPr lang="en-US" sz="1200" b="0" i="0" dirty="0">
                          <a:solidFill>
                            <a:srgbClr val="000000"/>
                          </a:solidFill>
                          <a:effectLst/>
                          <a:latin typeface="proxima_novaregular"/>
                        </a:rPr>
                        <a:t> </a:t>
                      </a:r>
                      <a:r>
                        <a:rPr lang="en-US" sz="1200" kern="1200" dirty="0">
                          <a:solidFill>
                            <a:schemeClr val="dk1"/>
                          </a:solidFill>
                          <a:latin typeface="+mn-lt"/>
                          <a:ea typeface="+mn-ea"/>
                          <a:cs typeface="+mn-cs"/>
                        </a:rPr>
                        <a:t>It is a structure consisting of ML algorithms wherein the artificial neurons make the core computational unit that focuses on uncovering the underlying patterns or connections within a dataset, just like the human brain does while decision making.</a:t>
                      </a:r>
                      <a:endParaRPr lang="en-IN" sz="1200" kern="1200" dirty="0">
                        <a:solidFill>
                          <a:schemeClr val="dk1"/>
                        </a:solidFill>
                        <a:latin typeface="+mn-lt"/>
                        <a:ea typeface="+mn-ea"/>
                        <a:cs typeface="+mn-cs"/>
                      </a:endParaRPr>
                    </a:p>
                  </a:txBody>
                  <a:tcPr/>
                </a:tc>
                <a:tc>
                  <a:txBody>
                    <a:bodyPr/>
                    <a:lstStyle/>
                    <a:p>
                      <a:r>
                        <a:rPr lang="en-US" sz="1200" kern="1200" dirty="0">
                          <a:solidFill>
                            <a:schemeClr val="dk1"/>
                          </a:solidFill>
                          <a:latin typeface="+mn-lt"/>
                          <a:ea typeface="+mn-ea"/>
                          <a:cs typeface="+mn-cs"/>
                        </a:rPr>
                        <a:t>It is a branch of Machine Learning that leverages a series of nonlinear processing units comprising multiple layers for feature transformation and extraction. It has several layers of artificial neural networks that carry out the ML process. The first layer of the neural network processes the raw data input and passes the information to the second layer.</a:t>
                      </a:r>
                      <a:br>
                        <a:rPr lang="en-US" sz="1200" kern="1200" dirty="0">
                          <a:solidFill>
                            <a:schemeClr val="dk1"/>
                          </a:solidFill>
                          <a:latin typeface="+mn-lt"/>
                          <a:ea typeface="+mn-ea"/>
                          <a:cs typeface="+mn-cs"/>
                          <a:hlinkClick r:id="rId2">
                            <a:extLst>
                              <a:ext uri="{A12FA001-AC4F-418D-AE19-62706E023703}">
                                <ahyp:hlinkClr xmlns:ahyp="http://schemas.microsoft.com/office/drawing/2018/hyperlinkcolor" val="tx"/>
                              </a:ext>
                            </a:extLst>
                          </a:hlinkClick>
                        </a:rPr>
                      </a:br>
                      <a:r>
                        <a:rPr lang="en-US" sz="1200" kern="1200" dirty="0">
                          <a:solidFill>
                            <a:schemeClr val="dk1"/>
                          </a:solidFill>
                          <a:latin typeface="+mn-lt"/>
                          <a:ea typeface="+mn-ea"/>
                          <a:cs typeface="+mn-cs"/>
                        </a:rPr>
                        <a:t>The second later then processes that information further by adding additional information (for example, user’s IP address) and passes it to the next layer. This process continues throughout all layers of the Deep Learning network until the desired result is achieved.</a:t>
                      </a:r>
                      <a:endParaRPr lang="en-IN" sz="1200" kern="1200" dirty="0">
                        <a:solidFill>
                          <a:schemeClr val="dk1"/>
                        </a:solidFill>
                        <a:latin typeface="+mn-lt"/>
                        <a:ea typeface="+mn-ea"/>
                        <a:cs typeface="+mn-cs"/>
                      </a:endParaRPr>
                    </a:p>
                  </a:txBody>
                  <a:tcPr/>
                </a:tc>
                <a:extLst>
                  <a:ext uri="{0D108BD9-81ED-4DB2-BD59-A6C34878D82A}">
                    <a16:rowId xmlns:a16="http://schemas.microsoft.com/office/drawing/2014/main" val="3289270321"/>
                  </a:ext>
                </a:extLst>
              </a:tr>
              <a:tr h="827856">
                <a:tc>
                  <a:txBody>
                    <a:bodyPr/>
                    <a:lstStyle/>
                    <a:p>
                      <a:pPr marL="0" algn="l" defTabSz="914400" rtl="0" eaLnBrk="1" latinLnBrk="0" hangingPunct="1"/>
                      <a:endParaRPr lang="en-IN" sz="1200" b="1" kern="1200" dirty="0">
                        <a:solidFill>
                          <a:schemeClr val="dk1"/>
                        </a:solidFill>
                        <a:latin typeface="+mn-lt"/>
                        <a:ea typeface="+mn-ea"/>
                        <a:cs typeface="+mn-cs"/>
                      </a:endParaRPr>
                    </a:p>
                  </a:txBody>
                  <a:tcPr/>
                </a:tc>
                <a:tc>
                  <a:txBody>
                    <a:bodyPr/>
                    <a:lstStyle/>
                    <a:p>
                      <a:r>
                        <a:rPr lang="en-US" sz="1200" kern="1200" dirty="0">
                          <a:solidFill>
                            <a:schemeClr val="dk1"/>
                          </a:solidFill>
                          <a:latin typeface="+mn-lt"/>
                          <a:ea typeface="+mn-ea"/>
                          <a:cs typeface="+mn-cs"/>
                        </a:rPr>
                        <a:t>Neural Networks use neurons to transmit data in the form of input values and output values through connections</a:t>
                      </a:r>
                      <a:endParaRPr lang="en-IN" sz="1200" kern="1200" dirty="0">
                        <a:solidFill>
                          <a:schemeClr val="dk1"/>
                        </a:solidFill>
                        <a:latin typeface="+mn-lt"/>
                        <a:ea typeface="+mn-ea"/>
                        <a:cs typeface="+mn-cs"/>
                      </a:endParaRPr>
                    </a:p>
                  </a:txBody>
                  <a:tcPr/>
                </a:tc>
                <a:tc>
                  <a:txBody>
                    <a:bodyPr/>
                    <a:lstStyle/>
                    <a:p>
                      <a:r>
                        <a:rPr lang="en-US" sz="1200" kern="1200" dirty="0">
                          <a:solidFill>
                            <a:schemeClr val="dk1"/>
                          </a:solidFill>
                          <a:latin typeface="+mn-lt"/>
                          <a:ea typeface="+mn-ea"/>
                          <a:cs typeface="+mn-cs"/>
                        </a:rPr>
                        <a:t>Deep Learning is associated with the transformation and extraction of feature which attempts to establish a relationship between stimuli and associated neural responses present in the brain.</a:t>
                      </a:r>
                      <a:endParaRPr lang="en-IN" sz="1200" kern="1200" dirty="0">
                        <a:solidFill>
                          <a:schemeClr val="dk1"/>
                        </a:solidFill>
                        <a:latin typeface="+mn-lt"/>
                        <a:ea typeface="+mn-ea"/>
                        <a:cs typeface="+mn-cs"/>
                      </a:endParaRPr>
                    </a:p>
                  </a:txBody>
                  <a:tcPr/>
                </a:tc>
                <a:extLst>
                  <a:ext uri="{0D108BD9-81ED-4DB2-BD59-A6C34878D82A}">
                    <a16:rowId xmlns:a16="http://schemas.microsoft.com/office/drawing/2014/main" val="4149544521"/>
                  </a:ext>
                </a:extLst>
              </a:tr>
            </a:tbl>
          </a:graphicData>
        </a:graphic>
      </p:graphicFrame>
      <p:pic>
        <p:nvPicPr>
          <p:cNvPr id="6" name="Picture 5">
            <a:extLst>
              <a:ext uri="{FF2B5EF4-FFF2-40B4-BE49-F238E27FC236}">
                <a16:creationId xmlns:a16="http://schemas.microsoft.com/office/drawing/2014/main" id="{B98B7829-E12C-4C7A-B1FA-466BAB82EBCB}"/>
              </a:ext>
            </a:extLst>
          </p:cNvPr>
          <p:cNvPicPr>
            <a:picLocks noChangeAspect="1"/>
          </p:cNvPicPr>
          <p:nvPr/>
        </p:nvPicPr>
        <p:blipFill rotWithShape="1">
          <a:blip r:embed="rId3"/>
          <a:srcRect l="4730" t="15262" b="-2"/>
          <a:stretch/>
        </p:blipFill>
        <p:spPr>
          <a:xfrm>
            <a:off x="2898559" y="810126"/>
            <a:ext cx="2298032" cy="1046747"/>
          </a:xfrm>
          <a:prstGeom prst="rect">
            <a:avLst/>
          </a:prstGeom>
        </p:spPr>
      </p:pic>
      <p:pic>
        <p:nvPicPr>
          <p:cNvPr id="7" name="Picture 6">
            <a:extLst>
              <a:ext uri="{FF2B5EF4-FFF2-40B4-BE49-F238E27FC236}">
                <a16:creationId xmlns:a16="http://schemas.microsoft.com/office/drawing/2014/main" id="{9672D265-60CD-4017-9452-7EBF8A53EEE6}"/>
              </a:ext>
            </a:extLst>
          </p:cNvPr>
          <p:cNvPicPr>
            <a:picLocks noChangeAspect="1"/>
          </p:cNvPicPr>
          <p:nvPr/>
        </p:nvPicPr>
        <p:blipFill rotWithShape="1">
          <a:blip r:embed="rId4"/>
          <a:srcRect l="7534"/>
          <a:stretch/>
        </p:blipFill>
        <p:spPr>
          <a:xfrm>
            <a:off x="8144425" y="810125"/>
            <a:ext cx="2298032" cy="1046747"/>
          </a:xfrm>
          <a:prstGeom prst="rect">
            <a:avLst/>
          </a:prstGeom>
        </p:spPr>
      </p:pic>
      <p:sp>
        <p:nvSpPr>
          <p:cNvPr id="9" name="TextBox 8">
            <a:extLst>
              <a:ext uri="{FF2B5EF4-FFF2-40B4-BE49-F238E27FC236}">
                <a16:creationId xmlns:a16="http://schemas.microsoft.com/office/drawing/2014/main" id="{6D966640-1BEA-4CEF-8865-7C6B22FEBC8D}"/>
              </a:ext>
            </a:extLst>
          </p:cNvPr>
          <p:cNvSpPr txBox="1"/>
          <p:nvPr/>
        </p:nvSpPr>
        <p:spPr>
          <a:xfrm>
            <a:off x="1016000" y="6273225"/>
            <a:ext cx="11288184"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3366"/>
                </a:solidFill>
                <a:effectLst/>
                <a:uLnTx/>
                <a:uFillTx/>
                <a:latin typeface="Arial"/>
                <a:ea typeface="新細明體"/>
                <a:cs typeface="+mn-cs"/>
                <a:hlinkClick r:id="rId5"/>
              </a:rPr>
              <a:t>1. https://www.upgrad.com/blog/deep-learning-vs-neural-networks-difference-between-deep-learning-and-neural-networks/</a:t>
            </a:r>
            <a:endParaRPr kumimoji="0" lang="en-IN" sz="1600" b="0" i="0" u="none" strike="noStrike" kern="1200" cap="none" spc="0" normalizeH="0" baseline="0" noProof="0" dirty="0">
              <a:ln>
                <a:noFill/>
              </a:ln>
              <a:solidFill>
                <a:srgbClr val="00336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3366"/>
                </a:solidFill>
                <a:effectLst/>
                <a:uLnTx/>
                <a:uFillTx/>
                <a:latin typeface="Arial"/>
                <a:ea typeface="新細明體"/>
                <a:cs typeface="+mn-cs"/>
              </a:rPr>
              <a:t>2. </a:t>
            </a:r>
            <a:r>
              <a:rPr kumimoji="0" lang="en-IN" sz="1600" b="0" i="0" u="none" strike="noStrike" kern="1200" cap="none" spc="0" normalizeH="0" baseline="0" noProof="0" dirty="0">
                <a:ln>
                  <a:noFill/>
                </a:ln>
                <a:solidFill>
                  <a:srgbClr val="003366"/>
                </a:solidFill>
                <a:effectLst/>
                <a:uLnTx/>
                <a:uFillTx/>
                <a:latin typeface="Arial"/>
                <a:ea typeface="新細明體"/>
                <a:cs typeface="+mn-cs"/>
                <a:hlinkClick r:id="rId6"/>
              </a:rPr>
              <a:t>https://smartboost.com/blog/deep-learning-vs-neural-network/</a:t>
            </a:r>
            <a:endParaRPr kumimoji="0" lang="en-IN" sz="1600" b="0" i="0" u="none" strike="noStrike" kern="1200" cap="none" spc="0" normalizeH="0" baseline="0" noProof="0" dirty="0">
              <a:ln>
                <a:noFill/>
              </a:ln>
              <a:solidFill>
                <a:srgbClr val="003366"/>
              </a:solidFill>
              <a:effectLst/>
              <a:uLnTx/>
              <a:uFillTx/>
              <a:latin typeface="Arial"/>
              <a:ea typeface="新細明體"/>
              <a:cs typeface="+mn-cs"/>
            </a:endParaRPr>
          </a:p>
        </p:txBody>
      </p:sp>
    </p:spTree>
    <p:extLst>
      <p:ext uri="{BB962C8B-B14F-4D97-AF65-F5344CB8AC3E}">
        <p14:creationId xmlns:p14="http://schemas.microsoft.com/office/powerpoint/2010/main" val="3803584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BAF842D-ED6B-4618-B530-38CD4549E327}"/>
              </a:ext>
            </a:extLst>
          </p:cNvPr>
          <p:cNvSpPr>
            <a:spLocks noGrp="1" noChangeArrowheads="1"/>
          </p:cNvSpPr>
          <p:nvPr>
            <p:ph type="title"/>
          </p:nvPr>
        </p:nvSpPr>
        <p:spPr>
          <a:xfrm>
            <a:off x="1071252" y="732020"/>
            <a:ext cx="8015287" cy="1143000"/>
          </a:xfrm>
        </p:spPr>
        <p:txBody>
          <a:bodyPr/>
          <a:lstStyle/>
          <a:p>
            <a:pPr eaLnBrk="1" hangingPunct="1"/>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Difference between ANN and DNN</a:t>
            </a:r>
            <a:endParaRPr lang="en-IN" altLang="en-US" dirty="0"/>
          </a:p>
        </p:txBody>
      </p:sp>
      <p:sp>
        <p:nvSpPr>
          <p:cNvPr id="6170" name="Slide Number Placeholder 3">
            <a:extLst>
              <a:ext uri="{FF2B5EF4-FFF2-40B4-BE49-F238E27FC236}">
                <a16:creationId xmlns:a16="http://schemas.microsoft.com/office/drawing/2014/main" id="{99090D8F-3E2B-45ED-8479-E8ABC0EC5B3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fld id="{A6A8D3BF-185F-45D5-AC29-2EC0C8DF4E2B}" type="slidenum">
              <a:rPr kumimoji="0" lang="en-US" altLang="zh-TW" sz="2600" b="1" i="0" u="none" strike="noStrike" kern="1200" cap="none" spc="0" normalizeH="0" baseline="0" noProof="0">
                <a:ln>
                  <a:noFill/>
                </a:ln>
                <a:solidFill>
                  <a:srgbClr val="FFFFFF"/>
                </a:solidFill>
                <a:effectLst/>
                <a:uLnTx/>
                <a:uFillTx/>
                <a:latin typeface="Arial" panose="020B0604020202020204" pitchFamily="34" charset="0"/>
                <a:ea typeface="PMingLiU" panose="02020500000000000000" pitchFamily="18" charset="-120"/>
                <a:cs typeface="+mn-cs"/>
              </a:rPr>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t>6</a:t>
            </a:fld>
            <a:endParaRPr kumimoji="0" lang="en-US" altLang="zh-TW" sz="2600" b="1" i="0" u="none" strike="noStrike" kern="1200" cap="none" spc="0" normalizeH="0" baseline="0" noProof="0">
              <a:ln>
                <a:noFill/>
              </a:ln>
              <a:solidFill>
                <a:srgbClr val="FFFFFF"/>
              </a:solidFill>
              <a:effectLst/>
              <a:uLnTx/>
              <a:uFillTx/>
              <a:latin typeface="Arial" panose="020B0604020202020204" pitchFamily="34" charset="0"/>
              <a:ea typeface="PMingLiU" panose="02020500000000000000" pitchFamily="18" charset="-120"/>
              <a:cs typeface="+mn-cs"/>
            </a:endParaRPr>
          </a:p>
        </p:txBody>
      </p:sp>
      <p:pic>
        <p:nvPicPr>
          <p:cNvPr id="4098" name="Picture 2">
            <a:extLst>
              <a:ext uri="{FF2B5EF4-FFF2-40B4-BE49-F238E27FC236}">
                <a16:creationId xmlns:a16="http://schemas.microsoft.com/office/drawing/2014/main" id="{A0DFD9D7-6B3D-4A94-9AC4-B36510404050}"/>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608" r="1227" b="8245"/>
          <a:stretch/>
        </p:blipFill>
        <p:spPr bwMode="auto">
          <a:xfrm>
            <a:off x="1225646" y="2503291"/>
            <a:ext cx="4996252" cy="407798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51D0558-CB99-4C20-A2E8-854F0A864B12}"/>
              </a:ext>
            </a:extLst>
          </p:cNvPr>
          <p:cNvSpPr txBox="1"/>
          <p:nvPr/>
        </p:nvSpPr>
        <p:spPr>
          <a:xfrm>
            <a:off x="6552193" y="2370944"/>
            <a:ext cx="5527623" cy="4524315"/>
          </a:xfrm>
          <a:prstGeom prst="rect">
            <a:avLst/>
          </a:prstGeom>
          <a:noFill/>
          <a:ln>
            <a:solidFill>
              <a:schemeClr val="tx1"/>
            </a:solidFill>
          </a:ln>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Pct val="200000"/>
              <a:buFont typeface="Arial" panose="020B0604020202020204" pitchFamily="34" charset="0"/>
              <a:buChar char="•"/>
              <a:tabLst/>
              <a:defRPr/>
            </a:pPr>
            <a:r>
              <a:rPr kumimoji="0" lang="en-US" sz="1600" b="0" i="0" u="none" strike="noStrike" kern="1200" cap="none" spc="0" normalizeH="0" baseline="0" noProof="0" dirty="0">
                <a:ln>
                  <a:noFill/>
                </a:ln>
                <a:solidFill>
                  <a:srgbClr val="003366"/>
                </a:solidFill>
                <a:effectLst/>
                <a:uLnTx/>
                <a:uFillTx/>
                <a:latin typeface="Arial"/>
                <a:ea typeface="新細明體"/>
                <a:cs typeface="+mn-cs"/>
              </a:rPr>
              <a:t>Deep-learning networks </a:t>
            </a:r>
            <a:r>
              <a:rPr kumimoji="0" lang="en-US" sz="1600" b="0" i="0" u="none" strike="noStrike" kern="1200" cap="none" spc="0" normalizeH="0" baseline="0" noProof="0" dirty="0">
                <a:ln>
                  <a:noFill/>
                </a:ln>
                <a:solidFill>
                  <a:srgbClr val="003366"/>
                </a:solidFill>
                <a:effectLst/>
                <a:highlight>
                  <a:srgbClr val="FFFF00"/>
                </a:highlight>
                <a:uLnTx/>
                <a:uFillTx/>
                <a:latin typeface="Arial"/>
                <a:ea typeface="新細明體"/>
                <a:cs typeface="+mn-cs"/>
              </a:rPr>
              <a:t>perform automatic feature extraction without human intervention, </a:t>
            </a:r>
            <a:r>
              <a:rPr kumimoji="0" lang="en-US" sz="1600" b="0" i="0" u="none" strike="noStrike" kern="1200" cap="none" spc="0" normalizeH="0" baseline="0" noProof="0" dirty="0">
                <a:ln>
                  <a:noFill/>
                </a:ln>
                <a:solidFill>
                  <a:srgbClr val="003366"/>
                </a:solidFill>
                <a:effectLst/>
                <a:uLnTx/>
                <a:uFillTx/>
                <a:latin typeface="Arial"/>
                <a:ea typeface="新細明體"/>
                <a:cs typeface="+mn-cs"/>
              </a:rPr>
              <a:t>unlike most traditional machine-learning algorithms. Given that feature extraction is a task that can take teams of data scientists years to accomplish, deep learning is a way to circumvent the chokepoint of limited experts. It augments the powers of small data science teams, which by their nature do not scale.</a:t>
            </a:r>
          </a:p>
          <a:p>
            <a:pPr marL="285750" marR="0" lvl="0" indent="-285750" algn="just" defTabSz="914400" rtl="0" eaLnBrk="1" fontAlgn="auto" latinLnBrk="0" hangingPunct="1">
              <a:lnSpc>
                <a:spcPct val="100000"/>
              </a:lnSpc>
              <a:spcBef>
                <a:spcPts val="0"/>
              </a:spcBef>
              <a:spcAft>
                <a:spcPts val="0"/>
              </a:spcAft>
              <a:buClrTx/>
              <a:buSzPct val="200000"/>
              <a:buFont typeface="Arial" panose="020B0604020202020204" pitchFamily="34" charset="0"/>
              <a:buChar char="•"/>
              <a:tabLst/>
              <a:defRPr/>
            </a:pPr>
            <a:endParaRPr kumimoji="0" lang="en-US" sz="1600" b="0" i="0" u="none" strike="noStrike" kern="1200" cap="none" spc="0" normalizeH="0" baseline="0" noProof="0" dirty="0">
              <a:ln>
                <a:noFill/>
              </a:ln>
              <a:solidFill>
                <a:srgbClr val="003366"/>
              </a:solidFill>
              <a:effectLst/>
              <a:uLnTx/>
              <a:uFillTx/>
              <a:latin typeface="Arial"/>
              <a:ea typeface="新細明體"/>
              <a:cs typeface="+mn-cs"/>
            </a:endParaRPr>
          </a:p>
          <a:p>
            <a:pPr marL="285750" marR="0" lvl="0" indent="-285750" algn="just" defTabSz="914400" rtl="0" eaLnBrk="1" fontAlgn="auto" latinLnBrk="0" hangingPunct="1">
              <a:lnSpc>
                <a:spcPct val="100000"/>
              </a:lnSpc>
              <a:spcBef>
                <a:spcPts val="0"/>
              </a:spcBef>
              <a:spcAft>
                <a:spcPts val="0"/>
              </a:spcAft>
              <a:buClrTx/>
              <a:buSzPct val="200000"/>
              <a:buFont typeface="Arial" panose="020B0604020202020204" pitchFamily="34" charset="0"/>
              <a:buChar char="•"/>
              <a:tabLst/>
              <a:defRPr/>
            </a:pPr>
            <a:endParaRPr kumimoji="0" lang="en-US" sz="1600" b="0" i="0" u="none" strike="noStrike" kern="1200" cap="none" spc="0" normalizeH="0" baseline="0" noProof="0" dirty="0">
              <a:ln>
                <a:noFill/>
              </a:ln>
              <a:solidFill>
                <a:srgbClr val="003366"/>
              </a:solidFill>
              <a:effectLst/>
              <a:uLnTx/>
              <a:uFillTx/>
              <a:latin typeface="Arial"/>
              <a:ea typeface="新細明體"/>
              <a:cs typeface="+mn-cs"/>
            </a:endParaRPr>
          </a:p>
          <a:p>
            <a:pPr marL="285750" marR="0" lvl="0" indent="-285750" algn="just" defTabSz="914400" rtl="0" eaLnBrk="1" fontAlgn="auto" latinLnBrk="0" hangingPunct="1">
              <a:lnSpc>
                <a:spcPct val="100000"/>
              </a:lnSpc>
              <a:spcBef>
                <a:spcPts val="0"/>
              </a:spcBef>
              <a:spcAft>
                <a:spcPts val="0"/>
              </a:spcAft>
              <a:buClrTx/>
              <a:buSzPct val="200000"/>
              <a:buFont typeface="Arial" panose="020B0604020202020204" pitchFamily="34" charset="0"/>
              <a:buChar char="•"/>
              <a:tabLst/>
              <a:defRPr/>
            </a:pPr>
            <a:r>
              <a:rPr kumimoji="0" lang="en-US" sz="1600" b="0" i="0" u="none" strike="noStrike" kern="1200" cap="none" spc="0" normalizeH="0" baseline="0" noProof="0" dirty="0">
                <a:ln>
                  <a:noFill/>
                </a:ln>
                <a:solidFill>
                  <a:srgbClr val="003366"/>
                </a:solidFill>
                <a:effectLst/>
                <a:uLnTx/>
                <a:uFillTx/>
                <a:latin typeface="Arial"/>
                <a:ea typeface="新細明體"/>
                <a:cs typeface="+mn-cs"/>
              </a:rPr>
              <a:t>When training on unlabeled data, each node layer in a deep network learns features automatically by repeatedly trying to reconstruct the input from which it draws its samples, attempting to minimize the difference between the network’s guesses and the probability distribution of the input data itself. Restricted Boltzmann machines, for examples, create so-called reconstructions in this manner.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FE0E0-7CFC-42DB-9122-76F077CFB36C}"/>
              </a:ext>
            </a:extLst>
          </p:cNvPr>
          <p:cNvSpPr>
            <a:spLocks noGrp="1"/>
          </p:cNvSpPr>
          <p:nvPr>
            <p:ph type="title"/>
          </p:nvPr>
        </p:nvSpPr>
        <p:spPr/>
        <p:txBody>
          <a:bodyPr/>
          <a:lstStyle/>
          <a:p>
            <a:r>
              <a:rPr lang="en-IN" dirty="0"/>
              <a:t>Types of DNN</a:t>
            </a:r>
          </a:p>
        </p:txBody>
      </p:sp>
      <p:sp>
        <p:nvSpPr>
          <p:cNvPr id="4" name="Slide Number Placeholder 3">
            <a:extLst>
              <a:ext uri="{FF2B5EF4-FFF2-40B4-BE49-F238E27FC236}">
                <a16:creationId xmlns:a16="http://schemas.microsoft.com/office/drawing/2014/main" id="{9928F331-3FBA-464C-AB3F-8B91B51395B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cxnSp>
        <p:nvCxnSpPr>
          <p:cNvPr id="6" name="Straight Connector 5">
            <a:extLst>
              <a:ext uri="{FF2B5EF4-FFF2-40B4-BE49-F238E27FC236}">
                <a16:creationId xmlns:a16="http://schemas.microsoft.com/office/drawing/2014/main" id="{53AB27EC-E1AD-4874-BB2A-DAD3FBC0F4D9}"/>
              </a:ext>
            </a:extLst>
          </p:cNvPr>
          <p:cNvCxnSpPr/>
          <p:nvPr/>
        </p:nvCxnSpPr>
        <p:spPr bwMode="auto">
          <a:xfrm>
            <a:off x="2474562" y="2433234"/>
            <a:ext cx="6617776"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8">
            <a:extLst>
              <a:ext uri="{FF2B5EF4-FFF2-40B4-BE49-F238E27FC236}">
                <a16:creationId xmlns:a16="http://schemas.microsoft.com/office/drawing/2014/main" id="{7C85C9F0-7320-42B7-94DF-EEA2F742D606}"/>
              </a:ext>
            </a:extLst>
          </p:cNvPr>
          <p:cNvCxnSpPr/>
          <p:nvPr/>
        </p:nvCxnSpPr>
        <p:spPr bwMode="auto">
          <a:xfrm>
            <a:off x="2474562" y="2433234"/>
            <a:ext cx="0" cy="37195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Arrow Connector 9">
            <a:extLst>
              <a:ext uri="{FF2B5EF4-FFF2-40B4-BE49-F238E27FC236}">
                <a16:creationId xmlns:a16="http://schemas.microsoft.com/office/drawing/2014/main" id="{7A4DFDFF-58EF-4239-A2D6-F50042B3E2AC}"/>
              </a:ext>
            </a:extLst>
          </p:cNvPr>
          <p:cNvCxnSpPr/>
          <p:nvPr/>
        </p:nvCxnSpPr>
        <p:spPr bwMode="auto">
          <a:xfrm>
            <a:off x="9102669" y="2433234"/>
            <a:ext cx="0" cy="37195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a:extLst>
              <a:ext uri="{FF2B5EF4-FFF2-40B4-BE49-F238E27FC236}">
                <a16:creationId xmlns:a16="http://schemas.microsoft.com/office/drawing/2014/main" id="{51F3F43C-E2E3-41FF-AF33-29D986740B27}"/>
              </a:ext>
            </a:extLst>
          </p:cNvPr>
          <p:cNvSpPr txBox="1"/>
          <p:nvPr/>
        </p:nvSpPr>
        <p:spPr>
          <a:xfrm>
            <a:off x="6140834" y="2805193"/>
            <a:ext cx="6051165" cy="3657411"/>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3366"/>
                </a:solidFill>
                <a:effectLst/>
                <a:uLnTx/>
                <a:uFillTx/>
                <a:latin typeface="Arial"/>
                <a:ea typeface="新細明體"/>
                <a:cs typeface="+mn-cs"/>
              </a:rPr>
              <a:t>Convolutional Neural Networks: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003366"/>
              </a:solidFill>
              <a:effectLst/>
              <a:uLnTx/>
              <a:uFillTx/>
              <a:latin typeface="Arial"/>
              <a:ea typeface="新細明體"/>
              <a:cs typeface="+mn-cs"/>
            </a:endParaRPr>
          </a:p>
          <a:p>
            <a:pPr marL="285750" marR="0" lvl="0" indent="-2857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The CNN based models in Deep Neural Networks are used in video  and image processing. </a:t>
            </a:r>
          </a:p>
          <a:p>
            <a:pPr marL="285750" marR="0" lvl="0" indent="-2857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endParaRPr>
          </a:p>
          <a:p>
            <a:pPr marL="285750" lvl="0" indent="-285750" algn="just" fontAlgn="base">
              <a:buFont typeface="Arial" panose="020B0604020202020204" pitchFamily="34" charset="0"/>
              <a:buChar char="•"/>
              <a:defRPr/>
            </a:pPr>
            <a:r>
              <a:rPr lang="en-IN" sz="1600" dirty="0">
                <a:solidFill>
                  <a:srgbClr val="323C3E"/>
                </a:solidFill>
                <a:cs typeface="Times New Roman" panose="02020603050405020304" pitchFamily="18" charset="0"/>
              </a:rPr>
              <a:t>Filters or  kernels are the building blocks of  CNN</a:t>
            </a:r>
          </a:p>
          <a:p>
            <a:pPr marL="285750" lvl="0" indent="-285750" algn="just" fontAlgn="base">
              <a:buFont typeface="Arial" panose="020B0604020202020204" pitchFamily="34" charset="0"/>
              <a:buChar char="•"/>
              <a:defRPr/>
            </a:pPr>
            <a:endPar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endParaRPr>
          </a:p>
          <a:p>
            <a:pPr marL="285750" marR="0" lvl="0" indent="-2857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By using conventional operations kernels extract relevant and correct features from the input data.</a:t>
            </a:r>
          </a:p>
          <a:p>
            <a:pPr marL="285750" marR="0" lvl="0" indent="-2857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endParaRPr>
          </a:p>
          <a:p>
            <a:pPr marL="0" marR="0" lvl="0" indent="185738" algn="l" defTabSz="914400" rtl="0" eaLnBrk="1" fontAlgn="auto" latinLnBrk="0" hangingPunct="1">
              <a:lnSpc>
                <a:spcPts val="2250"/>
              </a:lnSpc>
              <a:spcBef>
                <a:spcPts val="0"/>
              </a:spcBef>
              <a:spcAft>
                <a:spcPts val="800"/>
              </a:spcAft>
              <a:buClrTx/>
              <a:buSzPts val="1000"/>
              <a:buFont typeface="Symbol" panose="05050102010706020507" pitchFamily="18" charset="2"/>
              <a:buChar char=""/>
              <a:tabLst>
                <a:tab pos="457200" algn="l"/>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Tasks that use CNN: Image Classification, Object Detection,</a:t>
            </a:r>
          </a:p>
          <a:p>
            <a:pPr marL="0" marR="0" lvl="0" indent="2060575" algn="l" defTabSz="914400" rtl="0" eaLnBrk="1" fontAlgn="auto" latinLnBrk="0" hangingPunct="1">
              <a:lnSpc>
                <a:spcPts val="2250"/>
              </a:lnSpc>
              <a:spcBef>
                <a:spcPts val="0"/>
              </a:spcBef>
              <a:spcAft>
                <a:spcPts val="800"/>
              </a:spcAft>
              <a:buClrTx/>
              <a:buSzPts val="1000"/>
              <a:buFontTx/>
              <a:buNone/>
              <a:tabLst>
                <a:tab pos="457200" algn="l"/>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Image Segmentation, Facial Recognition,</a:t>
            </a:r>
          </a:p>
          <a:p>
            <a:pPr marL="0" marR="0" lvl="0" indent="2060575"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Image Caption Generation</a:t>
            </a:r>
          </a:p>
        </p:txBody>
      </p:sp>
      <p:sp>
        <p:nvSpPr>
          <p:cNvPr id="13" name="TextBox 12">
            <a:extLst>
              <a:ext uri="{FF2B5EF4-FFF2-40B4-BE49-F238E27FC236}">
                <a16:creationId xmlns:a16="http://schemas.microsoft.com/office/drawing/2014/main" id="{60869995-AF8E-49B3-A4FA-D88A952657E9}"/>
              </a:ext>
            </a:extLst>
          </p:cNvPr>
          <p:cNvSpPr txBox="1"/>
          <p:nvPr/>
        </p:nvSpPr>
        <p:spPr>
          <a:xfrm>
            <a:off x="1205503" y="2789694"/>
            <a:ext cx="4845663" cy="4125360"/>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3366"/>
                </a:solidFill>
                <a:effectLst/>
                <a:uLnTx/>
                <a:uFillTx/>
                <a:latin typeface="Arial"/>
                <a:ea typeface="新細明體"/>
                <a:cs typeface="+mn-cs"/>
              </a:rPr>
              <a:t>Recurrent Neural Networks:</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323C3E"/>
              </a:solidFill>
              <a:effectLst/>
              <a:uLnTx/>
              <a:uFillTx/>
              <a:latin typeface="Arial"/>
              <a:ea typeface="Times New Roman" panose="02020603050405020304" pitchFamily="18" charset="0"/>
              <a:cs typeface="Times New Roman" panose="02020603050405020304" pitchFamily="18" charset="0"/>
            </a:endParaRPr>
          </a:p>
          <a:p>
            <a:pPr marL="285750" marR="0" lvl="0" indent="-2857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323C3E"/>
                </a:solidFill>
                <a:effectLst/>
                <a:uLnTx/>
                <a:uFillTx/>
                <a:latin typeface="Arial"/>
                <a:ea typeface="Times New Roman" panose="02020603050405020304" pitchFamily="18" charset="0"/>
                <a:cs typeface="Times New Roman" panose="02020603050405020304" pitchFamily="18" charset="0"/>
              </a:rPr>
              <a:t> Deep recurrent  networks are capable of solving  problems related to audio data, text data, and time-series data.</a:t>
            </a: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23C3E"/>
                </a:solidFill>
                <a:effectLst/>
                <a:uLnTx/>
                <a:uFillTx/>
                <a:latin typeface="Arial"/>
                <a:ea typeface="Times New Roman" panose="02020603050405020304" pitchFamily="18" charset="0"/>
                <a:cs typeface="Times New Roman" panose="02020603050405020304" pitchFamily="18" charset="0"/>
              </a:rPr>
              <a:t> </a:t>
            </a:r>
          </a:p>
          <a:p>
            <a:pPr marL="285750" marR="0" lvl="0" indent="-2857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323C3E"/>
                </a:solidFill>
                <a:effectLst/>
                <a:uLnTx/>
                <a:uFillTx/>
                <a:latin typeface="Arial"/>
                <a:ea typeface="Times New Roman" panose="02020603050405020304" pitchFamily="18" charset="0"/>
                <a:cs typeface="Times New Roman" panose="02020603050405020304" pitchFamily="18" charset="0"/>
              </a:rPr>
              <a:t>Recurrent neural networks capture sequential information available in the input data. </a:t>
            </a:r>
          </a:p>
          <a:p>
            <a:pPr marL="285750" marR="0" lvl="0" indent="-2857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IN" sz="1600" b="0" i="0" u="none" strike="noStrike" kern="1200" cap="none" spc="0" normalizeH="0" baseline="0" noProof="0" dirty="0">
              <a:ln>
                <a:noFill/>
              </a:ln>
              <a:solidFill>
                <a:srgbClr val="323C3E"/>
              </a:solidFill>
              <a:effectLst/>
              <a:uLnTx/>
              <a:uFillTx/>
              <a:latin typeface="Arial"/>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ts val="2250"/>
              </a:lnSpc>
              <a:spcBef>
                <a:spcPts val="0"/>
              </a:spcBef>
              <a:spcAft>
                <a:spcPts val="600"/>
              </a:spcAft>
              <a:buClrTx/>
              <a:buSzPts val="1000"/>
              <a:buFontTx/>
              <a:buNone/>
              <a:tabLst>
                <a:tab pos="457200" algn="l"/>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Tasks that use RNN:  Natural Language Processing</a:t>
            </a:r>
          </a:p>
          <a:p>
            <a:pPr marL="0" marR="0" lvl="0" indent="1968500" algn="l" defTabSz="914400" rtl="0" eaLnBrk="1" fontAlgn="auto" latinLnBrk="0" hangingPunct="1">
              <a:lnSpc>
                <a:spcPts val="2250"/>
              </a:lnSpc>
              <a:spcBef>
                <a:spcPts val="0"/>
              </a:spcBef>
              <a:spcAft>
                <a:spcPts val="600"/>
              </a:spcAft>
              <a:buClrTx/>
              <a:buSzPts val="1000"/>
              <a:buFontTx/>
              <a:buNone/>
              <a:tabLst>
                <a:tab pos="457200" algn="l"/>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Time Series Data, </a:t>
            </a:r>
          </a:p>
          <a:p>
            <a:pPr marL="0" marR="0" lvl="0" indent="1968500" algn="l" defTabSz="914400" rtl="0" eaLnBrk="1" fontAlgn="auto" latinLnBrk="0" hangingPunct="1">
              <a:lnSpc>
                <a:spcPts val="2250"/>
              </a:lnSpc>
              <a:spcBef>
                <a:spcPts val="0"/>
              </a:spcBef>
              <a:spcAft>
                <a:spcPts val="600"/>
              </a:spcAft>
              <a:buClrTx/>
              <a:buSzPts val="1000"/>
              <a:buFontTx/>
              <a:buNone/>
              <a:tabLst>
                <a:tab pos="457200" algn="l"/>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Machine Translations,</a:t>
            </a:r>
          </a:p>
          <a:p>
            <a:pPr marL="0" marR="0" lvl="0" indent="1968500" algn="l" defTabSz="914400" rtl="0" eaLnBrk="1" fontAlgn="auto" latinLnBrk="0" hangingPunct="1">
              <a:lnSpc>
                <a:spcPts val="2250"/>
              </a:lnSpc>
              <a:spcBef>
                <a:spcPts val="0"/>
              </a:spcBef>
              <a:spcAft>
                <a:spcPts val="600"/>
              </a:spcAft>
              <a:buClrTx/>
              <a:buSzPts val="1000"/>
              <a:buFontTx/>
              <a:buNone/>
              <a:tabLst>
                <a:tab pos="457200" algn="l"/>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Speech Recognition, </a:t>
            </a:r>
          </a:p>
          <a:p>
            <a:pPr marL="0" marR="0" lvl="0" indent="1968500" algn="l" defTabSz="914400" rtl="0" eaLnBrk="1" fontAlgn="auto" latinLnBrk="0" hangingPunct="1">
              <a:lnSpc>
                <a:spcPts val="2250"/>
              </a:lnSpc>
              <a:spcBef>
                <a:spcPts val="0"/>
              </a:spcBef>
              <a:spcAft>
                <a:spcPts val="600"/>
              </a:spcAft>
              <a:buClrTx/>
              <a:buSzPts val="1000"/>
              <a:buFontTx/>
              <a:buNone/>
              <a:tabLst>
                <a:tab pos="457200" algn="l"/>
              </a:tabLst>
              <a:defRPr/>
            </a:pPr>
            <a:r>
              <a:rPr kumimoji="0" lang="en-IN" sz="1600" b="0" i="0" u="none" strike="noStrike" kern="1200" cap="none" spc="0" normalizeH="0" baseline="0" noProof="0" dirty="0">
                <a:ln>
                  <a:noFill/>
                </a:ln>
                <a:solidFill>
                  <a:srgbClr val="323C3E"/>
                </a:solidFill>
                <a:effectLst/>
                <a:uLnTx/>
                <a:uFillTx/>
                <a:latin typeface="Arial"/>
                <a:ea typeface="新細明體"/>
                <a:cs typeface="Times New Roman" panose="02020603050405020304" pitchFamily="18" charset="0"/>
              </a:rPr>
              <a:t>Image Caption Generation</a:t>
            </a:r>
            <a:endParaRPr kumimoji="0" lang="en-IN" sz="1800" b="0" i="0" u="none" strike="noStrike" kern="1200" cap="none" spc="0" normalizeH="0" baseline="0" noProof="0" dirty="0">
              <a:ln>
                <a:noFill/>
              </a:ln>
              <a:solidFill>
                <a:srgbClr val="003366"/>
              </a:solidFill>
              <a:effectLst/>
              <a:uLnTx/>
              <a:uFillTx/>
              <a:latin typeface="Arial"/>
              <a:ea typeface="新細明體"/>
              <a:cs typeface="+mn-cs"/>
            </a:endParaRPr>
          </a:p>
        </p:txBody>
      </p:sp>
    </p:spTree>
    <p:extLst>
      <p:ext uri="{BB962C8B-B14F-4D97-AF65-F5344CB8AC3E}">
        <p14:creationId xmlns:p14="http://schemas.microsoft.com/office/powerpoint/2010/main" val="2817021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4EE1-3FC9-4376-AF4C-9374C448277F}"/>
              </a:ext>
            </a:extLst>
          </p:cNvPr>
          <p:cNvSpPr>
            <a:spLocks noGrp="1"/>
          </p:cNvSpPr>
          <p:nvPr>
            <p:ph type="title"/>
          </p:nvPr>
        </p:nvSpPr>
        <p:spPr/>
        <p:txBody>
          <a:bodyPr/>
          <a:lstStyle/>
          <a:p>
            <a:r>
              <a:rPr lang="en-IN" dirty="0"/>
              <a:t>Other most popular DNN algorithms</a:t>
            </a:r>
          </a:p>
        </p:txBody>
      </p:sp>
      <p:sp>
        <p:nvSpPr>
          <p:cNvPr id="4" name="Slide Number Placeholder 3">
            <a:extLst>
              <a:ext uri="{FF2B5EF4-FFF2-40B4-BE49-F238E27FC236}">
                <a16:creationId xmlns:a16="http://schemas.microsoft.com/office/drawing/2014/main" id="{3D538493-C32D-42AD-B394-CF1F3F5ED3B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5" name="Content Placeholder 4">
            <a:extLst>
              <a:ext uri="{FF2B5EF4-FFF2-40B4-BE49-F238E27FC236}">
                <a16:creationId xmlns:a16="http://schemas.microsoft.com/office/drawing/2014/main" id="{D48E2E3F-365A-45A5-9D12-8DAF806091B4}"/>
              </a:ext>
            </a:extLst>
          </p:cNvPr>
          <p:cNvSpPr txBox="1">
            <a:spLocks noGrp="1"/>
          </p:cNvSpPr>
          <p:nvPr>
            <p:ph idx="1"/>
          </p:nvPr>
        </p:nvSpPr>
        <p:spPr>
          <a:xfrm>
            <a:off x="1117600" y="2362200"/>
            <a:ext cx="5896358" cy="4159537"/>
          </a:xfrm>
          <a:prstGeom prst="rect">
            <a:avLst/>
          </a:prstGeom>
          <a:noFill/>
          <a:ln>
            <a:solidFill>
              <a:srgbClr val="000000"/>
            </a:solidFill>
          </a:ln>
        </p:spPr>
        <p:txBody>
          <a:bodyPr wrap="none" rtlCol="0">
            <a:spAutoFit/>
          </a:bodyPr>
          <a:lstStyle/>
          <a:p>
            <a:pPr>
              <a:lnSpc>
                <a:spcPct val="150000"/>
              </a:lnSpc>
              <a:spcAft>
                <a:spcPts val="0"/>
              </a:spcAft>
              <a:buSzPts val="1000"/>
              <a:buFont typeface="Symbol" panose="05050102010706020507" pitchFamily="18" charset="2"/>
              <a:buChar char=""/>
              <a:tabLst>
                <a:tab pos="457200" algn="l"/>
              </a:tabLst>
            </a:pPr>
            <a:r>
              <a:rPr lang="en-IN" sz="2000" b="1" dirty="0"/>
              <a:t>Autoencoders</a:t>
            </a:r>
          </a:p>
          <a:p>
            <a:pPr lvl="0" indent="-342900" fontAlgn="base">
              <a:lnSpc>
                <a:spcPct val="150000"/>
              </a:lnSpc>
              <a:spcAft>
                <a:spcPts val="0"/>
              </a:spcAft>
              <a:buSzPts val="1000"/>
              <a:buFont typeface="Symbol" panose="05050102010706020507" pitchFamily="18" charset="2"/>
              <a:buChar char=""/>
              <a:tabLst>
                <a:tab pos="457200" algn="l"/>
              </a:tabLst>
            </a:pPr>
            <a:r>
              <a:rPr lang="en-IN" sz="2000" b="1" dirty="0"/>
              <a:t>LSTMS: Long Short-Term Memory Networks</a:t>
            </a:r>
          </a:p>
          <a:p>
            <a:pPr lvl="0" indent="-342900" fontAlgn="base">
              <a:lnSpc>
                <a:spcPct val="150000"/>
              </a:lnSpc>
              <a:spcAft>
                <a:spcPts val="0"/>
              </a:spcAft>
              <a:buSzPts val="1000"/>
              <a:buFont typeface="Symbol" panose="05050102010706020507" pitchFamily="18" charset="2"/>
              <a:buChar char=""/>
              <a:tabLst>
                <a:tab pos="457200" algn="l"/>
              </a:tabLst>
            </a:pPr>
            <a:r>
              <a:rPr lang="en-IN" sz="2000" b="1" dirty="0"/>
              <a:t>MLPs: Multilayer Perceptron</a:t>
            </a:r>
          </a:p>
          <a:p>
            <a:pPr lvl="0" indent="-342900" fontAlgn="base">
              <a:lnSpc>
                <a:spcPct val="150000"/>
              </a:lnSpc>
              <a:spcAft>
                <a:spcPts val="0"/>
              </a:spcAft>
              <a:buSzPts val="1000"/>
              <a:buFont typeface="Symbol" panose="05050102010706020507" pitchFamily="18" charset="2"/>
              <a:buChar char=""/>
              <a:tabLst>
                <a:tab pos="457200" algn="l"/>
              </a:tabLst>
            </a:pPr>
            <a:r>
              <a:rPr lang="en-IN" sz="2000" b="1" dirty="0"/>
              <a:t>RBFNs: Radial Basis Function Networks</a:t>
            </a:r>
          </a:p>
          <a:p>
            <a:pPr lvl="0" indent="-342900" fontAlgn="base">
              <a:lnSpc>
                <a:spcPct val="150000"/>
              </a:lnSpc>
              <a:spcAft>
                <a:spcPts val="0"/>
              </a:spcAft>
              <a:buSzPts val="1000"/>
              <a:buFont typeface="Symbol" panose="05050102010706020507" pitchFamily="18" charset="2"/>
              <a:buChar char=""/>
              <a:tabLst>
                <a:tab pos="457200" algn="l"/>
              </a:tabLst>
            </a:pPr>
            <a:r>
              <a:rPr lang="en-IN" sz="2000" b="1" dirty="0"/>
              <a:t>DBNs: Deep Belief Networks</a:t>
            </a:r>
          </a:p>
          <a:p>
            <a:pPr lvl="0" indent="-342900" fontAlgn="base">
              <a:lnSpc>
                <a:spcPct val="150000"/>
              </a:lnSpc>
              <a:spcAft>
                <a:spcPts val="0"/>
              </a:spcAft>
              <a:buSzPts val="1000"/>
              <a:buFont typeface="Symbol" panose="05050102010706020507" pitchFamily="18" charset="2"/>
              <a:buChar char=""/>
              <a:tabLst>
                <a:tab pos="457200" algn="l"/>
              </a:tabLst>
            </a:pPr>
            <a:r>
              <a:rPr lang="en-IN" sz="2000" b="1" dirty="0"/>
              <a:t>GANs: Generative Adversarial Networks</a:t>
            </a:r>
          </a:p>
          <a:p>
            <a:pPr lvl="0" indent="-342900" fontAlgn="base">
              <a:lnSpc>
                <a:spcPct val="150000"/>
              </a:lnSpc>
              <a:spcAft>
                <a:spcPts val="0"/>
              </a:spcAft>
              <a:buSzPts val="1000"/>
              <a:buFont typeface="Symbol" panose="05050102010706020507" pitchFamily="18" charset="2"/>
              <a:buChar char=""/>
              <a:tabLst>
                <a:tab pos="457200" algn="l"/>
              </a:tabLst>
            </a:pPr>
            <a:r>
              <a:rPr lang="en-IN" sz="2000" b="1" dirty="0"/>
              <a:t>RBMs: Restricted Boltzmann Machines</a:t>
            </a:r>
          </a:p>
          <a:p>
            <a:pPr lvl="0" indent="-342900" fontAlgn="base">
              <a:lnSpc>
                <a:spcPct val="150000"/>
              </a:lnSpc>
              <a:spcAft>
                <a:spcPts val="0"/>
              </a:spcAft>
              <a:buSzPts val="1000"/>
              <a:buFont typeface="Symbol" panose="05050102010706020507" pitchFamily="18" charset="2"/>
              <a:buChar char=""/>
              <a:tabLst>
                <a:tab pos="457200" algn="l"/>
              </a:tabLst>
            </a:pPr>
            <a:r>
              <a:rPr lang="en-IN" sz="2000" b="1" dirty="0"/>
              <a:t>SOMs: Self Organizing Maps</a:t>
            </a:r>
            <a:endParaRPr lang="en-IN" b="1" dirty="0"/>
          </a:p>
        </p:txBody>
      </p:sp>
    </p:spTree>
    <p:extLst>
      <p:ext uri="{BB962C8B-B14F-4D97-AF65-F5344CB8AC3E}">
        <p14:creationId xmlns:p14="http://schemas.microsoft.com/office/powerpoint/2010/main" val="852485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54707870-6F9D-43B8-A7A7-4838DC67620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fld id="{4FDC158F-2FB2-476D-9DA0-B2B107E56B59}" type="slidenum">
              <a:rPr kumimoji="0" lang="en-US" altLang="zh-TW" sz="2600" b="1" i="0" u="none" strike="noStrike" kern="1200" cap="none" spc="0" normalizeH="0" baseline="0" noProof="0">
                <a:ln>
                  <a:noFill/>
                </a:ln>
                <a:solidFill>
                  <a:srgbClr val="FFFFFF"/>
                </a:solidFill>
                <a:effectLst/>
                <a:uLnTx/>
                <a:uFillTx/>
                <a:latin typeface="Arial" panose="020B0604020202020204" pitchFamily="34" charset="0"/>
                <a:ea typeface="PMingLiU" panose="02020500000000000000" pitchFamily="18" charset="-120"/>
                <a:cs typeface="+mn-cs"/>
              </a:rPr>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t>9</a:t>
            </a:fld>
            <a:endParaRPr kumimoji="0" lang="en-US" altLang="zh-TW" sz="2600" b="1" i="0" u="none" strike="noStrike" kern="1200" cap="none" spc="0" normalizeH="0" baseline="0" noProof="0">
              <a:ln>
                <a:noFill/>
              </a:ln>
              <a:solidFill>
                <a:srgbClr val="FFFFFF"/>
              </a:solidFill>
              <a:effectLst/>
              <a:uLnTx/>
              <a:uFillTx/>
              <a:latin typeface="Arial" panose="020B0604020202020204" pitchFamily="34" charset="0"/>
              <a:ea typeface="PMingLiU" panose="02020500000000000000" pitchFamily="18" charset="-120"/>
              <a:cs typeface="+mn-cs"/>
            </a:endParaRPr>
          </a:p>
        </p:txBody>
      </p:sp>
      <p:sp>
        <p:nvSpPr>
          <p:cNvPr id="5123" name="AutoShape 2">
            <a:extLst>
              <a:ext uri="{FF2B5EF4-FFF2-40B4-BE49-F238E27FC236}">
                <a16:creationId xmlns:a16="http://schemas.microsoft.com/office/drawing/2014/main" id="{80553EEB-6972-4AE2-98D6-5D8213397FD2}"/>
              </a:ext>
            </a:extLst>
          </p:cNvPr>
          <p:cNvSpPr>
            <a:spLocks noGrp="1" noChangeArrowheads="1"/>
          </p:cNvSpPr>
          <p:nvPr>
            <p:ph type="title"/>
          </p:nvPr>
        </p:nvSpPr>
        <p:spPr/>
        <p:txBody>
          <a:bodyPr/>
          <a:lstStyle/>
          <a:p>
            <a:pPr eaLnBrk="1" hangingPunct="1"/>
            <a:r>
              <a:rPr lang="en-US" altLang="zh-TW" dirty="0"/>
              <a:t>Applications of Deep Neural Network</a:t>
            </a:r>
          </a:p>
        </p:txBody>
      </p:sp>
      <p:sp>
        <p:nvSpPr>
          <p:cNvPr id="5124" name="Rectangle 3">
            <a:extLst>
              <a:ext uri="{FF2B5EF4-FFF2-40B4-BE49-F238E27FC236}">
                <a16:creationId xmlns:a16="http://schemas.microsoft.com/office/drawing/2014/main" id="{D794DEDB-BCA8-477F-B46B-EA1CCDD31BAC}"/>
              </a:ext>
            </a:extLst>
          </p:cNvPr>
          <p:cNvSpPr>
            <a:spLocks noGrp="1" noChangeArrowheads="1"/>
          </p:cNvSpPr>
          <p:nvPr>
            <p:ph type="body" idx="1"/>
          </p:nvPr>
        </p:nvSpPr>
        <p:spPr>
          <a:xfrm>
            <a:off x="1248611" y="2362200"/>
            <a:ext cx="10566400" cy="4495800"/>
          </a:xfrm>
        </p:spPr>
        <p:txBody>
          <a:bodyPr/>
          <a:lstStyle/>
          <a:p>
            <a:pPr marL="0" indent="0" eaLnBrk="1" hangingPunct="1">
              <a:lnSpc>
                <a:spcPct val="150000"/>
              </a:lnSpc>
              <a:buNone/>
              <a:defRPr/>
            </a:pPr>
            <a:r>
              <a:rPr lang="en-US" sz="1600" b="0" i="0" dirty="0">
                <a:solidFill>
                  <a:srgbClr val="292929"/>
                </a:solidFill>
                <a:effectLst/>
              </a:rPr>
              <a:t>Few examples of common daily life digital products based on Deep Learning are the popular virtual assistants like:</a:t>
            </a:r>
          </a:p>
          <a:p>
            <a:pPr marL="719138" indent="-268288" eaLnBrk="1" hangingPunct="1">
              <a:lnSpc>
                <a:spcPct val="200000"/>
              </a:lnSpc>
              <a:buFont typeface="Wingdings" panose="05000000000000000000" pitchFamily="2" charset="2"/>
              <a:buChar char="v"/>
              <a:defRPr/>
            </a:pPr>
            <a:r>
              <a:rPr lang="en-US" sz="1600" b="1" i="0" dirty="0">
                <a:solidFill>
                  <a:srgbClr val="292929"/>
                </a:solidFill>
                <a:effectLst/>
              </a:rPr>
              <a:t>Siri/Alexa/Google Assistant</a:t>
            </a:r>
            <a:r>
              <a:rPr lang="en-US" sz="1600" b="0" i="0" dirty="0">
                <a:solidFill>
                  <a:srgbClr val="292929"/>
                </a:solidFill>
                <a:effectLst/>
              </a:rPr>
              <a:t>, </a:t>
            </a:r>
          </a:p>
          <a:p>
            <a:pPr marL="719138" indent="-268288" eaLnBrk="1" hangingPunct="1">
              <a:lnSpc>
                <a:spcPct val="200000"/>
              </a:lnSpc>
              <a:buFont typeface="Wingdings" panose="05000000000000000000" pitchFamily="2" charset="2"/>
              <a:buChar char="v"/>
              <a:defRPr/>
            </a:pPr>
            <a:r>
              <a:rPr lang="en-US" sz="1600" b="0" i="0" dirty="0">
                <a:solidFill>
                  <a:srgbClr val="292929"/>
                </a:solidFill>
                <a:effectLst/>
              </a:rPr>
              <a:t>The suggestion to tag your friend in a </a:t>
            </a:r>
            <a:r>
              <a:rPr lang="en-US" sz="1600" b="1" i="0" dirty="0">
                <a:solidFill>
                  <a:srgbClr val="292929"/>
                </a:solidFill>
                <a:effectLst/>
              </a:rPr>
              <a:t>Facebook</a:t>
            </a:r>
            <a:r>
              <a:rPr lang="en-US" sz="1600" b="0" i="0" dirty="0">
                <a:solidFill>
                  <a:srgbClr val="292929"/>
                </a:solidFill>
                <a:effectLst/>
              </a:rPr>
              <a:t> photo uploaded,                               </a:t>
            </a:r>
          </a:p>
          <a:p>
            <a:pPr marL="719138" indent="-268288" eaLnBrk="1" hangingPunct="1">
              <a:lnSpc>
                <a:spcPct val="200000"/>
              </a:lnSpc>
              <a:buFont typeface="Wingdings" panose="05000000000000000000" pitchFamily="2" charset="2"/>
              <a:buChar char="v"/>
              <a:defRPr/>
            </a:pPr>
            <a:r>
              <a:rPr lang="en-US" sz="1600" b="0" i="0" dirty="0">
                <a:solidFill>
                  <a:srgbClr val="292929"/>
                </a:solidFill>
                <a:effectLst/>
              </a:rPr>
              <a:t> Autonomous driving in </a:t>
            </a:r>
            <a:r>
              <a:rPr lang="en-US" sz="1600" b="1" i="0" dirty="0">
                <a:solidFill>
                  <a:srgbClr val="292929"/>
                </a:solidFill>
                <a:effectLst/>
              </a:rPr>
              <a:t>Tesla</a:t>
            </a:r>
            <a:r>
              <a:rPr lang="en-US" sz="1600" b="0" i="0" dirty="0">
                <a:solidFill>
                  <a:srgbClr val="292929"/>
                </a:solidFill>
                <a:effectLst/>
              </a:rPr>
              <a:t>, </a:t>
            </a:r>
          </a:p>
          <a:p>
            <a:pPr marL="719138" indent="-268288" eaLnBrk="1" hangingPunct="1">
              <a:lnSpc>
                <a:spcPct val="200000"/>
              </a:lnSpc>
              <a:buFont typeface="Wingdings" panose="05000000000000000000" pitchFamily="2" charset="2"/>
              <a:buChar char="v"/>
              <a:defRPr/>
            </a:pPr>
            <a:r>
              <a:rPr lang="en-US" sz="1600" b="0" i="0" dirty="0">
                <a:solidFill>
                  <a:srgbClr val="292929"/>
                </a:solidFill>
                <a:effectLst/>
              </a:rPr>
              <a:t> The cat filter in </a:t>
            </a:r>
            <a:r>
              <a:rPr lang="en-US" sz="1600" b="1" i="0" dirty="0">
                <a:solidFill>
                  <a:srgbClr val="292929"/>
                </a:solidFill>
                <a:effectLst/>
              </a:rPr>
              <a:t>Snapchat</a:t>
            </a:r>
            <a:r>
              <a:rPr lang="en-US" sz="1600" b="0" i="0" dirty="0">
                <a:solidFill>
                  <a:srgbClr val="292929"/>
                </a:solidFill>
                <a:effectLst/>
              </a:rPr>
              <a:t>, </a:t>
            </a:r>
          </a:p>
          <a:p>
            <a:pPr marL="719138" indent="-268288" eaLnBrk="1" hangingPunct="1">
              <a:lnSpc>
                <a:spcPct val="200000"/>
              </a:lnSpc>
              <a:buFont typeface="Wingdings" panose="05000000000000000000" pitchFamily="2" charset="2"/>
              <a:buChar char="v"/>
              <a:defRPr/>
            </a:pPr>
            <a:r>
              <a:rPr lang="en-US" sz="1600" dirty="0">
                <a:solidFill>
                  <a:srgbClr val="292929"/>
                </a:solidFill>
              </a:rPr>
              <a:t> P</a:t>
            </a:r>
            <a:r>
              <a:rPr lang="en-US" sz="1600" b="0" i="0" dirty="0">
                <a:solidFill>
                  <a:srgbClr val="292929"/>
                </a:solidFill>
                <a:effectLst/>
              </a:rPr>
              <a:t>roduct recommendations in </a:t>
            </a:r>
            <a:r>
              <a:rPr lang="en-US" sz="1600" b="1" i="0" dirty="0">
                <a:solidFill>
                  <a:srgbClr val="292929"/>
                </a:solidFill>
                <a:effectLst/>
              </a:rPr>
              <a:t>Amazon</a:t>
            </a:r>
            <a:r>
              <a:rPr lang="en-US" sz="1600" b="0" i="0" dirty="0">
                <a:solidFill>
                  <a:srgbClr val="292929"/>
                </a:solidFill>
                <a:effectLst/>
              </a:rPr>
              <a:t> and </a:t>
            </a:r>
            <a:r>
              <a:rPr lang="en-US" sz="1600" b="1" i="0" dirty="0">
                <a:solidFill>
                  <a:srgbClr val="292929"/>
                </a:solidFill>
                <a:effectLst/>
              </a:rPr>
              <a:t>Netflix</a:t>
            </a:r>
            <a:r>
              <a:rPr lang="en-US" sz="1600" b="0" i="0" dirty="0">
                <a:solidFill>
                  <a:srgbClr val="292929"/>
                </a:solidFill>
                <a:effectLst/>
              </a:rPr>
              <a:t>,</a:t>
            </a:r>
          </a:p>
          <a:p>
            <a:pPr marL="719138" indent="-268288" eaLnBrk="1" hangingPunct="1">
              <a:lnSpc>
                <a:spcPct val="200000"/>
              </a:lnSpc>
              <a:buFont typeface="Wingdings" panose="05000000000000000000" pitchFamily="2" charset="2"/>
              <a:buChar char="v"/>
              <a:defRPr/>
            </a:pPr>
            <a:r>
              <a:rPr lang="en-US" sz="1600" b="0" i="0" dirty="0">
                <a:solidFill>
                  <a:srgbClr val="292929"/>
                </a:solidFill>
                <a:effectLst/>
              </a:rPr>
              <a:t>The recent viral photo apps like </a:t>
            </a:r>
            <a:r>
              <a:rPr lang="en-US" sz="1600" b="1" i="0" u="sng" dirty="0" err="1">
                <a:effectLst/>
                <a:hlinkClick r:id="rId2"/>
              </a:rPr>
              <a:t>FaceApp</a:t>
            </a:r>
            <a:r>
              <a:rPr lang="en-US" sz="1600" b="0" i="0" dirty="0">
                <a:solidFill>
                  <a:srgbClr val="292929"/>
                </a:solidFill>
                <a:effectLst/>
              </a:rPr>
              <a:t> and </a:t>
            </a:r>
            <a:r>
              <a:rPr lang="en-US" sz="1600" b="1" i="0" u="sng" dirty="0">
                <a:effectLst/>
                <a:hlinkClick r:id="rId3"/>
              </a:rPr>
              <a:t>Prisma</a:t>
            </a:r>
            <a:r>
              <a:rPr lang="en-US" sz="1600" b="0" i="0" dirty="0">
                <a:solidFill>
                  <a:srgbClr val="292929"/>
                </a:solidFill>
                <a:effectLst/>
              </a:rPr>
              <a:t>, </a:t>
            </a:r>
          </a:p>
          <a:p>
            <a:pPr marL="719138" indent="-268288" eaLnBrk="1" hangingPunct="1">
              <a:lnSpc>
                <a:spcPct val="200000"/>
              </a:lnSpc>
              <a:buFont typeface="Wingdings" panose="05000000000000000000" pitchFamily="2" charset="2"/>
              <a:buChar char="v"/>
              <a:defRPr/>
            </a:pPr>
            <a:r>
              <a:rPr lang="en-US" sz="1600" b="0" i="0" dirty="0">
                <a:solidFill>
                  <a:srgbClr val="292929"/>
                </a:solidFill>
                <a:effectLst/>
              </a:rPr>
              <a:t>and the list goes on.</a:t>
            </a:r>
            <a:endParaRPr lang="en-US" altLang="zh-TW"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4F8A02-EA00-461E-9A02-E394587DEC46}"/>
              </a:ext>
            </a:extLst>
          </p:cNvPr>
          <p:cNvSpPr txBox="1"/>
          <p:nvPr/>
        </p:nvSpPr>
        <p:spPr>
          <a:xfrm>
            <a:off x="1081793" y="1457236"/>
            <a:ext cx="10028413"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IN" sz="54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n-cs"/>
              </a:rPr>
              <a:t>Autoencoders</a:t>
            </a:r>
            <a:endParaRPr kumimoji="0" lang="en-IN" sz="5400" b="0" i="0" u="none" strike="noStrike" kern="1200" cap="none" spc="0" normalizeH="0" baseline="0" noProof="0" dirty="0">
              <a:ln>
                <a:noFill/>
              </a:ln>
              <a:solidFill>
                <a:srgbClr val="003366"/>
              </a:solidFill>
              <a:effectLst/>
              <a:uLnTx/>
              <a:uFillTx/>
              <a:latin typeface="Arial"/>
              <a:ea typeface="新細明體"/>
              <a:cs typeface="+mn-cs"/>
            </a:endParaRPr>
          </a:p>
        </p:txBody>
      </p:sp>
    </p:spTree>
    <p:extLst>
      <p:ext uri="{BB962C8B-B14F-4D97-AF65-F5344CB8AC3E}">
        <p14:creationId xmlns:p14="http://schemas.microsoft.com/office/powerpoint/2010/main" val="4078631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36701" y="67734"/>
            <a:ext cx="6167967" cy="918633"/>
          </a:xfrm>
          <a:prstGeom prst="rect">
            <a:avLst/>
          </a:prstGeom>
        </p:spPr>
      </p:pic>
      <p:sp>
        <p:nvSpPr>
          <p:cNvPr id="3" name="object 3"/>
          <p:cNvSpPr txBox="1">
            <a:spLocks noGrp="1"/>
          </p:cNvSpPr>
          <p:nvPr>
            <p:ph type="title"/>
          </p:nvPr>
        </p:nvSpPr>
        <p:spPr>
          <a:xfrm>
            <a:off x="1785620" y="183388"/>
            <a:ext cx="5637530" cy="513080"/>
          </a:xfrm>
          <a:prstGeom prst="rect">
            <a:avLst/>
          </a:prstGeom>
        </p:spPr>
        <p:txBody>
          <a:bodyPr vert="horz" wrap="square" lIns="0" tIns="12700" rIns="0" bIns="0" rtlCol="0">
            <a:spAutoFit/>
          </a:bodyPr>
          <a:lstStyle/>
          <a:p>
            <a:pPr marL="12700">
              <a:spcBef>
                <a:spcPts val="100"/>
              </a:spcBef>
            </a:pPr>
            <a:r>
              <a:rPr sz="3200" spc="-10" dirty="0">
                <a:solidFill>
                  <a:srgbClr val="004990"/>
                </a:solidFill>
              </a:rPr>
              <a:t>Machine</a:t>
            </a:r>
            <a:r>
              <a:rPr sz="3200" spc="-30" dirty="0">
                <a:solidFill>
                  <a:srgbClr val="004990"/>
                </a:solidFill>
              </a:rPr>
              <a:t> </a:t>
            </a:r>
            <a:r>
              <a:rPr sz="3200" spc="-5" dirty="0">
                <a:solidFill>
                  <a:srgbClr val="004990"/>
                </a:solidFill>
              </a:rPr>
              <a:t>learning</a:t>
            </a:r>
            <a:r>
              <a:rPr sz="3200" spc="-25" dirty="0">
                <a:solidFill>
                  <a:srgbClr val="004990"/>
                </a:solidFill>
              </a:rPr>
              <a:t> </a:t>
            </a:r>
            <a:r>
              <a:rPr sz="3200" spc="-5" dirty="0">
                <a:solidFill>
                  <a:srgbClr val="004990"/>
                </a:solidFill>
              </a:rPr>
              <a:t>and</a:t>
            </a:r>
            <a:r>
              <a:rPr sz="3200" spc="-30" dirty="0">
                <a:solidFill>
                  <a:srgbClr val="004990"/>
                </a:solidFill>
              </a:rPr>
              <a:t> </a:t>
            </a:r>
            <a:r>
              <a:rPr sz="3200" spc="-5" dirty="0">
                <a:solidFill>
                  <a:srgbClr val="004990"/>
                </a:solidFill>
              </a:rPr>
              <a:t>feature</a:t>
            </a:r>
            <a:endParaRPr sz="3200" dirty="0"/>
          </a:p>
        </p:txBody>
      </p:sp>
      <p:sp>
        <p:nvSpPr>
          <p:cNvPr id="4" name="object 4"/>
          <p:cNvSpPr txBox="1"/>
          <p:nvPr/>
        </p:nvSpPr>
        <p:spPr>
          <a:xfrm>
            <a:off x="1961503" y="2662409"/>
            <a:ext cx="2536825" cy="307777"/>
          </a:xfrm>
          <a:prstGeom prst="rect">
            <a:avLst/>
          </a:prstGeom>
          <a:solidFill>
            <a:srgbClr val="CBDBF7"/>
          </a:solidFill>
        </p:spPr>
        <p:txBody>
          <a:bodyPr vert="horz" wrap="square" lIns="0" tIns="0" rIns="0" bIns="0" rtlCol="0">
            <a:spAutoFit/>
          </a:bodyPr>
          <a:lstStyle/>
          <a:p>
            <a:pPr marL="189230">
              <a:spcBef>
                <a:spcPts val="1300"/>
              </a:spcBef>
            </a:pPr>
            <a:r>
              <a:rPr sz="2000" b="1" spc="-5" dirty="0">
                <a:solidFill>
                  <a:prstClr val="black"/>
                </a:solidFill>
                <a:latin typeface="Arial"/>
                <a:cs typeface="Arial"/>
              </a:rPr>
              <a:t>Some</a:t>
            </a:r>
            <a:r>
              <a:rPr sz="2000" b="1" spc="-45" dirty="0">
                <a:solidFill>
                  <a:prstClr val="black"/>
                </a:solidFill>
                <a:latin typeface="Arial"/>
                <a:cs typeface="Arial"/>
              </a:rPr>
              <a:t> </a:t>
            </a:r>
            <a:r>
              <a:rPr sz="2000" b="1" spc="-5" dirty="0">
                <a:solidFill>
                  <a:prstClr val="black"/>
                </a:solidFill>
                <a:latin typeface="Arial"/>
                <a:cs typeface="Arial"/>
              </a:rPr>
              <a:t>information</a:t>
            </a:r>
            <a:endParaRPr sz="2000" dirty="0">
              <a:solidFill>
                <a:prstClr val="black"/>
              </a:solidFill>
              <a:latin typeface="Arial"/>
              <a:cs typeface="Arial"/>
            </a:endParaRPr>
          </a:p>
        </p:txBody>
      </p:sp>
      <p:sp>
        <p:nvSpPr>
          <p:cNvPr id="5" name="object 5"/>
          <p:cNvSpPr txBox="1"/>
          <p:nvPr/>
        </p:nvSpPr>
        <p:spPr>
          <a:xfrm>
            <a:off x="4932800" y="2618198"/>
            <a:ext cx="2536825" cy="307777"/>
          </a:xfrm>
          <a:prstGeom prst="rect">
            <a:avLst/>
          </a:prstGeom>
          <a:solidFill>
            <a:srgbClr val="CBDBF7"/>
          </a:solidFill>
        </p:spPr>
        <p:txBody>
          <a:bodyPr vert="horz" wrap="square" lIns="0" tIns="0" rIns="0" bIns="0" rtlCol="0">
            <a:spAutoFit/>
          </a:bodyPr>
          <a:lstStyle/>
          <a:p>
            <a:pPr marL="528320">
              <a:spcBef>
                <a:spcPts val="1300"/>
              </a:spcBef>
            </a:pPr>
            <a:r>
              <a:rPr sz="2000" b="1" dirty="0">
                <a:solidFill>
                  <a:prstClr val="black"/>
                </a:solidFill>
                <a:latin typeface="Arial"/>
                <a:cs typeface="Arial"/>
              </a:rPr>
              <a:t>AI</a:t>
            </a:r>
            <a:r>
              <a:rPr sz="2000" b="1" spc="-55" dirty="0">
                <a:solidFill>
                  <a:prstClr val="black"/>
                </a:solidFill>
                <a:latin typeface="Arial"/>
                <a:cs typeface="Arial"/>
              </a:rPr>
              <a:t> </a:t>
            </a:r>
            <a:r>
              <a:rPr sz="2000" b="1" spc="-5" dirty="0">
                <a:solidFill>
                  <a:prstClr val="black"/>
                </a:solidFill>
                <a:latin typeface="Arial"/>
                <a:cs typeface="Arial"/>
              </a:rPr>
              <a:t>algorithm</a:t>
            </a:r>
            <a:endParaRPr sz="2000" dirty="0">
              <a:solidFill>
                <a:prstClr val="black"/>
              </a:solidFill>
              <a:latin typeface="Arial"/>
              <a:cs typeface="Arial"/>
            </a:endParaRPr>
          </a:p>
        </p:txBody>
      </p:sp>
      <p:sp>
        <p:nvSpPr>
          <p:cNvPr id="6" name="object 6"/>
          <p:cNvSpPr txBox="1"/>
          <p:nvPr/>
        </p:nvSpPr>
        <p:spPr>
          <a:xfrm>
            <a:off x="7948412" y="2618197"/>
            <a:ext cx="2536825" cy="620683"/>
          </a:xfrm>
          <a:prstGeom prst="rect">
            <a:avLst/>
          </a:prstGeom>
          <a:solidFill>
            <a:srgbClr val="CBDBF7"/>
          </a:solidFill>
        </p:spPr>
        <p:txBody>
          <a:bodyPr vert="horz" wrap="square" lIns="0" tIns="5080" rIns="0" bIns="0" rtlCol="0">
            <a:spAutoFit/>
          </a:bodyPr>
          <a:lstStyle/>
          <a:p>
            <a:pPr marL="513715" marR="506095" indent="97155"/>
            <a:r>
              <a:rPr sz="2000" b="1" spc="-5" dirty="0">
                <a:solidFill>
                  <a:prstClr val="black"/>
                </a:solidFill>
                <a:latin typeface="Arial"/>
                <a:cs typeface="Arial"/>
              </a:rPr>
              <a:t>Something </a:t>
            </a:r>
            <a:r>
              <a:rPr sz="2000" b="1" dirty="0">
                <a:solidFill>
                  <a:prstClr val="black"/>
                </a:solidFill>
                <a:latin typeface="Arial"/>
                <a:cs typeface="Arial"/>
              </a:rPr>
              <a:t> </a:t>
            </a:r>
            <a:r>
              <a:rPr sz="2000" b="1" spc="-5" dirty="0">
                <a:solidFill>
                  <a:prstClr val="black"/>
                </a:solidFill>
                <a:latin typeface="Arial"/>
                <a:cs typeface="Arial"/>
              </a:rPr>
              <a:t>useful</a:t>
            </a:r>
            <a:r>
              <a:rPr sz="2000" b="1" spc="-75" dirty="0">
                <a:solidFill>
                  <a:prstClr val="black"/>
                </a:solidFill>
                <a:latin typeface="Arial"/>
                <a:cs typeface="Arial"/>
              </a:rPr>
              <a:t> </a:t>
            </a:r>
            <a:r>
              <a:rPr sz="2000" b="1" spc="-5" dirty="0">
                <a:solidFill>
                  <a:prstClr val="black"/>
                </a:solidFill>
                <a:latin typeface="Arial"/>
                <a:cs typeface="Arial"/>
              </a:rPr>
              <a:t>result</a:t>
            </a:r>
            <a:endParaRPr sz="2000" dirty="0">
              <a:solidFill>
                <a:prstClr val="black"/>
              </a:solidFill>
              <a:latin typeface="Arial"/>
              <a:cs typeface="Arial"/>
            </a:endParaRPr>
          </a:p>
        </p:txBody>
      </p:sp>
      <p:sp>
        <p:nvSpPr>
          <p:cNvPr id="7" name="object 7"/>
          <p:cNvSpPr/>
          <p:nvPr/>
        </p:nvSpPr>
        <p:spPr>
          <a:xfrm>
            <a:off x="4498077" y="2740723"/>
            <a:ext cx="434975" cy="76200"/>
          </a:xfrm>
          <a:custGeom>
            <a:avLst/>
            <a:gdLst/>
            <a:ahLst/>
            <a:cxnLst/>
            <a:rect l="l" t="t" r="r" b="b"/>
            <a:pathLst>
              <a:path w="434975" h="76200">
                <a:moveTo>
                  <a:pt x="304783" y="33895"/>
                </a:moveTo>
                <a:lnTo>
                  <a:pt x="266684" y="34293"/>
                </a:lnTo>
                <a:lnTo>
                  <a:pt x="266785" y="43817"/>
                </a:lnTo>
                <a:lnTo>
                  <a:pt x="304882" y="43418"/>
                </a:lnTo>
                <a:lnTo>
                  <a:pt x="304783" y="33895"/>
                </a:lnTo>
                <a:close/>
              </a:path>
              <a:path w="434975" h="76200">
                <a:moveTo>
                  <a:pt x="238112" y="34592"/>
                </a:moveTo>
                <a:lnTo>
                  <a:pt x="200013" y="34991"/>
                </a:lnTo>
                <a:lnTo>
                  <a:pt x="200113" y="44516"/>
                </a:lnTo>
                <a:lnTo>
                  <a:pt x="238211" y="44117"/>
                </a:lnTo>
                <a:lnTo>
                  <a:pt x="238112" y="34592"/>
                </a:lnTo>
                <a:close/>
              </a:path>
              <a:path w="434975" h="76200">
                <a:moveTo>
                  <a:pt x="171441" y="35290"/>
                </a:moveTo>
                <a:lnTo>
                  <a:pt x="133342" y="35689"/>
                </a:lnTo>
                <a:lnTo>
                  <a:pt x="133442" y="45213"/>
                </a:lnTo>
                <a:lnTo>
                  <a:pt x="171540" y="44814"/>
                </a:lnTo>
                <a:lnTo>
                  <a:pt x="171441" y="35290"/>
                </a:lnTo>
                <a:close/>
              </a:path>
              <a:path w="434975" h="76200">
                <a:moveTo>
                  <a:pt x="104768" y="35987"/>
                </a:moveTo>
                <a:lnTo>
                  <a:pt x="66671" y="36386"/>
                </a:lnTo>
                <a:lnTo>
                  <a:pt x="66771" y="45911"/>
                </a:lnTo>
                <a:lnTo>
                  <a:pt x="104868" y="45512"/>
                </a:lnTo>
                <a:lnTo>
                  <a:pt x="104768" y="35987"/>
                </a:lnTo>
                <a:close/>
              </a:path>
              <a:path w="434975" h="76200">
                <a:moveTo>
                  <a:pt x="38097" y="36686"/>
                </a:moveTo>
                <a:lnTo>
                  <a:pt x="0" y="37085"/>
                </a:lnTo>
                <a:lnTo>
                  <a:pt x="99" y="46609"/>
                </a:lnTo>
                <a:lnTo>
                  <a:pt x="38197" y="46210"/>
                </a:lnTo>
                <a:lnTo>
                  <a:pt x="38097" y="36686"/>
                </a:lnTo>
                <a:close/>
              </a:path>
              <a:path w="434975" h="76200">
                <a:moveTo>
                  <a:pt x="423636" y="42859"/>
                </a:moveTo>
                <a:lnTo>
                  <a:pt x="358325" y="42859"/>
                </a:lnTo>
                <a:lnTo>
                  <a:pt x="358674" y="76194"/>
                </a:lnTo>
                <a:lnTo>
                  <a:pt x="423636" y="42859"/>
                </a:lnTo>
                <a:close/>
              </a:path>
              <a:path w="434975" h="76200">
                <a:moveTo>
                  <a:pt x="357877" y="0"/>
                </a:moveTo>
                <a:lnTo>
                  <a:pt x="358226" y="33334"/>
                </a:lnTo>
                <a:lnTo>
                  <a:pt x="333357" y="33595"/>
                </a:lnTo>
                <a:lnTo>
                  <a:pt x="333456" y="43120"/>
                </a:lnTo>
                <a:lnTo>
                  <a:pt x="358325" y="42859"/>
                </a:lnTo>
                <a:lnTo>
                  <a:pt x="423636" y="42859"/>
                </a:lnTo>
                <a:lnTo>
                  <a:pt x="434472" y="37299"/>
                </a:lnTo>
                <a:lnTo>
                  <a:pt x="357877"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8" name="object 8"/>
          <p:cNvSpPr/>
          <p:nvPr/>
        </p:nvSpPr>
        <p:spPr>
          <a:xfrm>
            <a:off x="7482020" y="2778197"/>
            <a:ext cx="479425" cy="76200"/>
          </a:xfrm>
          <a:custGeom>
            <a:avLst/>
            <a:gdLst/>
            <a:ahLst/>
            <a:cxnLst/>
            <a:rect l="l" t="t" r="r" b="b"/>
            <a:pathLst>
              <a:path w="479425" h="76200">
                <a:moveTo>
                  <a:pt x="371475" y="33337"/>
                </a:moveTo>
                <a:lnTo>
                  <a:pt x="333375" y="33337"/>
                </a:lnTo>
                <a:lnTo>
                  <a:pt x="333375" y="42862"/>
                </a:lnTo>
                <a:lnTo>
                  <a:pt x="371475" y="42862"/>
                </a:lnTo>
                <a:lnTo>
                  <a:pt x="371475" y="33337"/>
                </a:lnTo>
                <a:close/>
              </a:path>
              <a:path w="479425" h="76200">
                <a:moveTo>
                  <a:pt x="304800" y="33337"/>
                </a:moveTo>
                <a:lnTo>
                  <a:pt x="266700" y="33337"/>
                </a:lnTo>
                <a:lnTo>
                  <a:pt x="266700" y="42862"/>
                </a:lnTo>
                <a:lnTo>
                  <a:pt x="304800" y="42862"/>
                </a:lnTo>
                <a:lnTo>
                  <a:pt x="304800" y="33337"/>
                </a:lnTo>
                <a:close/>
              </a:path>
              <a:path w="479425" h="76200">
                <a:moveTo>
                  <a:pt x="200025" y="33336"/>
                </a:moveTo>
                <a:lnTo>
                  <a:pt x="200025" y="42861"/>
                </a:lnTo>
                <a:lnTo>
                  <a:pt x="238125" y="42862"/>
                </a:lnTo>
                <a:lnTo>
                  <a:pt x="238125" y="33337"/>
                </a:lnTo>
                <a:lnTo>
                  <a:pt x="200025" y="33336"/>
                </a:lnTo>
                <a:close/>
              </a:path>
              <a:path w="479425" h="76200">
                <a:moveTo>
                  <a:pt x="171450" y="33336"/>
                </a:moveTo>
                <a:lnTo>
                  <a:pt x="133350" y="33336"/>
                </a:lnTo>
                <a:lnTo>
                  <a:pt x="133350" y="42861"/>
                </a:lnTo>
                <a:lnTo>
                  <a:pt x="171450" y="42861"/>
                </a:lnTo>
                <a:lnTo>
                  <a:pt x="171450" y="33336"/>
                </a:lnTo>
                <a:close/>
              </a:path>
              <a:path w="479425" h="76200">
                <a:moveTo>
                  <a:pt x="104775" y="33336"/>
                </a:moveTo>
                <a:lnTo>
                  <a:pt x="66675" y="33336"/>
                </a:lnTo>
                <a:lnTo>
                  <a:pt x="66675" y="42861"/>
                </a:lnTo>
                <a:lnTo>
                  <a:pt x="104775" y="42861"/>
                </a:lnTo>
                <a:lnTo>
                  <a:pt x="104775" y="33336"/>
                </a:lnTo>
                <a:close/>
              </a:path>
              <a:path w="479425" h="76200">
                <a:moveTo>
                  <a:pt x="38100" y="33336"/>
                </a:moveTo>
                <a:lnTo>
                  <a:pt x="0" y="33336"/>
                </a:lnTo>
                <a:lnTo>
                  <a:pt x="0" y="42861"/>
                </a:lnTo>
                <a:lnTo>
                  <a:pt x="38100" y="42861"/>
                </a:lnTo>
                <a:lnTo>
                  <a:pt x="38100" y="33336"/>
                </a:lnTo>
                <a:close/>
              </a:path>
              <a:path w="479425" h="76200">
                <a:moveTo>
                  <a:pt x="402917" y="0"/>
                </a:moveTo>
                <a:lnTo>
                  <a:pt x="402917" y="33337"/>
                </a:lnTo>
                <a:lnTo>
                  <a:pt x="400050" y="33337"/>
                </a:lnTo>
                <a:lnTo>
                  <a:pt x="400050" y="42862"/>
                </a:lnTo>
                <a:lnTo>
                  <a:pt x="402917" y="42862"/>
                </a:lnTo>
                <a:lnTo>
                  <a:pt x="402917" y="76200"/>
                </a:lnTo>
                <a:lnTo>
                  <a:pt x="479117" y="38100"/>
                </a:lnTo>
                <a:lnTo>
                  <a:pt x="402917"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9" name="object 9"/>
          <p:cNvSpPr/>
          <p:nvPr/>
        </p:nvSpPr>
        <p:spPr>
          <a:xfrm>
            <a:off x="2051672" y="3160364"/>
            <a:ext cx="2356485" cy="620683"/>
          </a:xfrm>
          <a:custGeom>
            <a:avLst/>
            <a:gdLst/>
            <a:ahLst/>
            <a:cxnLst/>
            <a:rect l="l" t="t" r="r" b="b"/>
            <a:pathLst>
              <a:path w="2356485" h="924560">
                <a:moveTo>
                  <a:pt x="0" y="269495"/>
                </a:moveTo>
                <a:lnTo>
                  <a:pt x="10289" y="218528"/>
                </a:lnTo>
                <a:lnTo>
                  <a:pt x="38350" y="176908"/>
                </a:lnTo>
                <a:lnTo>
                  <a:pt x="79971" y="148847"/>
                </a:lnTo>
                <a:lnTo>
                  <a:pt x="130938" y="138557"/>
                </a:lnTo>
                <a:lnTo>
                  <a:pt x="392698" y="138557"/>
                </a:lnTo>
                <a:lnTo>
                  <a:pt x="729076" y="0"/>
                </a:lnTo>
                <a:lnTo>
                  <a:pt x="981745" y="138557"/>
                </a:lnTo>
                <a:lnTo>
                  <a:pt x="2225252" y="138557"/>
                </a:lnTo>
                <a:lnTo>
                  <a:pt x="2276218" y="148847"/>
                </a:lnTo>
                <a:lnTo>
                  <a:pt x="2317839" y="176908"/>
                </a:lnTo>
                <a:lnTo>
                  <a:pt x="2345900" y="218528"/>
                </a:lnTo>
                <a:lnTo>
                  <a:pt x="2356190" y="269495"/>
                </a:lnTo>
                <a:lnTo>
                  <a:pt x="2356190" y="465896"/>
                </a:lnTo>
                <a:lnTo>
                  <a:pt x="2356190" y="793230"/>
                </a:lnTo>
                <a:lnTo>
                  <a:pt x="2345900" y="844197"/>
                </a:lnTo>
                <a:lnTo>
                  <a:pt x="2317839" y="885817"/>
                </a:lnTo>
                <a:lnTo>
                  <a:pt x="2276218" y="913878"/>
                </a:lnTo>
                <a:lnTo>
                  <a:pt x="2225252" y="924168"/>
                </a:lnTo>
                <a:lnTo>
                  <a:pt x="981745" y="924168"/>
                </a:lnTo>
                <a:lnTo>
                  <a:pt x="392698" y="924168"/>
                </a:lnTo>
                <a:lnTo>
                  <a:pt x="130938" y="924168"/>
                </a:lnTo>
                <a:lnTo>
                  <a:pt x="79971" y="913878"/>
                </a:lnTo>
                <a:lnTo>
                  <a:pt x="38350" y="885817"/>
                </a:lnTo>
                <a:lnTo>
                  <a:pt x="10289" y="844197"/>
                </a:lnTo>
                <a:lnTo>
                  <a:pt x="0" y="793230"/>
                </a:lnTo>
                <a:lnTo>
                  <a:pt x="0" y="465896"/>
                </a:lnTo>
                <a:lnTo>
                  <a:pt x="0" y="269493"/>
                </a:lnTo>
                <a:close/>
              </a:path>
            </a:pathLst>
          </a:custGeom>
          <a:ln w="38100">
            <a:solidFill>
              <a:srgbClr val="FAC090"/>
            </a:solidFill>
          </a:ln>
        </p:spPr>
        <p:txBody>
          <a:bodyPr wrap="square" lIns="0" tIns="0" rIns="0" bIns="0" rtlCol="0"/>
          <a:lstStyle/>
          <a:p>
            <a:endParaRPr>
              <a:solidFill>
                <a:prstClr val="black"/>
              </a:solidFill>
              <a:latin typeface="Calibri"/>
            </a:endParaRPr>
          </a:p>
        </p:txBody>
      </p:sp>
      <p:sp>
        <p:nvSpPr>
          <p:cNvPr id="10" name="object 10"/>
          <p:cNvSpPr txBox="1"/>
          <p:nvPr/>
        </p:nvSpPr>
        <p:spPr>
          <a:xfrm>
            <a:off x="2252014" y="3393823"/>
            <a:ext cx="1955800" cy="299720"/>
          </a:xfrm>
          <a:prstGeom prst="rect">
            <a:avLst/>
          </a:prstGeom>
        </p:spPr>
        <p:txBody>
          <a:bodyPr vert="horz" wrap="square" lIns="0" tIns="12700" rIns="0" bIns="0" rtlCol="0">
            <a:spAutoFit/>
          </a:bodyPr>
          <a:lstStyle/>
          <a:p>
            <a:pPr marL="12700">
              <a:spcBef>
                <a:spcPts val="100"/>
              </a:spcBef>
            </a:pPr>
            <a:r>
              <a:rPr b="1" dirty="0">
                <a:solidFill>
                  <a:prstClr val="black"/>
                </a:solidFill>
                <a:latin typeface="Arial"/>
                <a:cs typeface="Arial"/>
              </a:rPr>
              <a:t>Image,</a:t>
            </a:r>
            <a:r>
              <a:rPr b="1" spc="-40" dirty="0">
                <a:solidFill>
                  <a:prstClr val="black"/>
                </a:solidFill>
                <a:latin typeface="Arial"/>
                <a:cs typeface="Arial"/>
              </a:rPr>
              <a:t> </a:t>
            </a:r>
            <a:r>
              <a:rPr b="1" spc="-5" dirty="0">
                <a:solidFill>
                  <a:prstClr val="black"/>
                </a:solidFill>
                <a:latin typeface="Arial"/>
                <a:cs typeface="Arial"/>
              </a:rPr>
              <a:t>audio,</a:t>
            </a:r>
            <a:r>
              <a:rPr b="1" spc="-45" dirty="0">
                <a:solidFill>
                  <a:prstClr val="black"/>
                </a:solidFill>
                <a:latin typeface="Arial"/>
                <a:cs typeface="Arial"/>
              </a:rPr>
              <a:t> </a:t>
            </a:r>
            <a:r>
              <a:rPr b="1" spc="-5" dirty="0">
                <a:solidFill>
                  <a:prstClr val="black"/>
                </a:solidFill>
                <a:latin typeface="Arial"/>
                <a:cs typeface="Arial"/>
              </a:rPr>
              <a:t>text</a:t>
            </a:r>
            <a:endParaRPr dirty="0">
              <a:solidFill>
                <a:prstClr val="black"/>
              </a:solidFill>
              <a:latin typeface="Arial"/>
              <a:cs typeface="Arial"/>
            </a:endParaRPr>
          </a:p>
        </p:txBody>
      </p:sp>
      <p:sp>
        <p:nvSpPr>
          <p:cNvPr id="11" name="object 11"/>
          <p:cNvSpPr/>
          <p:nvPr/>
        </p:nvSpPr>
        <p:spPr>
          <a:xfrm>
            <a:off x="8038581" y="3318767"/>
            <a:ext cx="2356485" cy="924560"/>
          </a:xfrm>
          <a:custGeom>
            <a:avLst/>
            <a:gdLst/>
            <a:ahLst/>
            <a:cxnLst/>
            <a:rect l="l" t="t" r="r" b="b"/>
            <a:pathLst>
              <a:path w="2356484" h="924560">
                <a:moveTo>
                  <a:pt x="0" y="269495"/>
                </a:moveTo>
                <a:lnTo>
                  <a:pt x="10289" y="218528"/>
                </a:lnTo>
                <a:lnTo>
                  <a:pt x="38350" y="176908"/>
                </a:lnTo>
                <a:lnTo>
                  <a:pt x="79971" y="148847"/>
                </a:lnTo>
                <a:lnTo>
                  <a:pt x="130938" y="138557"/>
                </a:lnTo>
                <a:lnTo>
                  <a:pt x="392698" y="138557"/>
                </a:lnTo>
                <a:lnTo>
                  <a:pt x="729076" y="0"/>
                </a:lnTo>
                <a:lnTo>
                  <a:pt x="981745" y="138557"/>
                </a:lnTo>
                <a:lnTo>
                  <a:pt x="2225252" y="138557"/>
                </a:lnTo>
                <a:lnTo>
                  <a:pt x="2276218" y="148847"/>
                </a:lnTo>
                <a:lnTo>
                  <a:pt x="2317839" y="176908"/>
                </a:lnTo>
                <a:lnTo>
                  <a:pt x="2345900" y="218528"/>
                </a:lnTo>
                <a:lnTo>
                  <a:pt x="2356190" y="269495"/>
                </a:lnTo>
                <a:lnTo>
                  <a:pt x="2356190" y="465896"/>
                </a:lnTo>
                <a:lnTo>
                  <a:pt x="2356190" y="793230"/>
                </a:lnTo>
                <a:lnTo>
                  <a:pt x="2345900" y="844197"/>
                </a:lnTo>
                <a:lnTo>
                  <a:pt x="2317839" y="885817"/>
                </a:lnTo>
                <a:lnTo>
                  <a:pt x="2276218" y="913878"/>
                </a:lnTo>
                <a:lnTo>
                  <a:pt x="2225252" y="924168"/>
                </a:lnTo>
                <a:lnTo>
                  <a:pt x="981745" y="924168"/>
                </a:lnTo>
                <a:lnTo>
                  <a:pt x="392698" y="924168"/>
                </a:lnTo>
                <a:lnTo>
                  <a:pt x="130938" y="924168"/>
                </a:lnTo>
                <a:lnTo>
                  <a:pt x="79971" y="913878"/>
                </a:lnTo>
                <a:lnTo>
                  <a:pt x="38350" y="885817"/>
                </a:lnTo>
                <a:lnTo>
                  <a:pt x="10289" y="844197"/>
                </a:lnTo>
                <a:lnTo>
                  <a:pt x="0" y="793230"/>
                </a:lnTo>
                <a:lnTo>
                  <a:pt x="0" y="465896"/>
                </a:lnTo>
                <a:lnTo>
                  <a:pt x="0" y="269493"/>
                </a:lnTo>
                <a:close/>
              </a:path>
            </a:pathLst>
          </a:custGeom>
          <a:ln w="38100">
            <a:solidFill>
              <a:srgbClr val="FAC090"/>
            </a:solidFill>
          </a:ln>
        </p:spPr>
        <p:txBody>
          <a:bodyPr wrap="square" lIns="0" tIns="0" rIns="0" bIns="0" rtlCol="0"/>
          <a:lstStyle/>
          <a:p>
            <a:endParaRPr>
              <a:solidFill>
                <a:prstClr val="black"/>
              </a:solidFill>
              <a:latin typeface="Calibri"/>
            </a:endParaRPr>
          </a:p>
        </p:txBody>
      </p:sp>
      <p:sp>
        <p:nvSpPr>
          <p:cNvPr id="12" name="object 12"/>
          <p:cNvSpPr txBox="1"/>
          <p:nvPr/>
        </p:nvSpPr>
        <p:spPr>
          <a:xfrm>
            <a:off x="8133728" y="3429000"/>
            <a:ext cx="2006600" cy="850265"/>
          </a:xfrm>
          <a:prstGeom prst="rect">
            <a:avLst/>
          </a:prstGeom>
        </p:spPr>
        <p:txBody>
          <a:bodyPr vert="horz" wrap="square" lIns="0" tIns="12700" rIns="0" bIns="0" rtlCol="0">
            <a:spAutoFit/>
          </a:bodyPr>
          <a:lstStyle/>
          <a:p>
            <a:pPr marL="12700" marR="5080">
              <a:spcBef>
                <a:spcPts val="100"/>
              </a:spcBef>
            </a:pPr>
            <a:r>
              <a:rPr b="1" spc="-5" dirty="0">
                <a:solidFill>
                  <a:prstClr val="black"/>
                </a:solidFill>
                <a:latin typeface="Arial"/>
                <a:cs typeface="Arial"/>
              </a:rPr>
              <a:t>Some action, </a:t>
            </a:r>
            <a:r>
              <a:rPr b="1" dirty="0">
                <a:solidFill>
                  <a:prstClr val="black"/>
                </a:solidFill>
                <a:latin typeface="Arial"/>
                <a:cs typeface="Arial"/>
              </a:rPr>
              <a:t> </a:t>
            </a:r>
            <a:r>
              <a:rPr b="1" spc="-5" dirty="0">
                <a:solidFill>
                  <a:prstClr val="black"/>
                </a:solidFill>
                <a:latin typeface="Arial"/>
                <a:cs typeface="Arial"/>
              </a:rPr>
              <a:t>description</a:t>
            </a:r>
            <a:r>
              <a:rPr b="1" spc="-40" dirty="0">
                <a:solidFill>
                  <a:prstClr val="black"/>
                </a:solidFill>
                <a:latin typeface="Arial"/>
                <a:cs typeface="Arial"/>
              </a:rPr>
              <a:t> </a:t>
            </a:r>
            <a:r>
              <a:rPr b="1" dirty="0">
                <a:solidFill>
                  <a:prstClr val="black"/>
                </a:solidFill>
                <a:latin typeface="Arial"/>
                <a:cs typeface="Arial"/>
              </a:rPr>
              <a:t>of</a:t>
            </a:r>
            <a:r>
              <a:rPr b="1" spc="-35" dirty="0">
                <a:solidFill>
                  <a:prstClr val="black"/>
                </a:solidFill>
                <a:latin typeface="Arial"/>
                <a:cs typeface="Arial"/>
              </a:rPr>
              <a:t> </a:t>
            </a:r>
            <a:r>
              <a:rPr b="1" spc="-5" dirty="0">
                <a:solidFill>
                  <a:prstClr val="black"/>
                </a:solidFill>
                <a:latin typeface="Arial"/>
                <a:cs typeface="Arial"/>
              </a:rPr>
              <a:t>text </a:t>
            </a:r>
            <a:r>
              <a:rPr b="1" spc="-484" dirty="0">
                <a:solidFill>
                  <a:prstClr val="black"/>
                </a:solidFill>
                <a:latin typeface="Arial"/>
                <a:cs typeface="Arial"/>
              </a:rPr>
              <a:t> </a:t>
            </a:r>
            <a:r>
              <a:rPr b="1" spc="-5" dirty="0">
                <a:solidFill>
                  <a:prstClr val="black"/>
                </a:solidFill>
                <a:latin typeface="Arial"/>
                <a:cs typeface="Arial"/>
              </a:rPr>
              <a:t>and</a:t>
            </a:r>
            <a:r>
              <a:rPr b="1" spc="-10" dirty="0">
                <a:solidFill>
                  <a:prstClr val="black"/>
                </a:solidFill>
                <a:latin typeface="Arial"/>
                <a:cs typeface="Arial"/>
              </a:rPr>
              <a:t> </a:t>
            </a:r>
            <a:r>
              <a:rPr b="1" spc="-5" dirty="0">
                <a:solidFill>
                  <a:prstClr val="black"/>
                </a:solidFill>
                <a:latin typeface="Arial"/>
                <a:cs typeface="Arial"/>
              </a:rPr>
              <a:t>so </a:t>
            </a:r>
            <a:r>
              <a:rPr b="1" dirty="0">
                <a:solidFill>
                  <a:prstClr val="black"/>
                </a:solidFill>
                <a:latin typeface="Arial"/>
                <a:cs typeface="Arial"/>
              </a:rPr>
              <a:t>on</a:t>
            </a:r>
            <a:endParaRPr dirty="0">
              <a:solidFill>
                <a:prstClr val="black"/>
              </a:solidFill>
              <a:latin typeface="Arial"/>
              <a:cs typeface="Arial"/>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11</a:t>
            </a:fld>
            <a:endParaRPr dirty="0">
              <a:solidFill>
                <a:prstClr val="white"/>
              </a:solidFill>
            </a:endParaRPr>
          </a:p>
        </p:txBody>
      </p:sp>
      <p:sp>
        <p:nvSpPr>
          <p:cNvPr id="15" name="TextBox 14">
            <a:extLst>
              <a:ext uri="{FF2B5EF4-FFF2-40B4-BE49-F238E27FC236}">
                <a16:creationId xmlns:a16="http://schemas.microsoft.com/office/drawing/2014/main" id="{5332F0E8-7C4F-98B9-88AC-D653BDB5F8A4}"/>
              </a:ext>
            </a:extLst>
          </p:cNvPr>
          <p:cNvSpPr txBox="1"/>
          <p:nvPr/>
        </p:nvSpPr>
        <p:spPr>
          <a:xfrm>
            <a:off x="3133615" y="912785"/>
            <a:ext cx="5870966" cy="646331"/>
          </a:xfrm>
          <a:prstGeom prst="rect">
            <a:avLst/>
          </a:prstGeom>
          <a:noFill/>
        </p:spPr>
        <p:txBody>
          <a:bodyPr wrap="none" rtlCol="0">
            <a:spAutoFit/>
          </a:bodyPr>
          <a:lstStyle/>
          <a:p>
            <a:r>
              <a:rPr kumimoji="1" lang="en-IN" sz="3600" b="1" dirty="0">
                <a:solidFill>
                  <a:schemeClr val="tx2"/>
                </a:solidFill>
                <a:latin typeface="+mj-lt"/>
                <a:ea typeface="PMingLiU" panose="02020500000000000000" pitchFamily="18" charset="-120"/>
                <a:cs typeface="+mj-cs"/>
              </a:rPr>
              <a:t>Introduction to Autoencoders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64898" y="1039664"/>
            <a:ext cx="9720776" cy="4943276"/>
          </a:xfrm>
          <a:prstGeom prst="rect">
            <a:avLst/>
          </a:prstGeom>
        </p:spPr>
        <p:txBody>
          <a:bodyPr vert="horz" wrap="square" lIns="0" tIns="12700" rIns="0" bIns="0" rtlCol="0">
            <a:spAutoFit/>
          </a:bodyPr>
          <a:lstStyle/>
          <a:p>
            <a:pPr marL="12700" marR="5080">
              <a:lnSpc>
                <a:spcPct val="119200"/>
              </a:lnSpc>
              <a:spcBef>
                <a:spcPts val="100"/>
              </a:spcBef>
            </a:pPr>
            <a:r>
              <a:rPr sz="2400" b="1" dirty="0">
                <a:solidFill>
                  <a:prstClr val="black"/>
                </a:solidFill>
                <a:latin typeface="Arial"/>
                <a:cs typeface="Arial"/>
              </a:rPr>
              <a:t>Real </a:t>
            </a:r>
            <a:r>
              <a:rPr sz="2400" b="1" spc="-5" dirty="0">
                <a:solidFill>
                  <a:prstClr val="black"/>
                </a:solidFill>
                <a:latin typeface="Arial"/>
                <a:cs typeface="Arial"/>
              </a:rPr>
              <a:t>world object </a:t>
            </a:r>
            <a:r>
              <a:rPr sz="2400" b="1" dirty="0">
                <a:solidFill>
                  <a:prstClr val="black"/>
                </a:solidFill>
                <a:latin typeface="Arial"/>
                <a:cs typeface="Arial"/>
              </a:rPr>
              <a:t>can </a:t>
            </a:r>
            <a:r>
              <a:rPr sz="2400" b="1" spc="-5" dirty="0">
                <a:solidFill>
                  <a:prstClr val="black"/>
                </a:solidFill>
                <a:latin typeface="Arial"/>
                <a:cs typeface="Arial"/>
              </a:rPr>
              <a:t>be represented </a:t>
            </a:r>
            <a:r>
              <a:rPr sz="2400" b="1" dirty="0">
                <a:solidFill>
                  <a:prstClr val="black"/>
                </a:solidFill>
                <a:latin typeface="Arial"/>
                <a:cs typeface="Arial"/>
              </a:rPr>
              <a:t>as </a:t>
            </a:r>
            <a:r>
              <a:rPr sz="2400" b="1" spc="-5" dirty="0">
                <a:solidFill>
                  <a:prstClr val="black"/>
                </a:solidFill>
                <a:latin typeface="Arial"/>
                <a:cs typeface="Arial"/>
              </a:rPr>
              <a:t>some feature </a:t>
            </a:r>
            <a:r>
              <a:rPr sz="2400" b="1" spc="-655" dirty="0">
                <a:solidFill>
                  <a:prstClr val="black"/>
                </a:solidFill>
                <a:latin typeface="Arial"/>
                <a:cs typeface="Arial"/>
              </a:rPr>
              <a:t> </a:t>
            </a:r>
            <a:r>
              <a:rPr sz="2400" b="1" spc="-5" dirty="0">
                <a:solidFill>
                  <a:prstClr val="black"/>
                </a:solidFill>
                <a:latin typeface="Arial"/>
                <a:cs typeface="Arial"/>
              </a:rPr>
              <a:t>in</a:t>
            </a:r>
            <a:r>
              <a:rPr sz="2400" b="1" spc="-15" dirty="0">
                <a:solidFill>
                  <a:prstClr val="black"/>
                </a:solidFill>
                <a:latin typeface="Arial"/>
                <a:cs typeface="Arial"/>
              </a:rPr>
              <a:t> </a:t>
            </a:r>
            <a:r>
              <a:rPr sz="2400" b="1" spc="-5" dirty="0">
                <a:solidFill>
                  <a:prstClr val="black"/>
                </a:solidFill>
                <a:latin typeface="Arial"/>
                <a:cs typeface="Arial"/>
              </a:rPr>
              <a:t>computer</a:t>
            </a:r>
            <a:endParaRPr sz="2400" dirty="0">
              <a:solidFill>
                <a:prstClr val="black"/>
              </a:solidFill>
              <a:latin typeface="Arial"/>
              <a:cs typeface="Arial"/>
            </a:endParaRPr>
          </a:p>
          <a:p>
            <a:pPr marL="12700">
              <a:spcBef>
                <a:spcPts val="1150"/>
              </a:spcBef>
            </a:pPr>
            <a:endParaRPr lang="en-IN" sz="2400" b="1" spc="-5" dirty="0">
              <a:solidFill>
                <a:prstClr val="black"/>
              </a:solidFill>
              <a:latin typeface="Arial"/>
              <a:cs typeface="Arial"/>
            </a:endParaRPr>
          </a:p>
          <a:p>
            <a:pPr marL="12700">
              <a:spcBef>
                <a:spcPts val="1150"/>
              </a:spcBef>
            </a:pPr>
            <a:r>
              <a:rPr sz="2400" b="1" spc="-5" dirty="0">
                <a:solidFill>
                  <a:prstClr val="black"/>
                </a:solidFill>
                <a:latin typeface="Arial"/>
                <a:cs typeface="Arial"/>
              </a:rPr>
              <a:t>In</a:t>
            </a:r>
            <a:r>
              <a:rPr sz="2400" b="1" spc="-30" dirty="0">
                <a:solidFill>
                  <a:prstClr val="black"/>
                </a:solidFill>
                <a:latin typeface="Arial"/>
                <a:cs typeface="Arial"/>
              </a:rPr>
              <a:t> </a:t>
            </a:r>
            <a:r>
              <a:rPr sz="2400" b="1" dirty="0">
                <a:solidFill>
                  <a:prstClr val="black"/>
                </a:solidFill>
                <a:latin typeface="Arial"/>
                <a:cs typeface="Arial"/>
              </a:rPr>
              <a:t>case</a:t>
            </a:r>
            <a:r>
              <a:rPr sz="2400" b="1" spc="-25" dirty="0">
                <a:solidFill>
                  <a:prstClr val="black"/>
                </a:solidFill>
                <a:latin typeface="Arial"/>
                <a:cs typeface="Arial"/>
              </a:rPr>
              <a:t> </a:t>
            </a:r>
            <a:r>
              <a:rPr sz="2400" b="1" spc="-5" dirty="0">
                <a:solidFill>
                  <a:prstClr val="black"/>
                </a:solidFill>
                <a:latin typeface="Arial"/>
                <a:cs typeface="Arial"/>
              </a:rPr>
              <a:t>of</a:t>
            </a:r>
            <a:r>
              <a:rPr sz="2400" b="1" spc="-20" dirty="0">
                <a:solidFill>
                  <a:prstClr val="black"/>
                </a:solidFill>
                <a:latin typeface="Arial"/>
                <a:cs typeface="Arial"/>
              </a:rPr>
              <a:t> </a:t>
            </a:r>
            <a:r>
              <a:rPr sz="2400" b="1" spc="-5" dirty="0">
                <a:solidFill>
                  <a:prstClr val="black"/>
                </a:solidFill>
                <a:latin typeface="Arial"/>
                <a:cs typeface="Arial"/>
              </a:rPr>
              <a:t>human:</a:t>
            </a:r>
            <a:endParaRPr sz="2400" dirty="0">
              <a:solidFill>
                <a:prstClr val="black"/>
              </a:solidFill>
              <a:latin typeface="Arial"/>
              <a:cs typeface="Arial"/>
            </a:endParaRPr>
          </a:p>
          <a:p>
            <a:pPr marL="412115" indent="-285115">
              <a:spcBef>
                <a:spcPts val="855"/>
              </a:spcBef>
              <a:buFont typeface="Arial MT"/>
              <a:buChar char="-"/>
              <a:tabLst>
                <a:tab pos="411480" algn="l"/>
                <a:tab pos="412115" algn="l"/>
              </a:tabLst>
            </a:pPr>
            <a:r>
              <a:rPr sz="2000" b="1" spc="-5" dirty="0">
                <a:solidFill>
                  <a:srgbClr val="4F81BD"/>
                </a:solidFill>
                <a:latin typeface="Arial"/>
                <a:cs typeface="Arial"/>
              </a:rPr>
              <a:t>name</a:t>
            </a:r>
            <a:endParaRPr sz="2000" dirty="0">
              <a:solidFill>
                <a:prstClr val="black"/>
              </a:solidFill>
              <a:latin typeface="Arial"/>
              <a:cs typeface="Arial"/>
            </a:endParaRPr>
          </a:p>
          <a:p>
            <a:pPr marL="412115" indent="-285115">
              <a:spcBef>
                <a:spcPts val="735"/>
              </a:spcBef>
              <a:buFont typeface="Arial MT"/>
              <a:buChar char="-"/>
              <a:tabLst>
                <a:tab pos="411480" algn="l"/>
                <a:tab pos="412115" algn="l"/>
              </a:tabLst>
            </a:pPr>
            <a:r>
              <a:rPr sz="2000" b="1" dirty="0">
                <a:solidFill>
                  <a:srgbClr val="4F81BD"/>
                </a:solidFill>
                <a:latin typeface="Arial"/>
                <a:cs typeface="Arial"/>
              </a:rPr>
              <a:t>age</a:t>
            </a:r>
            <a:endParaRPr sz="2000" dirty="0">
              <a:solidFill>
                <a:prstClr val="black"/>
              </a:solidFill>
              <a:latin typeface="Arial"/>
              <a:cs typeface="Arial"/>
            </a:endParaRPr>
          </a:p>
          <a:p>
            <a:pPr marL="412115" indent="-285115">
              <a:spcBef>
                <a:spcPts val="700"/>
              </a:spcBef>
              <a:buFont typeface="Arial MT"/>
              <a:buChar char="-"/>
              <a:tabLst>
                <a:tab pos="411480" algn="l"/>
                <a:tab pos="412115" algn="l"/>
              </a:tabLst>
            </a:pPr>
            <a:r>
              <a:rPr sz="2000" b="1" dirty="0">
                <a:solidFill>
                  <a:srgbClr val="4F81BD"/>
                </a:solidFill>
                <a:latin typeface="Arial"/>
                <a:cs typeface="Arial"/>
              </a:rPr>
              <a:t>gender</a:t>
            </a:r>
            <a:endParaRPr sz="2000" dirty="0">
              <a:solidFill>
                <a:prstClr val="black"/>
              </a:solidFill>
              <a:latin typeface="Arial"/>
              <a:cs typeface="Arial"/>
            </a:endParaRPr>
          </a:p>
          <a:p>
            <a:pPr marL="412115" indent="-285115">
              <a:spcBef>
                <a:spcPts val="730"/>
              </a:spcBef>
              <a:buFont typeface="Arial MT"/>
              <a:buChar char="-"/>
              <a:tabLst>
                <a:tab pos="411480" algn="l"/>
                <a:tab pos="412115" algn="l"/>
              </a:tabLst>
            </a:pPr>
            <a:r>
              <a:rPr sz="2000" b="1" spc="-5" dirty="0">
                <a:solidFill>
                  <a:srgbClr val="4F81BD"/>
                </a:solidFill>
                <a:latin typeface="Arial"/>
                <a:cs typeface="Arial"/>
              </a:rPr>
              <a:t>nationality</a:t>
            </a:r>
            <a:endParaRPr sz="2000" dirty="0">
              <a:solidFill>
                <a:prstClr val="black"/>
              </a:solidFill>
              <a:latin typeface="Arial"/>
              <a:cs typeface="Arial"/>
            </a:endParaRPr>
          </a:p>
          <a:p>
            <a:pPr marL="12700">
              <a:spcBef>
                <a:spcPts val="1035"/>
              </a:spcBef>
            </a:pPr>
            <a:r>
              <a:rPr sz="2400" b="1" spc="-5" dirty="0">
                <a:solidFill>
                  <a:prstClr val="black"/>
                </a:solidFill>
                <a:latin typeface="Arial"/>
                <a:cs typeface="Arial"/>
              </a:rPr>
              <a:t>In</a:t>
            </a:r>
            <a:r>
              <a:rPr sz="2400" b="1" spc="-30" dirty="0">
                <a:solidFill>
                  <a:prstClr val="black"/>
                </a:solidFill>
                <a:latin typeface="Arial"/>
                <a:cs typeface="Arial"/>
              </a:rPr>
              <a:t> </a:t>
            </a:r>
            <a:r>
              <a:rPr sz="2400" b="1" dirty="0">
                <a:solidFill>
                  <a:prstClr val="black"/>
                </a:solidFill>
                <a:latin typeface="Arial"/>
                <a:cs typeface="Arial"/>
              </a:rPr>
              <a:t>case</a:t>
            </a:r>
            <a:r>
              <a:rPr sz="2400" b="1" spc="-20" dirty="0">
                <a:solidFill>
                  <a:prstClr val="black"/>
                </a:solidFill>
                <a:latin typeface="Arial"/>
                <a:cs typeface="Arial"/>
              </a:rPr>
              <a:t> </a:t>
            </a:r>
            <a:r>
              <a:rPr sz="2400" b="1" spc="-5" dirty="0">
                <a:solidFill>
                  <a:prstClr val="black"/>
                </a:solidFill>
                <a:latin typeface="Arial"/>
                <a:cs typeface="Arial"/>
              </a:rPr>
              <a:t>of</a:t>
            </a:r>
            <a:r>
              <a:rPr sz="2400" b="1" spc="-20" dirty="0">
                <a:solidFill>
                  <a:prstClr val="black"/>
                </a:solidFill>
                <a:latin typeface="Arial"/>
                <a:cs typeface="Arial"/>
              </a:rPr>
              <a:t> </a:t>
            </a:r>
            <a:r>
              <a:rPr sz="2400" b="1" spc="-5" dirty="0">
                <a:solidFill>
                  <a:prstClr val="black"/>
                </a:solidFill>
                <a:latin typeface="Arial"/>
                <a:cs typeface="Arial"/>
              </a:rPr>
              <a:t>image:</a:t>
            </a:r>
            <a:endParaRPr sz="2400" dirty="0">
              <a:solidFill>
                <a:prstClr val="black"/>
              </a:solidFill>
              <a:latin typeface="Arial"/>
              <a:cs typeface="Arial"/>
            </a:endParaRPr>
          </a:p>
          <a:p>
            <a:pPr marL="412115" indent="-285115">
              <a:spcBef>
                <a:spcPts val="819"/>
              </a:spcBef>
              <a:buFont typeface="Arial MT"/>
              <a:buChar char="-"/>
              <a:tabLst>
                <a:tab pos="411480" algn="l"/>
                <a:tab pos="412115" algn="l"/>
              </a:tabLst>
            </a:pPr>
            <a:r>
              <a:rPr sz="2000" b="1" spc="-5" dirty="0">
                <a:solidFill>
                  <a:srgbClr val="4F81BD"/>
                </a:solidFill>
                <a:latin typeface="Arial"/>
                <a:cs typeface="Arial"/>
              </a:rPr>
              <a:t>pixel</a:t>
            </a:r>
            <a:endParaRPr sz="2000" dirty="0">
              <a:solidFill>
                <a:prstClr val="black"/>
              </a:solidFill>
              <a:latin typeface="Arial"/>
              <a:cs typeface="Arial"/>
            </a:endParaRPr>
          </a:p>
          <a:p>
            <a:pPr marL="12700">
              <a:spcBef>
                <a:spcPts val="1035"/>
              </a:spcBef>
            </a:pPr>
            <a:r>
              <a:rPr sz="2400" b="1" spc="-5" dirty="0">
                <a:solidFill>
                  <a:prstClr val="black"/>
                </a:solidFill>
                <a:latin typeface="Arial"/>
                <a:cs typeface="Arial"/>
              </a:rPr>
              <a:t>In</a:t>
            </a:r>
            <a:r>
              <a:rPr sz="2400" b="1" spc="-35" dirty="0">
                <a:solidFill>
                  <a:prstClr val="black"/>
                </a:solidFill>
                <a:latin typeface="Arial"/>
                <a:cs typeface="Arial"/>
              </a:rPr>
              <a:t> </a:t>
            </a:r>
            <a:r>
              <a:rPr sz="2400" b="1" dirty="0">
                <a:solidFill>
                  <a:prstClr val="black"/>
                </a:solidFill>
                <a:latin typeface="Arial"/>
                <a:cs typeface="Arial"/>
              </a:rPr>
              <a:t>case</a:t>
            </a:r>
            <a:r>
              <a:rPr sz="2400" b="1" spc="-25" dirty="0">
                <a:solidFill>
                  <a:prstClr val="black"/>
                </a:solidFill>
                <a:latin typeface="Arial"/>
                <a:cs typeface="Arial"/>
              </a:rPr>
              <a:t> </a:t>
            </a:r>
            <a:r>
              <a:rPr sz="2400" b="1" spc="-5" dirty="0">
                <a:solidFill>
                  <a:prstClr val="black"/>
                </a:solidFill>
                <a:latin typeface="Arial"/>
                <a:cs typeface="Arial"/>
              </a:rPr>
              <a:t>of</a:t>
            </a:r>
            <a:r>
              <a:rPr sz="2400" b="1" spc="-25" dirty="0">
                <a:solidFill>
                  <a:prstClr val="black"/>
                </a:solidFill>
                <a:latin typeface="Arial"/>
                <a:cs typeface="Arial"/>
              </a:rPr>
              <a:t> </a:t>
            </a:r>
            <a:r>
              <a:rPr sz="2400" b="1" spc="-5" dirty="0">
                <a:solidFill>
                  <a:prstClr val="black"/>
                </a:solidFill>
                <a:latin typeface="Arial"/>
                <a:cs typeface="Arial"/>
              </a:rPr>
              <a:t>audio:</a:t>
            </a:r>
            <a:endParaRPr sz="2400" dirty="0">
              <a:solidFill>
                <a:prstClr val="black"/>
              </a:solidFill>
              <a:latin typeface="Arial"/>
              <a:cs typeface="Arial"/>
            </a:endParaRPr>
          </a:p>
          <a:p>
            <a:pPr marL="412115" indent="-285115">
              <a:spcBef>
                <a:spcPts val="850"/>
              </a:spcBef>
              <a:buFont typeface="Arial MT"/>
              <a:buChar char="-"/>
              <a:tabLst>
                <a:tab pos="411480" algn="l"/>
                <a:tab pos="412115" algn="l"/>
              </a:tabLst>
            </a:pPr>
            <a:r>
              <a:rPr sz="2000" b="1" spc="-5" dirty="0">
                <a:solidFill>
                  <a:srgbClr val="4F81BD"/>
                </a:solidFill>
                <a:latin typeface="Arial"/>
                <a:cs typeface="Arial"/>
              </a:rPr>
              <a:t>signal</a:t>
            </a:r>
            <a:endParaRPr sz="2000" dirty="0">
              <a:solidFill>
                <a:prstClr val="black"/>
              </a:solidFill>
              <a:latin typeface="Arial"/>
              <a:cs typeface="Arial"/>
            </a:endParaRPr>
          </a:p>
        </p:txBody>
      </p:sp>
      <p:pic>
        <p:nvPicPr>
          <p:cNvPr id="4" name="object 4"/>
          <p:cNvPicPr/>
          <p:nvPr/>
        </p:nvPicPr>
        <p:blipFill>
          <a:blip r:embed="rId2" cstate="print"/>
          <a:stretch>
            <a:fillRect/>
          </a:stretch>
        </p:blipFill>
        <p:spPr>
          <a:xfrm>
            <a:off x="1909064" y="2189479"/>
            <a:ext cx="170687" cy="177800"/>
          </a:xfrm>
          <a:prstGeom prst="rect">
            <a:avLst/>
          </a:prstGeom>
        </p:spPr>
      </p:pic>
      <p:pic>
        <p:nvPicPr>
          <p:cNvPr id="5" name="object 5"/>
          <p:cNvPicPr/>
          <p:nvPr/>
        </p:nvPicPr>
        <p:blipFill>
          <a:blip r:embed="rId2" cstate="print"/>
          <a:stretch>
            <a:fillRect/>
          </a:stretch>
        </p:blipFill>
        <p:spPr>
          <a:xfrm>
            <a:off x="1909064" y="4289212"/>
            <a:ext cx="170687" cy="177800"/>
          </a:xfrm>
          <a:prstGeom prst="rect">
            <a:avLst/>
          </a:prstGeom>
        </p:spPr>
      </p:pic>
      <p:pic>
        <p:nvPicPr>
          <p:cNvPr id="6" name="object 6"/>
          <p:cNvPicPr/>
          <p:nvPr/>
        </p:nvPicPr>
        <p:blipFill>
          <a:blip r:embed="rId2" cstate="print"/>
          <a:stretch>
            <a:fillRect/>
          </a:stretch>
        </p:blipFill>
        <p:spPr>
          <a:xfrm>
            <a:off x="1909064" y="5195147"/>
            <a:ext cx="170687" cy="177800"/>
          </a:xfrm>
          <a:prstGeom prst="rect">
            <a:avLst/>
          </a:prstGeom>
        </p:spPr>
      </p:pic>
      <p:pic>
        <p:nvPicPr>
          <p:cNvPr id="7" name="object 7"/>
          <p:cNvPicPr/>
          <p:nvPr/>
        </p:nvPicPr>
        <p:blipFill>
          <a:blip r:embed="rId3" cstate="print"/>
          <a:stretch>
            <a:fillRect/>
          </a:stretch>
        </p:blipFill>
        <p:spPr>
          <a:xfrm>
            <a:off x="1536701" y="67734"/>
            <a:ext cx="6345767" cy="918633"/>
          </a:xfrm>
          <a:prstGeom prst="rect">
            <a:avLst/>
          </a:prstGeom>
        </p:spPr>
      </p:pic>
      <p:sp>
        <p:nvSpPr>
          <p:cNvPr id="8" name="object 8"/>
          <p:cNvSpPr txBox="1">
            <a:spLocks noGrp="1"/>
          </p:cNvSpPr>
          <p:nvPr>
            <p:ph type="title"/>
          </p:nvPr>
        </p:nvSpPr>
        <p:spPr>
          <a:xfrm>
            <a:off x="1785620" y="183388"/>
            <a:ext cx="5820410"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Representation</a:t>
            </a:r>
            <a:r>
              <a:rPr sz="3200" spc="-35" dirty="0">
                <a:solidFill>
                  <a:srgbClr val="004990"/>
                </a:solidFill>
              </a:rPr>
              <a:t> </a:t>
            </a:r>
            <a:r>
              <a:rPr sz="3200" spc="-5" dirty="0">
                <a:solidFill>
                  <a:srgbClr val="004990"/>
                </a:solidFill>
              </a:rPr>
              <a:t>of</a:t>
            </a:r>
            <a:r>
              <a:rPr sz="3200" spc="-35" dirty="0">
                <a:solidFill>
                  <a:srgbClr val="004990"/>
                </a:solidFill>
              </a:rPr>
              <a:t> </a:t>
            </a:r>
            <a:r>
              <a:rPr sz="3200" spc="-5" dirty="0">
                <a:solidFill>
                  <a:srgbClr val="004990"/>
                </a:solidFill>
              </a:rPr>
              <a:t>information</a:t>
            </a:r>
            <a:endParaRPr sz="3200"/>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12</a:t>
            </a:fld>
            <a:endParaRPr dirty="0">
              <a:solidFill>
                <a:prstClr val="whit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0" y="1109979"/>
            <a:ext cx="7959090" cy="391160"/>
          </a:xfrm>
          <a:prstGeom prst="rect">
            <a:avLst/>
          </a:prstGeom>
        </p:spPr>
        <p:txBody>
          <a:bodyPr vert="horz" wrap="square" lIns="0" tIns="12700" rIns="0" bIns="0" rtlCol="0">
            <a:spAutoFit/>
          </a:bodyPr>
          <a:lstStyle/>
          <a:p>
            <a:pPr marL="12700">
              <a:spcBef>
                <a:spcPts val="100"/>
              </a:spcBef>
            </a:pPr>
            <a:r>
              <a:rPr sz="2400" b="1" spc="-20" dirty="0">
                <a:solidFill>
                  <a:prstClr val="black"/>
                </a:solidFill>
                <a:latin typeface="Arial"/>
                <a:cs typeface="Arial"/>
              </a:rPr>
              <a:t>However,</a:t>
            </a:r>
            <a:r>
              <a:rPr sz="2400" b="1" spc="-10" dirty="0">
                <a:solidFill>
                  <a:prstClr val="black"/>
                </a:solidFill>
                <a:latin typeface="Arial"/>
                <a:cs typeface="Arial"/>
              </a:rPr>
              <a:t> </a:t>
            </a:r>
            <a:r>
              <a:rPr sz="2400" b="1" spc="-5" dirty="0">
                <a:solidFill>
                  <a:prstClr val="black"/>
                </a:solidFill>
                <a:latin typeface="Arial"/>
                <a:cs typeface="Arial"/>
              </a:rPr>
              <a:t>we</a:t>
            </a:r>
            <a:r>
              <a:rPr sz="2400" b="1" dirty="0">
                <a:solidFill>
                  <a:prstClr val="black"/>
                </a:solidFill>
                <a:latin typeface="Arial"/>
                <a:cs typeface="Arial"/>
              </a:rPr>
              <a:t> </a:t>
            </a:r>
            <a:r>
              <a:rPr sz="2400" b="1" spc="-5" dirty="0">
                <a:solidFill>
                  <a:prstClr val="black"/>
                </a:solidFill>
                <a:latin typeface="Arial"/>
                <a:cs typeface="Arial"/>
              </a:rPr>
              <a:t>don’t</a:t>
            </a:r>
            <a:r>
              <a:rPr sz="2400" b="1" dirty="0">
                <a:solidFill>
                  <a:prstClr val="black"/>
                </a:solidFill>
                <a:latin typeface="Arial"/>
                <a:cs typeface="Arial"/>
              </a:rPr>
              <a:t> </a:t>
            </a:r>
            <a:r>
              <a:rPr sz="2400" b="1" spc="-5" dirty="0">
                <a:solidFill>
                  <a:prstClr val="black"/>
                </a:solidFill>
                <a:latin typeface="Arial"/>
                <a:cs typeface="Arial"/>
              </a:rPr>
              <a:t>know</a:t>
            </a:r>
            <a:r>
              <a:rPr sz="2400" b="1" spc="-10" dirty="0">
                <a:solidFill>
                  <a:prstClr val="black"/>
                </a:solidFill>
                <a:latin typeface="Arial"/>
                <a:cs typeface="Arial"/>
              </a:rPr>
              <a:t> </a:t>
            </a:r>
            <a:r>
              <a:rPr sz="2400" b="1" spc="-5" dirty="0">
                <a:solidFill>
                  <a:prstClr val="black"/>
                </a:solidFill>
                <a:latin typeface="Arial"/>
                <a:cs typeface="Arial"/>
              </a:rPr>
              <a:t>which representation is better</a:t>
            </a:r>
            <a:endParaRPr sz="2400">
              <a:solidFill>
                <a:prstClr val="black"/>
              </a:solidFill>
              <a:latin typeface="Arial"/>
              <a:cs typeface="Arial"/>
            </a:endParaRPr>
          </a:p>
        </p:txBody>
      </p:sp>
      <p:pic>
        <p:nvPicPr>
          <p:cNvPr id="4" name="object 4"/>
          <p:cNvPicPr/>
          <p:nvPr/>
        </p:nvPicPr>
        <p:blipFill>
          <a:blip r:embed="rId3" cstate="print"/>
          <a:stretch>
            <a:fillRect/>
          </a:stretch>
        </p:blipFill>
        <p:spPr>
          <a:xfrm>
            <a:off x="1536700" y="67734"/>
            <a:ext cx="2019300" cy="918633"/>
          </a:xfrm>
          <a:prstGeom prst="rect">
            <a:avLst/>
          </a:prstGeom>
        </p:spPr>
      </p:pic>
      <p:sp>
        <p:nvSpPr>
          <p:cNvPr id="5" name="object 5"/>
          <p:cNvSpPr txBox="1">
            <a:spLocks noGrp="1"/>
          </p:cNvSpPr>
          <p:nvPr>
            <p:ph type="title"/>
          </p:nvPr>
        </p:nvSpPr>
        <p:spPr>
          <a:xfrm>
            <a:off x="1785621" y="183388"/>
            <a:ext cx="1491615"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Featu</a:t>
            </a:r>
            <a:r>
              <a:rPr sz="3200" spc="5" dirty="0">
                <a:solidFill>
                  <a:srgbClr val="004990"/>
                </a:solidFill>
              </a:rPr>
              <a:t>r</a:t>
            </a:r>
            <a:r>
              <a:rPr sz="3200" dirty="0">
                <a:solidFill>
                  <a:srgbClr val="004990"/>
                </a:solidFill>
              </a:rPr>
              <a:t>e</a:t>
            </a:r>
            <a:endParaRPr sz="3200"/>
          </a:p>
        </p:txBody>
      </p:sp>
      <p:grpSp>
        <p:nvGrpSpPr>
          <p:cNvPr id="6" name="object 6"/>
          <p:cNvGrpSpPr/>
          <p:nvPr/>
        </p:nvGrpSpPr>
        <p:grpSpPr>
          <a:xfrm>
            <a:off x="2439370" y="1949346"/>
            <a:ext cx="7313295" cy="3425825"/>
            <a:chOff x="915369" y="1949345"/>
            <a:chExt cx="7313295" cy="3425825"/>
          </a:xfrm>
        </p:grpSpPr>
        <p:pic>
          <p:nvPicPr>
            <p:cNvPr id="7" name="object 7"/>
            <p:cNvPicPr/>
            <p:nvPr/>
          </p:nvPicPr>
          <p:blipFill>
            <a:blip r:embed="rId4" cstate="print"/>
            <a:stretch>
              <a:fillRect/>
            </a:stretch>
          </p:blipFill>
          <p:spPr>
            <a:xfrm>
              <a:off x="915369" y="1949345"/>
              <a:ext cx="7313259" cy="3279460"/>
            </a:xfrm>
            <a:prstGeom prst="rect">
              <a:avLst/>
            </a:prstGeom>
          </p:spPr>
        </p:pic>
        <p:sp>
          <p:nvSpPr>
            <p:cNvPr id="8" name="object 8"/>
            <p:cNvSpPr/>
            <p:nvPr/>
          </p:nvSpPr>
          <p:spPr>
            <a:xfrm>
              <a:off x="3580325" y="5156152"/>
              <a:ext cx="450850" cy="219075"/>
            </a:xfrm>
            <a:custGeom>
              <a:avLst/>
              <a:gdLst/>
              <a:ahLst/>
              <a:cxnLst/>
              <a:rect l="l" t="t" r="r" b="b"/>
              <a:pathLst>
                <a:path w="450850" h="219075">
                  <a:moveTo>
                    <a:pt x="450760" y="0"/>
                  </a:moveTo>
                  <a:lnTo>
                    <a:pt x="0" y="0"/>
                  </a:lnTo>
                  <a:lnTo>
                    <a:pt x="0" y="218957"/>
                  </a:lnTo>
                  <a:lnTo>
                    <a:pt x="450760" y="218957"/>
                  </a:lnTo>
                  <a:lnTo>
                    <a:pt x="450760" y="0"/>
                  </a:lnTo>
                  <a:close/>
                </a:path>
              </a:pathLst>
            </a:custGeom>
            <a:solidFill>
              <a:srgbClr val="FFFFFF"/>
            </a:solidFill>
          </p:spPr>
          <p:txBody>
            <a:bodyPr wrap="square" lIns="0" tIns="0" rIns="0" bIns="0" rtlCol="0"/>
            <a:lstStyle/>
            <a:p>
              <a:endParaRPr>
                <a:solidFill>
                  <a:prstClr val="black"/>
                </a:solidFill>
                <a:latin typeface="Calibri"/>
              </a:endParaRPr>
            </a:p>
          </p:txBody>
        </p:sp>
      </p:grpSp>
      <p:sp>
        <p:nvSpPr>
          <p:cNvPr id="9" name="object 9"/>
          <p:cNvSpPr txBox="1"/>
          <p:nvPr/>
        </p:nvSpPr>
        <p:spPr>
          <a:xfrm>
            <a:off x="3651548" y="5803236"/>
            <a:ext cx="4796155" cy="269240"/>
          </a:xfrm>
          <a:prstGeom prst="rect">
            <a:avLst/>
          </a:prstGeom>
        </p:spPr>
        <p:txBody>
          <a:bodyPr vert="horz" wrap="square" lIns="0" tIns="12700" rIns="0" bIns="0" rtlCol="0">
            <a:spAutoFit/>
          </a:bodyPr>
          <a:lstStyle/>
          <a:p>
            <a:pPr marL="12700">
              <a:spcBef>
                <a:spcPts val="100"/>
              </a:spcBef>
            </a:pPr>
            <a:r>
              <a:rPr sz="1600" b="1" spc="-5" dirty="0">
                <a:solidFill>
                  <a:prstClr val="black"/>
                </a:solidFill>
                <a:latin typeface="Arial"/>
                <a:cs typeface="Arial"/>
              </a:rPr>
              <a:t>Find</a:t>
            </a:r>
            <a:r>
              <a:rPr sz="1600" b="1" dirty="0">
                <a:solidFill>
                  <a:prstClr val="black"/>
                </a:solidFill>
                <a:latin typeface="Arial"/>
                <a:cs typeface="Arial"/>
              </a:rPr>
              <a:t> a </a:t>
            </a:r>
            <a:r>
              <a:rPr sz="1600" b="1" spc="-5" dirty="0">
                <a:solidFill>
                  <a:prstClr val="black"/>
                </a:solidFill>
                <a:latin typeface="Arial"/>
                <a:cs typeface="Arial"/>
              </a:rPr>
              <a:t>better</a:t>
            </a:r>
            <a:r>
              <a:rPr sz="1600" b="1" spc="10" dirty="0">
                <a:solidFill>
                  <a:prstClr val="black"/>
                </a:solidFill>
                <a:latin typeface="Arial"/>
                <a:cs typeface="Arial"/>
              </a:rPr>
              <a:t> </a:t>
            </a:r>
            <a:r>
              <a:rPr sz="1600" b="1" dirty="0">
                <a:solidFill>
                  <a:prstClr val="black"/>
                </a:solidFill>
                <a:latin typeface="Arial"/>
                <a:cs typeface="Arial"/>
              </a:rPr>
              <a:t>way to</a:t>
            </a:r>
            <a:r>
              <a:rPr sz="1600" b="1" spc="5" dirty="0">
                <a:solidFill>
                  <a:prstClr val="black"/>
                </a:solidFill>
                <a:latin typeface="Arial"/>
                <a:cs typeface="Arial"/>
              </a:rPr>
              <a:t> </a:t>
            </a:r>
            <a:r>
              <a:rPr sz="1600" b="1" spc="-5" dirty="0">
                <a:solidFill>
                  <a:prstClr val="black"/>
                </a:solidFill>
                <a:latin typeface="Arial"/>
                <a:cs typeface="Arial"/>
              </a:rPr>
              <a:t>represent</a:t>
            </a:r>
            <a:r>
              <a:rPr sz="1600" b="1" spc="10" dirty="0">
                <a:solidFill>
                  <a:prstClr val="black"/>
                </a:solidFill>
                <a:latin typeface="Arial"/>
                <a:cs typeface="Arial"/>
              </a:rPr>
              <a:t> </a:t>
            </a:r>
            <a:r>
              <a:rPr sz="1600" b="1" spc="-5" dirty="0">
                <a:solidFill>
                  <a:prstClr val="black"/>
                </a:solidFill>
                <a:latin typeface="Arial"/>
                <a:cs typeface="Arial"/>
              </a:rPr>
              <a:t>images</a:t>
            </a:r>
            <a:r>
              <a:rPr sz="1600" b="1" spc="5" dirty="0">
                <a:solidFill>
                  <a:prstClr val="black"/>
                </a:solidFill>
                <a:latin typeface="Arial"/>
                <a:cs typeface="Arial"/>
              </a:rPr>
              <a:t> </a:t>
            </a:r>
            <a:r>
              <a:rPr sz="1600" b="1" spc="-5" dirty="0">
                <a:solidFill>
                  <a:prstClr val="black"/>
                </a:solidFill>
                <a:latin typeface="Arial"/>
                <a:cs typeface="Arial"/>
              </a:rPr>
              <a:t>than</a:t>
            </a:r>
            <a:r>
              <a:rPr sz="1600" b="1" dirty="0">
                <a:solidFill>
                  <a:prstClr val="black"/>
                </a:solidFill>
                <a:latin typeface="Arial"/>
                <a:cs typeface="Arial"/>
              </a:rPr>
              <a:t> </a:t>
            </a:r>
            <a:r>
              <a:rPr sz="1600" b="1" spc="-5" dirty="0">
                <a:solidFill>
                  <a:prstClr val="black"/>
                </a:solidFill>
                <a:latin typeface="Arial"/>
                <a:cs typeface="Arial"/>
              </a:rPr>
              <a:t>pixels</a:t>
            </a:r>
            <a:endParaRPr sz="1600">
              <a:solidFill>
                <a:prstClr val="black"/>
              </a:solidFill>
              <a:latin typeface="Arial"/>
              <a:cs typeface="Arial"/>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13</a:t>
            </a:fld>
            <a:endParaRPr dirty="0">
              <a:solidFill>
                <a:prstClr val="white"/>
              </a:solidFill>
            </a:endParaRPr>
          </a:p>
        </p:txBody>
      </p:sp>
      <p:sp>
        <p:nvSpPr>
          <p:cNvPr id="10" name="object 10"/>
          <p:cNvSpPr txBox="1"/>
          <p:nvPr/>
        </p:nvSpPr>
        <p:spPr>
          <a:xfrm>
            <a:off x="5814684" y="28765"/>
            <a:ext cx="4727575" cy="197490"/>
          </a:xfrm>
          <a:prstGeom prst="rect">
            <a:avLst/>
          </a:prstGeom>
        </p:spPr>
        <p:txBody>
          <a:bodyPr vert="horz" wrap="square" lIns="0" tIns="12700" rIns="0" bIns="0" rtlCol="0">
            <a:spAutoFit/>
          </a:bodyPr>
          <a:lstStyle/>
          <a:p>
            <a:pPr marL="12700">
              <a:spcBef>
                <a:spcPts val="100"/>
              </a:spcBef>
            </a:pPr>
            <a:r>
              <a:rPr sz="1200" b="1" spc="-5" dirty="0">
                <a:solidFill>
                  <a:prstClr val="black"/>
                </a:solidFill>
                <a:latin typeface="Arial"/>
                <a:cs typeface="Arial"/>
              </a:rPr>
              <a:t>image</a:t>
            </a:r>
            <a:r>
              <a:rPr sz="1200" b="1" dirty="0">
                <a:solidFill>
                  <a:prstClr val="black"/>
                </a:solidFill>
                <a:latin typeface="Arial"/>
                <a:cs typeface="Arial"/>
              </a:rPr>
              <a:t> </a:t>
            </a:r>
            <a:r>
              <a:rPr sz="1200" b="1" spc="-5" dirty="0">
                <a:solidFill>
                  <a:prstClr val="black"/>
                </a:solidFill>
                <a:latin typeface="Arial"/>
                <a:cs typeface="Arial"/>
              </a:rPr>
              <a:t>source</a:t>
            </a:r>
            <a:r>
              <a:rPr sz="1200" b="1" spc="5" dirty="0">
                <a:solidFill>
                  <a:prstClr val="black"/>
                </a:solidFill>
                <a:latin typeface="Arial"/>
                <a:cs typeface="Arial"/>
              </a:rPr>
              <a:t> </a:t>
            </a:r>
            <a:r>
              <a:rPr sz="1200" b="1" dirty="0">
                <a:solidFill>
                  <a:prstClr val="black"/>
                </a:solidFill>
                <a:latin typeface="Arial"/>
                <a:cs typeface="Arial"/>
              </a:rPr>
              <a:t>:</a:t>
            </a:r>
            <a:r>
              <a:rPr sz="1200" b="1" spc="10" dirty="0">
                <a:solidFill>
                  <a:prstClr val="black"/>
                </a:solidFill>
                <a:latin typeface="Arial"/>
                <a:cs typeface="Arial"/>
              </a:rPr>
              <a:t> </a:t>
            </a:r>
            <a:r>
              <a:rPr sz="1200" b="1" spc="-5" dirty="0">
                <a:solidFill>
                  <a:prstClr val="black"/>
                </a:solidFill>
                <a:latin typeface="Arial"/>
                <a:cs typeface="Arial"/>
              </a:rPr>
              <a:t>https://</a:t>
            </a:r>
            <a:r>
              <a:rPr sz="1200" b="1" spc="-5" dirty="0">
                <a:solidFill>
                  <a:prstClr val="black"/>
                </a:solidFill>
                <a:latin typeface="Arial"/>
                <a:cs typeface="Arial"/>
                <a:hlinkClick r:id="rId5"/>
              </a:rPr>
              <a:t>www.youtube.com/watch?v=vfnxKO2rMq4</a:t>
            </a:r>
            <a:endParaRPr sz="1200" dirty="0">
              <a:solidFill>
                <a:prstClr val="black"/>
              </a:solidFill>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10180" y="1109979"/>
            <a:ext cx="7961630" cy="391160"/>
          </a:xfrm>
          <a:prstGeom prst="rect">
            <a:avLst/>
          </a:prstGeom>
        </p:spPr>
        <p:txBody>
          <a:bodyPr vert="horz" wrap="square" lIns="0" tIns="12700" rIns="0" bIns="0" rtlCol="0">
            <a:spAutoFit/>
          </a:bodyPr>
          <a:lstStyle/>
          <a:p>
            <a:pPr marL="12700">
              <a:spcBef>
                <a:spcPts val="100"/>
              </a:spcBef>
            </a:pPr>
            <a:r>
              <a:rPr sz="2400" b="1" spc="-20" dirty="0">
                <a:solidFill>
                  <a:prstClr val="black"/>
                </a:solidFill>
                <a:latin typeface="Arial"/>
                <a:cs typeface="Arial"/>
              </a:rPr>
              <a:t>However,</a:t>
            </a:r>
            <a:r>
              <a:rPr sz="2400" b="1" spc="-10" dirty="0">
                <a:solidFill>
                  <a:prstClr val="black"/>
                </a:solidFill>
                <a:latin typeface="Arial"/>
                <a:cs typeface="Arial"/>
              </a:rPr>
              <a:t> </a:t>
            </a:r>
            <a:r>
              <a:rPr sz="2400" b="1" spc="-5" dirty="0">
                <a:solidFill>
                  <a:prstClr val="black"/>
                </a:solidFill>
                <a:latin typeface="Arial"/>
                <a:cs typeface="Arial"/>
              </a:rPr>
              <a:t>we</a:t>
            </a:r>
            <a:r>
              <a:rPr sz="2400" b="1" dirty="0">
                <a:solidFill>
                  <a:prstClr val="black"/>
                </a:solidFill>
                <a:latin typeface="Arial"/>
                <a:cs typeface="Arial"/>
              </a:rPr>
              <a:t> </a:t>
            </a:r>
            <a:r>
              <a:rPr sz="2400" b="1" spc="-5" dirty="0">
                <a:solidFill>
                  <a:prstClr val="black"/>
                </a:solidFill>
                <a:latin typeface="Arial"/>
                <a:cs typeface="Arial"/>
              </a:rPr>
              <a:t>don’t</a:t>
            </a:r>
            <a:r>
              <a:rPr sz="2400" b="1" dirty="0">
                <a:solidFill>
                  <a:prstClr val="black"/>
                </a:solidFill>
                <a:latin typeface="Arial"/>
                <a:cs typeface="Arial"/>
              </a:rPr>
              <a:t> </a:t>
            </a:r>
            <a:r>
              <a:rPr sz="2400" b="1" spc="-5" dirty="0">
                <a:solidFill>
                  <a:prstClr val="black"/>
                </a:solidFill>
                <a:latin typeface="Arial"/>
                <a:cs typeface="Arial"/>
              </a:rPr>
              <a:t>know</a:t>
            </a:r>
            <a:r>
              <a:rPr sz="2400" b="1" spc="-10" dirty="0">
                <a:solidFill>
                  <a:prstClr val="black"/>
                </a:solidFill>
                <a:latin typeface="Arial"/>
                <a:cs typeface="Arial"/>
              </a:rPr>
              <a:t> </a:t>
            </a:r>
            <a:r>
              <a:rPr sz="2400" b="1" spc="-5" dirty="0">
                <a:solidFill>
                  <a:prstClr val="black"/>
                </a:solidFill>
                <a:latin typeface="Arial"/>
                <a:cs typeface="Arial"/>
              </a:rPr>
              <a:t>which representation</a:t>
            </a:r>
            <a:r>
              <a:rPr sz="2400" b="1" spc="15" dirty="0">
                <a:solidFill>
                  <a:prstClr val="black"/>
                </a:solidFill>
                <a:latin typeface="Arial"/>
                <a:cs typeface="Arial"/>
              </a:rPr>
              <a:t> </a:t>
            </a:r>
            <a:r>
              <a:rPr sz="2400" b="1" spc="-5" dirty="0">
                <a:solidFill>
                  <a:prstClr val="black"/>
                </a:solidFill>
                <a:latin typeface="Arial"/>
                <a:cs typeface="Arial"/>
              </a:rPr>
              <a:t>is better</a:t>
            </a:r>
            <a:endParaRPr sz="2400">
              <a:solidFill>
                <a:prstClr val="black"/>
              </a:solidFill>
              <a:latin typeface="Arial"/>
              <a:cs typeface="Arial"/>
            </a:endParaRPr>
          </a:p>
        </p:txBody>
      </p:sp>
      <p:pic>
        <p:nvPicPr>
          <p:cNvPr id="3" name="object 3"/>
          <p:cNvPicPr/>
          <p:nvPr/>
        </p:nvPicPr>
        <p:blipFill>
          <a:blip r:embed="rId2" cstate="print"/>
          <a:stretch>
            <a:fillRect/>
          </a:stretch>
        </p:blipFill>
        <p:spPr>
          <a:xfrm>
            <a:off x="1536700" y="67734"/>
            <a:ext cx="2019300" cy="918633"/>
          </a:xfrm>
          <a:prstGeom prst="rect">
            <a:avLst/>
          </a:prstGeom>
        </p:spPr>
      </p:pic>
      <p:sp>
        <p:nvSpPr>
          <p:cNvPr id="4" name="object 4"/>
          <p:cNvSpPr txBox="1"/>
          <p:nvPr/>
        </p:nvSpPr>
        <p:spPr>
          <a:xfrm>
            <a:off x="1785621" y="183388"/>
            <a:ext cx="1491615" cy="513080"/>
          </a:xfrm>
          <a:prstGeom prst="rect">
            <a:avLst/>
          </a:prstGeom>
        </p:spPr>
        <p:txBody>
          <a:bodyPr vert="horz" wrap="square" lIns="0" tIns="12700" rIns="0" bIns="0" rtlCol="0">
            <a:spAutoFit/>
          </a:bodyPr>
          <a:lstStyle/>
          <a:p>
            <a:pPr marL="12700">
              <a:spcBef>
                <a:spcPts val="100"/>
              </a:spcBef>
            </a:pPr>
            <a:r>
              <a:rPr sz="3200" b="1" spc="-5" dirty="0">
                <a:solidFill>
                  <a:srgbClr val="004990"/>
                </a:solidFill>
                <a:latin typeface="Arial"/>
                <a:cs typeface="Arial"/>
              </a:rPr>
              <a:t>Featu</a:t>
            </a:r>
            <a:r>
              <a:rPr sz="3200" b="1" spc="5" dirty="0">
                <a:solidFill>
                  <a:srgbClr val="004990"/>
                </a:solidFill>
                <a:latin typeface="Arial"/>
                <a:cs typeface="Arial"/>
              </a:rPr>
              <a:t>r</a:t>
            </a:r>
            <a:r>
              <a:rPr sz="3200" b="1" dirty="0">
                <a:solidFill>
                  <a:srgbClr val="004990"/>
                </a:solidFill>
                <a:latin typeface="Arial"/>
                <a:cs typeface="Arial"/>
              </a:rPr>
              <a:t>e</a:t>
            </a:r>
            <a:endParaRPr sz="3200">
              <a:solidFill>
                <a:prstClr val="black"/>
              </a:solidFill>
              <a:latin typeface="Arial"/>
              <a:cs typeface="Arial"/>
            </a:endParaRPr>
          </a:p>
        </p:txBody>
      </p:sp>
      <p:sp>
        <p:nvSpPr>
          <p:cNvPr id="5" name="object 5"/>
          <p:cNvSpPr txBox="1"/>
          <p:nvPr/>
        </p:nvSpPr>
        <p:spPr>
          <a:xfrm>
            <a:off x="3515198" y="6004562"/>
            <a:ext cx="5109210" cy="269240"/>
          </a:xfrm>
          <a:prstGeom prst="rect">
            <a:avLst/>
          </a:prstGeom>
        </p:spPr>
        <p:txBody>
          <a:bodyPr vert="horz" wrap="square" lIns="0" tIns="12700" rIns="0" bIns="0" rtlCol="0">
            <a:spAutoFit/>
          </a:bodyPr>
          <a:lstStyle/>
          <a:p>
            <a:pPr marL="12700">
              <a:spcBef>
                <a:spcPts val="100"/>
              </a:spcBef>
            </a:pPr>
            <a:r>
              <a:rPr sz="1600" b="1" spc="-5" dirty="0">
                <a:solidFill>
                  <a:prstClr val="black"/>
                </a:solidFill>
                <a:latin typeface="Arial"/>
                <a:cs typeface="Arial"/>
              </a:rPr>
              <a:t>Find </a:t>
            </a:r>
            <a:r>
              <a:rPr sz="1600" b="1" dirty="0">
                <a:solidFill>
                  <a:prstClr val="black"/>
                </a:solidFill>
                <a:latin typeface="Arial"/>
                <a:cs typeface="Arial"/>
              </a:rPr>
              <a:t>a </a:t>
            </a:r>
            <a:r>
              <a:rPr sz="1600" b="1" spc="-5" dirty="0">
                <a:solidFill>
                  <a:prstClr val="black"/>
                </a:solidFill>
                <a:latin typeface="Arial"/>
                <a:cs typeface="Arial"/>
              </a:rPr>
              <a:t>better</a:t>
            </a:r>
            <a:r>
              <a:rPr sz="1600" b="1" spc="5" dirty="0">
                <a:solidFill>
                  <a:prstClr val="black"/>
                </a:solidFill>
                <a:latin typeface="Arial"/>
                <a:cs typeface="Arial"/>
              </a:rPr>
              <a:t> </a:t>
            </a:r>
            <a:r>
              <a:rPr sz="1600" b="1" dirty="0">
                <a:solidFill>
                  <a:prstClr val="black"/>
                </a:solidFill>
                <a:latin typeface="Arial"/>
                <a:cs typeface="Arial"/>
              </a:rPr>
              <a:t>way to</a:t>
            </a:r>
            <a:r>
              <a:rPr sz="1600" b="1" spc="-5" dirty="0">
                <a:solidFill>
                  <a:prstClr val="black"/>
                </a:solidFill>
                <a:latin typeface="Arial"/>
                <a:cs typeface="Arial"/>
              </a:rPr>
              <a:t> represent</a:t>
            </a:r>
            <a:r>
              <a:rPr sz="1600" b="1" spc="10" dirty="0">
                <a:solidFill>
                  <a:prstClr val="black"/>
                </a:solidFill>
                <a:latin typeface="Arial"/>
                <a:cs typeface="Arial"/>
              </a:rPr>
              <a:t> </a:t>
            </a:r>
            <a:r>
              <a:rPr sz="1600" b="1" spc="-5" dirty="0">
                <a:solidFill>
                  <a:prstClr val="black"/>
                </a:solidFill>
                <a:latin typeface="Arial"/>
                <a:cs typeface="Arial"/>
              </a:rPr>
              <a:t>audio,</a:t>
            </a:r>
            <a:r>
              <a:rPr sz="1600" b="1" spc="10" dirty="0">
                <a:solidFill>
                  <a:prstClr val="black"/>
                </a:solidFill>
                <a:latin typeface="Arial"/>
                <a:cs typeface="Arial"/>
              </a:rPr>
              <a:t> </a:t>
            </a:r>
            <a:r>
              <a:rPr sz="1600" b="1" spc="-5" dirty="0">
                <a:solidFill>
                  <a:prstClr val="black"/>
                </a:solidFill>
                <a:latin typeface="Arial"/>
                <a:cs typeface="Arial"/>
              </a:rPr>
              <a:t>3d</a:t>
            </a:r>
            <a:r>
              <a:rPr sz="1600" b="1" dirty="0">
                <a:solidFill>
                  <a:prstClr val="black"/>
                </a:solidFill>
                <a:latin typeface="Arial"/>
                <a:cs typeface="Arial"/>
              </a:rPr>
              <a:t> </a:t>
            </a:r>
            <a:r>
              <a:rPr sz="1600" b="1" spc="-5" dirty="0">
                <a:solidFill>
                  <a:prstClr val="black"/>
                </a:solidFill>
                <a:latin typeface="Arial"/>
                <a:cs typeface="Arial"/>
              </a:rPr>
              <a:t>range</a:t>
            </a:r>
            <a:r>
              <a:rPr sz="1600" b="1" dirty="0">
                <a:solidFill>
                  <a:prstClr val="black"/>
                </a:solidFill>
                <a:latin typeface="Arial"/>
                <a:cs typeface="Arial"/>
              </a:rPr>
              <a:t> </a:t>
            </a:r>
            <a:r>
              <a:rPr sz="1600" b="1" spc="-5" dirty="0">
                <a:solidFill>
                  <a:prstClr val="black"/>
                </a:solidFill>
                <a:latin typeface="Arial"/>
                <a:cs typeface="Arial"/>
              </a:rPr>
              <a:t>scans</a:t>
            </a:r>
            <a:endParaRPr sz="1600" dirty="0">
              <a:solidFill>
                <a:prstClr val="black"/>
              </a:solidFill>
              <a:latin typeface="Arial"/>
              <a:cs typeface="Arial"/>
            </a:endParaRPr>
          </a:p>
        </p:txBody>
      </p:sp>
      <p:grpSp>
        <p:nvGrpSpPr>
          <p:cNvPr id="6" name="object 6"/>
          <p:cNvGrpSpPr/>
          <p:nvPr/>
        </p:nvGrpSpPr>
        <p:grpSpPr>
          <a:xfrm>
            <a:off x="2130047" y="1803042"/>
            <a:ext cx="7795259" cy="3590925"/>
            <a:chOff x="606046" y="1803041"/>
            <a:chExt cx="7795259" cy="3590925"/>
          </a:xfrm>
        </p:grpSpPr>
        <p:pic>
          <p:nvPicPr>
            <p:cNvPr id="7" name="object 7"/>
            <p:cNvPicPr/>
            <p:nvPr/>
          </p:nvPicPr>
          <p:blipFill>
            <a:blip r:embed="rId3" cstate="print"/>
            <a:stretch>
              <a:fillRect/>
            </a:stretch>
          </p:blipFill>
          <p:spPr>
            <a:xfrm>
              <a:off x="606046" y="1803041"/>
              <a:ext cx="7794748" cy="3590545"/>
            </a:xfrm>
            <a:prstGeom prst="rect">
              <a:avLst/>
            </a:prstGeom>
          </p:spPr>
        </p:pic>
        <p:sp>
          <p:nvSpPr>
            <p:cNvPr id="8" name="object 8"/>
            <p:cNvSpPr/>
            <p:nvPr/>
          </p:nvSpPr>
          <p:spPr>
            <a:xfrm>
              <a:off x="3578317" y="5072061"/>
              <a:ext cx="274955" cy="231140"/>
            </a:xfrm>
            <a:custGeom>
              <a:avLst/>
              <a:gdLst/>
              <a:ahLst/>
              <a:cxnLst/>
              <a:rect l="l" t="t" r="r" b="b"/>
              <a:pathLst>
                <a:path w="274954" h="231139">
                  <a:moveTo>
                    <a:pt x="274463" y="0"/>
                  </a:moveTo>
                  <a:lnTo>
                    <a:pt x="0" y="0"/>
                  </a:lnTo>
                  <a:lnTo>
                    <a:pt x="0" y="230548"/>
                  </a:lnTo>
                  <a:lnTo>
                    <a:pt x="274463" y="230548"/>
                  </a:lnTo>
                  <a:lnTo>
                    <a:pt x="274463" y="0"/>
                  </a:lnTo>
                  <a:close/>
                </a:path>
              </a:pathLst>
            </a:custGeom>
            <a:solidFill>
              <a:srgbClr val="FFFFFF"/>
            </a:solidFill>
          </p:spPr>
          <p:txBody>
            <a:bodyPr wrap="square" lIns="0" tIns="0" rIns="0" bIns="0" rtlCol="0"/>
            <a:lstStyle/>
            <a:p>
              <a:endParaRPr>
                <a:solidFill>
                  <a:prstClr val="black"/>
                </a:solidFill>
                <a:latin typeface="Calibri"/>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14</a:t>
            </a:fld>
            <a:endParaRPr dirty="0">
              <a:solidFill>
                <a:prstClr val="whit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10180" y="1039664"/>
            <a:ext cx="7442834" cy="1337945"/>
          </a:xfrm>
          <a:prstGeom prst="rect">
            <a:avLst/>
          </a:prstGeom>
        </p:spPr>
        <p:txBody>
          <a:bodyPr vert="horz" wrap="square" lIns="0" tIns="10160" rIns="0" bIns="0" rtlCol="0">
            <a:spAutoFit/>
          </a:bodyPr>
          <a:lstStyle/>
          <a:p>
            <a:pPr marL="12700" marR="5080">
              <a:lnSpc>
                <a:spcPct val="119800"/>
              </a:lnSpc>
              <a:spcBef>
                <a:spcPts val="80"/>
              </a:spcBef>
            </a:pPr>
            <a:r>
              <a:rPr sz="2400" b="1" spc="-5" dirty="0">
                <a:solidFill>
                  <a:prstClr val="black"/>
                </a:solidFill>
                <a:latin typeface="Arial"/>
                <a:cs typeface="Arial"/>
              </a:rPr>
              <a:t>Thousands of Engineers have spent the </a:t>
            </a:r>
            <a:r>
              <a:rPr sz="2400" b="1" dirty="0">
                <a:solidFill>
                  <a:prstClr val="black"/>
                </a:solidFill>
                <a:latin typeface="Arial"/>
                <a:cs typeface="Arial"/>
              </a:rPr>
              <a:t>years </a:t>
            </a:r>
            <a:r>
              <a:rPr sz="2400" b="1" spc="-5" dirty="0">
                <a:solidFill>
                  <a:prstClr val="black"/>
                </a:solidFill>
                <a:latin typeface="Arial"/>
                <a:cs typeface="Arial"/>
              </a:rPr>
              <a:t>or </a:t>
            </a:r>
            <a:r>
              <a:rPr sz="2400" b="1" dirty="0">
                <a:solidFill>
                  <a:prstClr val="black"/>
                </a:solidFill>
                <a:latin typeface="Arial"/>
                <a:cs typeface="Arial"/>
              </a:rPr>
              <a:t> </a:t>
            </a:r>
            <a:r>
              <a:rPr sz="2400" b="1" spc="-5" dirty="0">
                <a:solidFill>
                  <a:prstClr val="black"/>
                </a:solidFill>
                <a:latin typeface="Arial"/>
                <a:cs typeface="Arial"/>
              </a:rPr>
              <a:t>decades </a:t>
            </a:r>
            <a:r>
              <a:rPr sz="2400" b="1" dirty="0">
                <a:solidFill>
                  <a:prstClr val="black"/>
                </a:solidFill>
                <a:latin typeface="Arial"/>
                <a:cs typeface="Arial"/>
              </a:rPr>
              <a:t>to </a:t>
            </a:r>
            <a:r>
              <a:rPr sz="2400" b="1" spc="-5" dirty="0">
                <a:solidFill>
                  <a:prstClr val="black"/>
                </a:solidFill>
                <a:latin typeface="Arial"/>
                <a:cs typeface="Arial"/>
              </a:rPr>
              <a:t>find how </a:t>
            </a:r>
            <a:r>
              <a:rPr sz="2400" b="1" dirty="0">
                <a:solidFill>
                  <a:prstClr val="black"/>
                </a:solidFill>
                <a:latin typeface="Arial"/>
                <a:cs typeface="Arial"/>
              </a:rPr>
              <a:t>to </a:t>
            </a:r>
            <a:r>
              <a:rPr sz="2400" b="1" spc="-5" dirty="0">
                <a:solidFill>
                  <a:prstClr val="black"/>
                </a:solidFill>
                <a:latin typeface="Arial"/>
                <a:cs typeface="Arial"/>
              </a:rPr>
              <a:t>represent data exists in </a:t>
            </a:r>
            <a:r>
              <a:rPr sz="2400" b="1" dirty="0">
                <a:solidFill>
                  <a:prstClr val="black"/>
                </a:solidFill>
                <a:latin typeface="Arial"/>
                <a:cs typeface="Arial"/>
              </a:rPr>
              <a:t>real </a:t>
            </a:r>
            <a:r>
              <a:rPr sz="2400" b="1" spc="-655" dirty="0">
                <a:solidFill>
                  <a:prstClr val="black"/>
                </a:solidFill>
                <a:latin typeface="Arial"/>
                <a:cs typeface="Arial"/>
              </a:rPr>
              <a:t> </a:t>
            </a:r>
            <a:r>
              <a:rPr sz="2400" b="1" spc="-5" dirty="0">
                <a:solidFill>
                  <a:prstClr val="black"/>
                </a:solidFill>
                <a:latin typeface="Arial"/>
                <a:cs typeface="Arial"/>
              </a:rPr>
              <a:t>world</a:t>
            </a:r>
            <a:endParaRPr sz="2400">
              <a:solidFill>
                <a:prstClr val="black"/>
              </a:solidFill>
              <a:latin typeface="Arial"/>
              <a:cs typeface="Arial"/>
            </a:endParaRPr>
          </a:p>
        </p:txBody>
      </p:sp>
      <p:pic>
        <p:nvPicPr>
          <p:cNvPr id="3" name="object 3"/>
          <p:cNvPicPr/>
          <p:nvPr/>
        </p:nvPicPr>
        <p:blipFill>
          <a:blip r:embed="rId2" cstate="print"/>
          <a:stretch>
            <a:fillRect/>
          </a:stretch>
        </p:blipFill>
        <p:spPr>
          <a:xfrm>
            <a:off x="1536700" y="67734"/>
            <a:ext cx="2019300" cy="918633"/>
          </a:xfrm>
          <a:prstGeom prst="rect">
            <a:avLst/>
          </a:prstGeom>
        </p:spPr>
      </p:pic>
      <p:sp>
        <p:nvSpPr>
          <p:cNvPr id="4" name="object 4"/>
          <p:cNvSpPr txBox="1"/>
          <p:nvPr/>
        </p:nvSpPr>
        <p:spPr>
          <a:xfrm>
            <a:off x="1785621" y="183388"/>
            <a:ext cx="1491615" cy="513080"/>
          </a:xfrm>
          <a:prstGeom prst="rect">
            <a:avLst/>
          </a:prstGeom>
        </p:spPr>
        <p:txBody>
          <a:bodyPr vert="horz" wrap="square" lIns="0" tIns="12700" rIns="0" bIns="0" rtlCol="0">
            <a:spAutoFit/>
          </a:bodyPr>
          <a:lstStyle/>
          <a:p>
            <a:pPr marL="12700">
              <a:spcBef>
                <a:spcPts val="100"/>
              </a:spcBef>
            </a:pPr>
            <a:r>
              <a:rPr sz="3200" b="1" spc="-5" dirty="0">
                <a:solidFill>
                  <a:srgbClr val="004990"/>
                </a:solidFill>
                <a:latin typeface="Arial"/>
                <a:cs typeface="Arial"/>
              </a:rPr>
              <a:t>Featu</a:t>
            </a:r>
            <a:r>
              <a:rPr sz="3200" b="1" spc="5" dirty="0">
                <a:solidFill>
                  <a:srgbClr val="004990"/>
                </a:solidFill>
                <a:latin typeface="Arial"/>
                <a:cs typeface="Arial"/>
              </a:rPr>
              <a:t>r</a:t>
            </a:r>
            <a:r>
              <a:rPr sz="3200" b="1" dirty="0">
                <a:solidFill>
                  <a:srgbClr val="004990"/>
                </a:solidFill>
                <a:latin typeface="Arial"/>
                <a:cs typeface="Arial"/>
              </a:rPr>
              <a:t>e</a:t>
            </a:r>
            <a:endParaRPr sz="3200">
              <a:solidFill>
                <a:prstClr val="black"/>
              </a:solidFill>
              <a:latin typeface="Arial"/>
              <a:cs typeface="Arial"/>
            </a:endParaRPr>
          </a:p>
        </p:txBody>
      </p:sp>
      <p:pic>
        <p:nvPicPr>
          <p:cNvPr id="5" name="object 5"/>
          <p:cNvPicPr/>
          <p:nvPr/>
        </p:nvPicPr>
        <p:blipFill>
          <a:blip r:embed="rId3" cstate="print"/>
          <a:stretch>
            <a:fillRect/>
          </a:stretch>
        </p:blipFill>
        <p:spPr>
          <a:xfrm>
            <a:off x="2501023" y="2557288"/>
            <a:ext cx="7189955" cy="3139437"/>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15</a:t>
            </a:fld>
            <a:endParaRPr dirty="0">
              <a:solidFill>
                <a:prstClr val="whit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36701" y="67734"/>
            <a:ext cx="6193367" cy="918633"/>
          </a:xfrm>
          <a:prstGeom prst="rect">
            <a:avLst/>
          </a:prstGeom>
        </p:spPr>
      </p:pic>
      <p:sp>
        <p:nvSpPr>
          <p:cNvPr id="3" name="object 3"/>
          <p:cNvSpPr txBox="1">
            <a:spLocks noGrp="1"/>
          </p:cNvSpPr>
          <p:nvPr>
            <p:ph type="title"/>
          </p:nvPr>
        </p:nvSpPr>
        <p:spPr>
          <a:xfrm>
            <a:off x="1785620" y="183388"/>
            <a:ext cx="5664200"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Simple</a:t>
            </a:r>
            <a:r>
              <a:rPr sz="3200" spc="-35" dirty="0">
                <a:solidFill>
                  <a:srgbClr val="004990"/>
                </a:solidFill>
              </a:rPr>
              <a:t> </a:t>
            </a:r>
            <a:r>
              <a:rPr sz="3200" spc="-5" dirty="0">
                <a:solidFill>
                  <a:srgbClr val="004990"/>
                </a:solidFill>
              </a:rPr>
              <a:t>neural</a:t>
            </a:r>
            <a:r>
              <a:rPr sz="3200" spc="-30" dirty="0">
                <a:solidFill>
                  <a:srgbClr val="004990"/>
                </a:solidFill>
              </a:rPr>
              <a:t> </a:t>
            </a:r>
            <a:r>
              <a:rPr sz="3200" spc="-5" dirty="0">
                <a:solidFill>
                  <a:srgbClr val="004990"/>
                </a:solidFill>
              </a:rPr>
              <a:t>network</a:t>
            </a:r>
            <a:r>
              <a:rPr sz="3200" spc="-35" dirty="0">
                <a:solidFill>
                  <a:srgbClr val="004990"/>
                </a:solidFill>
              </a:rPr>
              <a:t> </a:t>
            </a:r>
            <a:r>
              <a:rPr sz="3200" spc="-5" dirty="0">
                <a:solidFill>
                  <a:srgbClr val="004990"/>
                </a:solidFill>
              </a:rPr>
              <a:t>model</a:t>
            </a:r>
            <a:endParaRPr sz="3200"/>
          </a:p>
        </p:txBody>
      </p:sp>
      <p:grpSp>
        <p:nvGrpSpPr>
          <p:cNvPr id="4" name="object 4"/>
          <p:cNvGrpSpPr/>
          <p:nvPr/>
        </p:nvGrpSpPr>
        <p:grpSpPr>
          <a:xfrm>
            <a:off x="4170318" y="2324100"/>
            <a:ext cx="3361054" cy="3213100"/>
            <a:chOff x="2646318" y="2324100"/>
            <a:chExt cx="3361054" cy="3213100"/>
          </a:xfrm>
        </p:grpSpPr>
        <p:sp>
          <p:nvSpPr>
            <p:cNvPr id="5" name="object 5"/>
            <p:cNvSpPr/>
            <p:nvPr/>
          </p:nvSpPr>
          <p:spPr>
            <a:xfrm>
              <a:off x="2659018"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6" name="object 6"/>
            <p:cNvSpPr/>
            <p:nvPr/>
          </p:nvSpPr>
          <p:spPr>
            <a:xfrm>
              <a:off x="2659018"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7" name="object 7"/>
            <p:cNvSpPr/>
            <p:nvPr/>
          </p:nvSpPr>
          <p:spPr>
            <a:xfrm>
              <a:off x="4259218" y="2849479"/>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8" name="object 8"/>
            <p:cNvSpPr/>
            <p:nvPr/>
          </p:nvSpPr>
          <p:spPr>
            <a:xfrm>
              <a:off x="4259218" y="2849479"/>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9" name="object 9"/>
            <p:cNvSpPr/>
            <p:nvPr/>
          </p:nvSpPr>
          <p:spPr>
            <a:xfrm>
              <a:off x="3380512" y="2694639"/>
              <a:ext cx="878840" cy="516890"/>
            </a:xfrm>
            <a:custGeom>
              <a:avLst/>
              <a:gdLst/>
              <a:ahLst/>
              <a:cxnLst/>
              <a:rect l="l" t="t" r="r" b="b"/>
              <a:pathLst>
                <a:path w="878839" h="516889">
                  <a:moveTo>
                    <a:pt x="810501" y="471370"/>
                  </a:moveTo>
                  <a:lnTo>
                    <a:pt x="805691" y="479592"/>
                  </a:lnTo>
                  <a:lnTo>
                    <a:pt x="810529" y="482422"/>
                  </a:lnTo>
                  <a:lnTo>
                    <a:pt x="793695" y="511196"/>
                  </a:lnTo>
                  <a:lnTo>
                    <a:pt x="878705" y="516790"/>
                  </a:lnTo>
                  <a:lnTo>
                    <a:pt x="850936" y="474201"/>
                  </a:lnTo>
                  <a:lnTo>
                    <a:pt x="815339" y="474201"/>
                  </a:lnTo>
                  <a:lnTo>
                    <a:pt x="810501" y="471370"/>
                  </a:lnTo>
                  <a:close/>
                </a:path>
                <a:path w="878839" h="516889">
                  <a:moveTo>
                    <a:pt x="832173" y="445425"/>
                  </a:moveTo>
                  <a:lnTo>
                    <a:pt x="815339" y="474201"/>
                  </a:lnTo>
                  <a:lnTo>
                    <a:pt x="850936" y="474201"/>
                  </a:lnTo>
                  <a:lnTo>
                    <a:pt x="832173" y="445425"/>
                  </a:lnTo>
                  <a:close/>
                </a:path>
                <a:path w="878839" h="516889">
                  <a:moveTo>
                    <a:pt x="752952" y="437701"/>
                  </a:moveTo>
                  <a:lnTo>
                    <a:pt x="748143" y="445922"/>
                  </a:lnTo>
                  <a:lnTo>
                    <a:pt x="781028" y="465162"/>
                  </a:lnTo>
                  <a:lnTo>
                    <a:pt x="785837" y="456940"/>
                  </a:lnTo>
                  <a:lnTo>
                    <a:pt x="752952" y="437701"/>
                  </a:lnTo>
                  <a:close/>
                </a:path>
                <a:path w="878839" h="516889">
                  <a:moveTo>
                    <a:pt x="695402" y="404032"/>
                  </a:moveTo>
                  <a:lnTo>
                    <a:pt x="690592" y="412253"/>
                  </a:lnTo>
                  <a:lnTo>
                    <a:pt x="723478" y="431492"/>
                  </a:lnTo>
                  <a:lnTo>
                    <a:pt x="728287" y="423271"/>
                  </a:lnTo>
                  <a:lnTo>
                    <a:pt x="695402" y="404032"/>
                  </a:lnTo>
                  <a:close/>
                </a:path>
                <a:path w="878839" h="516889">
                  <a:moveTo>
                    <a:pt x="637853" y="370362"/>
                  </a:moveTo>
                  <a:lnTo>
                    <a:pt x="633044" y="378584"/>
                  </a:lnTo>
                  <a:lnTo>
                    <a:pt x="665929" y="397823"/>
                  </a:lnTo>
                  <a:lnTo>
                    <a:pt x="670739" y="389602"/>
                  </a:lnTo>
                  <a:lnTo>
                    <a:pt x="637853" y="370362"/>
                  </a:lnTo>
                  <a:close/>
                </a:path>
                <a:path w="878839" h="516889">
                  <a:moveTo>
                    <a:pt x="580304" y="336693"/>
                  </a:moveTo>
                  <a:lnTo>
                    <a:pt x="575494" y="344915"/>
                  </a:lnTo>
                  <a:lnTo>
                    <a:pt x="608379" y="364154"/>
                  </a:lnTo>
                  <a:lnTo>
                    <a:pt x="613190" y="355932"/>
                  </a:lnTo>
                  <a:lnTo>
                    <a:pt x="580304" y="336693"/>
                  </a:lnTo>
                  <a:close/>
                </a:path>
                <a:path w="878839" h="516889">
                  <a:moveTo>
                    <a:pt x="522754" y="303024"/>
                  </a:moveTo>
                  <a:lnTo>
                    <a:pt x="517945" y="311245"/>
                  </a:lnTo>
                  <a:lnTo>
                    <a:pt x="550830" y="330485"/>
                  </a:lnTo>
                  <a:lnTo>
                    <a:pt x="555640" y="322263"/>
                  </a:lnTo>
                  <a:lnTo>
                    <a:pt x="522754" y="303024"/>
                  </a:lnTo>
                  <a:close/>
                </a:path>
                <a:path w="878839" h="516889">
                  <a:moveTo>
                    <a:pt x="465206" y="269354"/>
                  </a:moveTo>
                  <a:lnTo>
                    <a:pt x="460395" y="277576"/>
                  </a:lnTo>
                  <a:lnTo>
                    <a:pt x="493280" y="296815"/>
                  </a:lnTo>
                  <a:lnTo>
                    <a:pt x="498091" y="288594"/>
                  </a:lnTo>
                  <a:lnTo>
                    <a:pt x="465206" y="269354"/>
                  </a:lnTo>
                  <a:close/>
                </a:path>
                <a:path w="878839" h="516889">
                  <a:moveTo>
                    <a:pt x="407656" y="235685"/>
                  </a:moveTo>
                  <a:lnTo>
                    <a:pt x="402846" y="243907"/>
                  </a:lnTo>
                  <a:lnTo>
                    <a:pt x="435731" y="263146"/>
                  </a:lnTo>
                  <a:lnTo>
                    <a:pt x="440541" y="254924"/>
                  </a:lnTo>
                  <a:lnTo>
                    <a:pt x="407656" y="235685"/>
                  </a:lnTo>
                  <a:close/>
                </a:path>
                <a:path w="878839" h="516889">
                  <a:moveTo>
                    <a:pt x="350107" y="202016"/>
                  </a:moveTo>
                  <a:lnTo>
                    <a:pt x="345296" y="210237"/>
                  </a:lnTo>
                  <a:lnTo>
                    <a:pt x="378181" y="229477"/>
                  </a:lnTo>
                  <a:lnTo>
                    <a:pt x="382992" y="221255"/>
                  </a:lnTo>
                  <a:lnTo>
                    <a:pt x="350107" y="202016"/>
                  </a:lnTo>
                  <a:close/>
                </a:path>
                <a:path w="878839" h="516889">
                  <a:moveTo>
                    <a:pt x="292557" y="168347"/>
                  </a:moveTo>
                  <a:lnTo>
                    <a:pt x="287747" y="176568"/>
                  </a:lnTo>
                  <a:lnTo>
                    <a:pt x="320633" y="195807"/>
                  </a:lnTo>
                  <a:lnTo>
                    <a:pt x="325442" y="187586"/>
                  </a:lnTo>
                  <a:lnTo>
                    <a:pt x="292557" y="168347"/>
                  </a:lnTo>
                  <a:close/>
                </a:path>
                <a:path w="878839" h="516889">
                  <a:moveTo>
                    <a:pt x="235008" y="134677"/>
                  </a:moveTo>
                  <a:lnTo>
                    <a:pt x="230197" y="142899"/>
                  </a:lnTo>
                  <a:lnTo>
                    <a:pt x="263083" y="162138"/>
                  </a:lnTo>
                  <a:lnTo>
                    <a:pt x="267893" y="153917"/>
                  </a:lnTo>
                  <a:lnTo>
                    <a:pt x="235008" y="134677"/>
                  </a:lnTo>
                  <a:close/>
                </a:path>
                <a:path w="878839" h="516889">
                  <a:moveTo>
                    <a:pt x="177458" y="101008"/>
                  </a:moveTo>
                  <a:lnTo>
                    <a:pt x="172648" y="109230"/>
                  </a:lnTo>
                  <a:lnTo>
                    <a:pt x="205534" y="128469"/>
                  </a:lnTo>
                  <a:lnTo>
                    <a:pt x="210343" y="120247"/>
                  </a:lnTo>
                  <a:lnTo>
                    <a:pt x="177458" y="101008"/>
                  </a:lnTo>
                  <a:close/>
                </a:path>
                <a:path w="878839" h="516889">
                  <a:moveTo>
                    <a:pt x="119909" y="67339"/>
                  </a:moveTo>
                  <a:lnTo>
                    <a:pt x="115098" y="75559"/>
                  </a:lnTo>
                  <a:lnTo>
                    <a:pt x="147984" y="94800"/>
                  </a:lnTo>
                  <a:lnTo>
                    <a:pt x="152794" y="86578"/>
                  </a:lnTo>
                  <a:lnTo>
                    <a:pt x="119909" y="67339"/>
                  </a:lnTo>
                  <a:close/>
                </a:path>
                <a:path w="878839" h="516889">
                  <a:moveTo>
                    <a:pt x="62359" y="33670"/>
                  </a:moveTo>
                  <a:lnTo>
                    <a:pt x="57550" y="41890"/>
                  </a:lnTo>
                  <a:lnTo>
                    <a:pt x="90435" y="61130"/>
                  </a:lnTo>
                  <a:lnTo>
                    <a:pt x="95244" y="52909"/>
                  </a:lnTo>
                  <a:lnTo>
                    <a:pt x="62359" y="33670"/>
                  </a:lnTo>
                  <a:close/>
                </a:path>
                <a:path w="878839" h="516889">
                  <a:moveTo>
                    <a:pt x="4810" y="0"/>
                  </a:moveTo>
                  <a:lnTo>
                    <a:pt x="0" y="8221"/>
                  </a:lnTo>
                  <a:lnTo>
                    <a:pt x="32885" y="27461"/>
                  </a:lnTo>
                  <a:lnTo>
                    <a:pt x="37696" y="19240"/>
                  </a:lnTo>
                  <a:lnTo>
                    <a:pt x="4810"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0" name="object 10"/>
            <p:cNvSpPr/>
            <p:nvPr/>
          </p:nvSpPr>
          <p:spPr>
            <a:xfrm>
              <a:off x="2659018"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1" name="object 11"/>
            <p:cNvSpPr/>
            <p:nvPr/>
          </p:nvSpPr>
          <p:spPr>
            <a:xfrm>
              <a:off x="2659018"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2" name="object 12"/>
            <p:cNvSpPr/>
            <p:nvPr/>
          </p:nvSpPr>
          <p:spPr>
            <a:xfrm>
              <a:off x="4259218" y="4292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3" name="object 13"/>
            <p:cNvSpPr/>
            <p:nvPr/>
          </p:nvSpPr>
          <p:spPr>
            <a:xfrm>
              <a:off x="4259218" y="4292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4" name="object 14"/>
            <p:cNvSpPr/>
            <p:nvPr/>
          </p:nvSpPr>
          <p:spPr>
            <a:xfrm>
              <a:off x="3378568" y="2696806"/>
              <a:ext cx="884555" cy="1958339"/>
            </a:xfrm>
            <a:custGeom>
              <a:avLst/>
              <a:gdLst/>
              <a:ahLst/>
              <a:cxnLst/>
              <a:rect l="l" t="t" r="r" b="b"/>
              <a:pathLst>
                <a:path w="884554" h="1958339">
                  <a:moveTo>
                    <a:pt x="24269" y="34772"/>
                  </a:moveTo>
                  <a:lnTo>
                    <a:pt x="8686" y="0"/>
                  </a:lnTo>
                  <a:lnTo>
                    <a:pt x="0" y="3898"/>
                  </a:lnTo>
                  <a:lnTo>
                    <a:pt x="15570" y="38671"/>
                  </a:lnTo>
                  <a:lnTo>
                    <a:pt x="24269" y="34772"/>
                  </a:lnTo>
                  <a:close/>
                </a:path>
                <a:path w="884554" h="1958339">
                  <a:moveTo>
                    <a:pt x="36817" y="1213358"/>
                  </a:moveTo>
                  <a:lnTo>
                    <a:pt x="30772" y="1205992"/>
                  </a:lnTo>
                  <a:lnTo>
                    <a:pt x="1320" y="1230172"/>
                  </a:lnTo>
                  <a:lnTo>
                    <a:pt x="4343" y="1233855"/>
                  </a:lnTo>
                  <a:lnTo>
                    <a:pt x="1308" y="1237526"/>
                  </a:lnTo>
                  <a:lnTo>
                    <a:pt x="30683" y="1261783"/>
                  </a:lnTo>
                  <a:lnTo>
                    <a:pt x="36753" y="1254442"/>
                  </a:lnTo>
                  <a:lnTo>
                    <a:pt x="11836" y="1233868"/>
                  </a:lnTo>
                  <a:lnTo>
                    <a:pt x="36817" y="1213358"/>
                  </a:lnTo>
                  <a:close/>
                </a:path>
                <a:path w="884554" h="1958339">
                  <a:moveTo>
                    <a:pt x="51536" y="95618"/>
                  </a:moveTo>
                  <a:lnTo>
                    <a:pt x="35953" y="60845"/>
                  </a:lnTo>
                  <a:lnTo>
                    <a:pt x="27254" y="64744"/>
                  </a:lnTo>
                  <a:lnTo>
                    <a:pt x="42837" y="99517"/>
                  </a:lnTo>
                  <a:lnTo>
                    <a:pt x="51536" y="95618"/>
                  </a:lnTo>
                  <a:close/>
                </a:path>
                <a:path w="884554" h="1958339">
                  <a:moveTo>
                    <a:pt x="78790" y="156464"/>
                  </a:moveTo>
                  <a:lnTo>
                    <a:pt x="63220" y="121691"/>
                  </a:lnTo>
                  <a:lnTo>
                    <a:pt x="54521" y="125590"/>
                  </a:lnTo>
                  <a:lnTo>
                    <a:pt x="70104" y="160362"/>
                  </a:lnTo>
                  <a:lnTo>
                    <a:pt x="78790" y="156464"/>
                  </a:lnTo>
                  <a:close/>
                </a:path>
                <a:path w="884554" h="1958339">
                  <a:moveTo>
                    <a:pt x="88150" y="1296911"/>
                  </a:moveTo>
                  <a:lnTo>
                    <a:pt x="58775" y="1272641"/>
                  </a:lnTo>
                  <a:lnTo>
                    <a:pt x="52717" y="1279982"/>
                  </a:lnTo>
                  <a:lnTo>
                    <a:pt x="82092" y="1304251"/>
                  </a:lnTo>
                  <a:lnTo>
                    <a:pt x="88150" y="1296911"/>
                  </a:lnTo>
                  <a:close/>
                </a:path>
                <a:path w="884554" h="1958339">
                  <a:moveTo>
                    <a:pt x="88353" y="1171054"/>
                  </a:moveTo>
                  <a:lnTo>
                    <a:pt x="82308" y="1163701"/>
                  </a:lnTo>
                  <a:lnTo>
                    <a:pt x="52857" y="1187869"/>
                  </a:lnTo>
                  <a:lnTo>
                    <a:pt x="58902" y="1195235"/>
                  </a:lnTo>
                  <a:lnTo>
                    <a:pt x="88353" y="1171054"/>
                  </a:lnTo>
                  <a:close/>
                </a:path>
                <a:path w="884554" h="1958339">
                  <a:moveTo>
                    <a:pt x="106057" y="217309"/>
                  </a:moveTo>
                  <a:lnTo>
                    <a:pt x="90474" y="182537"/>
                  </a:lnTo>
                  <a:lnTo>
                    <a:pt x="81788" y="186436"/>
                  </a:lnTo>
                  <a:lnTo>
                    <a:pt x="97358" y="221208"/>
                  </a:lnTo>
                  <a:lnTo>
                    <a:pt x="106057" y="217309"/>
                  </a:lnTo>
                  <a:close/>
                </a:path>
                <a:path w="884554" h="1958339">
                  <a:moveTo>
                    <a:pt x="133324" y="278155"/>
                  </a:moveTo>
                  <a:lnTo>
                    <a:pt x="117741" y="243382"/>
                  </a:lnTo>
                  <a:lnTo>
                    <a:pt x="109042" y="247281"/>
                  </a:lnTo>
                  <a:lnTo>
                    <a:pt x="124625" y="282054"/>
                  </a:lnTo>
                  <a:lnTo>
                    <a:pt x="133324" y="278155"/>
                  </a:lnTo>
                  <a:close/>
                </a:path>
                <a:path w="884554" h="1958339">
                  <a:moveTo>
                    <a:pt x="139560" y="1339367"/>
                  </a:moveTo>
                  <a:lnTo>
                    <a:pt x="110185" y="1315110"/>
                  </a:lnTo>
                  <a:lnTo>
                    <a:pt x="104114" y="1322451"/>
                  </a:lnTo>
                  <a:lnTo>
                    <a:pt x="133489" y="1346708"/>
                  </a:lnTo>
                  <a:lnTo>
                    <a:pt x="139560" y="1339367"/>
                  </a:lnTo>
                  <a:close/>
                </a:path>
                <a:path w="884554" h="1958339">
                  <a:moveTo>
                    <a:pt x="139890" y="1128763"/>
                  </a:moveTo>
                  <a:lnTo>
                    <a:pt x="133845" y="1121397"/>
                  </a:lnTo>
                  <a:lnTo>
                    <a:pt x="104394" y="1145565"/>
                  </a:lnTo>
                  <a:lnTo>
                    <a:pt x="110439" y="1152931"/>
                  </a:lnTo>
                  <a:lnTo>
                    <a:pt x="139890" y="1128763"/>
                  </a:lnTo>
                  <a:close/>
                </a:path>
                <a:path w="884554" h="1958339">
                  <a:moveTo>
                    <a:pt x="160578" y="339001"/>
                  </a:moveTo>
                  <a:lnTo>
                    <a:pt x="145008" y="304228"/>
                  </a:lnTo>
                  <a:lnTo>
                    <a:pt x="136309" y="308127"/>
                  </a:lnTo>
                  <a:lnTo>
                    <a:pt x="151892" y="342900"/>
                  </a:lnTo>
                  <a:lnTo>
                    <a:pt x="160578" y="339001"/>
                  </a:lnTo>
                  <a:close/>
                </a:path>
                <a:path w="884554" h="1958339">
                  <a:moveTo>
                    <a:pt x="187845" y="399846"/>
                  </a:moveTo>
                  <a:lnTo>
                    <a:pt x="172262" y="365086"/>
                  </a:lnTo>
                  <a:lnTo>
                    <a:pt x="163576" y="368973"/>
                  </a:lnTo>
                  <a:lnTo>
                    <a:pt x="179146" y="403745"/>
                  </a:lnTo>
                  <a:lnTo>
                    <a:pt x="187845" y="399846"/>
                  </a:lnTo>
                  <a:close/>
                </a:path>
                <a:path w="884554" h="1958339">
                  <a:moveTo>
                    <a:pt x="190957" y="1381836"/>
                  </a:moveTo>
                  <a:lnTo>
                    <a:pt x="161594" y="1357566"/>
                  </a:lnTo>
                  <a:lnTo>
                    <a:pt x="155524" y="1364907"/>
                  </a:lnTo>
                  <a:lnTo>
                    <a:pt x="184899" y="1389176"/>
                  </a:lnTo>
                  <a:lnTo>
                    <a:pt x="190957" y="1381836"/>
                  </a:lnTo>
                  <a:close/>
                </a:path>
                <a:path w="884554" h="1958339">
                  <a:moveTo>
                    <a:pt x="191427" y="1086459"/>
                  </a:moveTo>
                  <a:lnTo>
                    <a:pt x="185394" y="1079093"/>
                  </a:lnTo>
                  <a:lnTo>
                    <a:pt x="155943" y="1103261"/>
                  </a:lnTo>
                  <a:lnTo>
                    <a:pt x="161975" y="1110627"/>
                  </a:lnTo>
                  <a:lnTo>
                    <a:pt x="191427" y="1086459"/>
                  </a:lnTo>
                  <a:close/>
                </a:path>
                <a:path w="884554" h="1958339">
                  <a:moveTo>
                    <a:pt x="215099" y="460692"/>
                  </a:moveTo>
                  <a:lnTo>
                    <a:pt x="199529" y="425932"/>
                  </a:lnTo>
                  <a:lnTo>
                    <a:pt x="190830" y="429818"/>
                  </a:lnTo>
                  <a:lnTo>
                    <a:pt x="206413" y="464591"/>
                  </a:lnTo>
                  <a:lnTo>
                    <a:pt x="215099" y="460692"/>
                  </a:lnTo>
                  <a:close/>
                </a:path>
                <a:path w="884554" h="1958339">
                  <a:moveTo>
                    <a:pt x="242366" y="1424292"/>
                  </a:moveTo>
                  <a:lnTo>
                    <a:pt x="212991" y="1400035"/>
                  </a:lnTo>
                  <a:lnTo>
                    <a:pt x="206921" y="1407375"/>
                  </a:lnTo>
                  <a:lnTo>
                    <a:pt x="236296" y="1431645"/>
                  </a:lnTo>
                  <a:lnTo>
                    <a:pt x="242366" y="1424292"/>
                  </a:lnTo>
                  <a:close/>
                </a:path>
                <a:path w="884554" h="1958339">
                  <a:moveTo>
                    <a:pt x="242366" y="521538"/>
                  </a:moveTo>
                  <a:lnTo>
                    <a:pt x="226783" y="486778"/>
                  </a:lnTo>
                  <a:lnTo>
                    <a:pt x="218097" y="490664"/>
                  </a:lnTo>
                  <a:lnTo>
                    <a:pt x="233680" y="525437"/>
                  </a:lnTo>
                  <a:lnTo>
                    <a:pt x="242366" y="521538"/>
                  </a:lnTo>
                  <a:close/>
                </a:path>
                <a:path w="884554" h="1958339">
                  <a:moveTo>
                    <a:pt x="242976" y="1044155"/>
                  </a:moveTo>
                  <a:lnTo>
                    <a:pt x="236931" y="1036789"/>
                  </a:lnTo>
                  <a:lnTo>
                    <a:pt x="207479" y="1060970"/>
                  </a:lnTo>
                  <a:lnTo>
                    <a:pt x="213525" y="1068324"/>
                  </a:lnTo>
                  <a:lnTo>
                    <a:pt x="242976" y="1044155"/>
                  </a:lnTo>
                  <a:close/>
                </a:path>
                <a:path w="884554" h="1958339">
                  <a:moveTo>
                    <a:pt x="269633" y="582396"/>
                  </a:moveTo>
                  <a:lnTo>
                    <a:pt x="254050" y="547624"/>
                  </a:lnTo>
                  <a:lnTo>
                    <a:pt x="245364" y="551510"/>
                  </a:lnTo>
                  <a:lnTo>
                    <a:pt x="260934" y="586282"/>
                  </a:lnTo>
                  <a:lnTo>
                    <a:pt x="269633" y="582396"/>
                  </a:lnTo>
                  <a:close/>
                </a:path>
                <a:path w="884554" h="1958339">
                  <a:moveTo>
                    <a:pt x="293776" y="1466761"/>
                  </a:moveTo>
                  <a:lnTo>
                    <a:pt x="264401" y="1442491"/>
                  </a:lnTo>
                  <a:lnTo>
                    <a:pt x="258330" y="1449844"/>
                  </a:lnTo>
                  <a:lnTo>
                    <a:pt x="287705" y="1474101"/>
                  </a:lnTo>
                  <a:lnTo>
                    <a:pt x="293776" y="1466761"/>
                  </a:lnTo>
                  <a:close/>
                </a:path>
                <a:path w="884554" h="1958339">
                  <a:moveTo>
                    <a:pt x="294513" y="1001852"/>
                  </a:moveTo>
                  <a:lnTo>
                    <a:pt x="288467" y="994498"/>
                  </a:lnTo>
                  <a:lnTo>
                    <a:pt x="259016" y="1018667"/>
                  </a:lnTo>
                  <a:lnTo>
                    <a:pt x="265061" y="1026033"/>
                  </a:lnTo>
                  <a:lnTo>
                    <a:pt x="294513" y="1001852"/>
                  </a:lnTo>
                  <a:close/>
                </a:path>
                <a:path w="884554" h="1958339">
                  <a:moveTo>
                    <a:pt x="296887" y="643242"/>
                  </a:moveTo>
                  <a:lnTo>
                    <a:pt x="281317" y="608469"/>
                  </a:lnTo>
                  <a:lnTo>
                    <a:pt x="272618" y="612368"/>
                  </a:lnTo>
                  <a:lnTo>
                    <a:pt x="288201" y="647128"/>
                  </a:lnTo>
                  <a:lnTo>
                    <a:pt x="296887" y="643242"/>
                  </a:lnTo>
                  <a:close/>
                </a:path>
                <a:path w="884554" h="1958339">
                  <a:moveTo>
                    <a:pt x="324154" y="704088"/>
                  </a:moveTo>
                  <a:lnTo>
                    <a:pt x="308571" y="669315"/>
                  </a:lnTo>
                  <a:lnTo>
                    <a:pt x="299885" y="673214"/>
                  </a:lnTo>
                  <a:lnTo>
                    <a:pt x="315468" y="707974"/>
                  </a:lnTo>
                  <a:lnTo>
                    <a:pt x="324154" y="704088"/>
                  </a:lnTo>
                  <a:close/>
                </a:path>
                <a:path w="884554" h="1958339">
                  <a:moveTo>
                    <a:pt x="345173" y="1509229"/>
                  </a:moveTo>
                  <a:lnTo>
                    <a:pt x="315798" y="1484960"/>
                  </a:lnTo>
                  <a:lnTo>
                    <a:pt x="309740" y="1492300"/>
                  </a:lnTo>
                  <a:lnTo>
                    <a:pt x="339102" y="1516570"/>
                  </a:lnTo>
                  <a:lnTo>
                    <a:pt x="345173" y="1509229"/>
                  </a:lnTo>
                  <a:close/>
                </a:path>
                <a:path w="884554" h="1958339">
                  <a:moveTo>
                    <a:pt x="346049" y="959561"/>
                  </a:moveTo>
                  <a:lnTo>
                    <a:pt x="340004" y="952195"/>
                  </a:lnTo>
                  <a:lnTo>
                    <a:pt x="310553" y="976363"/>
                  </a:lnTo>
                  <a:lnTo>
                    <a:pt x="316598" y="983729"/>
                  </a:lnTo>
                  <a:lnTo>
                    <a:pt x="346049" y="959561"/>
                  </a:lnTo>
                  <a:close/>
                </a:path>
                <a:path w="884554" h="1958339">
                  <a:moveTo>
                    <a:pt x="351421" y="764933"/>
                  </a:moveTo>
                  <a:lnTo>
                    <a:pt x="335838" y="730161"/>
                  </a:lnTo>
                  <a:lnTo>
                    <a:pt x="327152" y="734060"/>
                  </a:lnTo>
                  <a:lnTo>
                    <a:pt x="342722" y="768819"/>
                  </a:lnTo>
                  <a:lnTo>
                    <a:pt x="351421" y="764933"/>
                  </a:lnTo>
                  <a:close/>
                </a:path>
                <a:path w="884554" h="1958339">
                  <a:moveTo>
                    <a:pt x="378675" y="825779"/>
                  </a:moveTo>
                  <a:lnTo>
                    <a:pt x="363105" y="791006"/>
                  </a:lnTo>
                  <a:lnTo>
                    <a:pt x="354406" y="794905"/>
                  </a:lnTo>
                  <a:lnTo>
                    <a:pt x="369989" y="829665"/>
                  </a:lnTo>
                  <a:lnTo>
                    <a:pt x="378675" y="825779"/>
                  </a:lnTo>
                  <a:close/>
                </a:path>
                <a:path w="884554" h="1958339">
                  <a:moveTo>
                    <a:pt x="396582" y="1551686"/>
                  </a:moveTo>
                  <a:lnTo>
                    <a:pt x="367207" y="1527429"/>
                  </a:lnTo>
                  <a:lnTo>
                    <a:pt x="361137" y="1534769"/>
                  </a:lnTo>
                  <a:lnTo>
                    <a:pt x="390512" y="1559039"/>
                  </a:lnTo>
                  <a:lnTo>
                    <a:pt x="396582" y="1551686"/>
                  </a:lnTo>
                  <a:close/>
                </a:path>
                <a:path w="884554" h="1958339">
                  <a:moveTo>
                    <a:pt x="397586" y="917257"/>
                  </a:moveTo>
                  <a:lnTo>
                    <a:pt x="391541" y="909891"/>
                  </a:lnTo>
                  <a:lnTo>
                    <a:pt x="362089" y="934059"/>
                  </a:lnTo>
                  <a:lnTo>
                    <a:pt x="368134" y="941425"/>
                  </a:lnTo>
                  <a:lnTo>
                    <a:pt x="397586" y="917257"/>
                  </a:lnTo>
                  <a:close/>
                </a:path>
                <a:path w="884554" h="1958339">
                  <a:moveTo>
                    <a:pt x="405942" y="886625"/>
                  </a:moveTo>
                  <a:lnTo>
                    <a:pt x="390359" y="851852"/>
                  </a:lnTo>
                  <a:lnTo>
                    <a:pt x="381673" y="855751"/>
                  </a:lnTo>
                  <a:lnTo>
                    <a:pt x="397256" y="890524"/>
                  </a:lnTo>
                  <a:lnTo>
                    <a:pt x="405942" y="886625"/>
                  </a:lnTo>
                  <a:close/>
                </a:path>
                <a:path w="884554" h="1958339">
                  <a:moveTo>
                    <a:pt x="433209" y="947470"/>
                  </a:moveTo>
                  <a:lnTo>
                    <a:pt x="417626" y="912698"/>
                  </a:lnTo>
                  <a:lnTo>
                    <a:pt x="408940" y="916597"/>
                  </a:lnTo>
                  <a:lnTo>
                    <a:pt x="424510" y="951369"/>
                  </a:lnTo>
                  <a:lnTo>
                    <a:pt x="433209" y="947470"/>
                  </a:lnTo>
                  <a:close/>
                </a:path>
                <a:path w="884554" h="1958339">
                  <a:moveTo>
                    <a:pt x="447979" y="1594154"/>
                  </a:moveTo>
                  <a:lnTo>
                    <a:pt x="418604" y="1569885"/>
                  </a:lnTo>
                  <a:lnTo>
                    <a:pt x="412546" y="1577238"/>
                  </a:lnTo>
                  <a:lnTo>
                    <a:pt x="441909" y="1601495"/>
                  </a:lnTo>
                  <a:lnTo>
                    <a:pt x="447979" y="1594154"/>
                  </a:lnTo>
                  <a:close/>
                </a:path>
                <a:path w="884554" h="1958339">
                  <a:moveTo>
                    <a:pt x="449122" y="874953"/>
                  </a:moveTo>
                  <a:lnTo>
                    <a:pt x="443077" y="867587"/>
                  </a:lnTo>
                  <a:lnTo>
                    <a:pt x="413639" y="891768"/>
                  </a:lnTo>
                  <a:lnTo>
                    <a:pt x="419671" y="899121"/>
                  </a:lnTo>
                  <a:lnTo>
                    <a:pt x="449122" y="874953"/>
                  </a:lnTo>
                  <a:close/>
                </a:path>
                <a:path w="884554" h="1958339">
                  <a:moveTo>
                    <a:pt x="460463" y="1008316"/>
                  </a:moveTo>
                  <a:lnTo>
                    <a:pt x="444893" y="973543"/>
                  </a:lnTo>
                  <a:lnTo>
                    <a:pt x="436194" y="977442"/>
                  </a:lnTo>
                  <a:lnTo>
                    <a:pt x="451777" y="1012215"/>
                  </a:lnTo>
                  <a:lnTo>
                    <a:pt x="460463" y="1008316"/>
                  </a:lnTo>
                  <a:close/>
                </a:path>
                <a:path w="884554" h="1958339">
                  <a:moveTo>
                    <a:pt x="487730" y="1069162"/>
                  </a:moveTo>
                  <a:lnTo>
                    <a:pt x="472147" y="1034389"/>
                  </a:lnTo>
                  <a:lnTo>
                    <a:pt x="463461" y="1038288"/>
                  </a:lnTo>
                  <a:lnTo>
                    <a:pt x="479044" y="1073061"/>
                  </a:lnTo>
                  <a:lnTo>
                    <a:pt x="487730" y="1069162"/>
                  </a:lnTo>
                  <a:close/>
                </a:path>
                <a:path w="884554" h="1958339">
                  <a:moveTo>
                    <a:pt x="499389" y="1636623"/>
                  </a:moveTo>
                  <a:lnTo>
                    <a:pt x="470014" y="1612353"/>
                  </a:lnTo>
                  <a:lnTo>
                    <a:pt x="463943" y="1619694"/>
                  </a:lnTo>
                  <a:lnTo>
                    <a:pt x="493318" y="1643964"/>
                  </a:lnTo>
                  <a:lnTo>
                    <a:pt x="499389" y="1636623"/>
                  </a:lnTo>
                  <a:close/>
                </a:path>
                <a:path w="884554" h="1958339">
                  <a:moveTo>
                    <a:pt x="500659" y="832662"/>
                  </a:moveTo>
                  <a:lnTo>
                    <a:pt x="494626" y="825296"/>
                  </a:lnTo>
                  <a:lnTo>
                    <a:pt x="465175" y="849464"/>
                  </a:lnTo>
                  <a:lnTo>
                    <a:pt x="471208" y="856830"/>
                  </a:lnTo>
                  <a:lnTo>
                    <a:pt x="500659" y="832662"/>
                  </a:lnTo>
                  <a:close/>
                </a:path>
                <a:path w="884554" h="1958339">
                  <a:moveTo>
                    <a:pt x="514997" y="1130007"/>
                  </a:moveTo>
                  <a:lnTo>
                    <a:pt x="499414" y="1095235"/>
                  </a:lnTo>
                  <a:lnTo>
                    <a:pt x="490728" y="1099134"/>
                  </a:lnTo>
                  <a:lnTo>
                    <a:pt x="506298" y="1133906"/>
                  </a:lnTo>
                  <a:lnTo>
                    <a:pt x="514997" y="1130007"/>
                  </a:lnTo>
                  <a:close/>
                </a:path>
                <a:path w="884554" h="1958339">
                  <a:moveTo>
                    <a:pt x="542251" y="1190853"/>
                  </a:moveTo>
                  <a:lnTo>
                    <a:pt x="526681" y="1156093"/>
                  </a:lnTo>
                  <a:lnTo>
                    <a:pt x="517982" y="1159979"/>
                  </a:lnTo>
                  <a:lnTo>
                    <a:pt x="533565" y="1194752"/>
                  </a:lnTo>
                  <a:lnTo>
                    <a:pt x="542251" y="1190853"/>
                  </a:lnTo>
                  <a:close/>
                </a:path>
                <a:path w="884554" h="1958339">
                  <a:moveTo>
                    <a:pt x="550786" y="1679079"/>
                  </a:moveTo>
                  <a:lnTo>
                    <a:pt x="521411" y="1654822"/>
                  </a:lnTo>
                  <a:lnTo>
                    <a:pt x="515353" y="1662163"/>
                  </a:lnTo>
                  <a:lnTo>
                    <a:pt x="544728" y="1686420"/>
                  </a:lnTo>
                  <a:lnTo>
                    <a:pt x="550786" y="1679079"/>
                  </a:lnTo>
                  <a:close/>
                </a:path>
                <a:path w="884554" h="1958339">
                  <a:moveTo>
                    <a:pt x="552208" y="790359"/>
                  </a:moveTo>
                  <a:lnTo>
                    <a:pt x="546163" y="782993"/>
                  </a:lnTo>
                  <a:lnTo>
                    <a:pt x="516712" y="807161"/>
                  </a:lnTo>
                  <a:lnTo>
                    <a:pt x="522757" y="814527"/>
                  </a:lnTo>
                  <a:lnTo>
                    <a:pt x="552208" y="790359"/>
                  </a:lnTo>
                  <a:close/>
                </a:path>
                <a:path w="884554" h="1958339">
                  <a:moveTo>
                    <a:pt x="569518" y="1251699"/>
                  </a:moveTo>
                  <a:lnTo>
                    <a:pt x="553935" y="1216939"/>
                  </a:lnTo>
                  <a:lnTo>
                    <a:pt x="545249" y="1220825"/>
                  </a:lnTo>
                  <a:lnTo>
                    <a:pt x="560819" y="1255598"/>
                  </a:lnTo>
                  <a:lnTo>
                    <a:pt x="569518" y="1251699"/>
                  </a:lnTo>
                  <a:close/>
                </a:path>
                <a:path w="884554" h="1958339">
                  <a:moveTo>
                    <a:pt x="596785" y="1312545"/>
                  </a:moveTo>
                  <a:lnTo>
                    <a:pt x="581202" y="1277785"/>
                  </a:lnTo>
                  <a:lnTo>
                    <a:pt x="572503" y="1281671"/>
                  </a:lnTo>
                  <a:lnTo>
                    <a:pt x="588086" y="1316443"/>
                  </a:lnTo>
                  <a:lnTo>
                    <a:pt x="596785" y="1312545"/>
                  </a:lnTo>
                  <a:close/>
                </a:path>
                <a:path w="884554" h="1958339">
                  <a:moveTo>
                    <a:pt x="602195" y="1721548"/>
                  </a:moveTo>
                  <a:lnTo>
                    <a:pt x="572820" y="1697278"/>
                  </a:lnTo>
                  <a:lnTo>
                    <a:pt x="566750" y="1704619"/>
                  </a:lnTo>
                  <a:lnTo>
                    <a:pt x="596125" y="1728889"/>
                  </a:lnTo>
                  <a:lnTo>
                    <a:pt x="602195" y="1721548"/>
                  </a:lnTo>
                  <a:close/>
                </a:path>
                <a:path w="884554" h="1958339">
                  <a:moveTo>
                    <a:pt x="603745" y="748055"/>
                  </a:moveTo>
                  <a:lnTo>
                    <a:pt x="597700" y="740689"/>
                  </a:lnTo>
                  <a:lnTo>
                    <a:pt x="568248" y="764870"/>
                  </a:lnTo>
                  <a:lnTo>
                    <a:pt x="574294" y="772223"/>
                  </a:lnTo>
                  <a:lnTo>
                    <a:pt x="603745" y="748055"/>
                  </a:lnTo>
                  <a:close/>
                </a:path>
                <a:path w="884554" h="1958339">
                  <a:moveTo>
                    <a:pt x="624039" y="1373390"/>
                  </a:moveTo>
                  <a:lnTo>
                    <a:pt x="608469" y="1338630"/>
                  </a:lnTo>
                  <a:lnTo>
                    <a:pt x="599770" y="1342517"/>
                  </a:lnTo>
                  <a:lnTo>
                    <a:pt x="615353" y="1377289"/>
                  </a:lnTo>
                  <a:lnTo>
                    <a:pt x="624039" y="1373390"/>
                  </a:lnTo>
                  <a:close/>
                </a:path>
                <a:path w="884554" h="1958339">
                  <a:moveTo>
                    <a:pt x="651306" y="1434249"/>
                  </a:moveTo>
                  <a:lnTo>
                    <a:pt x="635723" y="1399476"/>
                  </a:lnTo>
                  <a:lnTo>
                    <a:pt x="627037" y="1403362"/>
                  </a:lnTo>
                  <a:lnTo>
                    <a:pt x="642607" y="1438135"/>
                  </a:lnTo>
                  <a:lnTo>
                    <a:pt x="651306" y="1434249"/>
                  </a:lnTo>
                  <a:close/>
                </a:path>
                <a:path w="884554" h="1958339">
                  <a:moveTo>
                    <a:pt x="653592" y="1764017"/>
                  </a:moveTo>
                  <a:lnTo>
                    <a:pt x="624217" y="1739747"/>
                  </a:lnTo>
                  <a:lnTo>
                    <a:pt x="618159" y="1747088"/>
                  </a:lnTo>
                  <a:lnTo>
                    <a:pt x="647534" y="1771357"/>
                  </a:lnTo>
                  <a:lnTo>
                    <a:pt x="653592" y="1764017"/>
                  </a:lnTo>
                  <a:close/>
                </a:path>
                <a:path w="884554" h="1958339">
                  <a:moveTo>
                    <a:pt x="655281" y="705751"/>
                  </a:moveTo>
                  <a:lnTo>
                    <a:pt x="649236" y="698398"/>
                  </a:lnTo>
                  <a:lnTo>
                    <a:pt x="619785" y="722566"/>
                  </a:lnTo>
                  <a:lnTo>
                    <a:pt x="625830" y="729932"/>
                  </a:lnTo>
                  <a:lnTo>
                    <a:pt x="655281" y="705751"/>
                  </a:lnTo>
                  <a:close/>
                </a:path>
                <a:path w="884554" h="1958339">
                  <a:moveTo>
                    <a:pt x="678573" y="1495094"/>
                  </a:moveTo>
                  <a:lnTo>
                    <a:pt x="662990" y="1460322"/>
                  </a:lnTo>
                  <a:lnTo>
                    <a:pt x="654291" y="1464221"/>
                  </a:lnTo>
                  <a:lnTo>
                    <a:pt x="669874" y="1498981"/>
                  </a:lnTo>
                  <a:lnTo>
                    <a:pt x="678573" y="1495094"/>
                  </a:lnTo>
                  <a:close/>
                </a:path>
                <a:path w="884554" h="1958339">
                  <a:moveTo>
                    <a:pt x="705002" y="1806473"/>
                  </a:moveTo>
                  <a:lnTo>
                    <a:pt x="675627" y="1782203"/>
                  </a:lnTo>
                  <a:lnTo>
                    <a:pt x="669556" y="1789557"/>
                  </a:lnTo>
                  <a:lnTo>
                    <a:pt x="698931" y="1813814"/>
                  </a:lnTo>
                  <a:lnTo>
                    <a:pt x="705002" y="1806473"/>
                  </a:lnTo>
                  <a:close/>
                </a:path>
                <a:path w="884554" h="1958339">
                  <a:moveTo>
                    <a:pt x="705827" y="1555940"/>
                  </a:moveTo>
                  <a:lnTo>
                    <a:pt x="690257" y="1521167"/>
                  </a:lnTo>
                  <a:lnTo>
                    <a:pt x="681558" y="1525066"/>
                  </a:lnTo>
                  <a:lnTo>
                    <a:pt x="697141" y="1559826"/>
                  </a:lnTo>
                  <a:lnTo>
                    <a:pt x="705827" y="1555940"/>
                  </a:lnTo>
                  <a:close/>
                </a:path>
                <a:path w="884554" h="1958339">
                  <a:moveTo>
                    <a:pt x="706818" y="663460"/>
                  </a:moveTo>
                  <a:lnTo>
                    <a:pt x="700773" y="656094"/>
                  </a:lnTo>
                  <a:lnTo>
                    <a:pt x="671322" y="680262"/>
                  </a:lnTo>
                  <a:lnTo>
                    <a:pt x="677367" y="687628"/>
                  </a:lnTo>
                  <a:lnTo>
                    <a:pt x="706818" y="663460"/>
                  </a:lnTo>
                  <a:close/>
                </a:path>
                <a:path w="884554" h="1958339">
                  <a:moveTo>
                    <a:pt x="733094" y="1616786"/>
                  </a:moveTo>
                  <a:lnTo>
                    <a:pt x="717511" y="1582013"/>
                  </a:lnTo>
                  <a:lnTo>
                    <a:pt x="708825" y="1585912"/>
                  </a:lnTo>
                  <a:lnTo>
                    <a:pt x="724395" y="1620672"/>
                  </a:lnTo>
                  <a:lnTo>
                    <a:pt x="733094" y="1616786"/>
                  </a:lnTo>
                  <a:close/>
                </a:path>
                <a:path w="884554" h="1958339">
                  <a:moveTo>
                    <a:pt x="756399" y="1848942"/>
                  </a:moveTo>
                  <a:lnTo>
                    <a:pt x="727036" y="1824672"/>
                  </a:lnTo>
                  <a:lnTo>
                    <a:pt x="720966" y="1832013"/>
                  </a:lnTo>
                  <a:lnTo>
                    <a:pt x="750341" y="1856282"/>
                  </a:lnTo>
                  <a:lnTo>
                    <a:pt x="756399" y="1848942"/>
                  </a:lnTo>
                  <a:close/>
                </a:path>
                <a:path w="884554" h="1958339">
                  <a:moveTo>
                    <a:pt x="758355" y="621157"/>
                  </a:moveTo>
                  <a:lnTo>
                    <a:pt x="752309" y="613791"/>
                  </a:lnTo>
                  <a:lnTo>
                    <a:pt x="722871" y="637959"/>
                  </a:lnTo>
                  <a:lnTo>
                    <a:pt x="728903" y="645325"/>
                  </a:lnTo>
                  <a:lnTo>
                    <a:pt x="758355" y="621157"/>
                  </a:lnTo>
                  <a:close/>
                </a:path>
                <a:path w="884554" h="1958339">
                  <a:moveTo>
                    <a:pt x="760349" y="1677631"/>
                  </a:moveTo>
                  <a:lnTo>
                    <a:pt x="744778" y="1642859"/>
                  </a:lnTo>
                  <a:lnTo>
                    <a:pt x="736079" y="1646758"/>
                  </a:lnTo>
                  <a:lnTo>
                    <a:pt x="751662" y="1681530"/>
                  </a:lnTo>
                  <a:lnTo>
                    <a:pt x="760349" y="1677631"/>
                  </a:lnTo>
                  <a:close/>
                </a:path>
                <a:path w="884554" h="1958339">
                  <a:moveTo>
                    <a:pt x="787615" y="1738477"/>
                  </a:moveTo>
                  <a:lnTo>
                    <a:pt x="772033" y="1703705"/>
                  </a:lnTo>
                  <a:lnTo>
                    <a:pt x="763346" y="1707603"/>
                  </a:lnTo>
                  <a:lnTo>
                    <a:pt x="778929" y="1742376"/>
                  </a:lnTo>
                  <a:lnTo>
                    <a:pt x="787615" y="1738477"/>
                  </a:lnTo>
                  <a:close/>
                </a:path>
                <a:path w="884554" h="1958339">
                  <a:moveTo>
                    <a:pt x="807808" y="1891398"/>
                  </a:moveTo>
                  <a:lnTo>
                    <a:pt x="778433" y="1867141"/>
                  </a:lnTo>
                  <a:lnTo>
                    <a:pt x="772363" y="1874481"/>
                  </a:lnTo>
                  <a:lnTo>
                    <a:pt x="801738" y="1898751"/>
                  </a:lnTo>
                  <a:lnTo>
                    <a:pt x="807808" y="1891398"/>
                  </a:lnTo>
                  <a:close/>
                </a:path>
                <a:path w="884554" h="1958339">
                  <a:moveTo>
                    <a:pt x="809891" y="578853"/>
                  </a:moveTo>
                  <a:lnTo>
                    <a:pt x="803859" y="571487"/>
                  </a:lnTo>
                  <a:lnTo>
                    <a:pt x="774407" y="595668"/>
                  </a:lnTo>
                  <a:lnTo>
                    <a:pt x="780453" y="603021"/>
                  </a:lnTo>
                  <a:lnTo>
                    <a:pt x="809891" y="578853"/>
                  </a:lnTo>
                  <a:close/>
                </a:path>
                <a:path w="884554" h="1958339">
                  <a:moveTo>
                    <a:pt x="814882" y="1799323"/>
                  </a:moveTo>
                  <a:lnTo>
                    <a:pt x="799299" y="1764550"/>
                  </a:lnTo>
                  <a:lnTo>
                    <a:pt x="790613" y="1768449"/>
                  </a:lnTo>
                  <a:lnTo>
                    <a:pt x="806183" y="1803222"/>
                  </a:lnTo>
                  <a:lnTo>
                    <a:pt x="814882" y="1799323"/>
                  </a:lnTo>
                  <a:close/>
                </a:path>
                <a:path w="884554" h="1958339">
                  <a:moveTo>
                    <a:pt x="842137" y="1860169"/>
                  </a:moveTo>
                  <a:lnTo>
                    <a:pt x="826566" y="1825396"/>
                  </a:lnTo>
                  <a:lnTo>
                    <a:pt x="817867" y="1829295"/>
                  </a:lnTo>
                  <a:lnTo>
                    <a:pt x="833450" y="1864067"/>
                  </a:lnTo>
                  <a:lnTo>
                    <a:pt x="842137" y="1860169"/>
                  </a:lnTo>
                  <a:close/>
                </a:path>
                <a:path w="884554" h="1958339">
                  <a:moveTo>
                    <a:pt x="880643" y="514629"/>
                  </a:moveTo>
                  <a:lnTo>
                    <a:pt x="797572" y="533527"/>
                  </a:lnTo>
                  <a:lnTo>
                    <a:pt x="845908" y="592416"/>
                  </a:lnTo>
                  <a:lnTo>
                    <a:pt x="880643" y="514629"/>
                  </a:lnTo>
                  <a:close/>
                </a:path>
                <a:path w="884554" h="1958339">
                  <a:moveTo>
                    <a:pt x="884250" y="1872627"/>
                  </a:moveTo>
                  <a:lnTo>
                    <a:pt x="853833" y="1886267"/>
                  </a:lnTo>
                  <a:lnTo>
                    <a:pt x="849795" y="1888058"/>
                  </a:lnTo>
                  <a:lnTo>
                    <a:pt x="846162" y="1879841"/>
                  </a:lnTo>
                  <a:lnTo>
                    <a:pt x="833234" y="1895500"/>
                  </a:lnTo>
                  <a:lnTo>
                    <a:pt x="814717" y="1903793"/>
                  </a:lnTo>
                  <a:lnTo>
                    <a:pt x="821664" y="1909495"/>
                  </a:lnTo>
                  <a:lnTo>
                    <a:pt x="797636" y="1938591"/>
                  </a:lnTo>
                  <a:lnTo>
                    <a:pt x="880643" y="1957743"/>
                  </a:lnTo>
                  <a:lnTo>
                    <a:pt x="884250" y="1872627"/>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5" name="object 15"/>
            <p:cNvSpPr/>
            <p:nvPr/>
          </p:nvSpPr>
          <p:spPr>
            <a:xfrm>
              <a:off x="2659018"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6" name="object 16"/>
            <p:cNvSpPr/>
            <p:nvPr/>
          </p:nvSpPr>
          <p:spPr>
            <a:xfrm>
              <a:off x="2659018"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7" name="object 17"/>
            <p:cNvSpPr/>
            <p:nvPr/>
          </p:nvSpPr>
          <p:spPr>
            <a:xfrm>
              <a:off x="3378568" y="3211436"/>
              <a:ext cx="884555" cy="1955800"/>
            </a:xfrm>
            <a:custGeom>
              <a:avLst/>
              <a:gdLst/>
              <a:ahLst/>
              <a:cxnLst/>
              <a:rect l="l" t="t" r="r" b="b"/>
              <a:pathLst>
                <a:path w="884554" h="1955800">
                  <a:moveTo>
                    <a:pt x="39700" y="1936127"/>
                  </a:moveTo>
                  <a:lnTo>
                    <a:pt x="34912" y="1927885"/>
                  </a:lnTo>
                  <a:lnTo>
                    <a:pt x="14732" y="1939594"/>
                  </a:lnTo>
                  <a:lnTo>
                    <a:pt x="24295" y="1918309"/>
                  </a:lnTo>
                  <a:lnTo>
                    <a:pt x="15608" y="1914410"/>
                  </a:lnTo>
                  <a:lnTo>
                    <a:pt x="0" y="1949170"/>
                  </a:lnTo>
                  <a:lnTo>
                    <a:pt x="4343" y="1951126"/>
                  </a:lnTo>
                  <a:lnTo>
                    <a:pt x="6731" y="1955241"/>
                  </a:lnTo>
                  <a:lnTo>
                    <a:pt x="39700" y="1936127"/>
                  </a:lnTo>
                  <a:close/>
                </a:path>
                <a:path w="884554" h="1955800">
                  <a:moveTo>
                    <a:pt x="51612" y="1857489"/>
                  </a:moveTo>
                  <a:lnTo>
                    <a:pt x="42926" y="1853590"/>
                  </a:lnTo>
                  <a:lnTo>
                    <a:pt x="27317" y="1888350"/>
                  </a:lnTo>
                  <a:lnTo>
                    <a:pt x="36004" y="1892249"/>
                  </a:lnTo>
                  <a:lnTo>
                    <a:pt x="51612" y="1857489"/>
                  </a:lnTo>
                  <a:close/>
                </a:path>
                <a:path w="884554" h="1955800">
                  <a:moveTo>
                    <a:pt x="78930" y="1796669"/>
                  </a:moveTo>
                  <a:lnTo>
                    <a:pt x="70243" y="1792770"/>
                  </a:lnTo>
                  <a:lnTo>
                    <a:pt x="54635" y="1827530"/>
                  </a:lnTo>
                  <a:lnTo>
                    <a:pt x="63322" y="1831428"/>
                  </a:lnTo>
                  <a:lnTo>
                    <a:pt x="78930" y="1796669"/>
                  </a:lnTo>
                  <a:close/>
                </a:path>
                <a:path w="884554" h="1955800">
                  <a:moveTo>
                    <a:pt x="97383" y="1902688"/>
                  </a:moveTo>
                  <a:lnTo>
                    <a:pt x="92595" y="1894446"/>
                  </a:lnTo>
                  <a:lnTo>
                    <a:pt x="59639" y="1913559"/>
                  </a:lnTo>
                  <a:lnTo>
                    <a:pt x="64414" y="1921802"/>
                  </a:lnTo>
                  <a:lnTo>
                    <a:pt x="97383" y="1902688"/>
                  </a:lnTo>
                  <a:close/>
                </a:path>
                <a:path w="884554" h="1955800">
                  <a:moveTo>
                    <a:pt x="106248" y="1735848"/>
                  </a:moveTo>
                  <a:lnTo>
                    <a:pt x="97561" y="1731949"/>
                  </a:lnTo>
                  <a:lnTo>
                    <a:pt x="81953" y="1766697"/>
                  </a:lnTo>
                  <a:lnTo>
                    <a:pt x="90639" y="1770608"/>
                  </a:lnTo>
                  <a:lnTo>
                    <a:pt x="106248" y="1735848"/>
                  </a:lnTo>
                  <a:close/>
                </a:path>
                <a:path w="884554" h="1955800">
                  <a:moveTo>
                    <a:pt x="133565" y="1675028"/>
                  </a:moveTo>
                  <a:lnTo>
                    <a:pt x="124879" y="1671129"/>
                  </a:lnTo>
                  <a:lnTo>
                    <a:pt x="109270" y="1705876"/>
                  </a:lnTo>
                  <a:lnTo>
                    <a:pt x="117957" y="1709775"/>
                  </a:lnTo>
                  <a:lnTo>
                    <a:pt x="133565" y="1675028"/>
                  </a:lnTo>
                  <a:close/>
                </a:path>
                <a:path w="884554" h="1955800">
                  <a:moveTo>
                    <a:pt x="155067" y="1869249"/>
                  </a:moveTo>
                  <a:lnTo>
                    <a:pt x="150279" y="1861007"/>
                  </a:lnTo>
                  <a:lnTo>
                    <a:pt x="117322" y="1880120"/>
                  </a:lnTo>
                  <a:lnTo>
                    <a:pt x="122097" y="1888363"/>
                  </a:lnTo>
                  <a:lnTo>
                    <a:pt x="155067" y="1869249"/>
                  </a:lnTo>
                  <a:close/>
                </a:path>
                <a:path w="884554" h="1955800">
                  <a:moveTo>
                    <a:pt x="160883" y="1614208"/>
                  </a:moveTo>
                  <a:lnTo>
                    <a:pt x="152196" y="1610296"/>
                  </a:lnTo>
                  <a:lnTo>
                    <a:pt x="136588" y="1645056"/>
                  </a:lnTo>
                  <a:lnTo>
                    <a:pt x="145275" y="1648955"/>
                  </a:lnTo>
                  <a:lnTo>
                    <a:pt x="160883" y="1614208"/>
                  </a:lnTo>
                  <a:close/>
                </a:path>
                <a:path w="884554" h="1955800">
                  <a:moveTo>
                    <a:pt x="188201" y="1553387"/>
                  </a:moveTo>
                  <a:lnTo>
                    <a:pt x="179514" y="1549476"/>
                  </a:lnTo>
                  <a:lnTo>
                    <a:pt x="163906" y="1584236"/>
                  </a:lnTo>
                  <a:lnTo>
                    <a:pt x="172593" y="1588135"/>
                  </a:lnTo>
                  <a:lnTo>
                    <a:pt x="188201" y="1553387"/>
                  </a:lnTo>
                  <a:close/>
                </a:path>
                <a:path w="884554" h="1955800">
                  <a:moveTo>
                    <a:pt x="212750" y="1835810"/>
                  </a:moveTo>
                  <a:lnTo>
                    <a:pt x="207962" y="1827568"/>
                  </a:lnTo>
                  <a:lnTo>
                    <a:pt x="175006" y="1846681"/>
                  </a:lnTo>
                  <a:lnTo>
                    <a:pt x="179781" y="1854923"/>
                  </a:lnTo>
                  <a:lnTo>
                    <a:pt x="212750" y="1835810"/>
                  </a:lnTo>
                  <a:close/>
                </a:path>
                <a:path w="884554" h="1955800">
                  <a:moveTo>
                    <a:pt x="215519" y="1492554"/>
                  </a:moveTo>
                  <a:lnTo>
                    <a:pt x="206832" y="1488655"/>
                  </a:lnTo>
                  <a:lnTo>
                    <a:pt x="191223" y="1523415"/>
                  </a:lnTo>
                  <a:lnTo>
                    <a:pt x="199910" y="1527314"/>
                  </a:lnTo>
                  <a:lnTo>
                    <a:pt x="215519" y="1492554"/>
                  </a:lnTo>
                  <a:close/>
                </a:path>
                <a:path w="884554" h="1955800">
                  <a:moveTo>
                    <a:pt x="242836" y="1431734"/>
                  </a:moveTo>
                  <a:lnTo>
                    <a:pt x="234149" y="1427835"/>
                  </a:lnTo>
                  <a:lnTo>
                    <a:pt x="218528" y="1462595"/>
                  </a:lnTo>
                  <a:lnTo>
                    <a:pt x="227228" y="1466494"/>
                  </a:lnTo>
                  <a:lnTo>
                    <a:pt x="242836" y="1431734"/>
                  </a:lnTo>
                  <a:close/>
                </a:path>
                <a:path w="884554" h="1955800">
                  <a:moveTo>
                    <a:pt x="270154" y="1370914"/>
                  </a:moveTo>
                  <a:lnTo>
                    <a:pt x="261454" y="1367015"/>
                  </a:lnTo>
                  <a:lnTo>
                    <a:pt x="245846" y="1401762"/>
                  </a:lnTo>
                  <a:lnTo>
                    <a:pt x="254546" y="1405674"/>
                  </a:lnTo>
                  <a:lnTo>
                    <a:pt x="270154" y="1370914"/>
                  </a:lnTo>
                  <a:close/>
                </a:path>
                <a:path w="884554" h="1955800">
                  <a:moveTo>
                    <a:pt x="270421" y="1802371"/>
                  </a:moveTo>
                  <a:lnTo>
                    <a:pt x="265645" y="1794129"/>
                  </a:lnTo>
                  <a:lnTo>
                    <a:pt x="232689" y="1813242"/>
                  </a:lnTo>
                  <a:lnTo>
                    <a:pt x="237464" y="1821484"/>
                  </a:lnTo>
                  <a:lnTo>
                    <a:pt x="270421" y="1802371"/>
                  </a:lnTo>
                  <a:close/>
                </a:path>
                <a:path w="884554" h="1955800">
                  <a:moveTo>
                    <a:pt x="297472" y="1310093"/>
                  </a:moveTo>
                  <a:lnTo>
                    <a:pt x="288772" y="1306195"/>
                  </a:lnTo>
                  <a:lnTo>
                    <a:pt x="273164" y="1340942"/>
                  </a:lnTo>
                  <a:lnTo>
                    <a:pt x="281851" y="1344853"/>
                  </a:lnTo>
                  <a:lnTo>
                    <a:pt x="297472" y="1310093"/>
                  </a:lnTo>
                  <a:close/>
                </a:path>
                <a:path w="884554" h="1955800">
                  <a:moveTo>
                    <a:pt x="324789" y="1249273"/>
                  </a:moveTo>
                  <a:lnTo>
                    <a:pt x="316090" y="1245362"/>
                  </a:lnTo>
                  <a:lnTo>
                    <a:pt x="300482" y="1280121"/>
                  </a:lnTo>
                  <a:lnTo>
                    <a:pt x="309168" y="1284020"/>
                  </a:lnTo>
                  <a:lnTo>
                    <a:pt x="324789" y="1249273"/>
                  </a:lnTo>
                  <a:close/>
                </a:path>
                <a:path w="884554" h="1955800">
                  <a:moveTo>
                    <a:pt x="328104" y="1768932"/>
                  </a:moveTo>
                  <a:lnTo>
                    <a:pt x="323329" y="1760689"/>
                  </a:lnTo>
                  <a:lnTo>
                    <a:pt x="290372" y="1779803"/>
                  </a:lnTo>
                  <a:lnTo>
                    <a:pt x="295148" y="1788045"/>
                  </a:lnTo>
                  <a:lnTo>
                    <a:pt x="328104" y="1768932"/>
                  </a:lnTo>
                  <a:close/>
                </a:path>
                <a:path w="884554" h="1955800">
                  <a:moveTo>
                    <a:pt x="352094" y="1188453"/>
                  </a:moveTo>
                  <a:lnTo>
                    <a:pt x="343408" y="1184541"/>
                  </a:lnTo>
                  <a:lnTo>
                    <a:pt x="327799" y="1219301"/>
                  </a:lnTo>
                  <a:lnTo>
                    <a:pt x="336486" y="1223200"/>
                  </a:lnTo>
                  <a:lnTo>
                    <a:pt x="352094" y="1188453"/>
                  </a:lnTo>
                  <a:close/>
                </a:path>
                <a:path w="884554" h="1955800">
                  <a:moveTo>
                    <a:pt x="379412" y="1127620"/>
                  </a:moveTo>
                  <a:lnTo>
                    <a:pt x="370725" y="1123721"/>
                  </a:lnTo>
                  <a:lnTo>
                    <a:pt x="355117" y="1158481"/>
                  </a:lnTo>
                  <a:lnTo>
                    <a:pt x="363804" y="1162380"/>
                  </a:lnTo>
                  <a:lnTo>
                    <a:pt x="379412" y="1127620"/>
                  </a:lnTo>
                  <a:close/>
                </a:path>
                <a:path w="884554" h="1955800">
                  <a:moveTo>
                    <a:pt x="385787" y="1735493"/>
                  </a:moveTo>
                  <a:lnTo>
                    <a:pt x="381012" y="1727250"/>
                  </a:lnTo>
                  <a:lnTo>
                    <a:pt x="348056" y="1746364"/>
                  </a:lnTo>
                  <a:lnTo>
                    <a:pt x="352831" y="1754606"/>
                  </a:lnTo>
                  <a:lnTo>
                    <a:pt x="385787" y="1735493"/>
                  </a:lnTo>
                  <a:close/>
                </a:path>
                <a:path w="884554" h="1955800">
                  <a:moveTo>
                    <a:pt x="406730" y="1066800"/>
                  </a:moveTo>
                  <a:lnTo>
                    <a:pt x="398043" y="1062901"/>
                  </a:lnTo>
                  <a:lnTo>
                    <a:pt x="382435" y="1097661"/>
                  </a:lnTo>
                  <a:lnTo>
                    <a:pt x="391121" y="1101559"/>
                  </a:lnTo>
                  <a:lnTo>
                    <a:pt x="406730" y="1066800"/>
                  </a:lnTo>
                  <a:close/>
                </a:path>
                <a:path w="884554" h="1955800">
                  <a:moveTo>
                    <a:pt x="434047" y="1005979"/>
                  </a:moveTo>
                  <a:lnTo>
                    <a:pt x="425361" y="1002080"/>
                  </a:lnTo>
                  <a:lnTo>
                    <a:pt x="409752" y="1036840"/>
                  </a:lnTo>
                  <a:lnTo>
                    <a:pt x="418439" y="1040739"/>
                  </a:lnTo>
                  <a:lnTo>
                    <a:pt x="434047" y="1005979"/>
                  </a:lnTo>
                  <a:close/>
                </a:path>
                <a:path w="884554" h="1955800">
                  <a:moveTo>
                    <a:pt x="443471" y="1702054"/>
                  </a:moveTo>
                  <a:lnTo>
                    <a:pt x="438696" y="1693811"/>
                  </a:lnTo>
                  <a:lnTo>
                    <a:pt x="405739" y="1712925"/>
                  </a:lnTo>
                  <a:lnTo>
                    <a:pt x="410514" y="1721167"/>
                  </a:lnTo>
                  <a:lnTo>
                    <a:pt x="443471" y="1702054"/>
                  </a:lnTo>
                  <a:close/>
                </a:path>
                <a:path w="884554" h="1955800">
                  <a:moveTo>
                    <a:pt x="461365" y="945159"/>
                  </a:moveTo>
                  <a:lnTo>
                    <a:pt x="452678" y="941260"/>
                  </a:lnTo>
                  <a:lnTo>
                    <a:pt x="437070" y="976007"/>
                  </a:lnTo>
                  <a:lnTo>
                    <a:pt x="445757" y="979919"/>
                  </a:lnTo>
                  <a:lnTo>
                    <a:pt x="461365" y="945159"/>
                  </a:lnTo>
                  <a:close/>
                </a:path>
                <a:path w="884554" h="1955800">
                  <a:moveTo>
                    <a:pt x="488683" y="884339"/>
                  </a:moveTo>
                  <a:lnTo>
                    <a:pt x="479996" y="880440"/>
                  </a:lnTo>
                  <a:lnTo>
                    <a:pt x="464388" y="915187"/>
                  </a:lnTo>
                  <a:lnTo>
                    <a:pt x="473075" y="919086"/>
                  </a:lnTo>
                  <a:lnTo>
                    <a:pt x="488683" y="884339"/>
                  </a:lnTo>
                  <a:close/>
                </a:path>
                <a:path w="884554" h="1955800">
                  <a:moveTo>
                    <a:pt x="501154" y="1668614"/>
                  </a:moveTo>
                  <a:lnTo>
                    <a:pt x="496379" y="1660372"/>
                  </a:lnTo>
                  <a:lnTo>
                    <a:pt x="463423" y="1679486"/>
                  </a:lnTo>
                  <a:lnTo>
                    <a:pt x="468198" y="1687728"/>
                  </a:lnTo>
                  <a:lnTo>
                    <a:pt x="501154" y="1668614"/>
                  </a:lnTo>
                  <a:close/>
                </a:path>
                <a:path w="884554" h="1955800">
                  <a:moveTo>
                    <a:pt x="516001" y="823518"/>
                  </a:moveTo>
                  <a:lnTo>
                    <a:pt x="507314" y="819607"/>
                  </a:lnTo>
                  <a:lnTo>
                    <a:pt x="491705" y="854367"/>
                  </a:lnTo>
                  <a:lnTo>
                    <a:pt x="500392" y="858266"/>
                  </a:lnTo>
                  <a:lnTo>
                    <a:pt x="516001" y="823518"/>
                  </a:lnTo>
                  <a:close/>
                </a:path>
                <a:path w="884554" h="1955800">
                  <a:moveTo>
                    <a:pt x="543318" y="762698"/>
                  </a:moveTo>
                  <a:lnTo>
                    <a:pt x="534631" y="758786"/>
                  </a:lnTo>
                  <a:lnTo>
                    <a:pt x="519023" y="793546"/>
                  </a:lnTo>
                  <a:lnTo>
                    <a:pt x="527710" y="797445"/>
                  </a:lnTo>
                  <a:lnTo>
                    <a:pt x="543318" y="762698"/>
                  </a:lnTo>
                  <a:close/>
                </a:path>
                <a:path w="884554" h="1955800">
                  <a:moveTo>
                    <a:pt x="558838" y="1635175"/>
                  </a:moveTo>
                  <a:lnTo>
                    <a:pt x="554062" y="1626933"/>
                  </a:lnTo>
                  <a:lnTo>
                    <a:pt x="521106" y="1646047"/>
                  </a:lnTo>
                  <a:lnTo>
                    <a:pt x="525881" y="1654289"/>
                  </a:lnTo>
                  <a:lnTo>
                    <a:pt x="558838" y="1635175"/>
                  </a:lnTo>
                  <a:close/>
                </a:path>
                <a:path w="884554" h="1955800">
                  <a:moveTo>
                    <a:pt x="570636" y="701865"/>
                  </a:moveTo>
                  <a:lnTo>
                    <a:pt x="561949" y="697966"/>
                  </a:lnTo>
                  <a:lnTo>
                    <a:pt x="546341" y="732726"/>
                  </a:lnTo>
                  <a:lnTo>
                    <a:pt x="555028" y="736625"/>
                  </a:lnTo>
                  <a:lnTo>
                    <a:pt x="570636" y="701865"/>
                  </a:lnTo>
                  <a:close/>
                </a:path>
                <a:path w="884554" h="1955800">
                  <a:moveTo>
                    <a:pt x="597954" y="641045"/>
                  </a:moveTo>
                  <a:lnTo>
                    <a:pt x="589267" y="637146"/>
                  </a:lnTo>
                  <a:lnTo>
                    <a:pt x="573659" y="671906"/>
                  </a:lnTo>
                  <a:lnTo>
                    <a:pt x="582345" y="675805"/>
                  </a:lnTo>
                  <a:lnTo>
                    <a:pt x="597954" y="641045"/>
                  </a:lnTo>
                  <a:close/>
                </a:path>
                <a:path w="884554" h="1955800">
                  <a:moveTo>
                    <a:pt x="616521" y="1601736"/>
                  </a:moveTo>
                  <a:lnTo>
                    <a:pt x="611746" y="1593494"/>
                  </a:lnTo>
                  <a:lnTo>
                    <a:pt x="578789" y="1612607"/>
                  </a:lnTo>
                  <a:lnTo>
                    <a:pt x="583565" y="1620850"/>
                  </a:lnTo>
                  <a:lnTo>
                    <a:pt x="616521" y="1601736"/>
                  </a:lnTo>
                  <a:close/>
                </a:path>
                <a:path w="884554" h="1955800">
                  <a:moveTo>
                    <a:pt x="625271" y="580224"/>
                  </a:moveTo>
                  <a:lnTo>
                    <a:pt x="616585" y="576326"/>
                  </a:lnTo>
                  <a:lnTo>
                    <a:pt x="600976" y="611073"/>
                  </a:lnTo>
                  <a:lnTo>
                    <a:pt x="609663" y="614984"/>
                  </a:lnTo>
                  <a:lnTo>
                    <a:pt x="625271" y="580224"/>
                  </a:lnTo>
                  <a:close/>
                </a:path>
                <a:path w="884554" h="1955800">
                  <a:moveTo>
                    <a:pt x="652589" y="519404"/>
                  </a:moveTo>
                  <a:lnTo>
                    <a:pt x="643902" y="515505"/>
                  </a:lnTo>
                  <a:lnTo>
                    <a:pt x="628281" y="550252"/>
                  </a:lnTo>
                  <a:lnTo>
                    <a:pt x="636981" y="554164"/>
                  </a:lnTo>
                  <a:lnTo>
                    <a:pt x="652589" y="519404"/>
                  </a:lnTo>
                  <a:close/>
                </a:path>
                <a:path w="884554" h="1955800">
                  <a:moveTo>
                    <a:pt x="674204" y="1568297"/>
                  </a:moveTo>
                  <a:lnTo>
                    <a:pt x="669429" y="1560055"/>
                  </a:lnTo>
                  <a:lnTo>
                    <a:pt x="636473" y="1579168"/>
                  </a:lnTo>
                  <a:lnTo>
                    <a:pt x="641248" y="1587398"/>
                  </a:lnTo>
                  <a:lnTo>
                    <a:pt x="674204" y="1568297"/>
                  </a:lnTo>
                  <a:close/>
                </a:path>
                <a:path w="884554" h="1955800">
                  <a:moveTo>
                    <a:pt x="679907" y="458584"/>
                  </a:moveTo>
                  <a:lnTo>
                    <a:pt x="671220" y="454685"/>
                  </a:lnTo>
                  <a:lnTo>
                    <a:pt x="655599" y="489432"/>
                  </a:lnTo>
                  <a:lnTo>
                    <a:pt x="664298" y="493331"/>
                  </a:lnTo>
                  <a:lnTo>
                    <a:pt x="679907" y="458584"/>
                  </a:lnTo>
                  <a:close/>
                </a:path>
                <a:path w="884554" h="1955800">
                  <a:moveTo>
                    <a:pt x="707224" y="397764"/>
                  </a:moveTo>
                  <a:lnTo>
                    <a:pt x="698525" y="393852"/>
                  </a:lnTo>
                  <a:lnTo>
                    <a:pt x="682917" y="428612"/>
                  </a:lnTo>
                  <a:lnTo>
                    <a:pt x="691616" y="432511"/>
                  </a:lnTo>
                  <a:lnTo>
                    <a:pt x="707224" y="397764"/>
                  </a:lnTo>
                  <a:close/>
                </a:path>
                <a:path w="884554" h="1955800">
                  <a:moveTo>
                    <a:pt x="731888" y="1534858"/>
                  </a:moveTo>
                  <a:lnTo>
                    <a:pt x="727113" y="1526616"/>
                  </a:lnTo>
                  <a:lnTo>
                    <a:pt x="694156" y="1545729"/>
                  </a:lnTo>
                  <a:lnTo>
                    <a:pt x="698931" y="1553959"/>
                  </a:lnTo>
                  <a:lnTo>
                    <a:pt x="731888" y="1534858"/>
                  </a:lnTo>
                  <a:close/>
                </a:path>
                <a:path w="884554" h="1955800">
                  <a:moveTo>
                    <a:pt x="734542" y="336931"/>
                  </a:moveTo>
                  <a:lnTo>
                    <a:pt x="725843" y="333032"/>
                  </a:lnTo>
                  <a:lnTo>
                    <a:pt x="710234" y="367792"/>
                  </a:lnTo>
                  <a:lnTo>
                    <a:pt x="718921" y="371690"/>
                  </a:lnTo>
                  <a:lnTo>
                    <a:pt x="734542" y="336931"/>
                  </a:lnTo>
                  <a:close/>
                </a:path>
                <a:path w="884554" h="1955800">
                  <a:moveTo>
                    <a:pt x="761860" y="276110"/>
                  </a:moveTo>
                  <a:lnTo>
                    <a:pt x="753160" y="272211"/>
                  </a:lnTo>
                  <a:lnTo>
                    <a:pt x="737552" y="306971"/>
                  </a:lnTo>
                  <a:lnTo>
                    <a:pt x="746239" y="310870"/>
                  </a:lnTo>
                  <a:lnTo>
                    <a:pt x="761860" y="276110"/>
                  </a:lnTo>
                  <a:close/>
                </a:path>
                <a:path w="884554" h="1955800">
                  <a:moveTo>
                    <a:pt x="789165" y="215290"/>
                  </a:moveTo>
                  <a:lnTo>
                    <a:pt x="780478" y="211391"/>
                  </a:lnTo>
                  <a:lnTo>
                    <a:pt x="764870" y="246151"/>
                  </a:lnTo>
                  <a:lnTo>
                    <a:pt x="773557" y="250050"/>
                  </a:lnTo>
                  <a:lnTo>
                    <a:pt x="789165" y="215290"/>
                  </a:lnTo>
                  <a:close/>
                </a:path>
                <a:path w="884554" h="1955800">
                  <a:moveTo>
                    <a:pt x="789571" y="1501419"/>
                  </a:moveTo>
                  <a:lnTo>
                    <a:pt x="784796" y="1493177"/>
                  </a:lnTo>
                  <a:lnTo>
                    <a:pt x="751840" y="1512290"/>
                  </a:lnTo>
                  <a:lnTo>
                    <a:pt x="756615" y="1520520"/>
                  </a:lnTo>
                  <a:lnTo>
                    <a:pt x="789571" y="1501419"/>
                  </a:lnTo>
                  <a:close/>
                </a:path>
                <a:path w="884554" h="1955800">
                  <a:moveTo>
                    <a:pt x="816483" y="154470"/>
                  </a:moveTo>
                  <a:lnTo>
                    <a:pt x="807796" y="150571"/>
                  </a:lnTo>
                  <a:lnTo>
                    <a:pt x="792187" y="185318"/>
                  </a:lnTo>
                  <a:lnTo>
                    <a:pt x="800874" y="189230"/>
                  </a:lnTo>
                  <a:lnTo>
                    <a:pt x="816483" y="154470"/>
                  </a:lnTo>
                  <a:close/>
                </a:path>
                <a:path w="884554" h="1955800">
                  <a:moveTo>
                    <a:pt x="843800" y="93649"/>
                  </a:moveTo>
                  <a:lnTo>
                    <a:pt x="835113" y="89750"/>
                  </a:lnTo>
                  <a:lnTo>
                    <a:pt x="819505" y="124498"/>
                  </a:lnTo>
                  <a:lnTo>
                    <a:pt x="828192" y="128409"/>
                  </a:lnTo>
                  <a:lnTo>
                    <a:pt x="843800" y="93649"/>
                  </a:lnTo>
                  <a:close/>
                </a:path>
                <a:path w="884554" h="1955800">
                  <a:moveTo>
                    <a:pt x="880643" y="1443113"/>
                  </a:moveTo>
                  <a:lnTo>
                    <a:pt x="795616" y="1448371"/>
                  </a:lnTo>
                  <a:lnTo>
                    <a:pt x="812330" y="1477213"/>
                  </a:lnTo>
                  <a:lnTo>
                    <a:pt x="809523" y="1478851"/>
                  </a:lnTo>
                  <a:lnTo>
                    <a:pt x="814298" y="1487081"/>
                  </a:lnTo>
                  <a:lnTo>
                    <a:pt x="817105" y="1485455"/>
                  </a:lnTo>
                  <a:lnTo>
                    <a:pt x="833831" y="1514297"/>
                  </a:lnTo>
                  <a:lnTo>
                    <a:pt x="852792" y="1485455"/>
                  </a:lnTo>
                  <a:lnTo>
                    <a:pt x="880643" y="1443113"/>
                  </a:lnTo>
                  <a:close/>
                </a:path>
                <a:path w="884554" h="1955800">
                  <a:moveTo>
                    <a:pt x="884174" y="85115"/>
                  </a:moveTo>
                  <a:lnTo>
                    <a:pt x="880643" y="0"/>
                  </a:lnTo>
                  <a:lnTo>
                    <a:pt x="814666" y="53898"/>
                  </a:lnTo>
                  <a:lnTo>
                    <a:pt x="884174" y="85115"/>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8" name="object 18"/>
            <p:cNvSpPr/>
            <p:nvPr/>
          </p:nvSpPr>
          <p:spPr>
            <a:xfrm>
              <a:off x="4983099" y="3171164"/>
              <a:ext cx="1024255" cy="1522095"/>
            </a:xfrm>
            <a:custGeom>
              <a:avLst/>
              <a:gdLst/>
              <a:ahLst/>
              <a:cxnLst/>
              <a:rect l="l" t="t" r="r" b="b"/>
              <a:pathLst>
                <a:path w="1024254" h="1522095">
                  <a:moveTo>
                    <a:pt x="38112" y="1478622"/>
                  </a:moveTo>
                  <a:lnTo>
                    <a:pt x="12" y="1478622"/>
                  </a:lnTo>
                  <a:lnTo>
                    <a:pt x="12" y="1488147"/>
                  </a:lnTo>
                  <a:lnTo>
                    <a:pt x="38112" y="1488147"/>
                  </a:lnTo>
                  <a:lnTo>
                    <a:pt x="38112" y="1478622"/>
                  </a:lnTo>
                  <a:close/>
                </a:path>
                <a:path w="1024254" h="1522095">
                  <a:moveTo>
                    <a:pt x="38125" y="44945"/>
                  </a:moveTo>
                  <a:lnTo>
                    <a:pt x="38100" y="35420"/>
                  </a:lnTo>
                  <a:lnTo>
                    <a:pt x="0" y="35509"/>
                  </a:lnTo>
                  <a:lnTo>
                    <a:pt x="25" y="45034"/>
                  </a:lnTo>
                  <a:lnTo>
                    <a:pt x="38125" y="44945"/>
                  </a:lnTo>
                  <a:close/>
                </a:path>
                <a:path w="1024254" h="1522095">
                  <a:moveTo>
                    <a:pt x="104787" y="1478622"/>
                  </a:moveTo>
                  <a:lnTo>
                    <a:pt x="66687" y="1478622"/>
                  </a:lnTo>
                  <a:lnTo>
                    <a:pt x="66687" y="1488147"/>
                  </a:lnTo>
                  <a:lnTo>
                    <a:pt x="104787" y="1488147"/>
                  </a:lnTo>
                  <a:lnTo>
                    <a:pt x="104787" y="1478622"/>
                  </a:lnTo>
                  <a:close/>
                </a:path>
                <a:path w="1024254" h="1522095">
                  <a:moveTo>
                    <a:pt x="104800" y="44792"/>
                  </a:moveTo>
                  <a:lnTo>
                    <a:pt x="104775" y="35267"/>
                  </a:lnTo>
                  <a:lnTo>
                    <a:pt x="66675" y="35356"/>
                  </a:lnTo>
                  <a:lnTo>
                    <a:pt x="66700" y="44881"/>
                  </a:lnTo>
                  <a:lnTo>
                    <a:pt x="104800" y="44792"/>
                  </a:lnTo>
                  <a:close/>
                </a:path>
                <a:path w="1024254" h="1522095">
                  <a:moveTo>
                    <a:pt x="171462" y="1478622"/>
                  </a:moveTo>
                  <a:lnTo>
                    <a:pt x="133362" y="1478622"/>
                  </a:lnTo>
                  <a:lnTo>
                    <a:pt x="133362" y="1488147"/>
                  </a:lnTo>
                  <a:lnTo>
                    <a:pt x="171462" y="1488147"/>
                  </a:lnTo>
                  <a:lnTo>
                    <a:pt x="171462" y="1478622"/>
                  </a:lnTo>
                  <a:close/>
                </a:path>
                <a:path w="1024254" h="1522095">
                  <a:moveTo>
                    <a:pt x="171475" y="44640"/>
                  </a:moveTo>
                  <a:lnTo>
                    <a:pt x="171450" y="35115"/>
                  </a:lnTo>
                  <a:lnTo>
                    <a:pt x="133350" y="35204"/>
                  </a:lnTo>
                  <a:lnTo>
                    <a:pt x="133375" y="44729"/>
                  </a:lnTo>
                  <a:lnTo>
                    <a:pt x="171475" y="44640"/>
                  </a:lnTo>
                  <a:close/>
                </a:path>
                <a:path w="1024254" h="1522095">
                  <a:moveTo>
                    <a:pt x="238137" y="1478622"/>
                  </a:moveTo>
                  <a:lnTo>
                    <a:pt x="200037" y="1478622"/>
                  </a:lnTo>
                  <a:lnTo>
                    <a:pt x="200037" y="1488147"/>
                  </a:lnTo>
                  <a:lnTo>
                    <a:pt x="238137" y="1488147"/>
                  </a:lnTo>
                  <a:lnTo>
                    <a:pt x="238137" y="1478622"/>
                  </a:lnTo>
                  <a:close/>
                </a:path>
                <a:path w="1024254" h="1522095">
                  <a:moveTo>
                    <a:pt x="238150" y="44488"/>
                  </a:moveTo>
                  <a:lnTo>
                    <a:pt x="238125" y="34963"/>
                  </a:lnTo>
                  <a:lnTo>
                    <a:pt x="200025" y="35052"/>
                  </a:lnTo>
                  <a:lnTo>
                    <a:pt x="200050" y="44577"/>
                  </a:lnTo>
                  <a:lnTo>
                    <a:pt x="238150" y="44488"/>
                  </a:lnTo>
                  <a:close/>
                </a:path>
                <a:path w="1024254" h="1522095">
                  <a:moveTo>
                    <a:pt x="304812" y="1478622"/>
                  </a:moveTo>
                  <a:lnTo>
                    <a:pt x="266712" y="1478622"/>
                  </a:lnTo>
                  <a:lnTo>
                    <a:pt x="266712" y="1488147"/>
                  </a:lnTo>
                  <a:lnTo>
                    <a:pt x="304812" y="1488147"/>
                  </a:lnTo>
                  <a:lnTo>
                    <a:pt x="304812" y="1478622"/>
                  </a:lnTo>
                  <a:close/>
                </a:path>
                <a:path w="1024254" h="1522095">
                  <a:moveTo>
                    <a:pt x="304825" y="44335"/>
                  </a:moveTo>
                  <a:lnTo>
                    <a:pt x="304800" y="34810"/>
                  </a:lnTo>
                  <a:lnTo>
                    <a:pt x="266700" y="34899"/>
                  </a:lnTo>
                  <a:lnTo>
                    <a:pt x="266725" y="44424"/>
                  </a:lnTo>
                  <a:lnTo>
                    <a:pt x="304825" y="44335"/>
                  </a:lnTo>
                  <a:close/>
                </a:path>
                <a:path w="1024254" h="1522095">
                  <a:moveTo>
                    <a:pt x="371487" y="1478622"/>
                  </a:moveTo>
                  <a:lnTo>
                    <a:pt x="333387" y="1478622"/>
                  </a:lnTo>
                  <a:lnTo>
                    <a:pt x="333387" y="1488147"/>
                  </a:lnTo>
                  <a:lnTo>
                    <a:pt x="371487" y="1488147"/>
                  </a:lnTo>
                  <a:lnTo>
                    <a:pt x="371487" y="1478622"/>
                  </a:lnTo>
                  <a:close/>
                </a:path>
                <a:path w="1024254" h="1522095">
                  <a:moveTo>
                    <a:pt x="371500" y="44183"/>
                  </a:moveTo>
                  <a:lnTo>
                    <a:pt x="371475" y="34658"/>
                  </a:lnTo>
                  <a:lnTo>
                    <a:pt x="333375" y="34747"/>
                  </a:lnTo>
                  <a:lnTo>
                    <a:pt x="333400" y="44272"/>
                  </a:lnTo>
                  <a:lnTo>
                    <a:pt x="371500" y="44183"/>
                  </a:lnTo>
                  <a:close/>
                </a:path>
                <a:path w="1024254" h="1522095">
                  <a:moveTo>
                    <a:pt x="438162" y="1478622"/>
                  </a:moveTo>
                  <a:lnTo>
                    <a:pt x="400062" y="1478622"/>
                  </a:lnTo>
                  <a:lnTo>
                    <a:pt x="400062" y="1488147"/>
                  </a:lnTo>
                  <a:lnTo>
                    <a:pt x="438162" y="1488147"/>
                  </a:lnTo>
                  <a:lnTo>
                    <a:pt x="438162" y="1478622"/>
                  </a:lnTo>
                  <a:close/>
                </a:path>
                <a:path w="1024254" h="1522095">
                  <a:moveTo>
                    <a:pt x="438175" y="44030"/>
                  </a:moveTo>
                  <a:lnTo>
                    <a:pt x="438150" y="34505"/>
                  </a:lnTo>
                  <a:lnTo>
                    <a:pt x="400050" y="34594"/>
                  </a:lnTo>
                  <a:lnTo>
                    <a:pt x="400075" y="44119"/>
                  </a:lnTo>
                  <a:lnTo>
                    <a:pt x="438175" y="44030"/>
                  </a:lnTo>
                  <a:close/>
                </a:path>
                <a:path w="1024254" h="1522095">
                  <a:moveTo>
                    <a:pt x="504837" y="1478622"/>
                  </a:moveTo>
                  <a:lnTo>
                    <a:pt x="466737" y="1478622"/>
                  </a:lnTo>
                  <a:lnTo>
                    <a:pt x="466737" y="1488147"/>
                  </a:lnTo>
                  <a:lnTo>
                    <a:pt x="504837" y="1488147"/>
                  </a:lnTo>
                  <a:lnTo>
                    <a:pt x="504837" y="1478622"/>
                  </a:lnTo>
                  <a:close/>
                </a:path>
                <a:path w="1024254" h="1522095">
                  <a:moveTo>
                    <a:pt x="504850" y="43878"/>
                  </a:moveTo>
                  <a:lnTo>
                    <a:pt x="504825" y="34353"/>
                  </a:lnTo>
                  <a:lnTo>
                    <a:pt x="466725" y="34442"/>
                  </a:lnTo>
                  <a:lnTo>
                    <a:pt x="466750" y="43967"/>
                  </a:lnTo>
                  <a:lnTo>
                    <a:pt x="504850" y="43878"/>
                  </a:lnTo>
                  <a:close/>
                </a:path>
                <a:path w="1024254" h="1522095">
                  <a:moveTo>
                    <a:pt x="571512" y="1478622"/>
                  </a:moveTo>
                  <a:lnTo>
                    <a:pt x="533412" y="1478622"/>
                  </a:lnTo>
                  <a:lnTo>
                    <a:pt x="533412" y="1488147"/>
                  </a:lnTo>
                  <a:lnTo>
                    <a:pt x="571512" y="1488147"/>
                  </a:lnTo>
                  <a:lnTo>
                    <a:pt x="571512" y="1478622"/>
                  </a:lnTo>
                  <a:close/>
                </a:path>
                <a:path w="1024254" h="1522095">
                  <a:moveTo>
                    <a:pt x="571525" y="43726"/>
                  </a:moveTo>
                  <a:lnTo>
                    <a:pt x="571500" y="34201"/>
                  </a:lnTo>
                  <a:lnTo>
                    <a:pt x="533400" y="34290"/>
                  </a:lnTo>
                  <a:lnTo>
                    <a:pt x="533425" y="43815"/>
                  </a:lnTo>
                  <a:lnTo>
                    <a:pt x="571525" y="43726"/>
                  </a:lnTo>
                  <a:close/>
                </a:path>
                <a:path w="1024254" h="1522095">
                  <a:moveTo>
                    <a:pt x="638187" y="1478622"/>
                  </a:moveTo>
                  <a:lnTo>
                    <a:pt x="600087" y="1478622"/>
                  </a:lnTo>
                  <a:lnTo>
                    <a:pt x="600087" y="1488147"/>
                  </a:lnTo>
                  <a:lnTo>
                    <a:pt x="638187" y="1488147"/>
                  </a:lnTo>
                  <a:lnTo>
                    <a:pt x="638187" y="1478622"/>
                  </a:lnTo>
                  <a:close/>
                </a:path>
                <a:path w="1024254" h="1522095">
                  <a:moveTo>
                    <a:pt x="638200" y="43573"/>
                  </a:moveTo>
                  <a:lnTo>
                    <a:pt x="638175" y="34048"/>
                  </a:lnTo>
                  <a:lnTo>
                    <a:pt x="600075" y="34137"/>
                  </a:lnTo>
                  <a:lnTo>
                    <a:pt x="600100" y="43662"/>
                  </a:lnTo>
                  <a:lnTo>
                    <a:pt x="638200" y="43573"/>
                  </a:lnTo>
                  <a:close/>
                </a:path>
                <a:path w="1024254" h="1522095">
                  <a:moveTo>
                    <a:pt x="704862" y="1478635"/>
                  </a:moveTo>
                  <a:lnTo>
                    <a:pt x="666762" y="1478635"/>
                  </a:lnTo>
                  <a:lnTo>
                    <a:pt x="666762" y="1488160"/>
                  </a:lnTo>
                  <a:lnTo>
                    <a:pt x="704862" y="1488160"/>
                  </a:lnTo>
                  <a:lnTo>
                    <a:pt x="704862" y="1478635"/>
                  </a:lnTo>
                  <a:close/>
                </a:path>
                <a:path w="1024254" h="1522095">
                  <a:moveTo>
                    <a:pt x="704875" y="43421"/>
                  </a:moveTo>
                  <a:lnTo>
                    <a:pt x="704850" y="33896"/>
                  </a:lnTo>
                  <a:lnTo>
                    <a:pt x="666750" y="33985"/>
                  </a:lnTo>
                  <a:lnTo>
                    <a:pt x="666775" y="43510"/>
                  </a:lnTo>
                  <a:lnTo>
                    <a:pt x="704875" y="43421"/>
                  </a:lnTo>
                  <a:close/>
                </a:path>
                <a:path w="1024254" h="1522095">
                  <a:moveTo>
                    <a:pt x="771537" y="1478635"/>
                  </a:moveTo>
                  <a:lnTo>
                    <a:pt x="733437" y="1478635"/>
                  </a:lnTo>
                  <a:lnTo>
                    <a:pt x="733437" y="1488160"/>
                  </a:lnTo>
                  <a:lnTo>
                    <a:pt x="771537" y="1488160"/>
                  </a:lnTo>
                  <a:lnTo>
                    <a:pt x="771537" y="1478635"/>
                  </a:lnTo>
                  <a:close/>
                </a:path>
                <a:path w="1024254" h="1522095">
                  <a:moveTo>
                    <a:pt x="771550" y="43268"/>
                  </a:moveTo>
                  <a:lnTo>
                    <a:pt x="771525" y="33743"/>
                  </a:lnTo>
                  <a:lnTo>
                    <a:pt x="733425" y="33832"/>
                  </a:lnTo>
                  <a:lnTo>
                    <a:pt x="733450" y="43357"/>
                  </a:lnTo>
                  <a:lnTo>
                    <a:pt x="771550" y="43268"/>
                  </a:lnTo>
                  <a:close/>
                </a:path>
                <a:path w="1024254" h="1522095">
                  <a:moveTo>
                    <a:pt x="838212" y="1478635"/>
                  </a:moveTo>
                  <a:lnTo>
                    <a:pt x="800112" y="1478635"/>
                  </a:lnTo>
                  <a:lnTo>
                    <a:pt x="800112" y="1488160"/>
                  </a:lnTo>
                  <a:lnTo>
                    <a:pt x="838212" y="1488160"/>
                  </a:lnTo>
                  <a:lnTo>
                    <a:pt x="838212" y="1478635"/>
                  </a:lnTo>
                  <a:close/>
                </a:path>
                <a:path w="1024254" h="1522095">
                  <a:moveTo>
                    <a:pt x="838225" y="43116"/>
                  </a:moveTo>
                  <a:lnTo>
                    <a:pt x="838200" y="33591"/>
                  </a:lnTo>
                  <a:lnTo>
                    <a:pt x="800100" y="33680"/>
                  </a:lnTo>
                  <a:lnTo>
                    <a:pt x="800125" y="43205"/>
                  </a:lnTo>
                  <a:lnTo>
                    <a:pt x="838225" y="43116"/>
                  </a:lnTo>
                  <a:close/>
                </a:path>
                <a:path w="1024254" h="1522095">
                  <a:moveTo>
                    <a:pt x="904887" y="1478635"/>
                  </a:moveTo>
                  <a:lnTo>
                    <a:pt x="866787" y="1478635"/>
                  </a:lnTo>
                  <a:lnTo>
                    <a:pt x="866787" y="1488160"/>
                  </a:lnTo>
                  <a:lnTo>
                    <a:pt x="904887" y="1488160"/>
                  </a:lnTo>
                  <a:lnTo>
                    <a:pt x="904887" y="1478635"/>
                  </a:lnTo>
                  <a:close/>
                </a:path>
                <a:path w="1024254" h="1522095">
                  <a:moveTo>
                    <a:pt x="904900" y="42964"/>
                  </a:moveTo>
                  <a:lnTo>
                    <a:pt x="904875" y="33439"/>
                  </a:lnTo>
                  <a:lnTo>
                    <a:pt x="866775" y="33528"/>
                  </a:lnTo>
                  <a:lnTo>
                    <a:pt x="866800" y="43053"/>
                  </a:lnTo>
                  <a:lnTo>
                    <a:pt x="904900" y="42964"/>
                  </a:lnTo>
                  <a:close/>
                </a:path>
                <a:path w="1024254" h="1522095">
                  <a:moveTo>
                    <a:pt x="1024001" y="1483398"/>
                  </a:moveTo>
                  <a:lnTo>
                    <a:pt x="947801" y="1445298"/>
                  </a:lnTo>
                  <a:lnTo>
                    <a:pt x="947801" y="1478635"/>
                  </a:lnTo>
                  <a:lnTo>
                    <a:pt x="933462" y="1478635"/>
                  </a:lnTo>
                  <a:lnTo>
                    <a:pt x="933462" y="1488160"/>
                  </a:lnTo>
                  <a:lnTo>
                    <a:pt x="947801" y="1488160"/>
                  </a:lnTo>
                  <a:lnTo>
                    <a:pt x="947801" y="1521498"/>
                  </a:lnTo>
                  <a:lnTo>
                    <a:pt x="1024001" y="1483398"/>
                  </a:lnTo>
                  <a:close/>
                </a:path>
                <a:path w="1024254" h="1522095">
                  <a:moveTo>
                    <a:pt x="1024001" y="37934"/>
                  </a:moveTo>
                  <a:lnTo>
                    <a:pt x="947712" y="0"/>
                  </a:lnTo>
                  <a:lnTo>
                    <a:pt x="947788" y="33337"/>
                  </a:lnTo>
                  <a:lnTo>
                    <a:pt x="933450" y="33375"/>
                  </a:lnTo>
                  <a:lnTo>
                    <a:pt x="933475" y="42900"/>
                  </a:lnTo>
                  <a:lnTo>
                    <a:pt x="947801" y="42900"/>
                  </a:lnTo>
                  <a:lnTo>
                    <a:pt x="947877" y="76200"/>
                  </a:lnTo>
                  <a:lnTo>
                    <a:pt x="1014183" y="42862"/>
                  </a:lnTo>
                  <a:lnTo>
                    <a:pt x="1024001" y="37934"/>
                  </a:lnTo>
                  <a:close/>
                </a:path>
              </a:pathLst>
            </a:custGeom>
            <a:solidFill>
              <a:srgbClr val="000000"/>
            </a:solidFill>
          </p:spPr>
          <p:txBody>
            <a:bodyPr wrap="square" lIns="0" tIns="0" rIns="0" bIns="0" rtlCol="0"/>
            <a:lstStyle/>
            <a:p>
              <a:endParaRPr>
                <a:solidFill>
                  <a:prstClr val="black"/>
                </a:solidFill>
                <a:latin typeface="Calibri"/>
              </a:endParaRPr>
            </a:p>
          </p:txBody>
        </p:sp>
      </p:grpSp>
      <p:sp>
        <p:nvSpPr>
          <p:cNvPr id="19" name="object 19"/>
          <p:cNvSpPr txBox="1"/>
          <p:nvPr/>
        </p:nvSpPr>
        <p:spPr>
          <a:xfrm>
            <a:off x="2675024" y="4856408"/>
            <a:ext cx="76835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Input</a:t>
            </a:r>
            <a:r>
              <a:rPr b="1" spc="-80" dirty="0">
                <a:solidFill>
                  <a:prstClr val="black"/>
                </a:solidFill>
                <a:latin typeface="Arial"/>
                <a:cs typeface="Arial"/>
              </a:rPr>
              <a:t> </a:t>
            </a:r>
            <a:r>
              <a:rPr dirty="0">
                <a:solidFill>
                  <a:prstClr val="black"/>
                </a:solidFill>
                <a:latin typeface="Cambria Math"/>
                <a:cs typeface="Cambria Math"/>
              </a:rPr>
              <a:t>𝐱</a:t>
            </a:r>
            <a:endParaRPr>
              <a:solidFill>
                <a:prstClr val="black"/>
              </a:solidFill>
              <a:latin typeface="Cambria Math"/>
              <a:cs typeface="Cambria Math"/>
            </a:endParaRPr>
          </a:p>
        </p:txBody>
      </p:sp>
      <p:pic>
        <p:nvPicPr>
          <p:cNvPr id="20" name="object 20"/>
          <p:cNvPicPr/>
          <p:nvPr/>
        </p:nvPicPr>
        <p:blipFill>
          <a:blip r:embed="rId3" cstate="print"/>
          <a:stretch>
            <a:fillRect/>
          </a:stretch>
        </p:blipFill>
        <p:spPr>
          <a:xfrm>
            <a:off x="2414632" y="3275764"/>
            <a:ext cx="1330234" cy="1309770"/>
          </a:xfrm>
          <a:prstGeom prst="rect">
            <a:avLst/>
          </a:prstGeom>
        </p:spPr>
      </p:pic>
      <p:sp>
        <p:nvSpPr>
          <p:cNvPr id="21" name="object 21"/>
          <p:cNvSpPr txBox="1"/>
          <p:nvPr/>
        </p:nvSpPr>
        <p:spPr>
          <a:xfrm>
            <a:off x="6654071" y="5041074"/>
            <a:ext cx="1547495" cy="299720"/>
          </a:xfrm>
          <a:prstGeom prst="rect">
            <a:avLst/>
          </a:prstGeom>
        </p:spPr>
        <p:txBody>
          <a:bodyPr vert="horz" wrap="square" lIns="0" tIns="12700" rIns="0" bIns="0" rtlCol="0">
            <a:spAutoFit/>
          </a:bodyPr>
          <a:lstStyle/>
          <a:p>
            <a:pPr marL="12700">
              <a:spcBef>
                <a:spcPts val="100"/>
              </a:spcBef>
            </a:pPr>
            <a:r>
              <a:rPr dirty="0">
                <a:solidFill>
                  <a:prstClr val="black"/>
                </a:solidFill>
                <a:latin typeface="Cambria Math"/>
                <a:cs typeface="Cambria Math"/>
              </a:rPr>
              <a:t>𝒚</a:t>
            </a:r>
            <a:r>
              <a:rPr spc="75" dirty="0">
                <a:solidFill>
                  <a:prstClr val="black"/>
                </a:solidFill>
                <a:latin typeface="Cambria Math"/>
                <a:cs typeface="Cambria Math"/>
              </a:rPr>
              <a:t> </a:t>
            </a:r>
            <a:r>
              <a:rPr dirty="0">
                <a:solidFill>
                  <a:prstClr val="black"/>
                </a:solidFill>
                <a:latin typeface="Cambria Math"/>
                <a:cs typeface="Cambria Math"/>
              </a:rPr>
              <a:t>=</a:t>
            </a:r>
            <a:r>
              <a:rPr spc="85" dirty="0">
                <a:solidFill>
                  <a:prstClr val="black"/>
                </a:solidFill>
                <a:latin typeface="Cambria Math"/>
                <a:cs typeface="Cambria Math"/>
              </a:rPr>
              <a:t> </a:t>
            </a:r>
            <a:r>
              <a:rPr spc="-5" dirty="0">
                <a:solidFill>
                  <a:prstClr val="black"/>
                </a:solidFill>
                <a:latin typeface="Cambria Math"/>
                <a:cs typeface="Cambria Math"/>
              </a:rPr>
              <a:t>𝒇(𝑾𝒙</a:t>
            </a:r>
            <a:r>
              <a:rPr spc="-15" dirty="0">
                <a:solidFill>
                  <a:prstClr val="black"/>
                </a:solidFill>
                <a:latin typeface="Cambria Math"/>
                <a:cs typeface="Cambria Math"/>
              </a:rPr>
              <a:t> </a:t>
            </a:r>
            <a:r>
              <a:rPr dirty="0">
                <a:solidFill>
                  <a:prstClr val="black"/>
                </a:solidFill>
                <a:latin typeface="Cambria Math"/>
                <a:cs typeface="Cambria Math"/>
              </a:rPr>
              <a:t>+</a:t>
            </a:r>
            <a:r>
              <a:rPr spc="-10" dirty="0">
                <a:solidFill>
                  <a:prstClr val="black"/>
                </a:solidFill>
                <a:latin typeface="Cambria Math"/>
                <a:cs typeface="Cambria Math"/>
              </a:rPr>
              <a:t> </a:t>
            </a:r>
            <a:r>
              <a:rPr spc="-5" dirty="0">
                <a:solidFill>
                  <a:prstClr val="black"/>
                </a:solidFill>
                <a:latin typeface="Cambria Math"/>
                <a:cs typeface="Cambria Math"/>
              </a:rPr>
              <a:t>𝒃)</a:t>
            </a:r>
            <a:endParaRPr>
              <a:solidFill>
                <a:prstClr val="black"/>
              </a:solidFill>
              <a:latin typeface="Cambria Math"/>
              <a:cs typeface="Cambria Math"/>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16</a:t>
            </a:fld>
            <a:endParaRPr dirty="0">
              <a:solidFill>
                <a:prstClr val="white"/>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1" y="1109979"/>
            <a:ext cx="5546725" cy="982980"/>
          </a:xfrm>
          <a:prstGeom prst="rect">
            <a:avLst/>
          </a:prstGeom>
        </p:spPr>
        <p:txBody>
          <a:bodyPr vert="horz" wrap="square" lIns="0" tIns="12700" rIns="0" bIns="0" rtlCol="0">
            <a:spAutoFit/>
          </a:bodyPr>
          <a:lstStyle/>
          <a:p>
            <a:pPr marL="12700">
              <a:spcBef>
                <a:spcPts val="100"/>
              </a:spcBef>
            </a:pPr>
            <a:r>
              <a:rPr sz="2400" b="1" spc="-5" dirty="0">
                <a:solidFill>
                  <a:prstClr val="black"/>
                </a:solidFill>
                <a:latin typeface="Arial"/>
                <a:cs typeface="Arial"/>
              </a:rPr>
              <a:t>Neural</a:t>
            </a:r>
            <a:r>
              <a:rPr sz="2400" b="1" spc="-20" dirty="0">
                <a:solidFill>
                  <a:prstClr val="black"/>
                </a:solidFill>
                <a:latin typeface="Arial"/>
                <a:cs typeface="Arial"/>
              </a:rPr>
              <a:t> </a:t>
            </a:r>
            <a:r>
              <a:rPr sz="2400" b="1" spc="-5" dirty="0">
                <a:solidFill>
                  <a:prstClr val="black"/>
                </a:solidFill>
                <a:latin typeface="Arial"/>
                <a:cs typeface="Arial"/>
              </a:rPr>
              <a:t>net</a:t>
            </a:r>
            <a:r>
              <a:rPr sz="2400" b="1" spc="-15" dirty="0">
                <a:solidFill>
                  <a:prstClr val="black"/>
                </a:solidFill>
                <a:latin typeface="Arial"/>
                <a:cs typeface="Arial"/>
              </a:rPr>
              <a:t> </a:t>
            </a:r>
            <a:r>
              <a:rPr sz="2400" b="1" spc="-5" dirty="0">
                <a:solidFill>
                  <a:prstClr val="black"/>
                </a:solidFill>
                <a:latin typeface="Arial"/>
                <a:cs typeface="Arial"/>
              </a:rPr>
              <a:t>with</a:t>
            </a:r>
            <a:r>
              <a:rPr sz="2400" b="1" spc="-20" dirty="0">
                <a:solidFill>
                  <a:prstClr val="black"/>
                </a:solidFill>
                <a:latin typeface="Arial"/>
                <a:cs typeface="Arial"/>
              </a:rPr>
              <a:t> </a:t>
            </a:r>
            <a:r>
              <a:rPr sz="2400" b="1" dirty="0">
                <a:solidFill>
                  <a:prstClr val="black"/>
                </a:solidFill>
                <a:latin typeface="Arial"/>
                <a:cs typeface="Arial"/>
              </a:rPr>
              <a:t>symmetry</a:t>
            </a:r>
            <a:r>
              <a:rPr sz="2400" b="1" spc="-15" dirty="0">
                <a:solidFill>
                  <a:prstClr val="black"/>
                </a:solidFill>
                <a:latin typeface="Arial"/>
                <a:cs typeface="Arial"/>
              </a:rPr>
              <a:t> </a:t>
            </a:r>
            <a:r>
              <a:rPr sz="2400" b="1" spc="-5" dirty="0">
                <a:solidFill>
                  <a:prstClr val="black"/>
                </a:solidFill>
                <a:latin typeface="Arial"/>
                <a:cs typeface="Arial"/>
              </a:rPr>
              <a:t>weights</a:t>
            </a:r>
            <a:endParaRPr sz="2400">
              <a:solidFill>
                <a:prstClr val="black"/>
              </a:solidFill>
              <a:latin typeface="Arial"/>
              <a:cs typeface="Arial"/>
            </a:endParaRPr>
          </a:p>
          <a:p>
            <a:pPr>
              <a:spcBef>
                <a:spcPts val="35"/>
              </a:spcBef>
            </a:pPr>
            <a:endParaRPr sz="2350">
              <a:solidFill>
                <a:prstClr val="black"/>
              </a:solidFill>
              <a:latin typeface="Arial"/>
              <a:cs typeface="Arial"/>
            </a:endParaRPr>
          </a:p>
          <a:p>
            <a:pPr marL="2480310">
              <a:tabLst>
                <a:tab pos="4722495" algn="l"/>
              </a:tabLst>
            </a:pPr>
            <a:r>
              <a:rPr sz="2400" b="1" spc="-7" baseline="3472" dirty="0">
                <a:solidFill>
                  <a:prstClr val="black"/>
                </a:solidFill>
                <a:latin typeface="Arial"/>
                <a:cs typeface="Arial"/>
              </a:rPr>
              <a:t>Encode</a:t>
            </a:r>
            <a:r>
              <a:rPr sz="2400" b="1" baseline="3472" dirty="0">
                <a:solidFill>
                  <a:prstClr val="black"/>
                </a:solidFill>
                <a:latin typeface="Arial"/>
                <a:cs typeface="Arial"/>
              </a:rPr>
              <a:t>r	</a:t>
            </a:r>
            <a:r>
              <a:rPr sz="1600" b="1" spc="-10" dirty="0">
                <a:solidFill>
                  <a:prstClr val="black"/>
                </a:solidFill>
                <a:latin typeface="Arial"/>
                <a:cs typeface="Arial"/>
              </a:rPr>
              <a:t>D</a:t>
            </a:r>
            <a:r>
              <a:rPr sz="1600" b="1" spc="-5" dirty="0">
                <a:solidFill>
                  <a:prstClr val="black"/>
                </a:solidFill>
                <a:latin typeface="Arial"/>
                <a:cs typeface="Arial"/>
              </a:rPr>
              <a:t>ecode</a:t>
            </a:r>
            <a:r>
              <a:rPr sz="1600" b="1" dirty="0">
                <a:solidFill>
                  <a:prstClr val="black"/>
                </a:solidFill>
                <a:latin typeface="Arial"/>
                <a:cs typeface="Arial"/>
              </a:rPr>
              <a:t>r</a:t>
            </a:r>
            <a:endParaRPr sz="1600">
              <a:solidFill>
                <a:prstClr val="black"/>
              </a:solidFill>
              <a:latin typeface="Arial"/>
              <a:cs typeface="Arial"/>
            </a:endParaRPr>
          </a:p>
        </p:txBody>
      </p:sp>
      <p:pic>
        <p:nvPicPr>
          <p:cNvPr id="4" name="object 4"/>
          <p:cNvPicPr/>
          <p:nvPr/>
        </p:nvPicPr>
        <p:blipFill>
          <a:blip r:embed="rId3" cstate="print"/>
          <a:stretch>
            <a:fillRect/>
          </a:stretch>
        </p:blipFill>
        <p:spPr>
          <a:xfrm>
            <a:off x="1536700" y="67734"/>
            <a:ext cx="3280832" cy="918633"/>
          </a:xfrm>
          <a:prstGeom prst="rect">
            <a:avLst/>
          </a:prstGeom>
        </p:spPr>
      </p:pic>
      <p:sp>
        <p:nvSpPr>
          <p:cNvPr id="5" name="object 5"/>
          <p:cNvSpPr txBox="1">
            <a:spLocks noGrp="1"/>
          </p:cNvSpPr>
          <p:nvPr>
            <p:ph type="title"/>
          </p:nvPr>
        </p:nvSpPr>
        <p:spPr>
          <a:xfrm>
            <a:off x="1785621" y="183388"/>
            <a:ext cx="2753995" cy="513080"/>
          </a:xfrm>
          <a:prstGeom prst="rect">
            <a:avLst/>
          </a:prstGeom>
        </p:spPr>
        <p:txBody>
          <a:bodyPr vert="horz" wrap="square" lIns="0" tIns="12700" rIns="0" bIns="0" rtlCol="0">
            <a:spAutoFit/>
          </a:bodyPr>
          <a:lstStyle/>
          <a:p>
            <a:pPr marL="12700">
              <a:spcBef>
                <a:spcPts val="100"/>
              </a:spcBef>
            </a:pPr>
            <a:r>
              <a:rPr sz="3200" dirty="0">
                <a:solidFill>
                  <a:srgbClr val="004990"/>
                </a:solidFill>
              </a:rPr>
              <a:t>A</a:t>
            </a:r>
            <a:r>
              <a:rPr sz="3200" spc="-5" dirty="0">
                <a:solidFill>
                  <a:srgbClr val="004990"/>
                </a:solidFill>
              </a:rPr>
              <a:t>utoencode</a:t>
            </a:r>
            <a:r>
              <a:rPr sz="3200" dirty="0">
                <a:solidFill>
                  <a:srgbClr val="004990"/>
                </a:solidFill>
              </a:rPr>
              <a:t>rs</a:t>
            </a:r>
            <a:endParaRPr sz="3200"/>
          </a:p>
        </p:txBody>
      </p:sp>
      <p:grpSp>
        <p:nvGrpSpPr>
          <p:cNvPr id="6" name="object 6"/>
          <p:cNvGrpSpPr/>
          <p:nvPr/>
        </p:nvGrpSpPr>
        <p:grpSpPr>
          <a:xfrm>
            <a:off x="4170318" y="2324100"/>
            <a:ext cx="749300" cy="749300"/>
            <a:chOff x="2646318" y="2324100"/>
            <a:chExt cx="749300" cy="749300"/>
          </a:xfrm>
        </p:grpSpPr>
        <p:sp>
          <p:nvSpPr>
            <p:cNvPr id="7" name="object 7"/>
            <p:cNvSpPr/>
            <p:nvPr/>
          </p:nvSpPr>
          <p:spPr>
            <a:xfrm>
              <a:off x="2659018"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8" name="object 8"/>
            <p:cNvSpPr/>
            <p:nvPr/>
          </p:nvSpPr>
          <p:spPr>
            <a:xfrm>
              <a:off x="2659018"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9" name="object 9"/>
          <p:cNvSpPr txBox="1"/>
          <p:nvPr/>
        </p:nvSpPr>
        <p:spPr>
          <a:xfrm>
            <a:off x="4398759" y="25404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grpSp>
        <p:nvGrpSpPr>
          <p:cNvPr id="10" name="object 10"/>
          <p:cNvGrpSpPr/>
          <p:nvPr/>
        </p:nvGrpSpPr>
        <p:grpSpPr>
          <a:xfrm>
            <a:off x="4170318" y="3556000"/>
            <a:ext cx="749300" cy="749300"/>
            <a:chOff x="2646318" y="3556000"/>
            <a:chExt cx="749300" cy="749300"/>
          </a:xfrm>
        </p:grpSpPr>
        <p:sp>
          <p:nvSpPr>
            <p:cNvPr id="11" name="object 11"/>
            <p:cNvSpPr/>
            <p:nvPr/>
          </p:nvSpPr>
          <p:spPr>
            <a:xfrm>
              <a:off x="2659018"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2" name="object 12"/>
            <p:cNvSpPr/>
            <p:nvPr/>
          </p:nvSpPr>
          <p:spPr>
            <a:xfrm>
              <a:off x="2659018"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13" name="object 13"/>
          <p:cNvSpPr txBox="1"/>
          <p:nvPr/>
        </p:nvSpPr>
        <p:spPr>
          <a:xfrm>
            <a:off x="4367199" y="37723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grpSp>
        <p:nvGrpSpPr>
          <p:cNvPr id="14" name="object 14"/>
          <p:cNvGrpSpPr/>
          <p:nvPr/>
        </p:nvGrpSpPr>
        <p:grpSpPr>
          <a:xfrm>
            <a:off x="4170318" y="4787900"/>
            <a:ext cx="749300" cy="749300"/>
            <a:chOff x="2646318" y="4787900"/>
            <a:chExt cx="749300" cy="749300"/>
          </a:xfrm>
        </p:grpSpPr>
        <p:sp>
          <p:nvSpPr>
            <p:cNvPr id="15" name="object 15"/>
            <p:cNvSpPr/>
            <p:nvPr/>
          </p:nvSpPr>
          <p:spPr>
            <a:xfrm>
              <a:off x="2659018"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6" name="object 16"/>
            <p:cNvSpPr/>
            <p:nvPr/>
          </p:nvSpPr>
          <p:spPr>
            <a:xfrm>
              <a:off x="2659018"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17" name="object 17"/>
          <p:cNvSpPr txBox="1"/>
          <p:nvPr/>
        </p:nvSpPr>
        <p:spPr>
          <a:xfrm>
            <a:off x="4367199" y="50042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grpSp>
        <p:nvGrpSpPr>
          <p:cNvPr id="18" name="object 18"/>
          <p:cNvGrpSpPr/>
          <p:nvPr/>
        </p:nvGrpSpPr>
        <p:grpSpPr>
          <a:xfrm>
            <a:off x="5770517" y="2324100"/>
            <a:ext cx="2349500" cy="2705100"/>
            <a:chOff x="4246517" y="2324100"/>
            <a:chExt cx="2349500" cy="2705100"/>
          </a:xfrm>
        </p:grpSpPr>
        <p:sp>
          <p:nvSpPr>
            <p:cNvPr id="19" name="object 19"/>
            <p:cNvSpPr/>
            <p:nvPr/>
          </p:nvSpPr>
          <p:spPr>
            <a:xfrm>
              <a:off x="4259217" y="2849479"/>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0" name="object 20"/>
            <p:cNvSpPr/>
            <p:nvPr/>
          </p:nvSpPr>
          <p:spPr>
            <a:xfrm>
              <a:off x="4259217" y="2849479"/>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1" name="object 21"/>
            <p:cNvSpPr/>
            <p:nvPr/>
          </p:nvSpPr>
          <p:spPr>
            <a:xfrm>
              <a:off x="4259217" y="4292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2" name="object 22"/>
            <p:cNvSpPr/>
            <p:nvPr/>
          </p:nvSpPr>
          <p:spPr>
            <a:xfrm>
              <a:off x="4259217" y="4292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3" name="object 23"/>
            <p:cNvSpPr/>
            <p:nvPr/>
          </p:nvSpPr>
          <p:spPr>
            <a:xfrm>
              <a:off x="5859417"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4" name="object 24"/>
            <p:cNvSpPr/>
            <p:nvPr/>
          </p:nvSpPr>
          <p:spPr>
            <a:xfrm>
              <a:off x="5859417"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25" name="object 25"/>
          <p:cNvSpPr txBox="1"/>
          <p:nvPr/>
        </p:nvSpPr>
        <p:spPr>
          <a:xfrm>
            <a:off x="7567599" y="2540444"/>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grpSp>
        <p:nvGrpSpPr>
          <p:cNvPr id="26" name="object 26"/>
          <p:cNvGrpSpPr/>
          <p:nvPr/>
        </p:nvGrpSpPr>
        <p:grpSpPr>
          <a:xfrm>
            <a:off x="7370717" y="3556000"/>
            <a:ext cx="749300" cy="749300"/>
            <a:chOff x="5846717" y="3556000"/>
            <a:chExt cx="749300" cy="749300"/>
          </a:xfrm>
        </p:grpSpPr>
        <p:sp>
          <p:nvSpPr>
            <p:cNvPr id="27" name="object 27"/>
            <p:cNvSpPr/>
            <p:nvPr/>
          </p:nvSpPr>
          <p:spPr>
            <a:xfrm>
              <a:off x="5859417"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8" name="object 28"/>
            <p:cNvSpPr/>
            <p:nvPr/>
          </p:nvSpPr>
          <p:spPr>
            <a:xfrm>
              <a:off x="5859417"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29" name="object 29"/>
          <p:cNvSpPr txBox="1"/>
          <p:nvPr/>
        </p:nvSpPr>
        <p:spPr>
          <a:xfrm>
            <a:off x="7567599" y="3772344"/>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grpSp>
        <p:nvGrpSpPr>
          <p:cNvPr id="30" name="object 30"/>
          <p:cNvGrpSpPr/>
          <p:nvPr/>
        </p:nvGrpSpPr>
        <p:grpSpPr>
          <a:xfrm>
            <a:off x="7370717" y="4787900"/>
            <a:ext cx="749300" cy="749300"/>
            <a:chOff x="5846717" y="4787900"/>
            <a:chExt cx="749300" cy="749300"/>
          </a:xfrm>
        </p:grpSpPr>
        <p:sp>
          <p:nvSpPr>
            <p:cNvPr id="31" name="object 31"/>
            <p:cNvSpPr/>
            <p:nvPr/>
          </p:nvSpPr>
          <p:spPr>
            <a:xfrm>
              <a:off x="5859417"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32" name="object 32"/>
            <p:cNvSpPr/>
            <p:nvPr/>
          </p:nvSpPr>
          <p:spPr>
            <a:xfrm>
              <a:off x="5859417"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33" name="object 33"/>
          <p:cNvSpPr txBox="1"/>
          <p:nvPr/>
        </p:nvSpPr>
        <p:spPr>
          <a:xfrm>
            <a:off x="7567599" y="5004244"/>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34" name="object 34"/>
          <p:cNvSpPr/>
          <p:nvPr/>
        </p:nvSpPr>
        <p:spPr>
          <a:xfrm>
            <a:off x="4902569" y="2694648"/>
            <a:ext cx="2484755" cy="2472055"/>
          </a:xfrm>
          <a:custGeom>
            <a:avLst/>
            <a:gdLst/>
            <a:ahLst/>
            <a:cxnLst/>
            <a:rect l="l" t="t" r="r" b="b"/>
            <a:pathLst>
              <a:path w="2484754" h="2472054">
                <a:moveTo>
                  <a:pt x="36817" y="1215517"/>
                </a:moveTo>
                <a:lnTo>
                  <a:pt x="30772" y="1208151"/>
                </a:lnTo>
                <a:lnTo>
                  <a:pt x="1320" y="1232331"/>
                </a:lnTo>
                <a:lnTo>
                  <a:pt x="4343" y="1236014"/>
                </a:lnTo>
                <a:lnTo>
                  <a:pt x="1308" y="1239685"/>
                </a:lnTo>
                <a:lnTo>
                  <a:pt x="30683" y="1263942"/>
                </a:lnTo>
                <a:lnTo>
                  <a:pt x="36753" y="1256601"/>
                </a:lnTo>
                <a:lnTo>
                  <a:pt x="11836" y="1236027"/>
                </a:lnTo>
                <a:lnTo>
                  <a:pt x="36817" y="1215517"/>
                </a:lnTo>
                <a:close/>
              </a:path>
              <a:path w="2484754" h="2472054">
                <a:moveTo>
                  <a:pt x="39636" y="19240"/>
                </a:moveTo>
                <a:lnTo>
                  <a:pt x="6743" y="0"/>
                </a:lnTo>
                <a:lnTo>
                  <a:pt x="4343" y="4114"/>
                </a:lnTo>
                <a:lnTo>
                  <a:pt x="0" y="6057"/>
                </a:lnTo>
                <a:lnTo>
                  <a:pt x="15570" y="40830"/>
                </a:lnTo>
                <a:lnTo>
                  <a:pt x="24269" y="36931"/>
                </a:lnTo>
                <a:lnTo>
                  <a:pt x="14757" y="15722"/>
                </a:lnTo>
                <a:lnTo>
                  <a:pt x="34823" y="27457"/>
                </a:lnTo>
                <a:lnTo>
                  <a:pt x="39636" y="19240"/>
                </a:lnTo>
                <a:close/>
              </a:path>
              <a:path w="2484754" h="2472054">
                <a:moveTo>
                  <a:pt x="39700" y="2452916"/>
                </a:moveTo>
                <a:lnTo>
                  <a:pt x="34912" y="2444673"/>
                </a:lnTo>
                <a:lnTo>
                  <a:pt x="14732" y="2456383"/>
                </a:lnTo>
                <a:lnTo>
                  <a:pt x="24295" y="2435098"/>
                </a:lnTo>
                <a:lnTo>
                  <a:pt x="15608" y="2431199"/>
                </a:lnTo>
                <a:lnTo>
                  <a:pt x="0" y="2465959"/>
                </a:lnTo>
                <a:lnTo>
                  <a:pt x="4343" y="2467914"/>
                </a:lnTo>
                <a:lnTo>
                  <a:pt x="6731" y="2472029"/>
                </a:lnTo>
                <a:lnTo>
                  <a:pt x="39700" y="2452916"/>
                </a:lnTo>
                <a:close/>
              </a:path>
              <a:path w="2484754" h="2472054">
                <a:moveTo>
                  <a:pt x="51536" y="97777"/>
                </a:moveTo>
                <a:lnTo>
                  <a:pt x="35953" y="63004"/>
                </a:lnTo>
                <a:lnTo>
                  <a:pt x="27254" y="66903"/>
                </a:lnTo>
                <a:lnTo>
                  <a:pt x="42837" y="101676"/>
                </a:lnTo>
                <a:lnTo>
                  <a:pt x="51536" y="97777"/>
                </a:lnTo>
                <a:close/>
              </a:path>
              <a:path w="2484754" h="2472054">
                <a:moveTo>
                  <a:pt x="51612" y="2374277"/>
                </a:moveTo>
                <a:lnTo>
                  <a:pt x="42926" y="2370378"/>
                </a:lnTo>
                <a:lnTo>
                  <a:pt x="27317" y="2405138"/>
                </a:lnTo>
                <a:lnTo>
                  <a:pt x="36004" y="2409037"/>
                </a:lnTo>
                <a:lnTo>
                  <a:pt x="51612" y="2374277"/>
                </a:lnTo>
                <a:close/>
              </a:path>
              <a:path w="2484754" h="2472054">
                <a:moveTo>
                  <a:pt x="78790" y="158623"/>
                </a:moveTo>
                <a:lnTo>
                  <a:pt x="63220" y="123850"/>
                </a:lnTo>
                <a:lnTo>
                  <a:pt x="54521" y="127749"/>
                </a:lnTo>
                <a:lnTo>
                  <a:pt x="70104" y="162521"/>
                </a:lnTo>
                <a:lnTo>
                  <a:pt x="78790" y="158623"/>
                </a:lnTo>
                <a:close/>
              </a:path>
              <a:path w="2484754" h="2472054">
                <a:moveTo>
                  <a:pt x="78930" y="2313457"/>
                </a:moveTo>
                <a:lnTo>
                  <a:pt x="70243" y="2309558"/>
                </a:lnTo>
                <a:lnTo>
                  <a:pt x="54635" y="2344318"/>
                </a:lnTo>
                <a:lnTo>
                  <a:pt x="63322" y="2348217"/>
                </a:lnTo>
                <a:lnTo>
                  <a:pt x="78930" y="2313457"/>
                </a:lnTo>
                <a:close/>
              </a:path>
              <a:path w="2484754" h="2472054">
                <a:moveTo>
                  <a:pt x="88150" y="1299070"/>
                </a:moveTo>
                <a:lnTo>
                  <a:pt x="58775" y="1274800"/>
                </a:lnTo>
                <a:lnTo>
                  <a:pt x="52717" y="1282141"/>
                </a:lnTo>
                <a:lnTo>
                  <a:pt x="82092" y="1306410"/>
                </a:lnTo>
                <a:lnTo>
                  <a:pt x="88150" y="1299070"/>
                </a:lnTo>
                <a:close/>
              </a:path>
              <a:path w="2484754" h="2472054">
                <a:moveTo>
                  <a:pt x="88353" y="1173213"/>
                </a:moveTo>
                <a:lnTo>
                  <a:pt x="82308" y="1165860"/>
                </a:lnTo>
                <a:lnTo>
                  <a:pt x="52857" y="1190028"/>
                </a:lnTo>
                <a:lnTo>
                  <a:pt x="58902" y="1197394"/>
                </a:lnTo>
                <a:lnTo>
                  <a:pt x="88353" y="1173213"/>
                </a:lnTo>
                <a:close/>
              </a:path>
              <a:path w="2484754" h="2472054">
                <a:moveTo>
                  <a:pt x="97180" y="52908"/>
                </a:moveTo>
                <a:lnTo>
                  <a:pt x="64300" y="33667"/>
                </a:lnTo>
                <a:lnTo>
                  <a:pt x="59486" y="41884"/>
                </a:lnTo>
                <a:lnTo>
                  <a:pt x="92379" y="61125"/>
                </a:lnTo>
                <a:lnTo>
                  <a:pt x="97180" y="52908"/>
                </a:lnTo>
                <a:close/>
              </a:path>
              <a:path w="2484754" h="2472054">
                <a:moveTo>
                  <a:pt x="97383" y="2419477"/>
                </a:moveTo>
                <a:lnTo>
                  <a:pt x="92595" y="2411234"/>
                </a:lnTo>
                <a:lnTo>
                  <a:pt x="59639" y="2430348"/>
                </a:lnTo>
                <a:lnTo>
                  <a:pt x="64414" y="2438590"/>
                </a:lnTo>
                <a:lnTo>
                  <a:pt x="97383" y="2419477"/>
                </a:lnTo>
                <a:close/>
              </a:path>
              <a:path w="2484754" h="2472054">
                <a:moveTo>
                  <a:pt x="106057" y="219468"/>
                </a:moveTo>
                <a:lnTo>
                  <a:pt x="90474" y="184696"/>
                </a:lnTo>
                <a:lnTo>
                  <a:pt x="81788" y="188595"/>
                </a:lnTo>
                <a:lnTo>
                  <a:pt x="97358" y="223367"/>
                </a:lnTo>
                <a:lnTo>
                  <a:pt x="106057" y="219468"/>
                </a:lnTo>
                <a:close/>
              </a:path>
              <a:path w="2484754" h="2472054">
                <a:moveTo>
                  <a:pt x="106248" y="2252637"/>
                </a:moveTo>
                <a:lnTo>
                  <a:pt x="97561" y="2248738"/>
                </a:lnTo>
                <a:lnTo>
                  <a:pt x="81953" y="2283485"/>
                </a:lnTo>
                <a:lnTo>
                  <a:pt x="90639" y="2287397"/>
                </a:lnTo>
                <a:lnTo>
                  <a:pt x="106248" y="2252637"/>
                </a:lnTo>
                <a:close/>
              </a:path>
              <a:path w="2484754" h="2472054">
                <a:moveTo>
                  <a:pt x="133324" y="280314"/>
                </a:moveTo>
                <a:lnTo>
                  <a:pt x="117741" y="245541"/>
                </a:lnTo>
                <a:lnTo>
                  <a:pt x="109042" y="249440"/>
                </a:lnTo>
                <a:lnTo>
                  <a:pt x="124625" y="284213"/>
                </a:lnTo>
                <a:lnTo>
                  <a:pt x="133324" y="280314"/>
                </a:lnTo>
                <a:close/>
              </a:path>
              <a:path w="2484754" h="2472054">
                <a:moveTo>
                  <a:pt x="133565" y="2191816"/>
                </a:moveTo>
                <a:lnTo>
                  <a:pt x="124879" y="2187918"/>
                </a:lnTo>
                <a:lnTo>
                  <a:pt x="109270" y="2222665"/>
                </a:lnTo>
                <a:lnTo>
                  <a:pt x="117957" y="2226564"/>
                </a:lnTo>
                <a:lnTo>
                  <a:pt x="133565" y="2191816"/>
                </a:lnTo>
                <a:close/>
              </a:path>
              <a:path w="2484754" h="2472054">
                <a:moveTo>
                  <a:pt x="139560" y="1341526"/>
                </a:moveTo>
                <a:lnTo>
                  <a:pt x="110185" y="1317269"/>
                </a:lnTo>
                <a:lnTo>
                  <a:pt x="104114" y="1324610"/>
                </a:lnTo>
                <a:lnTo>
                  <a:pt x="133489" y="1348867"/>
                </a:lnTo>
                <a:lnTo>
                  <a:pt x="139560" y="1341526"/>
                </a:lnTo>
                <a:close/>
              </a:path>
              <a:path w="2484754" h="2472054">
                <a:moveTo>
                  <a:pt x="139890" y="1130922"/>
                </a:moveTo>
                <a:lnTo>
                  <a:pt x="133845" y="1123556"/>
                </a:lnTo>
                <a:lnTo>
                  <a:pt x="104394" y="1147724"/>
                </a:lnTo>
                <a:lnTo>
                  <a:pt x="110439" y="1155090"/>
                </a:lnTo>
                <a:lnTo>
                  <a:pt x="139890" y="1130922"/>
                </a:lnTo>
                <a:close/>
              </a:path>
              <a:path w="2484754" h="2472054">
                <a:moveTo>
                  <a:pt x="154736" y="86575"/>
                </a:moveTo>
                <a:lnTo>
                  <a:pt x="121843" y="67335"/>
                </a:lnTo>
                <a:lnTo>
                  <a:pt x="117043" y="75552"/>
                </a:lnTo>
                <a:lnTo>
                  <a:pt x="149923" y="94792"/>
                </a:lnTo>
                <a:lnTo>
                  <a:pt x="154736" y="86575"/>
                </a:lnTo>
                <a:close/>
              </a:path>
              <a:path w="2484754" h="2472054">
                <a:moveTo>
                  <a:pt x="155067" y="2386038"/>
                </a:moveTo>
                <a:lnTo>
                  <a:pt x="150279" y="2377795"/>
                </a:lnTo>
                <a:lnTo>
                  <a:pt x="117322" y="2396909"/>
                </a:lnTo>
                <a:lnTo>
                  <a:pt x="122097" y="2405151"/>
                </a:lnTo>
                <a:lnTo>
                  <a:pt x="155067" y="2386038"/>
                </a:lnTo>
                <a:close/>
              </a:path>
              <a:path w="2484754" h="2472054">
                <a:moveTo>
                  <a:pt x="160578" y="341160"/>
                </a:moveTo>
                <a:lnTo>
                  <a:pt x="145008" y="306387"/>
                </a:lnTo>
                <a:lnTo>
                  <a:pt x="136309" y="310286"/>
                </a:lnTo>
                <a:lnTo>
                  <a:pt x="151892" y="345059"/>
                </a:lnTo>
                <a:lnTo>
                  <a:pt x="160578" y="341160"/>
                </a:lnTo>
                <a:close/>
              </a:path>
              <a:path w="2484754" h="2472054">
                <a:moveTo>
                  <a:pt x="160883" y="2130996"/>
                </a:moveTo>
                <a:lnTo>
                  <a:pt x="152196" y="2127085"/>
                </a:lnTo>
                <a:lnTo>
                  <a:pt x="136588" y="2161844"/>
                </a:lnTo>
                <a:lnTo>
                  <a:pt x="145275" y="2165743"/>
                </a:lnTo>
                <a:lnTo>
                  <a:pt x="160883" y="2130996"/>
                </a:lnTo>
                <a:close/>
              </a:path>
              <a:path w="2484754" h="2472054">
                <a:moveTo>
                  <a:pt x="187845" y="402005"/>
                </a:moveTo>
                <a:lnTo>
                  <a:pt x="172262" y="367245"/>
                </a:lnTo>
                <a:lnTo>
                  <a:pt x="163576" y="371132"/>
                </a:lnTo>
                <a:lnTo>
                  <a:pt x="179146" y="405904"/>
                </a:lnTo>
                <a:lnTo>
                  <a:pt x="187845" y="402005"/>
                </a:lnTo>
                <a:close/>
              </a:path>
              <a:path w="2484754" h="2472054">
                <a:moveTo>
                  <a:pt x="188201" y="2070176"/>
                </a:moveTo>
                <a:lnTo>
                  <a:pt x="179514" y="2066264"/>
                </a:lnTo>
                <a:lnTo>
                  <a:pt x="163906" y="2101024"/>
                </a:lnTo>
                <a:lnTo>
                  <a:pt x="172593" y="2104923"/>
                </a:lnTo>
                <a:lnTo>
                  <a:pt x="188201" y="2070176"/>
                </a:lnTo>
                <a:close/>
              </a:path>
              <a:path w="2484754" h="2472054">
                <a:moveTo>
                  <a:pt x="190957" y="1383995"/>
                </a:moveTo>
                <a:lnTo>
                  <a:pt x="161594" y="1359725"/>
                </a:lnTo>
                <a:lnTo>
                  <a:pt x="155524" y="1367066"/>
                </a:lnTo>
                <a:lnTo>
                  <a:pt x="184899" y="1391335"/>
                </a:lnTo>
                <a:lnTo>
                  <a:pt x="190957" y="1383995"/>
                </a:lnTo>
                <a:close/>
              </a:path>
              <a:path w="2484754" h="2472054">
                <a:moveTo>
                  <a:pt x="191427" y="1088618"/>
                </a:moveTo>
                <a:lnTo>
                  <a:pt x="185394" y="1081252"/>
                </a:lnTo>
                <a:lnTo>
                  <a:pt x="155943" y="1105420"/>
                </a:lnTo>
                <a:lnTo>
                  <a:pt x="161975" y="1112786"/>
                </a:lnTo>
                <a:lnTo>
                  <a:pt x="191427" y="1088618"/>
                </a:lnTo>
                <a:close/>
              </a:path>
              <a:path w="2484754" h="2472054">
                <a:moveTo>
                  <a:pt x="212280" y="120243"/>
                </a:moveTo>
                <a:lnTo>
                  <a:pt x="179400" y="101003"/>
                </a:lnTo>
                <a:lnTo>
                  <a:pt x="174586" y="109232"/>
                </a:lnTo>
                <a:lnTo>
                  <a:pt x="207467" y="128460"/>
                </a:lnTo>
                <a:lnTo>
                  <a:pt x="212280" y="120243"/>
                </a:lnTo>
                <a:close/>
              </a:path>
              <a:path w="2484754" h="2472054">
                <a:moveTo>
                  <a:pt x="212750" y="2352598"/>
                </a:moveTo>
                <a:lnTo>
                  <a:pt x="207962" y="2344356"/>
                </a:lnTo>
                <a:lnTo>
                  <a:pt x="175006" y="2363470"/>
                </a:lnTo>
                <a:lnTo>
                  <a:pt x="179781" y="2371712"/>
                </a:lnTo>
                <a:lnTo>
                  <a:pt x="212750" y="2352598"/>
                </a:lnTo>
                <a:close/>
              </a:path>
              <a:path w="2484754" h="2472054">
                <a:moveTo>
                  <a:pt x="215099" y="462851"/>
                </a:moveTo>
                <a:lnTo>
                  <a:pt x="199529" y="428091"/>
                </a:lnTo>
                <a:lnTo>
                  <a:pt x="190830" y="431977"/>
                </a:lnTo>
                <a:lnTo>
                  <a:pt x="206413" y="466750"/>
                </a:lnTo>
                <a:lnTo>
                  <a:pt x="215099" y="462851"/>
                </a:lnTo>
                <a:close/>
              </a:path>
              <a:path w="2484754" h="2472054">
                <a:moveTo>
                  <a:pt x="215519" y="2009343"/>
                </a:moveTo>
                <a:lnTo>
                  <a:pt x="206832" y="2005444"/>
                </a:lnTo>
                <a:lnTo>
                  <a:pt x="191223" y="2040204"/>
                </a:lnTo>
                <a:lnTo>
                  <a:pt x="199910" y="2044103"/>
                </a:lnTo>
                <a:lnTo>
                  <a:pt x="215519" y="2009343"/>
                </a:lnTo>
                <a:close/>
              </a:path>
              <a:path w="2484754" h="2472054">
                <a:moveTo>
                  <a:pt x="242366" y="1426451"/>
                </a:moveTo>
                <a:lnTo>
                  <a:pt x="212991" y="1402194"/>
                </a:lnTo>
                <a:lnTo>
                  <a:pt x="206921" y="1409534"/>
                </a:lnTo>
                <a:lnTo>
                  <a:pt x="236296" y="1433804"/>
                </a:lnTo>
                <a:lnTo>
                  <a:pt x="242366" y="1426451"/>
                </a:lnTo>
                <a:close/>
              </a:path>
              <a:path w="2484754" h="2472054">
                <a:moveTo>
                  <a:pt x="242366" y="523697"/>
                </a:moveTo>
                <a:lnTo>
                  <a:pt x="226783" y="488937"/>
                </a:lnTo>
                <a:lnTo>
                  <a:pt x="218097" y="492823"/>
                </a:lnTo>
                <a:lnTo>
                  <a:pt x="233680" y="527596"/>
                </a:lnTo>
                <a:lnTo>
                  <a:pt x="242366" y="523697"/>
                </a:lnTo>
                <a:close/>
              </a:path>
              <a:path w="2484754" h="2472054">
                <a:moveTo>
                  <a:pt x="242836" y="1948522"/>
                </a:moveTo>
                <a:lnTo>
                  <a:pt x="234149" y="1944624"/>
                </a:lnTo>
                <a:lnTo>
                  <a:pt x="218528" y="1979383"/>
                </a:lnTo>
                <a:lnTo>
                  <a:pt x="227228" y="1983282"/>
                </a:lnTo>
                <a:lnTo>
                  <a:pt x="242836" y="1948522"/>
                </a:lnTo>
                <a:close/>
              </a:path>
              <a:path w="2484754" h="2472054">
                <a:moveTo>
                  <a:pt x="242976" y="1046314"/>
                </a:moveTo>
                <a:lnTo>
                  <a:pt x="236931" y="1038948"/>
                </a:lnTo>
                <a:lnTo>
                  <a:pt x="207479" y="1063129"/>
                </a:lnTo>
                <a:lnTo>
                  <a:pt x="213525" y="1070483"/>
                </a:lnTo>
                <a:lnTo>
                  <a:pt x="242976" y="1046314"/>
                </a:lnTo>
                <a:close/>
              </a:path>
              <a:path w="2484754" h="2472054">
                <a:moveTo>
                  <a:pt x="269633" y="584555"/>
                </a:moveTo>
                <a:lnTo>
                  <a:pt x="254050" y="549783"/>
                </a:lnTo>
                <a:lnTo>
                  <a:pt x="245364" y="553669"/>
                </a:lnTo>
                <a:lnTo>
                  <a:pt x="260934" y="588441"/>
                </a:lnTo>
                <a:lnTo>
                  <a:pt x="269633" y="584555"/>
                </a:lnTo>
                <a:close/>
              </a:path>
              <a:path w="2484754" h="2472054">
                <a:moveTo>
                  <a:pt x="269836" y="153911"/>
                </a:moveTo>
                <a:lnTo>
                  <a:pt x="236943" y="134670"/>
                </a:lnTo>
                <a:lnTo>
                  <a:pt x="232130" y="142900"/>
                </a:lnTo>
                <a:lnTo>
                  <a:pt x="265023" y="162140"/>
                </a:lnTo>
                <a:lnTo>
                  <a:pt x="269836" y="153911"/>
                </a:lnTo>
                <a:close/>
              </a:path>
              <a:path w="2484754" h="2472054">
                <a:moveTo>
                  <a:pt x="270154" y="1887702"/>
                </a:moveTo>
                <a:lnTo>
                  <a:pt x="261454" y="1883803"/>
                </a:lnTo>
                <a:lnTo>
                  <a:pt x="245846" y="1918550"/>
                </a:lnTo>
                <a:lnTo>
                  <a:pt x="254546" y="1922462"/>
                </a:lnTo>
                <a:lnTo>
                  <a:pt x="270154" y="1887702"/>
                </a:lnTo>
                <a:close/>
              </a:path>
              <a:path w="2484754" h="2472054">
                <a:moveTo>
                  <a:pt x="270421" y="2319159"/>
                </a:moveTo>
                <a:lnTo>
                  <a:pt x="265645" y="2310917"/>
                </a:lnTo>
                <a:lnTo>
                  <a:pt x="232689" y="2330031"/>
                </a:lnTo>
                <a:lnTo>
                  <a:pt x="237464" y="2338273"/>
                </a:lnTo>
                <a:lnTo>
                  <a:pt x="270421" y="2319159"/>
                </a:lnTo>
                <a:close/>
              </a:path>
              <a:path w="2484754" h="2472054">
                <a:moveTo>
                  <a:pt x="293776" y="1468920"/>
                </a:moveTo>
                <a:lnTo>
                  <a:pt x="264401" y="1444650"/>
                </a:lnTo>
                <a:lnTo>
                  <a:pt x="258330" y="1452003"/>
                </a:lnTo>
                <a:lnTo>
                  <a:pt x="287705" y="1476260"/>
                </a:lnTo>
                <a:lnTo>
                  <a:pt x="293776" y="1468920"/>
                </a:lnTo>
                <a:close/>
              </a:path>
              <a:path w="2484754" h="2472054">
                <a:moveTo>
                  <a:pt x="294513" y="1004011"/>
                </a:moveTo>
                <a:lnTo>
                  <a:pt x="288467" y="996657"/>
                </a:lnTo>
                <a:lnTo>
                  <a:pt x="259016" y="1020826"/>
                </a:lnTo>
                <a:lnTo>
                  <a:pt x="265061" y="1028192"/>
                </a:lnTo>
                <a:lnTo>
                  <a:pt x="294513" y="1004011"/>
                </a:lnTo>
                <a:close/>
              </a:path>
              <a:path w="2484754" h="2472054">
                <a:moveTo>
                  <a:pt x="296887" y="645401"/>
                </a:moveTo>
                <a:lnTo>
                  <a:pt x="281317" y="610628"/>
                </a:lnTo>
                <a:lnTo>
                  <a:pt x="272618" y="614527"/>
                </a:lnTo>
                <a:lnTo>
                  <a:pt x="288201" y="649287"/>
                </a:lnTo>
                <a:lnTo>
                  <a:pt x="296887" y="645401"/>
                </a:lnTo>
                <a:close/>
              </a:path>
              <a:path w="2484754" h="2472054">
                <a:moveTo>
                  <a:pt x="297472" y="1826882"/>
                </a:moveTo>
                <a:lnTo>
                  <a:pt x="288772" y="1822983"/>
                </a:lnTo>
                <a:lnTo>
                  <a:pt x="273164" y="1857730"/>
                </a:lnTo>
                <a:lnTo>
                  <a:pt x="281851" y="1861642"/>
                </a:lnTo>
                <a:lnTo>
                  <a:pt x="297472" y="1826882"/>
                </a:lnTo>
                <a:close/>
              </a:path>
              <a:path w="2484754" h="2472054">
                <a:moveTo>
                  <a:pt x="324154" y="706247"/>
                </a:moveTo>
                <a:lnTo>
                  <a:pt x="308571" y="671474"/>
                </a:lnTo>
                <a:lnTo>
                  <a:pt x="299885" y="675373"/>
                </a:lnTo>
                <a:lnTo>
                  <a:pt x="315468" y="710133"/>
                </a:lnTo>
                <a:lnTo>
                  <a:pt x="324154" y="706247"/>
                </a:lnTo>
                <a:close/>
              </a:path>
              <a:path w="2484754" h="2472054">
                <a:moveTo>
                  <a:pt x="324789" y="1766062"/>
                </a:moveTo>
                <a:lnTo>
                  <a:pt x="316090" y="1762150"/>
                </a:lnTo>
                <a:lnTo>
                  <a:pt x="300482" y="1796910"/>
                </a:lnTo>
                <a:lnTo>
                  <a:pt x="309168" y="1800809"/>
                </a:lnTo>
                <a:lnTo>
                  <a:pt x="324789" y="1766062"/>
                </a:lnTo>
                <a:close/>
              </a:path>
              <a:path w="2484754" h="2472054">
                <a:moveTo>
                  <a:pt x="327380" y="187579"/>
                </a:moveTo>
                <a:lnTo>
                  <a:pt x="294500" y="168338"/>
                </a:lnTo>
                <a:lnTo>
                  <a:pt x="289687" y="176568"/>
                </a:lnTo>
                <a:lnTo>
                  <a:pt x="322567" y="195808"/>
                </a:lnTo>
                <a:lnTo>
                  <a:pt x="327380" y="187579"/>
                </a:lnTo>
                <a:close/>
              </a:path>
              <a:path w="2484754" h="2472054">
                <a:moveTo>
                  <a:pt x="328104" y="2285720"/>
                </a:moveTo>
                <a:lnTo>
                  <a:pt x="323329" y="2277478"/>
                </a:lnTo>
                <a:lnTo>
                  <a:pt x="290372" y="2296591"/>
                </a:lnTo>
                <a:lnTo>
                  <a:pt x="295148" y="2304834"/>
                </a:lnTo>
                <a:lnTo>
                  <a:pt x="328104" y="2285720"/>
                </a:lnTo>
                <a:close/>
              </a:path>
              <a:path w="2484754" h="2472054">
                <a:moveTo>
                  <a:pt x="345173" y="1511388"/>
                </a:moveTo>
                <a:lnTo>
                  <a:pt x="315798" y="1487119"/>
                </a:lnTo>
                <a:lnTo>
                  <a:pt x="309740" y="1494459"/>
                </a:lnTo>
                <a:lnTo>
                  <a:pt x="339102" y="1518729"/>
                </a:lnTo>
                <a:lnTo>
                  <a:pt x="345173" y="1511388"/>
                </a:lnTo>
                <a:close/>
              </a:path>
              <a:path w="2484754" h="2472054">
                <a:moveTo>
                  <a:pt x="346049" y="961720"/>
                </a:moveTo>
                <a:lnTo>
                  <a:pt x="340004" y="954354"/>
                </a:lnTo>
                <a:lnTo>
                  <a:pt x="310553" y="978522"/>
                </a:lnTo>
                <a:lnTo>
                  <a:pt x="316598" y="985888"/>
                </a:lnTo>
                <a:lnTo>
                  <a:pt x="346049" y="961720"/>
                </a:lnTo>
                <a:close/>
              </a:path>
              <a:path w="2484754" h="2472054">
                <a:moveTo>
                  <a:pt x="351421" y="767092"/>
                </a:moveTo>
                <a:lnTo>
                  <a:pt x="335838" y="732320"/>
                </a:lnTo>
                <a:lnTo>
                  <a:pt x="327152" y="736219"/>
                </a:lnTo>
                <a:lnTo>
                  <a:pt x="342722" y="770978"/>
                </a:lnTo>
                <a:lnTo>
                  <a:pt x="351421" y="767092"/>
                </a:lnTo>
                <a:close/>
              </a:path>
              <a:path w="2484754" h="2472054">
                <a:moveTo>
                  <a:pt x="352094" y="1705241"/>
                </a:moveTo>
                <a:lnTo>
                  <a:pt x="343408" y="1701330"/>
                </a:lnTo>
                <a:lnTo>
                  <a:pt x="327799" y="1736090"/>
                </a:lnTo>
                <a:lnTo>
                  <a:pt x="336486" y="1739988"/>
                </a:lnTo>
                <a:lnTo>
                  <a:pt x="352094" y="1705241"/>
                </a:lnTo>
                <a:close/>
              </a:path>
              <a:path w="2484754" h="2472054">
                <a:moveTo>
                  <a:pt x="378675" y="827938"/>
                </a:moveTo>
                <a:lnTo>
                  <a:pt x="363105" y="793165"/>
                </a:lnTo>
                <a:lnTo>
                  <a:pt x="354406" y="797064"/>
                </a:lnTo>
                <a:lnTo>
                  <a:pt x="369989" y="831824"/>
                </a:lnTo>
                <a:lnTo>
                  <a:pt x="378675" y="827938"/>
                </a:lnTo>
                <a:close/>
              </a:path>
              <a:path w="2484754" h="2472054">
                <a:moveTo>
                  <a:pt x="379412" y="1644408"/>
                </a:moveTo>
                <a:lnTo>
                  <a:pt x="370725" y="1640509"/>
                </a:lnTo>
                <a:lnTo>
                  <a:pt x="355117" y="1675269"/>
                </a:lnTo>
                <a:lnTo>
                  <a:pt x="363804" y="1679168"/>
                </a:lnTo>
                <a:lnTo>
                  <a:pt x="379412" y="1644408"/>
                </a:lnTo>
                <a:close/>
              </a:path>
              <a:path w="2484754" h="2472054">
                <a:moveTo>
                  <a:pt x="384937" y="221246"/>
                </a:moveTo>
                <a:lnTo>
                  <a:pt x="352044" y="202018"/>
                </a:lnTo>
                <a:lnTo>
                  <a:pt x="347230" y="210235"/>
                </a:lnTo>
                <a:lnTo>
                  <a:pt x="380123" y="229476"/>
                </a:lnTo>
                <a:lnTo>
                  <a:pt x="384937" y="221246"/>
                </a:lnTo>
                <a:close/>
              </a:path>
              <a:path w="2484754" h="2472054">
                <a:moveTo>
                  <a:pt x="385787" y="2252281"/>
                </a:moveTo>
                <a:lnTo>
                  <a:pt x="381012" y="2244039"/>
                </a:lnTo>
                <a:lnTo>
                  <a:pt x="348056" y="2263152"/>
                </a:lnTo>
                <a:lnTo>
                  <a:pt x="352831" y="2271395"/>
                </a:lnTo>
                <a:lnTo>
                  <a:pt x="385787" y="2252281"/>
                </a:lnTo>
                <a:close/>
              </a:path>
              <a:path w="2484754" h="2472054">
                <a:moveTo>
                  <a:pt x="396582" y="1553845"/>
                </a:moveTo>
                <a:lnTo>
                  <a:pt x="367207" y="1529588"/>
                </a:lnTo>
                <a:lnTo>
                  <a:pt x="361137" y="1536928"/>
                </a:lnTo>
                <a:lnTo>
                  <a:pt x="390512" y="1561198"/>
                </a:lnTo>
                <a:lnTo>
                  <a:pt x="396582" y="1553845"/>
                </a:lnTo>
                <a:close/>
              </a:path>
              <a:path w="2484754" h="2472054">
                <a:moveTo>
                  <a:pt x="397586" y="919416"/>
                </a:moveTo>
                <a:lnTo>
                  <a:pt x="391541" y="912050"/>
                </a:lnTo>
                <a:lnTo>
                  <a:pt x="362089" y="936218"/>
                </a:lnTo>
                <a:lnTo>
                  <a:pt x="368134" y="943584"/>
                </a:lnTo>
                <a:lnTo>
                  <a:pt x="397586" y="919416"/>
                </a:lnTo>
                <a:close/>
              </a:path>
              <a:path w="2484754" h="2472054">
                <a:moveTo>
                  <a:pt x="405942" y="888784"/>
                </a:moveTo>
                <a:lnTo>
                  <a:pt x="390359" y="854011"/>
                </a:lnTo>
                <a:lnTo>
                  <a:pt x="381673" y="857910"/>
                </a:lnTo>
                <a:lnTo>
                  <a:pt x="397256" y="892683"/>
                </a:lnTo>
                <a:lnTo>
                  <a:pt x="405942" y="888784"/>
                </a:lnTo>
                <a:close/>
              </a:path>
              <a:path w="2484754" h="2472054">
                <a:moveTo>
                  <a:pt x="406730" y="1583588"/>
                </a:moveTo>
                <a:lnTo>
                  <a:pt x="398043" y="1579689"/>
                </a:lnTo>
                <a:lnTo>
                  <a:pt x="382435" y="1614449"/>
                </a:lnTo>
                <a:lnTo>
                  <a:pt x="391121" y="1618348"/>
                </a:lnTo>
                <a:lnTo>
                  <a:pt x="406730" y="1583588"/>
                </a:lnTo>
                <a:close/>
              </a:path>
              <a:path w="2484754" h="2472054">
                <a:moveTo>
                  <a:pt x="433209" y="949629"/>
                </a:moveTo>
                <a:lnTo>
                  <a:pt x="417626" y="914857"/>
                </a:lnTo>
                <a:lnTo>
                  <a:pt x="408940" y="918756"/>
                </a:lnTo>
                <a:lnTo>
                  <a:pt x="424510" y="953528"/>
                </a:lnTo>
                <a:lnTo>
                  <a:pt x="433209" y="949629"/>
                </a:lnTo>
                <a:close/>
              </a:path>
              <a:path w="2484754" h="2472054">
                <a:moveTo>
                  <a:pt x="434047" y="1522768"/>
                </a:moveTo>
                <a:lnTo>
                  <a:pt x="425361" y="1518869"/>
                </a:lnTo>
                <a:lnTo>
                  <a:pt x="409752" y="1553629"/>
                </a:lnTo>
                <a:lnTo>
                  <a:pt x="418439" y="1557528"/>
                </a:lnTo>
                <a:lnTo>
                  <a:pt x="434047" y="1522768"/>
                </a:lnTo>
                <a:close/>
              </a:path>
              <a:path w="2484754" h="2472054">
                <a:moveTo>
                  <a:pt x="442480" y="254927"/>
                </a:moveTo>
                <a:lnTo>
                  <a:pt x="409600" y="235686"/>
                </a:lnTo>
                <a:lnTo>
                  <a:pt x="404787" y="243903"/>
                </a:lnTo>
                <a:lnTo>
                  <a:pt x="437667" y="263144"/>
                </a:lnTo>
                <a:lnTo>
                  <a:pt x="442480" y="254927"/>
                </a:lnTo>
                <a:close/>
              </a:path>
              <a:path w="2484754" h="2472054">
                <a:moveTo>
                  <a:pt x="443471" y="2218842"/>
                </a:moveTo>
                <a:lnTo>
                  <a:pt x="438696" y="2210600"/>
                </a:lnTo>
                <a:lnTo>
                  <a:pt x="405739" y="2229713"/>
                </a:lnTo>
                <a:lnTo>
                  <a:pt x="410514" y="2237956"/>
                </a:lnTo>
                <a:lnTo>
                  <a:pt x="443471" y="2218842"/>
                </a:lnTo>
                <a:close/>
              </a:path>
              <a:path w="2484754" h="2472054">
                <a:moveTo>
                  <a:pt x="447979" y="1596313"/>
                </a:moveTo>
                <a:lnTo>
                  <a:pt x="418604" y="1572044"/>
                </a:lnTo>
                <a:lnTo>
                  <a:pt x="412546" y="1579397"/>
                </a:lnTo>
                <a:lnTo>
                  <a:pt x="441909" y="1603654"/>
                </a:lnTo>
                <a:lnTo>
                  <a:pt x="447979" y="1596313"/>
                </a:lnTo>
                <a:close/>
              </a:path>
              <a:path w="2484754" h="2472054">
                <a:moveTo>
                  <a:pt x="449122" y="877112"/>
                </a:moveTo>
                <a:lnTo>
                  <a:pt x="443077" y="869746"/>
                </a:lnTo>
                <a:lnTo>
                  <a:pt x="413639" y="893927"/>
                </a:lnTo>
                <a:lnTo>
                  <a:pt x="419671" y="901280"/>
                </a:lnTo>
                <a:lnTo>
                  <a:pt x="449122" y="877112"/>
                </a:lnTo>
                <a:close/>
              </a:path>
              <a:path w="2484754" h="2472054">
                <a:moveTo>
                  <a:pt x="460463" y="1010475"/>
                </a:moveTo>
                <a:lnTo>
                  <a:pt x="444893" y="975702"/>
                </a:lnTo>
                <a:lnTo>
                  <a:pt x="436194" y="979601"/>
                </a:lnTo>
                <a:lnTo>
                  <a:pt x="451777" y="1014374"/>
                </a:lnTo>
                <a:lnTo>
                  <a:pt x="460463" y="1010475"/>
                </a:lnTo>
                <a:close/>
              </a:path>
              <a:path w="2484754" h="2472054">
                <a:moveTo>
                  <a:pt x="461365" y="1461947"/>
                </a:moveTo>
                <a:lnTo>
                  <a:pt x="452678" y="1458048"/>
                </a:lnTo>
                <a:lnTo>
                  <a:pt x="437070" y="1492796"/>
                </a:lnTo>
                <a:lnTo>
                  <a:pt x="445757" y="1496707"/>
                </a:lnTo>
                <a:lnTo>
                  <a:pt x="461365" y="1461947"/>
                </a:lnTo>
                <a:close/>
              </a:path>
              <a:path w="2484754" h="2472054">
                <a:moveTo>
                  <a:pt x="487730" y="1071321"/>
                </a:moveTo>
                <a:lnTo>
                  <a:pt x="472147" y="1036548"/>
                </a:lnTo>
                <a:lnTo>
                  <a:pt x="463461" y="1040447"/>
                </a:lnTo>
                <a:lnTo>
                  <a:pt x="479044" y="1075220"/>
                </a:lnTo>
                <a:lnTo>
                  <a:pt x="487730" y="1071321"/>
                </a:lnTo>
                <a:close/>
              </a:path>
              <a:path w="2484754" h="2472054">
                <a:moveTo>
                  <a:pt x="488683" y="1401127"/>
                </a:moveTo>
                <a:lnTo>
                  <a:pt x="479996" y="1397228"/>
                </a:lnTo>
                <a:lnTo>
                  <a:pt x="464388" y="1431975"/>
                </a:lnTo>
                <a:lnTo>
                  <a:pt x="473075" y="1435874"/>
                </a:lnTo>
                <a:lnTo>
                  <a:pt x="488683" y="1401127"/>
                </a:lnTo>
                <a:close/>
              </a:path>
              <a:path w="2484754" h="2472054">
                <a:moveTo>
                  <a:pt x="499389" y="1638782"/>
                </a:moveTo>
                <a:lnTo>
                  <a:pt x="470014" y="1614512"/>
                </a:lnTo>
                <a:lnTo>
                  <a:pt x="463943" y="1621853"/>
                </a:lnTo>
                <a:lnTo>
                  <a:pt x="493318" y="1646123"/>
                </a:lnTo>
                <a:lnTo>
                  <a:pt x="499389" y="1638782"/>
                </a:lnTo>
                <a:close/>
              </a:path>
              <a:path w="2484754" h="2472054">
                <a:moveTo>
                  <a:pt x="500024" y="288594"/>
                </a:moveTo>
                <a:lnTo>
                  <a:pt x="467144" y="269354"/>
                </a:lnTo>
                <a:lnTo>
                  <a:pt x="462330" y="277571"/>
                </a:lnTo>
                <a:lnTo>
                  <a:pt x="495223" y="296811"/>
                </a:lnTo>
                <a:lnTo>
                  <a:pt x="500024" y="288594"/>
                </a:lnTo>
                <a:close/>
              </a:path>
              <a:path w="2484754" h="2472054">
                <a:moveTo>
                  <a:pt x="500659" y="834821"/>
                </a:moveTo>
                <a:lnTo>
                  <a:pt x="494626" y="827455"/>
                </a:lnTo>
                <a:lnTo>
                  <a:pt x="465175" y="851623"/>
                </a:lnTo>
                <a:lnTo>
                  <a:pt x="471208" y="858989"/>
                </a:lnTo>
                <a:lnTo>
                  <a:pt x="500659" y="834821"/>
                </a:lnTo>
                <a:close/>
              </a:path>
              <a:path w="2484754" h="2472054">
                <a:moveTo>
                  <a:pt x="501154" y="2185403"/>
                </a:moveTo>
                <a:lnTo>
                  <a:pt x="496379" y="2177161"/>
                </a:lnTo>
                <a:lnTo>
                  <a:pt x="463423" y="2196274"/>
                </a:lnTo>
                <a:lnTo>
                  <a:pt x="468198" y="2204516"/>
                </a:lnTo>
                <a:lnTo>
                  <a:pt x="501154" y="2185403"/>
                </a:lnTo>
                <a:close/>
              </a:path>
              <a:path w="2484754" h="2472054">
                <a:moveTo>
                  <a:pt x="514997" y="1132166"/>
                </a:moveTo>
                <a:lnTo>
                  <a:pt x="499414" y="1097394"/>
                </a:lnTo>
                <a:lnTo>
                  <a:pt x="490728" y="1101293"/>
                </a:lnTo>
                <a:lnTo>
                  <a:pt x="506298" y="1136065"/>
                </a:lnTo>
                <a:lnTo>
                  <a:pt x="514997" y="1132166"/>
                </a:lnTo>
                <a:close/>
              </a:path>
              <a:path w="2484754" h="2472054">
                <a:moveTo>
                  <a:pt x="516001" y="1340307"/>
                </a:moveTo>
                <a:lnTo>
                  <a:pt x="507314" y="1336395"/>
                </a:lnTo>
                <a:lnTo>
                  <a:pt x="491705" y="1371155"/>
                </a:lnTo>
                <a:lnTo>
                  <a:pt x="500392" y="1375054"/>
                </a:lnTo>
                <a:lnTo>
                  <a:pt x="516001" y="1340307"/>
                </a:lnTo>
                <a:close/>
              </a:path>
              <a:path w="2484754" h="2472054">
                <a:moveTo>
                  <a:pt x="542251" y="1193012"/>
                </a:moveTo>
                <a:lnTo>
                  <a:pt x="526681" y="1158252"/>
                </a:lnTo>
                <a:lnTo>
                  <a:pt x="517982" y="1162138"/>
                </a:lnTo>
                <a:lnTo>
                  <a:pt x="533565" y="1196911"/>
                </a:lnTo>
                <a:lnTo>
                  <a:pt x="542251" y="1193012"/>
                </a:lnTo>
                <a:close/>
              </a:path>
              <a:path w="2484754" h="2472054">
                <a:moveTo>
                  <a:pt x="543318" y="1279486"/>
                </a:moveTo>
                <a:lnTo>
                  <a:pt x="534631" y="1275575"/>
                </a:lnTo>
                <a:lnTo>
                  <a:pt x="519023" y="1310335"/>
                </a:lnTo>
                <a:lnTo>
                  <a:pt x="527710" y="1314234"/>
                </a:lnTo>
                <a:lnTo>
                  <a:pt x="543318" y="1279486"/>
                </a:lnTo>
                <a:close/>
              </a:path>
              <a:path w="2484754" h="2472054">
                <a:moveTo>
                  <a:pt x="550786" y="1681238"/>
                </a:moveTo>
                <a:lnTo>
                  <a:pt x="521411" y="1656981"/>
                </a:lnTo>
                <a:lnTo>
                  <a:pt x="515353" y="1664322"/>
                </a:lnTo>
                <a:lnTo>
                  <a:pt x="544728" y="1688579"/>
                </a:lnTo>
                <a:lnTo>
                  <a:pt x="550786" y="1681238"/>
                </a:lnTo>
                <a:close/>
              </a:path>
              <a:path w="2484754" h="2472054">
                <a:moveTo>
                  <a:pt x="552208" y="792518"/>
                </a:moveTo>
                <a:lnTo>
                  <a:pt x="546163" y="785152"/>
                </a:lnTo>
                <a:lnTo>
                  <a:pt x="516712" y="809320"/>
                </a:lnTo>
                <a:lnTo>
                  <a:pt x="522757" y="816686"/>
                </a:lnTo>
                <a:lnTo>
                  <a:pt x="552208" y="792518"/>
                </a:lnTo>
                <a:close/>
              </a:path>
              <a:path w="2484754" h="2472054">
                <a:moveTo>
                  <a:pt x="557580" y="322262"/>
                </a:moveTo>
                <a:lnTo>
                  <a:pt x="524687" y="303022"/>
                </a:lnTo>
                <a:lnTo>
                  <a:pt x="519887" y="311238"/>
                </a:lnTo>
                <a:lnTo>
                  <a:pt x="552767" y="330479"/>
                </a:lnTo>
                <a:lnTo>
                  <a:pt x="557580" y="322262"/>
                </a:lnTo>
                <a:close/>
              </a:path>
              <a:path w="2484754" h="2472054">
                <a:moveTo>
                  <a:pt x="558838" y="2151964"/>
                </a:moveTo>
                <a:lnTo>
                  <a:pt x="554062" y="2143722"/>
                </a:lnTo>
                <a:lnTo>
                  <a:pt x="521106" y="2162835"/>
                </a:lnTo>
                <a:lnTo>
                  <a:pt x="525881" y="2171077"/>
                </a:lnTo>
                <a:lnTo>
                  <a:pt x="558838" y="2151964"/>
                </a:lnTo>
                <a:close/>
              </a:path>
              <a:path w="2484754" h="2472054">
                <a:moveTo>
                  <a:pt x="570636" y="1218653"/>
                </a:moveTo>
                <a:lnTo>
                  <a:pt x="561949" y="1214755"/>
                </a:lnTo>
                <a:lnTo>
                  <a:pt x="556958" y="1225867"/>
                </a:lnTo>
                <a:lnTo>
                  <a:pt x="553935" y="1219098"/>
                </a:lnTo>
                <a:lnTo>
                  <a:pt x="545249" y="1222984"/>
                </a:lnTo>
                <a:lnTo>
                  <a:pt x="551738" y="1237488"/>
                </a:lnTo>
                <a:lnTo>
                  <a:pt x="546341" y="1249514"/>
                </a:lnTo>
                <a:lnTo>
                  <a:pt x="555028" y="1253413"/>
                </a:lnTo>
                <a:lnTo>
                  <a:pt x="556945" y="1249133"/>
                </a:lnTo>
                <a:lnTo>
                  <a:pt x="560819" y="1257757"/>
                </a:lnTo>
                <a:lnTo>
                  <a:pt x="569518" y="1253858"/>
                </a:lnTo>
                <a:lnTo>
                  <a:pt x="562178" y="1237488"/>
                </a:lnTo>
                <a:lnTo>
                  <a:pt x="570636" y="1218653"/>
                </a:lnTo>
                <a:close/>
              </a:path>
              <a:path w="2484754" h="2472054">
                <a:moveTo>
                  <a:pt x="596785" y="1314704"/>
                </a:moveTo>
                <a:lnTo>
                  <a:pt x="581202" y="1279944"/>
                </a:lnTo>
                <a:lnTo>
                  <a:pt x="572503" y="1283830"/>
                </a:lnTo>
                <a:lnTo>
                  <a:pt x="588086" y="1318602"/>
                </a:lnTo>
                <a:lnTo>
                  <a:pt x="596785" y="1314704"/>
                </a:lnTo>
                <a:close/>
              </a:path>
              <a:path w="2484754" h="2472054">
                <a:moveTo>
                  <a:pt x="597954" y="1157833"/>
                </a:moveTo>
                <a:lnTo>
                  <a:pt x="589267" y="1153934"/>
                </a:lnTo>
                <a:lnTo>
                  <a:pt x="573659" y="1188694"/>
                </a:lnTo>
                <a:lnTo>
                  <a:pt x="582345" y="1192593"/>
                </a:lnTo>
                <a:lnTo>
                  <a:pt x="597954" y="1157833"/>
                </a:lnTo>
                <a:close/>
              </a:path>
              <a:path w="2484754" h="2472054">
                <a:moveTo>
                  <a:pt x="602195" y="1723707"/>
                </a:moveTo>
                <a:lnTo>
                  <a:pt x="572820" y="1699437"/>
                </a:lnTo>
                <a:lnTo>
                  <a:pt x="566750" y="1706778"/>
                </a:lnTo>
                <a:lnTo>
                  <a:pt x="596125" y="1731048"/>
                </a:lnTo>
                <a:lnTo>
                  <a:pt x="602195" y="1723707"/>
                </a:lnTo>
                <a:close/>
              </a:path>
              <a:path w="2484754" h="2472054">
                <a:moveTo>
                  <a:pt x="603745" y="750214"/>
                </a:moveTo>
                <a:lnTo>
                  <a:pt x="597700" y="742848"/>
                </a:lnTo>
                <a:lnTo>
                  <a:pt x="568248" y="767029"/>
                </a:lnTo>
                <a:lnTo>
                  <a:pt x="574294" y="774382"/>
                </a:lnTo>
                <a:lnTo>
                  <a:pt x="603745" y="750214"/>
                </a:lnTo>
                <a:close/>
              </a:path>
              <a:path w="2484754" h="2472054">
                <a:moveTo>
                  <a:pt x="615124" y="355930"/>
                </a:moveTo>
                <a:lnTo>
                  <a:pt x="582244" y="336689"/>
                </a:lnTo>
                <a:lnTo>
                  <a:pt x="577430" y="344906"/>
                </a:lnTo>
                <a:lnTo>
                  <a:pt x="610323" y="364147"/>
                </a:lnTo>
                <a:lnTo>
                  <a:pt x="615124" y="355930"/>
                </a:lnTo>
                <a:close/>
              </a:path>
              <a:path w="2484754" h="2472054">
                <a:moveTo>
                  <a:pt x="616521" y="2118525"/>
                </a:moveTo>
                <a:lnTo>
                  <a:pt x="611746" y="2110282"/>
                </a:lnTo>
                <a:lnTo>
                  <a:pt x="578789" y="2129396"/>
                </a:lnTo>
                <a:lnTo>
                  <a:pt x="583565" y="2137638"/>
                </a:lnTo>
                <a:lnTo>
                  <a:pt x="616521" y="2118525"/>
                </a:lnTo>
                <a:close/>
              </a:path>
              <a:path w="2484754" h="2472054">
                <a:moveTo>
                  <a:pt x="624039" y="1375549"/>
                </a:moveTo>
                <a:lnTo>
                  <a:pt x="608469" y="1340789"/>
                </a:lnTo>
                <a:lnTo>
                  <a:pt x="599770" y="1344676"/>
                </a:lnTo>
                <a:lnTo>
                  <a:pt x="615353" y="1379448"/>
                </a:lnTo>
                <a:lnTo>
                  <a:pt x="624039" y="1375549"/>
                </a:lnTo>
                <a:close/>
              </a:path>
              <a:path w="2484754" h="2472054">
                <a:moveTo>
                  <a:pt x="625271" y="1097013"/>
                </a:moveTo>
                <a:lnTo>
                  <a:pt x="616585" y="1093114"/>
                </a:lnTo>
                <a:lnTo>
                  <a:pt x="600976" y="1127861"/>
                </a:lnTo>
                <a:lnTo>
                  <a:pt x="609663" y="1131773"/>
                </a:lnTo>
                <a:lnTo>
                  <a:pt x="625271" y="1097013"/>
                </a:lnTo>
                <a:close/>
              </a:path>
              <a:path w="2484754" h="2472054">
                <a:moveTo>
                  <a:pt x="651306" y="1436408"/>
                </a:moveTo>
                <a:lnTo>
                  <a:pt x="635723" y="1401635"/>
                </a:lnTo>
                <a:lnTo>
                  <a:pt x="627037" y="1405521"/>
                </a:lnTo>
                <a:lnTo>
                  <a:pt x="642607" y="1440294"/>
                </a:lnTo>
                <a:lnTo>
                  <a:pt x="651306" y="1436408"/>
                </a:lnTo>
                <a:close/>
              </a:path>
              <a:path w="2484754" h="2472054">
                <a:moveTo>
                  <a:pt x="652589" y="1036193"/>
                </a:moveTo>
                <a:lnTo>
                  <a:pt x="643902" y="1032294"/>
                </a:lnTo>
                <a:lnTo>
                  <a:pt x="628281" y="1067041"/>
                </a:lnTo>
                <a:lnTo>
                  <a:pt x="636981" y="1070952"/>
                </a:lnTo>
                <a:lnTo>
                  <a:pt x="652589" y="1036193"/>
                </a:lnTo>
                <a:close/>
              </a:path>
              <a:path w="2484754" h="2472054">
                <a:moveTo>
                  <a:pt x="653592" y="1766176"/>
                </a:moveTo>
                <a:lnTo>
                  <a:pt x="624217" y="1741906"/>
                </a:lnTo>
                <a:lnTo>
                  <a:pt x="618159" y="1749247"/>
                </a:lnTo>
                <a:lnTo>
                  <a:pt x="647534" y="1773516"/>
                </a:lnTo>
                <a:lnTo>
                  <a:pt x="653592" y="1766176"/>
                </a:lnTo>
                <a:close/>
              </a:path>
              <a:path w="2484754" h="2472054">
                <a:moveTo>
                  <a:pt x="655281" y="707910"/>
                </a:moveTo>
                <a:lnTo>
                  <a:pt x="649236" y="700557"/>
                </a:lnTo>
                <a:lnTo>
                  <a:pt x="619785" y="724725"/>
                </a:lnTo>
                <a:lnTo>
                  <a:pt x="625830" y="732091"/>
                </a:lnTo>
                <a:lnTo>
                  <a:pt x="655281" y="707910"/>
                </a:lnTo>
                <a:close/>
              </a:path>
              <a:path w="2484754" h="2472054">
                <a:moveTo>
                  <a:pt x="672680" y="389597"/>
                </a:moveTo>
                <a:lnTo>
                  <a:pt x="639787" y="370357"/>
                </a:lnTo>
                <a:lnTo>
                  <a:pt x="634987" y="378587"/>
                </a:lnTo>
                <a:lnTo>
                  <a:pt x="667867" y="397814"/>
                </a:lnTo>
                <a:lnTo>
                  <a:pt x="672680" y="389597"/>
                </a:lnTo>
                <a:close/>
              </a:path>
              <a:path w="2484754" h="2472054">
                <a:moveTo>
                  <a:pt x="674204" y="2085086"/>
                </a:moveTo>
                <a:lnTo>
                  <a:pt x="669429" y="2076843"/>
                </a:lnTo>
                <a:lnTo>
                  <a:pt x="636473" y="2095957"/>
                </a:lnTo>
                <a:lnTo>
                  <a:pt x="641248" y="2104186"/>
                </a:lnTo>
                <a:lnTo>
                  <a:pt x="674204" y="2085086"/>
                </a:lnTo>
                <a:close/>
              </a:path>
              <a:path w="2484754" h="2472054">
                <a:moveTo>
                  <a:pt x="678573" y="1497253"/>
                </a:moveTo>
                <a:lnTo>
                  <a:pt x="662990" y="1462481"/>
                </a:lnTo>
                <a:lnTo>
                  <a:pt x="654291" y="1466380"/>
                </a:lnTo>
                <a:lnTo>
                  <a:pt x="669874" y="1501140"/>
                </a:lnTo>
                <a:lnTo>
                  <a:pt x="678573" y="1497253"/>
                </a:lnTo>
                <a:close/>
              </a:path>
              <a:path w="2484754" h="2472054">
                <a:moveTo>
                  <a:pt x="679907" y="975372"/>
                </a:moveTo>
                <a:lnTo>
                  <a:pt x="671220" y="971473"/>
                </a:lnTo>
                <a:lnTo>
                  <a:pt x="655599" y="1006221"/>
                </a:lnTo>
                <a:lnTo>
                  <a:pt x="664298" y="1010119"/>
                </a:lnTo>
                <a:lnTo>
                  <a:pt x="679907" y="975372"/>
                </a:lnTo>
                <a:close/>
              </a:path>
              <a:path w="2484754" h="2472054">
                <a:moveTo>
                  <a:pt x="705002" y="1808632"/>
                </a:moveTo>
                <a:lnTo>
                  <a:pt x="675627" y="1784362"/>
                </a:lnTo>
                <a:lnTo>
                  <a:pt x="669556" y="1791716"/>
                </a:lnTo>
                <a:lnTo>
                  <a:pt x="698931" y="1815973"/>
                </a:lnTo>
                <a:lnTo>
                  <a:pt x="705002" y="1808632"/>
                </a:lnTo>
                <a:close/>
              </a:path>
              <a:path w="2484754" h="2472054">
                <a:moveTo>
                  <a:pt x="705827" y="1558099"/>
                </a:moveTo>
                <a:lnTo>
                  <a:pt x="690257" y="1523326"/>
                </a:lnTo>
                <a:lnTo>
                  <a:pt x="681558" y="1527225"/>
                </a:lnTo>
                <a:lnTo>
                  <a:pt x="697141" y="1561985"/>
                </a:lnTo>
                <a:lnTo>
                  <a:pt x="705827" y="1558099"/>
                </a:lnTo>
                <a:close/>
              </a:path>
              <a:path w="2484754" h="2472054">
                <a:moveTo>
                  <a:pt x="706818" y="665619"/>
                </a:moveTo>
                <a:lnTo>
                  <a:pt x="700773" y="658253"/>
                </a:lnTo>
                <a:lnTo>
                  <a:pt x="671322" y="682421"/>
                </a:lnTo>
                <a:lnTo>
                  <a:pt x="677367" y="689787"/>
                </a:lnTo>
                <a:lnTo>
                  <a:pt x="706818" y="665619"/>
                </a:lnTo>
                <a:close/>
              </a:path>
              <a:path w="2484754" h="2472054">
                <a:moveTo>
                  <a:pt x="707224" y="914552"/>
                </a:moveTo>
                <a:lnTo>
                  <a:pt x="698525" y="910640"/>
                </a:lnTo>
                <a:lnTo>
                  <a:pt x="682917" y="945400"/>
                </a:lnTo>
                <a:lnTo>
                  <a:pt x="691616" y="949299"/>
                </a:lnTo>
                <a:lnTo>
                  <a:pt x="707224" y="914552"/>
                </a:lnTo>
                <a:close/>
              </a:path>
              <a:path w="2484754" h="2472054">
                <a:moveTo>
                  <a:pt x="730224" y="423265"/>
                </a:moveTo>
                <a:lnTo>
                  <a:pt x="697344" y="404025"/>
                </a:lnTo>
                <a:lnTo>
                  <a:pt x="692531" y="412254"/>
                </a:lnTo>
                <a:lnTo>
                  <a:pt x="725411" y="431495"/>
                </a:lnTo>
                <a:lnTo>
                  <a:pt x="730224" y="423265"/>
                </a:lnTo>
                <a:close/>
              </a:path>
              <a:path w="2484754" h="2472054">
                <a:moveTo>
                  <a:pt x="731888" y="2051646"/>
                </a:moveTo>
                <a:lnTo>
                  <a:pt x="727113" y="2043404"/>
                </a:lnTo>
                <a:lnTo>
                  <a:pt x="694156" y="2062518"/>
                </a:lnTo>
                <a:lnTo>
                  <a:pt x="698931" y="2070747"/>
                </a:lnTo>
                <a:lnTo>
                  <a:pt x="731888" y="2051646"/>
                </a:lnTo>
                <a:close/>
              </a:path>
              <a:path w="2484754" h="2472054">
                <a:moveTo>
                  <a:pt x="733094" y="1618945"/>
                </a:moveTo>
                <a:lnTo>
                  <a:pt x="717511" y="1584172"/>
                </a:lnTo>
                <a:lnTo>
                  <a:pt x="708825" y="1588071"/>
                </a:lnTo>
                <a:lnTo>
                  <a:pt x="724395" y="1622831"/>
                </a:lnTo>
                <a:lnTo>
                  <a:pt x="733094" y="1618945"/>
                </a:lnTo>
                <a:close/>
              </a:path>
              <a:path w="2484754" h="2472054">
                <a:moveTo>
                  <a:pt x="734542" y="853719"/>
                </a:moveTo>
                <a:lnTo>
                  <a:pt x="725843" y="849820"/>
                </a:lnTo>
                <a:lnTo>
                  <a:pt x="710234" y="884580"/>
                </a:lnTo>
                <a:lnTo>
                  <a:pt x="718921" y="888479"/>
                </a:lnTo>
                <a:lnTo>
                  <a:pt x="734542" y="853719"/>
                </a:lnTo>
                <a:close/>
              </a:path>
              <a:path w="2484754" h="2472054">
                <a:moveTo>
                  <a:pt x="756399" y="1851101"/>
                </a:moveTo>
                <a:lnTo>
                  <a:pt x="727036" y="1826831"/>
                </a:lnTo>
                <a:lnTo>
                  <a:pt x="720966" y="1834172"/>
                </a:lnTo>
                <a:lnTo>
                  <a:pt x="750341" y="1858441"/>
                </a:lnTo>
                <a:lnTo>
                  <a:pt x="756399" y="1851101"/>
                </a:lnTo>
                <a:close/>
              </a:path>
              <a:path w="2484754" h="2472054">
                <a:moveTo>
                  <a:pt x="758355" y="623316"/>
                </a:moveTo>
                <a:lnTo>
                  <a:pt x="752309" y="615950"/>
                </a:lnTo>
                <a:lnTo>
                  <a:pt x="722871" y="640118"/>
                </a:lnTo>
                <a:lnTo>
                  <a:pt x="728903" y="647484"/>
                </a:lnTo>
                <a:lnTo>
                  <a:pt x="758355" y="623316"/>
                </a:lnTo>
                <a:close/>
              </a:path>
              <a:path w="2484754" h="2472054">
                <a:moveTo>
                  <a:pt x="760349" y="1679790"/>
                </a:moveTo>
                <a:lnTo>
                  <a:pt x="744778" y="1645018"/>
                </a:lnTo>
                <a:lnTo>
                  <a:pt x="736079" y="1648917"/>
                </a:lnTo>
                <a:lnTo>
                  <a:pt x="751662" y="1683689"/>
                </a:lnTo>
                <a:lnTo>
                  <a:pt x="760349" y="1679790"/>
                </a:lnTo>
                <a:close/>
              </a:path>
              <a:path w="2484754" h="2472054">
                <a:moveTo>
                  <a:pt x="761860" y="792899"/>
                </a:moveTo>
                <a:lnTo>
                  <a:pt x="753160" y="789000"/>
                </a:lnTo>
                <a:lnTo>
                  <a:pt x="737552" y="823760"/>
                </a:lnTo>
                <a:lnTo>
                  <a:pt x="746239" y="827659"/>
                </a:lnTo>
                <a:lnTo>
                  <a:pt x="761860" y="792899"/>
                </a:lnTo>
                <a:close/>
              </a:path>
              <a:path w="2484754" h="2472054">
                <a:moveTo>
                  <a:pt x="787615" y="1740636"/>
                </a:moveTo>
                <a:lnTo>
                  <a:pt x="772033" y="1705864"/>
                </a:lnTo>
                <a:lnTo>
                  <a:pt x="763346" y="1709762"/>
                </a:lnTo>
                <a:lnTo>
                  <a:pt x="778929" y="1744535"/>
                </a:lnTo>
                <a:lnTo>
                  <a:pt x="787615" y="1740636"/>
                </a:lnTo>
                <a:close/>
              </a:path>
              <a:path w="2484754" h="2472054">
                <a:moveTo>
                  <a:pt x="787781" y="456933"/>
                </a:moveTo>
                <a:lnTo>
                  <a:pt x="754888" y="437692"/>
                </a:lnTo>
                <a:lnTo>
                  <a:pt x="750087" y="445922"/>
                </a:lnTo>
                <a:lnTo>
                  <a:pt x="782967" y="465162"/>
                </a:lnTo>
                <a:lnTo>
                  <a:pt x="787781" y="456933"/>
                </a:lnTo>
                <a:close/>
              </a:path>
              <a:path w="2484754" h="2472054">
                <a:moveTo>
                  <a:pt x="789165" y="732078"/>
                </a:moveTo>
                <a:lnTo>
                  <a:pt x="780478" y="728179"/>
                </a:lnTo>
                <a:lnTo>
                  <a:pt x="764870" y="762939"/>
                </a:lnTo>
                <a:lnTo>
                  <a:pt x="773557" y="766838"/>
                </a:lnTo>
                <a:lnTo>
                  <a:pt x="789165" y="732078"/>
                </a:lnTo>
                <a:close/>
              </a:path>
              <a:path w="2484754" h="2472054">
                <a:moveTo>
                  <a:pt x="789571" y="2018207"/>
                </a:moveTo>
                <a:lnTo>
                  <a:pt x="784796" y="2009965"/>
                </a:lnTo>
                <a:lnTo>
                  <a:pt x="751840" y="2029079"/>
                </a:lnTo>
                <a:lnTo>
                  <a:pt x="756615" y="2037308"/>
                </a:lnTo>
                <a:lnTo>
                  <a:pt x="789571" y="2018207"/>
                </a:lnTo>
                <a:close/>
              </a:path>
              <a:path w="2484754" h="2472054">
                <a:moveTo>
                  <a:pt x="807808" y="1893557"/>
                </a:moveTo>
                <a:lnTo>
                  <a:pt x="778433" y="1869300"/>
                </a:lnTo>
                <a:lnTo>
                  <a:pt x="772363" y="1876640"/>
                </a:lnTo>
                <a:lnTo>
                  <a:pt x="801738" y="1900910"/>
                </a:lnTo>
                <a:lnTo>
                  <a:pt x="807808" y="1893557"/>
                </a:lnTo>
                <a:close/>
              </a:path>
              <a:path w="2484754" h="2472054">
                <a:moveTo>
                  <a:pt x="809891" y="581012"/>
                </a:moveTo>
                <a:lnTo>
                  <a:pt x="803859" y="573646"/>
                </a:lnTo>
                <a:lnTo>
                  <a:pt x="774407" y="597827"/>
                </a:lnTo>
                <a:lnTo>
                  <a:pt x="780453" y="605180"/>
                </a:lnTo>
                <a:lnTo>
                  <a:pt x="809891" y="581012"/>
                </a:lnTo>
                <a:close/>
              </a:path>
              <a:path w="2484754" h="2472054">
                <a:moveTo>
                  <a:pt x="814882" y="1801482"/>
                </a:moveTo>
                <a:lnTo>
                  <a:pt x="799299" y="1766709"/>
                </a:lnTo>
                <a:lnTo>
                  <a:pt x="790613" y="1770608"/>
                </a:lnTo>
                <a:lnTo>
                  <a:pt x="806183" y="1805381"/>
                </a:lnTo>
                <a:lnTo>
                  <a:pt x="814882" y="1801482"/>
                </a:lnTo>
                <a:close/>
              </a:path>
              <a:path w="2484754" h="2472054">
                <a:moveTo>
                  <a:pt x="816483" y="671258"/>
                </a:moveTo>
                <a:lnTo>
                  <a:pt x="807796" y="667359"/>
                </a:lnTo>
                <a:lnTo>
                  <a:pt x="792187" y="702106"/>
                </a:lnTo>
                <a:lnTo>
                  <a:pt x="800874" y="706018"/>
                </a:lnTo>
                <a:lnTo>
                  <a:pt x="816483" y="671258"/>
                </a:lnTo>
                <a:close/>
              </a:path>
              <a:path w="2484754" h="2472054">
                <a:moveTo>
                  <a:pt x="842137" y="1862328"/>
                </a:moveTo>
                <a:lnTo>
                  <a:pt x="826566" y="1827555"/>
                </a:lnTo>
                <a:lnTo>
                  <a:pt x="817867" y="1831454"/>
                </a:lnTo>
                <a:lnTo>
                  <a:pt x="833450" y="1866226"/>
                </a:lnTo>
                <a:lnTo>
                  <a:pt x="842137" y="1862328"/>
                </a:lnTo>
                <a:close/>
              </a:path>
              <a:path w="2484754" h="2472054">
                <a:moveTo>
                  <a:pt x="843800" y="610438"/>
                </a:moveTo>
                <a:lnTo>
                  <a:pt x="835113" y="606539"/>
                </a:lnTo>
                <a:lnTo>
                  <a:pt x="819505" y="641286"/>
                </a:lnTo>
                <a:lnTo>
                  <a:pt x="828192" y="645198"/>
                </a:lnTo>
                <a:lnTo>
                  <a:pt x="843800" y="610438"/>
                </a:lnTo>
                <a:close/>
              </a:path>
              <a:path w="2484754" h="2472054">
                <a:moveTo>
                  <a:pt x="880643" y="1959902"/>
                </a:moveTo>
                <a:lnTo>
                  <a:pt x="795616" y="1965159"/>
                </a:lnTo>
                <a:lnTo>
                  <a:pt x="812330" y="1994001"/>
                </a:lnTo>
                <a:lnTo>
                  <a:pt x="809523" y="1995639"/>
                </a:lnTo>
                <a:lnTo>
                  <a:pt x="814298" y="2003869"/>
                </a:lnTo>
                <a:lnTo>
                  <a:pt x="817105" y="2002243"/>
                </a:lnTo>
                <a:lnTo>
                  <a:pt x="833831" y="2031085"/>
                </a:lnTo>
                <a:lnTo>
                  <a:pt x="852792" y="2002243"/>
                </a:lnTo>
                <a:lnTo>
                  <a:pt x="880643" y="1959902"/>
                </a:lnTo>
                <a:close/>
              </a:path>
              <a:path w="2484754" h="2472054">
                <a:moveTo>
                  <a:pt x="880643" y="516788"/>
                </a:moveTo>
                <a:lnTo>
                  <a:pt x="852868" y="474192"/>
                </a:lnTo>
                <a:lnTo>
                  <a:pt x="834110" y="445427"/>
                </a:lnTo>
                <a:lnTo>
                  <a:pt x="817283" y="474192"/>
                </a:lnTo>
                <a:lnTo>
                  <a:pt x="812444" y="471373"/>
                </a:lnTo>
                <a:lnTo>
                  <a:pt x="807631" y="479590"/>
                </a:lnTo>
                <a:lnTo>
                  <a:pt x="812469" y="482422"/>
                </a:lnTo>
                <a:lnTo>
                  <a:pt x="795629" y="511187"/>
                </a:lnTo>
                <a:lnTo>
                  <a:pt x="880643" y="516788"/>
                </a:lnTo>
                <a:close/>
              </a:path>
              <a:path w="2484754" h="2472054">
                <a:moveTo>
                  <a:pt x="884174" y="601903"/>
                </a:moveTo>
                <a:lnTo>
                  <a:pt x="880643" y="516788"/>
                </a:lnTo>
                <a:lnTo>
                  <a:pt x="797572" y="535686"/>
                </a:lnTo>
                <a:lnTo>
                  <a:pt x="821626" y="565010"/>
                </a:lnTo>
                <a:lnTo>
                  <a:pt x="814666" y="570687"/>
                </a:lnTo>
                <a:lnTo>
                  <a:pt x="833081" y="578967"/>
                </a:lnTo>
                <a:lnTo>
                  <a:pt x="845908" y="594575"/>
                </a:lnTo>
                <a:lnTo>
                  <a:pt x="849566" y="586371"/>
                </a:lnTo>
                <a:lnTo>
                  <a:pt x="884174" y="601903"/>
                </a:lnTo>
                <a:close/>
              </a:path>
              <a:path w="2484754" h="2472054">
                <a:moveTo>
                  <a:pt x="884250" y="1874786"/>
                </a:moveTo>
                <a:lnTo>
                  <a:pt x="853833" y="1888426"/>
                </a:lnTo>
                <a:lnTo>
                  <a:pt x="849795" y="1890217"/>
                </a:lnTo>
                <a:lnTo>
                  <a:pt x="846162" y="1882000"/>
                </a:lnTo>
                <a:lnTo>
                  <a:pt x="833234" y="1897659"/>
                </a:lnTo>
                <a:lnTo>
                  <a:pt x="814717" y="1905952"/>
                </a:lnTo>
                <a:lnTo>
                  <a:pt x="821664" y="1911654"/>
                </a:lnTo>
                <a:lnTo>
                  <a:pt x="797636" y="1940750"/>
                </a:lnTo>
                <a:lnTo>
                  <a:pt x="880643" y="1959902"/>
                </a:lnTo>
                <a:lnTo>
                  <a:pt x="884250" y="1874786"/>
                </a:lnTo>
                <a:close/>
              </a:path>
              <a:path w="2484754" h="2472054">
                <a:moveTo>
                  <a:pt x="1639836" y="501662"/>
                </a:moveTo>
                <a:lnTo>
                  <a:pt x="1635023" y="493433"/>
                </a:lnTo>
                <a:lnTo>
                  <a:pt x="1602143" y="512673"/>
                </a:lnTo>
                <a:lnTo>
                  <a:pt x="1604543" y="516788"/>
                </a:lnTo>
                <a:lnTo>
                  <a:pt x="1600200" y="518744"/>
                </a:lnTo>
                <a:lnTo>
                  <a:pt x="1615808" y="553491"/>
                </a:lnTo>
                <a:lnTo>
                  <a:pt x="1624495" y="549592"/>
                </a:lnTo>
                <a:lnTo>
                  <a:pt x="1617192" y="533336"/>
                </a:lnTo>
                <a:lnTo>
                  <a:pt x="1630972" y="544639"/>
                </a:lnTo>
                <a:lnTo>
                  <a:pt x="1637017" y="537273"/>
                </a:lnTo>
                <a:lnTo>
                  <a:pt x="1612849" y="517448"/>
                </a:lnTo>
                <a:lnTo>
                  <a:pt x="1639836" y="501662"/>
                </a:lnTo>
                <a:close/>
              </a:path>
              <a:path w="2484754" h="2472054">
                <a:moveTo>
                  <a:pt x="1639900" y="1974900"/>
                </a:moveTo>
                <a:lnTo>
                  <a:pt x="1612849" y="1959229"/>
                </a:lnTo>
                <a:lnTo>
                  <a:pt x="1636953" y="1939315"/>
                </a:lnTo>
                <a:lnTo>
                  <a:pt x="1630883" y="1931974"/>
                </a:lnTo>
                <a:lnTo>
                  <a:pt x="1617218" y="1943265"/>
                </a:lnTo>
                <a:lnTo>
                  <a:pt x="1624469" y="1927085"/>
                </a:lnTo>
                <a:lnTo>
                  <a:pt x="1615770" y="1923186"/>
                </a:lnTo>
                <a:lnTo>
                  <a:pt x="1600200" y="1957959"/>
                </a:lnTo>
                <a:lnTo>
                  <a:pt x="1604530" y="1959914"/>
                </a:lnTo>
                <a:lnTo>
                  <a:pt x="1602155" y="1964029"/>
                </a:lnTo>
                <a:lnTo>
                  <a:pt x="1635112" y="1983130"/>
                </a:lnTo>
                <a:lnTo>
                  <a:pt x="1639900" y="1974900"/>
                </a:lnTo>
                <a:close/>
              </a:path>
              <a:path w="2484754" h="2472054">
                <a:moveTo>
                  <a:pt x="1651736" y="1866239"/>
                </a:moveTo>
                <a:lnTo>
                  <a:pt x="1643037" y="1862340"/>
                </a:lnTo>
                <a:lnTo>
                  <a:pt x="1627454" y="1897113"/>
                </a:lnTo>
                <a:lnTo>
                  <a:pt x="1636153" y="1901012"/>
                </a:lnTo>
                <a:lnTo>
                  <a:pt x="1651736" y="1866239"/>
                </a:lnTo>
                <a:close/>
              </a:path>
              <a:path w="2484754" h="2472054">
                <a:moveTo>
                  <a:pt x="1651812" y="610412"/>
                </a:moveTo>
                <a:lnTo>
                  <a:pt x="1636204" y="575652"/>
                </a:lnTo>
                <a:lnTo>
                  <a:pt x="1627517" y="579564"/>
                </a:lnTo>
                <a:lnTo>
                  <a:pt x="1643126" y="614311"/>
                </a:lnTo>
                <a:lnTo>
                  <a:pt x="1651812" y="610412"/>
                </a:lnTo>
                <a:close/>
              </a:path>
              <a:path w="2484754" h="2472054">
                <a:moveTo>
                  <a:pt x="1678990" y="1805393"/>
                </a:moveTo>
                <a:lnTo>
                  <a:pt x="1670304" y="1801495"/>
                </a:lnTo>
                <a:lnTo>
                  <a:pt x="1654721" y="1836267"/>
                </a:lnTo>
                <a:lnTo>
                  <a:pt x="1663420" y="1840166"/>
                </a:lnTo>
                <a:lnTo>
                  <a:pt x="1678990" y="1805393"/>
                </a:lnTo>
                <a:close/>
              </a:path>
              <a:path w="2484754" h="2472054">
                <a:moveTo>
                  <a:pt x="1679130" y="671233"/>
                </a:moveTo>
                <a:lnTo>
                  <a:pt x="1663522" y="636485"/>
                </a:lnTo>
                <a:lnTo>
                  <a:pt x="1654835" y="640384"/>
                </a:lnTo>
                <a:lnTo>
                  <a:pt x="1670443" y="675144"/>
                </a:lnTo>
                <a:lnTo>
                  <a:pt x="1679130" y="671233"/>
                </a:lnTo>
                <a:close/>
              </a:path>
              <a:path w="2484754" h="2472054">
                <a:moveTo>
                  <a:pt x="1688350" y="1896846"/>
                </a:moveTo>
                <a:lnTo>
                  <a:pt x="1682292" y="1889506"/>
                </a:lnTo>
                <a:lnTo>
                  <a:pt x="1652917" y="1913775"/>
                </a:lnTo>
                <a:lnTo>
                  <a:pt x="1658975" y="1921116"/>
                </a:lnTo>
                <a:lnTo>
                  <a:pt x="1688350" y="1896846"/>
                </a:lnTo>
                <a:close/>
              </a:path>
              <a:path w="2484754" h="2472054">
                <a:moveTo>
                  <a:pt x="1688553" y="579577"/>
                </a:moveTo>
                <a:lnTo>
                  <a:pt x="1659102" y="555409"/>
                </a:lnTo>
                <a:lnTo>
                  <a:pt x="1653057" y="562775"/>
                </a:lnTo>
                <a:lnTo>
                  <a:pt x="1682508" y="586943"/>
                </a:lnTo>
                <a:lnTo>
                  <a:pt x="1688553" y="579577"/>
                </a:lnTo>
                <a:close/>
              </a:path>
              <a:path w="2484754" h="2472054">
                <a:moveTo>
                  <a:pt x="1697380" y="467995"/>
                </a:moveTo>
                <a:lnTo>
                  <a:pt x="1692579" y="459765"/>
                </a:lnTo>
                <a:lnTo>
                  <a:pt x="1659686" y="479005"/>
                </a:lnTo>
                <a:lnTo>
                  <a:pt x="1664500" y="487235"/>
                </a:lnTo>
                <a:lnTo>
                  <a:pt x="1697380" y="467995"/>
                </a:lnTo>
                <a:close/>
              </a:path>
              <a:path w="2484754" h="2472054">
                <a:moveTo>
                  <a:pt x="1697583" y="2008339"/>
                </a:moveTo>
                <a:lnTo>
                  <a:pt x="1664614" y="1989226"/>
                </a:lnTo>
                <a:lnTo>
                  <a:pt x="1659839" y="1997468"/>
                </a:lnTo>
                <a:lnTo>
                  <a:pt x="1692795" y="2016582"/>
                </a:lnTo>
                <a:lnTo>
                  <a:pt x="1697583" y="2008339"/>
                </a:lnTo>
                <a:close/>
              </a:path>
              <a:path w="2484754" h="2472054">
                <a:moveTo>
                  <a:pt x="1706257" y="1744548"/>
                </a:moveTo>
                <a:lnTo>
                  <a:pt x="1697558" y="1740649"/>
                </a:lnTo>
                <a:lnTo>
                  <a:pt x="1681988" y="1775421"/>
                </a:lnTo>
                <a:lnTo>
                  <a:pt x="1690674" y="1779320"/>
                </a:lnTo>
                <a:lnTo>
                  <a:pt x="1706257" y="1744548"/>
                </a:lnTo>
                <a:close/>
              </a:path>
              <a:path w="2484754" h="2472054">
                <a:moveTo>
                  <a:pt x="1706448" y="732053"/>
                </a:moveTo>
                <a:lnTo>
                  <a:pt x="1690839" y="697306"/>
                </a:lnTo>
                <a:lnTo>
                  <a:pt x="1682153" y="701205"/>
                </a:lnTo>
                <a:lnTo>
                  <a:pt x="1697761" y="735965"/>
                </a:lnTo>
                <a:lnTo>
                  <a:pt x="1706448" y="732053"/>
                </a:lnTo>
                <a:close/>
              </a:path>
              <a:path w="2484754" h="2472054">
                <a:moveTo>
                  <a:pt x="1733524" y="1683702"/>
                </a:moveTo>
                <a:lnTo>
                  <a:pt x="1724825" y="1679803"/>
                </a:lnTo>
                <a:lnTo>
                  <a:pt x="1709242" y="1714576"/>
                </a:lnTo>
                <a:lnTo>
                  <a:pt x="1717941" y="1718462"/>
                </a:lnTo>
                <a:lnTo>
                  <a:pt x="1733524" y="1683702"/>
                </a:lnTo>
                <a:close/>
              </a:path>
              <a:path w="2484754" h="2472054">
                <a:moveTo>
                  <a:pt x="1733765" y="792886"/>
                </a:moveTo>
                <a:lnTo>
                  <a:pt x="1718157" y="758126"/>
                </a:lnTo>
                <a:lnTo>
                  <a:pt x="1709470" y="762025"/>
                </a:lnTo>
                <a:lnTo>
                  <a:pt x="1725079" y="796785"/>
                </a:lnTo>
                <a:lnTo>
                  <a:pt x="1733765" y="792886"/>
                </a:lnTo>
                <a:close/>
              </a:path>
              <a:path w="2484754" h="2472054">
                <a:moveTo>
                  <a:pt x="1739760" y="1854390"/>
                </a:moveTo>
                <a:lnTo>
                  <a:pt x="1733689" y="1847037"/>
                </a:lnTo>
                <a:lnTo>
                  <a:pt x="1704314" y="1871306"/>
                </a:lnTo>
                <a:lnTo>
                  <a:pt x="1710385" y="1878647"/>
                </a:lnTo>
                <a:lnTo>
                  <a:pt x="1739760" y="1854390"/>
                </a:lnTo>
                <a:close/>
              </a:path>
              <a:path w="2484754" h="2472054">
                <a:moveTo>
                  <a:pt x="1740090" y="621880"/>
                </a:moveTo>
                <a:lnTo>
                  <a:pt x="1710639" y="597712"/>
                </a:lnTo>
                <a:lnTo>
                  <a:pt x="1704594" y="605066"/>
                </a:lnTo>
                <a:lnTo>
                  <a:pt x="1734045" y="629246"/>
                </a:lnTo>
                <a:lnTo>
                  <a:pt x="1740090" y="621880"/>
                </a:lnTo>
                <a:close/>
              </a:path>
              <a:path w="2484754" h="2472054">
                <a:moveTo>
                  <a:pt x="1754936" y="434314"/>
                </a:moveTo>
                <a:lnTo>
                  <a:pt x="1750123" y="426097"/>
                </a:lnTo>
                <a:lnTo>
                  <a:pt x="1717243" y="445338"/>
                </a:lnTo>
                <a:lnTo>
                  <a:pt x="1722043" y="453555"/>
                </a:lnTo>
                <a:lnTo>
                  <a:pt x="1754936" y="434314"/>
                </a:lnTo>
                <a:close/>
              </a:path>
              <a:path w="2484754" h="2472054">
                <a:moveTo>
                  <a:pt x="1755267" y="2041779"/>
                </a:moveTo>
                <a:lnTo>
                  <a:pt x="1722297" y="2022665"/>
                </a:lnTo>
                <a:lnTo>
                  <a:pt x="1717522" y="2030907"/>
                </a:lnTo>
                <a:lnTo>
                  <a:pt x="1750479" y="2050021"/>
                </a:lnTo>
                <a:lnTo>
                  <a:pt x="1755267" y="2041779"/>
                </a:lnTo>
                <a:close/>
              </a:path>
              <a:path w="2484754" h="2472054">
                <a:moveTo>
                  <a:pt x="1760778" y="1622856"/>
                </a:moveTo>
                <a:lnTo>
                  <a:pt x="1752092" y="1618957"/>
                </a:lnTo>
                <a:lnTo>
                  <a:pt x="1736509" y="1653730"/>
                </a:lnTo>
                <a:lnTo>
                  <a:pt x="1745208" y="1657616"/>
                </a:lnTo>
                <a:lnTo>
                  <a:pt x="1760778" y="1622856"/>
                </a:lnTo>
                <a:close/>
              </a:path>
              <a:path w="2484754" h="2472054">
                <a:moveTo>
                  <a:pt x="1761083" y="853706"/>
                </a:moveTo>
                <a:lnTo>
                  <a:pt x="1745475" y="818946"/>
                </a:lnTo>
                <a:lnTo>
                  <a:pt x="1736788" y="822845"/>
                </a:lnTo>
                <a:lnTo>
                  <a:pt x="1752396" y="857605"/>
                </a:lnTo>
                <a:lnTo>
                  <a:pt x="1761083" y="853706"/>
                </a:lnTo>
                <a:close/>
              </a:path>
              <a:path w="2484754" h="2472054">
                <a:moveTo>
                  <a:pt x="1788045" y="1562011"/>
                </a:moveTo>
                <a:lnTo>
                  <a:pt x="1779346" y="1558112"/>
                </a:lnTo>
                <a:lnTo>
                  <a:pt x="1763776" y="1592884"/>
                </a:lnTo>
                <a:lnTo>
                  <a:pt x="1772462" y="1596771"/>
                </a:lnTo>
                <a:lnTo>
                  <a:pt x="1788045" y="1562011"/>
                </a:lnTo>
                <a:close/>
              </a:path>
              <a:path w="2484754" h="2472054">
                <a:moveTo>
                  <a:pt x="1788401" y="914527"/>
                </a:moveTo>
                <a:lnTo>
                  <a:pt x="1772793" y="879767"/>
                </a:lnTo>
                <a:lnTo>
                  <a:pt x="1764106" y="883678"/>
                </a:lnTo>
                <a:lnTo>
                  <a:pt x="1779714" y="918425"/>
                </a:lnTo>
                <a:lnTo>
                  <a:pt x="1788401" y="914527"/>
                </a:lnTo>
                <a:close/>
              </a:path>
              <a:path w="2484754" h="2472054">
                <a:moveTo>
                  <a:pt x="1791157" y="1811921"/>
                </a:moveTo>
                <a:lnTo>
                  <a:pt x="1785099" y="1804581"/>
                </a:lnTo>
                <a:lnTo>
                  <a:pt x="1755724" y="1828838"/>
                </a:lnTo>
                <a:lnTo>
                  <a:pt x="1761794" y="1836191"/>
                </a:lnTo>
                <a:lnTo>
                  <a:pt x="1791157" y="1811921"/>
                </a:lnTo>
                <a:close/>
              </a:path>
              <a:path w="2484754" h="2472054">
                <a:moveTo>
                  <a:pt x="1791627" y="664184"/>
                </a:moveTo>
                <a:lnTo>
                  <a:pt x="1762175" y="640003"/>
                </a:lnTo>
                <a:lnTo>
                  <a:pt x="1756143" y="647369"/>
                </a:lnTo>
                <a:lnTo>
                  <a:pt x="1785594" y="671537"/>
                </a:lnTo>
                <a:lnTo>
                  <a:pt x="1791627" y="664184"/>
                </a:lnTo>
                <a:close/>
              </a:path>
              <a:path w="2484754" h="2472054">
                <a:moveTo>
                  <a:pt x="1812480" y="400646"/>
                </a:moveTo>
                <a:lnTo>
                  <a:pt x="1807667" y="392430"/>
                </a:lnTo>
                <a:lnTo>
                  <a:pt x="1774786" y="411670"/>
                </a:lnTo>
                <a:lnTo>
                  <a:pt x="1779600" y="419887"/>
                </a:lnTo>
                <a:lnTo>
                  <a:pt x="1812480" y="400646"/>
                </a:lnTo>
                <a:close/>
              </a:path>
              <a:path w="2484754" h="2472054">
                <a:moveTo>
                  <a:pt x="1812950" y="2075218"/>
                </a:moveTo>
                <a:lnTo>
                  <a:pt x="1779981" y="2056104"/>
                </a:lnTo>
                <a:lnTo>
                  <a:pt x="1775206" y="2064346"/>
                </a:lnTo>
                <a:lnTo>
                  <a:pt x="1808162" y="2083460"/>
                </a:lnTo>
                <a:lnTo>
                  <a:pt x="1812950" y="2075218"/>
                </a:lnTo>
                <a:close/>
              </a:path>
              <a:path w="2484754" h="2472054">
                <a:moveTo>
                  <a:pt x="1815299" y="1501165"/>
                </a:moveTo>
                <a:lnTo>
                  <a:pt x="1806613" y="1497266"/>
                </a:lnTo>
                <a:lnTo>
                  <a:pt x="1791030" y="1532039"/>
                </a:lnTo>
                <a:lnTo>
                  <a:pt x="1799729" y="1535925"/>
                </a:lnTo>
                <a:lnTo>
                  <a:pt x="1815299" y="1501165"/>
                </a:lnTo>
                <a:close/>
              </a:path>
              <a:path w="2484754" h="2472054">
                <a:moveTo>
                  <a:pt x="1815719" y="975347"/>
                </a:moveTo>
                <a:lnTo>
                  <a:pt x="1800110" y="940587"/>
                </a:lnTo>
                <a:lnTo>
                  <a:pt x="1791423" y="944499"/>
                </a:lnTo>
                <a:lnTo>
                  <a:pt x="1807032" y="979246"/>
                </a:lnTo>
                <a:lnTo>
                  <a:pt x="1815719" y="975347"/>
                </a:lnTo>
                <a:close/>
              </a:path>
              <a:path w="2484754" h="2472054">
                <a:moveTo>
                  <a:pt x="1842566" y="1769452"/>
                </a:moveTo>
                <a:lnTo>
                  <a:pt x="1836496" y="1762112"/>
                </a:lnTo>
                <a:lnTo>
                  <a:pt x="1807121" y="1786382"/>
                </a:lnTo>
                <a:lnTo>
                  <a:pt x="1813191" y="1793722"/>
                </a:lnTo>
                <a:lnTo>
                  <a:pt x="1842566" y="1769452"/>
                </a:lnTo>
                <a:close/>
              </a:path>
              <a:path w="2484754" h="2472054">
                <a:moveTo>
                  <a:pt x="1842566" y="1440307"/>
                </a:moveTo>
                <a:lnTo>
                  <a:pt x="1833880" y="1436420"/>
                </a:lnTo>
                <a:lnTo>
                  <a:pt x="1818297" y="1471193"/>
                </a:lnTo>
                <a:lnTo>
                  <a:pt x="1826983" y="1475079"/>
                </a:lnTo>
                <a:lnTo>
                  <a:pt x="1842566" y="1440307"/>
                </a:lnTo>
                <a:close/>
              </a:path>
              <a:path w="2484754" h="2472054">
                <a:moveTo>
                  <a:pt x="1843036" y="1036167"/>
                </a:moveTo>
                <a:lnTo>
                  <a:pt x="1827428" y="1001420"/>
                </a:lnTo>
                <a:lnTo>
                  <a:pt x="1818728" y="1005319"/>
                </a:lnTo>
                <a:lnTo>
                  <a:pt x="1834349" y="1040066"/>
                </a:lnTo>
                <a:lnTo>
                  <a:pt x="1843036" y="1036167"/>
                </a:lnTo>
                <a:close/>
              </a:path>
              <a:path w="2484754" h="2472054">
                <a:moveTo>
                  <a:pt x="1843176" y="706475"/>
                </a:moveTo>
                <a:lnTo>
                  <a:pt x="1813725" y="682307"/>
                </a:lnTo>
                <a:lnTo>
                  <a:pt x="1807679" y="689673"/>
                </a:lnTo>
                <a:lnTo>
                  <a:pt x="1837131" y="713841"/>
                </a:lnTo>
                <a:lnTo>
                  <a:pt x="1843176" y="706475"/>
                </a:lnTo>
                <a:close/>
              </a:path>
              <a:path w="2484754" h="2472054">
                <a:moveTo>
                  <a:pt x="1869833" y="1379461"/>
                </a:moveTo>
                <a:lnTo>
                  <a:pt x="1861134" y="1375575"/>
                </a:lnTo>
                <a:lnTo>
                  <a:pt x="1845564" y="1410335"/>
                </a:lnTo>
                <a:lnTo>
                  <a:pt x="1854250" y="1414233"/>
                </a:lnTo>
                <a:lnTo>
                  <a:pt x="1869833" y="1379461"/>
                </a:lnTo>
                <a:close/>
              </a:path>
              <a:path w="2484754" h="2472054">
                <a:moveTo>
                  <a:pt x="1870036" y="366979"/>
                </a:moveTo>
                <a:lnTo>
                  <a:pt x="1865223" y="358762"/>
                </a:lnTo>
                <a:lnTo>
                  <a:pt x="1832330" y="378002"/>
                </a:lnTo>
                <a:lnTo>
                  <a:pt x="1837143" y="386219"/>
                </a:lnTo>
                <a:lnTo>
                  <a:pt x="1870036" y="366979"/>
                </a:lnTo>
                <a:close/>
              </a:path>
              <a:path w="2484754" h="2472054">
                <a:moveTo>
                  <a:pt x="1870354" y="1096987"/>
                </a:moveTo>
                <a:lnTo>
                  <a:pt x="1854746" y="1062240"/>
                </a:lnTo>
                <a:lnTo>
                  <a:pt x="1846046" y="1066139"/>
                </a:lnTo>
                <a:lnTo>
                  <a:pt x="1861654" y="1100899"/>
                </a:lnTo>
                <a:lnTo>
                  <a:pt x="1870354" y="1096987"/>
                </a:lnTo>
                <a:close/>
              </a:path>
              <a:path w="2484754" h="2472054">
                <a:moveTo>
                  <a:pt x="1870621" y="2108657"/>
                </a:moveTo>
                <a:lnTo>
                  <a:pt x="1837664" y="2089543"/>
                </a:lnTo>
                <a:lnTo>
                  <a:pt x="1832889" y="2097786"/>
                </a:lnTo>
                <a:lnTo>
                  <a:pt x="1865845" y="2116899"/>
                </a:lnTo>
                <a:lnTo>
                  <a:pt x="1870621" y="2108657"/>
                </a:lnTo>
                <a:close/>
              </a:path>
              <a:path w="2484754" h="2472054">
                <a:moveTo>
                  <a:pt x="1893976" y="1726996"/>
                </a:moveTo>
                <a:lnTo>
                  <a:pt x="1887905" y="1719656"/>
                </a:lnTo>
                <a:lnTo>
                  <a:pt x="1858530" y="1743913"/>
                </a:lnTo>
                <a:lnTo>
                  <a:pt x="1864601" y="1751253"/>
                </a:lnTo>
                <a:lnTo>
                  <a:pt x="1893976" y="1726996"/>
                </a:lnTo>
                <a:close/>
              </a:path>
              <a:path w="2484754" h="2472054">
                <a:moveTo>
                  <a:pt x="1894713" y="748779"/>
                </a:moveTo>
                <a:lnTo>
                  <a:pt x="1865261" y="724611"/>
                </a:lnTo>
                <a:lnTo>
                  <a:pt x="1859216" y="731964"/>
                </a:lnTo>
                <a:lnTo>
                  <a:pt x="1888667" y="756145"/>
                </a:lnTo>
                <a:lnTo>
                  <a:pt x="1894713" y="748779"/>
                </a:lnTo>
                <a:close/>
              </a:path>
              <a:path w="2484754" h="2472054">
                <a:moveTo>
                  <a:pt x="1897087" y="1318615"/>
                </a:moveTo>
                <a:lnTo>
                  <a:pt x="1888401" y="1314729"/>
                </a:lnTo>
                <a:lnTo>
                  <a:pt x="1872818" y="1349489"/>
                </a:lnTo>
                <a:lnTo>
                  <a:pt x="1881517" y="1353388"/>
                </a:lnTo>
                <a:lnTo>
                  <a:pt x="1897087" y="1318615"/>
                </a:lnTo>
                <a:close/>
              </a:path>
              <a:path w="2484754" h="2472054">
                <a:moveTo>
                  <a:pt x="1897672" y="1157820"/>
                </a:moveTo>
                <a:lnTo>
                  <a:pt x="1882051" y="1123061"/>
                </a:lnTo>
                <a:lnTo>
                  <a:pt x="1873364" y="1126959"/>
                </a:lnTo>
                <a:lnTo>
                  <a:pt x="1888972" y="1161719"/>
                </a:lnTo>
                <a:lnTo>
                  <a:pt x="1897672" y="1157820"/>
                </a:lnTo>
                <a:close/>
              </a:path>
              <a:path w="2484754" h="2472054">
                <a:moveTo>
                  <a:pt x="1924354" y="1257769"/>
                </a:moveTo>
                <a:lnTo>
                  <a:pt x="1915668" y="1253883"/>
                </a:lnTo>
                <a:lnTo>
                  <a:pt x="1900085" y="1288643"/>
                </a:lnTo>
                <a:lnTo>
                  <a:pt x="1908771" y="1292542"/>
                </a:lnTo>
                <a:lnTo>
                  <a:pt x="1924354" y="1257769"/>
                </a:lnTo>
                <a:close/>
              </a:path>
              <a:path w="2484754" h="2472054">
                <a:moveTo>
                  <a:pt x="1924989" y="1218641"/>
                </a:moveTo>
                <a:lnTo>
                  <a:pt x="1909368" y="1183881"/>
                </a:lnTo>
                <a:lnTo>
                  <a:pt x="1900682" y="1187780"/>
                </a:lnTo>
                <a:lnTo>
                  <a:pt x="1916290" y="1222540"/>
                </a:lnTo>
                <a:lnTo>
                  <a:pt x="1924989" y="1218641"/>
                </a:lnTo>
                <a:close/>
              </a:path>
              <a:path w="2484754" h="2472054">
                <a:moveTo>
                  <a:pt x="1927580" y="333311"/>
                </a:moveTo>
                <a:lnTo>
                  <a:pt x="1922767" y="325094"/>
                </a:lnTo>
                <a:lnTo>
                  <a:pt x="1889887" y="344335"/>
                </a:lnTo>
                <a:lnTo>
                  <a:pt x="1894700" y="352552"/>
                </a:lnTo>
                <a:lnTo>
                  <a:pt x="1927580" y="333311"/>
                </a:lnTo>
                <a:close/>
              </a:path>
              <a:path w="2484754" h="2472054">
                <a:moveTo>
                  <a:pt x="1928304" y="2142096"/>
                </a:moveTo>
                <a:lnTo>
                  <a:pt x="1895348" y="2122982"/>
                </a:lnTo>
                <a:lnTo>
                  <a:pt x="1890572" y="2131225"/>
                </a:lnTo>
                <a:lnTo>
                  <a:pt x="1923529" y="2150338"/>
                </a:lnTo>
                <a:lnTo>
                  <a:pt x="1928304" y="2142096"/>
                </a:lnTo>
                <a:close/>
              </a:path>
              <a:path w="2484754" h="2472054">
                <a:moveTo>
                  <a:pt x="1945373" y="1684528"/>
                </a:moveTo>
                <a:lnTo>
                  <a:pt x="1939302" y="1677187"/>
                </a:lnTo>
                <a:lnTo>
                  <a:pt x="1909940" y="1701457"/>
                </a:lnTo>
                <a:lnTo>
                  <a:pt x="1915998" y="1708797"/>
                </a:lnTo>
                <a:lnTo>
                  <a:pt x="1945373" y="1684528"/>
                </a:lnTo>
                <a:close/>
              </a:path>
              <a:path w="2484754" h="2472054">
                <a:moveTo>
                  <a:pt x="1946249" y="791083"/>
                </a:moveTo>
                <a:lnTo>
                  <a:pt x="1916798" y="766902"/>
                </a:lnTo>
                <a:lnTo>
                  <a:pt x="1910753" y="774268"/>
                </a:lnTo>
                <a:lnTo>
                  <a:pt x="1940204" y="798436"/>
                </a:lnTo>
                <a:lnTo>
                  <a:pt x="1946249" y="791083"/>
                </a:lnTo>
                <a:close/>
              </a:path>
              <a:path w="2484754" h="2472054">
                <a:moveTo>
                  <a:pt x="1951621" y="1196924"/>
                </a:moveTo>
                <a:lnTo>
                  <a:pt x="1942922" y="1193025"/>
                </a:lnTo>
                <a:lnTo>
                  <a:pt x="1927352" y="1227797"/>
                </a:lnTo>
                <a:lnTo>
                  <a:pt x="1936038" y="1231696"/>
                </a:lnTo>
                <a:lnTo>
                  <a:pt x="1951621" y="1196924"/>
                </a:lnTo>
                <a:close/>
              </a:path>
              <a:path w="2484754" h="2472054">
                <a:moveTo>
                  <a:pt x="1952294" y="1279461"/>
                </a:moveTo>
                <a:lnTo>
                  <a:pt x="1936686" y="1244701"/>
                </a:lnTo>
                <a:lnTo>
                  <a:pt x="1927999" y="1248600"/>
                </a:lnTo>
                <a:lnTo>
                  <a:pt x="1943608" y="1283360"/>
                </a:lnTo>
                <a:lnTo>
                  <a:pt x="1952294" y="1279461"/>
                </a:lnTo>
                <a:close/>
              </a:path>
              <a:path w="2484754" h="2472054">
                <a:moveTo>
                  <a:pt x="1978875" y="1136078"/>
                </a:moveTo>
                <a:lnTo>
                  <a:pt x="1970189" y="1132179"/>
                </a:lnTo>
                <a:lnTo>
                  <a:pt x="1954606" y="1166952"/>
                </a:lnTo>
                <a:lnTo>
                  <a:pt x="1963305" y="1170851"/>
                </a:lnTo>
                <a:lnTo>
                  <a:pt x="1978875" y="1136078"/>
                </a:lnTo>
                <a:close/>
              </a:path>
              <a:path w="2484754" h="2472054">
                <a:moveTo>
                  <a:pt x="1979612" y="1340281"/>
                </a:moveTo>
                <a:lnTo>
                  <a:pt x="1964004" y="1305521"/>
                </a:lnTo>
                <a:lnTo>
                  <a:pt x="1955317" y="1309433"/>
                </a:lnTo>
                <a:lnTo>
                  <a:pt x="1970925" y="1344180"/>
                </a:lnTo>
                <a:lnTo>
                  <a:pt x="1979612" y="1340281"/>
                </a:lnTo>
                <a:close/>
              </a:path>
              <a:path w="2484754" h="2472054">
                <a:moveTo>
                  <a:pt x="1985137" y="299643"/>
                </a:moveTo>
                <a:lnTo>
                  <a:pt x="1980323" y="291426"/>
                </a:lnTo>
                <a:lnTo>
                  <a:pt x="1947430" y="310667"/>
                </a:lnTo>
                <a:lnTo>
                  <a:pt x="1952244" y="318884"/>
                </a:lnTo>
                <a:lnTo>
                  <a:pt x="1985137" y="299643"/>
                </a:lnTo>
                <a:close/>
              </a:path>
              <a:path w="2484754" h="2472054">
                <a:moveTo>
                  <a:pt x="1985987" y="2175535"/>
                </a:moveTo>
                <a:lnTo>
                  <a:pt x="1953031" y="2156422"/>
                </a:lnTo>
                <a:lnTo>
                  <a:pt x="1948256" y="2164664"/>
                </a:lnTo>
                <a:lnTo>
                  <a:pt x="1981212" y="2183777"/>
                </a:lnTo>
                <a:lnTo>
                  <a:pt x="1985987" y="2175535"/>
                </a:lnTo>
                <a:close/>
              </a:path>
              <a:path w="2484754" h="2472054">
                <a:moveTo>
                  <a:pt x="1996782" y="1642071"/>
                </a:moveTo>
                <a:lnTo>
                  <a:pt x="1990712" y="1634718"/>
                </a:lnTo>
                <a:lnTo>
                  <a:pt x="1961337" y="1658988"/>
                </a:lnTo>
                <a:lnTo>
                  <a:pt x="1967407" y="1666328"/>
                </a:lnTo>
                <a:lnTo>
                  <a:pt x="1996782" y="1642071"/>
                </a:lnTo>
                <a:close/>
              </a:path>
              <a:path w="2484754" h="2472054">
                <a:moveTo>
                  <a:pt x="1997786" y="833374"/>
                </a:moveTo>
                <a:lnTo>
                  <a:pt x="1968334" y="809205"/>
                </a:lnTo>
                <a:lnTo>
                  <a:pt x="1962289" y="816571"/>
                </a:lnTo>
                <a:lnTo>
                  <a:pt x="1991741" y="840740"/>
                </a:lnTo>
                <a:lnTo>
                  <a:pt x="1997786" y="833374"/>
                </a:lnTo>
                <a:close/>
              </a:path>
              <a:path w="2484754" h="2472054">
                <a:moveTo>
                  <a:pt x="2006142" y="1075232"/>
                </a:moveTo>
                <a:lnTo>
                  <a:pt x="1997456" y="1071333"/>
                </a:lnTo>
                <a:lnTo>
                  <a:pt x="1981873" y="1106106"/>
                </a:lnTo>
                <a:lnTo>
                  <a:pt x="1990559" y="1110005"/>
                </a:lnTo>
                <a:lnTo>
                  <a:pt x="2006142" y="1075232"/>
                </a:lnTo>
                <a:close/>
              </a:path>
              <a:path w="2484754" h="2472054">
                <a:moveTo>
                  <a:pt x="2006930" y="1401102"/>
                </a:moveTo>
                <a:lnTo>
                  <a:pt x="1991321" y="1366342"/>
                </a:lnTo>
                <a:lnTo>
                  <a:pt x="1982635" y="1370253"/>
                </a:lnTo>
                <a:lnTo>
                  <a:pt x="1998243" y="1405001"/>
                </a:lnTo>
                <a:lnTo>
                  <a:pt x="2006930" y="1401102"/>
                </a:lnTo>
                <a:close/>
              </a:path>
              <a:path w="2484754" h="2472054">
                <a:moveTo>
                  <a:pt x="2033409" y="1014387"/>
                </a:moveTo>
                <a:lnTo>
                  <a:pt x="2024710" y="1010488"/>
                </a:lnTo>
                <a:lnTo>
                  <a:pt x="2009140" y="1045260"/>
                </a:lnTo>
                <a:lnTo>
                  <a:pt x="2017826" y="1049159"/>
                </a:lnTo>
                <a:lnTo>
                  <a:pt x="2033409" y="1014387"/>
                </a:lnTo>
                <a:close/>
              </a:path>
              <a:path w="2484754" h="2472054">
                <a:moveTo>
                  <a:pt x="2034247" y="1461922"/>
                </a:moveTo>
                <a:lnTo>
                  <a:pt x="2018639" y="1427175"/>
                </a:lnTo>
                <a:lnTo>
                  <a:pt x="2009952" y="1431074"/>
                </a:lnTo>
                <a:lnTo>
                  <a:pt x="2025561" y="1465834"/>
                </a:lnTo>
                <a:lnTo>
                  <a:pt x="2034247" y="1461922"/>
                </a:lnTo>
                <a:close/>
              </a:path>
              <a:path w="2484754" h="2472054">
                <a:moveTo>
                  <a:pt x="2042680" y="265976"/>
                </a:moveTo>
                <a:lnTo>
                  <a:pt x="2037867" y="257746"/>
                </a:lnTo>
                <a:lnTo>
                  <a:pt x="2004987" y="276987"/>
                </a:lnTo>
                <a:lnTo>
                  <a:pt x="2009800" y="285216"/>
                </a:lnTo>
                <a:lnTo>
                  <a:pt x="2042680" y="265976"/>
                </a:lnTo>
                <a:close/>
              </a:path>
              <a:path w="2484754" h="2472054">
                <a:moveTo>
                  <a:pt x="2043671" y="2208974"/>
                </a:moveTo>
                <a:lnTo>
                  <a:pt x="2010714" y="2189861"/>
                </a:lnTo>
                <a:lnTo>
                  <a:pt x="2005939" y="2198103"/>
                </a:lnTo>
                <a:lnTo>
                  <a:pt x="2038896" y="2217216"/>
                </a:lnTo>
                <a:lnTo>
                  <a:pt x="2043671" y="2208974"/>
                </a:lnTo>
                <a:close/>
              </a:path>
              <a:path w="2484754" h="2472054">
                <a:moveTo>
                  <a:pt x="2048179" y="1599603"/>
                </a:moveTo>
                <a:lnTo>
                  <a:pt x="2042109" y="1592262"/>
                </a:lnTo>
                <a:lnTo>
                  <a:pt x="2012746" y="1616519"/>
                </a:lnTo>
                <a:lnTo>
                  <a:pt x="2018804" y="1623872"/>
                </a:lnTo>
                <a:lnTo>
                  <a:pt x="2048179" y="1599603"/>
                </a:lnTo>
                <a:close/>
              </a:path>
              <a:path w="2484754" h="2472054">
                <a:moveTo>
                  <a:pt x="2049322" y="875677"/>
                </a:moveTo>
                <a:lnTo>
                  <a:pt x="2019871" y="851509"/>
                </a:lnTo>
                <a:lnTo>
                  <a:pt x="2013839" y="858875"/>
                </a:lnTo>
                <a:lnTo>
                  <a:pt x="2043277" y="883043"/>
                </a:lnTo>
                <a:lnTo>
                  <a:pt x="2049322" y="875677"/>
                </a:lnTo>
                <a:close/>
              </a:path>
              <a:path w="2484754" h="2472054">
                <a:moveTo>
                  <a:pt x="2060663" y="953541"/>
                </a:moveTo>
                <a:lnTo>
                  <a:pt x="2051977" y="949642"/>
                </a:lnTo>
                <a:lnTo>
                  <a:pt x="2036394" y="984415"/>
                </a:lnTo>
                <a:lnTo>
                  <a:pt x="2045093" y="988314"/>
                </a:lnTo>
                <a:lnTo>
                  <a:pt x="2060663" y="953541"/>
                </a:lnTo>
                <a:close/>
              </a:path>
              <a:path w="2484754" h="2472054">
                <a:moveTo>
                  <a:pt x="2061565" y="1522742"/>
                </a:moveTo>
                <a:lnTo>
                  <a:pt x="2045957" y="1487995"/>
                </a:lnTo>
                <a:lnTo>
                  <a:pt x="2037270" y="1491894"/>
                </a:lnTo>
                <a:lnTo>
                  <a:pt x="2052878" y="1526654"/>
                </a:lnTo>
                <a:lnTo>
                  <a:pt x="2061565" y="1522742"/>
                </a:lnTo>
                <a:close/>
              </a:path>
              <a:path w="2484754" h="2472054">
                <a:moveTo>
                  <a:pt x="2099589" y="1557134"/>
                </a:moveTo>
                <a:lnTo>
                  <a:pt x="2093518" y="1549793"/>
                </a:lnTo>
                <a:lnTo>
                  <a:pt x="2079066" y="1561731"/>
                </a:lnTo>
                <a:lnTo>
                  <a:pt x="2073275" y="1548815"/>
                </a:lnTo>
                <a:lnTo>
                  <a:pt x="2064588" y="1552714"/>
                </a:lnTo>
                <a:lnTo>
                  <a:pt x="2071458" y="1568030"/>
                </a:lnTo>
                <a:lnTo>
                  <a:pt x="2064143" y="1574063"/>
                </a:lnTo>
                <a:lnTo>
                  <a:pt x="2070214" y="1581404"/>
                </a:lnTo>
                <a:lnTo>
                  <a:pt x="2075497" y="1577035"/>
                </a:lnTo>
                <a:lnTo>
                  <a:pt x="2080196" y="1587474"/>
                </a:lnTo>
                <a:lnTo>
                  <a:pt x="2088883" y="1583575"/>
                </a:lnTo>
                <a:lnTo>
                  <a:pt x="2083117" y="1570748"/>
                </a:lnTo>
                <a:lnTo>
                  <a:pt x="2099589" y="1557134"/>
                </a:lnTo>
                <a:close/>
              </a:path>
              <a:path w="2484754" h="2472054">
                <a:moveTo>
                  <a:pt x="2100224" y="232308"/>
                </a:moveTo>
                <a:lnTo>
                  <a:pt x="2095423" y="224078"/>
                </a:lnTo>
                <a:lnTo>
                  <a:pt x="2062530" y="243319"/>
                </a:lnTo>
                <a:lnTo>
                  <a:pt x="2067344" y="251548"/>
                </a:lnTo>
                <a:lnTo>
                  <a:pt x="2100224" y="232308"/>
                </a:lnTo>
                <a:close/>
              </a:path>
              <a:path w="2484754" h="2472054">
                <a:moveTo>
                  <a:pt x="2100859" y="917981"/>
                </a:moveTo>
                <a:lnTo>
                  <a:pt x="2083117" y="903427"/>
                </a:lnTo>
                <a:lnTo>
                  <a:pt x="2087930" y="892695"/>
                </a:lnTo>
                <a:lnTo>
                  <a:pt x="2079244" y="888796"/>
                </a:lnTo>
                <a:lnTo>
                  <a:pt x="2075484" y="897166"/>
                </a:lnTo>
                <a:lnTo>
                  <a:pt x="2071408" y="893813"/>
                </a:lnTo>
                <a:lnTo>
                  <a:pt x="2065375" y="901166"/>
                </a:lnTo>
                <a:lnTo>
                  <a:pt x="2071458" y="906170"/>
                </a:lnTo>
                <a:lnTo>
                  <a:pt x="2063661" y="923569"/>
                </a:lnTo>
                <a:lnTo>
                  <a:pt x="2072347" y="927468"/>
                </a:lnTo>
                <a:lnTo>
                  <a:pt x="2079078" y="912431"/>
                </a:lnTo>
                <a:lnTo>
                  <a:pt x="2094826" y="925347"/>
                </a:lnTo>
                <a:lnTo>
                  <a:pt x="2100859" y="917981"/>
                </a:lnTo>
                <a:close/>
              </a:path>
              <a:path w="2484754" h="2472054">
                <a:moveTo>
                  <a:pt x="2101354" y="2242413"/>
                </a:moveTo>
                <a:lnTo>
                  <a:pt x="2068398" y="2223300"/>
                </a:lnTo>
                <a:lnTo>
                  <a:pt x="2063623" y="2231542"/>
                </a:lnTo>
                <a:lnTo>
                  <a:pt x="2096579" y="2250656"/>
                </a:lnTo>
                <a:lnTo>
                  <a:pt x="2101354" y="2242413"/>
                </a:lnTo>
                <a:close/>
              </a:path>
              <a:path w="2484754" h="2472054">
                <a:moveTo>
                  <a:pt x="2115197" y="831850"/>
                </a:moveTo>
                <a:lnTo>
                  <a:pt x="2106498" y="827951"/>
                </a:lnTo>
                <a:lnTo>
                  <a:pt x="2090928" y="862723"/>
                </a:lnTo>
                <a:lnTo>
                  <a:pt x="2099614" y="866609"/>
                </a:lnTo>
                <a:lnTo>
                  <a:pt x="2115197" y="831850"/>
                </a:lnTo>
                <a:close/>
              </a:path>
              <a:path w="2484754" h="2472054">
                <a:moveTo>
                  <a:pt x="2116201" y="1644396"/>
                </a:moveTo>
                <a:lnTo>
                  <a:pt x="2100592" y="1609636"/>
                </a:lnTo>
                <a:lnTo>
                  <a:pt x="2091905" y="1613535"/>
                </a:lnTo>
                <a:lnTo>
                  <a:pt x="2107514" y="1648294"/>
                </a:lnTo>
                <a:lnTo>
                  <a:pt x="2116201" y="1644396"/>
                </a:lnTo>
                <a:close/>
              </a:path>
              <a:path w="2484754" h="2472054">
                <a:moveTo>
                  <a:pt x="2142452" y="771004"/>
                </a:moveTo>
                <a:lnTo>
                  <a:pt x="2133765" y="767105"/>
                </a:lnTo>
                <a:lnTo>
                  <a:pt x="2118182" y="801878"/>
                </a:lnTo>
                <a:lnTo>
                  <a:pt x="2126881" y="805764"/>
                </a:lnTo>
                <a:lnTo>
                  <a:pt x="2142452" y="771004"/>
                </a:lnTo>
                <a:close/>
              </a:path>
              <a:path w="2484754" h="2472054">
                <a:moveTo>
                  <a:pt x="2143518" y="1705216"/>
                </a:moveTo>
                <a:lnTo>
                  <a:pt x="2127910" y="1670456"/>
                </a:lnTo>
                <a:lnTo>
                  <a:pt x="2119223" y="1674355"/>
                </a:lnTo>
                <a:lnTo>
                  <a:pt x="2134832" y="1709115"/>
                </a:lnTo>
                <a:lnTo>
                  <a:pt x="2143518" y="1705216"/>
                </a:lnTo>
                <a:close/>
              </a:path>
              <a:path w="2484754" h="2472054">
                <a:moveTo>
                  <a:pt x="2150986" y="1514678"/>
                </a:moveTo>
                <a:lnTo>
                  <a:pt x="2144928" y="1507324"/>
                </a:lnTo>
                <a:lnTo>
                  <a:pt x="2115553" y="1531594"/>
                </a:lnTo>
                <a:lnTo>
                  <a:pt x="2121611" y="1538935"/>
                </a:lnTo>
                <a:lnTo>
                  <a:pt x="2150986" y="1514678"/>
                </a:lnTo>
                <a:close/>
              </a:path>
              <a:path w="2484754" h="2472054">
                <a:moveTo>
                  <a:pt x="2152408" y="960285"/>
                </a:moveTo>
                <a:lnTo>
                  <a:pt x="2122957" y="936104"/>
                </a:lnTo>
                <a:lnTo>
                  <a:pt x="2116912" y="943470"/>
                </a:lnTo>
                <a:lnTo>
                  <a:pt x="2146363" y="967638"/>
                </a:lnTo>
                <a:lnTo>
                  <a:pt x="2152408" y="960285"/>
                </a:lnTo>
                <a:close/>
              </a:path>
              <a:path w="2484754" h="2472054">
                <a:moveTo>
                  <a:pt x="2157780" y="198640"/>
                </a:moveTo>
                <a:lnTo>
                  <a:pt x="2152967" y="190411"/>
                </a:lnTo>
                <a:lnTo>
                  <a:pt x="2120087" y="209651"/>
                </a:lnTo>
                <a:lnTo>
                  <a:pt x="2124887" y="217868"/>
                </a:lnTo>
                <a:lnTo>
                  <a:pt x="2157780" y="198640"/>
                </a:lnTo>
                <a:close/>
              </a:path>
              <a:path w="2484754" h="2472054">
                <a:moveTo>
                  <a:pt x="2159038" y="2275852"/>
                </a:moveTo>
                <a:lnTo>
                  <a:pt x="2126081" y="2256739"/>
                </a:lnTo>
                <a:lnTo>
                  <a:pt x="2121306" y="2264981"/>
                </a:lnTo>
                <a:lnTo>
                  <a:pt x="2154263" y="2284095"/>
                </a:lnTo>
                <a:lnTo>
                  <a:pt x="2159038" y="2275852"/>
                </a:lnTo>
                <a:close/>
              </a:path>
              <a:path w="2484754" h="2472054">
                <a:moveTo>
                  <a:pt x="2169718" y="710158"/>
                </a:moveTo>
                <a:lnTo>
                  <a:pt x="2161019" y="706259"/>
                </a:lnTo>
                <a:lnTo>
                  <a:pt x="2145449" y="741032"/>
                </a:lnTo>
                <a:lnTo>
                  <a:pt x="2154136" y="744918"/>
                </a:lnTo>
                <a:lnTo>
                  <a:pt x="2169718" y="710158"/>
                </a:lnTo>
                <a:close/>
              </a:path>
              <a:path w="2484754" h="2472054">
                <a:moveTo>
                  <a:pt x="2170836" y="1766036"/>
                </a:moveTo>
                <a:lnTo>
                  <a:pt x="2155228" y="1731276"/>
                </a:lnTo>
                <a:lnTo>
                  <a:pt x="2146541" y="1735188"/>
                </a:lnTo>
                <a:lnTo>
                  <a:pt x="2162149" y="1769935"/>
                </a:lnTo>
                <a:lnTo>
                  <a:pt x="2170836" y="1766036"/>
                </a:lnTo>
                <a:close/>
              </a:path>
              <a:path w="2484754" h="2472054">
                <a:moveTo>
                  <a:pt x="2196985" y="649300"/>
                </a:moveTo>
                <a:lnTo>
                  <a:pt x="2188286" y="645414"/>
                </a:lnTo>
                <a:lnTo>
                  <a:pt x="2172703" y="680186"/>
                </a:lnTo>
                <a:lnTo>
                  <a:pt x="2181402" y="684072"/>
                </a:lnTo>
                <a:lnTo>
                  <a:pt x="2196985" y="649300"/>
                </a:lnTo>
                <a:close/>
              </a:path>
              <a:path w="2484754" h="2472054">
                <a:moveTo>
                  <a:pt x="2198154" y="1826856"/>
                </a:moveTo>
                <a:lnTo>
                  <a:pt x="2182545" y="1792109"/>
                </a:lnTo>
                <a:lnTo>
                  <a:pt x="2173859" y="1796008"/>
                </a:lnTo>
                <a:lnTo>
                  <a:pt x="2189467" y="1830755"/>
                </a:lnTo>
                <a:lnTo>
                  <a:pt x="2198154" y="1826856"/>
                </a:lnTo>
                <a:close/>
              </a:path>
              <a:path w="2484754" h="2472054">
                <a:moveTo>
                  <a:pt x="2202396" y="1472209"/>
                </a:moveTo>
                <a:lnTo>
                  <a:pt x="2196325" y="1464868"/>
                </a:lnTo>
                <a:lnTo>
                  <a:pt x="2166950" y="1489125"/>
                </a:lnTo>
                <a:lnTo>
                  <a:pt x="2173020" y="1496479"/>
                </a:lnTo>
                <a:lnTo>
                  <a:pt x="2202396" y="1472209"/>
                </a:lnTo>
                <a:close/>
              </a:path>
              <a:path w="2484754" h="2472054">
                <a:moveTo>
                  <a:pt x="2203945" y="1002576"/>
                </a:moveTo>
                <a:lnTo>
                  <a:pt x="2174494" y="978408"/>
                </a:lnTo>
                <a:lnTo>
                  <a:pt x="2168448" y="985774"/>
                </a:lnTo>
                <a:lnTo>
                  <a:pt x="2197900" y="1009942"/>
                </a:lnTo>
                <a:lnTo>
                  <a:pt x="2203945" y="1002576"/>
                </a:lnTo>
                <a:close/>
              </a:path>
              <a:path w="2484754" h="2472054">
                <a:moveTo>
                  <a:pt x="2215324" y="164960"/>
                </a:moveTo>
                <a:lnTo>
                  <a:pt x="2210524" y="156743"/>
                </a:lnTo>
                <a:lnTo>
                  <a:pt x="2177631" y="175983"/>
                </a:lnTo>
                <a:lnTo>
                  <a:pt x="2182444" y="184200"/>
                </a:lnTo>
                <a:lnTo>
                  <a:pt x="2215324" y="164960"/>
                </a:lnTo>
                <a:close/>
              </a:path>
              <a:path w="2484754" h="2472054">
                <a:moveTo>
                  <a:pt x="2216721" y="2309291"/>
                </a:moveTo>
                <a:lnTo>
                  <a:pt x="2183765" y="2290178"/>
                </a:lnTo>
                <a:lnTo>
                  <a:pt x="2178989" y="2298420"/>
                </a:lnTo>
                <a:lnTo>
                  <a:pt x="2211946" y="2317534"/>
                </a:lnTo>
                <a:lnTo>
                  <a:pt x="2216721" y="2309291"/>
                </a:lnTo>
                <a:close/>
              </a:path>
              <a:path w="2484754" h="2472054">
                <a:moveTo>
                  <a:pt x="2224240" y="588454"/>
                </a:moveTo>
                <a:lnTo>
                  <a:pt x="2215553" y="584568"/>
                </a:lnTo>
                <a:lnTo>
                  <a:pt x="2199970" y="619340"/>
                </a:lnTo>
                <a:lnTo>
                  <a:pt x="2208669" y="623227"/>
                </a:lnTo>
                <a:lnTo>
                  <a:pt x="2224240" y="588454"/>
                </a:lnTo>
                <a:close/>
              </a:path>
              <a:path w="2484754" h="2472054">
                <a:moveTo>
                  <a:pt x="2225471" y="1887677"/>
                </a:moveTo>
                <a:lnTo>
                  <a:pt x="2209863" y="1852930"/>
                </a:lnTo>
                <a:lnTo>
                  <a:pt x="2201176" y="1856828"/>
                </a:lnTo>
                <a:lnTo>
                  <a:pt x="2216785" y="1891588"/>
                </a:lnTo>
                <a:lnTo>
                  <a:pt x="2225471" y="1887677"/>
                </a:lnTo>
                <a:close/>
              </a:path>
              <a:path w="2484754" h="2472054">
                <a:moveTo>
                  <a:pt x="2251506" y="527608"/>
                </a:moveTo>
                <a:lnTo>
                  <a:pt x="2242807" y="523722"/>
                </a:lnTo>
                <a:lnTo>
                  <a:pt x="2227237" y="558482"/>
                </a:lnTo>
                <a:lnTo>
                  <a:pt x="2235924" y="562381"/>
                </a:lnTo>
                <a:lnTo>
                  <a:pt x="2251506" y="527608"/>
                </a:lnTo>
                <a:close/>
              </a:path>
              <a:path w="2484754" h="2472054">
                <a:moveTo>
                  <a:pt x="2252789" y="1948497"/>
                </a:moveTo>
                <a:lnTo>
                  <a:pt x="2237181" y="1913750"/>
                </a:lnTo>
                <a:lnTo>
                  <a:pt x="2228481" y="1917649"/>
                </a:lnTo>
                <a:lnTo>
                  <a:pt x="2244102" y="1952409"/>
                </a:lnTo>
                <a:lnTo>
                  <a:pt x="2252789" y="1948497"/>
                </a:lnTo>
                <a:close/>
              </a:path>
              <a:path w="2484754" h="2472054">
                <a:moveTo>
                  <a:pt x="2253792" y="1429740"/>
                </a:moveTo>
                <a:lnTo>
                  <a:pt x="2247735" y="1422400"/>
                </a:lnTo>
                <a:lnTo>
                  <a:pt x="2218359" y="1446669"/>
                </a:lnTo>
                <a:lnTo>
                  <a:pt x="2224417" y="1454010"/>
                </a:lnTo>
                <a:lnTo>
                  <a:pt x="2253792" y="1429740"/>
                </a:lnTo>
                <a:close/>
              </a:path>
              <a:path w="2484754" h="2472054">
                <a:moveTo>
                  <a:pt x="2255482" y="1044879"/>
                </a:moveTo>
                <a:lnTo>
                  <a:pt x="2226030" y="1020711"/>
                </a:lnTo>
                <a:lnTo>
                  <a:pt x="2219985" y="1028077"/>
                </a:lnTo>
                <a:lnTo>
                  <a:pt x="2249436" y="1052245"/>
                </a:lnTo>
                <a:lnTo>
                  <a:pt x="2255482" y="1044879"/>
                </a:lnTo>
                <a:close/>
              </a:path>
              <a:path w="2484754" h="2472054">
                <a:moveTo>
                  <a:pt x="2272881" y="131292"/>
                </a:moveTo>
                <a:lnTo>
                  <a:pt x="2268067" y="123075"/>
                </a:lnTo>
                <a:lnTo>
                  <a:pt x="2235187" y="142316"/>
                </a:lnTo>
                <a:lnTo>
                  <a:pt x="2239988" y="150533"/>
                </a:lnTo>
                <a:lnTo>
                  <a:pt x="2272881" y="131292"/>
                </a:lnTo>
                <a:close/>
              </a:path>
              <a:path w="2484754" h="2472054">
                <a:moveTo>
                  <a:pt x="2274405" y="2342731"/>
                </a:moveTo>
                <a:lnTo>
                  <a:pt x="2241448" y="2323617"/>
                </a:lnTo>
                <a:lnTo>
                  <a:pt x="2236673" y="2331859"/>
                </a:lnTo>
                <a:lnTo>
                  <a:pt x="2269629" y="2350973"/>
                </a:lnTo>
                <a:lnTo>
                  <a:pt x="2274405" y="2342731"/>
                </a:lnTo>
                <a:close/>
              </a:path>
              <a:path w="2484754" h="2472054">
                <a:moveTo>
                  <a:pt x="2278773" y="466763"/>
                </a:moveTo>
                <a:lnTo>
                  <a:pt x="2270074" y="462876"/>
                </a:lnTo>
                <a:lnTo>
                  <a:pt x="2254491" y="497636"/>
                </a:lnTo>
                <a:lnTo>
                  <a:pt x="2263190" y="501535"/>
                </a:lnTo>
                <a:lnTo>
                  <a:pt x="2278773" y="466763"/>
                </a:lnTo>
                <a:close/>
              </a:path>
              <a:path w="2484754" h="2472054">
                <a:moveTo>
                  <a:pt x="2280107" y="2009330"/>
                </a:moveTo>
                <a:lnTo>
                  <a:pt x="2264499" y="1974570"/>
                </a:lnTo>
                <a:lnTo>
                  <a:pt x="2255799" y="1978469"/>
                </a:lnTo>
                <a:lnTo>
                  <a:pt x="2271420" y="2013229"/>
                </a:lnTo>
                <a:lnTo>
                  <a:pt x="2280107" y="2009330"/>
                </a:lnTo>
                <a:close/>
              </a:path>
              <a:path w="2484754" h="2472054">
                <a:moveTo>
                  <a:pt x="2305202" y="1387284"/>
                </a:moveTo>
                <a:lnTo>
                  <a:pt x="2299131" y="1379943"/>
                </a:lnTo>
                <a:lnTo>
                  <a:pt x="2269756" y="1404200"/>
                </a:lnTo>
                <a:lnTo>
                  <a:pt x="2275827" y="1411541"/>
                </a:lnTo>
                <a:lnTo>
                  <a:pt x="2305202" y="1387284"/>
                </a:lnTo>
                <a:close/>
              </a:path>
              <a:path w="2484754" h="2472054">
                <a:moveTo>
                  <a:pt x="2306028" y="405917"/>
                </a:moveTo>
                <a:lnTo>
                  <a:pt x="2297341" y="402031"/>
                </a:lnTo>
                <a:lnTo>
                  <a:pt x="2281758" y="436791"/>
                </a:lnTo>
                <a:lnTo>
                  <a:pt x="2290457" y="440690"/>
                </a:lnTo>
                <a:lnTo>
                  <a:pt x="2306028" y="405917"/>
                </a:lnTo>
                <a:close/>
              </a:path>
              <a:path w="2484754" h="2472054">
                <a:moveTo>
                  <a:pt x="2307018" y="1087183"/>
                </a:moveTo>
                <a:lnTo>
                  <a:pt x="2277567" y="1063015"/>
                </a:lnTo>
                <a:lnTo>
                  <a:pt x="2271522" y="1070368"/>
                </a:lnTo>
                <a:lnTo>
                  <a:pt x="2300973" y="1094549"/>
                </a:lnTo>
                <a:lnTo>
                  <a:pt x="2307018" y="1087183"/>
                </a:lnTo>
                <a:close/>
              </a:path>
              <a:path w="2484754" h="2472054">
                <a:moveTo>
                  <a:pt x="2307425" y="2070150"/>
                </a:moveTo>
                <a:lnTo>
                  <a:pt x="2291816" y="2035390"/>
                </a:lnTo>
                <a:lnTo>
                  <a:pt x="2283117" y="2039289"/>
                </a:lnTo>
                <a:lnTo>
                  <a:pt x="2298725" y="2074049"/>
                </a:lnTo>
                <a:lnTo>
                  <a:pt x="2307425" y="2070150"/>
                </a:lnTo>
                <a:close/>
              </a:path>
              <a:path w="2484754" h="2472054">
                <a:moveTo>
                  <a:pt x="2330424" y="97624"/>
                </a:moveTo>
                <a:lnTo>
                  <a:pt x="2325611" y="89408"/>
                </a:lnTo>
                <a:lnTo>
                  <a:pt x="2292731" y="108648"/>
                </a:lnTo>
                <a:lnTo>
                  <a:pt x="2297544" y="116865"/>
                </a:lnTo>
                <a:lnTo>
                  <a:pt x="2330424" y="97624"/>
                </a:lnTo>
                <a:close/>
              </a:path>
              <a:path w="2484754" h="2472054">
                <a:moveTo>
                  <a:pt x="2332088" y="2376170"/>
                </a:moveTo>
                <a:lnTo>
                  <a:pt x="2299131" y="2357056"/>
                </a:lnTo>
                <a:lnTo>
                  <a:pt x="2294356" y="2365298"/>
                </a:lnTo>
                <a:lnTo>
                  <a:pt x="2327313" y="2384412"/>
                </a:lnTo>
                <a:lnTo>
                  <a:pt x="2332088" y="2376170"/>
                </a:lnTo>
                <a:close/>
              </a:path>
              <a:path w="2484754" h="2472054">
                <a:moveTo>
                  <a:pt x="2333294" y="345071"/>
                </a:moveTo>
                <a:lnTo>
                  <a:pt x="2324595" y="341172"/>
                </a:lnTo>
                <a:lnTo>
                  <a:pt x="2309025" y="375945"/>
                </a:lnTo>
                <a:lnTo>
                  <a:pt x="2317712" y="379844"/>
                </a:lnTo>
                <a:lnTo>
                  <a:pt x="2333294" y="345071"/>
                </a:lnTo>
                <a:close/>
              </a:path>
              <a:path w="2484754" h="2472054">
                <a:moveTo>
                  <a:pt x="2334742" y="2130971"/>
                </a:moveTo>
                <a:lnTo>
                  <a:pt x="2319121" y="2096211"/>
                </a:lnTo>
                <a:lnTo>
                  <a:pt x="2310434" y="2100122"/>
                </a:lnTo>
                <a:lnTo>
                  <a:pt x="2326043" y="2134870"/>
                </a:lnTo>
                <a:lnTo>
                  <a:pt x="2334742" y="2130971"/>
                </a:lnTo>
                <a:close/>
              </a:path>
              <a:path w="2484754" h="2472054">
                <a:moveTo>
                  <a:pt x="2356599" y="1344815"/>
                </a:moveTo>
                <a:lnTo>
                  <a:pt x="2350541" y="1337475"/>
                </a:lnTo>
                <a:lnTo>
                  <a:pt x="2321166" y="1361744"/>
                </a:lnTo>
                <a:lnTo>
                  <a:pt x="2327237" y="1369085"/>
                </a:lnTo>
                <a:lnTo>
                  <a:pt x="2356599" y="1344815"/>
                </a:lnTo>
                <a:close/>
              </a:path>
              <a:path w="2484754" h="2472054">
                <a:moveTo>
                  <a:pt x="2358555" y="1129487"/>
                </a:moveTo>
                <a:lnTo>
                  <a:pt x="2329103" y="1105306"/>
                </a:lnTo>
                <a:lnTo>
                  <a:pt x="2323071" y="1112672"/>
                </a:lnTo>
                <a:lnTo>
                  <a:pt x="2352510" y="1136840"/>
                </a:lnTo>
                <a:lnTo>
                  <a:pt x="2358555" y="1129487"/>
                </a:lnTo>
                <a:close/>
              </a:path>
              <a:path w="2484754" h="2472054">
                <a:moveTo>
                  <a:pt x="2360549" y="284226"/>
                </a:moveTo>
                <a:lnTo>
                  <a:pt x="2351862" y="280327"/>
                </a:lnTo>
                <a:lnTo>
                  <a:pt x="2336279" y="315099"/>
                </a:lnTo>
                <a:lnTo>
                  <a:pt x="2344978" y="318998"/>
                </a:lnTo>
                <a:lnTo>
                  <a:pt x="2360549" y="284226"/>
                </a:lnTo>
                <a:close/>
              </a:path>
              <a:path w="2484754" h="2472054">
                <a:moveTo>
                  <a:pt x="2362060" y="2191791"/>
                </a:moveTo>
                <a:lnTo>
                  <a:pt x="2346439" y="2157031"/>
                </a:lnTo>
                <a:lnTo>
                  <a:pt x="2337752" y="2160943"/>
                </a:lnTo>
                <a:lnTo>
                  <a:pt x="2353360" y="2195690"/>
                </a:lnTo>
                <a:lnTo>
                  <a:pt x="2362060" y="2191791"/>
                </a:lnTo>
                <a:close/>
              </a:path>
              <a:path w="2484754" h="2472054">
                <a:moveTo>
                  <a:pt x="2387816" y="223380"/>
                </a:moveTo>
                <a:lnTo>
                  <a:pt x="2379129" y="219481"/>
                </a:lnTo>
                <a:lnTo>
                  <a:pt x="2363546" y="254254"/>
                </a:lnTo>
                <a:lnTo>
                  <a:pt x="2372233" y="258152"/>
                </a:lnTo>
                <a:lnTo>
                  <a:pt x="2387816" y="223380"/>
                </a:lnTo>
                <a:close/>
              </a:path>
              <a:path w="2484754" h="2472054">
                <a:moveTo>
                  <a:pt x="2387981" y="63957"/>
                </a:moveTo>
                <a:lnTo>
                  <a:pt x="2383167" y="55740"/>
                </a:lnTo>
                <a:lnTo>
                  <a:pt x="2350287" y="74980"/>
                </a:lnTo>
                <a:lnTo>
                  <a:pt x="2355088" y="83197"/>
                </a:lnTo>
                <a:lnTo>
                  <a:pt x="2387981" y="63957"/>
                </a:lnTo>
                <a:close/>
              </a:path>
              <a:path w="2484754" h="2472054">
                <a:moveTo>
                  <a:pt x="2389365" y="2252611"/>
                </a:moveTo>
                <a:lnTo>
                  <a:pt x="2373757" y="2217864"/>
                </a:lnTo>
                <a:lnTo>
                  <a:pt x="2365070" y="2221763"/>
                </a:lnTo>
                <a:lnTo>
                  <a:pt x="2380678" y="2256523"/>
                </a:lnTo>
                <a:lnTo>
                  <a:pt x="2389365" y="2252611"/>
                </a:lnTo>
                <a:close/>
              </a:path>
              <a:path w="2484754" h="2472054">
                <a:moveTo>
                  <a:pt x="2389771" y="2409609"/>
                </a:moveTo>
                <a:lnTo>
                  <a:pt x="2356815" y="2390495"/>
                </a:lnTo>
                <a:lnTo>
                  <a:pt x="2352040" y="2398738"/>
                </a:lnTo>
                <a:lnTo>
                  <a:pt x="2384996" y="2417851"/>
                </a:lnTo>
                <a:lnTo>
                  <a:pt x="2389771" y="2409609"/>
                </a:lnTo>
                <a:close/>
              </a:path>
              <a:path w="2484754" h="2472054">
                <a:moveTo>
                  <a:pt x="2408009" y="1302359"/>
                </a:moveTo>
                <a:lnTo>
                  <a:pt x="2401938" y="1295006"/>
                </a:lnTo>
                <a:lnTo>
                  <a:pt x="2372563" y="1319276"/>
                </a:lnTo>
                <a:lnTo>
                  <a:pt x="2378633" y="1326616"/>
                </a:lnTo>
                <a:lnTo>
                  <a:pt x="2408009" y="1302359"/>
                </a:lnTo>
                <a:close/>
              </a:path>
              <a:path w="2484754" h="2472054">
                <a:moveTo>
                  <a:pt x="2410091" y="1171778"/>
                </a:moveTo>
                <a:lnTo>
                  <a:pt x="2380653" y="1147610"/>
                </a:lnTo>
                <a:lnTo>
                  <a:pt x="2374608" y="1154976"/>
                </a:lnTo>
                <a:lnTo>
                  <a:pt x="2404059" y="1179144"/>
                </a:lnTo>
                <a:lnTo>
                  <a:pt x="2410091" y="1171778"/>
                </a:lnTo>
                <a:close/>
              </a:path>
              <a:path w="2484754" h="2472054">
                <a:moveTo>
                  <a:pt x="2415082" y="162534"/>
                </a:moveTo>
                <a:lnTo>
                  <a:pt x="2406383" y="158635"/>
                </a:lnTo>
                <a:lnTo>
                  <a:pt x="2390813" y="193408"/>
                </a:lnTo>
                <a:lnTo>
                  <a:pt x="2399500" y="197307"/>
                </a:lnTo>
                <a:lnTo>
                  <a:pt x="2415082" y="162534"/>
                </a:lnTo>
                <a:close/>
              </a:path>
              <a:path w="2484754" h="2472054">
                <a:moveTo>
                  <a:pt x="2416683" y="2313432"/>
                </a:moveTo>
                <a:lnTo>
                  <a:pt x="2401074" y="2278684"/>
                </a:lnTo>
                <a:lnTo>
                  <a:pt x="2392388" y="2282583"/>
                </a:lnTo>
                <a:lnTo>
                  <a:pt x="2407996" y="2317343"/>
                </a:lnTo>
                <a:lnTo>
                  <a:pt x="2416683" y="2313432"/>
                </a:lnTo>
                <a:close/>
              </a:path>
              <a:path w="2484754" h="2472054">
                <a:moveTo>
                  <a:pt x="2442337" y="101688"/>
                </a:moveTo>
                <a:lnTo>
                  <a:pt x="2433650" y="97790"/>
                </a:lnTo>
                <a:lnTo>
                  <a:pt x="2418067" y="132562"/>
                </a:lnTo>
                <a:lnTo>
                  <a:pt x="2426766" y="136461"/>
                </a:lnTo>
                <a:lnTo>
                  <a:pt x="2442337" y="101688"/>
                </a:lnTo>
                <a:close/>
              </a:path>
              <a:path w="2484754" h="2472054">
                <a:moveTo>
                  <a:pt x="2444000" y="2374265"/>
                </a:moveTo>
                <a:lnTo>
                  <a:pt x="2428392" y="2339505"/>
                </a:lnTo>
                <a:lnTo>
                  <a:pt x="2419705" y="2343404"/>
                </a:lnTo>
                <a:lnTo>
                  <a:pt x="2435314" y="2378164"/>
                </a:lnTo>
                <a:lnTo>
                  <a:pt x="2444000" y="2374265"/>
                </a:lnTo>
                <a:close/>
              </a:path>
              <a:path w="2484754" h="2472054">
                <a:moveTo>
                  <a:pt x="2480843" y="1236002"/>
                </a:moveTo>
                <a:lnTo>
                  <a:pt x="2446109" y="1158214"/>
                </a:lnTo>
                <a:lnTo>
                  <a:pt x="2397772" y="1217117"/>
                </a:lnTo>
                <a:lnTo>
                  <a:pt x="2480843" y="1236002"/>
                </a:lnTo>
                <a:close/>
              </a:path>
              <a:path w="2484754" h="2472054">
                <a:moveTo>
                  <a:pt x="2480843" y="1236002"/>
                </a:moveTo>
                <a:lnTo>
                  <a:pt x="2397836" y="1255166"/>
                </a:lnTo>
                <a:lnTo>
                  <a:pt x="2446363" y="1313916"/>
                </a:lnTo>
                <a:lnTo>
                  <a:pt x="2480843" y="1236002"/>
                </a:lnTo>
                <a:close/>
              </a:path>
              <a:path w="2484754" h="2472054">
                <a:moveTo>
                  <a:pt x="2484374" y="2382786"/>
                </a:moveTo>
                <a:lnTo>
                  <a:pt x="2438425" y="2403424"/>
                </a:lnTo>
                <a:lnTo>
                  <a:pt x="2434031" y="2396731"/>
                </a:lnTo>
                <a:lnTo>
                  <a:pt x="2427224" y="2408453"/>
                </a:lnTo>
                <a:lnTo>
                  <a:pt x="2414867" y="2414003"/>
                </a:lnTo>
                <a:lnTo>
                  <a:pt x="2421064" y="2419083"/>
                </a:lnTo>
                <a:lnTo>
                  <a:pt x="2417305" y="2425573"/>
                </a:lnTo>
                <a:lnTo>
                  <a:pt x="2414498" y="2423947"/>
                </a:lnTo>
                <a:lnTo>
                  <a:pt x="2409723" y="2432177"/>
                </a:lnTo>
                <a:lnTo>
                  <a:pt x="2412530" y="2433815"/>
                </a:lnTo>
                <a:lnTo>
                  <a:pt x="2395817" y="2462657"/>
                </a:lnTo>
                <a:lnTo>
                  <a:pt x="2480843" y="2467902"/>
                </a:lnTo>
                <a:lnTo>
                  <a:pt x="2484374" y="2382786"/>
                </a:lnTo>
                <a:close/>
              </a:path>
              <a:path w="2484754" h="2472054">
                <a:moveTo>
                  <a:pt x="2484450" y="89230"/>
                </a:moveTo>
                <a:lnTo>
                  <a:pt x="2483878" y="75590"/>
                </a:lnTo>
                <a:lnTo>
                  <a:pt x="2480843" y="4102"/>
                </a:lnTo>
                <a:lnTo>
                  <a:pt x="2395829" y="9702"/>
                </a:lnTo>
                <a:lnTo>
                  <a:pt x="2412669" y="38481"/>
                </a:lnTo>
                <a:lnTo>
                  <a:pt x="2407831" y="41300"/>
                </a:lnTo>
                <a:lnTo>
                  <a:pt x="2412644" y="49530"/>
                </a:lnTo>
                <a:lnTo>
                  <a:pt x="2417483" y="46697"/>
                </a:lnTo>
                <a:lnTo>
                  <a:pt x="2421140" y="52971"/>
                </a:lnTo>
                <a:lnTo>
                  <a:pt x="2414917" y="58064"/>
                </a:lnTo>
                <a:lnTo>
                  <a:pt x="2427389" y="63665"/>
                </a:lnTo>
                <a:lnTo>
                  <a:pt x="2434310" y="75476"/>
                </a:lnTo>
                <a:lnTo>
                  <a:pt x="2438704" y="68732"/>
                </a:lnTo>
                <a:lnTo>
                  <a:pt x="2445347" y="71704"/>
                </a:lnTo>
                <a:lnTo>
                  <a:pt x="2454021" y="75603"/>
                </a:lnTo>
                <a:lnTo>
                  <a:pt x="2484450" y="8923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35" name="object 35"/>
          <p:cNvSpPr txBox="1"/>
          <p:nvPr/>
        </p:nvSpPr>
        <p:spPr>
          <a:xfrm>
            <a:off x="4152941" y="5721678"/>
            <a:ext cx="767080" cy="299720"/>
          </a:xfrm>
          <a:prstGeom prst="rect">
            <a:avLst/>
          </a:prstGeom>
        </p:spPr>
        <p:txBody>
          <a:bodyPr vert="horz" wrap="square" lIns="0" tIns="12700" rIns="0" bIns="0" rtlCol="0">
            <a:spAutoFit/>
          </a:bodyPr>
          <a:lstStyle/>
          <a:p>
            <a:pPr>
              <a:spcBef>
                <a:spcPts val="100"/>
              </a:spcBef>
            </a:pPr>
            <a:r>
              <a:rPr b="1" spc="-5" dirty="0">
                <a:solidFill>
                  <a:prstClr val="black"/>
                </a:solidFill>
                <a:latin typeface="Arial"/>
                <a:cs typeface="Arial"/>
              </a:rPr>
              <a:t>Input</a:t>
            </a:r>
            <a:r>
              <a:rPr b="1" spc="-80" dirty="0">
                <a:solidFill>
                  <a:prstClr val="black"/>
                </a:solidFill>
                <a:latin typeface="Arial"/>
                <a:cs typeface="Arial"/>
              </a:rPr>
              <a:t> </a:t>
            </a:r>
            <a:r>
              <a:rPr dirty="0">
                <a:solidFill>
                  <a:prstClr val="black"/>
                </a:solidFill>
                <a:latin typeface="Cambria Math"/>
                <a:cs typeface="Cambria Math"/>
              </a:rPr>
              <a:t>𝒙</a:t>
            </a:r>
            <a:endParaRPr>
              <a:solidFill>
                <a:prstClr val="black"/>
              </a:solidFill>
              <a:latin typeface="Cambria Math"/>
              <a:cs typeface="Cambria Math"/>
            </a:endParaRPr>
          </a:p>
        </p:txBody>
      </p:sp>
      <p:sp>
        <p:nvSpPr>
          <p:cNvPr id="36" name="object 36"/>
          <p:cNvSpPr txBox="1"/>
          <p:nvPr/>
        </p:nvSpPr>
        <p:spPr>
          <a:xfrm>
            <a:off x="7366166" y="5721678"/>
            <a:ext cx="956310" cy="299720"/>
          </a:xfrm>
          <a:prstGeom prst="rect">
            <a:avLst/>
          </a:prstGeom>
        </p:spPr>
        <p:txBody>
          <a:bodyPr vert="horz" wrap="square" lIns="0" tIns="12700" rIns="0" bIns="0" rtlCol="0">
            <a:spAutoFit/>
          </a:bodyPr>
          <a:lstStyle/>
          <a:p>
            <a:pPr>
              <a:spcBef>
                <a:spcPts val="100"/>
              </a:spcBef>
            </a:pPr>
            <a:r>
              <a:rPr b="1" spc="-5" dirty="0">
                <a:solidFill>
                  <a:prstClr val="black"/>
                </a:solidFill>
                <a:latin typeface="Arial"/>
                <a:cs typeface="Arial"/>
              </a:rPr>
              <a:t>Output</a:t>
            </a:r>
            <a:r>
              <a:rPr b="1" spc="-75" dirty="0">
                <a:solidFill>
                  <a:prstClr val="black"/>
                </a:solidFill>
                <a:latin typeface="Arial"/>
                <a:cs typeface="Arial"/>
              </a:rPr>
              <a:t> </a:t>
            </a:r>
            <a:r>
              <a:rPr spc="-190" dirty="0">
                <a:solidFill>
                  <a:prstClr val="black"/>
                </a:solidFill>
                <a:latin typeface="Cambria Math"/>
                <a:cs typeface="Cambria Math"/>
              </a:rPr>
              <a:t>𝒙</a:t>
            </a:r>
            <a:r>
              <a:rPr sz="2700" spc="-284" baseline="1543" dirty="0">
                <a:solidFill>
                  <a:prstClr val="black"/>
                </a:solidFill>
                <a:latin typeface="Cambria Math"/>
                <a:cs typeface="Cambria Math"/>
              </a:rPr>
              <a:t>.</a:t>
            </a:r>
            <a:endParaRPr sz="2700" baseline="1543">
              <a:solidFill>
                <a:prstClr val="black"/>
              </a:solidFill>
              <a:latin typeface="Cambria Math"/>
              <a:cs typeface="Cambria Math"/>
            </a:endParaRPr>
          </a:p>
        </p:txBody>
      </p:sp>
      <p:grpSp>
        <p:nvGrpSpPr>
          <p:cNvPr id="37" name="object 37"/>
          <p:cNvGrpSpPr/>
          <p:nvPr/>
        </p:nvGrpSpPr>
        <p:grpSpPr>
          <a:xfrm>
            <a:off x="4022602" y="2133600"/>
            <a:ext cx="4510405" cy="3945890"/>
            <a:chOff x="2498601" y="2133600"/>
            <a:chExt cx="4510405" cy="3945890"/>
          </a:xfrm>
        </p:grpSpPr>
        <p:sp>
          <p:nvSpPr>
            <p:cNvPr id="38" name="object 38"/>
            <p:cNvSpPr/>
            <p:nvPr/>
          </p:nvSpPr>
          <p:spPr>
            <a:xfrm>
              <a:off x="2511301" y="2146300"/>
              <a:ext cx="2132330" cy="3920490"/>
            </a:xfrm>
            <a:custGeom>
              <a:avLst/>
              <a:gdLst/>
              <a:ahLst/>
              <a:cxnLst/>
              <a:rect l="l" t="t" r="r" b="b"/>
              <a:pathLst>
                <a:path w="2132329" h="3920490">
                  <a:moveTo>
                    <a:pt x="0" y="0"/>
                  </a:moveTo>
                  <a:lnTo>
                    <a:pt x="2132001" y="0"/>
                  </a:lnTo>
                  <a:lnTo>
                    <a:pt x="2132001" y="3920136"/>
                  </a:lnTo>
                  <a:lnTo>
                    <a:pt x="0" y="3920136"/>
                  </a:lnTo>
                  <a:lnTo>
                    <a:pt x="0" y="0"/>
                  </a:lnTo>
                  <a:close/>
                </a:path>
              </a:pathLst>
            </a:custGeom>
            <a:ln w="25400">
              <a:solidFill>
                <a:srgbClr val="F79646"/>
              </a:solidFill>
            </a:ln>
          </p:spPr>
          <p:txBody>
            <a:bodyPr wrap="square" lIns="0" tIns="0" rIns="0" bIns="0" rtlCol="0"/>
            <a:lstStyle/>
            <a:p>
              <a:endParaRPr>
                <a:solidFill>
                  <a:prstClr val="black"/>
                </a:solidFill>
                <a:latin typeface="Calibri"/>
              </a:endParaRPr>
            </a:p>
          </p:txBody>
        </p:sp>
        <p:sp>
          <p:nvSpPr>
            <p:cNvPr id="39" name="object 39"/>
            <p:cNvSpPr/>
            <p:nvPr/>
          </p:nvSpPr>
          <p:spPr>
            <a:xfrm>
              <a:off x="4643301" y="2146300"/>
              <a:ext cx="2352675" cy="3920490"/>
            </a:xfrm>
            <a:custGeom>
              <a:avLst/>
              <a:gdLst/>
              <a:ahLst/>
              <a:cxnLst/>
              <a:rect l="l" t="t" r="r" b="b"/>
              <a:pathLst>
                <a:path w="2352675" h="3920490">
                  <a:moveTo>
                    <a:pt x="0" y="0"/>
                  </a:moveTo>
                  <a:lnTo>
                    <a:pt x="2352543" y="0"/>
                  </a:lnTo>
                  <a:lnTo>
                    <a:pt x="2352543" y="3920136"/>
                  </a:lnTo>
                  <a:lnTo>
                    <a:pt x="0" y="3920136"/>
                  </a:lnTo>
                  <a:lnTo>
                    <a:pt x="0" y="0"/>
                  </a:lnTo>
                  <a:close/>
                </a:path>
              </a:pathLst>
            </a:custGeom>
            <a:ln w="25400">
              <a:solidFill>
                <a:srgbClr val="00B050"/>
              </a:solidFill>
            </a:ln>
          </p:spPr>
          <p:txBody>
            <a:bodyPr wrap="square" lIns="0" tIns="0" rIns="0" bIns="0" rtlCol="0"/>
            <a:lstStyle/>
            <a:p>
              <a:endParaRPr>
                <a:solidFill>
                  <a:prstClr val="black"/>
                </a:solidFill>
                <a:latin typeface="Calibri"/>
              </a:endParaRPr>
            </a:p>
          </p:txBody>
        </p:sp>
      </p:grpSp>
      <p:pic>
        <p:nvPicPr>
          <p:cNvPr id="40" name="object 40"/>
          <p:cNvPicPr/>
          <p:nvPr/>
        </p:nvPicPr>
        <p:blipFill>
          <a:blip r:embed="rId4" cstate="print"/>
          <a:stretch>
            <a:fillRect/>
          </a:stretch>
        </p:blipFill>
        <p:spPr>
          <a:xfrm>
            <a:off x="2414632" y="3275764"/>
            <a:ext cx="1330234" cy="1309770"/>
          </a:xfrm>
          <a:prstGeom prst="rect">
            <a:avLst/>
          </a:prstGeom>
        </p:spPr>
      </p:pic>
      <p:pic>
        <p:nvPicPr>
          <p:cNvPr id="41" name="object 41"/>
          <p:cNvPicPr/>
          <p:nvPr/>
        </p:nvPicPr>
        <p:blipFill>
          <a:blip r:embed="rId4" cstate="print"/>
          <a:stretch>
            <a:fillRect/>
          </a:stretch>
        </p:blipFill>
        <p:spPr>
          <a:xfrm>
            <a:off x="8859659" y="3298092"/>
            <a:ext cx="1330234" cy="1309770"/>
          </a:xfrm>
          <a:prstGeom prst="rect">
            <a:avLst/>
          </a:prstGeom>
        </p:spPr>
      </p:pic>
      <p:sp>
        <p:nvSpPr>
          <p:cNvPr id="42" name="object 42"/>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43" name="object 43"/>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17</a:t>
            </a:fld>
            <a:endParaRPr dirty="0">
              <a:solidFill>
                <a:prstClr val="whit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1" y="1109979"/>
            <a:ext cx="6085205" cy="391160"/>
          </a:xfrm>
          <a:prstGeom prst="rect">
            <a:avLst/>
          </a:prstGeom>
        </p:spPr>
        <p:txBody>
          <a:bodyPr vert="horz" wrap="square" lIns="0" tIns="12700" rIns="0" bIns="0" rtlCol="0">
            <a:spAutoFit/>
          </a:bodyPr>
          <a:lstStyle/>
          <a:p>
            <a:pPr marL="12700">
              <a:spcBef>
                <a:spcPts val="100"/>
              </a:spcBef>
            </a:pPr>
            <a:r>
              <a:rPr sz="2400" b="1" spc="-5" dirty="0">
                <a:solidFill>
                  <a:prstClr val="black"/>
                </a:solidFill>
                <a:latin typeface="Arial"/>
                <a:cs typeface="Arial"/>
              </a:rPr>
              <a:t>Encoder</a:t>
            </a:r>
            <a:r>
              <a:rPr sz="2400" b="1" spc="-15" dirty="0">
                <a:solidFill>
                  <a:prstClr val="black"/>
                </a:solidFill>
                <a:latin typeface="Arial"/>
                <a:cs typeface="Arial"/>
              </a:rPr>
              <a:t> </a:t>
            </a:r>
            <a:r>
              <a:rPr sz="2400" b="1" spc="-5" dirty="0">
                <a:solidFill>
                  <a:prstClr val="black"/>
                </a:solidFill>
                <a:latin typeface="Arial"/>
                <a:cs typeface="Arial"/>
              </a:rPr>
              <a:t>yields</a:t>
            </a:r>
            <a:r>
              <a:rPr sz="2400" b="1" spc="-10" dirty="0">
                <a:solidFill>
                  <a:prstClr val="black"/>
                </a:solidFill>
                <a:latin typeface="Arial"/>
                <a:cs typeface="Arial"/>
              </a:rPr>
              <a:t> </a:t>
            </a:r>
            <a:r>
              <a:rPr sz="2400" b="1" spc="-5" dirty="0">
                <a:solidFill>
                  <a:prstClr val="black"/>
                </a:solidFill>
                <a:latin typeface="Arial"/>
                <a:cs typeface="Arial"/>
              </a:rPr>
              <a:t>compression</a:t>
            </a:r>
            <a:r>
              <a:rPr sz="2400" b="1" spc="-15" dirty="0">
                <a:solidFill>
                  <a:prstClr val="black"/>
                </a:solidFill>
                <a:latin typeface="Arial"/>
                <a:cs typeface="Arial"/>
              </a:rPr>
              <a:t> </a:t>
            </a:r>
            <a:r>
              <a:rPr sz="2400" b="1" spc="-5" dirty="0">
                <a:solidFill>
                  <a:prstClr val="black"/>
                </a:solidFill>
                <a:latin typeface="Arial"/>
                <a:cs typeface="Arial"/>
              </a:rPr>
              <a:t>of</a:t>
            </a:r>
            <a:r>
              <a:rPr sz="2400" b="1" spc="-10" dirty="0">
                <a:solidFill>
                  <a:prstClr val="black"/>
                </a:solidFill>
                <a:latin typeface="Arial"/>
                <a:cs typeface="Arial"/>
              </a:rPr>
              <a:t> </a:t>
            </a:r>
            <a:r>
              <a:rPr sz="2400" b="1" spc="-5" dirty="0">
                <a:solidFill>
                  <a:prstClr val="black"/>
                </a:solidFill>
                <a:latin typeface="Arial"/>
                <a:cs typeface="Arial"/>
              </a:rPr>
              <a:t>input</a:t>
            </a:r>
            <a:r>
              <a:rPr sz="2400" b="1" spc="-10" dirty="0">
                <a:solidFill>
                  <a:prstClr val="black"/>
                </a:solidFill>
                <a:latin typeface="Arial"/>
                <a:cs typeface="Arial"/>
              </a:rPr>
              <a:t> </a:t>
            </a:r>
            <a:r>
              <a:rPr sz="2400" b="1" spc="-5" dirty="0">
                <a:solidFill>
                  <a:prstClr val="black"/>
                </a:solidFill>
                <a:latin typeface="Arial"/>
                <a:cs typeface="Arial"/>
              </a:rPr>
              <a:t>data</a:t>
            </a:r>
            <a:endParaRPr sz="2400">
              <a:solidFill>
                <a:prstClr val="black"/>
              </a:solidFill>
              <a:latin typeface="Arial"/>
              <a:cs typeface="Arial"/>
            </a:endParaRPr>
          </a:p>
        </p:txBody>
      </p:sp>
      <p:pic>
        <p:nvPicPr>
          <p:cNvPr id="4" name="object 4"/>
          <p:cNvPicPr/>
          <p:nvPr/>
        </p:nvPicPr>
        <p:blipFill>
          <a:blip r:embed="rId3" cstate="print"/>
          <a:stretch>
            <a:fillRect/>
          </a:stretch>
        </p:blipFill>
        <p:spPr>
          <a:xfrm>
            <a:off x="1536700" y="67734"/>
            <a:ext cx="3280832" cy="918633"/>
          </a:xfrm>
          <a:prstGeom prst="rect">
            <a:avLst/>
          </a:prstGeom>
        </p:spPr>
      </p:pic>
      <p:sp>
        <p:nvSpPr>
          <p:cNvPr id="5" name="object 5"/>
          <p:cNvSpPr txBox="1">
            <a:spLocks noGrp="1"/>
          </p:cNvSpPr>
          <p:nvPr>
            <p:ph type="title"/>
          </p:nvPr>
        </p:nvSpPr>
        <p:spPr>
          <a:xfrm>
            <a:off x="1785621" y="183388"/>
            <a:ext cx="2753995" cy="513080"/>
          </a:xfrm>
          <a:prstGeom prst="rect">
            <a:avLst/>
          </a:prstGeom>
        </p:spPr>
        <p:txBody>
          <a:bodyPr vert="horz" wrap="square" lIns="0" tIns="12700" rIns="0" bIns="0" rtlCol="0">
            <a:spAutoFit/>
          </a:bodyPr>
          <a:lstStyle/>
          <a:p>
            <a:pPr marL="12700">
              <a:spcBef>
                <a:spcPts val="100"/>
              </a:spcBef>
            </a:pPr>
            <a:r>
              <a:rPr sz="3200" dirty="0">
                <a:solidFill>
                  <a:srgbClr val="004990"/>
                </a:solidFill>
              </a:rPr>
              <a:t>A</a:t>
            </a:r>
            <a:r>
              <a:rPr sz="3200" spc="-5" dirty="0">
                <a:solidFill>
                  <a:srgbClr val="004990"/>
                </a:solidFill>
              </a:rPr>
              <a:t>utoencode</a:t>
            </a:r>
            <a:r>
              <a:rPr sz="3200" dirty="0">
                <a:solidFill>
                  <a:srgbClr val="004990"/>
                </a:solidFill>
              </a:rPr>
              <a:t>rs</a:t>
            </a:r>
            <a:endParaRPr sz="3200"/>
          </a:p>
        </p:txBody>
      </p:sp>
      <p:grpSp>
        <p:nvGrpSpPr>
          <p:cNvPr id="6" name="object 6"/>
          <p:cNvGrpSpPr/>
          <p:nvPr/>
        </p:nvGrpSpPr>
        <p:grpSpPr>
          <a:xfrm>
            <a:off x="4976403" y="2324100"/>
            <a:ext cx="2349500" cy="3213100"/>
            <a:chOff x="3452403" y="2324100"/>
            <a:chExt cx="2349500" cy="3213100"/>
          </a:xfrm>
        </p:grpSpPr>
        <p:sp>
          <p:nvSpPr>
            <p:cNvPr id="7" name="object 7"/>
            <p:cNvSpPr/>
            <p:nvPr/>
          </p:nvSpPr>
          <p:spPr>
            <a:xfrm>
              <a:off x="3465103"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8" name="object 8"/>
            <p:cNvSpPr/>
            <p:nvPr/>
          </p:nvSpPr>
          <p:spPr>
            <a:xfrm>
              <a:off x="3465103"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9" name="object 9"/>
            <p:cNvSpPr/>
            <p:nvPr/>
          </p:nvSpPr>
          <p:spPr>
            <a:xfrm>
              <a:off x="5065304" y="2849479"/>
              <a:ext cx="723900" cy="723900"/>
            </a:xfrm>
            <a:custGeom>
              <a:avLst/>
              <a:gdLst/>
              <a:ahLst/>
              <a:cxnLst/>
              <a:rect l="l" t="t" r="r" b="b"/>
              <a:pathLst>
                <a:path w="723900" h="723900">
                  <a:moveTo>
                    <a:pt x="361950" y="0"/>
                  </a:moveTo>
                  <a:lnTo>
                    <a:pt x="312835" y="3304"/>
                  </a:lnTo>
                  <a:lnTo>
                    <a:pt x="265728" y="12929"/>
                  </a:lnTo>
                  <a:lnTo>
                    <a:pt x="221062" y="28443"/>
                  </a:lnTo>
                  <a:lnTo>
                    <a:pt x="179266" y="49416"/>
                  </a:lnTo>
                  <a:lnTo>
                    <a:pt x="140772"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2" y="648483"/>
                  </a:lnTo>
                  <a:lnTo>
                    <a:pt x="179266" y="674483"/>
                  </a:lnTo>
                  <a:lnTo>
                    <a:pt x="221062" y="695456"/>
                  </a:lnTo>
                  <a:lnTo>
                    <a:pt x="265728"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0" name="object 10"/>
            <p:cNvSpPr/>
            <p:nvPr/>
          </p:nvSpPr>
          <p:spPr>
            <a:xfrm>
              <a:off x="5065304" y="2849479"/>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1" name="object 11"/>
            <p:cNvSpPr/>
            <p:nvPr/>
          </p:nvSpPr>
          <p:spPr>
            <a:xfrm>
              <a:off x="4186599" y="2694639"/>
              <a:ext cx="878840" cy="516890"/>
            </a:xfrm>
            <a:custGeom>
              <a:avLst/>
              <a:gdLst/>
              <a:ahLst/>
              <a:cxnLst/>
              <a:rect l="l" t="t" r="r" b="b"/>
              <a:pathLst>
                <a:path w="878839" h="516889">
                  <a:moveTo>
                    <a:pt x="810501" y="471370"/>
                  </a:moveTo>
                  <a:lnTo>
                    <a:pt x="805690" y="479592"/>
                  </a:lnTo>
                  <a:lnTo>
                    <a:pt x="810529" y="482422"/>
                  </a:lnTo>
                  <a:lnTo>
                    <a:pt x="793694" y="511196"/>
                  </a:lnTo>
                  <a:lnTo>
                    <a:pt x="878704" y="516790"/>
                  </a:lnTo>
                  <a:lnTo>
                    <a:pt x="850935" y="474201"/>
                  </a:lnTo>
                  <a:lnTo>
                    <a:pt x="815338" y="474201"/>
                  </a:lnTo>
                  <a:lnTo>
                    <a:pt x="810501" y="471370"/>
                  </a:lnTo>
                  <a:close/>
                </a:path>
                <a:path w="878839" h="516889">
                  <a:moveTo>
                    <a:pt x="832173" y="445425"/>
                  </a:moveTo>
                  <a:lnTo>
                    <a:pt x="815338" y="474201"/>
                  </a:lnTo>
                  <a:lnTo>
                    <a:pt x="850935" y="474201"/>
                  </a:lnTo>
                  <a:lnTo>
                    <a:pt x="832173" y="445425"/>
                  </a:lnTo>
                  <a:close/>
                </a:path>
                <a:path w="878839" h="516889">
                  <a:moveTo>
                    <a:pt x="752951" y="437701"/>
                  </a:moveTo>
                  <a:lnTo>
                    <a:pt x="748141" y="445922"/>
                  </a:lnTo>
                  <a:lnTo>
                    <a:pt x="781027" y="465162"/>
                  </a:lnTo>
                  <a:lnTo>
                    <a:pt x="785836" y="456940"/>
                  </a:lnTo>
                  <a:lnTo>
                    <a:pt x="752951" y="437701"/>
                  </a:lnTo>
                  <a:close/>
                </a:path>
                <a:path w="878839" h="516889">
                  <a:moveTo>
                    <a:pt x="695402" y="404032"/>
                  </a:moveTo>
                  <a:lnTo>
                    <a:pt x="690592" y="412253"/>
                  </a:lnTo>
                  <a:lnTo>
                    <a:pt x="723477" y="431492"/>
                  </a:lnTo>
                  <a:lnTo>
                    <a:pt x="728287" y="423271"/>
                  </a:lnTo>
                  <a:lnTo>
                    <a:pt x="695402" y="404032"/>
                  </a:lnTo>
                  <a:close/>
                </a:path>
                <a:path w="878839" h="516889">
                  <a:moveTo>
                    <a:pt x="637852" y="370362"/>
                  </a:moveTo>
                  <a:lnTo>
                    <a:pt x="633042" y="378584"/>
                  </a:lnTo>
                  <a:lnTo>
                    <a:pt x="665928" y="397823"/>
                  </a:lnTo>
                  <a:lnTo>
                    <a:pt x="670737" y="389602"/>
                  </a:lnTo>
                  <a:lnTo>
                    <a:pt x="637852" y="370362"/>
                  </a:lnTo>
                  <a:close/>
                </a:path>
                <a:path w="878839" h="516889">
                  <a:moveTo>
                    <a:pt x="580303" y="336693"/>
                  </a:moveTo>
                  <a:lnTo>
                    <a:pt x="575494" y="344915"/>
                  </a:lnTo>
                  <a:lnTo>
                    <a:pt x="608379" y="364154"/>
                  </a:lnTo>
                  <a:lnTo>
                    <a:pt x="613189" y="355932"/>
                  </a:lnTo>
                  <a:lnTo>
                    <a:pt x="580303" y="336693"/>
                  </a:lnTo>
                  <a:close/>
                </a:path>
                <a:path w="878839" h="516889">
                  <a:moveTo>
                    <a:pt x="522753" y="303024"/>
                  </a:moveTo>
                  <a:lnTo>
                    <a:pt x="517944" y="311245"/>
                  </a:lnTo>
                  <a:lnTo>
                    <a:pt x="550829" y="330485"/>
                  </a:lnTo>
                  <a:lnTo>
                    <a:pt x="555638" y="322263"/>
                  </a:lnTo>
                  <a:lnTo>
                    <a:pt x="522753" y="303024"/>
                  </a:lnTo>
                  <a:close/>
                </a:path>
                <a:path w="878839" h="516889">
                  <a:moveTo>
                    <a:pt x="465204" y="269354"/>
                  </a:moveTo>
                  <a:lnTo>
                    <a:pt x="460395" y="277576"/>
                  </a:lnTo>
                  <a:lnTo>
                    <a:pt x="493280" y="296815"/>
                  </a:lnTo>
                  <a:lnTo>
                    <a:pt x="498090" y="288594"/>
                  </a:lnTo>
                  <a:lnTo>
                    <a:pt x="465204" y="269354"/>
                  </a:lnTo>
                  <a:close/>
                </a:path>
                <a:path w="878839" h="516889">
                  <a:moveTo>
                    <a:pt x="407654" y="235685"/>
                  </a:moveTo>
                  <a:lnTo>
                    <a:pt x="402845" y="243907"/>
                  </a:lnTo>
                  <a:lnTo>
                    <a:pt x="435730" y="263146"/>
                  </a:lnTo>
                  <a:lnTo>
                    <a:pt x="440540" y="254924"/>
                  </a:lnTo>
                  <a:lnTo>
                    <a:pt x="407654" y="235685"/>
                  </a:lnTo>
                  <a:close/>
                </a:path>
                <a:path w="878839" h="516889">
                  <a:moveTo>
                    <a:pt x="350105" y="202016"/>
                  </a:moveTo>
                  <a:lnTo>
                    <a:pt x="345296" y="210237"/>
                  </a:lnTo>
                  <a:lnTo>
                    <a:pt x="378181" y="229477"/>
                  </a:lnTo>
                  <a:lnTo>
                    <a:pt x="382991" y="221255"/>
                  </a:lnTo>
                  <a:lnTo>
                    <a:pt x="350105" y="202016"/>
                  </a:lnTo>
                  <a:close/>
                </a:path>
                <a:path w="878839" h="516889">
                  <a:moveTo>
                    <a:pt x="292555" y="168347"/>
                  </a:moveTo>
                  <a:lnTo>
                    <a:pt x="287746" y="176568"/>
                  </a:lnTo>
                  <a:lnTo>
                    <a:pt x="320631" y="195807"/>
                  </a:lnTo>
                  <a:lnTo>
                    <a:pt x="325441" y="187586"/>
                  </a:lnTo>
                  <a:lnTo>
                    <a:pt x="292555" y="168347"/>
                  </a:lnTo>
                  <a:close/>
                </a:path>
                <a:path w="878839" h="516889">
                  <a:moveTo>
                    <a:pt x="235007" y="134677"/>
                  </a:moveTo>
                  <a:lnTo>
                    <a:pt x="230197" y="142899"/>
                  </a:lnTo>
                  <a:lnTo>
                    <a:pt x="263083" y="162138"/>
                  </a:lnTo>
                  <a:lnTo>
                    <a:pt x="267892" y="153917"/>
                  </a:lnTo>
                  <a:lnTo>
                    <a:pt x="235007" y="134677"/>
                  </a:lnTo>
                  <a:close/>
                </a:path>
                <a:path w="878839" h="516889">
                  <a:moveTo>
                    <a:pt x="177457" y="101008"/>
                  </a:moveTo>
                  <a:lnTo>
                    <a:pt x="172647" y="109230"/>
                  </a:lnTo>
                  <a:lnTo>
                    <a:pt x="205532" y="128469"/>
                  </a:lnTo>
                  <a:lnTo>
                    <a:pt x="210342" y="120247"/>
                  </a:lnTo>
                  <a:lnTo>
                    <a:pt x="177457" y="101008"/>
                  </a:lnTo>
                  <a:close/>
                </a:path>
                <a:path w="878839" h="516889">
                  <a:moveTo>
                    <a:pt x="119908" y="67339"/>
                  </a:moveTo>
                  <a:lnTo>
                    <a:pt x="115098" y="75559"/>
                  </a:lnTo>
                  <a:lnTo>
                    <a:pt x="147984" y="94800"/>
                  </a:lnTo>
                  <a:lnTo>
                    <a:pt x="152793" y="86578"/>
                  </a:lnTo>
                  <a:lnTo>
                    <a:pt x="119908" y="67339"/>
                  </a:lnTo>
                  <a:close/>
                </a:path>
                <a:path w="878839" h="516889">
                  <a:moveTo>
                    <a:pt x="62358" y="33670"/>
                  </a:moveTo>
                  <a:lnTo>
                    <a:pt x="57548" y="41890"/>
                  </a:lnTo>
                  <a:lnTo>
                    <a:pt x="90434" y="61130"/>
                  </a:lnTo>
                  <a:lnTo>
                    <a:pt x="95243" y="52909"/>
                  </a:lnTo>
                  <a:lnTo>
                    <a:pt x="62358" y="33670"/>
                  </a:lnTo>
                  <a:close/>
                </a:path>
                <a:path w="878839" h="516889">
                  <a:moveTo>
                    <a:pt x="4809" y="0"/>
                  </a:moveTo>
                  <a:lnTo>
                    <a:pt x="0" y="8221"/>
                  </a:lnTo>
                  <a:lnTo>
                    <a:pt x="32885" y="27461"/>
                  </a:lnTo>
                  <a:lnTo>
                    <a:pt x="37694" y="19240"/>
                  </a:lnTo>
                  <a:lnTo>
                    <a:pt x="4809"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2" name="object 12"/>
            <p:cNvSpPr/>
            <p:nvPr/>
          </p:nvSpPr>
          <p:spPr>
            <a:xfrm>
              <a:off x="3465103"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3" name="object 13"/>
            <p:cNvSpPr/>
            <p:nvPr/>
          </p:nvSpPr>
          <p:spPr>
            <a:xfrm>
              <a:off x="3465103"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4" name="object 14"/>
            <p:cNvSpPr/>
            <p:nvPr/>
          </p:nvSpPr>
          <p:spPr>
            <a:xfrm>
              <a:off x="5065304" y="4292600"/>
              <a:ext cx="723900" cy="723900"/>
            </a:xfrm>
            <a:custGeom>
              <a:avLst/>
              <a:gdLst/>
              <a:ahLst/>
              <a:cxnLst/>
              <a:rect l="l" t="t" r="r" b="b"/>
              <a:pathLst>
                <a:path w="723900" h="723900">
                  <a:moveTo>
                    <a:pt x="361950" y="0"/>
                  </a:moveTo>
                  <a:lnTo>
                    <a:pt x="312835" y="3304"/>
                  </a:lnTo>
                  <a:lnTo>
                    <a:pt x="265728" y="12929"/>
                  </a:lnTo>
                  <a:lnTo>
                    <a:pt x="221062" y="28443"/>
                  </a:lnTo>
                  <a:lnTo>
                    <a:pt x="179266" y="49416"/>
                  </a:lnTo>
                  <a:lnTo>
                    <a:pt x="140772"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2" y="648483"/>
                  </a:lnTo>
                  <a:lnTo>
                    <a:pt x="179266" y="674483"/>
                  </a:lnTo>
                  <a:lnTo>
                    <a:pt x="221062" y="695456"/>
                  </a:lnTo>
                  <a:lnTo>
                    <a:pt x="265728"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5" name="object 15"/>
            <p:cNvSpPr/>
            <p:nvPr/>
          </p:nvSpPr>
          <p:spPr>
            <a:xfrm>
              <a:off x="5065304" y="4292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6" name="object 16"/>
            <p:cNvSpPr/>
            <p:nvPr/>
          </p:nvSpPr>
          <p:spPr>
            <a:xfrm>
              <a:off x="4184650" y="2696806"/>
              <a:ext cx="884555" cy="1958339"/>
            </a:xfrm>
            <a:custGeom>
              <a:avLst/>
              <a:gdLst/>
              <a:ahLst/>
              <a:cxnLst/>
              <a:rect l="l" t="t" r="r" b="b"/>
              <a:pathLst>
                <a:path w="884554" h="1958339">
                  <a:moveTo>
                    <a:pt x="24269" y="34772"/>
                  </a:moveTo>
                  <a:lnTo>
                    <a:pt x="8699" y="0"/>
                  </a:lnTo>
                  <a:lnTo>
                    <a:pt x="0" y="3898"/>
                  </a:lnTo>
                  <a:lnTo>
                    <a:pt x="15582" y="38671"/>
                  </a:lnTo>
                  <a:lnTo>
                    <a:pt x="24269" y="34772"/>
                  </a:lnTo>
                  <a:close/>
                </a:path>
                <a:path w="884554" h="1958339">
                  <a:moveTo>
                    <a:pt x="36817" y="1213358"/>
                  </a:moveTo>
                  <a:lnTo>
                    <a:pt x="30772" y="1205992"/>
                  </a:lnTo>
                  <a:lnTo>
                    <a:pt x="1320" y="1230172"/>
                  </a:lnTo>
                  <a:lnTo>
                    <a:pt x="4343" y="1233855"/>
                  </a:lnTo>
                  <a:lnTo>
                    <a:pt x="1320" y="1237526"/>
                  </a:lnTo>
                  <a:lnTo>
                    <a:pt x="30683" y="1261783"/>
                  </a:lnTo>
                  <a:lnTo>
                    <a:pt x="36753" y="1254442"/>
                  </a:lnTo>
                  <a:lnTo>
                    <a:pt x="11836" y="1233868"/>
                  </a:lnTo>
                  <a:lnTo>
                    <a:pt x="36817" y="1213358"/>
                  </a:lnTo>
                  <a:close/>
                </a:path>
                <a:path w="884554" h="1958339">
                  <a:moveTo>
                    <a:pt x="51536" y="95618"/>
                  </a:moveTo>
                  <a:lnTo>
                    <a:pt x="35953" y="60845"/>
                  </a:lnTo>
                  <a:lnTo>
                    <a:pt x="27266" y="64744"/>
                  </a:lnTo>
                  <a:lnTo>
                    <a:pt x="42837" y="99517"/>
                  </a:lnTo>
                  <a:lnTo>
                    <a:pt x="51536" y="95618"/>
                  </a:lnTo>
                  <a:close/>
                </a:path>
                <a:path w="884554" h="1958339">
                  <a:moveTo>
                    <a:pt x="78803" y="156464"/>
                  </a:moveTo>
                  <a:lnTo>
                    <a:pt x="63220" y="121691"/>
                  </a:lnTo>
                  <a:lnTo>
                    <a:pt x="54521" y="125590"/>
                  </a:lnTo>
                  <a:lnTo>
                    <a:pt x="70104" y="160362"/>
                  </a:lnTo>
                  <a:lnTo>
                    <a:pt x="78803" y="156464"/>
                  </a:lnTo>
                  <a:close/>
                </a:path>
                <a:path w="884554" h="1958339">
                  <a:moveTo>
                    <a:pt x="88163" y="1296911"/>
                  </a:moveTo>
                  <a:lnTo>
                    <a:pt x="58788" y="1272641"/>
                  </a:lnTo>
                  <a:lnTo>
                    <a:pt x="52717" y="1279982"/>
                  </a:lnTo>
                  <a:lnTo>
                    <a:pt x="82092" y="1304251"/>
                  </a:lnTo>
                  <a:lnTo>
                    <a:pt x="88163" y="1296911"/>
                  </a:lnTo>
                  <a:close/>
                </a:path>
                <a:path w="884554" h="1958339">
                  <a:moveTo>
                    <a:pt x="88353" y="1171054"/>
                  </a:moveTo>
                  <a:lnTo>
                    <a:pt x="82321" y="1163701"/>
                  </a:lnTo>
                  <a:lnTo>
                    <a:pt x="52870" y="1187869"/>
                  </a:lnTo>
                  <a:lnTo>
                    <a:pt x="58902" y="1195235"/>
                  </a:lnTo>
                  <a:lnTo>
                    <a:pt x="88353" y="1171054"/>
                  </a:lnTo>
                  <a:close/>
                </a:path>
                <a:path w="884554" h="1958339">
                  <a:moveTo>
                    <a:pt x="106057" y="217309"/>
                  </a:moveTo>
                  <a:lnTo>
                    <a:pt x="90487" y="182537"/>
                  </a:lnTo>
                  <a:lnTo>
                    <a:pt x="81788" y="186436"/>
                  </a:lnTo>
                  <a:lnTo>
                    <a:pt x="97370" y="221208"/>
                  </a:lnTo>
                  <a:lnTo>
                    <a:pt x="106057" y="217309"/>
                  </a:lnTo>
                  <a:close/>
                </a:path>
                <a:path w="884554" h="1958339">
                  <a:moveTo>
                    <a:pt x="133324" y="278155"/>
                  </a:moveTo>
                  <a:lnTo>
                    <a:pt x="117741" y="243382"/>
                  </a:lnTo>
                  <a:lnTo>
                    <a:pt x="109054" y="247281"/>
                  </a:lnTo>
                  <a:lnTo>
                    <a:pt x="124625" y="282054"/>
                  </a:lnTo>
                  <a:lnTo>
                    <a:pt x="133324" y="278155"/>
                  </a:lnTo>
                  <a:close/>
                </a:path>
                <a:path w="884554" h="1958339">
                  <a:moveTo>
                    <a:pt x="139560" y="1339367"/>
                  </a:moveTo>
                  <a:lnTo>
                    <a:pt x="110185" y="1315110"/>
                  </a:lnTo>
                  <a:lnTo>
                    <a:pt x="104127" y="1322451"/>
                  </a:lnTo>
                  <a:lnTo>
                    <a:pt x="133502" y="1346708"/>
                  </a:lnTo>
                  <a:lnTo>
                    <a:pt x="139560" y="1339367"/>
                  </a:lnTo>
                  <a:close/>
                </a:path>
                <a:path w="884554" h="1958339">
                  <a:moveTo>
                    <a:pt x="139903" y="1128763"/>
                  </a:moveTo>
                  <a:lnTo>
                    <a:pt x="133858" y="1121397"/>
                  </a:lnTo>
                  <a:lnTo>
                    <a:pt x="104406" y="1145565"/>
                  </a:lnTo>
                  <a:lnTo>
                    <a:pt x="110451" y="1152931"/>
                  </a:lnTo>
                  <a:lnTo>
                    <a:pt x="139903" y="1128763"/>
                  </a:lnTo>
                  <a:close/>
                </a:path>
                <a:path w="884554" h="1958339">
                  <a:moveTo>
                    <a:pt x="160591" y="339001"/>
                  </a:moveTo>
                  <a:lnTo>
                    <a:pt x="145008" y="304228"/>
                  </a:lnTo>
                  <a:lnTo>
                    <a:pt x="136309" y="308127"/>
                  </a:lnTo>
                  <a:lnTo>
                    <a:pt x="151892" y="342900"/>
                  </a:lnTo>
                  <a:lnTo>
                    <a:pt x="160591" y="339001"/>
                  </a:lnTo>
                  <a:close/>
                </a:path>
                <a:path w="884554" h="1958339">
                  <a:moveTo>
                    <a:pt x="187845" y="399846"/>
                  </a:moveTo>
                  <a:lnTo>
                    <a:pt x="172275" y="365086"/>
                  </a:lnTo>
                  <a:lnTo>
                    <a:pt x="163576" y="368973"/>
                  </a:lnTo>
                  <a:lnTo>
                    <a:pt x="179158" y="403745"/>
                  </a:lnTo>
                  <a:lnTo>
                    <a:pt x="187845" y="399846"/>
                  </a:lnTo>
                  <a:close/>
                </a:path>
                <a:path w="884554" h="1958339">
                  <a:moveTo>
                    <a:pt x="190969" y="1381836"/>
                  </a:moveTo>
                  <a:lnTo>
                    <a:pt x="161594" y="1357566"/>
                  </a:lnTo>
                  <a:lnTo>
                    <a:pt x="155524" y="1364907"/>
                  </a:lnTo>
                  <a:lnTo>
                    <a:pt x="184899" y="1389176"/>
                  </a:lnTo>
                  <a:lnTo>
                    <a:pt x="190969" y="1381836"/>
                  </a:lnTo>
                  <a:close/>
                </a:path>
                <a:path w="884554" h="1958339">
                  <a:moveTo>
                    <a:pt x="191439" y="1086459"/>
                  </a:moveTo>
                  <a:lnTo>
                    <a:pt x="185394" y="1079093"/>
                  </a:lnTo>
                  <a:lnTo>
                    <a:pt x="155943" y="1103261"/>
                  </a:lnTo>
                  <a:lnTo>
                    <a:pt x="161988" y="1110627"/>
                  </a:lnTo>
                  <a:lnTo>
                    <a:pt x="191439" y="1086459"/>
                  </a:lnTo>
                  <a:close/>
                </a:path>
                <a:path w="884554" h="1958339">
                  <a:moveTo>
                    <a:pt x="215112" y="460692"/>
                  </a:moveTo>
                  <a:lnTo>
                    <a:pt x="199529" y="425932"/>
                  </a:lnTo>
                  <a:lnTo>
                    <a:pt x="190842" y="429818"/>
                  </a:lnTo>
                  <a:lnTo>
                    <a:pt x="206413" y="464591"/>
                  </a:lnTo>
                  <a:lnTo>
                    <a:pt x="215112" y="460692"/>
                  </a:lnTo>
                  <a:close/>
                </a:path>
                <a:path w="884554" h="1958339">
                  <a:moveTo>
                    <a:pt x="242366" y="1424292"/>
                  </a:moveTo>
                  <a:lnTo>
                    <a:pt x="212991" y="1400035"/>
                  </a:lnTo>
                  <a:lnTo>
                    <a:pt x="206933" y="1407375"/>
                  </a:lnTo>
                  <a:lnTo>
                    <a:pt x="236308" y="1431645"/>
                  </a:lnTo>
                  <a:lnTo>
                    <a:pt x="242366" y="1424292"/>
                  </a:lnTo>
                  <a:close/>
                </a:path>
                <a:path w="884554" h="1958339">
                  <a:moveTo>
                    <a:pt x="242366" y="521538"/>
                  </a:moveTo>
                  <a:lnTo>
                    <a:pt x="226796" y="486778"/>
                  </a:lnTo>
                  <a:lnTo>
                    <a:pt x="218097" y="490664"/>
                  </a:lnTo>
                  <a:lnTo>
                    <a:pt x="233680" y="525437"/>
                  </a:lnTo>
                  <a:lnTo>
                    <a:pt x="242366" y="521538"/>
                  </a:lnTo>
                  <a:close/>
                </a:path>
                <a:path w="884554" h="1958339">
                  <a:moveTo>
                    <a:pt x="242976" y="1044155"/>
                  </a:moveTo>
                  <a:lnTo>
                    <a:pt x="236931" y="1036789"/>
                  </a:lnTo>
                  <a:lnTo>
                    <a:pt x="207479" y="1060970"/>
                  </a:lnTo>
                  <a:lnTo>
                    <a:pt x="213525" y="1068324"/>
                  </a:lnTo>
                  <a:lnTo>
                    <a:pt x="242976" y="1044155"/>
                  </a:lnTo>
                  <a:close/>
                </a:path>
                <a:path w="884554" h="1958339">
                  <a:moveTo>
                    <a:pt x="269633" y="582396"/>
                  </a:moveTo>
                  <a:lnTo>
                    <a:pt x="254050" y="547624"/>
                  </a:lnTo>
                  <a:lnTo>
                    <a:pt x="245364" y="551510"/>
                  </a:lnTo>
                  <a:lnTo>
                    <a:pt x="260946" y="586282"/>
                  </a:lnTo>
                  <a:lnTo>
                    <a:pt x="269633" y="582396"/>
                  </a:lnTo>
                  <a:close/>
                </a:path>
                <a:path w="884554" h="1958339">
                  <a:moveTo>
                    <a:pt x="293776" y="1466761"/>
                  </a:moveTo>
                  <a:lnTo>
                    <a:pt x="264401" y="1442491"/>
                  </a:lnTo>
                  <a:lnTo>
                    <a:pt x="258330" y="1449844"/>
                  </a:lnTo>
                  <a:lnTo>
                    <a:pt x="287705" y="1474101"/>
                  </a:lnTo>
                  <a:lnTo>
                    <a:pt x="293776" y="1466761"/>
                  </a:lnTo>
                  <a:close/>
                </a:path>
                <a:path w="884554" h="1958339">
                  <a:moveTo>
                    <a:pt x="294513" y="1001852"/>
                  </a:moveTo>
                  <a:lnTo>
                    <a:pt x="288467" y="994498"/>
                  </a:lnTo>
                  <a:lnTo>
                    <a:pt x="259016" y="1018667"/>
                  </a:lnTo>
                  <a:lnTo>
                    <a:pt x="265061" y="1026033"/>
                  </a:lnTo>
                  <a:lnTo>
                    <a:pt x="294513" y="1001852"/>
                  </a:lnTo>
                  <a:close/>
                </a:path>
                <a:path w="884554" h="1958339">
                  <a:moveTo>
                    <a:pt x="296900" y="643242"/>
                  </a:moveTo>
                  <a:lnTo>
                    <a:pt x="281317" y="608469"/>
                  </a:lnTo>
                  <a:lnTo>
                    <a:pt x="272630" y="612368"/>
                  </a:lnTo>
                  <a:lnTo>
                    <a:pt x="288201" y="647128"/>
                  </a:lnTo>
                  <a:lnTo>
                    <a:pt x="296900" y="643242"/>
                  </a:lnTo>
                  <a:close/>
                </a:path>
                <a:path w="884554" h="1958339">
                  <a:moveTo>
                    <a:pt x="324154" y="704088"/>
                  </a:moveTo>
                  <a:lnTo>
                    <a:pt x="308584" y="669315"/>
                  </a:lnTo>
                  <a:lnTo>
                    <a:pt x="299885" y="673214"/>
                  </a:lnTo>
                  <a:lnTo>
                    <a:pt x="315468" y="707974"/>
                  </a:lnTo>
                  <a:lnTo>
                    <a:pt x="324154" y="704088"/>
                  </a:lnTo>
                  <a:close/>
                </a:path>
                <a:path w="884554" h="1958339">
                  <a:moveTo>
                    <a:pt x="345173" y="1509229"/>
                  </a:moveTo>
                  <a:lnTo>
                    <a:pt x="315810" y="1484960"/>
                  </a:lnTo>
                  <a:lnTo>
                    <a:pt x="309740" y="1492300"/>
                  </a:lnTo>
                  <a:lnTo>
                    <a:pt x="339115" y="1516570"/>
                  </a:lnTo>
                  <a:lnTo>
                    <a:pt x="345173" y="1509229"/>
                  </a:lnTo>
                  <a:close/>
                </a:path>
                <a:path w="884554" h="1958339">
                  <a:moveTo>
                    <a:pt x="346049" y="959561"/>
                  </a:moveTo>
                  <a:lnTo>
                    <a:pt x="340004" y="952195"/>
                  </a:lnTo>
                  <a:lnTo>
                    <a:pt x="310553" y="976363"/>
                  </a:lnTo>
                  <a:lnTo>
                    <a:pt x="316598" y="983729"/>
                  </a:lnTo>
                  <a:lnTo>
                    <a:pt x="346049" y="959561"/>
                  </a:lnTo>
                  <a:close/>
                </a:path>
                <a:path w="884554" h="1958339">
                  <a:moveTo>
                    <a:pt x="351421" y="764933"/>
                  </a:moveTo>
                  <a:lnTo>
                    <a:pt x="335838" y="730161"/>
                  </a:lnTo>
                  <a:lnTo>
                    <a:pt x="327152" y="734060"/>
                  </a:lnTo>
                  <a:lnTo>
                    <a:pt x="342734" y="768819"/>
                  </a:lnTo>
                  <a:lnTo>
                    <a:pt x="351421" y="764933"/>
                  </a:lnTo>
                  <a:close/>
                </a:path>
                <a:path w="884554" h="1958339">
                  <a:moveTo>
                    <a:pt x="378688" y="825779"/>
                  </a:moveTo>
                  <a:lnTo>
                    <a:pt x="363105" y="791006"/>
                  </a:lnTo>
                  <a:lnTo>
                    <a:pt x="354418" y="794905"/>
                  </a:lnTo>
                  <a:lnTo>
                    <a:pt x="369989" y="829665"/>
                  </a:lnTo>
                  <a:lnTo>
                    <a:pt x="378688" y="825779"/>
                  </a:lnTo>
                  <a:close/>
                </a:path>
                <a:path w="884554" h="1958339">
                  <a:moveTo>
                    <a:pt x="396582" y="1551686"/>
                  </a:moveTo>
                  <a:lnTo>
                    <a:pt x="367207" y="1527429"/>
                  </a:lnTo>
                  <a:lnTo>
                    <a:pt x="361137" y="1534769"/>
                  </a:lnTo>
                  <a:lnTo>
                    <a:pt x="390512" y="1559039"/>
                  </a:lnTo>
                  <a:lnTo>
                    <a:pt x="396582" y="1551686"/>
                  </a:lnTo>
                  <a:close/>
                </a:path>
                <a:path w="884554" h="1958339">
                  <a:moveTo>
                    <a:pt x="397586" y="917257"/>
                  </a:moveTo>
                  <a:lnTo>
                    <a:pt x="391553" y="909891"/>
                  </a:lnTo>
                  <a:lnTo>
                    <a:pt x="362102" y="934059"/>
                  </a:lnTo>
                  <a:lnTo>
                    <a:pt x="368134" y="941425"/>
                  </a:lnTo>
                  <a:lnTo>
                    <a:pt x="397586" y="917257"/>
                  </a:lnTo>
                  <a:close/>
                </a:path>
                <a:path w="884554" h="1958339">
                  <a:moveTo>
                    <a:pt x="405942" y="886625"/>
                  </a:moveTo>
                  <a:lnTo>
                    <a:pt x="390372" y="851852"/>
                  </a:lnTo>
                  <a:lnTo>
                    <a:pt x="381673" y="855751"/>
                  </a:lnTo>
                  <a:lnTo>
                    <a:pt x="397256" y="890524"/>
                  </a:lnTo>
                  <a:lnTo>
                    <a:pt x="405942" y="886625"/>
                  </a:lnTo>
                  <a:close/>
                </a:path>
                <a:path w="884554" h="1958339">
                  <a:moveTo>
                    <a:pt x="433209" y="947470"/>
                  </a:moveTo>
                  <a:lnTo>
                    <a:pt x="417626" y="912698"/>
                  </a:lnTo>
                  <a:lnTo>
                    <a:pt x="408940" y="916597"/>
                  </a:lnTo>
                  <a:lnTo>
                    <a:pt x="424522" y="951369"/>
                  </a:lnTo>
                  <a:lnTo>
                    <a:pt x="433209" y="947470"/>
                  </a:lnTo>
                  <a:close/>
                </a:path>
                <a:path w="884554" h="1958339">
                  <a:moveTo>
                    <a:pt x="447979" y="1594154"/>
                  </a:moveTo>
                  <a:lnTo>
                    <a:pt x="418617" y="1569885"/>
                  </a:lnTo>
                  <a:lnTo>
                    <a:pt x="412546" y="1577238"/>
                  </a:lnTo>
                  <a:lnTo>
                    <a:pt x="441921" y="1601495"/>
                  </a:lnTo>
                  <a:lnTo>
                    <a:pt x="447979" y="1594154"/>
                  </a:lnTo>
                  <a:close/>
                </a:path>
                <a:path w="884554" h="1958339">
                  <a:moveTo>
                    <a:pt x="449135" y="874953"/>
                  </a:moveTo>
                  <a:lnTo>
                    <a:pt x="443090" y="867587"/>
                  </a:lnTo>
                  <a:lnTo>
                    <a:pt x="413639" y="891768"/>
                  </a:lnTo>
                  <a:lnTo>
                    <a:pt x="419684" y="899121"/>
                  </a:lnTo>
                  <a:lnTo>
                    <a:pt x="449135" y="874953"/>
                  </a:lnTo>
                  <a:close/>
                </a:path>
                <a:path w="884554" h="1958339">
                  <a:moveTo>
                    <a:pt x="460476" y="1008316"/>
                  </a:moveTo>
                  <a:lnTo>
                    <a:pt x="444893" y="973543"/>
                  </a:lnTo>
                  <a:lnTo>
                    <a:pt x="436206" y="977442"/>
                  </a:lnTo>
                  <a:lnTo>
                    <a:pt x="451777" y="1012215"/>
                  </a:lnTo>
                  <a:lnTo>
                    <a:pt x="460476" y="1008316"/>
                  </a:lnTo>
                  <a:close/>
                </a:path>
                <a:path w="884554" h="1958339">
                  <a:moveTo>
                    <a:pt x="487730" y="1069162"/>
                  </a:moveTo>
                  <a:lnTo>
                    <a:pt x="472160" y="1034389"/>
                  </a:lnTo>
                  <a:lnTo>
                    <a:pt x="463461" y="1038288"/>
                  </a:lnTo>
                  <a:lnTo>
                    <a:pt x="479044" y="1073061"/>
                  </a:lnTo>
                  <a:lnTo>
                    <a:pt x="487730" y="1069162"/>
                  </a:lnTo>
                  <a:close/>
                </a:path>
                <a:path w="884554" h="1958339">
                  <a:moveTo>
                    <a:pt x="499389" y="1636623"/>
                  </a:moveTo>
                  <a:lnTo>
                    <a:pt x="470014" y="1612353"/>
                  </a:lnTo>
                  <a:lnTo>
                    <a:pt x="463943" y="1619694"/>
                  </a:lnTo>
                  <a:lnTo>
                    <a:pt x="493318" y="1643964"/>
                  </a:lnTo>
                  <a:lnTo>
                    <a:pt x="499389" y="1636623"/>
                  </a:lnTo>
                  <a:close/>
                </a:path>
                <a:path w="884554" h="1958339">
                  <a:moveTo>
                    <a:pt x="500672" y="832662"/>
                  </a:moveTo>
                  <a:lnTo>
                    <a:pt x="494626" y="825296"/>
                  </a:lnTo>
                  <a:lnTo>
                    <a:pt x="465175" y="849464"/>
                  </a:lnTo>
                  <a:lnTo>
                    <a:pt x="471220" y="856830"/>
                  </a:lnTo>
                  <a:lnTo>
                    <a:pt x="500672" y="832662"/>
                  </a:lnTo>
                  <a:close/>
                </a:path>
                <a:path w="884554" h="1958339">
                  <a:moveTo>
                    <a:pt x="514997" y="1130007"/>
                  </a:moveTo>
                  <a:lnTo>
                    <a:pt x="499414" y="1095235"/>
                  </a:lnTo>
                  <a:lnTo>
                    <a:pt x="490728" y="1099134"/>
                  </a:lnTo>
                  <a:lnTo>
                    <a:pt x="506310" y="1133906"/>
                  </a:lnTo>
                  <a:lnTo>
                    <a:pt x="514997" y="1130007"/>
                  </a:lnTo>
                  <a:close/>
                </a:path>
                <a:path w="884554" h="1958339">
                  <a:moveTo>
                    <a:pt x="542264" y="1190853"/>
                  </a:moveTo>
                  <a:lnTo>
                    <a:pt x="526681" y="1156093"/>
                  </a:lnTo>
                  <a:lnTo>
                    <a:pt x="517994" y="1159979"/>
                  </a:lnTo>
                  <a:lnTo>
                    <a:pt x="533565" y="1194752"/>
                  </a:lnTo>
                  <a:lnTo>
                    <a:pt x="542264" y="1190853"/>
                  </a:lnTo>
                  <a:close/>
                </a:path>
                <a:path w="884554" h="1958339">
                  <a:moveTo>
                    <a:pt x="550799" y="1679079"/>
                  </a:moveTo>
                  <a:lnTo>
                    <a:pt x="521423" y="1654822"/>
                  </a:lnTo>
                  <a:lnTo>
                    <a:pt x="515353" y="1662163"/>
                  </a:lnTo>
                  <a:lnTo>
                    <a:pt x="544728" y="1686420"/>
                  </a:lnTo>
                  <a:lnTo>
                    <a:pt x="550799" y="1679079"/>
                  </a:lnTo>
                  <a:close/>
                </a:path>
                <a:path w="884554" h="1958339">
                  <a:moveTo>
                    <a:pt x="552208" y="790359"/>
                  </a:moveTo>
                  <a:lnTo>
                    <a:pt x="546163" y="782993"/>
                  </a:lnTo>
                  <a:lnTo>
                    <a:pt x="516712" y="807161"/>
                  </a:lnTo>
                  <a:lnTo>
                    <a:pt x="522757" y="814527"/>
                  </a:lnTo>
                  <a:lnTo>
                    <a:pt x="552208" y="790359"/>
                  </a:lnTo>
                  <a:close/>
                </a:path>
                <a:path w="884554" h="1958339">
                  <a:moveTo>
                    <a:pt x="569518" y="1251699"/>
                  </a:moveTo>
                  <a:lnTo>
                    <a:pt x="553948" y="1216939"/>
                  </a:lnTo>
                  <a:lnTo>
                    <a:pt x="545249" y="1220825"/>
                  </a:lnTo>
                  <a:lnTo>
                    <a:pt x="560832" y="1255598"/>
                  </a:lnTo>
                  <a:lnTo>
                    <a:pt x="569518" y="1251699"/>
                  </a:lnTo>
                  <a:close/>
                </a:path>
                <a:path w="884554" h="1958339">
                  <a:moveTo>
                    <a:pt x="596785" y="1312545"/>
                  </a:moveTo>
                  <a:lnTo>
                    <a:pt x="581202" y="1277785"/>
                  </a:lnTo>
                  <a:lnTo>
                    <a:pt x="572516" y="1281671"/>
                  </a:lnTo>
                  <a:lnTo>
                    <a:pt x="588086" y="1316443"/>
                  </a:lnTo>
                  <a:lnTo>
                    <a:pt x="596785" y="1312545"/>
                  </a:lnTo>
                  <a:close/>
                </a:path>
                <a:path w="884554" h="1958339">
                  <a:moveTo>
                    <a:pt x="602195" y="1721548"/>
                  </a:moveTo>
                  <a:lnTo>
                    <a:pt x="572820" y="1697278"/>
                  </a:lnTo>
                  <a:lnTo>
                    <a:pt x="566762" y="1704619"/>
                  </a:lnTo>
                  <a:lnTo>
                    <a:pt x="596125" y="1728889"/>
                  </a:lnTo>
                  <a:lnTo>
                    <a:pt x="602195" y="1721548"/>
                  </a:lnTo>
                  <a:close/>
                </a:path>
                <a:path w="884554" h="1958339">
                  <a:moveTo>
                    <a:pt x="603745" y="748055"/>
                  </a:moveTo>
                  <a:lnTo>
                    <a:pt x="597700" y="740689"/>
                  </a:lnTo>
                  <a:lnTo>
                    <a:pt x="568248" y="764870"/>
                  </a:lnTo>
                  <a:lnTo>
                    <a:pt x="574294" y="772223"/>
                  </a:lnTo>
                  <a:lnTo>
                    <a:pt x="603745" y="748055"/>
                  </a:lnTo>
                  <a:close/>
                </a:path>
                <a:path w="884554" h="1958339">
                  <a:moveTo>
                    <a:pt x="624052" y="1373390"/>
                  </a:moveTo>
                  <a:lnTo>
                    <a:pt x="608469" y="1338630"/>
                  </a:lnTo>
                  <a:lnTo>
                    <a:pt x="599770" y="1342517"/>
                  </a:lnTo>
                  <a:lnTo>
                    <a:pt x="615353" y="1377289"/>
                  </a:lnTo>
                  <a:lnTo>
                    <a:pt x="624052" y="1373390"/>
                  </a:lnTo>
                  <a:close/>
                </a:path>
                <a:path w="884554" h="1958339">
                  <a:moveTo>
                    <a:pt x="651306" y="1434249"/>
                  </a:moveTo>
                  <a:lnTo>
                    <a:pt x="635736" y="1399476"/>
                  </a:lnTo>
                  <a:lnTo>
                    <a:pt x="627037" y="1403362"/>
                  </a:lnTo>
                  <a:lnTo>
                    <a:pt x="642620" y="1438135"/>
                  </a:lnTo>
                  <a:lnTo>
                    <a:pt x="651306" y="1434249"/>
                  </a:lnTo>
                  <a:close/>
                </a:path>
                <a:path w="884554" h="1958339">
                  <a:moveTo>
                    <a:pt x="653605" y="1764017"/>
                  </a:moveTo>
                  <a:lnTo>
                    <a:pt x="624230" y="1739747"/>
                  </a:lnTo>
                  <a:lnTo>
                    <a:pt x="618159" y="1747088"/>
                  </a:lnTo>
                  <a:lnTo>
                    <a:pt x="647534" y="1771357"/>
                  </a:lnTo>
                  <a:lnTo>
                    <a:pt x="653605" y="1764017"/>
                  </a:lnTo>
                  <a:close/>
                </a:path>
                <a:path w="884554" h="1958339">
                  <a:moveTo>
                    <a:pt x="655281" y="705751"/>
                  </a:moveTo>
                  <a:lnTo>
                    <a:pt x="649236" y="698398"/>
                  </a:lnTo>
                  <a:lnTo>
                    <a:pt x="619798" y="722566"/>
                  </a:lnTo>
                  <a:lnTo>
                    <a:pt x="625830" y="729932"/>
                  </a:lnTo>
                  <a:lnTo>
                    <a:pt x="655281" y="705751"/>
                  </a:lnTo>
                  <a:close/>
                </a:path>
                <a:path w="884554" h="1958339">
                  <a:moveTo>
                    <a:pt x="678573" y="1495094"/>
                  </a:moveTo>
                  <a:lnTo>
                    <a:pt x="662990" y="1460322"/>
                  </a:lnTo>
                  <a:lnTo>
                    <a:pt x="654304" y="1464221"/>
                  </a:lnTo>
                  <a:lnTo>
                    <a:pt x="669874" y="1498981"/>
                  </a:lnTo>
                  <a:lnTo>
                    <a:pt x="678573" y="1495094"/>
                  </a:lnTo>
                  <a:close/>
                </a:path>
                <a:path w="884554" h="1958339">
                  <a:moveTo>
                    <a:pt x="705002" y="1806473"/>
                  </a:moveTo>
                  <a:lnTo>
                    <a:pt x="675627" y="1782203"/>
                  </a:lnTo>
                  <a:lnTo>
                    <a:pt x="669569" y="1789557"/>
                  </a:lnTo>
                  <a:lnTo>
                    <a:pt x="698944" y="1813814"/>
                  </a:lnTo>
                  <a:lnTo>
                    <a:pt x="705002" y="1806473"/>
                  </a:lnTo>
                  <a:close/>
                </a:path>
                <a:path w="884554" h="1958339">
                  <a:moveTo>
                    <a:pt x="705840" y="1555940"/>
                  </a:moveTo>
                  <a:lnTo>
                    <a:pt x="690257" y="1521167"/>
                  </a:lnTo>
                  <a:lnTo>
                    <a:pt x="681558" y="1525066"/>
                  </a:lnTo>
                  <a:lnTo>
                    <a:pt x="697141" y="1559826"/>
                  </a:lnTo>
                  <a:lnTo>
                    <a:pt x="705840" y="1555940"/>
                  </a:lnTo>
                  <a:close/>
                </a:path>
                <a:path w="884554" h="1958339">
                  <a:moveTo>
                    <a:pt x="706818" y="663460"/>
                  </a:moveTo>
                  <a:lnTo>
                    <a:pt x="700786" y="656094"/>
                  </a:lnTo>
                  <a:lnTo>
                    <a:pt x="671334" y="680262"/>
                  </a:lnTo>
                  <a:lnTo>
                    <a:pt x="677379" y="687628"/>
                  </a:lnTo>
                  <a:lnTo>
                    <a:pt x="706818" y="663460"/>
                  </a:lnTo>
                  <a:close/>
                </a:path>
                <a:path w="884554" h="1958339">
                  <a:moveTo>
                    <a:pt x="733094" y="1616786"/>
                  </a:moveTo>
                  <a:lnTo>
                    <a:pt x="717524" y="1582013"/>
                  </a:lnTo>
                  <a:lnTo>
                    <a:pt x="708825" y="1585912"/>
                  </a:lnTo>
                  <a:lnTo>
                    <a:pt x="724408" y="1620672"/>
                  </a:lnTo>
                  <a:lnTo>
                    <a:pt x="733094" y="1616786"/>
                  </a:lnTo>
                  <a:close/>
                </a:path>
                <a:path w="884554" h="1958339">
                  <a:moveTo>
                    <a:pt x="756412" y="1848942"/>
                  </a:moveTo>
                  <a:lnTo>
                    <a:pt x="727036" y="1824672"/>
                  </a:lnTo>
                  <a:lnTo>
                    <a:pt x="720966" y="1832013"/>
                  </a:lnTo>
                  <a:lnTo>
                    <a:pt x="750341" y="1856282"/>
                  </a:lnTo>
                  <a:lnTo>
                    <a:pt x="756412" y="1848942"/>
                  </a:lnTo>
                  <a:close/>
                </a:path>
                <a:path w="884554" h="1958339">
                  <a:moveTo>
                    <a:pt x="758367" y="621157"/>
                  </a:moveTo>
                  <a:lnTo>
                    <a:pt x="752322" y="613791"/>
                  </a:lnTo>
                  <a:lnTo>
                    <a:pt x="722871" y="637959"/>
                  </a:lnTo>
                  <a:lnTo>
                    <a:pt x="728916" y="645325"/>
                  </a:lnTo>
                  <a:lnTo>
                    <a:pt x="758367" y="621157"/>
                  </a:lnTo>
                  <a:close/>
                </a:path>
                <a:path w="884554" h="1958339">
                  <a:moveTo>
                    <a:pt x="760361" y="1677631"/>
                  </a:moveTo>
                  <a:lnTo>
                    <a:pt x="744778" y="1642859"/>
                  </a:lnTo>
                  <a:lnTo>
                    <a:pt x="736092" y="1646758"/>
                  </a:lnTo>
                  <a:lnTo>
                    <a:pt x="751662" y="1681530"/>
                  </a:lnTo>
                  <a:lnTo>
                    <a:pt x="760361" y="1677631"/>
                  </a:lnTo>
                  <a:close/>
                </a:path>
                <a:path w="884554" h="1958339">
                  <a:moveTo>
                    <a:pt x="787615" y="1738477"/>
                  </a:moveTo>
                  <a:lnTo>
                    <a:pt x="772045" y="1703705"/>
                  </a:lnTo>
                  <a:lnTo>
                    <a:pt x="763346" y="1707603"/>
                  </a:lnTo>
                  <a:lnTo>
                    <a:pt x="778929" y="1742376"/>
                  </a:lnTo>
                  <a:lnTo>
                    <a:pt x="787615" y="1738477"/>
                  </a:lnTo>
                  <a:close/>
                </a:path>
                <a:path w="884554" h="1958339">
                  <a:moveTo>
                    <a:pt x="807808" y="1891398"/>
                  </a:moveTo>
                  <a:lnTo>
                    <a:pt x="778433" y="1867141"/>
                  </a:lnTo>
                  <a:lnTo>
                    <a:pt x="772375" y="1874481"/>
                  </a:lnTo>
                  <a:lnTo>
                    <a:pt x="801751" y="1898751"/>
                  </a:lnTo>
                  <a:lnTo>
                    <a:pt x="807808" y="1891398"/>
                  </a:lnTo>
                  <a:close/>
                </a:path>
                <a:path w="884554" h="1958339">
                  <a:moveTo>
                    <a:pt x="809904" y="578853"/>
                  </a:moveTo>
                  <a:lnTo>
                    <a:pt x="803859" y="571487"/>
                  </a:lnTo>
                  <a:lnTo>
                    <a:pt x="774407" y="595668"/>
                  </a:lnTo>
                  <a:lnTo>
                    <a:pt x="780453" y="603021"/>
                  </a:lnTo>
                  <a:lnTo>
                    <a:pt x="809904" y="578853"/>
                  </a:lnTo>
                  <a:close/>
                </a:path>
                <a:path w="884554" h="1958339">
                  <a:moveTo>
                    <a:pt x="814882" y="1799323"/>
                  </a:moveTo>
                  <a:lnTo>
                    <a:pt x="799299" y="1764550"/>
                  </a:lnTo>
                  <a:lnTo>
                    <a:pt x="790613" y="1768449"/>
                  </a:lnTo>
                  <a:lnTo>
                    <a:pt x="806196" y="1803222"/>
                  </a:lnTo>
                  <a:lnTo>
                    <a:pt x="814882" y="1799323"/>
                  </a:lnTo>
                  <a:close/>
                </a:path>
                <a:path w="884554" h="1958339">
                  <a:moveTo>
                    <a:pt x="842149" y="1860169"/>
                  </a:moveTo>
                  <a:lnTo>
                    <a:pt x="826566" y="1825396"/>
                  </a:lnTo>
                  <a:lnTo>
                    <a:pt x="817880" y="1829295"/>
                  </a:lnTo>
                  <a:lnTo>
                    <a:pt x="833450" y="1864067"/>
                  </a:lnTo>
                  <a:lnTo>
                    <a:pt x="842149" y="1860169"/>
                  </a:lnTo>
                  <a:close/>
                </a:path>
                <a:path w="884554" h="1958339">
                  <a:moveTo>
                    <a:pt x="880643" y="514629"/>
                  </a:moveTo>
                  <a:lnTo>
                    <a:pt x="797572" y="533527"/>
                  </a:lnTo>
                  <a:lnTo>
                    <a:pt x="845921" y="592416"/>
                  </a:lnTo>
                  <a:lnTo>
                    <a:pt x="880643" y="514629"/>
                  </a:lnTo>
                  <a:close/>
                </a:path>
                <a:path w="884554" h="1958339">
                  <a:moveTo>
                    <a:pt x="884262" y="1872627"/>
                  </a:moveTo>
                  <a:lnTo>
                    <a:pt x="853833" y="1886267"/>
                  </a:lnTo>
                  <a:lnTo>
                    <a:pt x="849795" y="1888058"/>
                  </a:lnTo>
                  <a:lnTo>
                    <a:pt x="846162" y="1879841"/>
                  </a:lnTo>
                  <a:lnTo>
                    <a:pt x="833234" y="1895500"/>
                  </a:lnTo>
                  <a:lnTo>
                    <a:pt x="814717" y="1903793"/>
                  </a:lnTo>
                  <a:lnTo>
                    <a:pt x="821664" y="1909495"/>
                  </a:lnTo>
                  <a:lnTo>
                    <a:pt x="797636" y="1938591"/>
                  </a:lnTo>
                  <a:lnTo>
                    <a:pt x="880643" y="1957743"/>
                  </a:lnTo>
                  <a:lnTo>
                    <a:pt x="884262" y="1872627"/>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7" name="object 17"/>
            <p:cNvSpPr/>
            <p:nvPr/>
          </p:nvSpPr>
          <p:spPr>
            <a:xfrm>
              <a:off x="3465103"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8" name="object 18"/>
            <p:cNvSpPr/>
            <p:nvPr/>
          </p:nvSpPr>
          <p:spPr>
            <a:xfrm>
              <a:off x="3465103"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9" name="object 19"/>
            <p:cNvSpPr/>
            <p:nvPr/>
          </p:nvSpPr>
          <p:spPr>
            <a:xfrm>
              <a:off x="4184650" y="3211436"/>
              <a:ext cx="884555" cy="1955800"/>
            </a:xfrm>
            <a:custGeom>
              <a:avLst/>
              <a:gdLst/>
              <a:ahLst/>
              <a:cxnLst/>
              <a:rect l="l" t="t" r="r" b="b"/>
              <a:pathLst>
                <a:path w="884554" h="1955800">
                  <a:moveTo>
                    <a:pt x="39700" y="1936127"/>
                  </a:moveTo>
                  <a:lnTo>
                    <a:pt x="34925" y="1927885"/>
                  </a:lnTo>
                  <a:lnTo>
                    <a:pt x="14744" y="1939594"/>
                  </a:lnTo>
                  <a:lnTo>
                    <a:pt x="24307" y="1918309"/>
                  </a:lnTo>
                  <a:lnTo>
                    <a:pt x="15608" y="1914410"/>
                  </a:lnTo>
                  <a:lnTo>
                    <a:pt x="0" y="1949170"/>
                  </a:lnTo>
                  <a:lnTo>
                    <a:pt x="4343" y="1951126"/>
                  </a:lnTo>
                  <a:lnTo>
                    <a:pt x="6731" y="1955241"/>
                  </a:lnTo>
                  <a:lnTo>
                    <a:pt x="39700" y="1936127"/>
                  </a:lnTo>
                  <a:close/>
                </a:path>
                <a:path w="884554" h="1955800">
                  <a:moveTo>
                    <a:pt x="51625" y="1857489"/>
                  </a:moveTo>
                  <a:lnTo>
                    <a:pt x="42926" y="1853590"/>
                  </a:lnTo>
                  <a:lnTo>
                    <a:pt x="27317" y="1888350"/>
                  </a:lnTo>
                  <a:lnTo>
                    <a:pt x="36004" y="1892249"/>
                  </a:lnTo>
                  <a:lnTo>
                    <a:pt x="51625" y="1857489"/>
                  </a:lnTo>
                  <a:close/>
                </a:path>
                <a:path w="884554" h="1955800">
                  <a:moveTo>
                    <a:pt x="78930" y="1796669"/>
                  </a:moveTo>
                  <a:lnTo>
                    <a:pt x="70243" y="1792770"/>
                  </a:lnTo>
                  <a:lnTo>
                    <a:pt x="54635" y="1827530"/>
                  </a:lnTo>
                  <a:lnTo>
                    <a:pt x="63322" y="1831428"/>
                  </a:lnTo>
                  <a:lnTo>
                    <a:pt x="78930" y="1796669"/>
                  </a:lnTo>
                  <a:close/>
                </a:path>
                <a:path w="884554" h="1955800">
                  <a:moveTo>
                    <a:pt x="97383" y="1902688"/>
                  </a:moveTo>
                  <a:lnTo>
                    <a:pt x="92608" y="1894446"/>
                  </a:lnTo>
                  <a:lnTo>
                    <a:pt x="59639" y="1913559"/>
                  </a:lnTo>
                  <a:lnTo>
                    <a:pt x="64414" y="1921802"/>
                  </a:lnTo>
                  <a:lnTo>
                    <a:pt x="97383" y="1902688"/>
                  </a:lnTo>
                  <a:close/>
                </a:path>
                <a:path w="884554" h="1955800">
                  <a:moveTo>
                    <a:pt x="106248" y="1735848"/>
                  </a:moveTo>
                  <a:lnTo>
                    <a:pt x="97561" y="1731949"/>
                  </a:lnTo>
                  <a:lnTo>
                    <a:pt x="81953" y="1766697"/>
                  </a:lnTo>
                  <a:lnTo>
                    <a:pt x="90639" y="1770608"/>
                  </a:lnTo>
                  <a:lnTo>
                    <a:pt x="106248" y="1735848"/>
                  </a:lnTo>
                  <a:close/>
                </a:path>
                <a:path w="884554" h="1955800">
                  <a:moveTo>
                    <a:pt x="133565" y="1675028"/>
                  </a:moveTo>
                  <a:lnTo>
                    <a:pt x="124879" y="1671129"/>
                  </a:lnTo>
                  <a:lnTo>
                    <a:pt x="109270" y="1705876"/>
                  </a:lnTo>
                  <a:lnTo>
                    <a:pt x="117957" y="1709775"/>
                  </a:lnTo>
                  <a:lnTo>
                    <a:pt x="133565" y="1675028"/>
                  </a:lnTo>
                  <a:close/>
                </a:path>
                <a:path w="884554" h="1955800">
                  <a:moveTo>
                    <a:pt x="155067" y="1869249"/>
                  </a:moveTo>
                  <a:lnTo>
                    <a:pt x="150291" y="1861007"/>
                  </a:lnTo>
                  <a:lnTo>
                    <a:pt x="117322" y="1880120"/>
                  </a:lnTo>
                  <a:lnTo>
                    <a:pt x="122097" y="1888363"/>
                  </a:lnTo>
                  <a:lnTo>
                    <a:pt x="155067" y="1869249"/>
                  </a:lnTo>
                  <a:close/>
                </a:path>
                <a:path w="884554" h="1955800">
                  <a:moveTo>
                    <a:pt x="160883" y="1614208"/>
                  </a:moveTo>
                  <a:lnTo>
                    <a:pt x="152196" y="1610296"/>
                  </a:lnTo>
                  <a:lnTo>
                    <a:pt x="136588" y="1645056"/>
                  </a:lnTo>
                  <a:lnTo>
                    <a:pt x="145275" y="1648955"/>
                  </a:lnTo>
                  <a:lnTo>
                    <a:pt x="160883" y="1614208"/>
                  </a:lnTo>
                  <a:close/>
                </a:path>
                <a:path w="884554" h="1955800">
                  <a:moveTo>
                    <a:pt x="188201" y="1553387"/>
                  </a:moveTo>
                  <a:lnTo>
                    <a:pt x="179514" y="1549476"/>
                  </a:lnTo>
                  <a:lnTo>
                    <a:pt x="163906" y="1584236"/>
                  </a:lnTo>
                  <a:lnTo>
                    <a:pt x="172593" y="1588135"/>
                  </a:lnTo>
                  <a:lnTo>
                    <a:pt x="188201" y="1553387"/>
                  </a:lnTo>
                  <a:close/>
                </a:path>
                <a:path w="884554" h="1955800">
                  <a:moveTo>
                    <a:pt x="212750" y="1835810"/>
                  </a:moveTo>
                  <a:lnTo>
                    <a:pt x="207975" y="1827568"/>
                  </a:lnTo>
                  <a:lnTo>
                    <a:pt x="175006" y="1846681"/>
                  </a:lnTo>
                  <a:lnTo>
                    <a:pt x="179781" y="1854923"/>
                  </a:lnTo>
                  <a:lnTo>
                    <a:pt x="212750" y="1835810"/>
                  </a:lnTo>
                  <a:close/>
                </a:path>
                <a:path w="884554" h="1955800">
                  <a:moveTo>
                    <a:pt x="215519" y="1492554"/>
                  </a:moveTo>
                  <a:lnTo>
                    <a:pt x="206832" y="1488655"/>
                  </a:lnTo>
                  <a:lnTo>
                    <a:pt x="191223" y="1523415"/>
                  </a:lnTo>
                  <a:lnTo>
                    <a:pt x="199910" y="1527314"/>
                  </a:lnTo>
                  <a:lnTo>
                    <a:pt x="215519" y="1492554"/>
                  </a:lnTo>
                  <a:close/>
                </a:path>
                <a:path w="884554" h="1955800">
                  <a:moveTo>
                    <a:pt x="242836" y="1431734"/>
                  </a:moveTo>
                  <a:lnTo>
                    <a:pt x="234149" y="1427835"/>
                  </a:lnTo>
                  <a:lnTo>
                    <a:pt x="218541" y="1462595"/>
                  </a:lnTo>
                  <a:lnTo>
                    <a:pt x="227228" y="1466494"/>
                  </a:lnTo>
                  <a:lnTo>
                    <a:pt x="242836" y="1431734"/>
                  </a:lnTo>
                  <a:close/>
                </a:path>
                <a:path w="884554" h="1955800">
                  <a:moveTo>
                    <a:pt x="270154" y="1370914"/>
                  </a:moveTo>
                  <a:lnTo>
                    <a:pt x="261467" y="1367015"/>
                  </a:lnTo>
                  <a:lnTo>
                    <a:pt x="245859" y="1401762"/>
                  </a:lnTo>
                  <a:lnTo>
                    <a:pt x="254546" y="1405674"/>
                  </a:lnTo>
                  <a:lnTo>
                    <a:pt x="270154" y="1370914"/>
                  </a:lnTo>
                  <a:close/>
                </a:path>
                <a:path w="884554" h="1955800">
                  <a:moveTo>
                    <a:pt x="270433" y="1802371"/>
                  </a:moveTo>
                  <a:lnTo>
                    <a:pt x="265658" y="1794129"/>
                  </a:lnTo>
                  <a:lnTo>
                    <a:pt x="232689" y="1813242"/>
                  </a:lnTo>
                  <a:lnTo>
                    <a:pt x="237464" y="1821484"/>
                  </a:lnTo>
                  <a:lnTo>
                    <a:pt x="270433" y="1802371"/>
                  </a:lnTo>
                  <a:close/>
                </a:path>
                <a:path w="884554" h="1955800">
                  <a:moveTo>
                    <a:pt x="297472" y="1310093"/>
                  </a:moveTo>
                  <a:lnTo>
                    <a:pt x="288785" y="1306195"/>
                  </a:lnTo>
                  <a:lnTo>
                    <a:pt x="273177" y="1340942"/>
                  </a:lnTo>
                  <a:lnTo>
                    <a:pt x="281863" y="1344853"/>
                  </a:lnTo>
                  <a:lnTo>
                    <a:pt x="297472" y="1310093"/>
                  </a:lnTo>
                  <a:close/>
                </a:path>
                <a:path w="884554" h="1955800">
                  <a:moveTo>
                    <a:pt x="324789" y="1249273"/>
                  </a:moveTo>
                  <a:lnTo>
                    <a:pt x="316103" y="1245362"/>
                  </a:lnTo>
                  <a:lnTo>
                    <a:pt x="300494" y="1280121"/>
                  </a:lnTo>
                  <a:lnTo>
                    <a:pt x="309181" y="1284020"/>
                  </a:lnTo>
                  <a:lnTo>
                    <a:pt x="324789" y="1249273"/>
                  </a:lnTo>
                  <a:close/>
                </a:path>
                <a:path w="884554" h="1955800">
                  <a:moveTo>
                    <a:pt x="328117" y="1768932"/>
                  </a:moveTo>
                  <a:lnTo>
                    <a:pt x="323342" y="1760689"/>
                  </a:lnTo>
                  <a:lnTo>
                    <a:pt x="290372" y="1779803"/>
                  </a:lnTo>
                  <a:lnTo>
                    <a:pt x="295148" y="1788045"/>
                  </a:lnTo>
                  <a:lnTo>
                    <a:pt x="328117" y="1768932"/>
                  </a:lnTo>
                  <a:close/>
                </a:path>
                <a:path w="884554" h="1955800">
                  <a:moveTo>
                    <a:pt x="352107" y="1188453"/>
                  </a:moveTo>
                  <a:lnTo>
                    <a:pt x="343420" y="1184541"/>
                  </a:lnTo>
                  <a:lnTo>
                    <a:pt x="327812" y="1219301"/>
                  </a:lnTo>
                  <a:lnTo>
                    <a:pt x="336499" y="1223200"/>
                  </a:lnTo>
                  <a:lnTo>
                    <a:pt x="352107" y="1188453"/>
                  </a:lnTo>
                  <a:close/>
                </a:path>
                <a:path w="884554" h="1955800">
                  <a:moveTo>
                    <a:pt x="379425" y="1127620"/>
                  </a:moveTo>
                  <a:lnTo>
                    <a:pt x="370738" y="1123721"/>
                  </a:lnTo>
                  <a:lnTo>
                    <a:pt x="355117" y="1158481"/>
                  </a:lnTo>
                  <a:lnTo>
                    <a:pt x="363816" y="1162380"/>
                  </a:lnTo>
                  <a:lnTo>
                    <a:pt x="379425" y="1127620"/>
                  </a:lnTo>
                  <a:close/>
                </a:path>
                <a:path w="884554" h="1955800">
                  <a:moveTo>
                    <a:pt x="385800" y="1735493"/>
                  </a:moveTo>
                  <a:lnTo>
                    <a:pt x="381025" y="1727250"/>
                  </a:lnTo>
                  <a:lnTo>
                    <a:pt x="348056" y="1746364"/>
                  </a:lnTo>
                  <a:lnTo>
                    <a:pt x="352831" y="1754606"/>
                  </a:lnTo>
                  <a:lnTo>
                    <a:pt x="385800" y="1735493"/>
                  </a:lnTo>
                  <a:close/>
                </a:path>
                <a:path w="884554" h="1955800">
                  <a:moveTo>
                    <a:pt x="406742" y="1066800"/>
                  </a:moveTo>
                  <a:lnTo>
                    <a:pt x="398056" y="1062901"/>
                  </a:lnTo>
                  <a:lnTo>
                    <a:pt x="382435" y="1097661"/>
                  </a:lnTo>
                  <a:lnTo>
                    <a:pt x="391134" y="1101559"/>
                  </a:lnTo>
                  <a:lnTo>
                    <a:pt x="406742" y="1066800"/>
                  </a:lnTo>
                  <a:close/>
                </a:path>
                <a:path w="884554" h="1955800">
                  <a:moveTo>
                    <a:pt x="434060" y="1005979"/>
                  </a:moveTo>
                  <a:lnTo>
                    <a:pt x="425361" y="1002080"/>
                  </a:lnTo>
                  <a:lnTo>
                    <a:pt x="409752" y="1036840"/>
                  </a:lnTo>
                  <a:lnTo>
                    <a:pt x="418452" y="1040739"/>
                  </a:lnTo>
                  <a:lnTo>
                    <a:pt x="434060" y="1005979"/>
                  </a:lnTo>
                  <a:close/>
                </a:path>
                <a:path w="884554" h="1955800">
                  <a:moveTo>
                    <a:pt x="443484" y="1702054"/>
                  </a:moveTo>
                  <a:lnTo>
                    <a:pt x="438708" y="1693811"/>
                  </a:lnTo>
                  <a:lnTo>
                    <a:pt x="405739" y="1712925"/>
                  </a:lnTo>
                  <a:lnTo>
                    <a:pt x="410514" y="1721167"/>
                  </a:lnTo>
                  <a:lnTo>
                    <a:pt x="443484" y="1702054"/>
                  </a:lnTo>
                  <a:close/>
                </a:path>
                <a:path w="884554" h="1955800">
                  <a:moveTo>
                    <a:pt x="461378" y="945159"/>
                  </a:moveTo>
                  <a:lnTo>
                    <a:pt x="452678" y="941260"/>
                  </a:lnTo>
                  <a:lnTo>
                    <a:pt x="437070" y="976007"/>
                  </a:lnTo>
                  <a:lnTo>
                    <a:pt x="445757" y="979919"/>
                  </a:lnTo>
                  <a:lnTo>
                    <a:pt x="461378" y="945159"/>
                  </a:lnTo>
                  <a:close/>
                </a:path>
                <a:path w="884554" h="1955800">
                  <a:moveTo>
                    <a:pt x="488683" y="884339"/>
                  </a:moveTo>
                  <a:lnTo>
                    <a:pt x="479996" y="880440"/>
                  </a:lnTo>
                  <a:lnTo>
                    <a:pt x="464388" y="915187"/>
                  </a:lnTo>
                  <a:lnTo>
                    <a:pt x="473075" y="919086"/>
                  </a:lnTo>
                  <a:lnTo>
                    <a:pt x="488683" y="884339"/>
                  </a:lnTo>
                  <a:close/>
                </a:path>
                <a:path w="884554" h="1955800">
                  <a:moveTo>
                    <a:pt x="501167" y="1668614"/>
                  </a:moveTo>
                  <a:lnTo>
                    <a:pt x="496392" y="1660372"/>
                  </a:lnTo>
                  <a:lnTo>
                    <a:pt x="463423" y="1679486"/>
                  </a:lnTo>
                  <a:lnTo>
                    <a:pt x="468198" y="1687728"/>
                  </a:lnTo>
                  <a:lnTo>
                    <a:pt x="501167" y="1668614"/>
                  </a:lnTo>
                  <a:close/>
                </a:path>
                <a:path w="884554" h="1955800">
                  <a:moveTo>
                    <a:pt x="516001" y="823518"/>
                  </a:moveTo>
                  <a:lnTo>
                    <a:pt x="507314" y="819607"/>
                  </a:lnTo>
                  <a:lnTo>
                    <a:pt x="491705" y="854367"/>
                  </a:lnTo>
                  <a:lnTo>
                    <a:pt x="500392" y="858266"/>
                  </a:lnTo>
                  <a:lnTo>
                    <a:pt x="516001" y="823518"/>
                  </a:lnTo>
                  <a:close/>
                </a:path>
                <a:path w="884554" h="1955800">
                  <a:moveTo>
                    <a:pt x="543318" y="762698"/>
                  </a:moveTo>
                  <a:lnTo>
                    <a:pt x="534631" y="758786"/>
                  </a:lnTo>
                  <a:lnTo>
                    <a:pt x="519023" y="793546"/>
                  </a:lnTo>
                  <a:lnTo>
                    <a:pt x="527710" y="797445"/>
                  </a:lnTo>
                  <a:lnTo>
                    <a:pt x="543318" y="762698"/>
                  </a:lnTo>
                  <a:close/>
                </a:path>
                <a:path w="884554" h="1955800">
                  <a:moveTo>
                    <a:pt x="558850" y="1635175"/>
                  </a:moveTo>
                  <a:lnTo>
                    <a:pt x="554075" y="1626933"/>
                  </a:lnTo>
                  <a:lnTo>
                    <a:pt x="521106" y="1646047"/>
                  </a:lnTo>
                  <a:lnTo>
                    <a:pt x="525881" y="1654289"/>
                  </a:lnTo>
                  <a:lnTo>
                    <a:pt x="558850" y="1635175"/>
                  </a:lnTo>
                  <a:close/>
                </a:path>
                <a:path w="884554" h="1955800">
                  <a:moveTo>
                    <a:pt x="570636" y="701865"/>
                  </a:moveTo>
                  <a:lnTo>
                    <a:pt x="561949" y="697966"/>
                  </a:lnTo>
                  <a:lnTo>
                    <a:pt x="546341" y="732726"/>
                  </a:lnTo>
                  <a:lnTo>
                    <a:pt x="555028" y="736625"/>
                  </a:lnTo>
                  <a:lnTo>
                    <a:pt x="570636" y="701865"/>
                  </a:lnTo>
                  <a:close/>
                </a:path>
                <a:path w="884554" h="1955800">
                  <a:moveTo>
                    <a:pt x="597954" y="641045"/>
                  </a:moveTo>
                  <a:lnTo>
                    <a:pt x="589267" y="637146"/>
                  </a:lnTo>
                  <a:lnTo>
                    <a:pt x="573659" y="671906"/>
                  </a:lnTo>
                  <a:lnTo>
                    <a:pt x="582345" y="675805"/>
                  </a:lnTo>
                  <a:lnTo>
                    <a:pt x="597954" y="641045"/>
                  </a:lnTo>
                  <a:close/>
                </a:path>
                <a:path w="884554" h="1955800">
                  <a:moveTo>
                    <a:pt x="616534" y="1601736"/>
                  </a:moveTo>
                  <a:lnTo>
                    <a:pt x="611759" y="1593494"/>
                  </a:lnTo>
                  <a:lnTo>
                    <a:pt x="578789" y="1612607"/>
                  </a:lnTo>
                  <a:lnTo>
                    <a:pt x="583565" y="1620850"/>
                  </a:lnTo>
                  <a:lnTo>
                    <a:pt x="616534" y="1601736"/>
                  </a:lnTo>
                  <a:close/>
                </a:path>
                <a:path w="884554" h="1955800">
                  <a:moveTo>
                    <a:pt x="625271" y="580224"/>
                  </a:moveTo>
                  <a:lnTo>
                    <a:pt x="616585" y="576326"/>
                  </a:lnTo>
                  <a:lnTo>
                    <a:pt x="600976" y="611073"/>
                  </a:lnTo>
                  <a:lnTo>
                    <a:pt x="609663" y="614984"/>
                  </a:lnTo>
                  <a:lnTo>
                    <a:pt x="625271" y="580224"/>
                  </a:lnTo>
                  <a:close/>
                </a:path>
                <a:path w="884554" h="1955800">
                  <a:moveTo>
                    <a:pt x="652589" y="519404"/>
                  </a:moveTo>
                  <a:lnTo>
                    <a:pt x="643902" y="515505"/>
                  </a:lnTo>
                  <a:lnTo>
                    <a:pt x="628294" y="550252"/>
                  </a:lnTo>
                  <a:lnTo>
                    <a:pt x="636981" y="554164"/>
                  </a:lnTo>
                  <a:lnTo>
                    <a:pt x="652589" y="519404"/>
                  </a:lnTo>
                  <a:close/>
                </a:path>
                <a:path w="884554" h="1955800">
                  <a:moveTo>
                    <a:pt x="674217" y="1568297"/>
                  </a:moveTo>
                  <a:lnTo>
                    <a:pt x="669442" y="1560055"/>
                  </a:lnTo>
                  <a:lnTo>
                    <a:pt x="636473" y="1579168"/>
                  </a:lnTo>
                  <a:lnTo>
                    <a:pt x="641248" y="1587398"/>
                  </a:lnTo>
                  <a:lnTo>
                    <a:pt x="674217" y="1568297"/>
                  </a:lnTo>
                  <a:close/>
                </a:path>
                <a:path w="884554" h="1955800">
                  <a:moveTo>
                    <a:pt x="679907" y="458584"/>
                  </a:moveTo>
                  <a:lnTo>
                    <a:pt x="671220" y="454685"/>
                  </a:lnTo>
                  <a:lnTo>
                    <a:pt x="655612" y="489432"/>
                  </a:lnTo>
                  <a:lnTo>
                    <a:pt x="664298" y="493331"/>
                  </a:lnTo>
                  <a:lnTo>
                    <a:pt x="679907" y="458584"/>
                  </a:lnTo>
                  <a:close/>
                </a:path>
                <a:path w="884554" h="1955800">
                  <a:moveTo>
                    <a:pt x="707224" y="397764"/>
                  </a:moveTo>
                  <a:lnTo>
                    <a:pt x="698538" y="393852"/>
                  </a:lnTo>
                  <a:lnTo>
                    <a:pt x="682929" y="428612"/>
                  </a:lnTo>
                  <a:lnTo>
                    <a:pt x="691616" y="432511"/>
                  </a:lnTo>
                  <a:lnTo>
                    <a:pt x="707224" y="397764"/>
                  </a:lnTo>
                  <a:close/>
                </a:path>
                <a:path w="884554" h="1955800">
                  <a:moveTo>
                    <a:pt x="731901" y="1534858"/>
                  </a:moveTo>
                  <a:lnTo>
                    <a:pt x="727125" y="1526616"/>
                  </a:lnTo>
                  <a:lnTo>
                    <a:pt x="694156" y="1545729"/>
                  </a:lnTo>
                  <a:lnTo>
                    <a:pt x="698931" y="1553959"/>
                  </a:lnTo>
                  <a:lnTo>
                    <a:pt x="731901" y="1534858"/>
                  </a:lnTo>
                  <a:close/>
                </a:path>
                <a:path w="884554" h="1955800">
                  <a:moveTo>
                    <a:pt x="734542" y="336931"/>
                  </a:moveTo>
                  <a:lnTo>
                    <a:pt x="725855" y="333032"/>
                  </a:lnTo>
                  <a:lnTo>
                    <a:pt x="710247" y="367792"/>
                  </a:lnTo>
                  <a:lnTo>
                    <a:pt x="718934" y="371690"/>
                  </a:lnTo>
                  <a:lnTo>
                    <a:pt x="734542" y="336931"/>
                  </a:lnTo>
                  <a:close/>
                </a:path>
                <a:path w="884554" h="1955800">
                  <a:moveTo>
                    <a:pt x="761860" y="276110"/>
                  </a:moveTo>
                  <a:lnTo>
                    <a:pt x="753173" y="272211"/>
                  </a:lnTo>
                  <a:lnTo>
                    <a:pt x="737565" y="306971"/>
                  </a:lnTo>
                  <a:lnTo>
                    <a:pt x="746252" y="310870"/>
                  </a:lnTo>
                  <a:lnTo>
                    <a:pt x="761860" y="276110"/>
                  </a:lnTo>
                  <a:close/>
                </a:path>
                <a:path w="884554" h="1955800">
                  <a:moveTo>
                    <a:pt x="789178" y="215290"/>
                  </a:moveTo>
                  <a:lnTo>
                    <a:pt x="780491" y="211391"/>
                  </a:lnTo>
                  <a:lnTo>
                    <a:pt x="764882" y="246151"/>
                  </a:lnTo>
                  <a:lnTo>
                    <a:pt x="773569" y="250050"/>
                  </a:lnTo>
                  <a:lnTo>
                    <a:pt x="789178" y="215290"/>
                  </a:lnTo>
                  <a:close/>
                </a:path>
                <a:path w="884554" h="1955800">
                  <a:moveTo>
                    <a:pt x="789584" y="1501419"/>
                  </a:moveTo>
                  <a:lnTo>
                    <a:pt x="784809" y="1493177"/>
                  </a:lnTo>
                  <a:lnTo>
                    <a:pt x="751840" y="1512290"/>
                  </a:lnTo>
                  <a:lnTo>
                    <a:pt x="756615" y="1520520"/>
                  </a:lnTo>
                  <a:lnTo>
                    <a:pt x="789584" y="1501419"/>
                  </a:lnTo>
                  <a:close/>
                </a:path>
                <a:path w="884554" h="1955800">
                  <a:moveTo>
                    <a:pt x="816495" y="154470"/>
                  </a:moveTo>
                  <a:lnTo>
                    <a:pt x="807808" y="150571"/>
                  </a:lnTo>
                  <a:lnTo>
                    <a:pt x="792187" y="185318"/>
                  </a:lnTo>
                  <a:lnTo>
                    <a:pt x="800887" y="189230"/>
                  </a:lnTo>
                  <a:lnTo>
                    <a:pt x="816495" y="154470"/>
                  </a:lnTo>
                  <a:close/>
                </a:path>
                <a:path w="884554" h="1955800">
                  <a:moveTo>
                    <a:pt x="843813" y="93649"/>
                  </a:moveTo>
                  <a:lnTo>
                    <a:pt x="835113" y="89750"/>
                  </a:lnTo>
                  <a:lnTo>
                    <a:pt x="819505" y="124498"/>
                  </a:lnTo>
                  <a:lnTo>
                    <a:pt x="828205" y="128409"/>
                  </a:lnTo>
                  <a:lnTo>
                    <a:pt x="843813" y="93649"/>
                  </a:lnTo>
                  <a:close/>
                </a:path>
                <a:path w="884554" h="1955800">
                  <a:moveTo>
                    <a:pt x="880643" y="1443113"/>
                  </a:moveTo>
                  <a:lnTo>
                    <a:pt x="795616" y="1448371"/>
                  </a:lnTo>
                  <a:lnTo>
                    <a:pt x="812330" y="1477213"/>
                  </a:lnTo>
                  <a:lnTo>
                    <a:pt x="809523" y="1478851"/>
                  </a:lnTo>
                  <a:lnTo>
                    <a:pt x="814298" y="1487081"/>
                  </a:lnTo>
                  <a:lnTo>
                    <a:pt x="817118" y="1485455"/>
                  </a:lnTo>
                  <a:lnTo>
                    <a:pt x="833831" y="1514297"/>
                  </a:lnTo>
                  <a:lnTo>
                    <a:pt x="852805" y="1485455"/>
                  </a:lnTo>
                  <a:lnTo>
                    <a:pt x="880643" y="1443113"/>
                  </a:lnTo>
                  <a:close/>
                </a:path>
                <a:path w="884554" h="1955800">
                  <a:moveTo>
                    <a:pt x="884186" y="85115"/>
                  </a:moveTo>
                  <a:lnTo>
                    <a:pt x="880643" y="0"/>
                  </a:lnTo>
                  <a:lnTo>
                    <a:pt x="814679" y="53898"/>
                  </a:lnTo>
                  <a:lnTo>
                    <a:pt x="884186" y="85115"/>
                  </a:lnTo>
                  <a:close/>
                </a:path>
              </a:pathLst>
            </a:custGeom>
            <a:solidFill>
              <a:srgbClr val="000000"/>
            </a:solidFill>
          </p:spPr>
          <p:txBody>
            <a:bodyPr wrap="square" lIns="0" tIns="0" rIns="0" bIns="0" rtlCol="0"/>
            <a:lstStyle/>
            <a:p>
              <a:endParaRPr>
                <a:solidFill>
                  <a:prstClr val="black"/>
                </a:solidFill>
                <a:latin typeface="Calibri"/>
              </a:endParaRPr>
            </a:p>
          </p:txBody>
        </p:sp>
      </p:grpSp>
      <p:sp>
        <p:nvSpPr>
          <p:cNvPr id="20" name="object 20"/>
          <p:cNvSpPr txBox="1"/>
          <p:nvPr/>
        </p:nvSpPr>
        <p:spPr>
          <a:xfrm>
            <a:off x="4841387" y="2146301"/>
            <a:ext cx="2132330" cy="4049827"/>
          </a:xfrm>
          <a:prstGeom prst="rect">
            <a:avLst/>
          </a:prstGeom>
          <a:ln w="25400">
            <a:solidFill>
              <a:srgbClr val="F79646"/>
            </a:solidFill>
          </a:ln>
        </p:spPr>
        <p:txBody>
          <a:bodyPr vert="horz" wrap="square" lIns="0" tIns="0" rIns="0" bIns="0" rtlCol="0">
            <a:spAutoFit/>
          </a:bodyPr>
          <a:lstStyle/>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endParaRPr sz="2100">
              <a:solidFill>
                <a:prstClr val="black"/>
              </a:solidFill>
              <a:latin typeface="Times New Roman"/>
              <a:cs typeface="Times New Roman"/>
            </a:endParaRPr>
          </a:p>
          <a:p>
            <a:pPr marL="117475">
              <a:spcBef>
                <a:spcPts val="1690"/>
              </a:spcBef>
            </a:pPr>
            <a:r>
              <a:rPr b="1" spc="-5" dirty="0">
                <a:solidFill>
                  <a:prstClr val="black"/>
                </a:solidFill>
                <a:latin typeface="Arial"/>
                <a:cs typeface="Arial"/>
              </a:rPr>
              <a:t>Input</a:t>
            </a:r>
            <a:r>
              <a:rPr b="1" spc="-45" dirty="0">
                <a:solidFill>
                  <a:prstClr val="black"/>
                </a:solidFill>
                <a:latin typeface="Arial"/>
                <a:cs typeface="Arial"/>
              </a:rPr>
              <a:t> </a:t>
            </a:r>
            <a:r>
              <a:rPr dirty="0">
                <a:solidFill>
                  <a:prstClr val="black"/>
                </a:solidFill>
                <a:latin typeface="Cambria Math"/>
                <a:cs typeface="Cambria Math"/>
              </a:rPr>
              <a:t>𝑿</a:t>
            </a:r>
            <a:endParaRPr>
              <a:solidFill>
                <a:prstClr val="black"/>
              </a:solidFill>
              <a:latin typeface="Cambria Math"/>
              <a:cs typeface="Cambria Math"/>
            </a:endParaRPr>
          </a:p>
        </p:txBody>
      </p:sp>
      <p:pic>
        <p:nvPicPr>
          <p:cNvPr id="21" name="object 21"/>
          <p:cNvPicPr/>
          <p:nvPr/>
        </p:nvPicPr>
        <p:blipFill>
          <a:blip r:embed="rId4" cstate="print"/>
          <a:stretch>
            <a:fillRect/>
          </a:stretch>
        </p:blipFill>
        <p:spPr>
          <a:xfrm>
            <a:off x="3220718" y="3275764"/>
            <a:ext cx="1330234" cy="1309770"/>
          </a:xfrm>
          <a:prstGeom prst="rect">
            <a:avLst/>
          </a:prstGeom>
        </p:spPr>
      </p:pic>
      <p:sp>
        <p:nvSpPr>
          <p:cNvPr id="22" name="object 22"/>
          <p:cNvSpPr txBox="1"/>
          <p:nvPr/>
        </p:nvSpPr>
        <p:spPr>
          <a:xfrm>
            <a:off x="5484226" y="1813115"/>
            <a:ext cx="836294" cy="269240"/>
          </a:xfrm>
          <a:prstGeom prst="rect">
            <a:avLst/>
          </a:prstGeom>
        </p:spPr>
        <p:txBody>
          <a:bodyPr vert="horz" wrap="square" lIns="0" tIns="12700" rIns="0" bIns="0" rtlCol="0">
            <a:spAutoFit/>
          </a:bodyPr>
          <a:lstStyle/>
          <a:p>
            <a:pPr marL="12700">
              <a:spcBef>
                <a:spcPts val="100"/>
              </a:spcBef>
            </a:pPr>
            <a:r>
              <a:rPr sz="1600" b="1" spc="-5" dirty="0">
                <a:solidFill>
                  <a:prstClr val="black"/>
                </a:solidFill>
                <a:latin typeface="Arial"/>
                <a:cs typeface="Arial"/>
              </a:rPr>
              <a:t>Encode</a:t>
            </a:r>
            <a:r>
              <a:rPr sz="1600" b="1" dirty="0">
                <a:solidFill>
                  <a:prstClr val="black"/>
                </a:solidFill>
                <a:latin typeface="Arial"/>
                <a:cs typeface="Arial"/>
              </a:rPr>
              <a:t>r</a:t>
            </a:r>
            <a:endParaRPr sz="1600">
              <a:solidFill>
                <a:prstClr val="black"/>
              </a:solidFill>
              <a:latin typeface="Arial"/>
              <a:cs typeface="Arial"/>
            </a:endParaRPr>
          </a:p>
        </p:txBody>
      </p:sp>
      <p:pic>
        <p:nvPicPr>
          <p:cNvPr id="23" name="object 23"/>
          <p:cNvPicPr/>
          <p:nvPr/>
        </p:nvPicPr>
        <p:blipFill>
          <a:blip r:embed="rId5" cstate="print"/>
          <a:stretch>
            <a:fillRect/>
          </a:stretch>
        </p:blipFill>
        <p:spPr>
          <a:xfrm>
            <a:off x="7811551" y="3297155"/>
            <a:ext cx="533399" cy="1226819"/>
          </a:xfrm>
          <a:prstGeom prst="rect">
            <a:avLst/>
          </a:prstGeom>
        </p:spPr>
      </p:pic>
      <p:sp>
        <p:nvSpPr>
          <p:cNvPr id="24" name="object 24"/>
          <p:cNvSpPr txBox="1"/>
          <p:nvPr/>
        </p:nvSpPr>
        <p:spPr>
          <a:xfrm>
            <a:off x="7303645" y="5218967"/>
            <a:ext cx="1547495" cy="299720"/>
          </a:xfrm>
          <a:prstGeom prst="rect">
            <a:avLst/>
          </a:prstGeom>
        </p:spPr>
        <p:txBody>
          <a:bodyPr vert="horz" wrap="square" lIns="0" tIns="12700" rIns="0" bIns="0" rtlCol="0">
            <a:spAutoFit/>
          </a:bodyPr>
          <a:lstStyle/>
          <a:p>
            <a:pPr marL="12700">
              <a:spcBef>
                <a:spcPts val="100"/>
              </a:spcBef>
            </a:pPr>
            <a:r>
              <a:rPr dirty="0">
                <a:solidFill>
                  <a:prstClr val="black"/>
                </a:solidFill>
                <a:latin typeface="Cambria Math"/>
                <a:cs typeface="Cambria Math"/>
              </a:rPr>
              <a:t>𝒚</a:t>
            </a:r>
            <a:r>
              <a:rPr spc="75" dirty="0">
                <a:solidFill>
                  <a:prstClr val="black"/>
                </a:solidFill>
                <a:latin typeface="Cambria Math"/>
                <a:cs typeface="Cambria Math"/>
              </a:rPr>
              <a:t> </a:t>
            </a:r>
            <a:r>
              <a:rPr dirty="0">
                <a:solidFill>
                  <a:prstClr val="black"/>
                </a:solidFill>
                <a:latin typeface="Cambria Math"/>
                <a:cs typeface="Cambria Math"/>
              </a:rPr>
              <a:t>=</a:t>
            </a:r>
            <a:r>
              <a:rPr spc="85" dirty="0">
                <a:solidFill>
                  <a:prstClr val="black"/>
                </a:solidFill>
                <a:latin typeface="Cambria Math"/>
                <a:cs typeface="Cambria Math"/>
              </a:rPr>
              <a:t> </a:t>
            </a:r>
            <a:r>
              <a:rPr spc="-5" dirty="0">
                <a:solidFill>
                  <a:prstClr val="black"/>
                </a:solidFill>
                <a:latin typeface="Cambria Math"/>
                <a:cs typeface="Cambria Math"/>
              </a:rPr>
              <a:t>𝒇(𝑾𝒙</a:t>
            </a:r>
            <a:r>
              <a:rPr spc="-15" dirty="0">
                <a:solidFill>
                  <a:prstClr val="black"/>
                </a:solidFill>
                <a:latin typeface="Cambria Math"/>
                <a:cs typeface="Cambria Math"/>
              </a:rPr>
              <a:t> </a:t>
            </a:r>
            <a:r>
              <a:rPr dirty="0">
                <a:solidFill>
                  <a:prstClr val="black"/>
                </a:solidFill>
                <a:latin typeface="Cambria Math"/>
                <a:cs typeface="Cambria Math"/>
              </a:rPr>
              <a:t>+</a:t>
            </a:r>
            <a:r>
              <a:rPr spc="-10" dirty="0">
                <a:solidFill>
                  <a:prstClr val="black"/>
                </a:solidFill>
                <a:latin typeface="Cambria Math"/>
                <a:cs typeface="Cambria Math"/>
              </a:rPr>
              <a:t> </a:t>
            </a:r>
            <a:r>
              <a:rPr spc="-5" dirty="0">
                <a:solidFill>
                  <a:prstClr val="black"/>
                </a:solidFill>
                <a:latin typeface="Cambria Math"/>
                <a:cs typeface="Cambria Math"/>
              </a:rPr>
              <a:t>𝒃)</a:t>
            </a:r>
            <a:endParaRPr>
              <a:solidFill>
                <a:prstClr val="black"/>
              </a:solidFill>
              <a:latin typeface="Cambria Math"/>
              <a:cs typeface="Cambria Math"/>
            </a:endParaRPr>
          </a:p>
        </p:txBody>
      </p:sp>
      <p:sp>
        <p:nvSpPr>
          <p:cNvPr id="25" name="object 25"/>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18</a:t>
            </a:fld>
            <a:endParaRPr dirty="0">
              <a:solidFill>
                <a:prstClr val="white"/>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0" y="1109979"/>
            <a:ext cx="4714240" cy="391160"/>
          </a:xfrm>
          <a:prstGeom prst="rect">
            <a:avLst/>
          </a:prstGeom>
        </p:spPr>
        <p:txBody>
          <a:bodyPr vert="horz" wrap="square" lIns="0" tIns="12700" rIns="0" bIns="0" rtlCol="0">
            <a:spAutoFit/>
          </a:bodyPr>
          <a:lstStyle/>
          <a:p>
            <a:pPr marL="12700">
              <a:spcBef>
                <a:spcPts val="100"/>
              </a:spcBef>
            </a:pPr>
            <a:r>
              <a:rPr sz="2400" b="1" spc="-5" dirty="0">
                <a:solidFill>
                  <a:prstClr val="black"/>
                </a:solidFill>
                <a:latin typeface="Arial"/>
                <a:cs typeface="Arial"/>
              </a:rPr>
              <a:t>Decoder</a:t>
            </a:r>
            <a:r>
              <a:rPr sz="2400" b="1" spc="-10" dirty="0">
                <a:solidFill>
                  <a:prstClr val="black"/>
                </a:solidFill>
                <a:latin typeface="Arial"/>
                <a:cs typeface="Arial"/>
              </a:rPr>
              <a:t> </a:t>
            </a:r>
            <a:r>
              <a:rPr sz="2400" b="1" spc="-5" dirty="0">
                <a:solidFill>
                  <a:prstClr val="black"/>
                </a:solidFill>
                <a:latin typeface="Arial"/>
                <a:cs typeface="Arial"/>
              </a:rPr>
              <a:t>reconstructs</a:t>
            </a:r>
            <a:r>
              <a:rPr sz="2400" b="1" spc="-10" dirty="0">
                <a:solidFill>
                  <a:prstClr val="black"/>
                </a:solidFill>
                <a:latin typeface="Arial"/>
                <a:cs typeface="Arial"/>
              </a:rPr>
              <a:t> </a:t>
            </a:r>
            <a:r>
              <a:rPr sz="2400" b="1" spc="-5" dirty="0">
                <a:solidFill>
                  <a:prstClr val="black"/>
                </a:solidFill>
                <a:latin typeface="Arial"/>
                <a:cs typeface="Arial"/>
              </a:rPr>
              <a:t>input</a:t>
            </a:r>
            <a:r>
              <a:rPr sz="2400" b="1" spc="-10" dirty="0">
                <a:solidFill>
                  <a:prstClr val="black"/>
                </a:solidFill>
                <a:latin typeface="Arial"/>
                <a:cs typeface="Arial"/>
              </a:rPr>
              <a:t> </a:t>
            </a:r>
            <a:r>
              <a:rPr sz="2400" b="1" spc="-5" dirty="0">
                <a:solidFill>
                  <a:prstClr val="black"/>
                </a:solidFill>
                <a:latin typeface="Arial"/>
                <a:cs typeface="Arial"/>
              </a:rPr>
              <a:t>data</a:t>
            </a:r>
            <a:endParaRPr sz="2400">
              <a:solidFill>
                <a:prstClr val="black"/>
              </a:solidFill>
              <a:latin typeface="Arial"/>
              <a:cs typeface="Arial"/>
            </a:endParaRPr>
          </a:p>
        </p:txBody>
      </p:sp>
      <p:pic>
        <p:nvPicPr>
          <p:cNvPr id="4" name="object 4"/>
          <p:cNvPicPr/>
          <p:nvPr/>
        </p:nvPicPr>
        <p:blipFill>
          <a:blip r:embed="rId3" cstate="print"/>
          <a:stretch>
            <a:fillRect/>
          </a:stretch>
        </p:blipFill>
        <p:spPr>
          <a:xfrm>
            <a:off x="1536700" y="67734"/>
            <a:ext cx="3280832" cy="918633"/>
          </a:xfrm>
          <a:prstGeom prst="rect">
            <a:avLst/>
          </a:prstGeom>
        </p:spPr>
      </p:pic>
      <p:sp>
        <p:nvSpPr>
          <p:cNvPr id="5" name="object 5"/>
          <p:cNvSpPr txBox="1">
            <a:spLocks noGrp="1"/>
          </p:cNvSpPr>
          <p:nvPr>
            <p:ph type="title"/>
          </p:nvPr>
        </p:nvSpPr>
        <p:spPr>
          <a:xfrm>
            <a:off x="1785621" y="183388"/>
            <a:ext cx="2753995" cy="513080"/>
          </a:xfrm>
          <a:prstGeom prst="rect">
            <a:avLst/>
          </a:prstGeom>
        </p:spPr>
        <p:txBody>
          <a:bodyPr vert="horz" wrap="square" lIns="0" tIns="12700" rIns="0" bIns="0" rtlCol="0">
            <a:spAutoFit/>
          </a:bodyPr>
          <a:lstStyle/>
          <a:p>
            <a:pPr marL="12700">
              <a:spcBef>
                <a:spcPts val="100"/>
              </a:spcBef>
            </a:pPr>
            <a:r>
              <a:rPr sz="3200" dirty="0">
                <a:solidFill>
                  <a:srgbClr val="004990"/>
                </a:solidFill>
              </a:rPr>
              <a:t>A</a:t>
            </a:r>
            <a:r>
              <a:rPr sz="3200" spc="-5" dirty="0">
                <a:solidFill>
                  <a:srgbClr val="004990"/>
                </a:solidFill>
              </a:rPr>
              <a:t>utoencode</a:t>
            </a:r>
            <a:r>
              <a:rPr sz="3200" dirty="0">
                <a:solidFill>
                  <a:srgbClr val="004990"/>
                </a:solidFill>
              </a:rPr>
              <a:t>rs</a:t>
            </a:r>
            <a:endParaRPr sz="3200"/>
          </a:p>
        </p:txBody>
      </p:sp>
      <p:grpSp>
        <p:nvGrpSpPr>
          <p:cNvPr id="6" name="object 6"/>
          <p:cNvGrpSpPr/>
          <p:nvPr/>
        </p:nvGrpSpPr>
        <p:grpSpPr>
          <a:xfrm>
            <a:off x="4438717" y="2324100"/>
            <a:ext cx="2349500" cy="3213100"/>
            <a:chOff x="2914717" y="2324100"/>
            <a:chExt cx="2349500" cy="3213100"/>
          </a:xfrm>
        </p:grpSpPr>
        <p:sp>
          <p:nvSpPr>
            <p:cNvPr id="7" name="object 7"/>
            <p:cNvSpPr/>
            <p:nvPr/>
          </p:nvSpPr>
          <p:spPr>
            <a:xfrm>
              <a:off x="2927417" y="2849479"/>
              <a:ext cx="723900" cy="723900"/>
            </a:xfrm>
            <a:custGeom>
              <a:avLst/>
              <a:gdLst/>
              <a:ahLst/>
              <a:cxnLst/>
              <a:rect l="l" t="t" r="r" b="b"/>
              <a:pathLst>
                <a:path w="723900" h="723900">
                  <a:moveTo>
                    <a:pt x="361949"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49"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49"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8" name="object 8"/>
            <p:cNvSpPr/>
            <p:nvPr/>
          </p:nvSpPr>
          <p:spPr>
            <a:xfrm>
              <a:off x="2927417" y="2849479"/>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9" name="object 9"/>
            <p:cNvSpPr/>
            <p:nvPr/>
          </p:nvSpPr>
          <p:spPr>
            <a:xfrm>
              <a:off x="2927417" y="4292600"/>
              <a:ext cx="723900" cy="723900"/>
            </a:xfrm>
            <a:custGeom>
              <a:avLst/>
              <a:gdLst/>
              <a:ahLst/>
              <a:cxnLst/>
              <a:rect l="l" t="t" r="r" b="b"/>
              <a:pathLst>
                <a:path w="723900" h="723900">
                  <a:moveTo>
                    <a:pt x="361949"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49"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49"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0" name="object 10"/>
            <p:cNvSpPr/>
            <p:nvPr/>
          </p:nvSpPr>
          <p:spPr>
            <a:xfrm>
              <a:off x="2927417" y="4292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1" name="object 11"/>
            <p:cNvSpPr/>
            <p:nvPr/>
          </p:nvSpPr>
          <p:spPr>
            <a:xfrm>
              <a:off x="4527617"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2" name="object 12"/>
            <p:cNvSpPr/>
            <p:nvPr/>
          </p:nvSpPr>
          <p:spPr>
            <a:xfrm>
              <a:off x="4527617"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3" name="object 13"/>
            <p:cNvSpPr/>
            <p:nvPr/>
          </p:nvSpPr>
          <p:spPr>
            <a:xfrm>
              <a:off x="3648928" y="4650430"/>
              <a:ext cx="878840" cy="512445"/>
            </a:xfrm>
            <a:custGeom>
              <a:avLst/>
              <a:gdLst/>
              <a:ahLst/>
              <a:cxnLst/>
              <a:rect l="l" t="t" r="r" b="b"/>
              <a:pathLst>
                <a:path w="878839" h="512445">
                  <a:moveTo>
                    <a:pt x="812341" y="468153"/>
                  </a:moveTo>
                  <a:lnTo>
                    <a:pt x="807565" y="476393"/>
                  </a:lnTo>
                  <a:lnTo>
                    <a:pt x="810376" y="478022"/>
                  </a:lnTo>
                  <a:lnTo>
                    <a:pt x="793656" y="506864"/>
                  </a:lnTo>
                  <a:lnTo>
                    <a:pt x="878688" y="512119"/>
                  </a:lnTo>
                  <a:lnTo>
                    <a:pt x="850842" y="469783"/>
                  </a:lnTo>
                  <a:lnTo>
                    <a:pt x="815153" y="469783"/>
                  </a:lnTo>
                  <a:lnTo>
                    <a:pt x="812341" y="468153"/>
                  </a:lnTo>
                  <a:close/>
                </a:path>
                <a:path w="878839" h="512445">
                  <a:moveTo>
                    <a:pt x="831872" y="440941"/>
                  </a:moveTo>
                  <a:lnTo>
                    <a:pt x="815153" y="469783"/>
                  </a:lnTo>
                  <a:lnTo>
                    <a:pt x="850842" y="469783"/>
                  </a:lnTo>
                  <a:lnTo>
                    <a:pt x="831872" y="440941"/>
                  </a:lnTo>
                  <a:close/>
                </a:path>
                <a:path w="878839" h="512445">
                  <a:moveTo>
                    <a:pt x="754658" y="434713"/>
                  </a:moveTo>
                  <a:lnTo>
                    <a:pt x="749881" y="442954"/>
                  </a:lnTo>
                  <a:lnTo>
                    <a:pt x="782843" y="462062"/>
                  </a:lnTo>
                  <a:lnTo>
                    <a:pt x="787620" y="453821"/>
                  </a:lnTo>
                  <a:lnTo>
                    <a:pt x="754658" y="434713"/>
                  </a:lnTo>
                  <a:close/>
                </a:path>
                <a:path w="878839" h="512445">
                  <a:moveTo>
                    <a:pt x="696976" y="401274"/>
                  </a:moveTo>
                  <a:lnTo>
                    <a:pt x="692198" y="409514"/>
                  </a:lnTo>
                  <a:lnTo>
                    <a:pt x="725159" y="428622"/>
                  </a:lnTo>
                  <a:lnTo>
                    <a:pt x="729937" y="420382"/>
                  </a:lnTo>
                  <a:lnTo>
                    <a:pt x="696976" y="401274"/>
                  </a:lnTo>
                  <a:close/>
                </a:path>
                <a:path w="878839" h="512445">
                  <a:moveTo>
                    <a:pt x="639292" y="367835"/>
                  </a:moveTo>
                  <a:lnTo>
                    <a:pt x="634514" y="376074"/>
                  </a:lnTo>
                  <a:lnTo>
                    <a:pt x="667476" y="395183"/>
                  </a:lnTo>
                  <a:lnTo>
                    <a:pt x="672254" y="386942"/>
                  </a:lnTo>
                  <a:lnTo>
                    <a:pt x="639292" y="367835"/>
                  </a:lnTo>
                  <a:close/>
                </a:path>
                <a:path w="878839" h="512445">
                  <a:moveTo>
                    <a:pt x="581609" y="334394"/>
                  </a:moveTo>
                  <a:lnTo>
                    <a:pt x="576831" y="342635"/>
                  </a:lnTo>
                  <a:lnTo>
                    <a:pt x="609794" y="361744"/>
                  </a:lnTo>
                  <a:lnTo>
                    <a:pt x="614570" y="353503"/>
                  </a:lnTo>
                  <a:lnTo>
                    <a:pt x="581609" y="334394"/>
                  </a:lnTo>
                  <a:close/>
                </a:path>
                <a:path w="878839" h="512445">
                  <a:moveTo>
                    <a:pt x="523925" y="300955"/>
                  </a:moveTo>
                  <a:lnTo>
                    <a:pt x="519149" y="309195"/>
                  </a:lnTo>
                  <a:lnTo>
                    <a:pt x="552110" y="328303"/>
                  </a:lnTo>
                  <a:lnTo>
                    <a:pt x="556887" y="320064"/>
                  </a:lnTo>
                  <a:lnTo>
                    <a:pt x="523925" y="300955"/>
                  </a:lnTo>
                  <a:close/>
                </a:path>
                <a:path w="878839" h="512445">
                  <a:moveTo>
                    <a:pt x="466242" y="267516"/>
                  </a:moveTo>
                  <a:lnTo>
                    <a:pt x="461465" y="275756"/>
                  </a:lnTo>
                  <a:lnTo>
                    <a:pt x="494427" y="294864"/>
                  </a:lnTo>
                  <a:lnTo>
                    <a:pt x="499203" y="286623"/>
                  </a:lnTo>
                  <a:lnTo>
                    <a:pt x="466242" y="267516"/>
                  </a:lnTo>
                  <a:close/>
                </a:path>
                <a:path w="878839" h="512445">
                  <a:moveTo>
                    <a:pt x="408558" y="234076"/>
                  </a:moveTo>
                  <a:lnTo>
                    <a:pt x="403782" y="242317"/>
                  </a:lnTo>
                  <a:lnTo>
                    <a:pt x="436744" y="261425"/>
                  </a:lnTo>
                  <a:lnTo>
                    <a:pt x="441521" y="253184"/>
                  </a:lnTo>
                  <a:lnTo>
                    <a:pt x="408558" y="234076"/>
                  </a:lnTo>
                  <a:close/>
                </a:path>
                <a:path w="878839" h="512445">
                  <a:moveTo>
                    <a:pt x="350876" y="200637"/>
                  </a:moveTo>
                  <a:lnTo>
                    <a:pt x="346099" y="208876"/>
                  </a:lnTo>
                  <a:lnTo>
                    <a:pt x="379060" y="227985"/>
                  </a:lnTo>
                  <a:lnTo>
                    <a:pt x="383838" y="219745"/>
                  </a:lnTo>
                  <a:lnTo>
                    <a:pt x="350876" y="200637"/>
                  </a:lnTo>
                  <a:close/>
                </a:path>
                <a:path w="878839" h="512445">
                  <a:moveTo>
                    <a:pt x="293193" y="167196"/>
                  </a:moveTo>
                  <a:lnTo>
                    <a:pt x="288415" y="175437"/>
                  </a:lnTo>
                  <a:lnTo>
                    <a:pt x="321377" y="194546"/>
                  </a:lnTo>
                  <a:lnTo>
                    <a:pt x="326155" y="186305"/>
                  </a:lnTo>
                  <a:lnTo>
                    <a:pt x="293193" y="167196"/>
                  </a:lnTo>
                  <a:close/>
                </a:path>
                <a:path w="878839" h="512445">
                  <a:moveTo>
                    <a:pt x="235510" y="133757"/>
                  </a:moveTo>
                  <a:lnTo>
                    <a:pt x="230732" y="141998"/>
                  </a:lnTo>
                  <a:lnTo>
                    <a:pt x="263695" y="161107"/>
                  </a:lnTo>
                  <a:lnTo>
                    <a:pt x="268471" y="152866"/>
                  </a:lnTo>
                  <a:lnTo>
                    <a:pt x="235510" y="133757"/>
                  </a:lnTo>
                  <a:close/>
                </a:path>
                <a:path w="878839" h="512445">
                  <a:moveTo>
                    <a:pt x="177826" y="100318"/>
                  </a:moveTo>
                  <a:lnTo>
                    <a:pt x="173050" y="108558"/>
                  </a:lnTo>
                  <a:lnTo>
                    <a:pt x="206011" y="127666"/>
                  </a:lnTo>
                  <a:lnTo>
                    <a:pt x="210788" y="119426"/>
                  </a:lnTo>
                  <a:lnTo>
                    <a:pt x="177826" y="100318"/>
                  </a:lnTo>
                  <a:close/>
                </a:path>
                <a:path w="878839" h="512445">
                  <a:moveTo>
                    <a:pt x="120143" y="66878"/>
                  </a:moveTo>
                  <a:lnTo>
                    <a:pt x="115366" y="75119"/>
                  </a:lnTo>
                  <a:lnTo>
                    <a:pt x="148328" y="94227"/>
                  </a:lnTo>
                  <a:lnTo>
                    <a:pt x="153104" y="85986"/>
                  </a:lnTo>
                  <a:lnTo>
                    <a:pt x="120143" y="66878"/>
                  </a:lnTo>
                  <a:close/>
                </a:path>
                <a:path w="878839" h="512445">
                  <a:moveTo>
                    <a:pt x="62459" y="33439"/>
                  </a:moveTo>
                  <a:lnTo>
                    <a:pt x="57683" y="41680"/>
                  </a:lnTo>
                  <a:lnTo>
                    <a:pt x="90644" y="60788"/>
                  </a:lnTo>
                  <a:lnTo>
                    <a:pt x="95421" y="52547"/>
                  </a:lnTo>
                  <a:lnTo>
                    <a:pt x="62459" y="33439"/>
                  </a:lnTo>
                  <a:close/>
                </a:path>
                <a:path w="878839" h="512445">
                  <a:moveTo>
                    <a:pt x="4776" y="0"/>
                  </a:moveTo>
                  <a:lnTo>
                    <a:pt x="0" y="8239"/>
                  </a:lnTo>
                  <a:lnTo>
                    <a:pt x="32961" y="27348"/>
                  </a:lnTo>
                  <a:lnTo>
                    <a:pt x="37739" y="19108"/>
                  </a:lnTo>
                  <a:lnTo>
                    <a:pt x="4776"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4" name="object 14"/>
            <p:cNvSpPr/>
            <p:nvPr/>
          </p:nvSpPr>
          <p:spPr>
            <a:xfrm>
              <a:off x="4527617"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5" name="object 15"/>
            <p:cNvSpPr/>
            <p:nvPr/>
          </p:nvSpPr>
          <p:spPr>
            <a:xfrm>
              <a:off x="4527617"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6" name="object 16"/>
            <p:cNvSpPr/>
            <p:nvPr/>
          </p:nvSpPr>
          <p:spPr>
            <a:xfrm>
              <a:off x="3648283" y="3930650"/>
              <a:ext cx="879475" cy="727710"/>
            </a:xfrm>
            <a:custGeom>
              <a:avLst/>
              <a:gdLst/>
              <a:ahLst/>
              <a:cxnLst/>
              <a:rect l="l" t="t" r="r" b="b"/>
              <a:pathLst>
                <a:path w="879475" h="727710">
                  <a:moveTo>
                    <a:pt x="800432" y="59001"/>
                  </a:moveTo>
                  <a:lnTo>
                    <a:pt x="771058" y="83267"/>
                  </a:lnTo>
                  <a:lnTo>
                    <a:pt x="777124" y="90610"/>
                  </a:lnTo>
                  <a:lnTo>
                    <a:pt x="806498" y="66346"/>
                  </a:lnTo>
                  <a:lnTo>
                    <a:pt x="800432" y="59001"/>
                  </a:lnTo>
                  <a:close/>
                </a:path>
                <a:path w="879475" h="727710">
                  <a:moveTo>
                    <a:pt x="879334" y="0"/>
                  </a:moveTo>
                  <a:lnTo>
                    <a:pt x="796321" y="19156"/>
                  </a:lnTo>
                  <a:lnTo>
                    <a:pt x="844850" y="77904"/>
                  </a:lnTo>
                  <a:lnTo>
                    <a:pt x="879334" y="0"/>
                  </a:lnTo>
                  <a:close/>
                </a:path>
                <a:path w="879475" h="727710">
                  <a:moveTo>
                    <a:pt x="749028" y="101466"/>
                  </a:moveTo>
                  <a:lnTo>
                    <a:pt x="719654" y="125731"/>
                  </a:lnTo>
                  <a:lnTo>
                    <a:pt x="725721" y="133074"/>
                  </a:lnTo>
                  <a:lnTo>
                    <a:pt x="755095" y="108809"/>
                  </a:lnTo>
                  <a:lnTo>
                    <a:pt x="749028" y="101466"/>
                  </a:lnTo>
                  <a:close/>
                </a:path>
                <a:path w="879475" h="727710">
                  <a:moveTo>
                    <a:pt x="697624" y="143930"/>
                  </a:moveTo>
                  <a:lnTo>
                    <a:pt x="668251" y="168194"/>
                  </a:lnTo>
                  <a:lnTo>
                    <a:pt x="674316" y="175539"/>
                  </a:lnTo>
                  <a:lnTo>
                    <a:pt x="703690" y="151273"/>
                  </a:lnTo>
                  <a:lnTo>
                    <a:pt x="697624" y="143930"/>
                  </a:lnTo>
                  <a:close/>
                </a:path>
                <a:path w="879475" h="727710">
                  <a:moveTo>
                    <a:pt x="646220" y="186394"/>
                  </a:moveTo>
                  <a:lnTo>
                    <a:pt x="616846" y="210659"/>
                  </a:lnTo>
                  <a:lnTo>
                    <a:pt x="622913" y="218003"/>
                  </a:lnTo>
                  <a:lnTo>
                    <a:pt x="652287" y="193737"/>
                  </a:lnTo>
                  <a:lnTo>
                    <a:pt x="646220" y="186394"/>
                  </a:lnTo>
                  <a:close/>
                </a:path>
                <a:path w="879475" h="727710">
                  <a:moveTo>
                    <a:pt x="594817" y="228857"/>
                  </a:moveTo>
                  <a:lnTo>
                    <a:pt x="565443" y="253123"/>
                  </a:lnTo>
                  <a:lnTo>
                    <a:pt x="571508" y="260466"/>
                  </a:lnTo>
                  <a:lnTo>
                    <a:pt x="600882" y="236202"/>
                  </a:lnTo>
                  <a:lnTo>
                    <a:pt x="594817" y="228857"/>
                  </a:lnTo>
                  <a:close/>
                </a:path>
                <a:path w="879475" h="727710">
                  <a:moveTo>
                    <a:pt x="543412" y="271322"/>
                  </a:moveTo>
                  <a:lnTo>
                    <a:pt x="514038" y="295587"/>
                  </a:lnTo>
                  <a:lnTo>
                    <a:pt x="520105" y="302930"/>
                  </a:lnTo>
                  <a:lnTo>
                    <a:pt x="549479" y="278665"/>
                  </a:lnTo>
                  <a:lnTo>
                    <a:pt x="543412" y="271322"/>
                  </a:lnTo>
                  <a:close/>
                </a:path>
                <a:path w="879475" h="727710">
                  <a:moveTo>
                    <a:pt x="492009" y="313786"/>
                  </a:moveTo>
                  <a:lnTo>
                    <a:pt x="462635" y="338051"/>
                  </a:lnTo>
                  <a:lnTo>
                    <a:pt x="468701" y="345395"/>
                  </a:lnTo>
                  <a:lnTo>
                    <a:pt x="498074" y="321129"/>
                  </a:lnTo>
                  <a:lnTo>
                    <a:pt x="492009" y="313786"/>
                  </a:lnTo>
                  <a:close/>
                </a:path>
                <a:path w="879475" h="727710">
                  <a:moveTo>
                    <a:pt x="440604" y="356250"/>
                  </a:moveTo>
                  <a:lnTo>
                    <a:pt x="411231" y="380516"/>
                  </a:lnTo>
                  <a:lnTo>
                    <a:pt x="417297" y="387859"/>
                  </a:lnTo>
                  <a:lnTo>
                    <a:pt x="446671" y="363593"/>
                  </a:lnTo>
                  <a:lnTo>
                    <a:pt x="440604" y="356250"/>
                  </a:lnTo>
                  <a:close/>
                </a:path>
                <a:path w="879475" h="727710">
                  <a:moveTo>
                    <a:pt x="389201" y="398713"/>
                  </a:moveTo>
                  <a:lnTo>
                    <a:pt x="359827" y="422979"/>
                  </a:lnTo>
                  <a:lnTo>
                    <a:pt x="365893" y="430322"/>
                  </a:lnTo>
                  <a:lnTo>
                    <a:pt x="395267" y="406058"/>
                  </a:lnTo>
                  <a:lnTo>
                    <a:pt x="389201" y="398713"/>
                  </a:lnTo>
                  <a:close/>
                </a:path>
                <a:path w="879475" h="727710">
                  <a:moveTo>
                    <a:pt x="337797" y="441178"/>
                  </a:moveTo>
                  <a:lnTo>
                    <a:pt x="308423" y="465443"/>
                  </a:lnTo>
                  <a:lnTo>
                    <a:pt x="314490" y="472786"/>
                  </a:lnTo>
                  <a:lnTo>
                    <a:pt x="343863" y="448522"/>
                  </a:lnTo>
                  <a:lnTo>
                    <a:pt x="337797" y="441178"/>
                  </a:lnTo>
                  <a:close/>
                </a:path>
                <a:path w="879475" h="727710">
                  <a:moveTo>
                    <a:pt x="286393" y="483642"/>
                  </a:moveTo>
                  <a:lnTo>
                    <a:pt x="257020" y="507907"/>
                  </a:lnTo>
                  <a:lnTo>
                    <a:pt x="263085" y="515251"/>
                  </a:lnTo>
                  <a:lnTo>
                    <a:pt x="292459" y="490985"/>
                  </a:lnTo>
                  <a:lnTo>
                    <a:pt x="286393" y="483642"/>
                  </a:lnTo>
                  <a:close/>
                </a:path>
                <a:path w="879475" h="727710">
                  <a:moveTo>
                    <a:pt x="234989" y="526106"/>
                  </a:moveTo>
                  <a:lnTo>
                    <a:pt x="205615" y="550372"/>
                  </a:lnTo>
                  <a:lnTo>
                    <a:pt x="211682" y="557715"/>
                  </a:lnTo>
                  <a:lnTo>
                    <a:pt x="241056" y="533450"/>
                  </a:lnTo>
                  <a:lnTo>
                    <a:pt x="234989" y="526106"/>
                  </a:lnTo>
                  <a:close/>
                </a:path>
                <a:path w="879475" h="727710">
                  <a:moveTo>
                    <a:pt x="183586" y="568571"/>
                  </a:moveTo>
                  <a:lnTo>
                    <a:pt x="154212" y="592836"/>
                  </a:lnTo>
                  <a:lnTo>
                    <a:pt x="160277" y="600179"/>
                  </a:lnTo>
                  <a:lnTo>
                    <a:pt x="189651" y="575914"/>
                  </a:lnTo>
                  <a:lnTo>
                    <a:pt x="183586" y="568571"/>
                  </a:lnTo>
                  <a:close/>
                </a:path>
                <a:path w="879475" h="727710">
                  <a:moveTo>
                    <a:pt x="132181" y="611035"/>
                  </a:moveTo>
                  <a:lnTo>
                    <a:pt x="102807" y="635299"/>
                  </a:lnTo>
                  <a:lnTo>
                    <a:pt x="108874" y="642644"/>
                  </a:lnTo>
                  <a:lnTo>
                    <a:pt x="138248" y="618378"/>
                  </a:lnTo>
                  <a:lnTo>
                    <a:pt x="132181" y="611035"/>
                  </a:lnTo>
                  <a:close/>
                </a:path>
                <a:path w="879475" h="727710">
                  <a:moveTo>
                    <a:pt x="80778" y="653498"/>
                  </a:moveTo>
                  <a:lnTo>
                    <a:pt x="51404" y="677764"/>
                  </a:lnTo>
                  <a:lnTo>
                    <a:pt x="57471" y="685107"/>
                  </a:lnTo>
                  <a:lnTo>
                    <a:pt x="86843" y="660841"/>
                  </a:lnTo>
                  <a:lnTo>
                    <a:pt x="80778" y="653498"/>
                  </a:lnTo>
                  <a:close/>
                </a:path>
                <a:path w="879475" h="727710">
                  <a:moveTo>
                    <a:pt x="29373" y="695962"/>
                  </a:moveTo>
                  <a:lnTo>
                    <a:pt x="0" y="720228"/>
                  </a:lnTo>
                  <a:lnTo>
                    <a:pt x="6066" y="727571"/>
                  </a:lnTo>
                  <a:lnTo>
                    <a:pt x="35440" y="703306"/>
                  </a:lnTo>
                  <a:lnTo>
                    <a:pt x="29373" y="695962"/>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7" name="object 17"/>
            <p:cNvSpPr/>
            <p:nvPr/>
          </p:nvSpPr>
          <p:spPr>
            <a:xfrm>
              <a:off x="4527617"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8" name="object 18"/>
            <p:cNvSpPr/>
            <p:nvPr/>
          </p:nvSpPr>
          <p:spPr>
            <a:xfrm>
              <a:off x="4527617"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9" name="object 19"/>
            <p:cNvSpPr/>
            <p:nvPr/>
          </p:nvSpPr>
          <p:spPr>
            <a:xfrm>
              <a:off x="3646970" y="2698749"/>
              <a:ext cx="884555" cy="2463800"/>
            </a:xfrm>
            <a:custGeom>
              <a:avLst/>
              <a:gdLst/>
              <a:ahLst/>
              <a:cxnLst/>
              <a:rect l="l" t="t" r="r" b="b"/>
              <a:pathLst>
                <a:path w="884554" h="2463800">
                  <a:moveTo>
                    <a:pt x="24269" y="1922983"/>
                  </a:moveTo>
                  <a:lnTo>
                    <a:pt x="15570" y="1919084"/>
                  </a:lnTo>
                  <a:lnTo>
                    <a:pt x="0" y="1953856"/>
                  </a:lnTo>
                  <a:lnTo>
                    <a:pt x="8686" y="1957755"/>
                  </a:lnTo>
                  <a:lnTo>
                    <a:pt x="24269" y="1922983"/>
                  </a:lnTo>
                  <a:close/>
                </a:path>
                <a:path w="884554" h="2463800">
                  <a:moveTo>
                    <a:pt x="39636" y="497560"/>
                  </a:moveTo>
                  <a:lnTo>
                    <a:pt x="34823" y="489331"/>
                  </a:lnTo>
                  <a:lnTo>
                    <a:pt x="1930" y="508571"/>
                  </a:lnTo>
                  <a:lnTo>
                    <a:pt x="4318" y="512699"/>
                  </a:lnTo>
                  <a:lnTo>
                    <a:pt x="0" y="514642"/>
                  </a:lnTo>
                  <a:lnTo>
                    <a:pt x="15608" y="549389"/>
                  </a:lnTo>
                  <a:lnTo>
                    <a:pt x="24295" y="545490"/>
                  </a:lnTo>
                  <a:lnTo>
                    <a:pt x="16992" y="529234"/>
                  </a:lnTo>
                  <a:lnTo>
                    <a:pt x="30772" y="540537"/>
                  </a:lnTo>
                  <a:lnTo>
                    <a:pt x="36817" y="533171"/>
                  </a:lnTo>
                  <a:lnTo>
                    <a:pt x="12649" y="513346"/>
                  </a:lnTo>
                  <a:lnTo>
                    <a:pt x="39636" y="497560"/>
                  </a:lnTo>
                  <a:close/>
                </a:path>
                <a:path w="884554" h="2463800">
                  <a:moveTo>
                    <a:pt x="51523" y="1862137"/>
                  </a:moveTo>
                  <a:lnTo>
                    <a:pt x="42837" y="1858238"/>
                  </a:lnTo>
                  <a:lnTo>
                    <a:pt x="27254" y="1893011"/>
                  </a:lnTo>
                  <a:lnTo>
                    <a:pt x="35953" y="1896910"/>
                  </a:lnTo>
                  <a:lnTo>
                    <a:pt x="51523" y="1862137"/>
                  </a:lnTo>
                  <a:close/>
                </a:path>
                <a:path w="884554" h="2463800">
                  <a:moveTo>
                    <a:pt x="51612" y="606310"/>
                  </a:moveTo>
                  <a:lnTo>
                    <a:pt x="36004" y="571550"/>
                  </a:lnTo>
                  <a:lnTo>
                    <a:pt x="27317" y="575462"/>
                  </a:lnTo>
                  <a:lnTo>
                    <a:pt x="42926" y="610209"/>
                  </a:lnTo>
                  <a:lnTo>
                    <a:pt x="51612" y="606310"/>
                  </a:lnTo>
                  <a:close/>
                </a:path>
                <a:path w="884554" h="2463800">
                  <a:moveTo>
                    <a:pt x="78790" y="1801291"/>
                  </a:moveTo>
                  <a:lnTo>
                    <a:pt x="70104" y="1797392"/>
                  </a:lnTo>
                  <a:lnTo>
                    <a:pt x="54521" y="1832165"/>
                  </a:lnTo>
                  <a:lnTo>
                    <a:pt x="63207" y="1836064"/>
                  </a:lnTo>
                  <a:lnTo>
                    <a:pt x="78790" y="1801291"/>
                  </a:lnTo>
                  <a:close/>
                </a:path>
                <a:path w="884554" h="2463800">
                  <a:moveTo>
                    <a:pt x="78930" y="667131"/>
                  </a:moveTo>
                  <a:lnTo>
                    <a:pt x="63322" y="632383"/>
                  </a:lnTo>
                  <a:lnTo>
                    <a:pt x="54635" y="636282"/>
                  </a:lnTo>
                  <a:lnTo>
                    <a:pt x="70243" y="671042"/>
                  </a:lnTo>
                  <a:lnTo>
                    <a:pt x="78930" y="667131"/>
                  </a:lnTo>
                  <a:close/>
                </a:path>
                <a:path w="884554" h="2463800">
                  <a:moveTo>
                    <a:pt x="88353" y="575475"/>
                  </a:moveTo>
                  <a:lnTo>
                    <a:pt x="58902" y="551307"/>
                  </a:lnTo>
                  <a:lnTo>
                    <a:pt x="52857" y="558673"/>
                  </a:lnTo>
                  <a:lnTo>
                    <a:pt x="82308" y="582841"/>
                  </a:lnTo>
                  <a:lnTo>
                    <a:pt x="88353" y="575475"/>
                  </a:lnTo>
                  <a:close/>
                </a:path>
                <a:path w="884554" h="2463800">
                  <a:moveTo>
                    <a:pt x="97180" y="463892"/>
                  </a:moveTo>
                  <a:lnTo>
                    <a:pt x="92367" y="455663"/>
                  </a:lnTo>
                  <a:lnTo>
                    <a:pt x="59486" y="474903"/>
                  </a:lnTo>
                  <a:lnTo>
                    <a:pt x="64300" y="483133"/>
                  </a:lnTo>
                  <a:lnTo>
                    <a:pt x="97180" y="463892"/>
                  </a:lnTo>
                  <a:close/>
                </a:path>
                <a:path w="884554" h="2463800">
                  <a:moveTo>
                    <a:pt x="106057" y="1740446"/>
                  </a:moveTo>
                  <a:lnTo>
                    <a:pt x="97358" y="1736547"/>
                  </a:lnTo>
                  <a:lnTo>
                    <a:pt x="81788" y="1771319"/>
                  </a:lnTo>
                  <a:lnTo>
                    <a:pt x="90474" y="1775218"/>
                  </a:lnTo>
                  <a:lnTo>
                    <a:pt x="106057" y="1740446"/>
                  </a:lnTo>
                  <a:close/>
                </a:path>
                <a:path w="884554" h="2463800">
                  <a:moveTo>
                    <a:pt x="106248" y="727951"/>
                  </a:moveTo>
                  <a:lnTo>
                    <a:pt x="90639" y="693204"/>
                  </a:lnTo>
                  <a:lnTo>
                    <a:pt x="81953" y="697103"/>
                  </a:lnTo>
                  <a:lnTo>
                    <a:pt x="97561" y="731862"/>
                  </a:lnTo>
                  <a:lnTo>
                    <a:pt x="106248" y="727951"/>
                  </a:lnTo>
                  <a:close/>
                </a:path>
                <a:path w="884554" h="2463800">
                  <a:moveTo>
                    <a:pt x="133311" y="1679600"/>
                  </a:moveTo>
                  <a:lnTo>
                    <a:pt x="124625" y="1675701"/>
                  </a:lnTo>
                  <a:lnTo>
                    <a:pt x="109042" y="1710474"/>
                  </a:lnTo>
                  <a:lnTo>
                    <a:pt x="117741" y="1714360"/>
                  </a:lnTo>
                  <a:lnTo>
                    <a:pt x="133311" y="1679600"/>
                  </a:lnTo>
                  <a:close/>
                </a:path>
                <a:path w="884554" h="2463800">
                  <a:moveTo>
                    <a:pt x="133565" y="788784"/>
                  </a:moveTo>
                  <a:lnTo>
                    <a:pt x="117957" y="754024"/>
                  </a:lnTo>
                  <a:lnTo>
                    <a:pt x="109258" y="757923"/>
                  </a:lnTo>
                  <a:lnTo>
                    <a:pt x="124879" y="792683"/>
                  </a:lnTo>
                  <a:lnTo>
                    <a:pt x="133565" y="788784"/>
                  </a:lnTo>
                  <a:close/>
                </a:path>
                <a:path w="884554" h="2463800">
                  <a:moveTo>
                    <a:pt x="139890" y="617778"/>
                  </a:moveTo>
                  <a:lnTo>
                    <a:pt x="110439" y="593610"/>
                  </a:lnTo>
                  <a:lnTo>
                    <a:pt x="104394" y="600964"/>
                  </a:lnTo>
                  <a:lnTo>
                    <a:pt x="133845" y="625144"/>
                  </a:lnTo>
                  <a:lnTo>
                    <a:pt x="139890" y="617778"/>
                  </a:lnTo>
                  <a:close/>
                </a:path>
                <a:path w="884554" h="2463800">
                  <a:moveTo>
                    <a:pt x="154724" y="430212"/>
                  </a:moveTo>
                  <a:lnTo>
                    <a:pt x="149923" y="421995"/>
                  </a:lnTo>
                  <a:lnTo>
                    <a:pt x="117030" y="441236"/>
                  </a:lnTo>
                  <a:lnTo>
                    <a:pt x="121843" y="449453"/>
                  </a:lnTo>
                  <a:lnTo>
                    <a:pt x="154724" y="430212"/>
                  </a:lnTo>
                  <a:close/>
                </a:path>
                <a:path w="884554" h="2463800">
                  <a:moveTo>
                    <a:pt x="160578" y="1618754"/>
                  </a:moveTo>
                  <a:lnTo>
                    <a:pt x="151892" y="1614855"/>
                  </a:lnTo>
                  <a:lnTo>
                    <a:pt x="136309" y="1649628"/>
                  </a:lnTo>
                  <a:lnTo>
                    <a:pt x="144995" y="1653514"/>
                  </a:lnTo>
                  <a:lnTo>
                    <a:pt x="160578" y="1618754"/>
                  </a:lnTo>
                  <a:close/>
                </a:path>
                <a:path w="884554" h="2463800">
                  <a:moveTo>
                    <a:pt x="160883" y="849604"/>
                  </a:moveTo>
                  <a:lnTo>
                    <a:pt x="145275" y="814844"/>
                  </a:lnTo>
                  <a:lnTo>
                    <a:pt x="136575" y="818743"/>
                  </a:lnTo>
                  <a:lnTo>
                    <a:pt x="152196" y="853503"/>
                  </a:lnTo>
                  <a:lnTo>
                    <a:pt x="160883" y="849604"/>
                  </a:lnTo>
                  <a:close/>
                </a:path>
                <a:path w="884554" h="2463800">
                  <a:moveTo>
                    <a:pt x="187845" y="1557909"/>
                  </a:moveTo>
                  <a:lnTo>
                    <a:pt x="179146" y="1554010"/>
                  </a:lnTo>
                  <a:lnTo>
                    <a:pt x="163576" y="1588782"/>
                  </a:lnTo>
                  <a:lnTo>
                    <a:pt x="172262" y="1592668"/>
                  </a:lnTo>
                  <a:lnTo>
                    <a:pt x="187845" y="1557909"/>
                  </a:lnTo>
                  <a:close/>
                </a:path>
                <a:path w="884554" h="2463800">
                  <a:moveTo>
                    <a:pt x="188201" y="910424"/>
                  </a:moveTo>
                  <a:lnTo>
                    <a:pt x="172593" y="875665"/>
                  </a:lnTo>
                  <a:lnTo>
                    <a:pt x="163893" y="879576"/>
                  </a:lnTo>
                  <a:lnTo>
                    <a:pt x="179501" y="914323"/>
                  </a:lnTo>
                  <a:lnTo>
                    <a:pt x="188201" y="910424"/>
                  </a:lnTo>
                  <a:close/>
                </a:path>
                <a:path w="884554" h="2463800">
                  <a:moveTo>
                    <a:pt x="191427" y="660082"/>
                  </a:moveTo>
                  <a:lnTo>
                    <a:pt x="161975" y="635901"/>
                  </a:lnTo>
                  <a:lnTo>
                    <a:pt x="155930" y="643267"/>
                  </a:lnTo>
                  <a:lnTo>
                    <a:pt x="185381" y="667435"/>
                  </a:lnTo>
                  <a:lnTo>
                    <a:pt x="191427" y="660082"/>
                  </a:lnTo>
                  <a:close/>
                </a:path>
                <a:path w="884554" h="2463800">
                  <a:moveTo>
                    <a:pt x="212280" y="396544"/>
                  </a:moveTo>
                  <a:lnTo>
                    <a:pt x="207467" y="388327"/>
                  </a:lnTo>
                  <a:lnTo>
                    <a:pt x="174586" y="407568"/>
                  </a:lnTo>
                  <a:lnTo>
                    <a:pt x="179400" y="415785"/>
                  </a:lnTo>
                  <a:lnTo>
                    <a:pt x="212280" y="396544"/>
                  </a:lnTo>
                  <a:close/>
                </a:path>
                <a:path w="884554" h="2463800">
                  <a:moveTo>
                    <a:pt x="215099" y="1497063"/>
                  </a:moveTo>
                  <a:lnTo>
                    <a:pt x="206413" y="1493164"/>
                  </a:lnTo>
                  <a:lnTo>
                    <a:pt x="190830" y="1527937"/>
                  </a:lnTo>
                  <a:lnTo>
                    <a:pt x="199529" y="1531823"/>
                  </a:lnTo>
                  <a:lnTo>
                    <a:pt x="215099" y="1497063"/>
                  </a:lnTo>
                  <a:close/>
                </a:path>
                <a:path w="884554" h="2463800">
                  <a:moveTo>
                    <a:pt x="215519" y="971245"/>
                  </a:moveTo>
                  <a:lnTo>
                    <a:pt x="199898" y="936485"/>
                  </a:lnTo>
                  <a:lnTo>
                    <a:pt x="191211" y="940396"/>
                  </a:lnTo>
                  <a:lnTo>
                    <a:pt x="206819" y="975144"/>
                  </a:lnTo>
                  <a:lnTo>
                    <a:pt x="215519" y="971245"/>
                  </a:lnTo>
                  <a:close/>
                </a:path>
                <a:path w="884554" h="2463800">
                  <a:moveTo>
                    <a:pt x="242366" y="1436204"/>
                  </a:moveTo>
                  <a:lnTo>
                    <a:pt x="233667" y="1432318"/>
                  </a:lnTo>
                  <a:lnTo>
                    <a:pt x="218097" y="1467091"/>
                  </a:lnTo>
                  <a:lnTo>
                    <a:pt x="226783" y="1470977"/>
                  </a:lnTo>
                  <a:lnTo>
                    <a:pt x="242366" y="1436204"/>
                  </a:lnTo>
                  <a:close/>
                </a:path>
                <a:path w="884554" h="2463800">
                  <a:moveTo>
                    <a:pt x="242824" y="1032065"/>
                  </a:moveTo>
                  <a:lnTo>
                    <a:pt x="227215" y="997318"/>
                  </a:lnTo>
                  <a:lnTo>
                    <a:pt x="218528" y="1001217"/>
                  </a:lnTo>
                  <a:lnTo>
                    <a:pt x="234137" y="1035964"/>
                  </a:lnTo>
                  <a:lnTo>
                    <a:pt x="242824" y="1032065"/>
                  </a:lnTo>
                  <a:close/>
                </a:path>
                <a:path w="884554" h="2463800">
                  <a:moveTo>
                    <a:pt x="242963" y="702373"/>
                  </a:moveTo>
                  <a:lnTo>
                    <a:pt x="213512" y="678205"/>
                  </a:lnTo>
                  <a:lnTo>
                    <a:pt x="207479" y="685571"/>
                  </a:lnTo>
                  <a:lnTo>
                    <a:pt x="236931" y="709739"/>
                  </a:lnTo>
                  <a:lnTo>
                    <a:pt x="242963" y="702373"/>
                  </a:lnTo>
                  <a:close/>
                </a:path>
                <a:path w="884554" h="2463800">
                  <a:moveTo>
                    <a:pt x="269633" y="1375359"/>
                  </a:moveTo>
                  <a:lnTo>
                    <a:pt x="260934" y="1371473"/>
                  </a:lnTo>
                  <a:lnTo>
                    <a:pt x="245351" y="1406232"/>
                  </a:lnTo>
                  <a:lnTo>
                    <a:pt x="254050" y="1410131"/>
                  </a:lnTo>
                  <a:lnTo>
                    <a:pt x="269633" y="1375359"/>
                  </a:lnTo>
                  <a:close/>
                </a:path>
                <a:path w="884554" h="2463800">
                  <a:moveTo>
                    <a:pt x="269824" y="362877"/>
                  </a:moveTo>
                  <a:lnTo>
                    <a:pt x="265023" y="354660"/>
                  </a:lnTo>
                  <a:lnTo>
                    <a:pt x="232130" y="373900"/>
                  </a:lnTo>
                  <a:lnTo>
                    <a:pt x="236943" y="382117"/>
                  </a:lnTo>
                  <a:lnTo>
                    <a:pt x="269824" y="362877"/>
                  </a:lnTo>
                  <a:close/>
                </a:path>
                <a:path w="884554" h="2463800">
                  <a:moveTo>
                    <a:pt x="270141" y="1092885"/>
                  </a:moveTo>
                  <a:lnTo>
                    <a:pt x="254533" y="1058138"/>
                  </a:lnTo>
                  <a:lnTo>
                    <a:pt x="245846" y="1062037"/>
                  </a:lnTo>
                  <a:lnTo>
                    <a:pt x="261454" y="1096797"/>
                  </a:lnTo>
                  <a:lnTo>
                    <a:pt x="270141" y="1092885"/>
                  </a:lnTo>
                  <a:close/>
                </a:path>
                <a:path w="884554" h="2463800">
                  <a:moveTo>
                    <a:pt x="294513" y="744677"/>
                  </a:moveTo>
                  <a:lnTo>
                    <a:pt x="265061" y="720509"/>
                  </a:lnTo>
                  <a:lnTo>
                    <a:pt x="259016" y="727862"/>
                  </a:lnTo>
                  <a:lnTo>
                    <a:pt x="288467" y="752043"/>
                  </a:lnTo>
                  <a:lnTo>
                    <a:pt x="294513" y="744677"/>
                  </a:lnTo>
                  <a:close/>
                </a:path>
                <a:path w="884554" h="2463800">
                  <a:moveTo>
                    <a:pt x="296887" y="1314513"/>
                  </a:moveTo>
                  <a:lnTo>
                    <a:pt x="288201" y="1310627"/>
                  </a:lnTo>
                  <a:lnTo>
                    <a:pt x="272618" y="1345387"/>
                  </a:lnTo>
                  <a:lnTo>
                    <a:pt x="281317" y="1349286"/>
                  </a:lnTo>
                  <a:lnTo>
                    <a:pt x="296887" y="1314513"/>
                  </a:lnTo>
                  <a:close/>
                </a:path>
                <a:path w="884554" h="2463800">
                  <a:moveTo>
                    <a:pt x="297459" y="1153718"/>
                  </a:moveTo>
                  <a:lnTo>
                    <a:pt x="281851" y="1118958"/>
                  </a:lnTo>
                  <a:lnTo>
                    <a:pt x="273164" y="1122857"/>
                  </a:lnTo>
                  <a:lnTo>
                    <a:pt x="288772" y="1157617"/>
                  </a:lnTo>
                  <a:lnTo>
                    <a:pt x="297459" y="1153718"/>
                  </a:lnTo>
                  <a:close/>
                </a:path>
                <a:path w="884554" h="2463800">
                  <a:moveTo>
                    <a:pt x="324154" y="1253667"/>
                  </a:moveTo>
                  <a:lnTo>
                    <a:pt x="315455" y="1249781"/>
                  </a:lnTo>
                  <a:lnTo>
                    <a:pt x="299885" y="1284541"/>
                  </a:lnTo>
                  <a:lnTo>
                    <a:pt x="308571" y="1288440"/>
                  </a:lnTo>
                  <a:lnTo>
                    <a:pt x="324154" y="1253667"/>
                  </a:lnTo>
                  <a:close/>
                </a:path>
                <a:path w="884554" h="2463800">
                  <a:moveTo>
                    <a:pt x="324777" y="1214539"/>
                  </a:moveTo>
                  <a:lnTo>
                    <a:pt x="309168" y="1179779"/>
                  </a:lnTo>
                  <a:lnTo>
                    <a:pt x="300482" y="1183678"/>
                  </a:lnTo>
                  <a:lnTo>
                    <a:pt x="316090" y="1218438"/>
                  </a:lnTo>
                  <a:lnTo>
                    <a:pt x="324777" y="1214539"/>
                  </a:lnTo>
                  <a:close/>
                </a:path>
                <a:path w="884554" h="2463800">
                  <a:moveTo>
                    <a:pt x="327380" y="329209"/>
                  </a:moveTo>
                  <a:lnTo>
                    <a:pt x="322567" y="320992"/>
                  </a:lnTo>
                  <a:lnTo>
                    <a:pt x="289687" y="340233"/>
                  </a:lnTo>
                  <a:lnTo>
                    <a:pt x="294487" y="348449"/>
                  </a:lnTo>
                  <a:lnTo>
                    <a:pt x="327380" y="329209"/>
                  </a:lnTo>
                  <a:close/>
                </a:path>
                <a:path w="884554" h="2463800">
                  <a:moveTo>
                    <a:pt x="346049" y="786980"/>
                  </a:moveTo>
                  <a:lnTo>
                    <a:pt x="316598" y="762800"/>
                  </a:lnTo>
                  <a:lnTo>
                    <a:pt x="310553" y="770166"/>
                  </a:lnTo>
                  <a:lnTo>
                    <a:pt x="340004" y="794334"/>
                  </a:lnTo>
                  <a:lnTo>
                    <a:pt x="346049" y="786980"/>
                  </a:lnTo>
                  <a:close/>
                </a:path>
                <a:path w="884554" h="2463800">
                  <a:moveTo>
                    <a:pt x="351421" y="1192822"/>
                  </a:moveTo>
                  <a:lnTo>
                    <a:pt x="342722" y="1188923"/>
                  </a:lnTo>
                  <a:lnTo>
                    <a:pt x="327139" y="1223695"/>
                  </a:lnTo>
                  <a:lnTo>
                    <a:pt x="335838" y="1227594"/>
                  </a:lnTo>
                  <a:lnTo>
                    <a:pt x="351421" y="1192822"/>
                  </a:lnTo>
                  <a:close/>
                </a:path>
                <a:path w="884554" h="2463800">
                  <a:moveTo>
                    <a:pt x="352094" y="1275359"/>
                  </a:moveTo>
                  <a:lnTo>
                    <a:pt x="336486" y="1240599"/>
                  </a:lnTo>
                  <a:lnTo>
                    <a:pt x="327799" y="1244498"/>
                  </a:lnTo>
                  <a:lnTo>
                    <a:pt x="343408" y="1279258"/>
                  </a:lnTo>
                  <a:lnTo>
                    <a:pt x="352094" y="1275359"/>
                  </a:lnTo>
                  <a:close/>
                </a:path>
                <a:path w="884554" h="2463800">
                  <a:moveTo>
                    <a:pt x="378675" y="1131976"/>
                  </a:moveTo>
                  <a:lnTo>
                    <a:pt x="369989" y="1128077"/>
                  </a:lnTo>
                  <a:lnTo>
                    <a:pt x="354406" y="1162850"/>
                  </a:lnTo>
                  <a:lnTo>
                    <a:pt x="363093" y="1166749"/>
                  </a:lnTo>
                  <a:lnTo>
                    <a:pt x="378675" y="1131976"/>
                  </a:lnTo>
                  <a:close/>
                </a:path>
                <a:path w="884554" h="2463800">
                  <a:moveTo>
                    <a:pt x="379412" y="1336179"/>
                  </a:moveTo>
                  <a:lnTo>
                    <a:pt x="363804" y="1301419"/>
                  </a:lnTo>
                  <a:lnTo>
                    <a:pt x="355117" y="1305331"/>
                  </a:lnTo>
                  <a:lnTo>
                    <a:pt x="370725" y="1340078"/>
                  </a:lnTo>
                  <a:lnTo>
                    <a:pt x="379412" y="1336179"/>
                  </a:lnTo>
                  <a:close/>
                </a:path>
                <a:path w="884554" h="2463800">
                  <a:moveTo>
                    <a:pt x="384924" y="295541"/>
                  </a:moveTo>
                  <a:lnTo>
                    <a:pt x="380123" y="287324"/>
                  </a:lnTo>
                  <a:lnTo>
                    <a:pt x="347230" y="306565"/>
                  </a:lnTo>
                  <a:lnTo>
                    <a:pt x="352044" y="314782"/>
                  </a:lnTo>
                  <a:lnTo>
                    <a:pt x="384924" y="295541"/>
                  </a:lnTo>
                  <a:close/>
                </a:path>
                <a:path w="884554" h="2463800">
                  <a:moveTo>
                    <a:pt x="397586" y="829271"/>
                  </a:moveTo>
                  <a:lnTo>
                    <a:pt x="368134" y="805103"/>
                  </a:lnTo>
                  <a:lnTo>
                    <a:pt x="362089" y="812469"/>
                  </a:lnTo>
                  <a:lnTo>
                    <a:pt x="391541" y="836637"/>
                  </a:lnTo>
                  <a:lnTo>
                    <a:pt x="397586" y="829271"/>
                  </a:lnTo>
                  <a:close/>
                </a:path>
                <a:path w="884554" h="2463800">
                  <a:moveTo>
                    <a:pt x="405942" y="1071130"/>
                  </a:moveTo>
                  <a:lnTo>
                    <a:pt x="397243" y="1067231"/>
                  </a:lnTo>
                  <a:lnTo>
                    <a:pt x="381673" y="1102004"/>
                  </a:lnTo>
                  <a:lnTo>
                    <a:pt x="390359" y="1105903"/>
                  </a:lnTo>
                  <a:lnTo>
                    <a:pt x="405942" y="1071130"/>
                  </a:lnTo>
                  <a:close/>
                </a:path>
                <a:path w="884554" h="2463800">
                  <a:moveTo>
                    <a:pt x="406730" y="1397000"/>
                  </a:moveTo>
                  <a:lnTo>
                    <a:pt x="391121" y="1362240"/>
                  </a:lnTo>
                  <a:lnTo>
                    <a:pt x="382435" y="1366151"/>
                  </a:lnTo>
                  <a:lnTo>
                    <a:pt x="398043" y="1400898"/>
                  </a:lnTo>
                  <a:lnTo>
                    <a:pt x="406730" y="1397000"/>
                  </a:lnTo>
                  <a:close/>
                </a:path>
                <a:path w="884554" h="2463800">
                  <a:moveTo>
                    <a:pt x="433197" y="1010285"/>
                  </a:moveTo>
                  <a:lnTo>
                    <a:pt x="424510" y="1006386"/>
                  </a:lnTo>
                  <a:lnTo>
                    <a:pt x="408927" y="1041158"/>
                  </a:lnTo>
                  <a:lnTo>
                    <a:pt x="417626" y="1045057"/>
                  </a:lnTo>
                  <a:lnTo>
                    <a:pt x="433197" y="1010285"/>
                  </a:lnTo>
                  <a:close/>
                </a:path>
                <a:path w="884554" h="2463800">
                  <a:moveTo>
                    <a:pt x="434047" y="1457820"/>
                  </a:moveTo>
                  <a:lnTo>
                    <a:pt x="418439" y="1423073"/>
                  </a:lnTo>
                  <a:lnTo>
                    <a:pt x="409752" y="1426972"/>
                  </a:lnTo>
                  <a:lnTo>
                    <a:pt x="425361" y="1461731"/>
                  </a:lnTo>
                  <a:lnTo>
                    <a:pt x="434047" y="1457820"/>
                  </a:lnTo>
                  <a:close/>
                </a:path>
                <a:path w="884554" h="2463800">
                  <a:moveTo>
                    <a:pt x="442480" y="261874"/>
                  </a:moveTo>
                  <a:lnTo>
                    <a:pt x="437667" y="253644"/>
                  </a:lnTo>
                  <a:lnTo>
                    <a:pt x="404787" y="272884"/>
                  </a:lnTo>
                  <a:lnTo>
                    <a:pt x="409587" y="281114"/>
                  </a:lnTo>
                  <a:lnTo>
                    <a:pt x="442480" y="261874"/>
                  </a:lnTo>
                  <a:close/>
                </a:path>
                <a:path w="884554" h="2463800">
                  <a:moveTo>
                    <a:pt x="449122" y="871575"/>
                  </a:moveTo>
                  <a:lnTo>
                    <a:pt x="419671" y="847407"/>
                  </a:lnTo>
                  <a:lnTo>
                    <a:pt x="413626" y="854773"/>
                  </a:lnTo>
                  <a:lnTo>
                    <a:pt x="443077" y="878941"/>
                  </a:lnTo>
                  <a:lnTo>
                    <a:pt x="449122" y="871575"/>
                  </a:lnTo>
                  <a:close/>
                </a:path>
                <a:path w="884554" h="2463800">
                  <a:moveTo>
                    <a:pt x="460463" y="949439"/>
                  </a:moveTo>
                  <a:lnTo>
                    <a:pt x="451777" y="945540"/>
                  </a:lnTo>
                  <a:lnTo>
                    <a:pt x="436194" y="980313"/>
                  </a:lnTo>
                  <a:lnTo>
                    <a:pt x="444881" y="984211"/>
                  </a:lnTo>
                  <a:lnTo>
                    <a:pt x="460463" y="949439"/>
                  </a:lnTo>
                  <a:close/>
                </a:path>
                <a:path w="884554" h="2463800">
                  <a:moveTo>
                    <a:pt x="461365" y="1518640"/>
                  </a:moveTo>
                  <a:lnTo>
                    <a:pt x="445757" y="1483893"/>
                  </a:lnTo>
                  <a:lnTo>
                    <a:pt x="437070" y="1487792"/>
                  </a:lnTo>
                  <a:lnTo>
                    <a:pt x="452678" y="1522552"/>
                  </a:lnTo>
                  <a:lnTo>
                    <a:pt x="461365" y="1518640"/>
                  </a:lnTo>
                  <a:close/>
                </a:path>
                <a:path w="884554" h="2463800">
                  <a:moveTo>
                    <a:pt x="488683" y="1579473"/>
                  </a:moveTo>
                  <a:lnTo>
                    <a:pt x="473075" y="1544713"/>
                  </a:lnTo>
                  <a:lnTo>
                    <a:pt x="464388" y="1548612"/>
                  </a:lnTo>
                  <a:lnTo>
                    <a:pt x="479996" y="1583372"/>
                  </a:lnTo>
                  <a:lnTo>
                    <a:pt x="488683" y="1579473"/>
                  </a:lnTo>
                  <a:close/>
                </a:path>
                <a:path w="884554" h="2463800">
                  <a:moveTo>
                    <a:pt x="500024" y="228206"/>
                  </a:moveTo>
                  <a:lnTo>
                    <a:pt x="495211" y="219976"/>
                  </a:lnTo>
                  <a:lnTo>
                    <a:pt x="462330" y="239217"/>
                  </a:lnTo>
                  <a:lnTo>
                    <a:pt x="467144" y="247446"/>
                  </a:lnTo>
                  <a:lnTo>
                    <a:pt x="500024" y="228206"/>
                  </a:lnTo>
                  <a:close/>
                </a:path>
                <a:path w="884554" h="2463800">
                  <a:moveTo>
                    <a:pt x="500659" y="913879"/>
                  </a:moveTo>
                  <a:lnTo>
                    <a:pt x="482917" y="899325"/>
                  </a:lnTo>
                  <a:lnTo>
                    <a:pt x="487730" y="888593"/>
                  </a:lnTo>
                  <a:lnTo>
                    <a:pt x="479031" y="884694"/>
                  </a:lnTo>
                  <a:lnTo>
                    <a:pt x="475284" y="893064"/>
                  </a:lnTo>
                  <a:lnTo>
                    <a:pt x="471208" y="889711"/>
                  </a:lnTo>
                  <a:lnTo>
                    <a:pt x="465162" y="897064"/>
                  </a:lnTo>
                  <a:lnTo>
                    <a:pt x="471246" y="902068"/>
                  </a:lnTo>
                  <a:lnTo>
                    <a:pt x="463461" y="919467"/>
                  </a:lnTo>
                  <a:lnTo>
                    <a:pt x="472147" y="923366"/>
                  </a:lnTo>
                  <a:lnTo>
                    <a:pt x="478878" y="908342"/>
                  </a:lnTo>
                  <a:lnTo>
                    <a:pt x="494614" y="921245"/>
                  </a:lnTo>
                  <a:lnTo>
                    <a:pt x="500659" y="913879"/>
                  </a:lnTo>
                  <a:close/>
                </a:path>
                <a:path w="884554" h="2463800">
                  <a:moveTo>
                    <a:pt x="514985" y="827747"/>
                  </a:moveTo>
                  <a:lnTo>
                    <a:pt x="506298" y="823849"/>
                  </a:lnTo>
                  <a:lnTo>
                    <a:pt x="490715" y="858621"/>
                  </a:lnTo>
                  <a:lnTo>
                    <a:pt x="499414" y="862507"/>
                  </a:lnTo>
                  <a:lnTo>
                    <a:pt x="514985" y="827747"/>
                  </a:lnTo>
                  <a:close/>
                </a:path>
                <a:path w="884554" h="2463800">
                  <a:moveTo>
                    <a:pt x="516001" y="1640293"/>
                  </a:moveTo>
                  <a:lnTo>
                    <a:pt x="500392" y="1605534"/>
                  </a:lnTo>
                  <a:lnTo>
                    <a:pt x="491705" y="1609432"/>
                  </a:lnTo>
                  <a:lnTo>
                    <a:pt x="507314" y="1644192"/>
                  </a:lnTo>
                  <a:lnTo>
                    <a:pt x="516001" y="1640293"/>
                  </a:lnTo>
                  <a:close/>
                </a:path>
                <a:path w="884554" h="2463800">
                  <a:moveTo>
                    <a:pt x="542251" y="766902"/>
                  </a:moveTo>
                  <a:lnTo>
                    <a:pt x="533565" y="763003"/>
                  </a:lnTo>
                  <a:lnTo>
                    <a:pt x="517982" y="797775"/>
                  </a:lnTo>
                  <a:lnTo>
                    <a:pt x="526669" y="801662"/>
                  </a:lnTo>
                  <a:lnTo>
                    <a:pt x="542251" y="766902"/>
                  </a:lnTo>
                  <a:close/>
                </a:path>
                <a:path w="884554" h="2463800">
                  <a:moveTo>
                    <a:pt x="543318" y="1701114"/>
                  </a:moveTo>
                  <a:lnTo>
                    <a:pt x="527710" y="1666354"/>
                  </a:lnTo>
                  <a:lnTo>
                    <a:pt x="519023" y="1670253"/>
                  </a:lnTo>
                  <a:lnTo>
                    <a:pt x="534631" y="1705013"/>
                  </a:lnTo>
                  <a:lnTo>
                    <a:pt x="543318" y="1701114"/>
                  </a:lnTo>
                  <a:close/>
                </a:path>
                <a:path w="884554" h="2463800">
                  <a:moveTo>
                    <a:pt x="552196" y="956183"/>
                  </a:moveTo>
                  <a:lnTo>
                    <a:pt x="522744" y="932002"/>
                  </a:lnTo>
                  <a:lnTo>
                    <a:pt x="516712" y="939368"/>
                  </a:lnTo>
                  <a:lnTo>
                    <a:pt x="546163" y="963536"/>
                  </a:lnTo>
                  <a:lnTo>
                    <a:pt x="552196" y="956183"/>
                  </a:lnTo>
                  <a:close/>
                </a:path>
                <a:path w="884554" h="2463800">
                  <a:moveTo>
                    <a:pt x="557580" y="194538"/>
                  </a:moveTo>
                  <a:lnTo>
                    <a:pt x="552767" y="186309"/>
                  </a:lnTo>
                  <a:lnTo>
                    <a:pt x="519874" y="205549"/>
                  </a:lnTo>
                  <a:lnTo>
                    <a:pt x="524687" y="213766"/>
                  </a:lnTo>
                  <a:lnTo>
                    <a:pt x="557580" y="194538"/>
                  </a:lnTo>
                  <a:close/>
                </a:path>
                <a:path w="884554" h="2463800">
                  <a:moveTo>
                    <a:pt x="569518" y="706056"/>
                  </a:moveTo>
                  <a:lnTo>
                    <a:pt x="560819" y="702157"/>
                  </a:lnTo>
                  <a:lnTo>
                    <a:pt x="545249" y="736930"/>
                  </a:lnTo>
                  <a:lnTo>
                    <a:pt x="553935" y="740816"/>
                  </a:lnTo>
                  <a:lnTo>
                    <a:pt x="569518" y="706056"/>
                  </a:lnTo>
                  <a:close/>
                </a:path>
                <a:path w="884554" h="2463800">
                  <a:moveTo>
                    <a:pt x="570636" y="1761934"/>
                  </a:moveTo>
                  <a:lnTo>
                    <a:pt x="555028" y="1727174"/>
                  </a:lnTo>
                  <a:lnTo>
                    <a:pt x="546328" y="1731086"/>
                  </a:lnTo>
                  <a:lnTo>
                    <a:pt x="561949" y="1765833"/>
                  </a:lnTo>
                  <a:lnTo>
                    <a:pt x="570636" y="1761934"/>
                  </a:lnTo>
                  <a:close/>
                </a:path>
                <a:path w="884554" h="2463800">
                  <a:moveTo>
                    <a:pt x="596773" y="645198"/>
                  </a:moveTo>
                  <a:lnTo>
                    <a:pt x="588086" y="641311"/>
                  </a:lnTo>
                  <a:lnTo>
                    <a:pt x="572503" y="676084"/>
                  </a:lnTo>
                  <a:lnTo>
                    <a:pt x="581202" y="679970"/>
                  </a:lnTo>
                  <a:lnTo>
                    <a:pt x="596773" y="645198"/>
                  </a:lnTo>
                  <a:close/>
                </a:path>
                <a:path w="884554" h="2463800">
                  <a:moveTo>
                    <a:pt x="597954" y="1822754"/>
                  </a:moveTo>
                  <a:lnTo>
                    <a:pt x="582345" y="1788007"/>
                  </a:lnTo>
                  <a:lnTo>
                    <a:pt x="573646" y="1791906"/>
                  </a:lnTo>
                  <a:lnTo>
                    <a:pt x="589254" y="1826653"/>
                  </a:lnTo>
                  <a:lnTo>
                    <a:pt x="597954" y="1822754"/>
                  </a:lnTo>
                  <a:close/>
                </a:path>
                <a:path w="884554" h="2463800">
                  <a:moveTo>
                    <a:pt x="603745" y="998474"/>
                  </a:moveTo>
                  <a:lnTo>
                    <a:pt x="574294" y="974305"/>
                  </a:lnTo>
                  <a:lnTo>
                    <a:pt x="568248" y="981671"/>
                  </a:lnTo>
                  <a:lnTo>
                    <a:pt x="597700" y="1005840"/>
                  </a:lnTo>
                  <a:lnTo>
                    <a:pt x="603745" y="998474"/>
                  </a:lnTo>
                  <a:close/>
                </a:path>
                <a:path w="884554" h="2463800">
                  <a:moveTo>
                    <a:pt x="615124" y="160858"/>
                  </a:moveTo>
                  <a:lnTo>
                    <a:pt x="610311" y="152641"/>
                  </a:lnTo>
                  <a:lnTo>
                    <a:pt x="577430" y="171881"/>
                  </a:lnTo>
                  <a:lnTo>
                    <a:pt x="582244" y="180098"/>
                  </a:lnTo>
                  <a:lnTo>
                    <a:pt x="615124" y="160858"/>
                  </a:lnTo>
                  <a:close/>
                </a:path>
                <a:path w="884554" h="2463800">
                  <a:moveTo>
                    <a:pt x="624039" y="584352"/>
                  </a:moveTo>
                  <a:lnTo>
                    <a:pt x="615353" y="580466"/>
                  </a:lnTo>
                  <a:lnTo>
                    <a:pt x="599770" y="615238"/>
                  </a:lnTo>
                  <a:lnTo>
                    <a:pt x="608457" y="619125"/>
                  </a:lnTo>
                  <a:lnTo>
                    <a:pt x="624039" y="584352"/>
                  </a:lnTo>
                  <a:close/>
                </a:path>
                <a:path w="884554" h="2463800">
                  <a:moveTo>
                    <a:pt x="625271" y="1883575"/>
                  </a:moveTo>
                  <a:lnTo>
                    <a:pt x="609650" y="1848827"/>
                  </a:lnTo>
                  <a:lnTo>
                    <a:pt x="600964" y="1852726"/>
                  </a:lnTo>
                  <a:lnTo>
                    <a:pt x="616572" y="1887486"/>
                  </a:lnTo>
                  <a:lnTo>
                    <a:pt x="625271" y="1883575"/>
                  </a:lnTo>
                  <a:close/>
                </a:path>
                <a:path w="884554" h="2463800">
                  <a:moveTo>
                    <a:pt x="651306" y="523506"/>
                  </a:moveTo>
                  <a:lnTo>
                    <a:pt x="642607" y="519620"/>
                  </a:lnTo>
                  <a:lnTo>
                    <a:pt x="627037" y="554380"/>
                  </a:lnTo>
                  <a:lnTo>
                    <a:pt x="635723" y="558279"/>
                  </a:lnTo>
                  <a:lnTo>
                    <a:pt x="651306" y="523506"/>
                  </a:lnTo>
                  <a:close/>
                </a:path>
                <a:path w="884554" h="2463800">
                  <a:moveTo>
                    <a:pt x="652589" y="1944395"/>
                  </a:moveTo>
                  <a:lnTo>
                    <a:pt x="636968" y="1909648"/>
                  </a:lnTo>
                  <a:lnTo>
                    <a:pt x="628281" y="1913547"/>
                  </a:lnTo>
                  <a:lnTo>
                    <a:pt x="643890" y="1948307"/>
                  </a:lnTo>
                  <a:lnTo>
                    <a:pt x="652589" y="1944395"/>
                  </a:lnTo>
                  <a:close/>
                </a:path>
                <a:path w="884554" h="2463800">
                  <a:moveTo>
                    <a:pt x="655281" y="1040777"/>
                  </a:moveTo>
                  <a:lnTo>
                    <a:pt x="625830" y="1016609"/>
                  </a:lnTo>
                  <a:lnTo>
                    <a:pt x="619785" y="1023975"/>
                  </a:lnTo>
                  <a:lnTo>
                    <a:pt x="649236" y="1048143"/>
                  </a:lnTo>
                  <a:lnTo>
                    <a:pt x="655281" y="1040777"/>
                  </a:lnTo>
                  <a:close/>
                </a:path>
                <a:path w="884554" h="2463800">
                  <a:moveTo>
                    <a:pt x="672680" y="127190"/>
                  </a:moveTo>
                  <a:lnTo>
                    <a:pt x="667867" y="118973"/>
                  </a:lnTo>
                  <a:lnTo>
                    <a:pt x="634974" y="138214"/>
                  </a:lnTo>
                  <a:lnTo>
                    <a:pt x="639787" y="146431"/>
                  </a:lnTo>
                  <a:lnTo>
                    <a:pt x="672680" y="127190"/>
                  </a:lnTo>
                  <a:close/>
                </a:path>
                <a:path w="884554" h="2463800">
                  <a:moveTo>
                    <a:pt x="678561" y="462661"/>
                  </a:moveTo>
                  <a:lnTo>
                    <a:pt x="669874" y="458774"/>
                  </a:lnTo>
                  <a:lnTo>
                    <a:pt x="654291" y="493534"/>
                  </a:lnTo>
                  <a:lnTo>
                    <a:pt x="662990" y="497433"/>
                  </a:lnTo>
                  <a:lnTo>
                    <a:pt x="678561" y="462661"/>
                  </a:lnTo>
                  <a:close/>
                </a:path>
                <a:path w="884554" h="2463800">
                  <a:moveTo>
                    <a:pt x="679894" y="2005228"/>
                  </a:moveTo>
                  <a:lnTo>
                    <a:pt x="664286" y="1970468"/>
                  </a:lnTo>
                  <a:lnTo>
                    <a:pt x="655599" y="1974367"/>
                  </a:lnTo>
                  <a:lnTo>
                    <a:pt x="671207" y="2009127"/>
                  </a:lnTo>
                  <a:lnTo>
                    <a:pt x="679894" y="2005228"/>
                  </a:lnTo>
                  <a:close/>
                </a:path>
                <a:path w="884554" h="2463800">
                  <a:moveTo>
                    <a:pt x="705827" y="401815"/>
                  </a:moveTo>
                  <a:lnTo>
                    <a:pt x="697141" y="397929"/>
                  </a:lnTo>
                  <a:lnTo>
                    <a:pt x="681558" y="432689"/>
                  </a:lnTo>
                  <a:lnTo>
                    <a:pt x="690245" y="436587"/>
                  </a:lnTo>
                  <a:lnTo>
                    <a:pt x="705827" y="401815"/>
                  </a:lnTo>
                  <a:close/>
                </a:path>
                <a:path w="884554" h="2463800">
                  <a:moveTo>
                    <a:pt x="706818" y="1083081"/>
                  </a:moveTo>
                  <a:lnTo>
                    <a:pt x="677367" y="1058913"/>
                  </a:lnTo>
                  <a:lnTo>
                    <a:pt x="671322" y="1066266"/>
                  </a:lnTo>
                  <a:lnTo>
                    <a:pt x="700773" y="1090447"/>
                  </a:lnTo>
                  <a:lnTo>
                    <a:pt x="706818" y="1083081"/>
                  </a:lnTo>
                  <a:close/>
                </a:path>
                <a:path w="884554" h="2463800">
                  <a:moveTo>
                    <a:pt x="707212" y="2066048"/>
                  </a:moveTo>
                  <a:lnTo>
                    <a:pt x="691603" y="2031288"/>
                  </a:lnTo>
                  <a:lnTo>
                    <a:pt x="682917" y="2035187"/>
                  </a:lnTo>
                  <a:lnTo>
                    <a:pt x="698525" y="2069947"/>
                  </a:lnTo>
                  <a:lnTo>
                    <a:pt x="707212" y="2066048"/>
                  </a:lnTo>
                  <a:close/>
                </a:path>
                <a:path w="884554" h="2463800">
                  <a:moveTo>
                    <a:pt x="730224" y="93522"/>
                  </a:moveTo>
                  <a:lnTo>
                    <a:pt x="725411" y="85305"/>
                  </a:lnTo>
                  <a:lnTo>
                    <a:pt x="692531" y="104546"/>
                  </a:lnTo>
                  <a:lnTo>
                    <a:pt x="697344" y="112763"/>
                  </a:lnTo>
                  <a:lnTo>
                    <a:pt x="730224" y="93522"/>
                  </a:lnTo>
                  <a:close/>
                </a:path>
                <a:path w="884554" h="2463800">
                  <a:moveTo>
                    <a:pt x="733094" y="340969"/>
                  </a:moveTo>
                  <a:lnTo>
                    <a:pt x="724395" y="337070"/>
                  </a:lnTo>
                  <a:lnTo>
                    <a:pt x="708825" y="371843"/>
                  </a:lnTo>
                  <a:lnTo>
                    <a:pt x="717511" y="375742"/>
                  </a:lnTo>
                  <a:lnTo>
                    <a:pt x="733094" y="340969"/>
                  </a:lnTo>
                  <a:close/>
                </a:path>
                <a:path w="884554" h="2463800">
                  <a:moveTo>
                    <a:pt x="734529" y="2126869"/>
                  </a:moveTo>
                  <a:lnTo>
                    <a:pt x="718921" y="2092109"/>
                  </a:lnTo>
                  <a:lnTo>
                    <a:pt x="710234" y="2096020"/>
                  </a:lnTo>
                  <a:lnTo>
                    <a:pt x="725843" y="2130768"/>
                  </a:lnTo>
                  <a:lnTo>
                    <a:pt x="734529" y="2126869"/>
                  </a:lnTo>
                  <a:close/>
                </a:path>
                <a:path w="884554" h="2463800">
                  <a:moveTo>
                    <a:pt x="758355" y="1125385"/>
                  </a:moveTo>
                  <a:lnTo>
                    <a:pt x="728903" y="1101204"/>
                  </a:lnTo>
                  <a:lnTo>
                    <a:pt x="722858" y="1108570"/>
                  </a:lnTo>
                  <a:lnTo>
                    <a:pt x="752309" y="1132738"/>
                  </a:lnTo>
                  <a:lnTo>
                    <a:pt x="758355" y="1125385"/>
                  </a:lnTo>
                  <a:close/>
                </a:path>
                <a:path w="884554" h="2463800">
                  <a:moveTo>
                    <a:pt x="760349" y="280123"/>
                  </a:moveTo>
                  <a:lnTo>
                    <a:pt x="751662" y="276225"/>
                  </a:lnTo>
                  <a:lnTo>
                    <a:pt x="736079" y="310997"/>
                  </a:lnTo>
                  <a:lnTo>
                    <a:pt x="744778" y="314896"/>
                  </a:lnTo>
                  <a:lnTo>
                    <a:pt x="760349" y="280123"/>
                  </a:lnTo>
                  <a:close/>
                </a:path>
                <a:path w="884554" h="2463800">
                  <a:moveTo>
                    <a:pt x="761847" y="2187689"/>
                  </a:moveTo>
                  <a:lnTo>
                    <a:pt x="746239" y="2152929"/>
                  </a:lnTo>
                  <a:lnTo>
                    <a:pt x="737552" y="2156841"/>
                  </a:lnTo>
                  <a:lnTo>
                    <a:pt x="753160" y="2191588"/>
                  </a:lnTo>
                  <a:lnTo>
                    <a:pt x="761847" y="2187689"/>
                  </a:lnTo>
                  <a:close/>
                </a:path>
                <a:path w="884554" h="2463800">
                  <a:moveTo>
                    <a:pt x="787615" y="219278"/>
                  </a:moveTo>
                  <a:lnTo>
                    <a:pt x="778916" y="215379"/>
                  </a:lnTo>
                  <a:lnTo>
                    <a:pt x="763346" y="250151"/>
                  </a:lnTo>
                  <a:lnTo>
                    <a:pt x="772033" y="254050"/>
                  </a:lnTo>
                  <a:lnTo>
                    <a:pt x="787615" y="219278"/>
                  </a:lnTo>
                  <a:close/>
                </a:path>
                <a:path w="884554" h="2463800">
                  <a:moveTo>
                    <a:pt x="787768" y="59855"/>
                  </a:moveTo>
                  <a:lnTo>
                    <a:pt x="782967" y="51638"/>
                  </a:lnTo>
                  <a:lnTo>
                    <a:pt x="750074" y="70878"/>
                  </a:lnTo>
                  <a:lnTo>
                    <a:pt x="754888" y="79095"/>
                  </a:lnTo>
                  <a:lnTo>
                    <a:pt x="787768" y="59855"/>
                  </a:lnTo>
                  <a:close/>
                </a:path>
                <a:path w="884554" h="2463800">
                  <a:moveTo>
                    <a:pt x="789165" y="2248509"/>
                  </a:moveTo>
                  <a:lnTo>
                    <a:pt x="773557" y="2213762"/>
                  </a:lnTo>
                  <a:lnTo>
                    <a:pt x="764870" y="2217661"/>
                  </a:lnTo>
                  <a:lnTo>
                    <a:pt x="780478" y="2252421"/>
                  </a:lnTo>
                  <a:lnTo>
                    <a:pt x="789165" y="2248509"/>
                  </a:lnTo>
                  <a:close/>
                </a:path>
                <a:path w="884554" h="2463800">
                  <a:moveTo>
                    <a:pt x="809891" y="1167676"/>
                  </a:moveTo>
                  <a:lnTo>
                    <a:pt x="780440" y="1143508"/>
                  </a:lnTo>
                  <a:lnTo>
                    <a:pt x="774395" y="1150874"/>
                  </a:lnTo>
                  <a:lnTo>
                    <a:pt x="803846" y="1175042"/>
                  </a:lnTo>
                  <a:lnTo>
                    <a:pt x="809891" y="1167676"/>
                  </a:lnTo>
                  <a:close/>
                </a:path>
                <a:path w="884554" h="2463800">
                  <a:moveTo>
                    <a:pt x="814882" y="158432"/>
                  </a:moveTo>
                  <a:lnTo>
                    <a:pt x="806183" y="154533"/>
                  </a:lnTo>
                  <a:lnTo>
                    <a:pt x="790600" y="189306"/>
                  </a:lnTo>
                  <a:lnTo>
                    <a:pt x="799299" y="193205"/>
                  </a:lnTo>
                  <a:lnTo>
                    <a:pt x="814882" y="158432"/>
                  </a:lnTo>
                  <a:close/>
                </a:path>
                <a:path w="884554" h="2463800">
                  <a:moveTo>
                    <a:pt x="816483" y="2309330"/>
                  </a:moveTo>
                  <a:lnTo>
                    <a:pt x="800874" y="2274582"/>
                  </a:lnTo>
                  <a:lnTo>
                    <a:pt x="792187" y="2278481"/>
                  </a:lnTo>
                  <a:lnTo>
                    <a:pt x="807796" y="2313241"/>
                  </a:lnTo>
                  <a:lnTo>
                    <a:pt x="816483" y="2309330"/>
                  </a:lnTo>
                  <a:close/>
                </a:path>
                <a:path w="884554" h="2463800">
                  <a:moveTo>
                    <a:pt x="842137" y="97586"/>
                  </a:moveTo>
                  <a:lnTo>
                    <a:pt x="833450" y="93687"/>
                  </a:lnTo>
                  <a:lnTo>
                    <a:pt x="817867" y="128460"/>
                  </a:lnTo>
                  <a:lnTo>
                    <a:pt x="826566" y="132359"/>
                  </a:lnTo>
                  <a:lnTo>
                    <a:pt x="842137" y="97586"/>
                  </a:lnTo>
                  <a:close/>
                </a:path>
                <a:path w="884554" h="2463800">
                  <a:moveTo>
                    <a:pt x="843800" y="2370163"/>
                  </a:moveTo>
                  <a:lnTo>
                    <a:pt x="828192" y="2335403"/>
                  </a:lnTo>
                  <a:lnTo>
                    <a:pt x="819505" y="2339302"/>
                  </a:lnTo>
                  <a:lnTo>
                    <a:pt x="835113" y="2374061"/>
                  </a:lnTo>
                  <a:lnTo>
                    <a:pt x="843800" y="2370163"/>
                  </a:lnTo>
                  <a:close/>
                </a:path>
                <a:path w="884554" h="2463800">
                  <a:moveTo>
                    <a:pt x="880643" y="1231900"/>
                  </a:moveTo>
                  <a:lnTo>
                    <a:pt x="845908" y="1154112"/>
                  </a:lnTo>
                  <a:lnTo>
                    <a:pt x="797572" y="1213015"/>
                  </a:lnTo>
                  <a:lnTo>
                    <a:pt x="880643" y="1231900"/>
                  </a:lnTo>
                  <a:close/>
                </a:path>
                <a:path w="884554" h="2463800">
                  <a:moveTo>
                    <a:pt x="884174" y="2378684"/>
                  </a:moveTo>
                  <a:lnTo>
                    <a:pt x="814666" y="2409901"/>
                  </a:lnTo>
                  <a:lnTo>
                    <a:pt x="880643" y="2463800"/>
                  </a:lnTo>
                  <a:lnTo>
                    <a:pt x="884174" y="2378684"/>
                  </a:lnTo>
                  <a:close/>
                </a:path>
                <a:path w="884554" h="2463800">
                  <a:moveTo>
                    <a:pt x="884250" y="85128"/>
                  </a:moveTo>
                  <a:lnTo>
                    <a:pt x="883678" y="71488"/>
                  </a:lnTo>
                  <a:lnTo>
                    <a:pt x="880643" y="0"/>
                  </a:lnTo>
                  <a:lnTo>
                    <a:pt x="795629" y="5600"/>
                  </a:lnTo>
                  <a:lnTo>
                    <a:pt x="812469" y="34378"/>
                  </a:lnTo>
                  <a:lnTo>
                    <a:pt x="807631" y="37198"/>
                  </a:lnTo>
                  <a:lnTo>
                    <a:pt x="812431" y="45427"/>
                  </a:lnTo>
                  <a:lnTo>
                    <a:pt x="817270" y="42595"/>
                  </a:lnTo>
                  <a:lnTo>
                    <a:pt x="820940" y="48869"/>
                  </a:lnTo>
                  <a:lnTo>
                    <a:pt x="814717" y="53962"/>
                  </a:lnTo>
                  <a:lnTo>
                    <a:pt x="827189" y="59563"/>
                  </a:lnTo>
                  <a:lnTo>
                    <a:pt x="834110" y="71374"/>
                  </a:lnTo>
                  <a:lnTo>
                    <a:pt x="838504" y="64630"/>
                  </a:lnTo>
                  <a:lnTo>
                    <a:pt x="845134" y="67602"/>
                  </a:lnTo>
                  <a:lnTo>
                    <a:pt x="853821" y="71501"/>
                  </a:lnTo>
                  <a:lnTo>
                    <a:pt x="884250" y="85128"/>
                  </a:lnTo>
                  <a:close/>
                </a:path>
              </a:pathLst>
            </a:custGeom>
            <a:solidFill>
              <a:srgbClr val="000000"/>
            </a:solidFill>
          </p:spPr>
          <p:txBody>
            <a:bodyPr wrap="square" lIns="0" tIns="0" rIns="0" bIns="0" rtlCol="0"/>
            <a:lstStyle/>
            <a:p>
              <a:endParaRPr>
                <a:solidFill>
                  <a:prstClr val="black"/>
                </a:solidFill>
                <a:latin typeface="Calibri"/>
              </a:endParaRPr>
            </a:p>
          </p:txBody>
        </p:sp>
      </p:grpSp>
      <p:sp>
        <p:nvSpPr>
          <p:cNvPr id="20" name="object 20"/>
          <p:cNvSpPr txBox="1"/>
          <p:nvPr/>
        </p:nvSpPr>
        <p:spPr>
          <a:xfrm>
            <a:off x="4835501" y="2146300"/>
            <a:ext cx="2352675" cy="3920490"/>
          </a:xfrm>
          <a:prstGeom prst="rect">
            <a:avLst/>
          </a:prstGeom>
          <a:ln w="25400">
            <a:solidFill>
              <a:srgbClr val="00B050"/>
            </a:solidFill>
          </a:ln>
        </p:spPr>
        <p:txBody>
          <a:bodyPr vert="horz" wrap="square" lIns="0" tIns="5080" rIns="0" bIns="0" rtlCol="0">
            <a:spAutoFit/>
          </a:bodyPr>
          <a:lstStyle/>
          <a:p>
            <a:pPr>
              <a:spcBef>
                <a:spcPts val="40"/>
              </a:spcBef>
            </a:pPr>
            <a:endParaRPr sz="2750">
              <a:solidFill>
                <a:prstClr val="black"/>
              </a:solidFill>
              <a:latin typeface="Times New Roman"/>
              <a:cs typeface="Times New Roman"/>
            </a:endParaRPr>
          </a:p>
          <a:p>
            <a:pPr marL="1425575"/>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a:p>
            <a:endParaRPr sz="2400">
              <a:solidFill>
                <a:prstClr val="black"/>
              </a:solidFill>
              <a:latin typeface="Cambria Math"/>
              <a:cs typeface="Cambria Math"/>
            </a:endParaRPr>
          </a:p>
          <a:p>
            <a:endParaRPr sz="2400">
              <a:solidFill>
                <a:prstClr val="black"/>
              </a:solidFill>
              <a:latin typeface="Cambria Math"/>
              <a:cs typeface="Cambria Math"/>
            </a:endParaRPr>
          </a:p>
          <a:p>
            <a:pPr marL="1425575">
              <a:spcBef>
                <a:spcPts val="191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a:p>
            <a:endParaRPr sz="2400">
              <a:solidFill>
                <a:prstClr val="black"/>
              </a:solidFill>
              <a:latin typeface="Cambria Math"/>
              <a:cs typeface="Cambria Math"/>
            </a:endParaRPr>
          </a:p>
          <a:p>
            <a:endParaRPr sz="2400">
              <a:solidFill>
                <a:prstClr val="black"/>
              </a:solidFill>
              <a:latin typeface="Cambria Math"/>
              <a:cs typeface="Cambria Math"/>
            </a:endParaRPr>
          </a:p>
          <a:p>
            <a:pPr marL="1425575">
              <a:spcBef>
                <a:spcPts val="1914"/>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a:p>
            <a:pPr>
              <a:spcBef>
                <a:spcPts val="30"/>
              </a:spcBef>
            </a:pPr>
            <a:endParaRPr sz="2950">
              <a:solidFill>
                <a:prstClr val="black"/>
              </a:solidFill>
              <a:latin typeface="Cambria Math"/>
              <a:cs typeface="Cambria Math"/>
            </a:endParaRPr>
          </a:p>
          <a:p>
            <a:pPr marL="1198245"/>
            <a:r>
              <a:rPr b="1" spc="-5" dirty="0">
                <a:solidFill>
                  <a:prstClr val="black"/>
                </a:solidFill>
                <a:latin typeface="Arial"/>
                <a:cs typeface="Arial"/>
              </a:rPr>
              <a:t>Output</a:t>
            </a:r>
            <a:r>
              <a:rPr b="1" spc="-45" dirty="0">
                <a:solidFill>
                  <a:prstClr val="black"/>
                </a:solidFill>
                <a:latin typeface="Arial"/>
                <a:cs typeface="Arial"/>
              </a:rPr>
              <a:t> </a:t>
            </a:r>
            <a:r>
              <a:rPr spc="-190" dirty="0">
                <a:solidFill>
                  <a:prstClr val="black"/>
                </a:solidFill>
                <a:latin typeface="Cambria Math"/>
                <a:cs typeface="Cambria Math"/>
              </a:rPr>
              <a:t>𝒙</a:t>
            </a:r>
            <a:r>
              <a:rPr sz="2700" spc="-284" baseline="1543" dirty="0">
                <a:solidFill>
                  <a:prstClr val="black"/>
                </a:solidFill>
                <a:latin typeface="Cambria Math"/>
                <a:cs typeface="Cambria Math"/>
              </a:rPr>
              <a:t>.</a:t>
            </a:r>
            <a:endParaRPr sz="2700" baseline="1543">
              <a:solidFill>
                <a:prstClr val="black"/>
              </a:solidFill>
              <a:latin typeface="Cambria Math"/>
              <a:cs typeface="Cambria Math"/>
            </a:endParaRPr>
          </a:p>
        </p:txBody>
      </p:sp>
      <p:pic>
        <p:nvPicPr>
          <p:cNvPr id="21" name="object 21"/>
          <p:cNvPicPr/>
          <p:nvPr/>
        </p:nvPicPr>
        <p:blipFill>
          <a:blip r:embed="rId4" cstate="print"/>
          <a:stretch>
            <a:fillRect/>
          </a:stretch>
        </p:blipFill>
        <p:spPr>
          <a:xfrm>
            <a:off x="7527859" y="3275764"/>
            <a:ext cx="1330234" cy="1309770"/>
          </a:xfrm>
          <a:prstGeom prst="rect">
            <a:avLst/>
          </a:prstGeom>
        </p:spPr>
      </p:pic>
      <p:sp>
        <p:nvSpPr>
          <p:cNvPr id="22" name="object 22"/>
          <p:cNvSpPr txBox="1"/>
          <p:nvPr/>
        </p:nvSpPr>
        <p:spPr>
          <a:xfrm>
            <a:off x="5588610" y="1823629"/>
            <a:ext cx="836930" cy="269240"/>
          </a:xfrm>
          <a:prstGeom prst="rect">
            <a:avLst/>
          </a:prstGeom>
        </p:spPr>
        <p:txBody>
          <a:bodyPr vert="horz" wrap="square" lIns="0" tIns="12700" rIns="0" bIns="0" rtlCol="0">
            <a:spAutoFit/>
          </a:bodyPr>
          <a:lstStyle/>
          <a:p>
            <a:pPr marL="12700">
              <a:spcBef>
                <a:spcPts val="100"/>
              </a:spcBef>
            </a:pPr>
            <a:r>
              <a:rPr sz="1600" b="1" spc="-10" dirty="0">
                <a:solidFill>
                  <a:prstClr val="black"/>
                </a:solidFill>
                <a:latin typeface="Arial"/>
                <a:cs typeface="Arial"/>
              </a:rPr>
              <a:t>D</a:t>
            </a:r>
            <a:r>
              <a:rPr sz="1600" b="1" spc="-5" dirty="0">
                <a:solidFill>
                  <a:prstClr val="black"/>
                </a:solidFill>
                <a:latin typeface="Arial"/>
                <a:cs typeface="Arial"/>
              </a:rPr>
              <a:t>ecode</a:t>
            </a:r>
            <a:r>
              <a:rPr sz="1600" b="1" dirty="0">
                <a:solidFill>
                  <a:prstClr val="black"/>
                </a:solidFill>
                <a:latin typeface="Arial"/>
                <a:cs typeface="Arial"/>
              </a:rPr>
              <a:t>r</a:t>
            </a:r>
            <a:endParaRPr sz="1600">
              <a:solidFill>
                <a:prstClr val="black"/>
              </a:solidFill>
              <a:latin typeface="Arial"/>
              <a:cs typeface="Arial"/>
            </a:endParaRPr>
          </a:p>
        </p:txBody>
      </p:sp>
      <p:pic>
        <p:nvPicPr>
          <p:cNvPr id="23" name="object 23"/>
          <p:cNvPicPr/>
          <p:nvPr/>
        </p:nvPicPr>
        <p:blipFill>
          <a:blip r:embed="rId5" cstate="print"/>
          <a:stretch>
            <a:fillRect/>
          </a:stretch>
        </p:blipFill>
        <p:spPr>
          <a:xfrm>
            <a:off x="3165674" y="3317241"/>
            <a:ext cx="533400" cy="1226819"/>
          </a:xfrm>
          <a:prstGeom prst="rect">
            <a:avLst/>
          </a:prstGeom>
        </p:spPr>
      </p:pic>
      <p:sp>
        <p:nvSpPr>
          <p:cNvPr id="24" name="object 24"/>
          <p:cNvSpPr txBox="1"/>
          <p:nvPr/>
        </p:nvSpPr>
        <p:spPr>
          <a:xfrm>
            <a:off x="7400967" y="5002458"/>
            <a:ext cx="1692275" cy="299720"/>
          </a:xfrm>
          <a:prstGeom prst="rect">
            <a:avLst/>
          </a:prstGeom>
        </p:spPr>
        <p:txBody>
          <a:bodyPr vert="horz" wrap="square" lIns="0" tIns="12700" rIns="0" bIns="0" rtlCol="0">
            <a:spAutoFit/>
          </a:bodyPr>
          <a:lstStyle/>
          <a:p>
            <a:pPr marL="38100">
              <a:spcBef>
                <a:spcPts val="100"/>
              </a:spcBef>
            </a:pPr>
            <a:r>
              <a:rPr spc="-1030" dirty="0">
                <a:solidFill>
                  <a:prstClr val="black"/>
                </a:solidFill>
                <a:latin typeface="Cambria Math"/>
                <a:cs typeface="Cambria Math"/>
              </a:rPr>
              <a:t>𝒙</a:t>
            </a:r>
            <a:r>
              <a:rPr sz="2700" spc="975" baseline="1543" dirty="0">
                <a:solidFill>
                  <a:prstClr val="black"/>
                </a:solidFill>
                <a:latin typeface="Cambria Math"/>
                <a:cs typeface="Cambria Math"/>
              </a:rPr>
              <a:t>.</a:t>
            </a:r>
            <a:r>
              <a:rPr sz="2700" spc="165" baseline="1543" dirty="0">
                <a:solidFill>
                  <a:prstClr val="black"/>
                </a:solidFill>
                <a:latin typeface="Cambria Math"/>
                <a:cs typeface="Cambria Math"/>
              </a:rPr>
              <a:t> </a:t>
            </a:r>
            <a:r>
              <a:rPr dirty="0">
                <a:solidFill>
                  <a:prstClr val="black"/>
                </a:solidFill>
                <a:latin typeface="Cambria Math"/>
                <a:cs typeface="Cambria Math"/>
              </a:rPr>
              <a:t>=</a:t>
            </a:r>
            <a:r>
              <a:rPr spc="105" dirty="0">
                <a:solidFill>
                  <a:prstClr val="black"/>
                </a:solidFill>
                <a:latin typeface="Cambria Math"/>
                <a:cs typeface="Cambria Math"/>
              </a:rPr>
              <a:t> </a:t>
            </a:r>
            <a:r>
              <a:rPr spc="-10" dirty="0">
                <a:solidFill>
                  <a:prstClr val="black"/>
                </a:solidFill>
                <a:latin typeface="Cambria Math"/>
                <a:cs typeface="Cambria Math"/>
              </a:rPr>
              <a:t>𝒈</a:t>
            </a:r>
            <a:r>
              <a:rPr dirty="0">
                <a:solidFill>
                  <a:prstClr val="black"/>
                </a:solidFill>
                <a:latin typeface="Cambria Math"/>
                <a:cs typeface="Cambria Math"/>
              </a:rPr>
              <a:t>(</a:t>
            </a:r>
            <a:r>
              <a:rPr spc="-5" dirty="0">
                <a:solidFill>
                  <a:prstClr val="black"/>
                </a:solidFill>
                <a:latin typeface="Cambria Math"/>
                <a:cs typeface="Cambria Math"/>
              </a:rPr>
              <a:t>𝒚</a:t>
            </a:r>
            <a:r>
              <a:rPr dirty="0">
                <a:solidFill>
                  <a:prstClr val="black"/>
                </a:solidFill>
                <a:latin typeface="Cambria Math"/>
                <a:cs typeface="Cambria Math"/>
              </a:rPr>
              <a:t>𝑾</a:t>
            </a:r>
            <a:r>
              <a:rPr sz="1950" spc="-390" baseline="27777" dirty="0">
                <a:solidFill>
                  <a:prstClr val="black"/>
                </a:solidFill>
                <a:latin typeface="Cambria Math"/>
                <a:cs typeface="Cambria Math"/>
              </a:rPr>
              <a:t>1</a:t>
            </a:r>
            <a:r>
              <a:rPr sz="1950" baseline="27777" dirty="0">
                <a:solidFill>
                  <a:prstClr val="black"/>
                </a:solidFill>
                <a:latin typeface="Cambria Math"/>
                <a:cs typeface="Cambria Math"/>
              </a:rPr>
              <a:t> </a:t>
            </a:r>
            <a:r>
              <a:rPr sz="1950" spc="-150" baseline="27777" dirty="0">
                <a:solidFill>
                  <a:prstClr val="black"/>
                </a:solidFill>
                <a:latin typeface="Cambria Math"/>
                <a:cs typeface="Cambria Math"/>
              </a:rPr>
              <a:t> </a:t>
            </a:r>
            <a:r>
              <a:rPr dirty="0">
                <a:solidFill>
                  <a:prstClr val="black"/>
                </a:solidFill>
                <a:latin typeface="Cambria Math"/>
                <a:cs typeface="Cambria Math"/>
              </a:rPr>
              <a:t>+</a:t>
            </a:r>
            <a:r>
              <a:rPr spc="5" dirty="0">
                <a:solidFill>
                  <a:prstClr val="black"/>
                </a:solidFill>
                <a:latin typeface="Cambria Math"/>
                <a:cs typeface="Cambria Math"/>
              </a:rPr>
              <a:t> </a:t>
            </a:r>
            <a:r>
              <a:rPr spc="-5" dirty="0">
                <a:solidFill>
                  <a:prstClr val="black"/>
                </a:solidFill>
                <a:latin typeface="Cambria Math"/>
                <a:cs typeface="Cambria Math"/>
              </a:rPr>
              <a:t>𝒃</a:t>
            </a:r>
            <a:r>
              <a:rPr dirty="0">
                <a:solidFill>
                  <a:prstClr val="black"/>
                </a:solidFill>
                <a:latin typeface="Cambria Math"/>
                <a:cs typeface="Cambria Math"/>
              </a:rPr>
              <a:t>)</a:t>
            </a:r>
            <a:endParaRPr>
              <a:solidFill>
                <a:prstClr val="black"/>
              </a:solidFill>
              <a:latin typeface="Cambria Math"/>
              <a:cs typeface="Cambria Math"/>
            </a:endParaRPr>
          </a:p>
        </p:txBody>
      </p:sp>
      <p:sp>
        <p:nvSpPr>
          <p:cNvPr id="25" name="object 25"/>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19</a:t>
            </a:fld>
            <a:endParaRPr dirty="0">
              <a:solidFill>
                <a:prstClr val="white"/>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5447"/>
            <a:ext cx="170687" cy="177800"/>
          </a:xfrm>
          <a:prstGeom prst="rect">
            <a:avLst/>
          </a:prstGeom>
        </p:spPr>
      </p:pic>
      <p:sp>
        <p:nvSpPr>
          <p:cNvPr id="3" name="object 3"/>
          <p:cNvSpPr txBox="1"/>
          <p:nvPr/>
        </p:nvSpPr>
        <p:spPr>
          <a:xfrm>
            <a:off x="2172080" y="1114235"/>
            <a:ext cx="7030720" cy="1158875"/>
          </a:xfrm>
          <a:prstGeom prst="rect">
            <a:avLst/>
          </a:prstGeom>
        </p:spPr>
        <p:txBody>
          <a:bodyPr vert="horz" wrap="square" lIns="0" tIns="12700" rIns="0" bIns="0" rtlCol="0">
            <a:spAutoFit/>
          </a:bodyPr>
          <a:lstStyle/>
          <a:p>
            <a:pPr marL="50800">
              <a:spcBef>
                <a:spcPts val="100"/>
              </a:spcBef>
            </a:pPr>
            <a:r>
              <a:rPr sz="2400" b="1" spc="-5" dirty="0">
                <a:solidFill>
                  <a:prstClr val="black"/>
                </a:solidFill>
                <a:latin typeface="Arial"/>
                <a:cs typeface="Arial"/>
              </a:rPr>
              <a:t>It</a:t>
            </a:r>
            <a:r>
              <a:rPr sz="2400" b="1" spc="-10" dirty="0">
                <a:solidFill>
                  <a:prstClr val="black"/>
                </a:solidFill>
                <a:latin typeface="Arial"/>
                <a:cs typeface="Arial"/>
              </a:rPr>
              <a:t> </a:t>
            </a:r>
            <a:r>
              <a:rPr sz="2400" b="1" spc="-5" dirty="0">
                <a:solidFill>
                  <a:prstClr val="black"/>
                </a:solidFill>
                <a:latin typeface="Arial"/>
                <a:cs typeface="Arial"/>
              </a:rPr>
              <a:t>is</a:t>
            </a:r>
            <a:r>
              <a:rPr sz="2400" b="1" spc="-10" dirty="0">
                <a:solidFill>
                  <a:prstClr val="black"/>
                </a:solidFill>
                <a:latin typeface="Arial"/>
                <a:cs typeface="Arial"/>
              </a:rPr>
              <a:t> </a:t>
            </a:r>
            <a:r>
              <a:rPr sz="2400" b="1" spc="-5" dirty="0">
                <a:solidFill>
                  <a:prstClr val="black"/>
                </a:solidFill>
                <a:latin typeface="Arial"/>
                <a:cs typeface="Arial"/>
              </a:rPr>
              <a:t>possible </a:t>
            </a:r>
            <a:r>
              <a:rPr sz="2400" b="1" dirty="0">
                <a:solidFill>
                  <a:prstClr val="black"/>
                </a:solidFill>
                <a:latin typeface="Arial"/>
                <a:cs typeface="Arial"/>
              </a:rPr>
              <a:t>to</a:t>
            </a:r>
            <a:r>
              <a:rPr sz="2400" b="1" spc="-15" dirty="0">
                <a:solidFill>
                  <a:prstClr val="black"/>
                </a:solidFill>
                <a:latin typeface="Arial"/>
                <a:cs typeface="Arial"/>
              </a:rPr>
              <a:t> </a:t>
            </a:r>
            <a:r>
              <a:rPr sz="2400" b="1" spc="-5" dirty="0">
                <a:solidFill>
                  <a:prstClr val="black"/>
                </a:solidFill>
                <a:latin typeface="Arial"/>
                <a:cs typeface="Arial"/>
              </a:rPr>
              <a:t>design autoencoder </a:t>
            </a:r>
            <a:r>
              <a:rPr sz="2400" b="1" dirty="0">
                <a:solidFill>
                  <a:prstClr val="black"/>
                </a:solidFill>
                <a:latin typeface="Arial"/>
                <a:cs typeface="Arial"/>
              </a:rPr>
              <a:t>as</a:t>
            </a:r>
            <a:r>
              <a:rPr sz="2400" b="1" spc="-10" dirty="0">
                <a:solidFill>
                  <a:prstClr val="black"/>
                </a:solidFill>
                <a:latin typeface="Arial"/>
                <a:cs typeface="Arial"/>
              </a:rPr>
              <a:t> </a:t>
            </a:r>
            <a:r>
              <a:rPr sz="2400" spc="-170" dirty="0">
                <a:solidFill>
                  <a:prstClr val="black"/>
                </a:solidFill>
                <a:latin typeface="Cambria Math"/>
                <a:cs typeface="Cambria Math"/>
              </a:rPr>
              <a:t>𝑾</a:t>
            </a:r>
            <a:r>
              <a:rPr sz="2625" spc="-254" baseline="28571" dirty="0">
                <a:solidFill>
                  <a:prstClr val="black"/>
                </a:solidFill>
                <a:latin typeface="Cambria Math"/>
                <a:cs typeface="Cambria Math"/>
              </a:rPr>
              <a:t>1</a:t>
            </a:r>
            <a:r>
              <a:rPr sz="2625" spc="240" baseline="28571" dirty="0">
                <a:solidFill>
                  <a:prstClr val="black"/>
                </a:solidFill>
                <a:latin typeface="Cambria Math"/>
                <a:cs typeface="Cambria Math"/>
              </a:rPr>
              <a:t> </a:t>
            </a:r>
            <a:r>
              <a:rPr sz="2400" dirty="0">
                <a:solidFill>
                  <a:prstClr val="black"/>
                </a:solidFill>
                <a:latin typeface="Cambria Math"/>
                <a:cs typeface="Cambria Math"/>
              </a:rPr>
              <a:t>=</a:t>
            </a:r>
            <a:r>
              <a:rPr sz="2400" spc="130" dirty="0">
                <a:solidFill>
                  <a:prstClr val="black"/>
                </a:solidFill>
                <a:latin typeface="Cambria Math"/>
                <a:cs typeface="Cambria Math"/>
              </a:rPr>
              <a:t> </a:t>
            </a:r>
            <a:r>
              <a:rPr sz="2400" spc="5" dirty="0">
                <a:solidFill>
                  <a:prstClr val="black"/>
                </a:solidFill>
                <a:latin typeface="Cambria Math"/>
                <a:cs typeface="Cambria Math"/>
              </a:rPr>
              <a:t>𝑾</a:t>
            </a:r>
            <a:r>
              <a:rPr sz="2625" spc="7" baseline="28571" dirty="0">
                <a:solidFill>
                  <a:prstClr val="black"/>
                </a:solidFill>
                <a:latin typeface="Cambria Math"/>
                <a:cs typeface="Cambria Math"/>
              </a:rPr>
              <a:t>𝑻</a:t>
            </a:r>
            <a:endParaRPr sz="2625" baseline="28571">
              <a:solidFill>
                <a:prstClr val="black"/>
              </a:solidFill>
              <a:latin typeface="Cambria Math"/>
              <a:cs typeface="Cambria Math"/>
            </a:endParaRPr>
          </a:p>
          <a:p>
            <a:pPr>
              <a:spcBef>
                <a:spcPts val="15"/>
              </a:spcBef>
            </a:pPr>
            <a:endParaRPr sz="3500">
              <a:solidFill>
                <a:prstClr val="black"/>
              </a:solidFill>
              <a:latin typeface="Cambria Math"/>
              <a:cs typeface="Cambria Math"/>
            </a:endParaRPr>
          </a:p>
          <a:p>
            <a:pPr marL="3164205">
              <a:spcBef>
                <a:spcPts val="5"/>
              </a:spcBef>
            </a:pPr>
            <a:r>
              <a:rPr sz="1600" b="1" spc="-5" dirty="0">
                <a:solidFill>
                  <a:prstClr val="black"/>
                </a:solidFill>
                <a:latin typeface="Arial"/>
                <a:cs typeface="Arial"/>
              </a:rPr>
              <a:t>Exactly</a:t>
            </a:r>
            <a:r>
              <a:rPr sz="1600" b="1" spc="-20" dirty="0">
                <a:solidFill>
                  <a:prstClr val="black"/>
                </a:solidFill>
                <a:latin typeface="Arial"/>
                <a:cs typeface="Arial"/>
              </a:rPr>
              <a:t> </a:t>
            </a:r>
            <a:r>
              <a:rPr sz="1600" b="1" spc="-5" dirty="0">
                <a:solidFill>
                  <a:prstClr val="black"/>
                </a:solidFill>
                <a:latin typeface="Arial"/>
                <a:cs typeface="Arial"/>
              </a:rPr>
              <a:t>same</a:t>
            </a:r>
            <a:r>
              <a:rPr sz="1600" b="1" spc="-20" dirty="0">
                <a:solidFill>
                  <a:prstClr val="black"/>
                </a:solidFill>
                <a:latin typeface="Arial"/>
                <a:cs typeface="Arial"/>
              </a:rPr>
              <a:t> </a:t>
            </a:r>
            <a:r>
              <a:rPr sz="1600" b="1" spc="-5" dirty="0">
                <a:solidFill>
                  <a:prstClr val="black"/>
                </a:solidFill>
                <a:latin typeface="Arial"/>
                <a:cs typeface="Arial"/>
              </a:rPr>
              <a:t>value</a:t>
            </a:r>
            <a:endParaRPr sz="1600">
              <a:solidFill>
                <a:prstClr val="black"/>
              </a:solidFill>
              <a:latin typeface="Arial"/>
              <a:cs typeface="Arial"/>
            </a:endParaRPr>
          </a:p>
        </p:txBody>
      </p:sp>
      <p:pic>
        <p:nvPicPr>
          <p:cNvPr id="4" name="object 4"/>
          <p:cNvPicPr/>
          <p:nvPr/>
        </p:nvPicPr>
        <p:blipFill>
          <a:blip r:embed="rId3" cstate="print"/>
          <a:stretch>
            <a:fillRect/>
          </a:stretch>
        </p:blipFill>
        <p:spPr>
          <a:xfrm>
            <a:off x="1536700" y="67734"/>
            <a:ext cx="4119032" cy="918633"/>
          </a:xfrm>
          <a:prstGeom prst="rect">
            <a:avLst/>
          </a:prstGeom>
        </p:spPr>
      </p:pic>
      <p:sp>
        <p:nvSpPr>
          <p:cNvPr id="5" name="object 5"/>
          <p:cNvSpPr txBox="1">
            <a:spLocks noGrp="1"/>
          </p:cNvSpPr>
          <p:nvPr>
            <p:ph type="title"/>
          </p:nvPr>
        </p:nvSpPr>
        <p:spPr>
          <a:xfrm>
            <a:off x="1785621" y="183388"/>
            <a:ext cx="3592829"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Parameter</a:t>
            </a:r>
            <a:r>
              <a:rPr sz="3200" spc="-60" dirty="0">
                <a:solidFill>
                  <a:srgbClr val="004990"/>
                </a:solidFill>
              </a:rPr>
              <a:t> </a:t>
            </a:r>
            <a:r>
              <a:rPr sz="3200" spc="-5" dirty="0">
                <a:solidFill>
                  <a:srgbClr val="004990"/>
                </a:solidFill>
              </a:rPr>
              <a:t>sharing</a:t>
            </a:r>
            <a:endParaRPr sz="3200"/>
          </a:p>
        </p:txBody>
      </p:sp>
      <p:grpSp>
        <p:nvGrpSpPr>
          <p:cNvPr id="6" name="object 6"/>
          <p:cNvGrpSpPr/>
          <p:nvPr/>
        </p:nvGrpSpPr>
        <p:grpSpPr>
          <a:xfrm>
            <a:off x="4170318" y="2324100"/>
            <a:ext cx="749300" cy="749300"/>
            <a:chOff x="2646318" y="2324100"/>
            <a:chExt cx="749300" cy="749300"/>
          </a:xfrm>
        </p:grpSpPr>
        <p:sp>
          <p:nvSpPr>
            <p:cNvPr id="7" name="object 7"/>
            <p:cNvSpPr/>
            <p:nvPr/>
          </p:nvSpPr>
          <p:spPr>
            <a:xfrm>
              <a:off x="2659018"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8" name="object 8"/>
            <p:cNvSpPr/>
            <p:nvPr/>
          </p:nvSpPr>
          <p:spPr>
            <a:xfrm>
              <a:off x="2659018"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9" name="object 9"/>
          <p:cNvSpPr txBox="1"/>
          <p:nvPr/>
        </p:nvSpPr>
        <p:spPr>
          <a:xfrm>
            <a:off x="4386059" y="2540444"/>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grpSp>
        <p:nvGrpSpPr>
          <p:cNvPr id="10" name="object 10"/>
          <p:cNvGrpSpPr/>
          <p:nvPr/>
        </p:nvGrpSpPr>
        <p:grpSpPr>
          <a:xfrm>
            <a:off x="4170318" y="3556000"/>
            <a:ext cx="749300" cy="749300"/>
            <a:chOff x="2646318" y="3556000"/>
            <a:chExt cx="749300" cy="749300"/>
          </a:xfrm>
        </p:grpSpPr>
        <p:sp>
          <p:nvSpPr>
            <p:cNvPr id="11" name="object 11"/>
            <p:cNvSpPr/>
            <p:nvPr/>
          </p:nvSpPr>
          <p:spPr>
            <a:xfrm>
              <a:off x="2659018"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2" name="object 12"/>
            <p:cNvSpPr/>
            <p:nvPr/>
          </p:nvSpPr>
          <p:spPr>
            <a:xfrm>
              <a:off x="2659018"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13" name="object 13"/>
          <p:cNvSpPr txBox="1"/>
          <p:nvPr/>
        </p:nvSpPr>
        <p:spPr>
          <a:xfrm>
            <a:off x="4354499" y="3772344"/>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grpSp>
        <p:nvGrpSpPr>
          <p:cNvPr id="14" name="object 14"/>
          <p:cNvGrpSpPr/>
          <p:nvPr/>
        </p:nvGrpSpPr>
        <p:grpSpPr>
          <a:xfrm>
            <a:off x="4170318" y="4787900"/>
            <a:ext cx="749300" cy="749300"/>
            <a:chOff x="2646318" y="4787900"/>
            <a:chExt cx="749300" cy="749300"/>
          </a:xfrm>
        </p:grpSpPr>
        <p:sp>
          <p:nvSpPr>
            <p:cNvPr id="15" name="object 15"/>
            <p:cNvSpPr/>
            <p:nvPr/>
          </p:nvSpPr>
          <p:spPr>
            <a:xfrm>
              <a:off x="2659018"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6" name="object 16"/>
            <p:cNvSpPr/>
            <p:nvPr/>
          </p:nvSpPr>
          <p:spPr>
            <a:xfrm>
              <a:off x="2659018"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17" name="object 17"/>
          <p:cNvSpPr txBox="1"/>
          <p:nvPr/>
        </p:nvSpPr>
        <p:spPr>
          <a:xfrm>
            <a:off x="4354499" y="5004244"/>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grpSp>
        <p:nvGrpSpPr>
          <p:cNvPr id="18" name="object 18"/>
          <p:cNvGrpSpPr/>
          <p:nvPr/>
        </p:nvGrpSpPr>
        <p:grpSpPr>
          <a:xfrm>
            <a:off x="5770517" y="2324100"/>
            <a:ext cx="2349500" cy="2705100"/>
            <a:chOff x="4246517" y="2324100"/>
            <a:chExt cx="2349500" cy="2705100"/>
          </a:xfrm>
        </p:grpSpPr>
        <p:sp>
          <p:nvSpPr>
            <p:cNvPr id="19" name="object 19"/>
            <p:cNvSpPr/>
            <p:nvPr/>
          </p:nvSpPr>
          <p:spPr>
            <a:xfrm>
              <a:off x="4259217" y="2849479"/>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0" name="object 20"/>
            <p:cNvSpPr/>
            <p:nvPr/>
          </p:nvSpPr>
          <p:spPr>
            <a:xfrm>
              <a:off x="4259217" y="2849479"/>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1" name="object 21"/>
            <p:cNvSpPr/>
            <p:nvPr/>
          </p:nvSpPr>
          <p:spPr>
            <a:xfrm>
              <a:off x="4259217" y="4292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2" name="object 22"/>
            <p:cNvSpPr/>
            <p:nvPr/>
          </p:nvSpPr>
          <p:spPr>
            <a:xfrm>
              <a:off x="4259217" y="4292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3" name="object 23"/>
            <p:cNvSpPr/>
            <p:nvPr/>
          </p:nvSpPr>
          <p:spPr>
            <a:xfrm>
              <a:off x="5859417"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4" name="object 24"/>
            <p:cNvSpPr/>
            <p:nvPr/>
          </p:nvSpPr>
          <p:spPr>
            <a:xfrm>
              <a:off x="5859417"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25" name="object 25"/>
          <p:cNvSpPr txBox="1"/>
          <p:nvPr/>
        </p:nvSpPr>
        <p:spPr>
          <a:xfrm>
            <a:off x="7554899" y="2540444"/>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grpSp>
        <p:nvGrpSpPr>
          <p:cNvPr id="26" name="object 26"/>
          <p:cNvGrpSpPr/>
          <p:nvPr/>
        </p:nvGrpSpPr>
        <p:grpSpPr>
          <a:xfrm>
            <a:off x="7370717" y="3556000"/>
            <a:ext cx="749300" cy="749300"/>
            <a:chOff x="5846717" y="3556000"/>
            <a:chExt cx="749300" cy="749300"/>
          </a:xfrm>
        </p:grpSpPr>
        <p:sp>
          <p:nvSpPr>
            <p:cNvPr id="27" name="object 27"/>
            <p:cNvSpPr/>
            <p:nvPr/>
          </p:nvSpPr>
          <p:spPr>
            <a:xfrm>
              <a:off x="5859417"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8" name="object 28"/>
            <p:cNvSpPr/>
            <p:nvPr/>
          </p:nvSpPr>
          <p:spPr>
            <a:xfrm>
              <a:off x="5859417"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29" name="object 29"/>
          <p:cNvSpPr txBox="1"/>
          <p:nvPr/>
        </p:nvSpPr>
        <p:spPr>
          <a:xfrm>
            <a:off x="7554899" y="3772344"/>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grpSp>
        <p:nvGrpSpPr>
          <p:cNvPr id="30" name="object 30"/>
          <p:cNvGrpSpPr/>
          <p:nvPr/>
        </p:nvGrpSpPr>
        <p:grpSpPr>
          <a:xfrm>
            <a:off x="7370717" y="4787900"/>
            <a:ext cx="749300" cy="749300"/>
            <a:chOff x="5846717" y="4787900"/>
            <a:chExt cx="749300" cy="749300"/>
          </a:xfrm>
        </p:grpSpPr>
        <p:sp>
          <p:nvSpPr>
            <p:cNvPr id="31" name="object 31"/>
            <p:cNvSpPr/>
            <p:nvPr/>
          </p:nvSpPr>
          <p:spPr>
            <a:xfrm>
              <a:off x="5859417"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32" name="object 32"/>
            <p:cNvSpPr/>
            <p:nvPr/>
          </p:nvSpPr>
          <p:spPr>
            <a:xfrm>
              <a:off x="5859417"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33" name="object 33"/>
          <p:cNvSpPr txBox="1"/>
          <p:nvPr/>
        </p:nvSpPr>
        <p:spPr>
          <a:xfrm>
            <a:off x="7554899" y="5004244"/>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grpSp>
        <p:nvGrpSpPr>
          <p:cNvPr id="34" name="object 34"/>
          <p:cNvGrpSpPr/>
          <p:nvPr/>
        </p:nvGrpSpPr>
        <p:grpSpPr>
          <a:xfrm>
            <a:off x="4897298" y="2292730"/>
            <a:ext cx="2489835" cy="2874010"/>
            <a:chOff x="3373297" y="2292730"/>
            <a:chExt cx="2489835" cy="2874010"/>
          </a:xfrm>
        </p:grpSpPr>
        <p:sp>
          <p:nvSpPr>
            <p:cNvPr id="35" name="object 35"/>
            <p:cNvSpPr/>
            <p:nvPr/>
          </p:nvSpPr>
          <p:spPr>
            <a:xfrm>
              <a:off x="3373297" y="2682307"/>
              <a:ext cx="886460" cy="529590"/>
            </a:xfrm>
            <a:custGeom>
              <a:avLst/>
              <a:gdLst/>
              <a:ahLst/>
              <a:cxnLst/>
              <a:rect l="l" t="t" r="r" b="b"/>
              <a:pathLst>
                <a:path w="886460" h="529589">
                  <a:moveTo>
                    <a:pt x="709832" y="404031"/>
                  </a:moveTo>
                  <a:lnTo>
                    <a:pt x="690592" y="436916"/>
                  </a:lnTo>
                  <a:lnTo>
                    <a:pt x="777643" y="487846"/>
                  </a:lnTo>
                  <a:lnTo>
                    <a:pt x="758404" y="520731"/>
                  </a:lnTo>
                  <a:lnTo>
                    <a:pt x="885920" y="529122"/>
                  </a:lnTo>
                  <a:lnTo>
                    <a:pt x="837565" y="454960"/>
                  </a:lnTo>
                  <a:lnTo>
                    <a:pt x="796884" y="454960"/>
                  </a:lnTo>
                  <a:lnTo>
                    <a:pt x="709832" y="404031"/>
                  </a:lnTo>
                  <a:close/>
                </a:path>
                <a:path w="886460" h="529589">
                  <a:moveTo>
                    <a:pt x="816123" y="422075"/>
                  </a:moveTo>
                  <a:lnTo>
                    <a:pt x="796884" y="454960"/>
                  </a:lnTo>
                  <a:lnTo>
                    <a:pt x="837565" y="454960"/>
                  </a:lnTo>
                  <a:lnTo>
                    <a:pt x="816123" y="422075"/>
                  </a:lnTo>
                  <a:close/>
                </a:path>
                <a:path w="886460" h="529589">
                  <a:moveTo>
                    <a:pt x="479635" y="269354"/>
                  </a:moveTo>
                  <a:lnTo>
                    <a:pt x="460395" y="302239"/>
                  </a:lnTo>
                  <a:lnTo>
                    <a:pt x="591936" y="379197"/>
                  </a:lnTo>
                  <a:lnTo>
                    <a:pt x="611176" y="346312"/>
                  </a:lnTo>
                  <a:lnTo>
                    <a:pt x="479635" y="269354"/>
                  </a:lnTo>
                  <a:close/>
                </a:path>
                <a:path w="886460" h="529589">
                  <a:moveTo>
                    <a:pt x="249438" y="134677"/>
                  </a:moveTo>
                  <a:lnTo>
                    <a:pt x="230197" y="167562"/>
                  </a:lnTo>
                  <a:lnTo>
                    <a:pt x="361739" y="244520"/>
                  </a:lnTo>
                  <a:lnTo>
                    <a:pt x="380979" y="211635"/>
                  </a:lnTo>
                  <a:lnTo>
                    <a:pt x="249438" y="134677"/>
                  </a:lnTo>
                  <a:close/>
                </a:path>
                <a:path w="886460" h="529589">
                  <a:moveTo>
                    <a:pt x="19240" y="0"/>
                  </a:moveTo>
                  <a:lnTo>
                    <a:pt x="0" y="32885"/>
                  </a:lnTo>
                  <a:lnTo>
                    <a:pt x="131541" y="109843"/>
                  </a:lnTo>
                  <a:lnTo>
                    <a:pt x="150782" y="76958"/>
                  </a:lnTo>
                  <a:lnTo>
                    <a:pt x="19240" y="0"/>
                  </a:lnTo>
                  <a:close/>
                </a:path>
              </a:pathLst>
            </a:custGeom>
            <a:solidFill>
              <a:srgbClr val="FF0000"/>
            </a:solidFill>
          </p:spPr>
          <p:txBody>
            <a:bodyPr wrap="square" lIns="0" tIns="0" rIns="0" bIns="0" rtlCol="0"/>
            <a:lstStyle/>
            <a:p>
              <a:endParaRPr>
                <a:solidFill>
                  <a:prstClr val="black"/>
                </a:solidFill>
                <a:latin typeface="Calibri"/>
              </a:endParaRPr>
            </a:p>
          </p:txBody>
        </p:sp>
        <p:sp>
          <p:nvSpPr>
            <p:cNvPr id="36" name="object 36"/>
            <p:cNvSpPr/>
            <p:nvPr/>
          </p:nvSpPr>
          <p:spPr>
            <a:xfrm>
              <a:off x="3378568" y="2696806"/>
              <a:ext cx="2484755" cy="2470150"/>
            </a:xfrm>
            <a:custGeom>
              <a:avLst/>
              <a:gdLst/>
              <a:ahLst/>
              <a:cxnLst/>
              <a:rect l="l" t="t" r="r" b="b"/>
              <a:pathLst>
                <a:path w="2484754" h="2470150">
                  <a:moveTo>
                    <a:pt x="24269" y="34772"/>
                  </a:moveTo>
                  <a:lnTo>
                    <a:pt x="8686" y="0"/>
                  </a:lnTo>
                  <a:lnTo>
                    <a:pt x="0" y="3898"/>
                  </a:lnTo>
                  <a:lnTo>
                    <a:pt x="15570" y="38671"/>
                  </a:lnTo>
                  <a:lnTo>
                    <a:pt x="24269" y="34772"/>
                  </a:lnTo>
                  <a:close/>
                </a:path>
                <a:path w="2484754" h="2470150">
                  <a:moveTo>
                    <a:pt x="36817" y="1213358"/>
                  </a:moveTo>
                  <a:lnTo>
                    <a:pt x="30772" y="1205992"/>
                  </a:lnTo>
                  <a:lnTo>
                    <a:pt x="1320" y="1230172"/>
                  </a:lnTo>
                  <a:lnTo>
                    <a:pt x="4343" y="1233855"/>
                  </a:lnTo>
                  <a:lnTo>
                    <a:pt x="1308" y="1237526"/>
                  </a:lnTo>
                  <a:lnTo>
                    <a:pt x="30683" y="1261783"/>
                  </a:lnTo>
                  <a:lnTo>
                    <a:pt x="36753" y="1254442"/>
                  </a:lnTo>
                  <a:lnTo>
                    <a:pt x="11836" y="1233868"/>
                  </a:lnTo>
                  <a:lnTo>
                    <a:pt x="36817" y="1213358"/>
                  </a:lnTo>
                  <a:close/>
                </a:path>
                <a:path w="2484754" h="2470150">
                  <a:moveTo>
                    <a:pt x="39700" y="2450757"/>
                  </a:moveTo>
                  <a:lnTo>
                    <a:pt x="34912" y="2442514"/>
                  </a:lnTo>
                  <a:lnTo>
                    <a:pt x="14732" y="2454224"/>
                  </a:lnTo>
                  <a:lnTo>
                    <a:pt x="24295" y="2432939"/>
                  </a:lnTo>
                  <a:lnTo>
                    <a:pt x="15608" y="2429040"/>
                  </a:lnTo>
                  <a:lnTo>
                    <a:pt x="0" y="2463800"/>
                  </a:lnTo>
                  <a:lnTo>
                    <a:pt x="4343" y="2465755"/>
                  </a:lnTo>
                  <a:lnTo>
                    <a:pt x="6731" y="2469870"/>
                  </a:lnTo>
                  <a:lnTo>
                    <a:pt x="39700" y="2450757"/>
                  </a:lnTo>
                  <a:close/>
                </a:path>
                <a:path w="2484754" h="2470150">
                  <a:moveTo>
                    <a:pt x="51536" y="95618"/>
                  </a:moveTo>
                  <a:lnTo>
                    <a:pt x="35953" y="60845"/>
                  </a:lnTo>
                  <a:lnTo>
                    <a:pt x="27254" y="64744"/>
                  </a:lnTo>
                  <a:lnTo>
                    <a:pt x="42837" y="99517"/>
                  </a:lnTo>
                  <a:lnTo>
                    <a:pt x="51536" y="95618"/>
                  </a:lnTo>
                  <a:close/>
                </a:path>
                <a:path w="2484754" h="2470150">
                  <a:moveTo>
                    <a:pt x="51612" y="2372118"/>
                  </a:moveTo>
                  <a:lnTo>
                    <a:pt x="42926" y="2368219"/>
                  </a:lnTo>
                  <a:lnTo>
                    <a:pt x="27317" y="2402979"/>
                  </a:lnTo>
                  <a:lnTo>
                    <a:pt x="36004" y="2406878"/>
                  </a:lnTo>
                  <a:lnTo>
                    <a:pt x="51612" y="2372118"/>
                  </a:lnTo>
                  <a:close/>
                </a:path>
                <a:path w="2484754" h="2470150">
                  <a:moveTo>
                    <a:pt x="78790" y="156464"/>
                  </a:moveTo>
                  <a:lnTo>
                    <a:pt x="63220" y="121691"/>
                  </a:lnTo>
                  <a:lnTo>
                    <a:pt x="54521" y="125590"/>
                  </a:lnTo>
                  <a:lnTo>
                    <a:pt x="70104" y="160362"/>
                  </a:lnTo>
                  <a:lnTo>
                    <a:pt x="78790" y="156464"/>
                  </a:lnTo>
                  <a:close/>
                </a:path>
                <a:path w="2484754" h="2470150">
                  <a:moveTo>
                    <a:pt x="78930" y="2311298"/>
                  </a:moveTo>
                  <a:lnTo>
                    <a:pt x="70243" y="2307399"/>
                  </a:lnTo>
                  <a:lnTo>
                    <a:pt x="54635" y="2342159"/>
                  </a:lnTo>
                  <a:lnTo>
                    <a:pt x="63322" y="2346058"/>
                  </a:lnTo>
                  <a:lnTo>
                    <a:pt x="78930" y="2311298"/>
                  </a:lnTo>
                  <a:close/>
                </a:path>
                <a:path w="2484754" h="2470150">
                  <a:moveTo>
                    <a:pt x="88150" y="1296911"/>
                  </a:moveTo>
                  <a:lnTo>
                    <a:pt x="58775" y="1272641"/>
                  </a:lnTo>
                  <a:lnTo>
                    <a:pt x="52717" y="1279982"/>
                  </a:lnTo>
                  <a:lnTo>
                    <a:pt x="82092" y="1304251"/>
                  </a:lnTo>
                  <a:lnTo>
                    <a:pt x="88150" y="1296911"/>
                  </a:lnTo>
                  <a:close/>
                </a:path>
                <a:path w="2484754" h="2470150">
                  <a:moveTo>
                    <a:pt x="88353" y="1171054"/>
                  </a:moveTo>
                  <a:lnTo>
                    <a:pt x="82308" y="1163701"/>
                  </a:lnTo>
                  <a:lnTo>
                    <a:pt x="52857" y="1187869"/>
                  </a:lnTo>
                  <a:lnTo>
                    <a:pt x="58902" y="1195235"/>
                  </a:lnTo>
                  <a:lnTo>
                    <a:pt x="88353" y="1171054"/>
                  </a:lnTo>
                  <a:close/>
                </a:path>
                <a:path w="2484754" h="2470150">
                  <a:moveTo>
                    <a:pt x="97383" y="2417318"/>
                  </a:moveTo>
                  <a:lnTo>
                    <a:pt x="92595" y="2409075"/>
                  </a:lnTo>
                  <a:lnTo>
                    <a:pt x="59639" y="2428189"/>
                  </a:lnTo>
                  <a:lnTo>
                    <a:pt x="64414" y="2436431"/>
                  </a:lnTo>
                  <a:lnTo>
                    <a:pt x="97383" y="2417318"/>
                  </a:lnTo>
                  <a:close/>
                </a:path>
                <a:path w="2484754" h="2470150">
                  <a:moveTo>
                    <a:pt x="106057" y="217309"/>
                  </a:moveTo>
                  <a:lnTo>
                    <a:pt x="90474" y="182537"/>
                  </a:lnTo>
                  <a:lnTo>
                    <a:pt x="81788" y="186436"/>
                  </a:lnTo>
                  <a:lnTo>
                    <a:pt x="97358" y="221208"/>
                  </a:lnTo>
                  <a:lnTo>
                    <a:pt x="106057" y="217309"/>
                  </a:lnTo>
                  <a:close/>
                </a:path>
                <a:path w="2484754" h="2470150">
                  <a:moveTo>
                    <a:pt x="106248" y="2250478"/>
                  </a:moveTo>
                  <a:lnTo>
                    <a:pt x="97561" y="2246579"/>
                  </a:lnTo>
                  <a:lnTo>
                    <a:pt x="81953" y="2281326"/>
                  </a:lnTo>
                  <a:lnTo>
                    <a:pt x="90639" y="2285238"/>
                  </a:lnTo>
                  <a:lnTo>
                    <a:pt x="106248" y="2250478"/>
                  </a:lnTo>
                  <a:close/>
                </a:path>
                <a:path w="2484754" h="2470150">
                  <a:moveTo>
                    <a:pt x="133324" y="278155"/>
                  </a:moveTo>
                  <a:lnTo>
                    <a:pt x="117741" y="243382"/>
                  </a:lnTo>
                  <a:lnTo>
                    <a:pt x="109042" y="247281"/>
                  </a:lnTo>
                  <a:lnTo>
                    <a:pt x="124625" y="282054"/>
                  </a:lnTo>
                  <a:lnTo>
                    <a:pt x="133324" y="278155"/>
                  </a:lnTo>
                  <a:close/>
                </a:path>
                <a:path w="2484754" h="2470150">
                  <a:moveTo>
                    <a:pt x="133565" y="2189657"/>
                  </a:moveTo>
                  <a:lnTo>
                    <a:pt x="124879" y="2185759"/>
                  </a:lnTo>
                  <a:lnTo>
                    <a:pt x="109270" y="2220506"/>
                  </a:lnTo>
                  <a:lnTo>
                    <a:pt x="117957" y="2224405"/>
                  </a:lnTo>
                  <a:lnTo>
                    <a:pt x="133565" y="2189657"/>
                  </a:lnTo>
                  <a:close/>
                </a:path>
                <a:path w="2484754" h="2470150">
                  <a:moveTo>
                    <a:pt x="139560" y="1339367"/>
                  </a:moveTo>
                  <a:lnTo>
                    <a:pt x="110185" y="1315110"/>
                  </a:lnTo>
                  <a:lnTo>
                    <a:pt x="104114" y="1322451"/>
                  </a:lnTo>
                  <a:lnTo>
                    <a:pt x="133489" y="1346708"/>
                  </a:lnTo>
                  <a:lnTo>
                    <a:pt x="139560" y="1339367"/>
                  </a:lnTo>
                  <a:close/>
                </a:path>
                <a:path w="2484754" h="2470150">
                  <a:moveTo>
                    <a:pt x="139890" y="1128763"/>
                  </a:moveTo>
                  <a:lnTo>
                    <a:pt x="133845" y="1121397"/>
                  </a:lnTo>
                  <a:lnTo>
                    <a:pt x="104394" y="1145565"/>
                  </a:lnTo>
                  <a:lnTo>
                    <a:pt x="110439" y="1152931"/>
                  </a:lnTo>
                  <a:lnTo>
                    <a:pt x="139890" y="1128763"/>
                  </a:lnTo>
                  <a:close/>
                </a:path>
                <a:path w="2484754" h="2470150">
                  <a:moveTo>
                    <a:pt x="155067" y="2383879"/>
                  </a:moveTo>
                  <a:lnTo>
                    <a:pt x="150279" y="2375636"/>
                  </a:lnTo>
                  <a:lnTo>
                    <a:pt x="117322" y="2394750"/>
                  </a:lnTo>
                  <a:lnTo>
                    <a:pt x="122097" y="2402992"/>
                  </a:lnTo>
                  <a:lnTo>
                    <a:pt x="155067" y="2383879"/>
                  </a:lnTo>
                  <a:close/>
                </a:path>
                <a:path w="2484754" h="2470150">
                  <a:moveTo>
                    <a:pt x="160578" y="339001"/>
                  </a:moveTo>
                  <a:lnTo>
                    <a:pt x="145008" y="304228"/>
                  </a:lnTo>
                  <a:lnTo>
                    <a:pt x="136309" y="308127"/>
                  </a:lnTo>
                  <a:lnTo>
                    <a:pt x="151892" y="342900"/>
                  </a:lnTo>
                  <a:lnTo>
                    <a:pt x="160578" y="339001"/>
                  </a:lnTo>
                  <a:close/>
                </a:path>
                <a:path w="2484754" h="2470150">
                  <a:moveTo>
                    <a:pt x="160883" y="2128837"/>
                  </a:moveTo>
                  <a:lnTo>
                    <a:pt x="152196" y="2124926"/>
                  </a:lnTo>
                  <a:lnTo>
                    <a:pt x="136588" y="2159685"/>
                  </a:lnTo>
                  <a:lnTo>
                    <a:pt x="145275" y="2163584"/>
                  </a:lnTo>
                  <a:lnTo>
                    <a:pt x="160883" y="2128837"/>
                  </a:lnTo>
                  <a:close/>
                </a:path>
                <a:path w="2484754" h="2470150">
                  <a:moveTo>
                    <a:pt x="187845" y="399846"/>
                  </a:moveTo>
                  <a:lnTo>
                    <a:pt x="172262" y="365086"/>
                  </a:lnTo>
                  <a:lnTo>
                    <a:pt x="163576" y="368973"/>
                  </a:lnTo>
                  <a:lnTo>
                    <a:pt x="179146" y="403745"/>
                  </a:lnTo>
                  <a:lnTo>
                    <a:pt x="187845" y="399846"/>
                  </a:lnTo>
                  <a:close/>
                </a:path>
                <a:path w="2484754" h="2470150">
                  <a:moveTo>
                    <a:pt x="188201" y="2068017"/>
                  </a:moveTo>
                  <a:lnTo>
                    <a:pt x="179514" y="2064105"/>
                  </a:lnTo>
                  <a:lnTo>
                    <a:pt x="163906" y="2098865"/>
                  </a:lnTo>
                  <a:lnTo>
                    <a:pt x="172593" y="2102764"/>
                  </a:lnTo>
                  <a:lnTo>
                    <a:pt x="188201" y="2068017"/>
                  </a:lnTo>
                  <a:close/>
                </a:path>
                <a:path w="2484754" h="2470150">
                  <a:moveTo>
                    <a:pt x="190957" y="1381836"/>
                  </a:moveTo>
                  <a:lnTo>
                    <a:pt x="161594" y="1357566"/>
                  </a:lnTo>
                  <a:lnTo>
                    <a:pt x="155524" y="1364907"/>
                  </a:lnTo>
                  <a:lnTo>
                    <a:pt x="184899" y="1389176"/>
                  </a:lnTo>
                  <a:lnTo>
                    <a:pt x="190957" y="1381836"/>
                  </a:lnTo>
                  <a:close/>
                </a:path>
                <a:path w="2484754" h="2470150">
                  <a:moveTo>
                    <a:pt x="191427" y="1086459"/>
                  </a:moveTo>
                  <a:lnTo>
                    <a:pt x="185394" y="1079093"/>
                  </a:lnTo>
                  <a:lnTo>
                    <a:pt x="155943" y="1103261"/>
                  </a:lnTo>
                  <a:lnTo>
                    <a:pt x="161975" y="1110627"/>
                  </a:lnTo>
                  <a:lnTo>
                    <a:pt x="191427" y="1086459"/>
                  </a:lnTo>
                  <a:close/>
                </a:path>
                <a:path w="2484754" h="2470150">
                  <a:moveTo>
                    <a:pt x="212750" y="2350439"/>
                  </a:moveTo>
                  <a:lnTo>
                    <a:pt x="207962" y="2342197"/>
                  </a:lnTo>
                  <a:lnTo>
                    <a:pt x="175006" y="2361311"/>
                  </a:lnTo>
                  <a:lnTo>
                    <a:pt x="179781" y="2369553"/>
                  </a:lnTo>
                  <a:lnTo>
                    <a:pt x="212750" y="2350439"/>
                  </a:lnTo>
                  <a:close/>
                </a:path>
                <a:path w="2484754" h="2470150">
                  <a:moveTo>
                    <a:pt x="215099" y="460692"/>
                  </a:moveTo>
                  <a:lnTo>
                    <a:pt x="199529" y="425932"/>
                  </a:lnTo>
                  <a:lnTo>
                    <a:pt x="190830" y="429818"/>
                  </a:lnTo>
                  <a:lnTo>
                    <a:pt x="206413" y="464591"/>
                  </a:lnTo>
                  <a:lnTo>
                    <a:pt x="215099" y="460692"/>
                  </a:lnTo>
                  <a:close/>
                </a:path>
                <a:path w="2484754" h="2470150">
                  <a:moveTo>
                    <a:pt x="215519" y="2007184"/>
                  </a:moveTo>
                  <a:lnTo>
                    <a:pt x="206832" y="2003285"/>
                  </a:lnTo>
                  <a:lnTo>
                    <a:pt x="191223" y="2038045"/>
                  </a:lnTo>
                  <a:lnTo>
                    <a:pt x="199910" y="2041944"/>
                  </a:lnTo>
                  <a:lnTo>
                    <a:pt x="215519" y="2007184"/>
                  </a:lnTo>
                  <a:close/>
                </a:path>
                <a:path w="2484754" h="2470150">
                  <a:moveTo>
                    <a:pt x="242366" y="1424292"/>
                  </a:moveTo>
                  <a:lnTo>
                    <a:pt x="212991" y="1400035"/>
                  </a:lnTo>
                  <a:lnTo>
                    <a:pt x="206921" y="1407375"/>
                  </a:lnTo>
                  <a:lnTo>
                    <a:pt x="236296" y="1431645"/>
                  </a:lnTo>
                  <a:lnTo>
                    <a:pt x="242366" y="1424292"/>
                  </a:lnTo>
                  <a:close/>
                </a:path>
                <a:path w="2484754" h="2470150">
                  <a:moveTo>
                    <a:pt x="242366" y="521538"/>
                  </a:moveTo>
                  <a:lnTo>
                    <a:pt x="226783" y="486778"/>
                  </a:lnTo>
                  <a:lnTo>
                    <a:pt x="218097" y="490664"/>
                  </a:lnTo>
                  <a:lnTo>
                    <a:pt x="233680" y="525437"/>
                  </a:lnTo>
                  <a:lnTo>
                    <a:pt x="242366" y="521538"/>
                  </a:lnTo>
                  <a:close/>
                </a:path>
                <a:path w="2484754" h="2470150">
                  <a:moveTo>
                    <a:pt x="242836" y="1946363"/>
                  </a:moveTo>
                  <a:lnTo>
                    <a:pt x="234149" y="1942465"/>
                  </a:lnTo>
                  <a:lnTo>
                    <a:pt x="218528" y="1977224"/>
                  </a:lnTo>
                  <a:lnTo>
                    <a:pt x="227228" y="1981123"/>
                  </a:lnTo>
                  <a:lnTo>
                    <a:pt x="242836" y="1946363"/>
                  </a:lnTo>
                  <a:close/>
                </a:path>
                <a:path w="2484754" h="2470150">
                  <a:moveTo>
                    <a:pt x="242976" y="1044155"/>
                  </a:moveTo>
                  <a:lnTo>
                    <a:pt x="236931" y="1036789"/>
                  </a:lnTo>
                  <a:lnTo>
                    <a:pt x="207479" y="1060970"/>
                  </a:lnTo>
                  <a:lnTo>
                    <a:pt x="213525" y="1068324"/>
                  </a:lnTo>
                  <a:lnTo>
                    <a:pt x="242976" y="1044155"/>
                  </a:lnTo>
                  <a:close/>
                </a:path>
                <a:path w="2484754" h="2470150">
                  <a:moveTo>
                    <a:pt x="269633" y="582396"/>
                  </a:moveTo>
                  <a:lnTo>
                    <a:pt x="254050" y="547624"/>
                  </a:lnTo>
                  <a:lnTo>
                    <a:pt x="245364" y="551510"/>
                  </a:lnTo>
                  <a:lnTo>
                    <a:pt x="260934" y="586282"/>
                  </a:lnTo>
                  <a:lnTo>
                    <a:pt x="269633" y="582396"/>
                  </a:lnTo>
                  <a:close/>
                </a:path>
                <a:path w="2484754" h="2470150">
                  <a:moveTo>
                    <a:pt x="270154" y="1885543"/>
                  </a:moveTo>
                  <a:lnTo>
                    <a:pt x="261454" y="1881644"/>
                  </a:lnTo>
                  <a:lnTo>
                    <a:pt x="245846" y="1916391"/>
                  </a:lnTo>
                  <a:lnTo>
                    <a:pt x="254546" y="1920303"/>
                  </a:lnTo>
                  <a:lnTo>
                    <a:pt x="270154" y="1885543"/>
                  </a:lnTo>
                  <a:close/>
                </a:path>
                <a:path w="2484754" h="2470150">
                  <a:moveTo>
                    <a:pt x="270421" y="2317000"/>
                  </a:moveTo>
                  <a:lnTo>
                    <a:pt x="265645" y="2308758"/>
                  </a:lnTo>
                  <a:lnTo>
                    <a:pt x="232689" y="2327872"/>
                  </a:lnTo>
                  <a:lnTo>
                    <a:pt x="237464" y="2336114"/>
                  </a:lnTo>
                  <a:lnTo>
                    <a:pt x="270421" y="2317000"/>
                  </a:lnTo>
                  <a:close/>
                </a:path>
                <a:path w="2484754" h="2470150">
                  <a:moveTo>
                    <a:pt x="293776" y="1466761"/>
                  </a:moveTo>
                  <a:lnTo>
                    <a:pt x="264401" y="1442491"/>
                  </a:lnTo>
                  <a:lnTo>
                    <a:pt x="258330" y="1449844"/>
                  </a:lnTo>
                  <a:lnTo>
                    <a:pt x="287705" y="1474101"/>
                  </a:lnTo>
                  <a:lnTo>
                    <a:pt x="293776" y="1466761"/>
                  </a:lnTo>
                  <a:close/>
                </a:path>
                <a:path w="2484754" h="2470150">
                  <a:moveTo>
                    <a:pt x="294513" y="1001852"/>
                  </a:moveTo>
                  <a:lnTo>
                    <a:pt x="288467" y="994498"/>
                  </a:lnTo>
                  <a:lnTo>
                    <a:pt x="259016" y="1018667"/>
                  </a:lnTo>
                  <a:lnTo>
                    <a:pt x="265061" y="1026033"/>
                  </a:lnTo>
                  <a:lnTo>
                    <a:pt x="294513" y="1001852"/>
                  </a:lnTo>
                  <a:close/>
                </a:path>
                <a:path w="2484754" h="2470150">
                  <a:moveTo>
                    <a:pt x="296887" y="643242"/>
                  </a:moveTo>
                  <a:lnTo>
                    <a:pt x="281317" y="608469"/>
                  </a:lnTo>
                  <a:lnTo>
                    <a:pt x="272618" y="612368"/>
                  </a:lnTo>
                  <a:lnTo>
                    <a:pt x="288201" y="647128"/>
                  </a:lnTo>
                  <a:lnTo>
                    <a:pt x="296887" y="643242"/>
                  </a:lnTo>
                  <a:close/>
                </a:path>
                <a:path w="2484754" h="2470150">
                  <a:moveTo>
                    <a:pt x="297472" y="1824723"/>
                  </a:moveTo>
                  <a:lnTo>
                    <a:pt x="288772" y="1820824"/>
                  </a:lnTo>
                  <a:lnTo>
                    <a:pt x="273164" y="1855571"/>
                  </a:lnTo>
                  <a:lnTo>
                    <a:pt x="281851" y="1859483"/>
                  </a:lnTo>
                  <a:lnTo>
                    <a:pt x="297472" y="1824723"/>
                  </a:lnTo>
                  <a:close/>
                </a:path>
                <a:path w="2484754" h="2470150">
                  <a:moveTo>
                    <a:pt x="324154" y="704088"/>
                  </a:moveTo>
                  <a:lnTo>
                    <a:pt x="308571" y="669315"/>
                  </a:lnTo>
                  <a:lnTo>
                    <a:pt x="299885" y="673214"/>
                  </a:lnTo>
                  <a:lnTo>
                    <a:pt x="315468" y="707974"/>
                  </a:lnTo>
                  <a:lnTo>
                    <a:pt x="324154" y="704088"/>
                  </a:lnTo>
                  <a:close/>
                </a:path>
                <a:path w="2484754" h="2470150">
                  <a:moveTo>
                    <a:pt x="324789" y="1763903"/>
                  </a:moveTo>
                  <a:lnTo>
                    <a:pt x="316090" y="1759991"/>
                  </a:lnTo>
                  <a:lnTo>
                    <a:pt x="300482" y="1794751"/>
                  </a:lnTo>
                  <a:lnTo>
                    <a:pt x="309168" y="1798650"/>
                  </a:lnTo>
                  <a:lnTo>
                    <a:pt x="324789" y="1763903"/>
                  </a:lnTo>
                  <a:close/>
                </a:path>
                <a:path w="2484754" h="2470150">
                  <a:moveTo>
                    <a:pt x="328104" y="2283561"/>
                  </a:moveTo>
                  <a:lnTo>
                    <a:pt x="323329" y="2275319"/>
                  </a:lnTo>
                  <a:lnTo>
                    <a:pt x="290372" y="2294432"/>
                  </a:lnTo>
                  <a:lnTo>
                    <a:pt x="295148" y="2302675"/>
                  </a:lnTo>
                  <a:lnTo>
                    <a:pt x="328104" y="2283561"/>
                  </a:lnTo>
                  <a:close/>
                </a:path>
                <a:path w="2484754" h="2470150">
                  <a:moveTo>
                    <a:pt x="345173" y="1509229"/>
                  </a:moveTo>
                  <a:lnTo>
                    <a:pt x="315798" y="1484960"/>
                  </a:lnTo>
                  <a:lnTo>
                    <a:pt x="309740" y="1492300"/>
                  </a:lnTo>
                  <a:lnTo>
                    <a:pt x="339102" y="1516570"/>
                  </a:lnTo>
                  <a:lnTo>
                    <a:pt x="345173" y="1509229"/>
                  </a:lnTo>
                  <a:close/>
                </a:path>
                <a:path w="2484754" h="2470150">
                  <a:moveTo>
                    <a:pt x="346049" y="959561"/>
                  </a:moveTo>
                  <a:lnTo>
                    <a:pt x="340004" y="952195"/>
                  </a:lnTo>
                  <a:lnTo>
                    <a:pt x="310553" y="976363"/>
                  </a:lnTo>
                  <a:lnTo>
                    <a:pt x="316598" y="983729"/>
                  </a:lnTo>
                  <a:lnTo>
                    <a:pt x="346049" y="959561"/>
                  </a:lnTo>
                  <a:close/>
                </a:path>
                <a:path w="2484754" h="2470150">
                  <a:moveTo>
                    <a:pt x="351421" y="764933"/>
                  </a:moveTo>
                  <a:lnTo>
                    <a:pt x="335838" y="730161"/>
                  </a:lnTo>
                  <a:lnTo>
                    <a:pt x="327152" y="734060"/>
                  </a:lnTo>
                  <a:lnTo>
                    <a:pt x="342722" y="768819"/>
                  </a:lnTo>
                  <a:lnTo>
                    <a:pt x="351421" y="764933"/>
                  </a:lnTo>
                  <a:close/>
                </a:path>
                <a:path w="2484754" h="2470150">
                  <a:moveTo>
                    <a:pt x="352094" y="1703082"/>
                  </a:moveTo>
                  <a:lnTo>
                    <a:pt x="343408" y="1699171"/>
                  </a:lnTo>
                  <a:lnTo>
                    <a:pt x="327799" y="1733931"/>
                  </a:lnTo>
                  <a:lnTo>
                    <a:pt x="336486" y="1737829"/>
                  </a:lnTo>
                  <a:lnTo>
                    <a:pt x="352094" y="1703082"/>
                  </a:lnTo>
                  <a:close/>
                </a:path>
                <a:path w="2484754" h="2470150">
                  <a:moveTo>
                    <a:pt x="378675" y="825779"/>
                  </a:moveTo>
                  <a:lnTo>
                    <a:pt x="363105" y="791006"/>
                  </a:lnTo>
                  <a:lnTo>
                    <a:pt x="354406" y="794905"/>
                  </a:lnTo>
                  <a:lnTo>
                    <a:pt x="369989" y="829665"/>
                  </a:lnTo>
                  <a:lnTo>
                    <a:pt x="378675" y="825779"/>
                  </a:lnTo>
                  <a:close/>
                </a:path>
                <a:path w="2484754" h="2470150">
                  <a:moveTo>
                    <a:pt x="379412" y="1642249"/>
                  </a:moveTo>
                  <a:lnTo>
                    <a:pt x="370725" y="1638350"/>
                  </a:lnTo>
                  <a:lnTo>
                    <a:pt x="355117" y="1673110"/>
                  </a:lnTo>
                  <a:lnTo>
                    <a:pt x="363804" y="1677009"/>
                  </a:lnTo>
                  <a:lnTo>
                    <a:pt x="379412" y="1642249"/>
                  </a:lnTo>
                  <a:close/>
                </a:path>
                <a:path w="2484754" h="2470150">
                  <a:moveTo>
                    <a:pt x="385787" y="2250122"/>
                  </a:moveTo>
                  <a:lnTo>
                    <a:pt x="381012" y="2241880"/>
                  </a:lnTo>
                  <a:lnTo>
                    <a:pt x="348056" y="2260993"/>
                  </a:lnTo>
                  <a:lnTo>
                    <a:pt x="352831" y="2269236"/>
                  </a:lnTo>
                  <a:lnTo>
                    <a:pt x="385787" y="2250122"/>
                  </a:lnTo>
                  <a:close/>
                </a:path>
                <a:path w="2484754" h="2470150">
                  <a:moveTo>
                    <a:pt x="396582" y="1551686"/>
                  </a:moveTo>
                  <a:lnTo>
                    <a:pt x="367207" y="1527429"/>
                  </a:lnTo>
                  <a:lnTo>
                    <a:pt x="361137" y="1534769"/>
                  </a:lnTo>
                  <a:lnTo>
                    <a:pt x="390512" y="1559039"/>
                  </a:lnTo>
                  <a:lnTo>
                    <a:pt x="396582" y="1551686"/>
                  </a:lnTo>
                  <a:close/>
                </a:path>
                <a:path w="2484754" h="2470150">
                  <a:moveTo>
                    <a:pt x="397586" y="917257"/>
                  </a:moveTo>
                  <a:lnTo>
                    <a:pt x="391541" y="909891"/>
                  </a:lnTo>
                  <a:lnTo>
                    <a:pt x="362089" y="934059"/>
                  </a:lnTo>
                  <a:lnTo>
                    <a:pt x="368134" y="941425"/>
                  </a:lnTo>
                  <a:lnTo>
                    <a:pt x="397586" y="917257"/>
                  </a:lnTo>
                  <a:close/>
                </a:path>
                <a:path w="2484754" h="2470150">
                  <a:moveTo>
                    <a:pt x="405942" y="886625"/>
                  </a:moveTo>
                  <a:lnTo>
                    <a:pt x="390359" y="851852"/>
                  </a:lnTo>
                  <a:lnTo>
                    <a:pt x="381673" y="855751"/>
                  </a:lnTo>
                  <a:lnTo>
                    <a:pt x="397256" y="890524"/>
                  </a:lnTo>
                  <a:lnTo>
                    <a:pt x="405942" y="886625"/>
                  </a:lnTo>
                  <a:close/>
                </a:path>
                <a:path w="2484754" h="2470150">
                  <a:moveTo>
                    <a:pt x="406730" y="1581429"/>
                  </a:moveTo>
                  <a:lnTo>
                    <a:pt x="398043" y="1577530"/>
                  </a:lnTo>
                  <a:lnTo>
                    <a:pt x="382435" y="1612290"/>
                  </a:lnTo>
                  <a:lnTo>
                    <a:pt x="391121" y="1616189"/>
                  </a:lnTo>
                  <a:lnTo>
                    <a:pt x="406730" y="1581429"/>
                  </a:lnTo>
                  <a:close/>
                </a:path>
                <a:path w="2484754" h="2470150">
                  <a:moveTo>
                    <a:pt x="433209" y="947470"/>
                  </a:moveTo>
                  <a:lnTo>
                    <a:pt x="417626" y="912698"/>
                  </a:lnTo>
                  <a:lnTo>
                    <a:pt x="408940" y="916597"/>
                  </a:lnTo>
                  <a:lnTo>
                    <a:pt x="424510" y="951369"/>
                  </a:lnTo>
                  <a:lnTo>
                    <a:pt x="433209" y="947470"/>
                  </a:lnTo>
                  <a:close/>
                </a:path>
                <a:path w="2484754" h="2470150">
                  <a:moveTo>
                    <a:pt x="434047" y="1520609"/>
                  </a:moveTo>
                  <a:lnTo>
                    <a:pt x="425361" y="1516710"/>
                  </a:lnTo>
                  <a:lnTo>
                    <a:pt x="409752" y="1551470"/>
                  </a:lnTo>
                  <a:lnTo>
                    <a:pt x="418439" y="1555369"/>
                  </a:lnTo>
                  <a:lnTo>
                    <a:pt x="434047" y="1520609"/>
                  </a:lnTo>
                  <a:close/>
                </a:path>
                <a:path w="2484754" h="2470150">
                  <a:moveTo>
                    <a:pt x="443471" y="2216683"/>
                  </a:moveTo>
                  <a:lnTo>
                    <a:pt x="438696" y="2208441"/>
                  </a:lnTo>
                  <a:lnTo>
                    <a:pt x="405739" y="2227554"/>
                  </a:lnTo>
                  <a:lnTo>
                    <a:pt x="410514" y="2235797"/>
                  </a:lnTo>
                  <a:lnTo>
                    <a:pt x="443471" y="2216683"/>
                  </a:lnTo>
                  <a:close/>
                </a:path>
                <a:path w="2484754" h="2470150">
                  <a:moveTo>
                    <a:pt x="447979" y="1594154"/>
                  </a:moveTo>
                  <a:lnTo>
                    <a:pt x="418604" y="1569885"/>
                  </a:lnTo>
                  <a:lnTo>
                    <a:pt x="412546" y="1577238"/>
                  </a:lnTo>
                  <a:lnTo>
                    <a:pt x="441909" y="1601495"/>
                  </a:lnTo>
                  <a:lnTo>
                    <a:pt x="447979" y="1594154"/>
                  </a:lnTo>
                  <a:close/>
                </a:path>
                <a:path w="2484754" h="2470150">
                  <a:moveTo>
                    <a:pt x="449122" y="874953"/>
                  </a:moveTo>
                  <a:lnTo>
                    <a:pt x="443077" y="867587"/>
                  </a:lnTo>
                  <a:lnTo>
                    <a:pt x="413639" y="891768"/>
                  </a:lnTo>
                  <a:lnTo>
                    <a:pt x="419671" y="899121"/>
                  </a:lnTo>
                  <a:lnTo>
                    <a:pt x="449122" y="874953"/>
                  </a:lnTo>
                  <a:close/>
                </a:path>
                <a:path w="2484754" h="2470150">
                  <a:moveTo>
                    <a:pt x="460463" y="1008316"/>
                  </a:moveTo>
                  <a:lnTo>
                    <a:pt x="444893" y="973543"/>
                  </a:lnTo>
                  <a:lnTo>
                    <a:pt x="436194" y="977442"/>
                  </a:lnTo>
                  <a:lnTo>
                    <a:pt x="451777" y="1012215"/>
                  </a:lnTo>
                  <a:lnTo>
                    <a:pt x="460463" y="1008316"/>
                  </a:lnTo>
                  <a:close/>
                </a:path>
                <a:path w="2484754" h="2470150">
                  <a:moveTo>
                    <a:pt x="461365" y="1459788"/>
                  </a:moveTo>
                  <a:lnTo>
                    <a:pt x="452678" y="1455889"/>
                  </a:lnTo>
                  <a:lnTo>
                    <a:pt x="437070" y="1490637"/>
                  </a:lnTo>
                  <a:lnTo>
                    <a:pt x="445757" y="1494548"/>
                  </a:lnTo>
                  <a:lnTo>
                    <a:pt x="461365" y="1459788"/>
                  </a:lnTo>
                  <a:close/>
                </a:path>
                <a:path w="2484754" h="2470150">
                  <a:moveTo>
                    <a:pt x="487730" y="1069162"/>
                  </a:moveTo>
                  <a:lnTo>
                    <a:pt x="472147" y="1034389"/>
                  </a:lnTo>
                  <a:lnTo>
                    <a:pt x="463461" y="1038288"/>
                  </a:lnTo>
                  <a:lnTo>
                    <a:pt x="479044" y="1073061"/>
                  </a:lnTo>
                  <a:lnTo>
                    <a:pt x="487730" y="1069162"/>
                  </a:lnTo>
                  <a:close/>
                </a:path>
                <a:path w="2484754" h="2470150">
                  <a:moveTo>
                    <a:pt x="488683" y="1398968"/>
                  </a:moveTo>
                  <a:lnTo>
                    <a:pt x="479996" y="1395069"/>
                  </a:lnTo>
                  <a:lnTo>
                    <a:pt x="464388" y="1429816"/>
                  </a:lnTo>
                  <a:lnTo>
                    <a:pt x="473075" y="1433715"/>
                  </a:lnTo>
                  <a:lnTo>
                    <a:pt x="488683" y="1398968"/>
                  </a:lnTo>
                  <a:close/>
                </a:path>
                <a:path w="2484754" h="2470150">
                  <a:moveTo>
                    <a:pt x="499389" y="1636623"/>
                  </a:moveTo>
                  <a:lnTo>
                    <a:pt x="470014" y="1612353"/>
                  </a:lnTo>
                  <a:lnTo>
                    <a:pt x="463943" y="1619694"/>
                  </a:lnTo>
                  <a:lnTo>
                    <a:pt x="493318" y="1643964"/>
                  </a:lnTo>
                  <a:lnTo>
                    <a:pt x="499389" y="1636623"/>
                  </a:lnTo>
                  <a:close/>
                </a:path>
                <a:path w="2484754" h="2470150">
                  <a:moveTo>
                    <a:pt x="500659" y="832662"/>
                  </a:moveTo>
                  <a:lnTo>
                    <a:pt x="494626" y="825296"/>
                  </a:lnTo>
                  <a:lnTo>
                    <a:pt x="465175" y="849464"/>
                  </a:lnTo>
                  <a:lnTo>
                    <a:pt x="471208" y="856830"/>
                  </a:lnTo>
                  <a:lnTo>
                    <a:pt x="500659" y="832662"/>
                  </a:lnTo>
                  <a:close/>
                </a:path>
                <a:path w="2484754" h="2470150">
                  <a:moveTo>
                    <a:pt x="501154" y="2183244"/>
                  </a:moveTo>
                  <a:lnTo>
                    <a:pt x="496379" y="2175002"/>
                  </a:lnTo>
                  <a:lnTo>
                    <a:pt x="463423" y="2194115"/>
                  </a:lnTo>
                  <a:lnTo>
                    <a:pt x="468198" y="2202357"/>
                  </a:lnTo>
                  <a:lnTo>
                    <a:pt x="501154" y="2183244"/>
                  </a:lnTo>
                  <a:close/>
                </a:path>
                <a:path w="2484754" h="2470150">
                  <a:moveTo>
                    <a:pt x="514997" y="1130007"/>
                  </a:moveTo>
                  <a:lnTo>
                    <a:pt x="499414" y="1095235"/>
                  </a:lnTo>
                  <a:lnTo>
                    <a:pt x="490728" y="1099134"/>
                  </a:lnTo>
                  <a:lnTo>
                    <a:pt x="506298" y="1133906"/>
                  </a:lnTo>
                  <a:lnTo>
                    <a:pt x="514997" y="1130007"/>
                  </a:lnTo>
                  <a:close/>
                </a:path>
                <a:path w="2484754" h="2470150">
                  <a:moveTo>
                    <a:pt x="516001" y="1338148"/>
                  </a:moveTo>
                  <a:lnTo>
                    <a:pt x="507314" y="1334236"/>
                  </a:lnTo>
                  <a:lnTo>
                    <a:pt x="491705" y="1368996"/>
                  </a:lnTo>
                  <a:lnTo>
                    <a:pt x="500392" y="1372895"/>
                  </a:lnTo>
                  <a:lnTo>
                    <a:pt x="516001" y="1338148"/>
                  </a:lnTo>
                  <a:close/>
                </a:path>
                <a:path w="2484754" h="2470150">
                  <a:moveTo>
                    <a:pt x="542251" y="1190853"/>
                  </a:moveTo>
                  <a:lnTo>
                    <a:pt x="526681" y="1156093"/>
                  </a:lnTo>
                  <a:lnTo>
                    <a:pt x="517982" y="1159979"/>
                  </a:lnTo>
                  <a:lnTo>
                    <a:pt x="533565" y="1194752"/>
                  </a:lnTo>
                  <a:lnTo>
                    <a:pt x="542251" y="1190853"/>
                  </a:lnTo>
                  <a:close/>
                </a:path>
                <a:path w="2484754" h="2470150">
                  <a:moveTo>
                    <a:pt x="543318" y="1277327"/>
                  </a:moveTo>
                  <a:lnTo>
                    <a:pt x="534631" y="1273416"/>
                  </a:lnTo>
                  <a:lnTo>
                    <a:pt x="519023" y="1308176"/>
                  </a:lnTo>
                  <a:lnTo>
                    <a:pt x="527710" y="1312075"/>
                  </a:lnTo>
                  <a:lnTo>
                    <a:pt x="543318" y="1277327"/>
                  </a:lnTo>
                  <a:close/>
                </a:path>
                <a:path w="2484754" h="2470150">
                  <a:moveTo>
                    <a:pt x="550786" y="1679079"/>
                  </a:moveTo>
                  <a:lnTo>
                    <a:pt x="521411" y="1654822"/>
                  </a:lnTo>
                  <a:lnTo>
                    <a:pt x="515353" y="1662163"/>
                  </a:lnTo>
                  <a:lnTo>
                    <a:pt x="544728" y="1686420"/>
                  </a:lnTo>
                  <a:lnTo>
                    <a:pt x="550786" y="1679079"/>
                  </a:lnTo>
                  <a:close/>
                </a:path>
                <a:path w="2484754" h="2470150">
                  <a:moveTo>
                    <a:pt x="552208" y="790359"/>
                  </a:moveTo>
                  <a:lnTo>
                    <a:pt x="546163" y="782993"/>
                  </a:lnTo>
                  <a:lnTo>
                    <a:pt x="516712" y="807161"/>
                  </a:lnTo>
                  <a:lnTo>
                    <a:pt x="522757" y="814527"/>
                  </a:lnTo>
                  <a:lnTo>
                    <a:pt x="552208" y="790359"/>
                  </a:lnTo>
                  <a:close/>
                </a:path>
                <a:path w="2484754" h="2470150">
                  <a:moveTo>
                    <a:pt x="558838" y="2149805"/>
                  </a:moveTo>
                  <a:lnTo>
                    <a:pt x="554062" y="2141563"/>
                  </a:lnTo>
                  <a:lnTo>
                    <a:pt x="521106" y="2160676"/>
                  </a:lnTo>
                  <a:lnTo>
                    <a:pt x="525881" y="2168918"/>
                  </a:lnTo>
                  <a:lnTo>
                    <a:pt x="558838" y="2149805"/>
                  </a:lnTo>
                  <a:close/>
                </a:path>
                <a:path w="2484754" h="2470150">
                  <a:moveTo>
                    <a:pt x="570636" y="1216494"/>
                  </a:moveTo>
                  <a:lnTo>
                    <a:pt x="561949" y="1212596"/>
                  </a:lnTo>
                  <a:lnTo>
                    <a:pt x="556958" y="1223708"/>
                  </a:lnTo>
                  <a:lnTo>
                    <a:pt x="553935" y="1216939"/>
                  </a:lnTo>
                  <a:lnTo>
                    <a:pt x="545249" y="1220825"/>
                  </a:lnTo>
                  <a:lnTo>
                    <a:pt x="551738" y="1235329"/>
                  </a:lnTo>
                  <a:lnTo>
                    <a:pt x="546341" y="1247355"/>
                  </a:lnTo>
                  <a:lnTo>
                    <a:pt x="555028" y="1251254"/>
                  </a:lnTo>
                  <a:lnTo>
                    <a:pt x="556945" y="1246974"/>
                  </a:lnTo>
                  <a:lnTo>
                    <a:pt x="560819" y="1255598"/>
                  </a:lnTo>
                  <a:lnTo>
                    <a:pt x="569518" y="1251699"/>
                  </a:lnTo>
                  <a:lnTo>
                    <a:pt x="562178" y="1235329"/>
                  </a:lnTo>
                  <a:lnTo>
                    <a:pt x="570636" y="1216494"/>
                  </a:lnTo>
                  <a:close/>
                </a:path>
                <a:path w="2484754" h="2470150">
                  <a:moveTo>
                    <a:pt x="596785" y="1312545"/>
                  </a:moveTo>
                  <a:lnTo>
                    <a:pt x="581202" y="1277785"/>
                  </a:lnTo>
                  <a:lnTo>
                    <a:pt x="572503" y="1281671"/>
                  </a:lnTo>
                  <a:lnTo>
                    <a:pt x="588086" y="1316443"/>
                  </a:lnTo>
                  <a:lnTo>
                    <a:pt x="596785" y="1312545"/>
                  </a:lnTo>
                  <a:close/>
                </a:path>
                <a:path w="2484754" h="2470150">
                  <a:moveTo>
                    <a:pt x="597954" y="1155674"/>
                  </a:moveTo>
                  <a:lnTo>
                    <a:pt x="589267" y="1151775"/>
                  </a:lnTo>
                  <a:lnTo>
                    <a:pt x="573659" y="1186535"/>
                  </a:lnTo>
                  <a:lnTo>
                    <a:pt x="582345" y="1190434"/>
                  </a:lnTo>
                  <a:lnTo>
                    <a:pt x="597954" y="1155674"/>
                  </a:lnTo>
                  <a:close/>
                </a:path>
                <a:path w="2484754" h="2470150">
                  <a:moveTo>
                    <a:pt x="602195" y="1721548"/>
                  </a:moveTo>
                  <a:lnTo>
                    <a:pt x="572820" y="1697278"/>
                  </a:lnTo>
                  <a:lnTo>
                    <a:pt x="566750" y="1704619"/>
                  </a:lnTo>
                  <a:lnTo>
                    <a:pt x="596125" y="1728889"/>
                  </a:lnTo>
                  <a:lnTo>
                    <a:pt x="602195" y="1721548"/>
                  </a:lnTo>
                  <a:close/>
                </a:path>
                <a:path w="2484754" h="2470150">
                  <a:moveTo>
                    <a:pt x="603745" y="748055"/>
                  </a:moveTo>
                  <a:lnTo>
                    <a:pt x="597700" y="740689"/>
                  </a:lnTo>
                  <a:lnTo>
                    <a:pt x="568248" y="764870"/>
                  </a:lnTo>
                  <a:lnTo>
                    <a:pt x="574294" y="772223"/>
                  </a:lnTo>
                  <a:lnTo>
                    <a:pt x="603745" y="748055"/>
                  </a:lnTo>
                  <a:close/>
                </a:path>
                <a:path w="2484754" h="2470150">
                  <a:moveTo>
                    <a:pt x="616521" y="2116366"/>
                  </a:moveTo>
                  <a:lnTo>
                    <a:pt x="611746" y="2108123"/>
                  </a:lnTo>
                  <a:lnTo>
                    <a:pt x="578789" y="2127237"/>
                  </a:lnTo>
                  <a:lnTo>
                    <a:pt x="583565" y="2135479"/>
                  </a:lnTo>
                  <a:lnTo>
                    <a:pt x="616521" y="2116366"/>
                  </a:lnTo>
                  <a:close/>
                </a:path>
                <a:path w="2484754" h="2470150">
                  <a:moveTo>
                    <a:pt x="624039" y="1373390"/>
                  </a:moveTo>
                  <a:lnTo>
                    <a:pt x="608469" y="1338630"/>
                  </a:lnTo>
                  <a:lnTo>
                    <a:pt x="599770" y="1342517"/>
                  </a:lnTo>
                  <a:lnTo>
                    <a:pt x="615353" y="1377289"/>
                  </a:lnTo>
                  <a:lnTo>
                    <a:pt x="624039" y="1373390"/>
                  </a:lnTo>
                  <a:close/>
                </a:path>
                <a:path w="2484754" h="2470150">
                  <a:moveTo>
                    <a:pt x="625271" y="1094854"/>
                  </a:moveTo>
                  <a:lnTo>
                    <a:pt x="616585" y="1090955"/>
                  </a:lnTo>
                  <a:lnTo>
                    <a:pt x="600976" y="1125702"/>
                  </a:lnTo>
                  <a:lnTo>
                    <a:pt x="609663" y="1129614"/>
                  </a:lnTo>
                  <a:lnTo>
                    <a:pt x="625271" y="1094854"/>
                  </a:lnTo>
                  <a:close/>
                </a:path>
                <a:path w="2484754" h="2470150">
                  <a:moveTo>
                    <a:pt x="651306" y="1434249"/>
                  </a:moveTo>
                  <a:lnTo>
                    <a:pt x="635723" y="1399476"/>
                  </a:lnTo>
                  <a:lnTo>
                    <a:pt x="627037" y="1403362"/>
                  </a:lnTo>
                  <a:lnTo>
                    <a:pt x="642607" y="1438135"/>
                  </a:lnTo>
                  <a:lnTo>
                    <a:pt x="651306" y="1434249"/>
                  </a:lnTo>
                  <a:close/>
                </a:path>
                <a:path w="2484754" h="2470150">
                  <a:moveTo>
                    <a:pt x="652589" y="1034034"/>
                  </a:moveTo>
                  <a:lnTo>
                    <a:pt x="643902" y="1030135"/>
                  </a:lnTo>
                  <a:lnTo>
                    <a:pt x="628281" y="1064882"/>
                  </a:lnTo>
                  <a:lnTo>
                    <a:pt x="636981" y="1068793"/>
                  </a:lnTo>
                  <a:lnTo>
                    <a:pt x="652589" y="1034034"/>
                  </a:lnTo>
                  <a:close/>
                </a:path>
                <a:path w="2484754" h="2470150">
                  <a:moveTo>
                    <a:pt x="653592" y="1764017"/>
                  </a:moveTo>
                  <a:lnTo>
                    <a:pt x="624217" y="1739747"/>
                  </a:lnTo>
                  <a:lnTo>
                    <a:pt x="618159" y="1747088"/>
                  </a:lnTo>
                  <a:lnTo>
                    <a:pt x="647534" y="1771357"/>
                  </a:lnTo>
                  <a:lnTo>
                    <a:pt x="653592" y="1764017"/>
                  </a:lnTo>
                  <a:close/>
                </a:path>
                <a:path w="2484754" h="2470150">
                  <a:moveTo>
                    <a:pt x="655281" y="705751"/>
                  </a:moveTo>
                  <a:lnTo>
                    <a:pt x="649236" y="698398"/>
                  </a:lnTo>
                  <a:lnTo>
                    <a:pt x="619785" y="722566"/>
                  </a:lnTo>
                  <a:lnTo>
                    <a:pt x="625830" y="729932"/>
                  </a:lnTo>
                  <a:lnTo>
                    <a:pt x="655281" y="705751"/>
                  </a:lnTo>
                  <a:close/>
                </a:path>
                <a:path w="2484754" h="2470150">
                  <a:moveTo>
                    <a:pt x="674204" y="2082927"/>
                  </a:moveTo>
                  <a:lnTo>
                    <a:pt x="669429" y="2074684"/>
                  </a:lnTo>
                  <a:lnTo>
                    <a:pt x="636473" y="2093798"/>
                  </a:lnTo>
                  <a:lnTo>
                    <a:pt x="641248" y="2102027"/>
                  </a:lnTo>
                  <a:lnTo>
                    <a:pt x="674204" y="2082927"/>
                  </a:lnTo>
                  <a:close/>
                </a:path>
                <a:path w="2484754" h="2470150">
                  <a:moveTo>
                    <a:pt x="678573" y="1495094"/>
                  </a:moveTo>
                  <a:lnTo>
                    <a:pt x="662990" y="1460322"/>
                  </a:lnTo>
                  <a:lnTo>
                    <a:pt x="654291" y="1464221"/>
                  </a:lnTo>
                  <a:lnTo>
                    <a:pt x="669874" y="1498981"/>
                  </a:lnTo>
                  <a:lnTo>
                    <a:pt x="678573" y="1495094"/>
                  </a:lnTo>
                  <a:close/>
                </a:path>
                <a:path w="2484754" h="2470150">
                  <a:moveTo>
                    <a:pt x="679907" y="973213"/>
                  </a:moveTo>
                  <a:lnTo>
                    <a:pt x="671220" y="969314"/>
                  </a:lnTo>
                  <a:lnTo>
                    <a:pt x="655599" y="1004062"/>
                  </a:lnTo>
                  <a:lnTo>
                    <a:pt x="664298" y="1007960"/>
                  </a:lnTo>
                  <a:lnTo>
                    <a:pt x="679907" y="973213"/>
                  </a:lnTo>
                  <a:close/>
                </a:path>
                <a:path w="2484754" h="2470150">
                  <a:moveTo>
                    <a:pt x="705002" y="1806473"/>
                  </a:moveTo>
                  <a:lnTo>
                    <a:pt x="675627" y="1782203"/>
                  </a:lnTo>
                  <a:lnTo>
                    <a:pt x="669556" y="1789557"/>
                  </a:lnTo>
                  <a:lnTo>
                    <a:pt x="698931" y="1813814"/>
                  </a:lnTo>
                  <a:lnTo>
                    <a:pt x="705002" y="1806473"/>
                  </a:lnTo>
                  <a:close/>
                </a:path>
                <a:path w="2484754" h="2470150">
                  <a:moveTo>
                    <a:pt x="705827" y="1555940"/>
                  </a:moveTo>
                  <a:lnTo>
                    <a:pt x="690257" y="1521167"/>
                  </a:lnTo>
                  <a:lnTo>
                    <a:pt x="681558" y="1525066"/>
                  </a:lnTo>
                  <a:lnTo>
                    <a:pt x="697141" y="1559826"/>
                  </a:lnTo>
                  <a:lnTo>
                    <a:pt x="705827" y="1555940"/>
                  </a:lnTo>
                  <a:close/>
                </a:path>
                <a:path w="2484754" h="2470150">
                  <a:moveTo>
                    <a:pt x="706818" y="663460"/>
                  </a:moveTo>
                  <a:lnTo>
                    <a:pt x="700773" y="656094"/>
                  </a:lnTo>
                  <a:lnTo>
                    <a:pt x="671322" y="680262"/>
                  </a:lnTo>
                  <a:lnTo>
                    <a:pt x="677367" y="687628"/>
                  </a:lnTo>
                  <a:lnTo>
                    <a:pt x="706818" y="663460"/>
                  </a:lnTo>
                  <a:close/>
                </a:path>
                <a:path w="2484754" h="2470150">
                  <a:moveTo>
                    <a:pt x="707224" y="912393"/>
                  </a:moveTo>
                  <a:lnTo>
                    <a:pt x="698525" y="908481"/>
                  </a:lnTo>
                  <a:lnTo>
                    <a:pt x="682917" y="943241"/>
                  </a:lnTo>
                  <a:lnTo>
                    <a:pt x="691616" y="947140"/>
                  </a:lnTo>
                  <a:lnTo>
                    <a:pt x="707224" y="912393"/>
                  </a:lnTo>
                  <a:close/>
                </a:path>
                <a:path w="2484754" h="2470150">
                  <a:moveTo>
                    <a:pt x="731888" y="2049487"/>
                  </a:moveTo>
                  <a:lnTo>
                    <a:pt x="727113" y="2041245"/>
                  </a:lnTo>
                  <a:lnTo>
                    <a:pt x="694156" y="2060359"/>
                  </a:lnTo>
                  <a:lnTo>
                    <a:pt x="698931" y="2068588"/>
                  </a:lnTo>
                  <a:lnTo>
                    <a:pt x="731888" y="2049487"/>
                  </a:lnTo>
                  <a:close/>
                </a:path>
                <a:path w="2484754" h="2470150">
                  <a:moveTo>
                    <a:pt x="733094" y="1616786"/>
                  </a:moveTo>
                  <a:lnTo>
                    <a:pt x="717511" y="1582013"/>
                  </a:lnTo>
                  <a:lnTo>
                    <a:pt x="708825" y="1585912"/>
                  </a:lnTo>
                  <a:lnTo>
                    <a:pt x="724395" y="1620672"/>
                  </a:lnTo>
                  <a:lnTo>
                    <a:pt x="733094" y="1616786"/>
                  </a:lnTo>
                  <a:close/>
                </a:path>
                <a:path w="2484754" h="2470150">
                  <a:moveTo>
                    <a:pt x="734542" y="851560"/>
                  </a:moveTo>
                  <a:lnTo>
                    <a:pt x="725843" y="847661"/>
                  </a:lnTo>
                  <a:lnTo>
                    <a:pt x="710234" y="882421"/>
                  </a:lnTo>
                  <a:lnTo>
                    <a:pt x="718921" y="886320"/>
                  </a:lnTo>
                  <a:lnTo>
                    <a:pt x="734542" y="851560"/>
                  </a:lnTo>
                  <a:close/>
                </a:path>
                <a:path w="2484754" h="2470150">
                  <a:moveTo>
                    <a:pt x="756399" y="1848942"/>
                  </a:moveTo>
                  <a:lnTo>
                    <a:pt x="727036" y="1824672"/>
                  </a:lnTo>
                  <a:lnTo>
                    <a:pt x="720966" y="1832013"/>
                  </a:lnTo>
                  <a:lnTo>
                    <a:pt x="750341" y="1856282"/>
                  </a:lnTo>
                  <a:lnTo>
                    <a:pt x="756399" y="1848942"/>
                  </a:lnTo>
                  <a:close/>
                </a:path>
                <a:path w="2484754" h="2470150">
                  <a:moveTo>
                    <a:pt x="758355" y="621157"/>
                  </a:moveTo>
                  <a:lnTo>
                    <a:pt x="752309" y="613791"/>
                  </a:lnTo>
                  <a:lnTo>
                    <a:pt x="722871" y="637959"/>
                  </a:lnTo>
                  <a:lnTo>
                    <a:pt x="728903" y="645325"/>
                  </a:lnTo>
                  <a:lnTo>
                    <a:pt x="758355" y="621157"/>
                  </a:lnTo>
                  <a:close/>
                </a:path>
                <a:path w="2484754" h="2470150">
                  <a:moveTo>
                    <a:pt x="760349" y="1677631"/>
                  </a:moveTo>
                  <a:lnTo>
                    <a:pt x="744778" y="1642859"/>
                  </a:lnTo>
                  <a:lnTo>
                    <a:pt x="736079" y="1646758"/>
                  </a:lnTo>
                  <a:lnTo>
                    <a:pt x="751662" y="1681530"/>
                  </a:lnTo>
                  <a:lnTo>
                    <a:pt x="760349" y="1677631"/>
                  </a:lnTo>
                  <a:close/>
                </a:path>
                <a:path w="2484754" h="2470150">
                  <a:moveTo>
                    <a:pt x="761860" y="790740"/>
                  </a:moveTo>
                  <a:lnTo>
                    <a:pt x="753160" y="786841"/>
                  </a:lnTo>
                  <a:lnTo>
                    <a:pt x="737552" y="821601"/>
                  </a:lnTo>
                  <a:lnTo>
                    <a:pt x="746239" y="825500"/>
                  </a:lnTo>
                  <a:lnTo>
                    <a:pt x="761860" y="790740"/>
                  </a:lnTo>
                  <a:close/>
                </a:path>
                <a:path w="2484754" h="2470150">
                  <a:moveTo>
                    <a:pt x="787615" y="1738477"/>
                  </a:moveTo>
                  <a:lnTo>
                    <a:pt x="772033" y="1703705"/>
                  </a:lnTo>
                  <a:lnTo>
                    <a:pt x="763346" y="1707603"/>
                  </a:lnTo>
                  <a:lnTo>
                    <a:pt x="778929" y="1742376"/>
                  </a:lnTo>
                  <a:lnTo>
                    <a:pt x="787615" y="1738477"/>
                  </a:lnTo>
                  <a:close/>
                </a:path>
                <a:path w="2484754" h="2470150">
                  <a:moveTo>
                    <a:pt x="789165" y="729919"/>
                  </a:moveTo>
                  <a:lnTo>
                    <a:pt x="780478" y="726020"/>
                  </a:lnTo>
                  <a:lnTo>
                    <a:pt x="764870" y="760780"/>
                  </a:lnTo>
                  <a:lnTo>
                    <a:pt x="773557" y="764679"/>
                  </a:lnTo>
                  <a:lnTo>
                    <a:pt x="789165" y="729919"/>
                  </a:lnTo>
                  <a:close/>
                </a:path>
                <a:path w="2484754" h="2470150">
                  <a:moveTo>
                    <a:pt x="789571" y="2016048"/>
                  </a:moveTo>
                  <a:lnTo>
                    <a:pt x="784796" y="2007806"/>
                  </a:lnTo>
                  <a:lnTo>
                    <a:pt x="751840" y="2026920"/>
                  </a:lnTo>
                  <a:lnTo>
                    <a:pt x="756615" y="2035149"/>
                  </a:lnTo>
                  <a:lnTo>
                    <a:pt x="789571" y="2016048"/>
                  </a:lnTo>
                  <a:close/>
                </a:path>
                <a:path w="2484754" h="2470150">
                  <a:moveTo>
                    <a:pt x="807808" y="1891398"/>
                  </a:moveTo>
                  <a:lnTo>
                    <a:pt x="778433" y="1867141"/>
                  </a:lnTo>
                  <a:lnTo>
                    <a:pt x="772363" y="1874481"/>
                  </a:lnTo>
                  <a:lnTo>
                    <a:pt x="801738" y="1898751"/>
                  </a:lnTo>
                  <a:lnTo>
                    <a:pt x="807808" y="1891398"/>
                  </a:lnTo>
                  <a:close/>
                </a:path>
                <a:path w="2484754" h="2470150">
                  <a:moveTo>
                    <a:pt x="809891" y="578853"/>
                  </a:moveTo>
                  <a:lnTo>
                    <a:pt x="803859" y="571487"/>
                  </a:lnTo>
                  <a:lnTo>
                    <a:pt x="774407" y="595668"/>
                  </a:lnTo>
                  <a:lnTo>
                    <a:pt x="780453" y="603021"/>
                  </a:lnTo>
                  <a:lnTo>
                    <a:pt x="809891" y="578853"/>
                  </a:lnTo>
                  <a:close/>
                </a:path>
                <a:path w="2484754" h="2470150">
                  <a:moveTo>
                    <a:pt x="814882" y="1799323"/>
                  </a:moveTo>
                  <a:lnTo>
                    <a:pt x="799299" y="1764550"/>
                  </a:lnTo>
                  <a:lnTo>
                    <a:pt x="790613" y="1768449"/>
                  </a:lnTo>
                  <a:lnTo>
                    <a:pt x="806183" y="1803222"/>
                  </a:lnTo>
                  <a:lnTo>
                    <a:pt x="814882" y="1799323"/>
                  </a:lnTo>
                  <a:close/>
                </a:path>
                <a:path w="2484754" h="2470150">
                  <a:moveTo>
                    <a:pt x="816483" y="669099"/>
                  </a:moveTo>
                  <a:lnTo>
                    <a:pt x="807796" y="665200"/>
                  </a:lnTo>
                  <a:lnTo>
                    <a:pt x="792187" y="699947"/>
                  </a:lnTo>
                  <a:lnTo>
                    <a:pt x="800874" y="703859"/>
                  </a:lnTo>
                  <a:lnTo>
                    <a:pt x="816483" y="669099"/>
                  </a:lnTo>
                  <a:close/>
                </a:path>
                <a:path w="2484754" h="2470150">
                  <a:moveTo>
                    <a:pt x="842137" y="1860169"/>
                  </a:moveTo>
                  <a:lnTo>
                    <a:pt x="826566" y="1825396"/>
                  </a:lnTo>
                  <a:lnTo>
                    <a:pt x="817867" y="1829295"/>
                  </a:lnTo>
                  <a:lnTo>
                    <a:pt x="833450" y="1864067"/>
                  </a:lnTo>
                  <a:lnTo>
                    <a:pt x="842137" y="1860169"/>
                  </a:lnTo>
                  <a:close/>
                </a:path>
                <a:path w="2484754" h="2470150">
                  <a:moveTo>
                    <a:pt x="843800" y="608279"/>
                  </a:moveTo>
                  <a:lnTo>
                    <a:pt x="835113" y="604380"/>
                  </a:lnTo>
                  <a:lnTo>
                    <a:pt x="819505" y="639127"/>
                  </a:lnTo>
                  <a:lnTo>
                    <a:pt x="828192" y="643039"/>
                  </a:lnTo>
                  <a:lnTo>
                    <a:pt x="843800" y="608279"/>
                  </a:lnTo>
                  <a:close/>
                </a:path>
                <a:path w="2484754" h="2470150">
                  <a:moveTo>
                    <a:pt x="880643" y="1957743"/>
                  </a:moveTo>
                  <a:lnTo>
                    <a:pt x="795616" y="1963000"/>
                  </a:lnTo>
                  <a:lnTo>
                    <a:pt x="812330" y="1991842"/>
                  </a:lnTo>
                  <a:lnTo>
                    <a:pt x="809523" y="1993480"/>
                  </a:lnTo>
                  <a:lnTo>
                    <a:pt x="814298" y="2001710"/>
                  </a:lnTo>
                  <a:lnTo>
                    <a:pt x="817105" y="2000084"/>
                  </a:lnTo>
                  <a:lnTo>
                    <a:pt x="833831" y="2028926"/>
                  </a:lnTo>
                  <a:lnTo>
                    <a:pt x="852792" y="2000084"/>
                  </a:lnTo>
                  <a:lnTo>
                    <a:pt x="880643" y="1957743"/>
                  </a:lnTo>
                  <a:close/>
                </a:path>
                <a:path w="2484754" h="2470150">
                  <a:moveTo>
                    <a:pt x="884174" y="599744"/>
                  </a:moveTo>
                  <a:lnTo>
                    <a:pt x="880643" y="514629"/>
                  </a:lnTo>
                  <a:lnTo>
                    <a:pt x="797572" y="533527"/>
                  </a:lnTo>
                  <a:lnTo>
                    <a:pt x="821626" y="562851"/>
                  </a:lnTo>
                  <a:lnTo>
                    <a:pt x="814666" y="568528"/>
                  </a:lnTo>
                  <a:lnTo>
                    <a:pt x="833081" y="576808"/>
                  </a:lnTo>
                  <a:lnTo>
                    <a:pt x="845908" y="592416"/>
                  </a:lnTo>
                  <a:lnTo>
                    <a:pt x="849566" y="584212"/>
                  </a:lnTo>
                  <a:lnTo>
                    <a:pt x="884174" y="599744"/>
                  </a:lnTo>
                  <a:close/>
                </a:path>
                <a:path w="2484754" h="2470150">
                  <a:moveTo>
                    <a:pt x="884250" y="1872627"/>
                  </a:moveTo>
                  <a:lnTo>
                    <a:pt x="853833" y="1886267"/>
                  </a:lnTo>
                  <a:lnTo>
                    <a:pt x="849795" y="1888058"/>
                  </a:lnTo>
                  <a:lnTo>
                    <a:pt x="846162" y="1879841"/>
                  </a:lnTo>
                  <a:lnTo>
                    <a:pt x="833234" y="1895500"/>
                  </a:lnTo>
                  <a:lnTo>
                    <a:pt x="814717" y="1903793"/>
                  </a:lnTo>
                  <a:lnTo>
                    <a:pt x="821664" y="1909495"/>
                  </a:lnTo>
                  <a:lnTo>
                    <a:pt x="797636" y="1938591"/>
                  </a:lnTo>
                  <a:lnTo>
                    <a:pt x="880643" y="1957743"/>
                  </a:lnTo>
                  <a:lnTo>
                    <a:pt x="884250" y="1872627"/>
                  </a:lnTo>
                  <a:close/>
                </a:path>
                <a:path w="2484754" h="2470150">
                  <a:moveTo>
                    <a:pt x="1639900" y="1972741"/>
                  </a:moveTo>
                  <a:lnTo>
                    <a:pt x="1612849" y="1957070"/>
                  </a:lnTo>
                  <a:lnTo>
                    <a:pt x="1636953" y="1937156"/>
                  </a:lnTo>
                  <a:lnTo>
                    <a:pt x="1630883" y="1929815"/>
                  </a:lnTo>
                  <a:lnTo>
                    <a:pt x="1617218" y="1941106"/>
                  </a:lnTo>
                  <a:lnTo>
                    <a:pt x="1624469" y="1924926"/>
                  </a:lnTo>
                  <a:lnTo>
                    <a:pt x="1615770" y="1921027"/>
                  </a:lnTo>
                  <a:lnTo>
                    <a:pt x="1600200" y="1955800"/>
                  </a:lnTo>
                  <a:lnTo>
                    <a:pt x="1604530" y="1957755"/>
                  </a:lnTo>
                  <a:lnTo>
                    <a:pt x="1602155" y="1961870"/>
                  </a:lnTo>
                  <a:lnTo>
                    <a:pt x="1635112" y="1980971"/>
                  </a:lnTo>
                  <a:lnTo>
                    <a:pt x="1639900" y="1972741"/>
                  </a:lnTo>
                  <a:close/>
                </a:path>
                <a:path w="2484754" h="2470150">
                  <a:moveTo>
                    <a:pt x="1651736" y="1864080"/>
                  </a:moveTo>
                  <a:lnTo>
                    <a:pt x="1643037" y="1860181"/>
                  </a:lnTo>
                  <a:lnTo>
                    <a:pt x="1627454" y="1894954"/>
                  </a:lnTo>
                  <a:lnTo>
                    <a:pt x="1636153" y="1898853"/>
                  </a:lnTo>
                  <a:lnTo>
                    <a:pt x="1651736" y="1864080"/>
                  </a:lnTo>
                  <a:close/>
                </a:path>
                <a:path w="2484754" h="2470150">
                  <a:moveTo>
                    <a:pt x="1678990" y="1803234"/>
                  </a:moveTo>
                  <a:lnTo>
                    <a:pt x="1670304" y="1799336"/>
                  </a:lnTo>
                  <a:lnTo>
                    <a:pt x="1654721" y="1834108"/>
                  </a:lnTo>
                  <a:lnTo>
                    <a:pt x="1663420" y="1838007"/>
                  </a:lnTo>
                  <a:lnTo>
                    <a:pt x="1678990" y="1803234"/>
                  </a:lnTo>
                  <a:close/>
                </a:path>
                <a:path w="2484754" h="2470150">
                  <a:moveTo>
                    <a:pt x="1688350" y="1894687"/>
                  </a:moveTo>
                  <a:lnTo>
                    <a:pt x="1682292" y="1887347"/>
                  </a:lnTo>
                  <a:lnTo>
                    <a:pt x="1652917" y="1911616"/>
                  </a:lnTo>
                  <a:lnTo>
                    <a:pt x="1658975" y="1918957"/>
                  </a:lnTo>
                  <a:lnTo>
                    <a:pt x="1688350" y="1894687"/>
                  </a:lnTo>
                  <a:close/>
                </a:path>
                <a:path w="2484754" h="2470150">
                  <a:moveTo>
                    <a:pt x="1697583" y="2006180"/>
                  </a:moveTo>
                  <a:lnTo>
                    <a:pt x="1664614" y="1987067"/>
                  </a:lnTo>
                  <a:lnTo>
                    <a:pt x="1659839" y="1995309"/>
                  </a:lnTo>
                  <a:lnTo>
                    <a:pt x="1692795" y="2014423"/>
                  </a:lnTo>
                  <a:lnTo>
                    <a:pt x="1697583" y="2006180"/>
                  </a:lnTo>
                  <a:close/>
                </a:path>
                <a:path w="2484754" h="2470150">
                  <a:moveTo>
                    <a:pt x="1706257" y="1742389"/>
                  </a:moveTo>
                  <a:lnTo>
                    <a:pt x="1697558" y="1738490"/>
                  </a:lnTo>
                  <a:lnTo>
                    <a:pt x="1681988" y="1773262"/>
                  </a:lnTo>
                  <a:lnTo>
                    <a:pt x="1690674" y="1777161"/>
                  </a:lnTo>
                  <a:lnTo>
                    <a:pt x="1706257" y="1742389"/>
                  </a:lnTo>
                  <a:close/>
                </a:path>
                <a:path w="2484754" h="2470150">
                  <a:moveTo>
                    <a:pt x="1733524" y="1681543"/>
                  </a:moveTo>
                  <a:lnTo>
                    <a:pt x="1724825" y="1677644"/>
                  </a:lnTo>
                  <a:lnTo>
                    <a:pt x="1709242" y="1712417"/>
                  </a:lnTo>
                  <a:lnTo>
                    <a:pt x="1717941" y="1716303"/>
                  </a:lnTo>
                  <a:lnTo>
                    <a:pt x="1733524" y="1681543"/>
                  </a:lnTo>
                  <a:close/>
                </a:path>
                <a:path w="2484754" h="2470150">
                  <a:moveTo>
                    <a:pt x="1739760" y="1852231"/>
                  </a:moveTo>
                  <a:lnTo>
                    <a:pt x="1733689" y="1844878"/>
                  </a:lnTo>
                  <a:lnTo>
                    <a:pt x="1704314" y="1869147"/>
                  </a:lnTo>
                  <a:lnTo>
                    <a:pt x="1710385" y="1876488"/>
                  </a:lnTo>
                  <a:lnTo>
                    <a:pt x="1739760" y="1852231"/>
                  </a:lnTo>
                  <a:close/>
                </a:path>
                <a:path w="2484754" h="2470150">
                  <a:moveTo>
                    <a:pt x="1755267" y="2039620"/>
                  </a:moveTo>
                  <a:lnTo>
                    <a:pt x="1722297" y="2020506"/>
                  </a:lnTo>
                  <a:lnTo>
                    <a:pt x="1717522" y="2028748"/>
                  </a:lnTo>
                  <a:lnTo>
                    <a:pt x="1750479" y="2047862"/>
                  </a:lnTo>
                  <a:lnTo>
                    <a:pt x="1755267" y="2039620"/>
                  </a:lnTo>
                  <a:close/>
                </a:path>
                <a:path w="2484754" h="2470150">
                  <a:moveTo>
                    <a:pt x="1760778" y="1620697"/>
                  </a:moveTo>
                  <a:lnTo>
                    <a:pt x="1752092" y="1616798"/>
                  </a:lnTo>
                  <a:lnTo>
                    <a:pt x="1736509" y="1651571"/>
                  </a:lnTo>
                  <a:lnTo>
                    <a:pt x="1745208" y="1655457"/>
                  </a:lnTo>
                  <a:lnTo>
                    <a:pt x="1760778" y="1620697"/>
                  </a:lnTo>
                  <a:close/>
                </a:path>
                <a:path w="2484754" h="2470150">
                  <a:moveTo>
                    <a:pt x="1788045" y="1559852"/>
                  </a:moveTo>
                  <a:lnTo>
                    <a:pt x="1779346" y="1555953"/>
                  </a:lnTo>
                  <a:lnTo>
                    <a:pt x="1763776" y="1590725"/>
                  </a:lnTo>
                  <a:lnTo>
                    <a:pt x="1772462" y="1594612"/>
                  </a:lnTo>
                  <a:lnTo>
                    <a:pt x="1788045" y="1559852"/>
                  </a:lnTo>
                  <a:close/>
                </a:path>
                <a:path w="2484754" h="2470150">
                  <a:moveTo>
                    <a:pt x="1791157" y="1809762"/>
                  </a:moveTo>
                  <a:lnTo>
                    <a:pt x="1785099" y="1802422"/>
                  </a:lnTo>
                  <a:lnTo>
                    <a:pt x="1755724" y="1826679"/>
                  </a:lnTo>
                  <a:lnTo>
                    <a:pt x="1761794" y="1834032"/>
                  </a:lnTo>
                  <a:lnTo>
                    <a:pt x="1791157" y="1809762"/>
                  </a:lnTo>
                  <a:close/>
                </a:path>
                <a:path w="2484754" h="2470150">
                  <a:moveTo>
                    <a:pt x="1812950" y="2073059"/>
                  </a:moveTo>
                  <a:lnTo>
                    <a:pt x="1779981" y="2053945"/>
                  </a:lnTo>
                  <a:lnTo>
                    <a:pt x="1775206" y="2062187"/>
                  </a:lnTo>
                  <a:lnTo>
                    <a:pt x="1808162" y="2081301"/>
                  </a:lnTo>
                  <a:lnTo>
                    <a:pt x="1812950" y="2073059"/>
                  </a:lnTo>
                  <a:close/>
                </a:path>
                <a:path w="2484754" h="2470150">
                  <a:moveTo>
                    <a:pt x="1815299" y="1499006"/>
                  </a:moveTo>
                  <a:lnTo>
                    <a:pt x="1806613" y="1495107"/>
                  </a:lnTo>
                  <a:lnTo>
                    <a:pt x="1791030" y="1529880"/>
                  </a:lnTo>
                  <a:lnTo>
                    <a:pt x="1799729" y="1533766"/>
                  </a:lnTo>
                  <a:lnTo>
                    <a:pt x="1815299" y="1499006"/>
                  </a:lnTo>
                  <a:close/>
                </a:path>
                <a:path w="2484754" h="2470150">
                  <a:moveTo>
                    <a:pt x="1842566" y="1767293"/>
                  </a:moveTo>
                  <a:lnTo>
                    <a:pt x="1836496" y="1759953"/>
                  </a:lnTo>
                  <a:lnTo>
                    <a:pt x="1807121" y="1784223"/>
                  </a:lnTo>
                  <a:lnTo>
                    <a:pt x="1813191" y="1791563"/>
                  </a:lnTo>
                  <a:lnTo>
                    <a:pt x="1842566" y="1767293"/>
                  </a:lnTo>
                  <a:close/>
                </a:path>
                <a:path w="2484754" h="2470150">
                  <a:moveTo>
                    <a:pt x="1842566" y="1438148"/>
                  </a:moveTo>
                  <a:lnTo>
                    <a:pt x="1833880" y="1434261"/>
                  </a:lnTo>
                  <a:lnTo>
                    <a:pt x="1818297" y="1469034"/>
                  </a:lnTo>
                  <a:lnTo>
                    <a:pt x="1826983" y="1472920"/>
                  </a:lnTo>
                  <a:lnTo>
                    <a:pt x="1842566" y="1438148"/>
                  </a:lnTo>
                  <a:close/>
                </a:path>
                <a:path w="2484754" h="2470150">
                  <a:moveTo>
                    <a:pt x="1869833" y="1377302"/>
                  </a:moveTo>
                  <a:lnTo>
                    <a:pt x="1861134" y="1373416"/>
                  </a:lnTo>
                  <a:lnTo>
                    <a:pt x="1845564" y="1408176"/>
                  </a:lnTo>
                  <a:lnTo>
                    <a:pt x="1854250" y="1412074"/>
                  </a:lnTo>
                  <a:lnTo>
                    <a:pt x="1869833" y="1377302"/>
                  </a:lnTo>
                  <a:close/>
                </a:path>
                <a:path w="2484754" h="2470150">
                  <a:moveTo>
                    <a:pt x="1870621" y="2106498"/>
                  </a:moveTo>
                  <a:lnTo>
                    <a:pt x="1837664" y="2087384"/>
                  </a:lnTo>
                  <a:lnTo>
                    <a:pt x="1832889" y="2095627"/>
                  </a:lnTo>
                  <a:lnTo>
                    <a:pt x="1865845" y="2114740"/>
                  </a:lnTo>
                  <a:lnTo>
                    <a:pt x="1870621" y="2106498"/>
                  </a:lnTo>
                  <a:close/>
                </a:path>
                <a:path w="2484754" h="2470150">
                  <a:moveTo>
                    <a:pt x="1893976" y="1724837"/>
                  </a:moveTo>
                  <a:lnTo>
                    <a:pt x="1887905" y="1717497"/>
                  </a:lnTo>
                  <a:lnTo>
                    <a:pt x="1858530" y="1741754"/>
                  </a:lnTo>
                  <a:lnTo>
                    <a:pt x="1864601" y="1749094"/>
                  </a:lnTo>
                  <a:lnTo>
                    <a:pt x="1893976" y="1724837"/>
                  </a:lnTo>
                  <a:close/>
                </a:path>
                <a:path w="2484754" h="2470150">
                  <a:moveTo>
                    <a:pt x="1897087" y="1316456"/>
                  </a:moveTo>
                  <a:lnTo>
                    <a:pt x="1888401" y="1312570"/>
                  </a:lnTo>
                  <a:lnTo>
                    <a:pt x="1872818" y="1347330"/>
                  </a:lnTo>
                  <a:lnTo>
                    <a:pt x="1881517" y="1351229"/>
                  </a:lnTo>
                  <a:lnTo>
                    <a:pt x="1897087" y="1316456"/>
                  </a:lnTo>
                  <a:close/>
                </a:path>
                <a:path w="2484754" h="2470150">
                  <a:moveTo>
                    <a:pt x="1924354" y="1255610"/>
                  </a:moveTo>
                  <a:lnTo>
                    <a:pt x="1915668" y="1251724"/>
                  </a:lnTo>
                  <a:lnTo>
                    <a:pt x="1900085" y="1286484"/>
                  </a:lnTo>
                  <a:lnTo>
                    <a:pt x="1908771" y="1290383"/>
                  </a:lnTo>
                  <a:lnTo>
                    <a:pt x="1924354" y="1255610"/>
                  </a:lnTo>
                  <a:close/>
                </a:path>
                <a:path w="2484754" h="2470150">
                  <a:moveTo>
                    <a:pt x="1928304" y="2139937"/>
                  </a:moveTo>
                  <a:lnTo>
                    <a:pt x="1895348" y="2120823"/>
                  </a:lnTo>
                  <a:lnTo>
                    <a:pt x="1890572" y="2129066"/>
                  </a:lnTo>
                  <a:lnTo>
                    <a:pt x="1923529" y="2148179"/>
                  </a:lnTo>
                  <a:lnTo>
                    <a:pt x="1928304" y="2139937"/>
                  </a:lnTo>
                  <a:close/>
                </a:path>
                <a:path w="2484754" h="2470150">
                  <a:moveTo>
                    <a:pt x="1945373" y="1682369"/>
                  </a:moveTo>
                  <a:lnTo>
                    <a:pt x="1939302" y="1675028"/>
                  </a:lnTo>
                  <a:lnTo>
                    <a:pt x="1909940" y="1699298"/>
                  </a:lnTo>
                  <a:lnTo>
                    <a:pt x="1915998" y="1706638"/>
                  </a:lnTo>
                  <a:lnTo>
                    <a:pt x="1945373" y="1682369"/>
                  </a:lnTo>
                  <a:close/>
                </a:path>
                <a:path w="2484754" h="2470150">
                  <a:moveTo>
                    <a:pt x="1951621" y="1194765"/>
                  </a:moveTo>
                  <a:lnTo>
                    <a:pt x="1942922" y="1190866"/>
                  </a:lnTo>
                  <a:lnTo>
                    <a:pt x="1927352" y="1225638"/>
                  </a:lnTo>
                  <a:lnTo>
                    <a:pt x="1936038" y="1229537"/>
                  </a:lnTo>
                  <a:lnTo>
                    <a:pt x="1951621" y="1194765"/>
                  </a:lnTo>
                  <a:close/>
                </a:path>
                <a:path w="2484754" h="2470150">
                  <a:moveTo>
                    <a:pt x="1978875" y="1133919"/>
                  </a:moveTo>
                  <a:lnTo>
                    <a:pt x="1970189" y="1130020"/>
                  </a:lnTo>
                  <a:lnTo>
                    <a:pt x="1954606" y="1164793"/>
                  </a:lnTo>
                  <a:lnTo>
                    <a:pt x="1963305" y="1168692"/>
                  </a:lnTo>
                  <a:lnTo>
                    <a:pt x="1978875" y="1133919"/>
                  </a:lnTo>
                  <a:close/>
                </a:path>
                <a:path w="2484754" h="2470150">
                  <a:moveTo>
                    <a:pt x="1985987" y="2173376"/>
                  </a:moveTo>
                  <a:lnTo>
                    <a:pt x="1953031" y="2154263"/>
                  </a:lnTo>
                  <a:lnTo>
                    <a:pt x="1948256" y="2162505"/>
                  </a:lnTo>
                  <a:lnTo>
                    <a:pt x="1981212" y="2181618"/>
                  </a:lnTo>
                  <a:lnTo>
                    <a:pt x="1985987" y="2173376"/>
                  </a:lnTo>
                  <a:close/>
                </a:path>
                <a:path w="2484754" h="2470150">
                  <a:moveTo>
                    <a:pt x="1996782" y="1639912"/>
                  </a:moveTo>
                  <a:lnTo>
                    <a:pt x="1990712" y="1632559"/>
                  </a:lnTo>
                  <a:lnTo>
                    <a:pt x="1961337" y="1656829"/>
                  </a:lnTo>
                  <a:lnTo>
                    <a:pt x="1967407" y="1664169"/>
                  </a:lnTo>
                  <a:lnTo>
                    <a:pt x="1996782" y="1639912"/>
                  </a:lnTo>
                  <a:close/>
                </a:path>
                <a:path w="2484754" h="2470150">
                  <a:moveTo>
                    <a:pt x="2006142" y="1073073"/>
                  </a:moveTo>
                  <a:lnTo>
                    <a:pt x="1997456" y="1069174"/>
                  </a:lnTo>
                  <a:lnTo>
                    <a:pt x="1981873" y="1103947"/>
                  </a:lnTo>
                  <a:lnTo>
                    <a:pt x="1990559" y="1107846"/>
                  </a:lnTo>
                  <a:lnTo>
                    <a:pt x="2006142" y="1073073"/>
                  </a:lnTo>
                  <a:close/>
                </a:path>
                <a:path w="2484754" h="2470150">
                  <a:moveTo>
                    <a:pt x="2033409" y="1012228"/>
                  </a:moveTo>
                  <a:lnTo>
                    <a:pt x="2024710" y="1008329"/>
                  </a:lnTo>
                  <a:lnTo>
                    <a:pt x="2009140" y="1043101"/>
                  </a:lnTo>
                  <a:lnTo>
                    <a:pt x="2017826" y="1047000"/>
                  </a:lnTo>
                  <a:lnTo>
                    <a:pt x="2033409" y="1012228"/>
                  </a:lnTo>
                  <a:close/>
                </a:path>
                <a:path w="2484754" h="2470150">
                  <a:moveTo>
                    <a:pt x="2043671" y="2206815"/>
                  </a:moveTo>
                  <a:lnTo>
                    <a:pt x="2010714" y="2187702"/>
                  </a:lnTo>
                  <a:lnTo>
                    <a:pt x="2005939" y="2195944"/>
                  </a:lnTo>
                  <a:lnTo>
                    <a:pt x="2038896" y="2215057"/>
                  </a:lnTo>
                  <a:lnTo>
                    <a:pt x="2043671" y="2206815"/>
                  </a:lnTo>
                  <a:close/>
                </a:path>
                <a:path w="2484754" h="2470150">
                  <a:moveTo>
                    <a:pt x="2048179" y="1597444"/>
                  </a:moveTo>
                  <a:lnTo>
                    <a:pt x="2042109" y="1590103"/>
                  </a:lnTo>
                  <a:lnTo>
                    <a:pt x="2012746" y="1614360"/>
                  </a:lnTo>
                  <a:lnTo>
                    <a:pt x="2018804" y="1621713"/>
                  </a:lnTo>
                  <a:lnTo>
                    <a:pt x="2048179" y="1597444"/>
                  </a:lnTo>
                  <a:close/>
                </a:path>
                <a:path w="2484754" h="2470150">
                  <a:moveTo>
                    <a:pt x="2060663" y="951382"/>
                  </a:moveTo>
                  <a:lnTo>
                    <a:pt x="2051977" y="947483"/>
                  </a:lnTo>
                  <a:lnTo>
                    <a:pt x="2036394" y="982256"/>
                  </a:lnTo>
                  <a:lnTo>
                    <a:pt x="2045093" y="986155"/>
                  </a:lnTo>
                  <a:lnTo>
                    <a:pt x="2060663" y="951382"/>
                  </a:lnTo>
                  <a:close/>
                </a:path>
                <a:path w="2484754" h="2470150">
                  <a:moveTo>
                    <a:pt x="2087930" y="890536"/>
                  </a:moveTo>
                  <a:lnTo>
                    <a:pt x="2079244" y="886637"/>
                  </a:lnTo>
                  <a:lnTo>
                    <a:pt x="2063661" y="921410"/>
                  </a:lnTo>
                  <a:lnTo>
                    <a:pt x="2072347" y="925309"/>
                  </a:lnTo>
                  <a:lnTo>
                    <a:pt x="2087930" y="890536"/>
                  </a:lnTo>
                  <a:close/>
                </a:path>
                <a:path w="2484754" h="2470150">
                  <a:moveTo>
                    <a:pt x="2099589" y="1554975"/>
                  </a:moveTo>
                  <a:lnTo>
                    <a:pt x="2093518" y="1547634"/>
                  </a:lnTo>
                  <a:lnTo>
                    <a:pt x="2064143" y="1571904"/>
                  </a:lnTo>
                  <a:lnTo>
                    <a:pt x="2070214" y="1579245"/>
                  </a:lnTo>
                  <a:lnTo>
                    <a:pt x="2099589" y="1554975"/>
                  </a:lnTo>
                  <a:close/>
                </a:path>
                <a:path w="2484754" h="2470150">
                  <a:moveTo>
                    <a:pt x="2101354" y="2240254"/>
                  </a:moveTo>
                  <a:lnTo>
                    <a:pt x="2068398" y="2221141"/>
                  </a:lnTo>
                  <a:lnTo>
                    <a:pt x="2063623" y="2229383"/>
                  </a:lnTo>
                  <a:lnTo>
                    <a:pt x="2096579" y="2248497"/>
                  </a:lnTo>
                  <a:lnTo>
                    <a:pt x="2101354" y="2240254"/>
                  </a:lnTo>
                  <a:close/>
                </a:path>
                <a:path w="2484754" h="2470150">
                  <a:moveTo>
                    <a:pt x="2115197" y="829691"/>
                  </a:moveTo>
                  <a:lnTo>
                    <a:pt x="2106498" y="825792"/>
                  </a:lnTo>
                  <a:lnTo>
                    <a:pt x="2090928" y="860564"/>
                  </a:lnTo>
                  <a:lnTo>
                    <a:pt x="2099614" y="864450"/>
                  </a:lnTo>
                  <a:lnTo>
                    <a:pt x="2115197" y="829691"/>
                  </a:lnTo>
                  <a:close/>
                </a:path>
                <a:path w="2484754" h="2470150">
                  <a:moveTo>
                    <a:pt x="2142452" y="768845"/>
                  </a:moveTo>
                  <a:lnTo>
                    <a:pt x="2133765" y="764946"/>
                  </a:lnTo>
                  <a:lnTo>
                    <a:pt x="2118182" y="799719"/>
                  </a:lnTo>
                  <a:lnTo>
                    <a:pt x="2126881" y="803605"/>
                  </a:lnTo>
                  <a:lnTo>
                    <a:pt x="2142452" y="768845"/>
                  </a:lnTo>
                  <a:close/>
                </a:path>
                <a:path w="2484754" h="2470150">
                  <a:moveTo>
                    <a:pt x="2150986" y="1512519"/>
                  </a:moveTo>
                  <a:lnTo>
                    <a:pt x="2144928" y="1505165"/>
                  </a:lnTo>
                  <a:lnTo>
                    <a:pt x="2115553" y="1529435"/>
                  </a:lnTo>
                  <a:lnTo>
                    <a:pt x="2121611" y="1536776"/>
                  </a:lnTo>
                  <a:lnTo>
                    <a:pt x="2150986" y="1512519"/>
                  </a:lnTo>
                  <a:close/>
                </a:path>
                <a:path w="2484754" h="2470150">
                  <a:moveTo>
                    <a:pt x="2159038" y="2273693"/>
                  </a:moveTo>
                  <a:lnTo>
                    <a:pt x="2126081" y="2254580"/>
                  </a:lnTo>
                  <a:lnTo>
                    <a:pt x="2121306" y="2262822"/>
                  </a:lnTo>
                  <a:lnTo>
                    <a:pt x="2154263" y="2281936"/>
                  </a:lnTo>
                  <a:lnTo>
                    <a:pt x="2159038" y="2273693"/>
                  </a:lnTo>
                  <a:close/>
                </a:path>
                <a:path w="2484754" h="2470150">
                  <a:moveTo>
                    <a:pt x="2169718" y="707999"/>
                  </a:moveTo>
                  <a:lnTo>
                    <a:pt x="2161019" y="704100"/>
                  </a:lnTo>
                  <a:lnTo>
                    <a:pt x="2145449" y="738873"/>
                  </a:lnTo>
                  <a:lnTo>
                    <a:pt x="2154136" y="742759"/>
                  </a:lnTo>
                  <a:lnTo>
                    <a:pt x="2169718" y="707999"/>
                  </a:lnTo>
                  <a:close/>
                </a:path>
                <a:path w="2484754" h="2470150">
                  <a:moveTo>
                    <a:pt x="2196985" y="647141"/>
                  </a:moveTo>
                  <a:lnTo>
                    <a:pt x="2188286" y="643255"/>
                  </a:lnTo>
                  <a:lnTo>
                    <a:pt x="2172703" y="678027"/>
                  </a:lnTo>
                  <a:lnTo>
                    <a:pt x="2181402" y="681913"/>
                  </a:lnTo>
                  <a:lnTo>
                    <a:pt x="2196985" y="647141"/>
                  </a:lnTo>
                  <a:close/>
                </a:path>
                <a:path w="2484754" h="2470150">
                  <a:moveTo>
                    <a:pt x="2202396" y="1470050"/>
                  </a:moveTo>
                  <a:lnTo>
                    <a:pt x="2196325" y="1462709"/>
                  </a:lnTo>
                  <a:lnTo>
                    <a:pt x="2166950" y="1486966"/>
                  </a:lnTo>
                  <a:lnTo>
                    <a:pt x="2173020" y="1494320"/>
                  </a:lnTo>
                  <a:lnTo>
                    <a:pt x="2202396" y="1470050"/>
                  </a:lnTo>
                  <a:close/>
                </a:path>
                <a:path w="2484754" h="2470150">
                  <a:moveTo>
                    <a:pt x="2216721" y="2307132"/>
                  </a:moveTo>
                  <a:lnTo>
                    <a:pt x="2183765" y="2288019"/>
                  </a:lnTo>
                  <a:lnTo>
                    <a:pt x="2178989" y="2296261"/>
                  </a:lnTo>
                  <a:lnTo>
                    <a:pt x="2211946" y="2315375"/>
                  </a:lnTo>
                  <a:lnTo>
                    <a:pt x="2216721" y="2307132"/>
                  </a:lnTo>
                  <a:close/>
                </a:path>
                <a:path w="2484754" h="2470150">
                  <a:moveTo>
                    <a:pt x="2224240" y="586295"/>
                  </a:moveTo>
                  <a:lnTo>
                    <a:pt x="2215553" y="582409"/>
                  </a:lnTo>
                  <a:lnTo>
                    <a:pt x="2199970" y="617181"/>
                  </a:lnTo>
                  <a:lnTo>
                    <a:pt x="2208669" y="621068"/>
                  </a:lnTo>
                  <a:lnTo>
                    <a:pt x="2224240" y="586295"/>
                  </a:lnTo>
                  <a:close/>
                </a:path>
                <a:path w="2484754" h="2470150">
                  <a:moveTo>
                    <a:pt x="2251506" y="525449"/>
                  </a:moveTo>
                  <a:lnTo>
                    <a:pt x="2242807" y="521563"/>
                  </a:lnTo>
                  <a:lnTo>
                    <a:pt x="2227237" y="556323"/>
                  </a:lnTo>
                  <a:lnTo>
                    <a:pt x="2235924" y="560222"/>
                  </a:lnTo>
                  <a:lnTo>
                    <a:pt x="2251506" y="525449"/>
                  </a:lnTo>
                  <a:close/>
                </a:path>
                <a:path w="2484754" h="2470150">
                  <a:moveTo>
                    <a:pt x="2253792" y="1427581"/>
                  </a:moveTo>
                  <a:lnTo>
                    <a:pt x="2247735" y="1420241"/>
                  </a:lnTo>
                  <a:lnTo>
                    <a:pt x="2218359" y="1444510"/>
                  </a:lnTo>
                  <a:lnTo>
                    <a:pt x="2224417" y="1451851"/>
                  </a:lnTo>
                  <a:lnTo>
                    <a:pt x="2253792" y="1427581"/>
                  </a:lnTo>
                  <a:close/>
                </a:path>
                <a:path w="2484754" h="2470150">
                  <a:moveTo>
                    <a:pt x="2274405" y="2340572"/>
                  </a:moveTo>
                  <a:lnTo>
                    <a:pt x="2241448" y="2321458"/>
                  </a:lnTo>
                  <a:lnTo>
                    <a:pt x="2236673" y="2329700"/>
                  </a:lnTo>
                  <a:lnTo>
                    <a:pt x="2269629" y="2348814"/>
                  </a:lnTo>
                  <a:lnTo>
                    <a:pt x="2274405" y="2340572"/>
                  </a:lnTo>
                  <a:close/>
                </a:path>
                <a:path w="2484754" h="2470150">
                  <a:moveTo>
                    <a:pt x="2278773" y="464604"/>
                  </a:moveTo>
                  <a:lnTo>
                    <a:pt x="2270074" y="460717"/>
                  </a:lnTo>
                  <a:lnTo>
                    <a:pt x="2254491" y="495477"/>
                  </a:lnTo>
                  <a:lnTo>
                    <a:pt x="2263190" y="499376"/>
                  </a:lnTo>
                  <a:lnTo>
                    <a:pt x="2278773" y="464604"/>
                  </a:lnTo>
                  <a:close/>
                </a:path>
                <a:path w="2484754" h="2470150">
                  <a:moveTo>
                    <a:pt x="2305202" y="1385125"/>
                  </a:moveTo>
                  <a:lnTo>
                    <a:pt x="2299131" y="1377784"/>
                  </a:lnTo>
                  <a:lnTo>
                    <a:pt x="2269756" y="1402041"/>
                  </a:lnTo>
                  <a:lnTo>
                    <a:pt x="2275827" y="1409382"/>
                  </a:lnTo>
                  <a:lnTo>
                    <a:pt x="2305202" y="1385125"/>
                  </a:lnTo>
                  <a:close/>
                </a:path>
                <a:path w="2484754" h="2470150">
                  <a:moveTo>
                    <a:pt x="2306028" y="403758"/>
                  </a:moveTo>
                  <a:lnTo>
                    <a:pt x="2297341" y="399872"/>
                  </a:lnTo>
                  <a:lnTo>
                    <a:pt x="2281758" y="434632"/>
                  </a:lnTo>
                  <a:lnTo>
                    <a:pt x="2290457" y="438531"/>
                  </a:lnTo>
                  <a:lnTo>
                    <a:pt x="2306028" y="403758"/>
                  </a:lnTo>
                  <a:close/>
                </a:path>
                <a:path w="2484754" h="2470150">
                  <a:moveTo>
                    <a:pt x="2332088" y="2374011"/>
                  </a:moveTo>
                  <a:lnTo>
                    <a:pt x="2299131" y="2354897"/>
                  </a:lnTo>
                  <a:lnTo>
                    <a:pt x="2294356" y="2363139"/>
                  </a:lnTo>
                  <a:lnTo>
                    <a:pt x="2327313" y="2382253"/>
                  </a:lnTo>
                  <a:lnTo>
                    <a:pt x="2332088" y="2374011"/>
                  </a:lnTo>
                  <a:close/>
                </a:path>
                <a:path w="2484754" h="2470150">
                  <a:moveTo>
                    <a:pt x="2333294" y="342912"/>
                  </a:moveTo>
                  <a:lnTo>
                    <a:pt x="2324595" y="339013"/>
                  </a:lnTo>
                  <a:lnTo>
                    <a:pt x="2309025" y="373786"/>
                  </a:lnTo>
                  <a:lnTo>
                    <a:pt x="2317712" y="377685"/>
                  </a:lnTo>
                  <a:lnTo>
                    <a:pt x="2333294" y="342912"/>
                  </a:lnTo>
                  <a:close/>
                </a:path>
                <a:path w="2484754" h="2470150">
                  <a:moveTo>
                    <a:pt x="2356599" y="1342656"/>
                  </a:moveTo>
                  <a:lnTo>
                    <a:pt x="2350541" y="1335316"/>
                  </a:lnTo>
                  <a:lnTo>
                    <a:pt x="2321166" y="1359585"/>
                  </a:lnTo>
                  <a:lnTo>
                    <a:pt x="2327237" y="1366926"/>
                  </a:lnTo>
                  <a:lnTo>
                    <a:pt x="2356599" y="1342656"/>
                  </a:lnTo>
                  <a:close/>
                </a:path>
                <a:path w="2484754" h="2470150">
                  <a:moveTo>
                    <a:pt x="2360549" y="282067"/>
                  </a:moveTo>
                  <a:lnTo>
                    <a:pt x="2351862" y="278168"/>
                  </a:lnTo>
                  <a:lnTo>
                    <a:pt x="2336279" y="312940"/>
                  </a:lnTo>
                  <a:lnTo>
                    <a:pt x="2344978" y="316839"/>
                  </a:lnTo>
                  <a:lnTo>
                    <a:pt x="2360549" y="282067"/>
                  </a:lnTo>
                  <a:close/>
                </a:path>
                <a:path w="2484754" h="2470150">
                  <a:moveTo>
                    <a:pt x="2387816" y="221221"/>
                  </a:moveTo>
                  <a:lnTo>
                    <a:pt x="2379129" y="217322"/>
                  </a:lnTo>
                  <a:lnTo>
                    <a:pt x="2363546" y="252095"/>
                  </a:lnTo>
                  <a:lnTo>
                    <a:pt x="2372233" y="255993"/>
                  </a:lnTo>
                  <a:lnTo>
                    <a:pt x="2387816" y="221221"/>
                  </a:lnTo>
                  <a:close/>
                </a:path>
                <a:path w="2484754" h="2470150">
                  <a:moveTo>
                    <a:pt x="2389771" y="2407450"/>
                  </a:moveTo>
                  <a:lnTo>
                    <a:pt x="2356815" y="2388336"/>
                  </a:lnTo>
                  <a:lnTo>
                    <a:pt x="2352040" y="2396579"/>
                  </a:lnTo>
                  <a:lnTo>
                    <a:pt x="2384996" y="2415692"/>
                  </a:lnTo>
                  <a:lnTo>
                    <a:pt x="2389771" y="2407450"/>
                  </a:lnTo>
                  <a:close/>
                </a:path>
                <a:path w="2484754" h="2470150">
                  <a:moveTo>
                    <a:pt x="2408009" y="1300200"/>
                  </a:moveTo>
                  <a:lnTo>
                    <a:pt x="2401938" y="1292847"/>
                  </a:lnTo>
                  <a:lnTo>
                    <a:pt x="2372563" y="1317117"/>
                  </a:lnTo>
                  <a:lnTo>
                    <a:pt x="2378633" y="1324457"/>
                  </a:lnTo>
                  <a:lnTo>
                    <a:pt x="2408009" y="1300200"/>
                  </a:lnTo>
                  <a:close/>
                </a:path>
                <a:path w="2484754" h="2470150">
                  <a:moveTo>
                    <a:pt x="2415082" y="160375"/>
                  </a:moveTo>
                  <a:lnTo>
                    <a:pt x="2406383" y="156476"/>
                  </a:lnTo>
                  <a:lnTo>
                    <a:pt x="2390813" y="191249"/>
                  </a:lnTo>
                  <a:lnTo>
                    <a:pt x="2399500" y="195148"/>
                  </a:lnTo>
                  <a:lnTo>
                    <a:pt x="2415082" y="160375"/>
                  </a:lnTo>
                  <a:close/>
                </a:path>
                <a:path w="2484754" h="2470150">
                  <a:moveTo>
                    <a:pt x="2442337" y="99529"/>
                  </a:moveTo>
                  <a:lnTo>
                    <a:pt x="2433650" y="95631"/>
                  </a:lnTo>
                  <a:lnTo>
                    <a:pt x="2418067" y="130403"/>
                  </a:lnTo>
                  <a:lnTo>
                    <a:pt x="2426766" y="134302"/>
                  </a:lnTo>
                  <a:lnTo>
                    <a:pt x="2442337" y="99529"/>
                  </a:lnTo>
                  <a:close/>
                </a:path>
                <a:path w="2484754" h="2470150">
                  <a:moveTo>
                    <a:pt x="2480843" y="2465743"/>
                  </a:moveTo>
                  <a:lnTo>
                    <a:pt x="2452992" y="2423414"/>
                  </a:lnTo>
                  <a:lnTo>
                    <a:pt x="2434031" y="2394572"/>
                  </a:lnTo>
                  <a:lnTo>
                    <a:pt x="2417305" y="2423414"/>
                  </a:lnTo>
                  <a:lnTo>
                    <a:pt x="2414498" y="2421788"/>
                  </a:lnTo>
                  <a:lnTo>
                    <a:pt x="2409723" y="2430018"/>
                  </a:lnTo>
                  <a:lnTo>
                    <a:pt x="2412530" y="2431656"/>
                  </a:lnTo>
                  <a:lnTo>
                    <a:pt x="2395817" y="2460498"/>
                  </a:lnTo>
                  <a:lnTo>
                    <a:pt x="2480843" y="2465743"/>
                  </a:lnTo>
                  <a:close/>
                </a:path>
                <a:path w="2484754" h="2470150">
                  <a:moveTo>
                    <a:pt x="2480843" y="1233843"/>
                  </a:moveTo>
                  <a:lnTo>
                    <a:pt x="2397836" y="1253007"/>
                  </a:lnTo>
                  <a:lnTo>
                    <a:pt x="2446363" y="1311757"/>
                  </a:lnTo>
                  <a:lnTo>
                    <a:pt x="2480843" y="1233843"/>
                  </a:lnTo>
                  <a:close/>
                </a:path>
                <a:path w="2484754" h="2470150">
                  <a:moveTo>
                    <a:pt x="2484450" y="87071"/>
                  </a:moveTo>
                  <a:lnTo>
                    <a:pt x="2483878" y="73431"/>
                  </a:lnTo>
                  <a:lnTo>
                    <a:pt x="2480843" y="1943"/>
                  </a:lnTo>
                  <a:lnTo>
                    <a:pt x="2414917" y="55905"/>
                  </a:lnTo>
                  <a:lnTo>
                    <a:pt x="2445347" y="69545"/>
                  </a:lnTo>
                  <a:lnTo>
                    <a:pt x="2454021" y="73444"/>
                  </a:lnTo>
                  <a:lnTo>
                    <a:pt x="2484450" y="87071"/>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37" name="object 37"/>
            <p:cNvSpPr/>
            <p:nvPr/>
          </p:nvSpPr>
          <p:spPr>
            <a:xfrm>
              <a:off x="4973497" y="2698749"/>
              <a:ext cx="886460" cy="529590"/>
            </a:xfrm>
            <a:custGeom>
              <a:avLst/>
              <a:gdLst/>
              <a:ahLst/>
              <a:cxnLst/>
              <a:rect l="l" t="t" r="r" b="b"/>
              <a:pathLst>
                <a:path w="886460" h="529589">
                  <a:moveTo>
                    <a:pt x="885920" y="0"/>
                  </a:moveTo>
                  <a:lnTo>
                    <a:pt x="758404" y="8390"/>
                  </a:lnTo>
                  <a:lnTo>
                    <a:pt x="777643" y="41276"/>
                  </a:lnTo>
                  <a:lnTo>
                    <a:pt x="690592" y="92205"/>
                  </a:lnTo>
                  <a:lnTo>
                    <a:pt x="709832" y="125091"/>
                  </a:lnTo>
                  <a:lnTo>
                    <a:pt x="796884" y="74161"/>
                  </a:lnTo>
                  <a:lnTo>
                    <a:pt x="837565" y="74161"/>
                  </a:lnTo>
                  <a:lnTo>
                    <a:pt x="885920" y="0"/>
                  </a:lnTo>
                  <a:close/>
                </a:path>
                <a:path w="886460" h="529589">
                  <a:moveTo>
                    <a:pt x="837565" y="74161"/>
                  </a:moveTo>
                  <a:lnTo>
                    <a:pt x="796884" y="74161"/>
                  </a:lnTo>
                  <a:lnTo>
                    <a:pt x="816123" y="107047"/>
                  </a:lnTo>
                  <a:lnTo>
                    <a:pt x="837565" y="74161"/>
                  </a:lnTo>
                  <a:close/>
                </a:path>
                <a:path w="886460" h="529589">
                  <a:moveTo>
                    <a:pt x="591936" y="149924"/>
                  </a:moveTo>
                  <a:lnTo>
                    <a:pt x="460395" y="226882"/>
                  </a:lnTo>
                  <a:lnTo>
                    <a:pt x="479635" y="259768"/>
                  </a:lnTo>
                  <a:lnTo>
                    <a:pt x="611176" y="182810"/>
                  </a:lnTo>
                  <a:lnTo>
                    <a:pt x="591936" y="149924"/>
                  </a:lnTo>
                  <a:close/>
                </a:path>
                <a:path w="886460" h="529589">
                  <a:moveTo>
                    <a:pt x="361739" y="284601"/>
                  </a:moveTo>
                  <a:lnTo>
                    <a:pt x="230197" y="361560"/>
                  </a:lnTo>
                  <a:lnTo>
                    <a:pt x="249438" y="394445"/>
                  </a:lnTo>
                  <a:lnTo>
                    <a:pt x="380979" y="317487"/>
                  </a:lnTo>
                  <a:lnTo>
                    <a:pt x="361739" y="284601"/>
                  </a:lnTo>
                  <a:close/>
                </a:path>
                <a:path w="886460" h="529589">
                  <a:moveTo>
                    <a:pt x="131541" y="419279"/>
                  </a:moveTo>
                  <a:lnTo>
                    <a:pt x="0" y="496237"/>
                  </a:lnTo>
                  <a:lnTo>
                    <a:pt x="19240" y="529122"/>
                  </a:lnTo>
                  <a:lnTo>
                    <a:pt x="150782" y="452164"/>
                  </a:lnTo>
                  <a:lnTo>
                    <a:pt x="131541" y="419279"/>
                  </a:lnTo>
                  <a:close/>
                </a:path>
              </a:pathLst>
            </a:custGeom>
            <a:solidFill>
              <a:srgbClr val="FF0000"/>
            </a:solidFill>
          </p:spPr>
          <p:txBody>
            <a:bodyPr wrap="square" lIns="0" tIns="0" rIns="0" bIns="0" rtlCol="0"/>
            <a:lstStyle/>
            <a:p>
              <a:endParaRPr>
                <a:solidFill>
                  <a:prstClr val="black"/>
                </a:solidFill>
                <a:latin typeface="Calibri"/>
              </a:endParaRPr>
            </a:p>
          </p:txBody>
        </p:sp>
        <p:sp>
          <p:nvSpPr>
            <p:cNvPr id="38" name="object 38"/>
            <p:cNvSpPr/>
            <p:nvPr/>
          </p:nvSpPr>
          <p:spPr>
            <a:xfrm>
              <a:off x="4978768" y="3207753"/>
              <a:ext cx="884555" cy="1955164"/>
            </a:xfrm>
            <a:custGeom>
              <a:avLst/>
              <a:gdLst/>
              <a:ahLst/>
              <a:cxnLst/>
              <a:rect l="l" t="t" r="r" b="b"/>
              <a:pathLst>
                <a:path w="884554" h="1955164">
                  <a:moveTo>
                    <a:pt x="36817" y="24168"/>
                  </a:moveTo>
                  <a:lnTo>
                    <a:pt x="7366" y="0"/>
                  </a:lnTo>
                  <a:lnTo>
                    <a:pt x="4343" y="3683"/>
                  </a:lnTo>
                  <a:lnTo>
                    <a:pt x="0" y="5638"/>
                  </a:lnTo>
                  <a:lnTo>
                    <a:pt x="15608" y="40386"/>
                  </a:lnTo>
                  <a:lnTo>
                    <a:pt x="24295" y="36487"/>
                  </a:lnTo>
                  <a:lnTo>
                    <a:pt x="16992" y="20231"/>
                  </a:lnTo>
                  <a:lnTo>
                    <a:pt x="30772" y="31534"/>
                  </a:lnTo>
                  <a:lnTo>
                    <a:pt x="36817" y="24168"/>
                  </a:lnTo>
                  <a:close/>
                </a:path>
                <a:path w="884554" h="1955164">
                  <a:moveTo>
                    <a:pt x="51612" y="97307"/>
                  </a:moveTo>
                  <a:lnTo>
                    <a:pt x="36004" y="62547"/>
                  </a:lnTo>
                  <a:lnTo>
                    <a:pt x="27317" y="66459"/>
                  </a:lnTo>
                  <a:lnTo>
                    <a:pt x="42926" y="101206"/>
                  </a:lnTo>
                  <a:lnTo>
                    <a:pt x="51612" y="97307"/>
                  </a:lnTo>
                  <a:close/>
                </a:path>
                <a:path w="884554" h="1955164">
                  <a:moveTo>
                    <a:pt x="78930" y="158127"/>
                  </a:moveTo>
                  <a:lnTo>
                    <a:pt x="63322" y="123380"/>
                  </a:lnTo>
                  <a:lnTo>
                    <a:pt x="54635" y="127279"/>
                  </a:lnTo>
                  <a:lnTo>
                    <a:pt x="70243" y="162039"/>
                  </a:lnTo>
                  <a:lnTo>
                    <a:pt x="78930" y="158127"/>
                  </a:lnTo>
                  <a:close/>
                </a:path>
                <a:path w="884554" h="1955164">
                  <a:moveTo>
                    <a:pt x="88353" y="66471"/>
                  </a:moveTo>
                  <a:lnTo>
                    <a:pt x="58902" y="42303"/>
                  </a:lnTo>
                  <a:lnTo>
                    <a:pt x="52857" y="49669"/>
                  </a:lnTo>
                  <a:lnTo>
                    <a:pt x="82308" y="73837"/>
                  </a:lnTo>
                  <a:lnTo>
                    <a:pt x="88353" y="66471"/>
                  </a:lnTo>
                  <a:close/>
                </a:path>
                <a:path w="884554" h="1955164">
                  <a:moveTo>
                    <a:pt x="106248" y="218948"/>
                  </a:moveTo>
                  <a:lnTo>
                    <a:pt x="90639" y="184200"/>
                  </a:lnTo>
                  <a:lnTo>
                    <a:pt x="81953" y="188099"/>
                  </a:lnTo>
                  <a:lnTo>
                    <a:pt x="97561" y="222859"/>
                  </a:lnTo>
                  <a:lnTo>
                    <a:pt x="106248" y="218948"/>
                  </a:lnTo>
                  <a:close/>
                </a:path>
                <a:path w="884554" h="1955164">
                  <a:moveTo>
                    <a:pt x="133565" y="279781"/>
                  </a:moveTo>
                  <a:lnTo>
                    <a:pt x="117957" y="245021"/>
                  </a:lnTo>
                  <a:lnTo>
                    <a:pt x="109270" y="248920"/>
                  </a:lnTo>
                  <a:lnTo>
                    <a:pt x="124879" y="283679"/>
                  </a:lnTo>
                  <a:lnTo>
                    <a:pt x="133565" y="279781"/>
                  </a:lnTo>
                  <a:close/>
                </a:path>
                <a:path w="884554" h="1955164">
                  <a:moveTo>
                    <a:pt x="139890" y="108775"/>
                  </a:moveTo>
                  <a:lnTo>
                    <a:pt x="110439" y="84607"/>
                  </a:lnTo>
                  <a:lnTo>
                    <a:pt x="104394" y="91960"/>
                  </a:lnTo>
                  <a:lnTo>
                    <a:pt x="133845" y="116141"/>
                  </a:lnTo>
                  <a:lnTo>
                    <a:pt x="139890" y="108775"/>
                  </a:lnTo>
                  <a:close/>
                </a:path>
                <a:path w="884554" h="1955164">
                  <a:moveTo>
                    <a:pt x="160883" y="340601"/>
                  </a:moveTo>
                  <a:lnTo>
                    <a:pt x="145275" y="305841"/>
                  </a:lnTo>
                  <a:lnTo>
                    <a:pt x="136588" y="309740"/>
                  </a:lnTo>
                  <a:lnTo>
                    <a:pt x="152196" y="344500"/>
                  </a:lnTo>
                  <a:lnTo>
                    <a:pt x="160883" y="340601"/>
                  </a:lnTo>
                  <a:close/>
                </a:path>
                <a:path w="884554" h="1955164">
                  <a:moveTo>
                    <a:pt x="188201" y="401421"/>
                  </a:moveTo>
                  <a:lnTo>
                    <a:pt x="172593" y="366661"/>
                  </a:lnTo>
                  <a:lnTo>
                    <a:pt x="163906" y="370573"/>
                  </a:lnTo>
                  <a:lnTo>
                    <a:pt x="179514" y="405320"/>
                  </a:lnTo>
                  <a:lnTo>
                    <a:pt x="188201" y="401421"/>
                  </a:lnTo>
                  <a:close/>
                </a:path>
                <a:path w="884554" h="1955164">
                  <a:moveTo>
                    <a:pt x="191427" y="151079"/>
                  </a:moveTo>
                  <a:lnTo>
                    <a:pt x="161975" y="126898"/>
                  </a:lnTo>
                  <a:lnTo>
                    <a:pt x="155943" y="134264"/>
                  </a:lnTo>
                  <a:lnTo>
                    <a:pt x="185394" y="158432"/>
                  </a:lnTo>
                  <a:lnTo>
                    <a:pt x="191427" y="151079"/>
                  </a:lnTo>
                  <a:close/>
                </a:path>
                <a:path w="884554" h="1955164">
                  <a:moveTo>
                    <a:pt x="215519" y="462241"/>
                  </a:moveTo>
                  <a:lnTo>
                    <a:pt x="199910" y="427482"/>
                  </a:lnTo>
                  <a:lnTo>
                    <a:pt x="191223" y="431393"/>
                  </a:lnTo>
                  <a:lnTo>
                    <a:pt x="206832" y="466140"/>
                  </a:lnTo>
                  <a:lnTo>
                    <a:pt x="215519" y="462241"/>
                  </a:lnTo>
                  <a:close/>
                </a:path>
                <a:path w="884554" h="1955164">
                  <a:moveTo>
                    <a:pt x="242836" y="523062"/>
                  </a:moveTo>
                  <a:lnTo>
                    <a:pt x="227228" y="488315"/>
                  </a:lnTo>
                  <a:lnTo>
                    <a:pt x="218528" y="492213"/>
                  </a:lnTo>
                  <a:lnTo>
                    <a:pt x="234149" y="526961"/>
                  </a:lnTo>
                  <a:lnTo>
                    <a:pt x="242836" y="523062"/>
                  </a:lnTo>
                  <a:close/>
                </a:path>
                <a:path w="884554" h="1955164">
                  <a:moveTo>
                    <a:pt x="242976" y="193370"/>
                  </a:moveTo>
                  <a:lnTo>
                    <a:pt x="213525" y="169202"/>
                  </a:lnTo>
                  <a:lnTo>
                    <a:pt x="207479" y="176568"/>
                  </a:lnTo>
                  <a:lnTo>
                    <a:pt x="236931" y="200736"/>
                  </a:lnTo>
                  <a:lnTo>
                    <a:pt x="242976" y="193370"/>
                  </a:lnTo>
                  <a:close/>
                </a:path>
                <a:path w="884554" h="1955164">
                  <a:moveTo>
                    <a:pt x="270154" y="583882"/>
                  </a:moveTo>
                  <a:lnTo>
                    <a:pt x="254546" y="549135"/>
                  </a:lnTo>
                  <a:lnTo>
                    <a:pt x="245846" y="553034"/>
                  </a:lnTo>
                  <a:lnTo>
                    <a:pt x="261454" y="587794"/>
                  </a:lnTo>
                  <a:lnTo>
                    <a:pt x="270154" y="583882"/>
                  </a:lnTo>
                  <a:close/>
                </a:path>
                <a:path w="884554" h="1955164">
                  <a:moveTo>
                    <a:pt x="294513" y="235673"/>
                  </a:moveTo>
                  <a:lnTo>
                    <a:pt x="265061" y="211505"/>
                  </a:lnTo>
                  <a:lnTo>
                    <a:pt x="259016" y="218859"/>
                  </a:lnTo>
                  <a:lnTo>
                    <a:pt x="288467" y="243039"/>
                  </a:lnTo>
                  <a:lnTo>
                    <a:pt x="294513" y="235673"/>
                  </a:lnTo>
                  <a:close/>
                </a:path>
                <a:path w="884554" h="1955164">
                  <a:moveTo>
                    <a:pt x="297472" y="644715"/>
                  </a:moveTo>
                  <a:lnTo>
                    <a:pt x="281851" y="609955"/>
                  </a:lnTo>
                  <a:lnTo>
                    <a:pt x="273164" y="613854"/>
                  </a:lnTo>
                  <a:lnTo>
                    <a:pt x="288772" y="648614"/>
                  </a:lnTo>
                  <a:lnTo>
                    <a:pt x="297472" y="644715"/>
                  </a:lnTo>
                  <a:close/>
                </a:path>
                <a:path w="884554" h="1955164">
                  <a:moveTo>
                    <a:pt x="324789" y="705535"/>
                  </a:moveTo>
                  <a:lnTo>
                    <a:pt x="309168" y="670775"/>
                  </a:lnTo>
                  <a:lnTo>
                    <a:pt x="300482" y="674674"/>
                  </a:lnTo>
                  <a:lnTo>
                    <a:pt x="316090" y="709434"/>
                  </a:lnTo>
                  <a:lnTo>
                    <a:pt x="324789" y="705535"/>
                  </a:lnTo>
                  <a:close/>
                </a:path>
                <a:path w="884554" h="1955164">
                  <a:moveTo>
                    <a:pt x="346049" y="277977"/>
                  </a:moveTo>
                  <a:lnTo>
                    <a:pt x="316598" y="253796"/>
                  </a:lnTo>
                  <a:lnTo>
                    <a:pt x="310553" y="261162"/>
                  </a:lnTo>
                  <a:lnTo>
                    <a:pt x="340004" y="285330"/>
                  </a:lnTo>
                  <a:lnTo>
                    <a:pt x="346049" y="277977"/>
                  </a:lnTo>
                  <a:close/>
                </a:path>
                <a:path w="884554" h="1955164">
                  <a:moveTo>
                    <a:pt x="352094" y="766356"/>
                  </a:moveTo>
                  <a:lnTo>
                    <a:pt x="336486" y="731596"/>
                  </a:lnTo>
                  <a:lnTo>
                    <a:pt x="327799" y="735495"/>
                  </a:lnTo>
                  <a:lnTo>
                    <a:pt x="343408" y="770255"/>
                  </a:lnTo>
                  <a:lnTo>
                    <a:pt x="352094" y="766356"/>
                  </a:lnTo>
                  <a:close/>
                </a:path>
                <a:path w="884554" h="1955164">
                  <a:moveTo>
                    <a:pt x="379412" y="827176"/>
                  </a:moveTo>
                  <a:lnTo>
                    <a:pt x="363804" y="792416"/>
                  </a:lnTo>
                  <a:lnTo>
                    <a:pt x="355117" y="796328"/>
                  </a:lnTo>
                  <a:lnTo>
                    <a:pt x="370725" y="831075"/>
                  </a:lnTo>
                  <a:lnTo>
                    <a:pt x="379412" y="827176"/>
                  </a:lnTo>
                  <a:close/>
                </a:path>
                <a:path w="884554" h="1955164">
                  <a:moveTo>
                    <a:pt x="397586" y="320268"/>
                  </a:moveTo>
                  <a:lnTo>
                    <a:pt x="368134" y="296100"/>
                  </a:lnTo>
                  <a:lnTo>
                    <a:pt x="362089" y="303466"/>
                  </a:lnTo>
                  <a:lnTo>
                    <a:pt x="391541" y="327634"/>
                  </a:lnTo>
                  <a:lnTo>
                    <a:pt x="397586" y="320268"/>
                  </a:lnTo>
                  <a:close/>
                </a:path>
                <a:path w="884554" h="1955164">
                  <a:moveTo>
                    <a:pt x="406730" y="887996"/>
                  </a:moveTo>
                  <a:lnTo>
                    <a:pt x="391121" y="853236"/>
                  </a:lnTo>
                  <a:lnTo>
                    <a:pt x="382435" y="857148"/>
                  </a:lnTo>
                  <a:lnTo>
                    <a:pt x="398043" y="891895"/>
                  </a:lnTo>
                  <a:lnTo>
                    <a:pt x="406730" y="887996"/>
                  </a:lnTo>
                  <a:close/>
                </a:path>
                <a:path w="884554" h="1955164">
                  <a:moveTo>
                    <a:pt x="434047" y="948817"/>
                  </a:moveTo>
                  <a:lnTo>
                    <a:pt x="418439" y="914069"/>
                  </a:lnTo>
                  <a:lnTo>
                    <a:pt x="409752" y="917968"/>
                  </a:lnTo>
                  <a:lnTo>
                    <a:pt x="425361" y="952728"/>
                  </a:lnTo>
                  <a:lnTo>
                    <a:pt x="434047" y="948817"/>
                  </a:lnTo>
                  <a:close/>
                </a:path>
                <a:path w="884554" h="1955164">
                  <a:moveTo>
                    <a:pt x="449122" y="362572"/>
                  </a:moveTo>
                  <a:lnTo>
                    <a:pt x="419671" y="338404"/>
                  </a:lnTo>
                  <a:lnTo>
                    <a:pt x="413639" y="345770"/>
                  </a:lnTo>
                  <a:lnTo>
                    <a:pt x="443077" y="369938"/>
                  </a:lnTo>
                  <a:lnTo>
                    <a:pt x="449122" y="362572"/>
                  </a:lnTo>
                  <a:close/>
                </a:path>
                <a:path w="884554" h="1955164">
                  <a:moveTo>
                    <a:pt x="461365" y="1009637"/>
                  </a:moveTo>
                  <a:lnTo>
                    <a:pt x="445757" y="974890"/>
                  </a:lnTo>
                  <a:lnTo>
                    <a:pt x="437070" y="978789"/>
                  </a:lnTo>
                  <a:lnTo>
                    <a:pt x="452678" y="1013548"/>
                  </a:lnTo>
                  <a:lnTo>
                    <a:pt x="461365" y="1009637"/>
                  </a:lnTo>
                  <a:close/>
                </a:path>
                <a:path w="884554" h="1955164">
                  <a:moveTo>
                    <a:pt x="488683" y="1070470"/>
                  </a:moveTo>
                  <a:lnTo>
                    <a:pt x="473075" y="1035710"/>
                  </a:lnTo>
                  <a:lnTo>
                    <a:pt x="464388" y="1039609"/>
                  </a:lnTo>
                  <a:lnTo>
                    <a:pt x="479996" y="1074369"/>
                  </a:lnTo>
                  <a:lnTo>
                    <a:pt x="488683" y="1070470"/>
                  </a:lnTo>
                  <a:close/>
                </a:path>
                <a:path w="884554" h="1955164">
                  <a:moveTo>
                    <a:pt x="500659" y="404876"/>
                  </a:moveTo>
                  <a:lnTo>
                    <a:pt x="471208" y="380707"/>
                  </a:lnTo>
                  <a:lnTo>
                    <a:pt x="465175" y="388061"/>
                  </a:lnTo>
                  <a:lnTo>
                    <a:pt x="494626" y="412242"/>
                  </a:lnTo>
                  <a:lnTo>
                    <a:pt x="500659" y="404876"/>
                  </a:lnTo>
                  <a:close/>
                </a:path>
                <a:path w="884554" h="1955164">
                  <a:moveTo>
                    <a:pt x="516001" y="1131290"/>
                  </a:moveTo>
                  <a:lnTo>
                    <a:pt x="500392" y="1096530"/>
                  </a:lnTo>
                  <a:lnTo>
                    <a:pt x="491705" y="1100429"/>
                  </a:lnTo>
                  <a:lnTo>
                    <a:pt x="507314" y="1135189"/>
                  </a:lnTo>
                  <a:lnTo>
                    <a:pt x="516001" y="1131290"/>
                  </a:lnTo>
                  <a:close/>
                </a:path>
                <a:path w="884554" h="1955164">
                  <a:moveTo>
                    <a:pt x="543318" y="1192110"/>
                  </a:moveTo>
                  <a:lnTo>
                    <a:pt x="527710" y="1157351"/>
                  </a:lnTo>
                  <a:lnTo>
                    <a:pt x="519023" y="1161249"/>
                  </a:lnTo>
                  <a:lnTo>
                    <a:pt x="534631" y="1196009"/>
                  </a:lnTo>
                  <a:lnTo>
                    <a:pt x="543318" y="1192110"/>
                  </a:lnTo>
                  <a:close/>
                </a:path>
                <a:path w="884554" h="1955164">
                  <a:moveTo>
                    <a:pt x="552208" y="447179"/>
                  </a:moveTo>
                  <a:lnTo>
                    <a:pt x="522757" y="422998"/>
                  </a:lnTo>
                  <a:lnTo>
                    <a:pt x="516712" y="430364"/>
                  </a:lnTo>
                  <a:lnTo>
                    <a:pt x="546163" y="454533"/>
                  </a:lnTo>
                  <a:lnTo>
                    <a:pt x="552208" y="447179"/>
                  </a:lnTo>
                  <a:close/>
                </a:path>
                <a:path w="884554" h="1955164">
                  <a:moveTo>
                    <a:pt x="570636" y="1252931"/>
                  </a:moveTo>
                  <a:lnTo>
                    <a:pt x="555028" y="1218171"/>
                  </a:lnTo>
                  <a:lnTo>
                    <a:pt x="546341" y="1222082"/>
                  </a:lnTo>
                  <a:lnTo>
                    <a:pt x="561949" y="1256830"/>
                  </a:lnTo>
                  <a:lnTo>
                    <a:pt x="570636" y="1252931"/>
                  </a:lnTo>
                  <a:close/>
                </a:path>
                <a:path w="884554" h="1955164">
                  <a:moveTo>
                    <a:pt x="597954" y="1313751"/>
                  </a:moveTo>
                  <a:lnTo>
                    <a:pt x="582345" y="1279004"/>
                  </a:lnTo>
                  <a:lnTo>
                    <a:pt x="573659" y="1282903"/>
                  </a:lnTo>
                  <a:lnTo>
                    <a:pt x="589267" y="1317650"/>
                  </a:lnTo>
                  <a:lnTo>
                    <a:pt x="597954" y="1313751"/>
                  </a:lnTo>
                  <a:close/>
                </a:path>
                <a:path w="884554" h="1955164">
                  <a:moveTo>
                    <a:pt x="603745" y="489470"/>
                  </a:moveTo>
                  <a:lnTo>
                    <a:pt x="574294" y="465302"/>
                  </a:lnTo>
                  <a:lnTo>
                    <a:pt x="568248" y="472668"/>
                  </a:lnTo>
                  <a:lnTo>
                    <a:pt x="597700" y="496836"/>
                  </a:lnTo>
                  <a:lnTo>
                    <a:pt x="603745" y="489470"/>
                  </a:lnTo>
                  <a:close/>
                </a:path>
                <a:path w="884554" h="1955164">
                  <a:moveTo>
                    <a:pt x="625271" y="1374571"/>
                  </a:moveTo>
                  <a:lnTo>
                    <a:pt x="609663" y="1339824"/>
                  </a:lnTo>
                  <a:lnTo>
                    <a:pt x="600976" y="1343723"/>
                  </a:lnTo>
                  <a:lnTo>
                    <a:pt x="616585" y="1378483"/>
                  </a:lnTo>
                  <a:lnTo>
                    <a:pt x="625271" y="1374571"/>
                  </a:lnTo>
                  <a:close/>
                </a:path>
                <a:path w="884554" h="1955164">
                  <a:moveTo>
                    <a:pt x="652589" y="1435392"/>
                  </a:moveTo>
                  <a:lnTo>
                    <a:pt x="636981" y="1400644"/>
                  </a:lnTo>
                  <a:lnTo>
                    <a:pt x="628281" y="1404543"/>
                  </a:lnTo>
                  <a:lnTo>
                    <a:pt x="643902" y="1439303"/>
                  </a:lnTo>
                  <a:lnTo>
                    <a:pt x="652589" y="1435392"/>
                  </a:lnTo>
                  <a:close/>
                </a:path>
                <a:path w="884554" h="1955164">
                  <a:moveTo>
                    <a:pt x="655281" y="531774"/>
                  </a:moveTo>
                  <a:lnTo>
                    <a:pt x="625830" y="507606"/>
                  </a:lnTo>
                  <a:lnTo>
                    <a:pt x="619785" y="514972"/>
                  </a:lnTo>
                  <a:lnTo>
                    <a:pt x="649236" y="539140"/>
                  </a:lnTo>
                  <a:lnTo>
                    <a:pt x="655281" y="531774"/>
                  </a:lnTo>
                  <a:close/>
                </a:path>
                <a:path w="884554" h="1955164">
                  <a:moveTo>
                    <a:pt x="679907" y="1496225"/>
                  </a:moveTo>
                  <a:lnTo>
                    <a:pt x="664298" y="1461465"/>
                  </a:lnTo>
                  <a:lnTo>
                    <a:pt x="655599" y="1465364"/>
                  </a:lnTo>
                  <a:lnTo>
                    <a:pt x="671220" y="1500124"/>
                  </a:lnTo>
                  <a:lnTo>
                    <a:pt x="679907" y="1496225"/>
                  </a:lnTo>
                  <a:close/>
                </a:path>
                <a:path w="884554" h="1955164">
                  <a:moveTo>
                    <a:pt x="706818" y="574078"/>
                  </a:moveTo>
                  <a:lnTo>
                    <a:pt x="677367" y="549910"/>
                  </a:lnTo>
                  <a:lnTo>
                    <a:pt x="671322" y="557263"/>
                  </a:lnTo>
                  <a:lnTo>
                    <a:pt x="700773" y="581444"/>
                  </a:lnTo>
                  <a:lnTo>
                    <a:pt x="706818" y="574078"/>
                  </a:lnTo>
                  <a:close/>
                </a:path>
                <a:path w="884554" h="1955164">
                  <a:moveTo>
                    <a:pt x="707224" y="1557045"/>
                  </a:moveTo>
                  <a:lnTo>
                    <a:pt x="691616" y="1522285"/>
                  </a:lnTo>
                  <a:lnTo>
                    <a:pt x="682917" y="1526184"/>
                  </a:lnTo>
                  <a:lnTo>
                    <a:pt x="698525" y="1560944"/>
                  </a:lnTo>
                  <a:lnTo>
                    <a:pt x="707224" y="1557045"/>
                  </a:lnTo>
                  <a:close/>
                </a:path>
                <a:path w="884554" h="1955164">
                  <a:moveTo>
                    <a:pt x="734542" y="1617865"/>
                  </a:moveTo>
                  <a:lnTo>
                    <a:pt x="718921" y="1583105"/>
                  </a:lnTo>
                  <a:lnTo>
                    <a:pt x="710234" y="1587017"/>
                  </a:lnTo>
                  <a:lnTo>
                    <a:pt x="725843" y="1621764"/>
                  </a:lnTo>
                  <a:lnTo>
                    <a:pt x="734542" y="1617865"/>
                  </a:lnTo>
                  <a:close/>
                </a:path>
                <a:path w="884554" h="1955164">
                  <a:moveTo>
                    <a:pt x="758355" y="616381"/>
                  </a:moveTo>
                  <a:lnTo>
                    <a:pt x="728903" y="592201"/>
                  </a:lnTo>
                  <a:lnTo>
                    <a:pt x="722871" y="599567"/>
                  </a:lnTo>
                  <a:lnTo>
                    <a:pt x="752309" y="623735"/>
                  </a:lnTo>
                  <a:lnTo>
                    <a:pt x="758355" y="616381"/>
                  </a:lnTo>
                  <a:close/>
                </a:path>
                <a:path w="884554" h="1955164">
                  <a:moveTo>
                    <a:pt x="761860" y="1678686"/>
                  </a:moveTo>
                  <a:lnTo>
                    <a:pt x="746239" y="1643926"/>
                  </a:lnTo>
                  <a:lnTo>
                    <a:pt x="737552" y="1647837"/>
                  </a:lnTo>
                  <a:lnTo>
                    <a:pt x="753160" y="1682584"/>
                  </a:lnTo>
                  <a:lnTo>
                    <a:pt x="761860" y="1678686"/>
                  </a:lnTo>
                  <a:close/>
                </a:path>
                <a:path w="884554" h="1955164">
                  <a:moveTo>
                    <a:pt x="789165" y="1739506"/>
                  </a:moveTo>
                  <a:lnTo>
                    <a:pt x="773557" y="1704759"/>
                  </a:lnTo>
                  <a:lnTo>
                    <a:pt x="764870" y="1708658"/>
                  </a:lnTo>
                  <a:lnTo>
                    <a:pt x="780478" y="1743417"/>
                  </a:lnTo>
                  <a:lnTo>
                    <a:pt x="789165" y="1739506"/>
                  </a:lnTo>
                  <a:close/>
                </a:path>
                <a:path w="884554" h="1955164">
                  <a:moveTo>
                    <a:pt x="809891" y="658672"/>
                  </a:moveTo>
                  <a:lnTo>
                    <a:pt x="780453" y="634504"/>
                  </a:lnTo>
                  <a:lnTo>
                    <a:pt x="774407" y="641870"/>
                  </a:lnTo>
                  <a:lnTo>
                    <a:pt x="803859" y="666038"/>
                  </a:lnTo>
                  <a:lnTo>
                    <a:pt x="809891" y="658672"/>
                  </a:lnTo>
                  <a:close/>
                </a:path>
                <a:path w="884554" h="1955164">
                  <a:moveTo>
                    <a:pt x="816483" y="1800326"/>
                  </a:moveTo>
                  <a:lnTo>
                    <a:pt x="800874" y="1765579"/>
                  </a:lnTo>
                  <a:lnTo>
                    <a:pt x="792187" y="1769478"/>
                  </a:lnTo>
                  <a:lnTo>
                    <a:pt x="807796" y="1804238"/>
                  </a:lnTo>
                  <a:lnTo>
                    <a:pt x="816483" y="1800326"/>
                  </a:lnTo>
                  <a:close/>
                </a:path>
                <a:path w="884554" h="1955164">
                  <a:moveTo>
                    <a:pt x="843800" y="1861159"/>
                  </a:moveTo>
                  <a:lnTo>
                    <a:pt x="828192" y="1826399"/>
                  </a:lnTo>
                  <a:lnTo>
                    <a:pt x="819505" y="1830298"/>
                  </a:lnTo>
                  <a:lnTo>
                    <a:pt x="835113" y="1865058"/>
                  </a:lnTo>
                  <a:lnTo>
                    <a:pt x="843800" y="1861159"/>
                  </a:lnTo>
                  <a:close/>
                </a:path>
                <a:path w="884554" h="1955164">
                  <a:moveTo>
                    <a:pt x="880643" y="722896"/>
                  </a:moveTo>
                  <a:lnTo>
                    <a:pt x="845908" y="645109"/>
                  </a:lnTo>
                  <a:lnTo>
                    <a:pt x="797572" y="704011"/>
                  </a:lnTo>
                  <a:lnTo>
                    <a:pt x="880643" y="722896"/>
                  </a:lnTo>
                  <a:close/>
                </a:path>
                <a:path w="884554" h="1955164">
                  <a:moveTo>
                    <a:pt x="884174" y="1869681"/>
                  </a:moveTo>
                  <a:lnTo>
                    <a:pt x="814666" y="1900897"/>
                  </a:lnTo>
                  <a:lnTo>
                    <a:pt x="880643" y="1954796"/>
                  </a:lnTo>
                  <a:lnTo>
                    <a:pt x="884174" y="1869681"/>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39" name="object 39"/>
            <p:cNvSpPr/>
            <p:nvPr/>
          </p:nvSpPr>
          <p:spPr>
            <a:xfrm>
              <a:off x="3688385" y="2292730"/>
              <a:ext cx="1748155" cy="591820"/>
            </a:xfrm>
            <a:custGeom>
              <a:avLst/>
              <a:gdLst/>
              <a:ahLst/>
              <a:cxnLst/>
              <a:rect l="l" t="t" r="r" b="b"/>
              <a:pathLst>
                <a:path w="1748154" h="591819">
                  <a:moveTo>
                    <a:pt x="1141183" y="44069"/>
                  </a:moveTo>
                  <a:lnTo>
                    <a:pt x="1013485" y="39116"/>
                  </a:lnTo>
                  <a:lnTo>
                    <a:pt x="1029195" y="73825"/>
                  </a:lnTo>
                  <a:lnTo>
                    <a:pt x="0" y="539394"/>
                  </a:lnTo>
                  <a:lnTo>
                    <a:pt x="15697" y="574116"/>
                  </a:lnTo>
                  <a:lnTo>
                    <a:pt x="1044892" y="108546"/>
                  </a:lnTo>
                  <a:lnTo>
                    <a:pt x="1060602" y="143256"/>
                  </a:lnTo>
                  <a:lnTo>
                    <a:pt x="1141183" y="44069"/>
                  </a:lnTo>
                  <a:close/>
                </a:path>
                <a:path w="1748154" h="591819">
                  <a:moveTo>
                    <a:pt x="1748078" y="568502"/>
                  </a:moveTo>
                  <a:lnTo>
                    <a:pt x="1378826" y="79717"/>
                  </a:lnTo>
                  <a:lnTo>
                    <a:pt x="1409230" y="56756"/>
                  </a:lnTo>
                  <a:lnTo>
                    <a:pt x="1294726" y="0"/>
                  </a:lnTo>
                  <a:lnTo>
                    <a:pt x="1318031" y="125653"/>
                  </a:lnTo>
                  <a:lnTo>
                    <a:pt x="1348422" y="102692"/>
                  </a:lnTo>
                  <a:lnTo>
                    <a:pt x="1717675" y="591464"/>
                  </a:lnTo>
                  <a:lnTo>
                    <a:pt x="1748078" y="568502"/>
                  </a:lnTo>
                  <a:close/>
                </a:path>
              </a:pathLst>
            </a:custGeom>
            <a:solidFill>
              <a:srgbClr val="47B050"/>
            </a:solidFill>
          </p:spPr>
          <p:txBody>
            <a:bodyPr wrap="square" lIns="0" tIns="0" rIns="0" bIns="0" rtlCol="0"/>
            <a:lstStyle/>
            <a:p>
              <a:endParaRPr>
                <a:solidFill>
                  <a:prstClr val="black"/>
                </a:solidFill>
                <a:latin typeface="Calibri"/>
              </a:endParaRPr>
            </a:p>
          </p:txBody>
        </p:sp>
      </p:grpSp>
      <p:sp>
        <p:nvSpPr>
          <p:cNvPr id="40" name="object 40"/>
          <p:cNvSpPr txBox="1"/>
          <p:nvPr/>
        </p:nvSpPr>
        <p:spPr>
          <a:xfrm>
            <a:off x="4140241" y="5721678"/>
            <a:ext cx="77978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Input</a:t>
            </a:r>
            <a:r>
              <a:rPr b="1" spc="-80" dirty="0">
                <a:solidFill>
                  <a:prstClr val="black"/>
                </a:solidFill>
                <a:latin typeface="Arial"/>
                <a:cs typeface="Arial"/>
              </a:rPr>
              <a:t> </a:t>
            </a:r>
            <a:r>
              <a:rPr dirty="0">
                <a:solidFill>
                  <a:prstClr val="black"/>
                </a:solidFill>
                <a:latin typeface="Cambria Math"/>
                <a:cs typeface="Cambria Math"/>
              </a:rPr>
              <a:t>𝒙</a:t>
            </a:r>
            <a:endParaRPr>
              <a:solidFill>
                <a:prstClr val="black"/>
              </a:solidFill>
              <a:latin typeface="Cambria Math"/>
              <a:cs typeface="Cambria Math"/>
            </a:endParaRPr>
          </a:p>
        </p:txBody>
      </p:sp>
      <p:sp>
        <p:nvSpPr>
          <p:cNvPr id="41" name="object 41"/>
          <p:cNvSpPr txBox="1"/>
          <p:nvPr/>
        </p:nvSpPr>
        <p:spPr>
          <a:xfrm>
            <a:off x="7353466" y="5721678"/>
            <a:ext cx="96901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Output</a:t>
            </a:r>
            <a:r>
              <a:rPr b="1" spc="-75" dirty="0">
                <a:solidFill>
                  <a:prstClr val="black"/>
                </a:solidFill>
                <a:latin typeface="Arial"/>
                <a:cs typeface="Arial"/>
              </a:rPr>
              <a:t> </a:t>
            </a:r>
            <a:r>
              <a:rPr spc="-190" dirty="0">
                <a:solidFill>
                  <a:prstClr val="black"/>
                </a:solidFill>
                <a:latin typeface="Cambria Math"/>
                <a:cs typeface="Cambria Math"/>
              </a:rPr>
              <a:t>𝒙</a:t>
            </a:r>
            <a:r>
              <a:rPr sz="2700" spc="-284" baseline="1543" dirty="0">
                <a:solidFill>
                  <a:prstClr val="black"/>
                </a:solidFill>
                <a:latin typeface="Cambria Math"/>
                <a:cs typeface="Cambria Math"/>
              </a:rPr>
              <a:t>.</a:t>
            </a:r>
            <a:endParaRPr sz="2700" baseline="1543">
              <a:solidFill>
                <a:prstClr val="black"/>
              </a:solidFill>
              <a:latin typeface="Cambria Math"/>
              <a:cs typeface="Cambria Math"/>
            </a:endParaRPr>
          </a:p>
        </p:txBody>
      </p:sp>
      <p:pic>
        <p:nvPicPr>
          <p:cNvPr id="42" name="object 42"/>
          <p:cNvPicPr/>
          <p:nvPr/>
        </p:nvPicPr>
        <p:blipFill>
          <a:blip r:embed="rId4" cstate="print"/>
          <a:stretch>
            <a:fillRect/>
          </a:stretch>
        </p:blipFill>
        <p:spPr>
          <a:xfrm>
            <a:off x="2414632" y="3275764"/>
            <a:ext cx="1330234" cy="1309770"/>
          </a:xfrm>
          <a:prstGeom prst="rect">
            <a:avLst/>
          </a:prstGeom>
        </p:spPr>
      </p:pic>
      <p:pic>
        <p:nvPicPr>
          <p:cNvPr id="43" name="object 43"/>
          <p:cNvPicPr/>
          <p:nvPr/>
        </p:nvPicPr>
        <p:blipFill>
          <a:blip r:embed="rId4" cstate="print"/>
          <a:stretch>
            <a:fillRect/>
          </a:stretch>
        </p:blipFill>
        <p:spPr>
          <a:xfrm>
            <a:off x="8525380" y="3211429"/>
            <a:ext cx="1330234" cy="1309770"/>
          </a:xfrm>
          <a:prstGeom prst="rect">
            <a:avLst/>
          </a:prstGeom>
        </p:spPr>
      </p:pic>
      <p:sp>
        <p:nvSpPr>
          <p:cNvPr id="44" name="object 44"/>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45" name="object 45"/>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20</a:t>
            </a:fld>
            <a:endParaRPr dirty="0">
              <a:solidFill>
                <a:prstClr val="whit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1" y="1109979"/>
            <a:ext cx="5714365" cy="982980"/>
          </a:xfrm>
          <a:prstGeom prst="rect">
            <a:avLst/>
          </a:prstGeom>
        </p:spPr>
        <p:txBody>
          <a:bodyPr vert="horz" wrap="square" lIns="0" tIns="12700" rIns="0" bIns="0" rtlCol="0">
            <a:spAutoFit/>
          </a:bodyPr>
          <a:lstStyle/>
          <a:p>
            <a:pPr marL="12700">
              <a:spcBef>
                <a:spcPts val="100"/>
              </a:spcBef>
            </a:pPr>
            <a:r>
              <a:rPr sz="2400" b="1" spc="-30" dirty="0">
                <a:solidFill>
                  <a:prstClr val="black"/>
                </a:solidFill>
                <a:latin typeface="Arial"/>
                <a:cs typeface="Arial"/>
              </a:rPr>
              <a:t>Train</a:t>
            </a:r>
            <a:r>
              <a:rPr sz="2400" b="1" spc="-15" dirty="0">
                <a:solidFill>
                  <a:prstClr val="black"/>
                </a:solidFill>
                <a:latin typeface="Arial"/>
                <a:cs typeface="Arial"/>
              </a:rPr>
              <a:t> </a:t>
            </a:r>
            <a:r>
              <a:rPr sz="2400" b="1" spc="-5" dirty="0">
                <a:solidFill>
                  <a:prstClr val="black"/>
                </a:solidFill>
                <a:latin typeface="Arial"/>
                <a:cs typeface="Arial"/>
              </a:rPr>
              <a:t>autoencoder</a:t>
            </a:r>
            <a:r>
              <a:rPr sz="2400" b="1" dirty="0">
                <a:solidFill>
                  <a:prstClr val="black"/>
                </a:solidFill>
                <a:latin typeface="Arial"/>
                <a:cs typeface="Arial"/>
              </a:rPr>
              <a:t> </a:t>
            </a:r>
            <a:r>
              <a:rPr sz="2400" b="1" spc="-5" dirty="0">
                <a:solidFill>
                  <a:prstClr val="black"/>
                </a:solidFill>
                <a:latin typeface="Arial"/>
                <a:cs typeface="Arial"/>
              </a:rPr>
              <a:t>and</a:t>
            </a:r>
            <a:r>
              <a:rPr sz="2400" b="1" spc="-10" dirty="0">
                <a:solidFill>
                  <a:prstClr val="black"/>
                </a:solidFill>
                <a:latin typeface="Arial"/>
                <a:cs typeface="Arial"/>
              </a:rPr>
              <a:t> </a:t>
            </a:r>
            <a:r>
              <a:rPr sz="2400" b="1" spc="-5" dirty="0">
                <a:solidFill>
                  <a:prstClr val="black"/>
                </a:solidFill>
                <a:latin typeface="Arial"/>
                <a:cs typeface="Arial"/>
              </a:rPr>
              <a:t>replace decoder</a:t>
            </a:r>
            <a:endParaRPr sz="2400">
              <a:solidFill>
                <a:prstClr val="black"/>
              </a:solidFill>
              <a:latin typeface="Arial"/>
              <a:cs typeface="Arial"/>
            </a:endParaRPr>
          </a:p>
          <a:p>
            <a:pPr>
              <a:spcBef>
                <a:spcPts val="35"/>
              </a:spcBef>
            </a:pPr>
            <a:endParaRPr sz="2350">
              <a:solidFill>
                <a:prstClr val="black"/>
              </a:solidFill>
              <a:latin typeface="Arial"/>
              <a:cs typeface="Arial"/>
            </a:endParaRPr>
          </a:p>
          <a:p>
            <a:pPr marL="2480310">
              <a:tabLst>
                <a:tab pos="4722495" algn="l"/>
              </a:tabLst>
            </a:pPr>
            <a:r>
              <a:rPr sz="2400" b="1" spc="-7" baseline="3472" dirty="0">
                <a:solidFill>
                  <a:prstClr val="black"/>
                </a:solidFill>
                <a:latin typeface="Arial"/>
                <a:cs typeface="Arial"/>
              </a:rPr>
              <a:t>Encoder	</a:t>
            </a:r>
            <a:r>
              <a:rPr sz="1600" b="1" spc="-5" dirty="0">
                <a:solidFill>
                  <a:prstClr val="black"/>
                </a:solidFill>
                <a:latin typeface="Arial"/>
                <a:cs typeface="Arial"/>
              </a:rPr>
              <a:t>Decoder</a:t>
            </a:r>
            <a:endParaRPr sz="1600">
              <a:solidFill>
                <a:prstClr val="black"/>
              </a:solidFill>
              <a:latin typeface="Arial"/>
              <a:cs typeface="Arial"/>
            </a:endParaRPr>
          </a:p>
        </p:txBody>
      </p:sp>
      <p:grpSp>
        <p:nvGrpSpPr>
          <p:cNvPr id="4" name="object 4"/>
          <p:cNvGrpSpPr/>
          <p:nvPr/>
        </p:nvGrpSpPr>
        <p:grpSpPr>
          <a:xfrm>
            <a:off x="1536700" y="67733"/>
            <a:ext cx="2832100" cy="918844"/>
            <a:chOff x="12700" y="67733"/>
            <a:chExt cx="2832100" cy="918844"/>
          </a:xfrm>
        </p:grpSpPr>
        <p:pic>
          <p:nvPicPr>
            <p:cNvPr id="5" name="object 5"/>
            <p:cNvPicPr/>
            <p:nvPr/>
          </p:nvPicPr>
          <p:blipFill>
            <a:blip r:embed="rId3" cstate="print"/>
            <a:stretch>
              <a:fillRect/>
            </a:stretch>
          </p:blipFill>
          <p:spPr>
            <a:xfrm>
              <a:off x="12700" y="67733"/>
              <a:ext cx="1210733" cy="918633"/>
            </a:xfrm>
            <a:prstGeom prst="rect">
              <a:avLst/>
            </a:prstGeom>
          </p:spPr>
        </p:pic>
        <p:pic>
          <p:nvPicPr>
            <p:cNvPr id="6" name="object 6"/>
            <p:cNvPicPr/>
            <p:nvPr/>
          </p:nvPicPr>
          <p:blipFill>
            <a:blip r:embed="rId4" cstate="print"/>
            <a:stretch>
              <a:fillRect/>
            </a:stretch>
          </p:blipFill>
          <p:spPr>
            <a:xfrm>
              <a:off x="668866" y="67733"/>
              <a:ext cx="690033" cy="918633"/>
            </a:xfrm>
            <a:prstGeom prst="rect">
              <a:avLst/>
            </a:prstGeom>
          </p:spPr>
        </p:pic>
        <p:pic>
          <p:nvPicPr>
            <p:cNvPr id="7" name="object 7"/>
            <p:cNvPicPr/>
            <p:nvPr/>
          </p:nvPicPr>
          <p:blipFill>
            <a:blip r:embed="rId5" cstate="print"/>
            <a:stretch>
              <a:fillRect/>
            </a:stretch>
          </p:blipFill>
          <p:spPr>
            <a:xfrm>
              <a:off x="804333" y="67733"/>
              <a:ext cx="2040467" cy="918633"/>
            </a:xfrm>
            <a:prstGeom prst="rect">
              <a:avLst/>
            </a:prstGeom>
          </p:spPr>
        </p:pic>
      </p:grpSp>
      <p:sp>
        <p:nvSpPr>
          <p:cNvPr id="8" name="object 8"/>
          <p:cNvSpPr txBox="1">
            <a:spLocks noGrp="1"/>
          </p:cNvSpPr>
          <p:nvPr>
            <p:ph type="title"/>
          </p:nvPr>
        </p:nvSpPr>
        <p:spPr>
          <a:xfrm>
            <a:off x="1785620" y="183388"/>
            <a:ext cx="2303780" cy="513080"/>
          </a:xfrm>
          <a:prstGeom prst="rect">
            <a:avLst/>
          </a:prstGeom>
        </p:spPr>
        <p:txBody>
          <a:bodyPr vert="horz" wrap="square" lIns="0" tIns="12700" rIns="0" bIns="0" rtlCol="0">
            <a:spAutoFit/>
          </a:bodyPr>
          <a:lstStyle/>
          <a:p>
            <a:pPr marL="12700">
              <a:spcBef>
                <a:spcPts val="100"/>
              </a:spcBef>
            </a:pPr>
            <a:r>
              <a:rPr sz="3200" dirty="0">
                <a:solidFill>
                  <a:srgbClr val="004990"/>
                </a:solidFill>
              </a:rPr>
              <a:t>P</a:t>
            </a:r>
            <a:r>
              <a:rPr sz="3200" spc="5" dirty="0">
                <a:solidFill>
                  <a:srgbClr val="004990"/>
                </a:solidFill>
              </a:rPr>
              <a:t>r</a:t>
            </a:r>
            <a:r>
              <a:rPr sz="3200" spc="-10" dirty="0">
                <a:solidFill>
                  <a:srgbClr val="004990"/>
                </a:solidFill>
              </a:rPr>
              <a:t>e</a:t>
            </a:r>
            <a:r>
              <a:rPr sz="3200" spc="-5" dirty="0">
                <a:solidFill>
                  <a:srgbClr val="004990"/>
                </a:solidFill>
              </a:rPr>
              <a:t>-t</a:t>
            </a:r>
            <a:r>
              <a:rPr sz="3200" spc="5" dirty="0">
                <a:solidFill>
                  <a:srgbClr val="004990"/>
                </a:solidFill>
              </a:rPr>
              <a:t>r</a:t>
            </a:r>
            <a:r>
              <a:rPr sz="3200" spc="-5" dirty="0">
                <a:solidFill>
                  <a:srgbClr val="004990"/>
                </a:solidFill>
              </a:rPr>
              <a:t>ai</a:t>
            </a:r>
            <a:r>
              <a:rPr sz="3200" spc="-10" dirty="0">
                <a:solidFill>
                  <a:srgbClr val="004990"/>
                </a:solidFill>
              </a:rPr>
              <a:t>n</a:t>
            </a:r>
            <a:r>
              <a:rPr sz="3200" spc="-5" dirty="0">
                <a:solidFill>
                  <a:srgbClr val="004990"/>
                </a:solidFill>
              </a:rPr>
              <a:t>i</a:t>
            </a:r>
            <a:r>
              <a:rPr sz="3200" spc="-10" dirty="0">
                <a:solidFill>
                  <a:srgbClr val="004990"/>
                </a:solidFill>
              </a:rPr>
              <a:t>n</a:t>
            </a:r>
            <a:r>
              <a:rPr sz="3200" dirty="0">
                <a:solidFill>
                  <a:srgbClr val="004990"/>
                </a:solidFill>
              </a:rPr>
              <a:t>g</a:t>
            </a:r>
            <a:endParaRPr sz="3200"/>
          </a:p>
        </p:txBody>
      </p:sp>
      <p:grpSp>
        <p:nvGrpSpPr>
          <p:cNvPr id="9" name="object 9"/>
          <p:cNvGrpSpPr/>
          <p:nvPr/>
        </p:nvGrpSpPr>
        <p:grpSpPr>
          <a:xfrm>
            <a:off x="4170318" y="2324100"/>
            <a:ext cx="749300" cy="749300"/>
            <a:chOff x="2646318" y="2324100"/>
            <a:chExt cx="749300" cy="749300"/>
          </a:xfrm>
        </p:grpSpPr>
        <p:sp>
          <p:nvSpPr>
            <p:cNvPr id="10" name="object 10"/>
            <p:cNvSpPr/>
            <p:nvPr/>
          </p:nvSpPr>
          <p:spPr>
            <a:xfrm>
              <a:off x="2659018"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1" name="object 11"/>
            <p:cNvSpPr/>
            <p:nvPr/>
          </p:nvSpPr>
          <p:spPr>
            <a:xfrm>
              <a:off x="2659018"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12" name="object 12"/>
          <p:cNvSpPr txBox="1"/>
          <p:nvPr/>
        </p:nvSpPr>
        <p:spPr>
          <a:xfrm>
            <a:off x="4398759" y="25404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grpSp>
        <p:nvGrpSpPr>
          <p:cNvPr id="13" name="object 13"/>
          <p:cNvGrpSpPr/>
          <p:nvPr/>
        </p:nvGrpSpPr>
        <p:grpSpPr>
          <a:xfrm>
            <a:off x="4170318" y="3556000"/>
            <a:ext cx="749300" cy="749300"/>
            <a:chOff x="2646318" y="3556000"/>
            <a:chExt cx="749300" cy="749300"/>
          </a:xfrm>
        </p:grpSpPr>
        <p:sp>
          <p:nvSpPr>
            <p:cNvPr id="14" name="object 14"/>
            <p:cNvSpPr/>
            <p:nvPr/>
          </p:nvSpPr>
          <p:spPr>
            <a:xfrm>
              <a:off x="2659018"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5" name="object 15"/>
            <p:cNvSpPr/>
            <p:nvPr/>
          </p:nvSpPr>
          <p:spPr>
            <a:xfrm>
              <a:off x="2659018"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16" name="object 16"/>
          <p:cNvSpPr txBox="1"/>
          <p:nvPr/>
        </p:nvSpPr>
        <p:spPr>
          <a:xfrm>
            <a:off x="4367199" y="37723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grpSp>
        <p:nvGrpSpPr>
          <p:cNvPr id="17" name="object 17"/>
          <p:cNvGrpSpPr/>
          <p:nvPr/>
        </p:nvGrpSpPr>
        <p:grpSpPr>
          <a:xfrm>
            <a:off x="4170318" y="4787900"/>
            <a:ext cx="749300" cy="749300"/>
            <a:chOff x="2646318" y="4787900"/>
            <a:chExt cx="749300" cy="749300"/>
          </a:xfrm>
        </p:grpSpPr>
        <p:sp>
          <p:nvSpPr>
            <p:cNvPr id="18" name="object 18"/>
            <p:cNvSpPr/>
            <p:nvPr/>
          </p:nvSpPr>
          <p:spPr>
            <a:xfrm>
              <a:off x="2659018"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9" name="object 19"/>
            <p:cNvSpPr/>
            <p:nvPr/>
          </p:nvSpPr>
          <p:spPr>
            <a:xfrm>
              <a:off x="2659018"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20" name="object 20"/>
          <p:cNvSpPr txBox="1"/>
          <p:nvPr/>
        </p:nvSpPr>
        <p:spPr>
          <a:xfrm>
            <a:off x="4367199" y="50042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grpSp>
        <p:nvGrpSpPr>
          <p:cNvPr id="21" name="object 21"/>
          <p:cNvGrpSpPr/>
          <p:nvPr/>
        </p:nvGrpSpPr>
        <p:grpSpPr>
          <a:xfrm>
            <a:off x="5770517" y="2324100"/>
            <a:ext cx="2349500" cy="2705100"/>
            <a:chOff x="4246517" y="2324100"/>
            <a:chExt cx="2349500" cy="2705100"/>
          </a:xfrm>
        </p:grpSpPr>
        <p:sp>
          <p:nvSpPr>
            <p:cNvPr id="22" name="object 22"/>
            <p:cNvSpPr/>
            <p:nvPr/>
          </p:nvSpPr>
          <p:spPr>
            <a:xfrm>
              <a:off x="4259217" y="2849479"/>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3" name="object 23"/>
            <p:cNvSpPr/>
            <p:nvPr/>
          </p:nvSpPr>
          <p:spPr>
            <a:xfrm>
              <a:off x="4259217" y="2849479"/>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4" name="object 24"/>
            <p:cNvSpPr/>
            <p:nvPr/>
          </p:nvSpPr>
          <p:spPr>
            <a:xfrm>
              <a:off x="4259217" y="4292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5" name="object 25"/>
            <p:cNvSpPr/>
            <p:nvPr/>
          </p:nvSpPr>
          <p:spPr>
            <a:xfrm>
              <a:off x="4259217" y="4292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6" name="object 26"/>
            <p:cNvSpPr/>
            <p:nvPr/>
          </p:nvSpPr>
          <p:spPr>
            <a:xfrm>
              <a:off x="5859417"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7" name="object 27"/>
            <p:cNvSpPr/>
            <p:nvPr/>
          </p:nvSpPr>
          <p:spPr>
            <a:xfrm>
              <a:off x="5859417"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28" name="object 28"/>
          <p:cNvSpPr txBox="1"/>
          <p:nvPr/>
        </p:nvSpPr>
        <p:spPr>
          <a:xfrm>
            <a:off x="7567599" y="2540444"/>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grpSp>
        <p:nvGrpSpPr>
          <p:cNvPr id="29" name="object 29"/>
          <p:cNvGrpSpPr/>
          <p:nvPr/>
        </p:nvGrpSpPr>
        <p:grpSpPr>
          <a:xfrm>
            <a:off x="7370717" y="3556000"/>
            <a:ext cx="749300" cy="749300"/>
            <a:chOff x="5846717" y="3556000"/>
            <a:chExt cx="749300" cy="749300"/>
          </a:xfrm>
        </p:grpSpPr>
        <p:sp>
          <p:nvSpPr>
            <p:cNvPr id="30" name="object 30"/>
            <p:cNvSpPr/>
            <p:nvPr/>
          </p:nvSpPr>
          <p:spPr>
            <a:xfrm>
              <a:off x="5859417"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31" name="object 31"/>
            <p:cNvSpPr/>
            <p:nvPr/>
          </p:nvSpPr>
          <p:spPr>
            <a:xfrm>
              <a:off x="5859417"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32" name="object 32"/>
          <p:cNvSpPr txBox="1"/>
          <p:nvPr/>
        </p:nvSpPr>
        <p:spPr>
          <a:xfrm>
            <a:off x="7567599" y="3772344"/>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grpSp>
        <p:nvGrpSpPr>
          <p:cNvPr id="33" name="object 33"/>
          <p:cNvGrpSpPr/>
          <p:nvPr/>
        </p:nvGrpSpPr>
        <p:grpSpPr>
          <a:xfrm>
            <a:off x="7370717" y="4787900"/>
            <a:ext cx="749300" cy="749300"/>
            <a:chOff x="5846717" y="4787900"/>
            <a:chExt cx="749300" cy="749300"/>
          </a:xfrm>
        </p:grpSpPr>
        <p:sp>
          <p:nvSpPr>
            <p:cNvPr id="34" name="object 34"/>
            <p:cNvSpPr/>
            <p:nvPr/>
          </p:nvSpPr>
          <p:spPr>
            <a:xfrm>
              <a:off x="5859417"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35" name="object 35"/>
            <p:cNvSpPr/>
            <p:nvPr/>
          </p:nvSpPr>
          <p:spPr>
            <a:xfrm>
              <a:off x="5859417"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36" name="object 36"/>
          <p:cNvSpPr txBox="1"/>
          <p:nvPr/>
        </p:nvSpPr>
        <p:spPr>
          <a:xfrm>
            <a:off x="7567599" y="5004244"/>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37" name="object 37"/>
          <p:cNvSpPr/>
          <p:nvPr/>
        </p:nvSpPr>
        <p:spPr>
          <a:xfrm>
            <a:off x="4902569" y="2694648"/>
            <a:ext cx="2484755" cy="2472055"/>
          </a:xfrm>
          <a:custGeom>
            <a:avLst/>
            <a:gdLst/>
            <a:ahLst/>
            <a:cxnLst/>
            <a:rect l="l" t="t" r="r" b="b"/>
            <a:pathLst>
              <a:path w="2484754" h="2472054">
                <a:moveTo>
                  <a:pt x="36817" y="1215517"/>
                </a:moveTo>
                <a:lnTo>
                  <a:pt x="30772" y="1208151"/>
                </a:lnTo>
                <a:lnTo>
                  <a:pt x="1320" y="1232331"/>
                </a:lnTo>
                <a:lnTo>
                  <a:pt x="4343" y="1236014"/>
                </a:lnTo>
                <a:lnTo>
                  <a:pt x="1308" y="1239685"/>
                </a:lnTo>
                <a:lnTo>
                  <a:pt x="30683" y="1263942"/>
                </a:lnTo>
                <a:lnTo>
                  <a:pt x="36753" y="1256601"/>
                </a:lnTo>
                <a:lnTo>
                  <a:pt x="11836" y="1236027"/>
                </a:lnTo>
                <a:lnTo>
                  <a:pt x="36817" y="1215517"/>
                </a:lnTo>
                <a:close/>
              </a:path>
              <a:path w="2484754" h="2472054">
                <a:moveTo>
                  <a:pt x="39636" y="19240"/>
                </a:moveTo>
                <a:lnTo>
                  <a:pt x="6743" y="0"/>
                </a:lnTo>
                <a:lnTo>
                  <a:pt x="4343" y="4114"/>
                </a:lnTo>
                <a:lnTo>
                  <a:pt x="0" y="6057"/>
                </a:lnTo>
                <a:lnTo>
                  <a:pt x="15570" y="40830"/>
                </a:lnTo>
                <a:lnTo>
                  <a:pt x="24269" y="36931"/>
                </a:lnTo>
                <a:lnTo>
                  <a:pt x="14757" y="15722"/>
                </a:lnTo>
                <a:lnTo>
                  <a:pt x="34823" y="27457"/>
                </a:lnTo>
                <a:lnTo>
                  <a:pt x="39636" y="19240"/>
                </a:lnTo>
                <a:close/>
              </a:path>
              <a:path w="2484754" h="2472054">
                <a:moveTo>
                  <a:pt x="39700" y="2452916"/>
                </a:moveTo>
                <a:lnTo>
                  <a:pt x="34912" y="2444673"/>
                </a:lnTo>
                <a:lnTo>
                  <a:pt x="14732" y="2456383"/>
                </a:lnTo>
                <a:lnTo>
                  <a:pt x="24295" y="2435098"/>
                </a:lnTo>
                <a:lnTo>
                  <a:pt x="15608" y="2431199"/>
                </a:lnTo>
                <a:lnTo>
                  <a:pt x="0" y="2465959"/>
                </a:lnTo>
                <a:lnTo>
                  <a:pt x="4343" y="2467914"/>
                </a:lnTo>
                <a:lnTo>
                  <a:pt x="6731" y="2472029"/>
                </a:lnTo>
                <a:lnTo>
                  <a:pt x="39700" y="2452916"/>
                </a:lnTo>
                <a:close/>
              </a:path>
              <a:path w="2484754" h="2472054">
                <a:moveTo>
                  <a:pt x="51536" y="97777"/>
                </a:moveTo>
                <a:lnTo>
                  <a:pt x="35953" y="63004"/>
                </a:lnTo>
                <a:lnTo>
                  <a:pt x="27254" y="66903"/>
                </a:lnTo>
                <a:lnTo>
                  <a:pt x="42837" y="101676"/>
                </a:lnTo>
                <a:lnTo>
                  <a:pt x="51536" y="97777"/>
                </a:lnTo>
                <a:close/>
              </a:path>
              <a:path w="2484754" h="2472054">
                <a:moveTo>
                  <a:pt x="51612" y="2374277"/>
                </a:moveTo>
                <a:lnTo>
                  <a:pt x="42926" y="2370378"/>
                </a:lnTo>
                <a:lnTo>
                  <a:pt x="27317" y="2405138"/>
                </a:lnTo>
                <a:lnTo>
                  <a:pt x="36004" y="2409037"/>
                </a:lnTo>
                <a:lnTo>
                  <a:pt x="51612" y="2374277"/>
                </a:lnTo>
                <a:close/>
              </a:path>
              <a:path w="2484754" h="2472054">
                <a:moveTo>
                  <a:pt x="78790" y="158623"/>
                </a:moveTo>
                <a:lnTo>
                  <a:pt x="63220" y="123850"/>
                </a:lnTo>
                <a:lnTo>
                  <a:pt x="54521" y="127749"/>
                </a:lnTo>
                <a:lnTo>
                  <a:pt x="70104" y="162521"/>
                </a:lnTo>
                <a:lnTo>
                  <a:pt x="78790" y="158623"/>
                </a:lnTo>
                <a:close/>
              </a:path>
              <a:path w="2484754" h="2472054">
                <a:moveTo>
                  <a:pt x="78930" y="2313457"/>
                </a:moveTo>
                <a:lnTo>
                  <a:pt x="70243" y="2309558"/>
                </a:lnTo>
                <a:lnTo>
                  <a:pt x="54635" y="2344318"/>
                </a:lnTo>
                <a:lnTo>
                  <a:pt x="63322" y="2348217"/>
                </a:lnTo>
                <a:lnTo>
                  <a:pt x="78930" y="2313457"/>
                </a:lnTo>
                <a:close/>
              </a:path>
              <a:path w="2484754" h="2472054">
                <a:moveTo>
                  <a:pt x="88150" y="1299070"/>
                </a:moveTo>
                <a:lnTo>
                  <a:pt x="58775" y="1274800"/>
                </a:lnTo>
                <a:lnTo>
                  <a:pt x="52717" y="1282141"/>
                </a:lnTo>
                <a:lnTo>
                  <a:pt x="82092" y="1306410"/>
                </a:lnTo>
                <a:lnTo>
                  <a:pt x="88150" y="1299070"/>
                </a:lnTo>
                <a:close/>
              </a:path>
              <a:path w="2484754" h="2472054">
                <a:moveTo>
                  <a:pt x="88353" y="1173213"/>
                </a:moveTo>
                <a:lnTo>
                  <a:pt x="82308" y="1165860"/>
                </a:lnTo>
                <a:lnTo>
                  <a:pt x="52857" y="1190028"/>
                </a:lnTo>
                <a:lnTo>
                  <a:pt x="58902" y="1197394"/>
                </a:lnTo>
                <a:lnTo>
                  <a:pt x="88353" y="1173213"/>
                </a:lnTo>
                <a:close/>
              </a:path>
              <a:path w="2484754" h="2472054">
                <a:moveTo>
                  <a:pt x="97180" y="52908"/>
                </a:moveTo>
                <a:lnTo>
                  <a:pt x="64300" y="33667"/>
                </a:lnTo>
                <a:lnTo>
                  <a:pt x="59486" y="41884"/>
                </a:lnTo>
                <a:lnTo>
                  <a:pt x="92379" y="61125"/>
                </a:lnTo>
                <a:lnTo>
                  <a:pt x="97180" y="52908"/>
                </a:lnTo>
                <a:close/>
              </a:path>
              <a:path w="2484754" h="2472054">
                <a:moveTo>
                  <a:pt x="97383" y="2419477"/>
                </a:moveTo>
                <a:lnTo>
                  <a:pt x="92595" y="2411234"/>
                </a:lnTo>
                <a:lnTo>
                  <a:pt x="59639" y="2430348"/>
                </a:lnTo>
                <a:lnTo>
                  <a:pt x="64414" y="2438590"/>
                </a:lnTo>
                <a:lnTo>
                  <a:pt x="97383" y="2419477"/>
                </a:lnTo>
                <a:close/>
              </a:path>
              <a:path w="2484754" h="2472054">
                <a:moveTo>
                  <a:pt x="106057" y="219468"/>
                </a:moveTo>
                <a:lnTo>
                  <a:pt x="90474" y="184696"/>
                </a:lnTo>
                <a:lnTo>
                  <a:pt x="81788" y="188595"/>
                </a:lnTo>
                <a:lnTo>
                  <a:pt x="97358" y="223367"/>
                </a:lnTo>
                <a:lnTo>
                  <a:pt x="106057" y="219468"/>
                </a:lnTo>
                <a:close/>
              </a:path>
              <a:path w="2484754" h="2472054">
                <a:moveTo>
                  <a:pt x="106248" y="2252637"/>
                </a:moveTo>
                <a:lnTo>
                  <a:pt x="97561" y="2248738"/>
                </a:lnTo>
                <a:lnTo>
                  <a:pt x="81953" y="2283485"/>
                </a:lnTo>
                <a:lnTo>
                  <a:pt x="90639" y="2287397"/>
                </a:lnTo>
                <a:lnTo>
                  <a:pt x="106248" y="2252637"/>
                </a:lnTo>
                <a:close/>
              </a:path>
              <a:path w="2484754" h="2472054">
                <a:moveTo>
                  <a:pt x="133324" y="280314"/>
                </a:moveTo>
                <a:lnTo>
                  <a:pt x="117741" y="245541"/>
                </a:lnTo>
                <a:lnTo>
                  <a:pt x="109042" y="249440"/>
                </a:lnTo>
                <a:lnTo>
                  <a:pt x="124625" y="284213"/>
                </a:lnTo>
                <a:lnTo>
                  <a:pt x="133324" y="280314"/>
                </a:lnTo>
                <a:close/>
              </a:path>
              <a:path w="2484754" h="2472054">
                <a:moveTo>
                  <a:pt x="133565" y="2191816"/>
                </a:moveTo>
                <a:lnTo>
                  <a:pt x="124879" y="2187918"/>
                </a:lnTo>
                <a:lnTo>
                  <a:pt x="109270" y="2222665"/>
                </a:lnTo>
                <a:lnTo>
                  <a:pt x="117957" y="2226564"/>
                </a:lnTo>
                <a:lnTo>
                  <a:pt x="133565" y="2191816"/>
                </a:lnTo>
                <a:close/>
              </a:path>
              <a:path w="2484754" h="2472054">
                <a:moveTo>
                  <a:pt x="139560" y="1341526"/>
                </a:moveTo>
                <a:lnTo>
                  <a:pt x="110185" y="1317269"/>
                </a:lnTo>
                <a:lnTo>
                  <a:pt x="104114" y="1324610"/>
                </a:lnTo>
                <a:lnTo>
                  <a:pt x="133489" y="1348867"/>
                </a:lnTo>
                <a:lnTo>
                  <a:pt x="139560" y="1341526"/>
                </a:lnTo>
                <a:close/>
              </a:path>
              <a:path w="2484754" h="2472054">
                <a:moveTo>
                  <a:pt x="139890" y="1130922"/>
                </a:moveTo>
                <a:lnTo>
                  <a:pt x="133845" y="1123556"/>
                </a:lnTo>
                <a:lnTo>
                  <a:pt x="104394" y="1147724"/>
                </a:lnTo>
                <a:lnTo>
                  <a:pt x="110439" y="1155090"/>
                </a:lnTo>
                <a:lnTo>
                  <a:pt x="139890" y="1130922"/>
                </a:lnTo>
                <a:close/>
              </a:path>
              <a:path w="2484754" h="2472054">
                <a:moveTo>
                  <a:pt x="154736" y="86575"/>
                </a:moveTo>
                <a:lnTo>
                  <a:pt x="121843" y="67335"/>
                </a:lnTo>
                <a:lnTo>
                  <a:pt x="117043" y="75552"/>
                </a:lnTo>
                <a:lnTo>
                  <a:pt x="149923" y="94792"/>
                </a:lnTo>
                <a:lnTo>
                  <a:pt x="154736" y="86575"/>
                </a:lnTo>
                <a:close/>
              </a:path>
              <a:path w="2484754" h="2472054">
                <a:moveTo>
                  <a:pt x="155067" y="2386038"/>
                </a:moveTo>
                <a:lnTo>
                  <a:pt x="150279" y="2377795"/>
                </a:lnTo>
                <a:lnTo>
                  <a:pt x="117322" y="2396909"/>
                </a:lnTo>
                <a:lnTo>
                  <a:pt x="122097" y="2405151"/>
                </a:lnTo>
                <a:lnTo>
                  <a:pt x="155067" y="2386038"/>
                </a:lnTo>
                <a:close/>
              </a:path>
              <a:path w="2484754" h="2472054">
                <a:moveTo>
                  <a:pt x="160578" y="341160"/>
                </a:moveTo>
                <a:lnTo>
                  <a:pt x="145008" y="306387"/>
                </a:lnTo>
                <a:lnTo>
                  <a:pt x="136309" y="310286"/>
                </a:lnTo>
                <a:lnTo>
                  <a:pt x="151892" y="345059"/>
                </a:lnTo>
                <a:lnTo>
                  <a:pt x="160578" y="341160"/>
                </a:lnTo>
                <a:close/>
              </a:path>
              <a:path w="2484754" h="2472054">
                <a:moveTo>
                  <a:pt x="160883" y="2130996"/>
                </a:moveTo>
                <a:lnTo>
                  <a:pt x="152196" y="2127085"/>
                </a:lnTo>
                <a:lnTo>
                  <a:pt x="136588" y="2161844"/>
                </a:lnTo>
                <a:lnTo>
                  <a:pt x="145275" y="2165743"/>
                </a:lnTo>
                <a:lnTo>
                  <a:pt x="160883" y="2130996"/>
                </a:lnTo>
                <a:close/>
              </a:path>
              <a:path w="2484754" h="2472054">
                <a:moveTo>
                  <a:pt x="187845" y="402005"/>
                </a:moveTo>
                <a:lnTo>
                  <a:pt x="172262" y="367245"/>
                </a:lnTo>
                <a:lnTo>
                  <a:pt x="163576" y="371132"/>
                </a:lnTo>
                <a:lnTo>
                  <a:pt x="179146" y="405904"/>
                </a:lnTo>
                <a:lnTo>
                  <a:pt x="187845" y="402005"/>
                </a:lnTo>
                <a:close/>
              </a:path>
              <a:path w="2484754" h="2472054">
                <a:moveTo>
                  <a:pt x="188201" y="2070176"/>
                </a:moveTo>
                <a:lnTo>
                  <a:pt x="179514" y="2066264"/>
                </a:lnTo>
                <a:lnTo>
                  <a:pt x="163906" y="2101024"/>
                </a:lnTo>
                <a:lnTo>
                  <a:pt x="172593" y="2104923"/>
                </a:lnTo>
                <a:lnTo>
                  <a:pt x="188201" y="2070176"/>
                </a:lnTo>
                <a:close/>
              </a:path>
              <a:path w="2484754" h="2472054">
                <a:moveTo>
                  <a:pt x="190957" y="1383995"/>
                </a:moveTo>
                <a:lnTo>
                  <a:pt x="161594" y="1359725"/>
                </a:lnTo>
                <a:lnTo>
                  <a:pt x="155524" y="1367066"/>
                </a:lnTo>
                <a:lnTo>
                  <a:pt x="184899" y="1391335"/>
                </a:lnTo>
                <a:lnTo>
                  <a:pt x="190957" y="1383995"/>
                </a:lnTo>
                <a:close/>
              </a:path>
              <a:path w="2484754" h="2472054">
                <a:moveTo>
                  <a:pt x="191427" y="1088618"/>
                </a:moveTo>
                <a:lnTo>
                  <a:pt x="185394" y="1081252"/>
                </a:lnTo>
                <a:lnTo>
                  <a:pt x="155943" y="1105420"/>
                </a:lnTo>
                <a:lnTo>
                  <a:pt x="161975" y="1112786"/>
                </a:lnTo>
                <a:lnTo>
                  <a:pt x="191427" y="1088618"/>
                </a:lnTo>
                <a:close/>
              </a:path>
              <a:path w="2484754" h="2472054">
                <a:moveTo>
                  <a:pt x="212280" y="120243"/>
                </a:moveTo>
                <a:lnTo>
                  <a:pt x="179400" y="101003"/>
                </a:lnTo>
                <a:lnTo>
                  <a:pt x="174586" y="109232"/>
                </a:lnTo>
                <a:lnTo>
                  <a:pt x="207467" y="128460"/>
                </a:lnTo>
                <a:lnTo>
                  <a:pt x="212280" y="120243"/>
                </a:lnTo>
                <a:close/>
              </a:path>
              <a:path w="2484754" h="2472054">
                <a:moveTo>
                  <a:pt x="212750" y="2352598"/>
                </a:moveTo>
                <a:lnTo>
                  <a:pt x="207962" y="2344356"/>
                </a:lnTo>
                <a:lnTo>
                  <a:pt x="175006" y="2363470"/>
                </a:lnTo>
                <a:lnTo>
                  <a:pt x="179781" y="2371712"/>
                </a:lnTo>
                <a:lnTo>
                  <a:pt x="212750" y="2352598"/>
                </a:lnTo>
                <a:close/>
              </a:path>
              <a:path w="2484754" h="2472054">
                <a:moveTo>
                  <a:pt x="215099" y="462851"/>
                </a:moveTo>
                <a:lnTo>
                  <a:pt x="199529" y="428091"/>
                </a:lnTo>
                <a:lnTo>
                  <a:pt x="190830" y="431977"/>
                </a:lnTo>
                <a:lnTo>
                  <a:pt x="206413" y="466750"/>
                </a:lnTo>
                <a:lnTo>
                  <a:pt x="215099" y="462851"/>
                </a:lnTo>
                <a:close/>
              </a:path>
              <a:path w="2484754" h="2472054">
                <a:moveTo>
                  <a:pt x="215519" y="2009343"/>
                </a:moveTo>
                <a:lnTo>
                  <a:pt x="206832" y="2005444"/>
                </a:lnTo>
                <a:lnTo>
                  <a:pt x="191223" y="2040204"/>
                </a:lnTo>
                <a:lnTo>
                  <a:pt x="199910" y="2044103"/>
                </a:lnTo>
                <a:lnTo>
                  <a:pt x="215519" y="2009343"/>
                </a:lnTo>
                <a:close/>
              </a:path>
              <a:path w="2484754" h="2472054">
                <a:moveTo>
                  <a:pt x="242366" y="1426451"/>
                </a:moveTo>
                <a:lnTo>
                  <a:pt x="212991" y="1402194"/>
                </a:lnTo>
                <a:lnTo>
                  <a:pt x="206921" y="1409534"/>
                </a:lnTo>
                <a:lnTo>
                  <a:pt x="236296" y="1433804"/>
                </a:lnTo>
                <a:lnTo>
                  <a:pt x="242366" y="1426451"/>
                </a:lnTo>
                <a:close/>
              </a:path>
              <a:path w="2484754" h="2472054">
                <a:moveTo>
                  <a:pt x="242366" y="523697"/>
                </a:moveTo>
                <a:lnTo>
                  <a:pt x="226783" y="488937"/>
                </a:lnTo>
                <a:lnTo>
                  <a:pt x="218097" y="492823"/>
                </a:lnTo>
                <a:lnTo>
                  <a:pt x="233680" y="527596"/>
                </a:lnTo>
                <a:lnTo>
                  <a:pt x="242366" y="523697"/>
                </a:lnTo>
                <a:close/>
              </a:path>
              <a:path w="2484754" h="2472054">
                <a:moveTo>
                  <a:pt x="242836" y="1948522"/>
                </a:moveTo>
                <a:lnTo>
                  <a:pt x="234149" y="1944624"/>
                </a:lnTo>
                <a:lnTo>
                  <a:pt x="218528" y="1979383"/>
                </a:lnTo>
                <a:lnTo>
                  <a:pt x="227228" y="1983282"/>
                </a:lnTo>
                <a:lnTo>
                  <a:pt x="242836" y="1948522"/>
                </a:lnTo>
                <a:close/>
              </a:path>
              <a:path w="2484754" h="2472054">
                <a:moveTo>
                  <a:pt x="242976" y="1046314"/>
                </a:moveTo>
                <a:lnTo>
                  <a:pt x="236931" y="1038948"/>
                </a:lnTo>
                <a:lnTo>
                  <a:pt x="207479" y="1063129"/>
                </a:lnTo>
                <a:lnTo>
                  <a:pt x="213525" y="1070483"/>
                </a:lnTo>
                <a:lnTo>
                  <a:pt x="242976" y="1046314"/>
                </a:lnTo>
                <a:close/>
              </a:path>
              <a:path w="2484754" h="2472054">
                <a:moveTo>
                  <a:pt x="269633" y="584555"/>
                </a:moveTo>
                <a:lnTo>
                  <a:pt x="254050" y="549783"/>
                </a:lnTo>
                <a:lnTo>
                  <a:pt x="245364" y="553669"/>
                </a:lnTo>
                <a:lnTo>
                  <a:pt x="260934" y="588441"/>
                </a:lnTo>
                <a:lnTo>
                  <a:pt x="269633" y="584555"/>
                </a:lnTo>
                <a:close/>
              </a:path>
              <a:path w="2484754" h="2472054">
                <a:moveTo>
                  <a:pt x="269836" y="153911"/>
                </a:moveTo>
                <a:lnTo>
                  <a:pt x="236943" y="134670"/>
                </a:lnTo>
                <a:lnTo>
                  <a:pt x="232130" y="142900"/>
                </a:lnTo>
                <a:lnTo>
                  <a:pt x="265023" y="162140"/>
                </a:lnTo>
                <a:lnTo>
                  <a:pt x="269836" y="153911"/>
                </a:lnTo>
                <a:close/>
              </a:path>
              <a:path w="2484754" h="2472054">
                <a:moveTo>
                  <a:pt x="270154" y="1887702"/>
                </a:moveTo>
                <a:lnTo>
                  <a:pt x="261454" y="1883803"/>
                </a:lnTo>
                <a:lnTo>
                  <a:pt x="245846" y="1918550"/>
                </a:lnTo>
                <a:lnTo>
                  <a:pt x="254546" y="1922462"/>
                </a:lnTo>
                <a:lnTo>
                  <a:pt x="270154" y="1887702"/>
                </a:lnTo>
                <a:close/>
              </a:path>
              <a:path w="2484754" h="2472054">
                <a:moveTo>
                  <a:pt x="270421" y="2319159"/>
                </a:moveTo>
                <a:lnTo>
                  <a:pt x="265645" y="2310917"/>
                </a:lnTo>
                <a:lnTo>
                  <a:pt x="232689" y="2330031"/>
                </a:lnTo>
                <a:lnTo>
                  <a:pt x="237464" y="2338273"/>
                </a:lnTo>
                <a:lnTo>
                  <a:pt x="270421" y="2319159"/>
                </a:lnTo>
                <a:close/>
              </a:path>
              <a:path w="2484754" h="2472054">
                <a:moveTo>
                  <a:pt x="293776" y="1468920"/>
                </a:moveTo>
                <a:lnTo>
                  <a:pt x="264401" y="1444650"/>
                </a:lnTo>
                <a:lnTo>
                  <a:pt x="258330" y="1452003"/>
                </a:lnTo>
                <a:lnTo>
                  <a:pt x="287705" y="1476260"/>
                </a:lnTo>
                <a:lnTo>
                  <a:pt x="293776" y="1468920"/>
                </a:lnTo>
                <a:close/>
              </a:path>
              <a:path w="2484754" h="2472054">
                <a:moveTo>
                  <a:pt x="294513" y="1004011"/>
                </a:moveTo>
                <a:lnTo>
                  <a:pt x="288467" y="996657"/>
                </a:lnTo>
                <a:lnTo>
                  <a:pt x="259016" y="1020826"/>
                </a:lnTo>
                <a:lnTo>
                  <a:pt x="265061" y="1028192"/>
                </a:lnTo>
                <a:lnTo>
                  <a:pt x="294513" y="1004011"/>
                </a:lnTo>
                <a:close/>
              </a:path>
              <a:path w="2484754" h="2472054">
                <a:moveTo>
                  <a:pt x="296887" y="645401"/>
                </a:moveTo>
                <a:lnTo>
                  <a:pt x="281317" y="610628"/>
                </a:lnTo>
                <a:lnTo>
                  <a:pt x="272618" y="614527"/>
                </a:lnTo>
                <a:lnTo>
                  <a:pt x="288201" y="649287"/>
                </a:lnTo>
                <a:lnTo>
                  <a:pt x="296887" y="645401"/>
                </a:lnTo>
                <a:close/>
              </a:path>
              <a:path w="2484754" h="2472054">
                <a:moveTo>
                  <a:pt x="297472" y="1826882"/>
                </a:moveTo>
                <a:lnTo>
                  <a:pt x="288772" y="1822983"/>
                </a:lnTo>
                <a:lnTo>
                  <a:pt x="273164" y="1857730"/>
                </a:lnTo>
                <a:lnTo>
                  <a:pt x="281851" y="1861642"/>
                </a:lnTo>
                <a:lnTo>
                  <a:pt x="297472" y="1826882"/>
                </a:lnTo>
                <a:close/>
              </a:path>
              <a:path w="2484754" h="2472054">
                <a:moveTo>
                  <a:pt x="324154" y="706247"/>
                </a:moveTo>
                <a:lnTo>
                  <a:pt x="308571" y="671474"/>
                </a:lnTo>
                <a:lnTo>
                  <a:pt x="299885" y="675373"/>
                </a:lnTo>
                <a:lnTo>
                  <a:pt x="315468" y="710133"/>
                </a:lnTo>
                <a:lnTo>
                  <a:pt x="324154" y="706247"/>
                </a:lnTo>
                <a:close/>
              </a:path>
              <a:path w="2484754" h="2472054">
                <a:moveTo>
                  <a:pt x="324789" y="1766062"/>
                </a:moveTo>
                <a:lnTo>
                  <a:pt x="316090" y="1762150"/>
                </a:lnTo>
                <a:lnTo>
                  <a:pt x="300482" y="1796910"/>
                </a:lnTo>
                <a:lnTo>
                  <a:pt x="309168" y="1800809"/>
                </a:lnTo>
                <a:lnTo>
                  <a:pt x="324789" y="1766062"/>
                </a:lnTo>
                <a:close/>
              </a:path>
              <a:path w="2484754" h="2472054">
                <a:moveTo>
                  <a:pt x="327380" y="187579"/>
                </a:moveTo>
                <a:lnTo>
                  <a:pt x="294500" y="168338"/>
                </a:lnTo>
                <a:lnTo>
                  <a:pt x="289687" y="176568"/>
                </a:lnTo>
                <a:lnTo>
                  <a:pt x="322567" y="195808"/>
                </a:lnTo>
                <a:lnTo>
                  <a:pt x="327380" y="187579"/>
                </a:lnTo>
                <a:close/>
              </a:path>
              <a:path w="2484754" h="2472054">
                <a:moveTo>
                  <a:pt x="328104" y="2285720"/>
                </a:moveTo>
                <a:lnTo>
                  <a:pt x="323329" y="2277478"/>
                </a:lnTo>
                <a:lnTo>
                  <a:pt x="290372" y="2296591"/>
                </a:lnTo>
                <a:lnTo>
                  <a:pt x="295148" y="2304834"/>
                </a:lnTo>
                <a:lnTo>
                  <a:pt x="328104" y="2285720"/>
                </a:lnTo>
                <a:close/>
              </a:path>
              <a:path w="2484754" h="2472054">
                <a:moveTo>
                  <a:pt x="345173" y="1511388"/>
                </a:moveTo>
                <a:lnTo>
                  <a:pt x="315798" y="1487119"/>
                </a:lnTo>
                <a:lnTo>
                  <a:pt x="309740" y="1494459"/>
                </a:lnTo>
                <a:lnTo>
                  <a:pt x="339102" y="1518729"/>
                </a:lnTo>
                <a:lnTo>
                  <a:pt x="345173" y="1511388"/>
                </a:lnTo>
                <a:close/>
              </a:path>
              <a:path w="2484754" h="2472054">
                <a:moveTo>
                  <a:pt x="346049" y="961720"/>
                </a:moveTo>
                <a:lnTo>
                  <a:pt x="340004" y="954354"/>
                </a:lnTo>
                <a:lnTo>
                  <a:pt x="310553" y="978522"/>
                </a:lnTo>
                <a:lnTo>
                  <a:pt x="316598" y="985888"/>
                </a:lnTo>
                <a:lnTo>
                  <a:pt x="346049" y="961720"/>
                </a:lnTo>
                <a:close/>
              </a:path>
              <a:path w="2484754" h="2472054">
                <a:moveTo>
                  <a:pt x="351421" y="767092"/>
                </a:moveTo>
                <a:lnTo>
                  <a:pt x="335838" y="732320"/>
                </a:lnTo>
                <a:lnTo>
                  <a:pt x="327152" y="736219"/>
                </a:lnTo>
                <a:lnTo>
                  <a:pt x="342722" y="770978"/>
                </a:lnTo>
                <a:lnTo>
                  <a:pt x="351421" y="767092"/>
                </a:lnTo>
                <a:close/>
              </a:path>
              <a:path w="2484754" h="2472054">
                <a:moveTo>
                  <a:pt x="352094" y="1705241"/>
                </a:moveTo>
                <a:lnTo>
                  <a:pt x="343408" y="1701330"/>
                </a:lnTo>
                <a:lnTo>
                  <a:pt x="327799" y="1736090"/>
                </a:lnTo>
                <a:lnTo>
                  <a:pt x="336486" y="1739988"/>
                </a:lnTo>
                <a:lnTo>
                  <a:pt x="352094" y="1705241"/>
                </a:lnTo>
                <a:close/>
              </a:path>
              <a:path w="2484754" h="2472054">
                <a:moveTo>
                  <a:pt x="378675" y="827938"/>
                </a:moveTo>
                <a:lnTo>
                  <a:pt x="363105" y="793165"/>
                </a:lnTo>
                <a:lnTo>
                  <a:pt x="354406" y="797064"/>
                </a:lnTo>
                <a:lnTo>
                  <a:pt x="369989" y="831824"/>
                </a:lnTo>
                <a:lnTo>
                  <a:pt x="378675" y="827938"/>
                </a:lnTo>
                <a:close/>
              </a:path>
              <a:path w="2484754" h="2472054">
                <a:moveTo>
                  <a:pt x="379412" y="1644408"/>
                </a:moveTo>
                <a:lnTo>
                  <a:pt x="370725" y="1640509"/>
                </a:lnTo>
                <a:lnTo>
                  <a:pt x="355117" y="1675269"/>
                </a:lnTo>
                <a:lnTo>
                  <a:pt x="363804" y="1679168"/>
                </a:lnTo>
                <a:lnTo>
                  <a:pt x="379412" y="1644408"/>
                </a:lnTo>
                <a:close/>
              </a:path>
              <a:path w="2484754" h="2472054">
                <a:moveTo>
                  <a:pt x="384937" y="221246"/>
                </a:moveTo>
                <a:lnTo>
                  <a:pt x="352044" y="202018"/>
                </a:lnTo>
                <a:lnTo>
                  <a:pt x="347230" y="210235"/>
                </a:lnTo>
                <a:lnTo>
                  <a:pt x="380123" y="229476"/>
                </a:lnTo>
                <a:lnTo>
                  <a:pt x="384937" y="221246"/>
                </a:lnTo>
                <a:close/>
              </a:path>
              <a:path w="2484754" h="2472054">
                <a:moveTo>
                  <a:pt x="385787" y="2252281"/>
                </a:moveTo>
                <a:lnTo>
                  <a:pt x="381012" y="2244039"/>
                </a:lnTo>
                <a:lnTo>
                  <a:pt x="348056" y="2263152"/>
                </a:lnTo>
                <a:lnTo>
                  <a:pt x="352831" y="2271395"/>
                </a:lnTo>
                <a:lnTo>
                  <a:pt x="385787" y="2252281"/>
                </a:lnTo>
                <a:close/>
              </a:path>
              <a:path w="2484754" h="2472054">
                <a:moveTo>
                  <a:pt x="396582" y="1553845"/>
                </a:moveTo>
                <a:lnTo>
                  <a:pt x="367207" y="1529588"/>
                </a:lnTo>
                <a:lnTo>
                  <a:pt x="361137" y="1536928"/>
                </a:lnTo>
                <a:lnTo>
                  <a:pt x="390512" y="1561198"/>
                </a:lnTo>
                <a:lnTo>
                  <a:pt x="396582" y="1553845"/>
                </a:lnTo>
                <a:close/>
              </a:path>
              <a:path w="2484754" h="2472054">
                <a:moveTo>
                  <a:pt x="397586" y="919416"/>
                </a:moveTo>
                <a:lnTo>
                  <a:pt x="391541" y="912050"/>
                </a:lnTo>
                <a:lnTo>
                  <a:pt x="362089" y="936218"/>
                </a:lnTo>
                <a:lnTo>
                  <a:pt x="368134" y="943584"/>
                </a:lnTo>
                <a:lnTo>
                  <a:pt x="397586" y="919416"/>
                </a:lnTo>
                <a:close/>
              </a:path>
              <a:path w="2484754" h="2472054">
                <a:moveTo>
                  <a:pt x="405942" y="888784"/>
                </a:moveTo>
                <a:lnTo>
                  <a:pt x="390359" y="854011"/>
                </a:lnTo>
                <a:lnTo>
                  <a:pt x="381673" y="857910"/>
                </a:lnTo>
                <a:lnTo>
                  <a:pt x="397256" y="892683"/>
                </a:lnTo>
                <a:lnTo>
                  <a:pt x="405942" y="888784"/>
                </a:lnTo>
                <a:close/>
              </a:path>
              <a:path w="2484754" h="2472054">
                <a:moveTo>
                  <a:pt x="406730" y="1583588"/>
                </a:moveTo>
                <a:lnTo>
                  <a:pt x="398043" y="1579689"/>
                </a:lnTo>
                <a:lnTo>
                  <a:pt x="382435" y="1614449"/>
                </a:lnTo>
                <a:lnTo>
                  <a:pt x="391121" y="1618348"/>
                </a:lnTo>
                <a:lnTo>
                  <a:pt x="406730" y="1583588"/>
                </a:lnTo>
                <a:close/>
              </a:path>
              <a:path w="2484754" h="2472054">
                <a:moveTo>
                  <a:pt x="433209" y="949629"/>
                </a:moveTo>
                <a:lnTo>
                  <a:pt x="417626" y="914857"/>
                </a:lnTo>
                <a:lnTo>
                  <a:pt x="408940" y="918756"/>
                </a:lnTo>
                <a:lnTo>
                  <a:pt x="424510" y="953528"/>
                </a:lnTo>
                <a:lnTo>
                  <a:pt x="433209" y="949629"/>
                </a:lnTo>
                <a:close/>
              </a:path>
              <a:path w="2484754" h="2472054">
                <a:moveTo>
                  <a:pt x="434047" y="1522768"/>
                </a:moveTo>
                <a:lnTo>
                  <a:pt x="425361" y="1518869"/>
                </a:lnTo>
                <a:lnTo>
                  <a:pt x="409752" y="1553629"/>
                </a:lnTo>
                <a:lnTo>
                  <a:pt x="418439" y="1557528"/>
                </a:lnTo>
                <a:lnTo>
                  <a:pt x="434047" y="1522768"/>
                </a:lnTo>
                <a:close/>
              </a:path>
              <a:path w="2484754" h="2472054">
                <a:moveTo>
                  <a:pt x="442480" y="254927"/>
                </a:moveTo>
                <a:lnTo>
                  <a:pt x="409600" y="235686"/>
                </a:lnTo>
                <a:lnTo>
                  <a:pt x="404787" y="243903"/>
                </a:lnTo>
                <a:lnTo>
                  <a:pt x="437667" y="263144"/>
                </a:lnTo>
                <a:lnTo>
                  <a:pt x="442480" y="254927"/>
                </a:lnTo>
                <a:close/>
              </a:path>
              <a:path w="2484754" h="2472054">
                <a:moveTo>
                  <a:pt x="443471" y="2218842"/>
                </a:moveTo>
                <a:lnTo>
                  <a:pt x="438696" y="2210600"/>
                </a:lnTo>
                <a:lnTo>
                  <a:pt x="405739" y="2229713"/>
                </a:lnTo>
                <a:lnTo>
                  <a:pt x="410514" y="2237956"/>
                </a:lnTo>
                <a:lnTo>
                  <a:pt x="443471" y="2218842"/>
                </a:lnTo>
                <a:close/>
              </a:path>
              <a:path w="2484754" h="2472054">
                <a:moveTo>
                  <a:pt x="447979" y="1596313"/>
                </a:moveTo>
                <a:lnTo>
                  <a:pt x="418604" y="1572044"/>
                </a:lnTo>
                <a:lnTo>
                  <a:pt x="412546" y="1579397"/>
                </a:lnTo>
                <a:lnTo>
                  <a:pt x="441909" y="1603654"/>
                </a:lnTo>
                <a:lnTo>
                  <a:pt x="447979" y="1596313"/>
                </a:lnTo>
                <a:close/>
              </a:path>
              <a:path w="2484754" h="2472054">
                <a:moveTo>
                  <a:pt x="449122" y="877112"/>
                </a:moveTo>
                <a:lnTo>
                  <a:pt x="443077" y="869746"/>
                </a:lnTo>
                <a:lnTo>
                  <a:pt x="413639" y="893927"/>
                </a:lnTo>
                <a:lnTo>
                  <a:pt x="419671" y="901280"/>
                </a:lnTo>
                <a:lnTo>
                  <a:pt x="449122" y="877112"/>
                </a:lnTo>
                <a:close/>
              </a:path>
              <a:path w="2484754" h="2472054">
                <a:moveTo>
                  <a:pt x="460463" y="1010475"/>
                </a:moveTo>
                <a:lnTo>
                  <a:pt x="444893" y="975702"/>
                </a:lnTo>
                <a:lnTo>
                  <a:pt x="436194" y="979601"/>
                </a:lnTo>
                <a:lnTo>
                  <a:pt x="451777" y="1014374"/>
                </a:lnTo>
                <a:lnTo>
                  <a:pt x="460463" y="1010475"/>
                </a:lnTo>
                <a:close/>
              </a:path>
              <a:path w="2484754" h="2472054">
                <a:moveTo>
                  <a:pt x="461365" y="1461947"/>
                </a:moveTo>
                <a:lnTo>
                  <a:pt x="452678" y="1458048"/>
                </a:lnTo>
                <a:lnTo>
                  <a:pt x="437070" y="1492796"/>
                </a:lnTo>
                <a:lnTo>
                  <a:pt x="445757" y="1496707"/>
                </a:lnTo>
                <a:lnTo>
                  <a:pt x="461365" y="1461947"/>
                </a:lnTo>
                <a:close/>
              </a:path>
              <a:path w="2484754" h="2472054">
                <a:moveTo>
                  <a:pt x="487730" y="1071321"/>
                </a:moveTo>
                <a:lnTo>
                  <a:pt x="472147" y="1036548"/>
                </a:lnTo>
                <a:lnTo>
                  <a:pt x="463461" y="1040447"/>
                </a:lnTo>
                <a:lnTo>
                  <a:pt x="479044" y="1075220"/>
                </a:lnTo>
                <a:lnTo>
                  <a:pt x="487730" y="1071321"/>
                </a:lnTo>
                <a:close/>
              </a:path>
              <a:path w="2484754" h="2472054">
                <a:moveTo>
                  <a:pt x="488683" y="1401127"/>
                </a:moveTo>
                <a:lnTo>
                  <a:pt x="479996" y="1397228"/>
                </a:lnTo>
                <a:lnTo>
                  <a:pt x="464388" y="1431975"/>
                </a:lnTo>
                <a:lnTo>
                  <a:pt x="473075" y="1435874"/>
                </a:lnTo>
                <a:lnTo>
                  <a:pt x="488683" y="1401127"/>
                </a:lnTo>
                <a:close/>
              </a:path>
              <a:path w="2484754" h="2472054">
                <a:moveTo>
                  <a:pt x="499389" y="1638782"/>
                </a:moveTo>
                <a:lnTo>
                  <a:pt x="470014" y="1614512"/>
                </a:lnTo>
                <a:lnTo>
                  <a:pt x="463943" y="1621853"/>
                </a:lnTo>
                <a:lnTo>
                  <a:pt x="493318" y="1646123"/>
                </a:lnTo>
                <a:lnTo>
                  <a:pt x="499389" y="1638782"/>
                </a:lnTo>
                <a:close/>
              </a:path>
              <a:path w="2484754" h="2472054">
                <a:moveTo>
                  <a:pt x="500024" y="288594"/>
                </a:moveTo>
                <a:lnTo>
                  <a:pt x="467144" y="269354"/>
                </a:lnTo>
                <a:lnTo>
                  <a:pt x="462330" y="277571"/>
                </a:lnTo>
                <a:lnTo>
                  <a:pt x="495223" y="296811"/>
                </a:lnTo>
                <a:lnTo>
                  <a:pt x="500024" y="288594"/>
                </a:lnTo>
                <a:close/>
              </a:path>
              <a:path w="2484754" h="2472054">
                <a:moveTo>
                  <a:pt x="500659" y="834821"/>
                </a:moveTo>
                <a:lnTo>
                  <a:pt x="494626" y="827455"/>
                </a:lnTo>
                <a:lnTo>
                  <a:pt x="465175" y="851623"/>
                </a:lnTo>
                <a:lnTo>
                  <a:pt x="471208" y="858989"/>
                </a:lnTo>
                <a:lnTo>
                  <a:pt x="500659" y="834821"/>
                </a:lnTo>
                <a:close/>
              </a:path>
              <a:path w="2484754" h="2472054">
                <a:moveTo>
                  <a:pt x="501154" y="2185403"/>
                </a:moveTo>
                <a:lnTo>
                  <a:pt x="496379" y="2177161"/>
                </a:lnTo>
                <a:lnTo>
                  <a:pt x="463423" y="2196274"/>
                </a:lnTo>
                <a:lnTo>
                  <a:pt x="468198" y="2204516"/>
                </a:lnTo>
                <a:lnTo>
                  <a:pt x="501154" y="2185403"/>
                </a:lnTo>
                <a:close/>
              </a:path>
              <a:path w="2484754" h="2472054">
                <a:moveTo>
                  <a:pt x="514997" y="1132166"/>
                </a:moveTo>
                <a:lnTo>
                  <a:pt x="499414" y="1097394"/>
                </a:lnTo>
                <a:lnTo>
                  <a:pt x="490728" y="1101293"/>
                </a:lnTo>
                <a:lnTo>
                  <a:pt x="506298" y="1136065"/>
                </a:lnTo>
                <a:lnTo>
                  <a:pt x="514997" y="1132166"/>
                </a:lnTo>
                <a:close/>
              </a:path>
              <a:path w="2484754" h="2472054">
                <a:moveTo>
                  <a:pt x="516001" y="1340307"/>
                </a:moveTo>
                <a:lnTo>
                  <a:pt x="507314" y="1336395"/>
                </a:lnTo>
                <a:lnTo>
                  <a:pt x="491705" y="1371155"/>
                </a:lnTo>
                <a:lnTo>
                  <a:pt x="500392" y="1375054"/>
                </a:lnTo>
                <a:lnTo>
                  <a:pt x="516001" y="1340307"/>
                </a:lnTo>
                <a:close/>
              </a:path>
              <a:path w="2484754" h="2472054">
                <a:moveTo>
                  <a:pt x="542251" y="1193012"/>
                </a:moveTo>
                <a:lnTo>
                  <a:pt x="526681" y="1158252"/>
                </a:lnTo>
                <a:lnTo>
                  <a:pt x="517982" y="1162138"/>
                </a:lnTo>
                <a:lnTo>
                  <a:pt x="533565" y="1196911"/>
                </a:lnTo>
                <a:lnTo>
                  <a:pt x="542251" y="1193012"/>
                </a:lnTo>
                <a:close/>
              </a:path>
              <a:path w="2484754" h="2472054">
                <a:moveTo>
                  <a:pt x="543318" y="1279486"/>
                </a:moveTo>
                <a:lnTo>
                  <a:pt x="534631" y="1275575"/>
                </a:lnTo>
                <a:lnTo>
                  <a:pt x="519023" y="1310335"/>
                </a:lnTo>
                <a:lnTo>
                  <a:pt x="527710" y="1314234"/>
                </a:lnTo>
                <a:lnTo>
                  <a:pt x="543318" y="1279486"/>
                </a:lnTo>
                <a:close/>
              </a:path>
              <a:path w="2484754" h="2472054">
                <a:moveTo>
                  <a:pt x="550786" y="1681238"/>
                </a:moveTo>
                <a:lnTo>
                  <a:pt x="521411" y="1656981"/>
                </a:lnTo>
                <a:lnTo>
                  <a:pt x="515353" y="1664322"/>
                </a:lnTo>
                <a:lnTo>
                  <a:pt x="544728" y="1688579"/>
                </a:lnTo>
                <a:lnTo>
                  <a:pt x="550786" y="1681238"/>
                </a:lnTo>
                <a:close/>
              </a:path>
              <a:path w="2484754" h="2472054">
                <a:moveTo>
                  <a:pt x="552208" y="792518"/>
                </a:moveTo>
                <a:lnTo>
                  <a:pt x="546163" y="785152"/>
                </a:lnTo>
                <a:lnTo>
                  <a:pt x="516712" y="809320"/>
                </a:lnTo>
                <a:lnTo>
                  <a:pt x="522757" y="816686"/>
                </a:lnTo>
                <a:lnTo>
                  <a:pt x="552208" y="792518"/>
                </a:lnTo>
                <a:close/>
              </a:path>
              <a:path w="2484754" h="2472054">
                <a:moveTo>
                  <a:pt x="557580" y="322262"/>
                </a:moveTo>
                <a:lnTo>
                  <a:pt x="524687" y="303022"/>
                </a:lnTo>
                <a:lnTo>
                  <a:pt x="519887" y="311238"/>
                </a:lnTo>
                <a:lnTo>
                  <a:pt x="552767" y="330479"/>
                </a:lnTo>
                <a:lnTo>
                  <a:pt x="557580" y="322262"/>
                </a:lnTo>
                <a:close/>
              </a:path>
              <a:path w="2484754" h="2472054">
                <a:moveTo>
                  <a:pt x="558838" y="2151964"/>
                </a:moveTo>
                <a:lnTo>
                  <a:pt x="554062" y="2143722"/>
                </a:lnTo>
                <a:lnTo>
                  <a:pt x="521106" y="2162835"/>
                </a:lnTo>
                <a:lnTo>
                  <a:pt x="525881" y="2171077"/>
                </a:lnTo>
                <a:lnTo>
                  <a:pt x="558838" y="2151964"/>
                </a:lnTo>
                <a:close/>
              </a:path>
              <a:path w="2484754" h="2472054">
                <a:moveTo>
                  <a:pt x="570636" y="1218653"/>
                </a:moveTo>
                <a:lnTo>
                  <a:pt x="561949" y="1214755"/>
                </a:lnTo>
                <a:lnTo>
                  <a:pt x="556958" y="1225867"/>
                </a:lnTo>
                <a:lnTo>
                  <a:pt x="553935" y="1219098"/>
                </a:lnTo>
                <a:lnTo>
                  <a:pt x="545249" y="1222984"/>
                </a:lnTo>
                <a:lnTo>
                  <a:pt x="551738" y="1237488"/>
                </a:lnTo>
                <a:lnTo>
                  <a:pt x="546341" y="1249514"/>
                </a:lnTo>
                <a:lnTo>
                  <a:pt x="555028" y="1253413"/>
                </a:lnTo>
                <a:lnTo>
                  <a:pt x="556945" y="1249133"/>
                </a:lnTo>
                <a:lnTo>
                  <a:pt x="560819" y="1257757"/>
                </a:lnTo>
                <a:lnTo>
                  <a:pt x="569518" y="1253858"/>
                </a:lnTo>
                <a:lnTo>
                  <a:pt x="562178" y="1237488"/>
                </a:lnTo>
                <a:lnTo>
                  <a:pt x="570636" y="1218653"/>
                </a:lnTo>
                <a:close/>
              </a:path>
              <a:path w="2484754" h="2472054">
                <a:moveTo>
                  <a:pt x="596785" y="1314704"/>
                </a:moveTo>
                <a:lnTo>
                  <a:pt x="581202" y="1279944"/>
                </a:lnTo>
                <a:lnTo>
                  <a:pt x="572503" y="1283830"/>
                </a:lnTo>
                <a:lnTo>
                  <a:pt x="588086" y="1318602"/>
                </a:lnTo>
                <a:lnTo>
                  <a:pt x="596785" y="1314704"/>
                </a:lnTo>
                <a:close/>
              </a:path>
              <a:path w="2484754" h="2472054">
                <a:moveTo>
                  <a:pt x="597954" y="1157833"/>
                </a:moveTo>
                <a:lnTo>
                  <a:pt x="589267" y="1153934"/>
                </a:lnTo>
                <a:lnTo>
                  <a:pt x="573659" y="1188694"/>
                </a:lnTo>
                <a:lnTo>
                  <a:pt x="582345" y="1192593"/>
                </a:lnTo>
                <a:lnTo>
                  <a:pt x="597954" y="1157833"/>
                </a:lnTo>
                <a:close/>
              </a:path>
              <a:path w="2484754" h="2472054">
                <a:moveTo>
                  <a:pt x="602195" y="1723707"/>
                </a:moveTo>
                <a:lnTo>
                  <a:pt x="572820" y="1699437"/>
                </a:lnTo>
                <a:lnTo>
                  <a:pt x="566750" y="1706778"/>
                </a:lnTo>
                <a:lnTo>
                  <a:pt x="596125" y="1731048"/>
                </a:lnTo>
                <a:lnTo>
                  <a:pt x="602195" y="1723707"/>
                </a:lnTo>
                <a:close/>
              </a:path>
              <a:path w="2484754" h="2472054">
                <a:moveTo>
                  <a:pt x="603745" y="750214"/>
                </a:moveTo>
                <a:lnTo>
                  <a:pt x="597700" y="742848"/>
                </a:lnTo>
                <a:lnTo>
                  <a:pt x="568248" y="767029"/>
                </a:lnTo>
                <a:lnTo>
                  <a:pt x="574294" y="774382"/>
                </a:lnTo>
                <a:lnTo>
                  <a:pt x="603745" y="750214"/>
                </a:lnTo>
                <a:close/>
              </a:path>
              <a:path w="2484754" h="2472054">
                <a:moveTo>
                  <a:pt x="615124" y="355930"/>
                </a:moveTo>
                <a:lnTo>
                  <a:pt x="582244" y="336689"/>
                </a:lnTo>
                <a:lnTo>
                  <a:pt x="577430" y="344906"/>
                </a:lnTo>
                <a:lnTo>
                  <a:pt x="610323" y="364147"/>
                </a:lnTo>
                <a:lnTo>
                  <a:pt x="615124" y="355930"/>
                </a:lnTo>
                <a:close/>
              </a:path>
              <a:path w="2484754" h="2472054">
                <a:moveTo>
                  <a:pt x="616521" y="2118525"/>
                </a:moveTo>
                <a:lnTo>
                  <a:pt x="611746" y="2110282"/>
                </a:lnTo>
                <a:lnTo>
                  <a:pt x="578789" y="2129396"/>
                </a:lnTo>
                <a:lnTo>
                  <a:pt x="583565" y="2137638"/>
                </a:lnTo>
                <a:lnTo>
                  <a:pt x="616521" y="2118525"/>
                </a:lnTo>
                <a:close/>
              </a:path>
              <a:path w="2484754" h="2472054">
                <a:moveTo>
                  <a:pt x="624039" y="1375549"/>
                </a:moveTo>
                <a:lnTo>
                  <a:pt x="608469" y="1340789"/>
                </a:lnTo>
                <a:lnTo>
                  <a:pt x="599770" y="1344676"/>
                </a:lnTo>
                <a:lnTo>
                  <a:pt x="615353" y="1379448"/>
                </a:lnTo>
                <a:lnTo>
                  <a:pt x="624039" y="1375549"/>
                </a:lnTo>
                <a:close/>
              </a:path>
              <a:path w="2484754" h="2472054">
                <a:moveTo>
                  <a:pt x="625271" y="1097013"/>
                </a:moveTo>
                <a:lnTo>
                  <a:pt x="616585" y="1093114"/>
                </a:lnTo>
                <a:lnTo>
                  <a:pt x="600976" y="1127861"/>
                </a:lnTo>
                <a:lnTo>
                  <a:pt x="609663" y="1131773"/>
                </a:lnTo>
                <a:lnTo>
                  <a:pt x="625271" y="1097013"/>
                </a:lnTo>
                <a:close/>
              </a:path>
              <a:path w="2484754" h="2472054">
                <a:moveTo>
                  <a:pt x="651306" y="1436408"/>
                </a:moveTo>
                <a:lnTo>
                  <a:pt x="635723" y="1401635"/>
                </a:lnTo>
                <a:lnTo>
                  <a:pt x="627037" y="1405521"/>
                </a:lnTo>
                <a:lnTo>
                  <a:pt x="642607" y="1440294"/>
                </a:lnTo>
                <a:lnTo>
                  <a:pt x="651306" y="1436408"/>
                </a:lnTo>
                <a:close/>
              </a:path>
              <a:path w="2484754" h="2472054">
                <a:moveTo>
                  <a:pt x="652589" y="1036193"/>
                </a:moveTo>
                <a:lnTo>
                  <a:pt x="643902" y="1032294"/>
                </a:lnTo>
                <a:lnTo>
                  <a:pt x="628281" y="1067041"/>
                </a:lnTo>
                <a:lnTo>
                  <a:pt x="636981" y="1070952"/>
                </a:lnTo>
                <a:lnTo>
                  <a:pt x="652589" y="1036193"/>
                </a:lnTo>
                <a:close/>
              </a:path>
              <a:path w="2484754" h="2472054">
                <a:moveTo>
                  <a:pt x="653592" y="1766176"/>
                </a:moveTo>
                <a:lnTo>
                  <a:pt x="624217" y="1741906"/>
                </a:lnTo>
                <a:lnTo>
                  <a:pt x="618159" y="1749247"/>
                </a:lnTo>
                <a:lnTo>
                  <a:pt x="647534" y="1773516"/>
                </a:lnTo>
                <a:lnTo>
                  <a:pt x="653592" y="1766176"/>
                </a:lnTo>
                <a:close/>
              </a:path>
              <a:path w="2484754" h="2472054">
                <a:moveTo>
                  <a:pt x="655281" y="707910"/>
                </a:moveTo>
                <a:lnTo>
                  <a:pt x="649236" y="700557"/>
                </a:lnTo>
                <a:lnTo>
                  <a:pt x="619785" y="724725"/>
                </a:lnTo>
                <a:lnTo>
                  <a:pt x="625830" y="732091"/>
                </a:lnTo>
                <a:lnTo>
                  <a:pt x="655281" y="707910"/>
                </a:lnTo>
                <a:close/>
              </a:path>
              <a:path w="2484754" h="2472054">
                <a:moveTo>
                  <a:pt x="672680" y="389597"/>
                </a:moveTo>
                <a:lnTo>
                  <a:pt x="639787" y="370357"/>
                </a:lnTo>
                <a:lnTo>
                  <a:pt x="634987" y="378587"/>
                </a:lnTo>
                <a:lnTo>
                  <a:pt x="667867" y="397814"/>
                </a:lnTo>
                <a:lnTo>
                  <a:pt x="672680" y="389597"/>
                </a:lnTo>
                <a:close/>
              </a:path>
              <a:path w="2484754" h="2472054">
                <a:moveTo>
                  <a:pt x="674204" y="2085086"/>
                </a:moveTo>
                <a:lnTo>
                  <a:pt x="669429" y="2076843"/>
                </a:lnTo>
                <a:lnTo>
                  <a:pt x="636473" y="2095957"/>
                </a:lnTo>
                <a:lnTo>
                  <a:pt x="641248" y="2104186"/>
                </a:lnTo>
                <a:lnTo>
                  <a:pt x="674204" y="2085086"/>
                </a:lnTo>
                <a:close/>
              </a:path>
              <a:path w="2484754" h="2472054">
                <a:moveTo>
                  <a:pt x="678573" y="1497253"/>
                </a:moveTo>
                <a:lnTo>
                  <a:pt x="662990" y="1462481"/>
                </a:lnTo>
                <a:lnTo>
                  <a:pt x="654291" y="1466380"/>
                </a:lnTo>
                <a:lnTo>
                  <a:pt x="669874" y="1501140"/>
                </a:lnTo>
                <a:lnTo>
                  <a:pt x="678573" y="1497253"/>
                </a:lnTo>
                <a:close/>
              </a:path>
              <a:path w="2484754" h="2472054">
                <a:moveTo>
                  <a:pt x="679907" y="975372"/>
                </a:moveTo>
                <a:lnTo>
                  <a:pt x="671220" y="971473"/>
                </a:lnTo>
                <a:lnTo>
                  <a:pt x="655599" y="1006221"/>
                </a:lnTo>
                <a:lnTo>
                  <a:pt x="664298" y="1010119"/>
                </a:lnTo>
                <a:lnTo>
                  <a:pt x="679907" y="975372"/>
                </a:lnTo>
                <a:close/>
              </a:path>
              <a:path w="2484754" h="2472054">
                <a:moveTo>
                  <a:pt x="705002" y="1808632"/>
                </a:moveTo>
                <a:lnTo>
                  <a:pt x="675627" y="1784362"/>
                </a:lnTo>
                <a:lnTo>
                  <a:pt x="669556" y="1791716"/>
                </a:lnTo>
                <a:lnTo>
                  <a:pt x="698931" y="1815973"/>
                </a:lnTo>
                <a:lnTo>
                  <a:pt x="705002" y="1808632"/>
                </a:lnTo>
                <a:close/>
              </a:path>
              <a:path w="2484754" h="2472054">
                <a:moveTo>
                  <a:pt x="705827" y="1558099"/>
                </a:moveTo>
                <a:lnTo>
                  <a:pt x="690257" y="1523326"/>
                </a:lnTo>
                <a:lnTo>
                  <a:pt x="681558" y="1527225"/>
                </a:lnTo>
                <a:lnTo>
                  <a:pt x="697141" y="1561985"/>
                </a:lnTo>
                <a:lnTo>
                  <a:pt x="705827" y="1558099"/>
                </a:lnTo>
                <a:close/>
              </a:path>
              <a:path w="2484754" h="2472054">
                <a:moveTo>
                  <a:pt x="706818" y="665619"/>
                </a:moveTo>
                <a:lnTo>
                  <a:pt x="700773" y="658253"/>
                </a:lnTo>
                <a:lnTo>
                  <a:pt x="671322" y="682421"/>
                </a:lnTo>
                <a:lnTo>
                  <a:pt x="677367" y="689787"/>
                </a:lnTo>
                <a:lnTo>
                  <a:pt x="706818" y="665619"/>
                </a:lnTo>
                <a:close/>
              </a:path>
              <a:path w="2484754" h="2472054">
                <a:moveTo>
                  <a:pt x="707224" y="914552"/>
                </a:moveTo>
                <a:lnTo>
                  <a:pt x="698525" y="910640"/>
                </a:lnTo>
                <a:lnTo>
                  <a:pt x="682917" y="945400"/>
                </a:lnTo>
                <a:lnTo>
                  <a:pt x="691616" y="949299"/>
                </a:lnTo>
                <a:lnTo>
                  <a:pt x="707224" y="914552"/>
                </a:lnTo>
                <a:close/>
              </a:path>
              <a:path w="2484754" h="2472054">
                <a:moveTo>
                  <a:pt x="730224" y="423265"/>
                </a:moveTo>
                <a:lnTo>
                  <a:pt x="697344" y="404025"/>
                </a:lnTo>
                <a:lnTo>
                  <a:pt x="692531" y="412254"/>
                </a:lnTo>
                <a:lnTo>
                  <a:pt x="725411" y="431495"/>
                </a:lnTo>
                <a:lnTo>
                  <a:pt x="730224" y="423265"/>
                </a:lnTo>
                <a:close/>
              </a:path>
              <a:path w="2484754" h="2472054">
                <a:moveTo>
                  <a:pt x="731888" y="2051646"/>
                </a:moveTo>
                <a:lnTo>
                  <a:pt x="727113" y="2043404"/>
                </a:lnTo>
                <a:lnTo>
                  <a:pt x="694156" y="2062518"/>
                </a:lnTo>
                <a:lnTo>
                  <a:pt x="698931" y="2070747"/>
                </a:lnTo>
                <a:lnTo>
                  <a:pt x="731888" y="2051646"/>
                </a:lnTo>
                <a:close/>
              </a:path>
              <a:path w="2484754" h="2472054">
                <a:moveTo>
                  <a:pt x="733094" y="1618945"/>
                </a:moveTo>
                <a:lnTo>
                  <a:pt x="717511" y="1584172"/>
                </a:lnTo>
                <a:lnTo>
                  <a:pt x="708825" y="1588071"/>
                </a:lnTo>
                <a:lnTo>
                  <a:pt x="724395" y="1622831"/>
                </a:lnTo>
                <a:lnTo>
                  <a:pt x="733094" y="1618945"/>
                </a:lnTo>
                <a:close/>
              </a:path>
              <a:path w="2484754" h="2472054">
                <a:moveTo>
                  <a:pt x="734542" y="853719"/>
                </a:moveTo>
                <a:lnTo>
                  <a:pt x="725843" y="849820"/>
                </a:lnTo>
                <a:lnTo>
                  <a:pt x="710234" y="884580"/>
                </a:lnTo>
                <a:lnTo>
                  <a:pt x="718921" y="888479"/>
                </a:lnTo>
                <a:lnTo>
                  <a:pt x="734542" y="853719"/>
                </a:lnTo>
                <a:close/>
              </a:path>
              <a:path w="2484754" h="2472054">
                <a:moveTo>
                  <a:pt x="756399" y="1851101"/>
                </a:moveTo>
                <a:lnTo>
                  <a:pt x="727036" y="1826831"/>
                </a:lnTo>
                <a:lnTo>
                  <a:pt x="720966" y="1834172"/>
                </a:lnTo>
                <a:lnTo>
                  <a:pt x="750341" y="1858441"/>
                </a:lnTo>
                <a:lnTo>
                  <a:pt x="756399" y="1851101"/>
                </a:lnTo>
                <a:close/>
              </a:path>
              <a:path w="2484754" h="2472054">
                <a:moveTo>
                  <a:pt x="758355" y="623316"/>
                </a:moveTo>
                <a:lnTo>
                  <a:pt x="752309" y="615950"/>
                </a:lnTo>
                <a:lnTo>
                  <a:pt x="722871" y="640118"/>
                </a:lnTo>
                <a:lnTo>
                  <a:pt x="728903" y="647484"/>
                </a:lnTo>
                <a:lnTo>
                  <a:pt x="758355" y="623316"/>
                </a:lnTo>
                <a:close/>
              </a:path>
              <a:path w="2484754" h="2472054">
                <a:moveTo>
                  <a:pt x="760349" y="1679790"/>
                </a:moveTo>
                <a:lnTo>
                  <a:pt x="744778" y="1645018"/>
                </a:lnTo>
                <a:lnTo>
                  <a:pt x="736079" y="1648917"/>
                </a:lnTo>
                <a:lnTo>
                  <a:pt x="751662" y="1683689"/>
                </a:lnTo>
                <a:lnTo>
                  <a:pt x="760349" y="1679790"/>
                </a:lnTo>
                <a:close/>
              </a:path>
              <a:path w="2484754" h="2472054">
                <a:moveTo>
                  <a:pt x="761860" y="792899"/>
                </a:moveTo>
                <a:lnTo>
                  <a:pt x="753160" y="789000"/>
                </a:lnTo>
                <a:lnTo>
                  <a:pt x="737552" y="823760"/>
                </a:lnTo>
                <a:lnTo>
                  <a:pt x="746239" y="827659"/>
                </a:lnTo>
                <a:lnTo>
                  <a:pt x="761860" y="792899"/>
                </a:lnTo>
                <a:close/>
              </a:path>
              <a:path w="2484754" h="2472054">
                <a:moveTo>
                  <a:pt x="787615" y="1740636"/>
                </a:moveTo>
                <a:lnTo>
                  <a:pt x="772033" y="1705864"/>
                </a:lnTo>
                <a:lnTo>
                  <a:pt x="763346" y="1709762"/>
                </a:lnTo>
                <a:lnTo>
                  <a:pt x="778929" y="1744535"/>
                </a:lnTo>
                <a:lnTo>
                  <a:pt x="787615" y="1740636"/>
                </a:lnTo>
                <a:close/>
              </a:path>
              <a:path w="2484754" h="2472054">
                <a:moveTo>
                  <a:pt x="787781" y="456933"/>
                </a:moveTo>
                <a:lnTo>
                  <a:pt x="754888" y="437692"/>
                </a:lnTo>
                <a:lnTo>
                  <a:pt x="750087" y="445922"/>
                </a:lnTo>
                <a:lnTo>
                  <a:pt x="782967" y="465162"/>
                </a:lnTo>
                <a:lnTo>
                  <a:pt x="787781" y="456933"/>
                </a:lnTo>
                <a:close/>
              </a:path>
              <a:path w="2484754" h="2472054">
                <a:moveTo>
                  <a:pt x="789165" y="732078"/>
                </a:moveTo>
                <a:lnTo>
                  <a:pt x="780478" y="728179"/>
                </a:lnTo>
                <a:lnTo>
                  <a:pt x="764870" y="762939"/>
                </a:lnTo>
                <a:lnTo>
                  <a:pt x="773557" y="766838"/>
                </a:lnTo>
                <a:lnTo>
                  <a:pt x="789165" y="732078"/>
                </a:lnTo>
                <a:close/>
              </a:path>
              <a:path w="2484754" h="2472054">
                <a:moveTo>
                  <a:pt x="789571" y="2018207"/>
                </a:moveTo>
                <a:lnTo>
                  <a:pt x="784796" y="2009965"/>
                </a:lnTo>
                <a:lnTo>
                  <a:pt x="751840" y="2029079"/>
                </a:lnTo>
                <a:lnTo>
                  <a:pt x="756615" y="2037308"/>
                </a:lnTo>
                <a:lnTo>
                  <a:pt x="789571" y="2018207"/>
                </a:lnTo>
                <a:close/>
              </a:path>
              <a:path w="2484754" h="2472054">
                <a:moveTo>
                  <a:pt x="807808" y="1893557"/>
                </a:moveTo>
                <a:lnTo>
                  <a:pt x="778433" y="1869300"/>
                </a:lnTo>
                <a:lnTo>
                  <a:pt x="772363" y="1876640"/>
                </a:lnTo>
                <a:lnTo>
                  <a:pt x="801738" y="1900910"/>
                </a:lnTo>
                <a:lnTo>
                  <a:pt x="807808" y="1893557"/>
                </a:lnTo>
                <a:close/>
              </a:path>
              <a:path w="2484754" h="2472054">
                <a:moveTo>
                  <a:pt x="809891" y="581012"/>
                </a:moveTo>
                <a:lnTo>
                  <a:pt x="803859" y="573646"/>
                </a:lnTo>
                <a:lnTo>
                  <a:pt x="774407" y="597827"/>
                </a:lnTo>
                <a:lnTo>
                  <a:pt x="780453" y="605180"/>
                </a:lnTo>
                <a:lnTo>
                  <a:pt x="809891" y="581012"/>
                </a:lnTo>
                <a:close/>
              </a:path>
              <a:path w="2484754" h="2472054">
                <a:moveTo>
                  <a:pt x="814882" y="1801482"/>
                </a:moveTo>
                <a:lnTo>
                  <a:pt x="799299" y="1766709"/>
                </a:lnTo>
                <a:lnTo>
                  <a:pt x="790613" y="1770608"/>
                </a:lnTo>
                <a:lnTo>
                  <a:pt x="806183" y="1805381"/>
                </a:lnTo>
                <a:lnTo>
                  <a:pt x="814882" y="1801482"/>
                </a:lnTo>
                <a:close/>
              </a:path>
              <a:path w="2484754" h="2472054">
                <a:moveTo>
                  <a:pt x="816483" y="671258"/>
                </a:moveTo>
                <a:lnTo>
                  <a:pt x="807796" y="667359"/>
                </a:lnTo>
                <a:lnTo>
                  <a:pt x="792187" y="702106"/>
                </a:lnTo>
                <a:lnTo>
                  <a:pt x="800874" y="706018"/>
                </a:lnTo>
                <a:lnTo>
                  <a:pt x="816483" y="671258"/>
                </a:lnTo>
                <a:close/>
              </a:path>
              <a:path w="2484754" h="2472054">
                <a:moveTo>
                  <a:pt x="842137" y="1862328"/>
                </a:moveTo>
                <a:lnTo>
                  <a:pt x="826566" y="1827555"/>
                </a:lnTo>
                <a:lnTo>
                  <a:pt x="817867" y="1831454"/>
                </a:lnTo>
                <a:lnTo>
                  <a:pt x="833450" y="1866226"/>
                </a:lnTo>
                <a:lnTo>
                  <a:pt x="842137" y="1862328"/>
                </a:lnTo>
                <a:close/>
              </a:path>
              <a:path w="2484754" h="2472054">
                <a:moveTo>
                  <a:pt x="843800" y="610438"/>
                </a:moveTo>
                <a:lnTo>
                  <a:pt x="835113" y="606539"/>
                </a:lnTo>
                <a:lnTo>
                  <a:pt x="819505" y="641286"/>
                </a:lnTo>
                <a:lnTo>
                  <a:pt x="828192" y="645198"/>
                </a:lnTo>
                <a:lnTo>
                  <a:pt x="843800" y="610438"/>
                </a:lnTo>
                <a:close/>
              </a:path>
              <a:path w="2484754" h="2472054">
                <a:moveTo>
                  <a:pt x="880643" y="1959902"/>
                </a:moveTo>
                <a:lnTo>
                  <a:pt x="795616" y="1965159"/>
                </a:lnTo>
                <a:lnTo>
                  <a:pt x="812330" y="1994001"/>
                </a:lnTo>
                <a:lnTo>
                  <a:pt x="809523" y="1995639"/>
                </a:lnTo>
                <a:lnTo>
                  <a:pt x="814298" y="2003869"/>
                </a:lnTo>
                <a:lnTo>
                  <a:pt x="817105" y="2002243"/>
                </a:lnTo>
                <a:lnTo>
                  <a:pt x="833831" y="2031085"/>
                </a:lnTo>
                <a:lnTo>
                  <a:pt x="852792" y="2002243"/>
                </a:lnTo>
                <a:lnTo>
                  <a:pt x="880643" y="1959902"/>
                </a:lnTo>
                <a:close/>
              </a:path>
              <a:path w="2484754" h="2472054">
                <a:moveTo>
                  <a:pt x="880643" y="516788"/>
                </a:moveTo>
                <a:lnTo>
                  <a:pt x="852868" y="474192"/>
                </a:lnTo>
                <a:lnTo>
                  <a:pt x="834110" y="445427"/>
                </a:lnTo>
                <a:lnTo>
                  <a:pt x="817283" y="474192"/>
                </a:lnTo>
                <a:lnTo>
                  <a:pt x="812444" y="471373"/>
                </a:lnTo>
                <a:lnTo>
                  <a:pt x="807631" y="479590"/>
                </a:lnTo>
                <a:lnTo>
                  <a:pt x="812469" y="482422"/>
                </a:lnTo>
                <a:lnTo>
                  <a:pt x="795629" y="511187"/>
                </a:lnTo>
                <a:lnTo>
                  <a:pt x="880643" y="516788"/>
                </a:lnTo>
                <a:close/>
              </a:path>
              <a:path w="2484754" h="2472054">
                <a:moveTo>
                  <a:pt x="884174" y="601903"/>
                </a:moveTo>
                <a:lnTo>
                  <a:pt x="880643" y="516788"/>
                </a:lnTo>
                <a:lnTo>
                  <a:pt x="797572" y="535686"/>
                </a:lnTo>
                <a:lnTo>
                  <a:pt x="821626" y="565010"/>
                </a:lnTo>
                <a:lnTo>
                  <a:pt x="814666" y="570687"/>
                </a:lnTo>
                <a:lnTo>
                  <a:pt x="833081" y="578967"/>
                </a:lnTo>
                <a:lnTo>
                  <a:pt x="845908" y="594575"/>
                </a:lnTo>
                <a:lnTo>
                  <a:pt x="849566" y="586371"/>
                </a:lnTo>
                <a:lnTo>
                  <a:pt x="884174" y="601903"/>
                </a:lnTo>
                <a:close/>
              </a:path>
              <a:path w="2484754" h="2472054">
                <a:moveTo>
                  <a:pt x="884250" y="1874786"/>
                </a:moveTo>
                <a:lnTo>
                  <a:pt x="853833" y="1888426"/>
                </a:lnTo>
                <a:lnTo>
                  <a:pt x="849795" y="1890217"/>
                </a:lnTo>
                <a:lnTo>
                  <a:pt x="846162" y="1882000"/>
                </a:lnTo>
                <a:lnTo>
                  <a:pt x="833234" y="1897659"/>
                </a:lnTo>
                <a:lnTo>
                  <a:pt x="814717" y="1905952"/>
                </a:lnTo>
                <a:lnTo>
                  <a:pt x="821664" y="1911654"/>
                </a:lnTo>
                <a:lnTo>
                  <a:pt x="797636" y="1940750"/>
                </a:lnTo>
                <a:lnTo>
                  <a:pt x="880643" y="1959902"/>
                </a:lnTo>
                <a:lnTo>
                  <a:pt x="884250" y="1874786"/>
                </a:lnTo>
                <a:close/>
              </a:path>
              <a:path w="2484754" h="2472054">
                <a:moveTo>
                  <a:pt x="1639836" y="501662"/>
                </a:moveTo>
                <a:lnTo>
                  <a:pt x="1635023" y="493433"/>
                </a:lnTo>
                <a:lnTo>
                  <a:pt x="1602143" y="512673"/>
                </a:lnTo>
                <a:lnTo>
                  <a:pt x="1604543" y="516788"/>
                </a:lnTo>
                <a:lnTo>
                  <a:pt x="1600200" y="518744"/>
                </a:lnTo>
                <a:lnTo>
                  <a:pt x="1615808" y="553491"/>
                </a:lnTo>
                <a:lnTo>
                  <a:pt x="1624495" y="549592"/>
                </a:lnTo>
                <a:lnTo>
                  <a:pt x="1617192" y="533336"/>
                </a:lnTo>
                <a:lnTo>
                  <a:pt x="1630972" y="544639"/>
                </a:lnTo>
                <a:lnTo>
                  <a:pt x="1637017" y="537273"/>
                </a:lnTo>
                <a:lnTo>
                  <a:pt x="1612849" y="517448"/>
                </a:lnTo>
                <a:lnTo>
                  <a:pt x="1639836" y="501662"/>
                </a:lnTo>
                <a:close/>
              </a:path>
              <a:path w="2484754" h="2472054">
                <a:moveTo>
                  <a:pt x="1639900" y="1974900"/>
                </a:moveTo>
                <a:lnTo>
                  <a:pt x="1612849" y="1959229"/>
                </a:lnTo>
                <a:lnTo>
                  <a:pt x="1636953" y="1939315"/>
                </a:lnTo>
                <a:lnTo>
                  <a:pt x="1630883" y="1931974"/>
                </a:lnTo>
                <a:lnTo>
                  <a:pt x="1617218" y="1943265"/>
                </a:lnTo>
                <a:lnTo>
                  <a:pt x="1624469" y="1927085"/>
                </a:lnTo>
                <a:lnTo>
                  <a:pt x="1615770" y="1923186"/>
                </a:lnTo>
                <a:lnTo>
                  <a:pt x="1600200" y="1957959"/>
                </a:lnTo>
                <a:lnTo>
                  <a:pt x="1604530" y="1959914"/>
                </a:lnTo>
                <a:lnTo>
                  <a:pt x="1602155" y="1964029"/>
                </a:lnTo>
                <a:lnTo>
                  <a:pt x="1635112" y="1983130"/>
                </a:lnTo>
                <a:lnTo>
                  <a:pt x="1639900" y="1974900"/>
                </a:lnTo>
                <a:close/>
              </a:path>
              <a:path w="2484754" h="2472054">
                <a:moveTo>
                  <a:pt x="1651736" y="1866239"/>
                </a:moveTo>
                <a:lnTo>
                  <a:pt x="1643037" y="1862340"/>
                </a:lnTo>
                <a:lnTo>
                  <a:pt x="1627454" y="1897113"/>
                </a:lnTo>
                <a:lnTo>
                  <a:pt x="1636153" y="1901012"/>
                </a:lnTo>
                <a:lnTo>
                  <a:pt x="1651736" y="1866239"/>
                </a:lnTo>
                <a:close/>
              </a:path>
              <a:path w="2484754" h="2472054">
                <a:moveTo>
                  <a:pt x="1651812" y="610412"/>
                </a:moveTo>
                <a:lnTo>
                  <a:pt x="1636204" y="575652"/>
                </a:lnTo>
                <a:lnTo>
                  <a:pt x="1627517" y="579564"/>
                </a:lnTo>
                <a:lnTo>
                  <a:pt x="1643126" y="614311"/>
                </a:lnTo>
                <a:lnTo>
                  <a:pt x="1651812" y="610412"/>
                </a:lnTo>
                <a:close/>
              </a:path>
              <a:path w="2484754" h="2472054">
                <a:moveTo>
                  <a:pt x="1678990" y="1805393"/>
                </a:moveTo>
                <a:lnTo>
                  <a:pt x="1670304" y="1801495"/>
                </a:lnTo>
                <a:lnTo>
                  <a:pt x="1654721" y="1836267"/>
                </a:lnTo>
                <a:lnTo>
                  <a:pt x="1663420" y="1840166"/>
                </a:lnTo>
                <a:lnTo>
                  <a:pt x="1678990" y="1805393"/>
                </a:lnTo>
                <a:close/>
              </a:path>
              <a:path w="2484754" h="2472054">
                <a:moveTo>
                  <a:pt x="1679130" y="671233"/>
                </a:moveTo>
                <a:lnTo>
                  <a:pt x="1663522" y="636485"/>
                </a:lnTo>
                <a:lnTo>
                  <a:pt x="1654835" y="640384"/>
                </a:lnTo>
                <a:lnTo>
                  <a:pt x="1670443" y="675144"/>
                </a:lnTo>
                <a:lnTo>
                  <a:pt x="1679130" y="671233"/>
                </a:lnTo>
                <a:close/>
              </a:path>
              <a:path w="2484754" h="2472054">
                <a:moveTo>
                  <a:pt x="1688350" y="1896846"/>
                </a:moveTo>
                <a:lnTo>
                  <a:pt x="1682292" y="1889506"/>
                </a:lnTo>
                <a:lnTo>
                  <a:pt x="1652917" y="1913775"/>
                </a:lnTo>
                <a:lnTo>
                  <a:pt x="1658975" y="1921116"/>
                </a:lnTo>
                <a:lnTo>
                  <a:pt x="1688350" y="1896846"/>
                </a:lnTo>
                <a:close/>
              </a:path>
              <a:path w="2484754" h="2472054">
                <a:moveTo>
                  <a:pt x="1688553" y="579577"/>
                </a:moveTo>
                <a:lnTo>
                  <a:pt x="1659102" y="555409"/>
                </a:lnTo>
                <a:lnTo>
                  <a:pt x="1653057" y="562775"/>
                </a:lnTo>
                <a:lnTo>
                  <a:pt x="1682508" y="586943"/>
                </a:lnTo>
                <a:lnTo>
                  <a:pt x="1688553" y="579577"/>
                </a:lnTo>
                <a:close/>
              </a:path>
              <a:path w="2484754" h="2472054">
                <a:moveTo>
                  <a:pt x="1697380" y="467995"/>
                </a:moveTo>
                <a:lnTo>
                  <a:pt x="1692579" y="459765"/>
                </a:lnTo>
                <a:lnTo>
                  <a:pt x="1659686" y="479005"/>
                </a:lnTo>
                <a:lnTo>
                  <a:pt x="1664500" y="487235"/>
                </a:lnTo>
                <a:lnTo>
                  <a:pt x="1697380" y="467995"/>
                </a:lnTo>
                <a:close/>
              </a:path>
              <a:path w="2484754" h="2472054">
                <a:moveTo>
                  <a:pt x="1697583" y="2008339"/>
                </a:moveTo>
                <a:lnTo>
                  <a:pt x="1664614" y="1989226"/>
                </a:lnTo>
                <a:lnTo>
                  <a:pt x="1659839" y="1997468"/>
                </a:lnTo>
                <a:lnTo>
                  <a:pt x="1692795" y="2016582"/>
                </a:lnTo>
                <a:lnTo>
                  <a:pt x="1697583" y="2008339"/>
                </a:lnTo>
                <a:close/>
              </a:path>
              <a:path w="2484754" h="2472054">
                <a:moveTo>
                  <a:pt x="1706257" y="1744548"/>
                </a:moveTo>
                <a:lnTo>
                  <a:pt x="1697558" y="1740649"/>
                </a:lnTo>
                <a:lnTo>
                  <a:pt x="1681988" y="1775421"/>
                </a:lnTo>
                <a:lnTo>
                  <a:pt x="1690674" y="1779320"/>
                </a:lnTo>
                <a:lnTo>
                  <a:pt x="1706257" y="1744548"/>
                </a:lnTo>
                <a:close/>
              </a:path>
              <a:path w="2484754" h="2472054">
                <a:moveTo>
                  <a:pt x="1706448" y="732053"/>
                </a:moveTo>
                <a:lnTo>
                  <a:pt x="1690839" y="697306"/>
                </a:lnTo>
                <a:lnTo>
                  <a:pt x="1682153" y="701205"/>
                </a:lnTo>
                <a:lnTo>
                  <a:pt x="1697761" y="735965"/>
                </a:lnTo>
                <a:lnTo>
                  <a:pt x="1706448" y="732053"/>
                </a:lnTo>
                <a:close/>
              </a:path>
              <a:path w="2484754" h="2472054">
                <a:moveTo>
                  <a:pt x="1733524" y="1683702"/>
                </a:moveTo>
                <a:lnTo>
                  <a:pt x="1724825" y="1679803"/>
                </a:lnTo>
                <a:lnTo>
                  <a:pt x="1709242" y="1714576"/>
                </a:lnTo>
                <a:lnTo>
                  <a:pt x="1717941" y="1718462"/>
                </a:lnTo>
                <a:lnTo>
                  <a:pt x="1733524" y="1683702"/>
                </a:lnTo>
                <a:close/>
              </a:path>
              <a:path w="2484754" h="2472054">
                <a:moveTo>
                  <a:pt x="1733765" y="792886"/>
                </a:moveTo>
                <a:lnTo>
                  <a:pt x="1718157" y="758126"/>
                </a:lnTo>
                <a:lnTo>
                  <a:pt x="1709470" y="762025"/>
                </a:lnTo>
                <a:lnTo>
                  <a:pt x="1725079" y="796785"/>
                </a:lnTo>
                <a:lnTo>
                  <a:pt x="1733765" y="792886"/>
                </a:lnTo>
                <a:close/>
              </a:path>
              <a:path w="2484754" h="2472054">
                <a:moveTo>
                  <a:pt x="1739760" y="1854390"/>
                </a:moveTo>
                <a:lnTo>
                  <a:pt x="1733689" y="1847037"/>
                </a:lnTo>
                <a:lnTo>
                  <a:pt x="1704314" y="1871306"/>
                </a:lnTo>
                <a:lnTo>
                  <a:pt x="1710385" y="1878647"/>
                </a:lnTo>
                <a:lnTo>
                  <a:pt x="1739760" y="1854390"/>
                </a:lnTo>
                <a:close/>
              </a:path>
              <a:path w="2484754" h="2472054">
                <a:moveTo>
                  <a:pt x="1740090" y="621880"/>
                </a:moveTo>
                <a:lnTo>
                  <a:pt x="1710639" y="597712"/>
                </a:lnTo>
                <a:lnTo>
                  <a:pt x="1704594" y="605066"/>
                </a:lnTo>
                <a:lnTo>
                  <a:pt x="1734045" y="629246"/>
                </a:lnTo>
                <a:lnTo>
                  <a:pt x="1740090" y="621880"/>
                </a:lnTo>
                <a:close/>
              </a:path>
              <a:path w="2484754" h="2472054">
                <a:moveTo>
                  <a:pt x="1754936" y="434314"/>
                </a:moveTo>
                <a:lnTo>
                  <a:pt x="1750123" y="426097"/>
                </a:lnTo>
                <a:lnTo>
                  <a:pt x="1717243" y="445338"/>
                </a:lnTo>
                <a:lnTo>
                  <a:pt x="1722043" y="453555"/>
                </a:lnTo>
                <a:lnTo>
                  <a:pt x="1754936" y="434314"/>
                </a:lnTo>
                <a:close/>
              </a:path>
              <a:path w="2484754" h="2472054">
                <a:moveTo>
                  <a:pt x="1755267" y="2041779"/>
                </a:moveTo>
                <a:lnTo>
                  <a:pt x="1722297" y="2022665"/>
                </a:lnTo>
                <a:lnTo>
                  <a:pt x="1717522" y="2030907"/>
                </a:lnTo>
                <a:lnTo>
                  <a:pt x="1750479" y="2050021"/>
                </a:lnTo>
                <a:lnTo>
                  <a:pt x="1755267" y="2041779"/>
                </a:lnTo>
                <a:close/>
              </a:path>
              <a:path w="2484754" h="2472054">
                <a:moveTo>
                  <a:pt x="1760778" y="1622856"/>
                </a:moveTo>
                <a:lnTo>
                  <a:pt x="1752092" y="1618957"/>
                </a:lnTo>
                <a:lnTo>
                  <a:pt x="1736509" y="1653730"/>
                </a:lnTo>
                <a:lnTo>
                  <a:pt x="1745208" y="1657616"/>
                </a:lnTo>
                <a:lnTo>
                  <a:pt x="1760778" y="1622856"/>
                </a:lnTo>
                <a:close/>
              </a:path>
              <a:path w="2484754" h="2472054">
                <a:moveTo>
                  <a:pt x="1761083" y="853706"/>
                </a:moveTo>
                <a:lnTo>
                  <a:pt x="1745475" y="818946"/>
                </a:lnTo>
                <a:lnTo>
                  <a:pt x="1736788" y="822845"/>
                </a:lnTo>
                <a:lnTo>
                  <a:pt x="1752396" y="857605"/>
                </a:lnTo>
                <a:lnTo>
                  <a:pt x="1761083" y="853706"/>
                </a:lnTo>
                <a:close/>
              </a:path>
              <a:path w="2484754" h="2472054">
                <a:moveTo>
                  <a:pt x="1788045" y="1562011"/>
                </a:moveTo>
                <a:lnTo>
                  <a:pt x="1779346" y="1558112"/>
                </a:lnTo>
                <a:lnTo>
                  <a:pt x="1763776" y="1592884"/>
                </a:lnTo>
                <a:lnTo>
                  <a:pt x="1772462" y="1596771"/>
                </a:lnTo>
                <a:lnTo>
                  <a:pt x="1788045" y="1562011"/>
                </a:lnTo>
                <a:close/>
              </a:path>
              <a:path w="2484754" h="2472054">
                <a:moveTo>
                  <a:pt x="1788401" y="914527"/>
                </a:moveTo>
                <a:lnTo>
                  <a:pt x="1772793" y="879767"/>
                </a:lnTo>
                <a:lnTo>
                  <a:pt x="1764106" y="883678"/>
                </a:lnTo>
                <a:lnTo>
                  <a:pt x="1779714" y="918425"/>
                </a:lnTo>
                <a:lnTo>
                  <a:pt x="1788401" y="914527"/>
                </a:lnTo>
                <a:close/>
              </a:path>
              <a:path w="2484754" h="2472054">
                <a:moveTo>
                  <a:pt x="1791157" y="1811921"/>
                </a:moveTo>
                <a:lnTo>
                  <a:pt x="1785099" y="1804581"/>
                </a:lnTo>
                <a:lnTo>
                  <a:pt x="1755724" y="1828838"/>
                </a:lnTo>
                <a:lnTo>
                  <a:pt x="1761794" y="1836191"/>
                </a:lnTo>
                <a:lnTo>
                  <a:pt x="1791157" y="1811921"/>
                </a:lnTo>
                <a:close/>
              </a:path>
              <a:path w="2484754" h="2472054">
                <a:moveTo>
                  <a:pt x="1791627" y="664184"/>
                </a:moveTo>
                <a:lnTo>
                  <a:pt x="1762175" y="640003"/>
                </a:lnTo>
                <a:lnTo>
                  <a:pt x="1756143" y="647369"/>
                </a:lnTo>
                <a:lnTo>
                  <a:pt x="1785594" y="671537"/>
                </a:lnTo>
                <a:lnTo>
                  <a:pt x="1791627" y="664184"/>
                </a:lnTo>
                <a:close/>
              </a:path>
              <a:path w="2484754" h="2472054">
                <a:moveTo>
                  <a:pt x="1812480" y="400646"/>
                </a:moveTo>
                <a:lnTo>
                  <a:pt x="1807667" y="392430"/>
                </a:lnTo>
                <a:lnTo>
                  <a:pt x="1774786" y="411670"/>
                </a:lnTo>
                <a:lnTo>
                  <a:pt x="1779600" y="419887"/>
                </a:lnTo>
                <a:lnTo>
                  <a:pt x="1812480" y="400646"/>
                </a:lnTo>
                <a:close/>
              </a:path>
              <a:path w="2484754" h="2472054">
                <a:moveTo>
                  <a:pt x="1812950" y="2075218"/>
                </a:moveTo>
                <a:lnTo>
                  <a:pt x="1779981" y="2056104"/>
                </a:lnTo>
                <a:lnTo>
                  <a:pt x="1775206" y="2064346"/>
                </a:lnTo>
                <a:lnTo>
                  <a:pt x="1808162" y="2083460"/>
                </a:lnTo>
                <a:lnTo>
                  <a:pt x="1812950" y="2075218"/>
                </a:lnTo>
                <a:close/>
              </a:path>
              <a:path w="2484754" h="2472054">
                <a:moveTo>
                  <a:pt x="1815299" y="1501165"/>
                </a:moveTo>
                <a:lnTo>
                  <a:pt x="1806613" y="1497266"/>
                </a:lnTo>
                <a:lnTo>
                  <a:pt x="1791030" y="1532039"/>
                </a:lnTo>
                <a:lnTo>
                  <a:pt x="1799729" y="1535925"/>
                </a:lnTo>
                <a:lnTo>
                  <a:pt x="1815299" y="1501165"/>
                </a:lnTo>
                <a:close/>
              </a:path>
              <a:path w="2484754" h="2472054">
                <a:moveTo>
                  <a:pt x="1815719" y="975347"/>
                </a:moveTo>
                <a:lnTo>
                  <a:pt x="1800110" y="940587"/>
                </a:lnTo>
                <a:lnTo>
                  <a:pt x="1791423" y="944499"/>
                </a:lnTo>
                <a:lnTo>
                  <a:pt x="1807032" y="979246"/>
                </a:lnTo>
                <a:lnTo>
                  <a:pt x="1815719" y="975347"/>
                </a:lnTo>
                <a:close/>
              </a:path>
              <a:path w="2484754" h="2472054">
                <a:moveTo>
                  <a:pt x="1842566" y="1769452"/>
                </a:moveTo>
                <a:lnTo>
                  <a:pt x="1836496" y="1762112"/>
                </a:lnTo>
                <a:lnTo>
                  <a:pt x="1807121" y="1786382"/>
                </a:lnTo>
                <a:lnTo>
                  <a:pt x="1813191" y="1793722"/>
                </a:lnTo>
                <a:lnTo>
                  <a:pt x="1842566" y="1769452"/>
                </a:lnTo>
                <a:close/>
              </a:path>
              <a:path w="2484754" h="2472054">
                <a:moveTo>
                  <a:pt x="1842566" y="1440307"/>
                </a:moveTo>
                <a:lnTo>
                  <a:pt x="1833880" y="1436420"/>
                </a:lnTo>
                <a:lnTo>
                  <a:pt x="1818297" y="1471193"/>
                </a:lnTo>
                <a:lnTo>
                  <a:pt x="1826983" y="1475079"/>
                </a:lnTo>
                <a:lnTo>
                  <a:pt x="1842566" y="1440307"/>
                </a:lnTo>
                <a:close/>
              </a:path>
              <a:path w="2484754" h="2472054">
                <a:moveTo>
                  <a:pt x="1843036" y="1036167"/>
                </a:moveTo>
                <a:lnTo>
                  <a:pt x="1827428" y="1001420"/>
                </a:lnTo>
                <a:lnTo>
                  <a:pt x="1818728" y="1005319"/>
                </a:lnTo>
                <a:lnTo>
                  <a:pt x="1834349" y="1040066"/>
                </a:lnTo>
                <a:lnTo>
                  <a:pt x="1843036" y="1036167"/>
                </a:lnTo>
                <a:close/>
              </a:path>
              <a:path w="2484754" h="2472054">
                <a:moveTo>
                  <a:pt x="1843176" y="706475"/>
                </a:moveTo>
                <a:lnTo>
                  <a:pt x="1813725" y="682307"/>
                </a:lnTo>
                <a:lnTo>
                  <a:pt x="1807679" y="689673"/>
                </a:lnTo>
                <a:lnTo>
                  <a:pt x="1837131" y="713841"/>
                </a:lnTo>
                <a:lnTo>
                  <a:pt x="1843176" y="706475"/>
                </a:lnTo>
                <a:close/>
              </a:path>
              <a:path w="2484754" h="2472054">
                <a:moveTo>
                  <a:pt x="1869833" y="1379461"/>
                </a:moveTo>
                <a:lnTo>
                  <a:pt x="1861134" y="1375575"/>
                </a:lnTo>
                <a:lnTo>
                  <a:pt x="1845564" y="1410335"/>
                </a:lnTo>
                <a:lnTo>
                  <a:pt x="1854250" y="1414233"/>
                </a:lnTo>
                <a:lnTo>
                  <a:pt x="1869833" y="1379461"/>
                </a:lnTo>
                <a:close/>
              </a:path>
              <a:path w="2484754" h="2472054">
                <a:moveTo>
                  <a:pt x="1870036" y="366979"/>
                </a:moveTo>
                <a:lnTo>
                  <a:pt x="1865223" y="358762"/>
                </a:lnTo>
                <a:lnTo>
                  <a:pt x="1832330" y="378002"/>
                </a:lnTo>
                <a:lnTo>
                  <a:pt x="1837143" y="386219"/>
                </a:lnTo>
                <a:lnTo>
                  <a:pt x="1870036" y="366979"/>
                </a:lnTo>
                <a:close/>
              </a:path>
              <a:path w="2484754" h="2472054">
                <a:moveTo>
                  <a:pt x="1870354" y="1096987"/>
                </a:moveTo>
                <a:lnTo>
                  <a:pt x="1854746" y="1062240"/>
                </a:lnTo>
                <a:lnTo>
                  <a:pt x="1846046" y="1066139"/>
                </a:lnTo>
                <a:lnTo>
                  <a:pt x="1861654" y="1100899"/>
                </a:lnTo>
                <a:lnTo>
                  <a:pt x="1870354" y="1096987"/>
                </a:lnTo>
                <a:close/>
              </a:path>
              <a:path w="2484754" h="2472054">
                <a:moveTo>
                  <a:pt x="1870621" y="2108657"/>
                </a:moveTo>
                <a:lnTo>
                  <a:pt x="1837664" y="2089543"/>
                </a:lnTo>
                <a:lnTo>
                  <a:pt x="1832889" y="2097786"/>
                </a:lnTo>
                <a:lnTo>
                  <a:pt x="1865845" y="2116899"/>
                </a:lnTo>
                <a:lnTo>
                  <a:pt x="1870621" y="2108657"/>
                </a:lnTo>
                <a:close/>
              </a:path>
              <a:path w="2484754" h="2472054">
                <a:moveTo>
                  <a:pt x="1893976" y="1726996"/>
                </a:moveTo>
                <a:lnTo>
                  <a:pt x="1887905" y="1719656"/>
                </a:lnTo>
                <a:lnTo>
                  <a:pt x="1858530" y="1743913"/>
                </a:lnTo>
                <a:lnTo>
                  <a:pt x="1864601" y="1751253"/>
                </a:lnTo>
                <a:lnTo>
                  <a:pt x="1893976" y="1726996"/>
                </a:lnTo>
                <a:close/>
              </a:path>
              <a:path w="2484754" h="2472054">
                <a:moveTo>
                  <a:pt x="1894713" y="748779"/>
                </a:moveTo>
                <a:lnTo>
                  <a:pt x="1865261" y="724611"/>
                </a:lnTo>
                <a:lnTo>
                  <a:pt x="1859216" y="731964"/>
                </a:lnTo>
                <a:lnTo>
                  <a:pt x="1888667" y="756145"/>
                </a:lnTo>
                <a:lnTo>
                  <a:pt x="1894713" y="748779"/>
                </a:lnTo>
                <a:close/>
              </a:path>
              <a:path w="2484754" h="2472054">
                <a:moveTo>
                  <a:pt x="1897087" y="1318615"/>
                </a:moveTo>
                <a:lnTo>
                  <a:pt x="1888401" y="1314729"/>
                </a:lnTo>
                <a:lnTo>
                  <a:pt x="1872818" y="1349489"/>
                </a:lnTo>
                <a:lnTo>
                  <a:pt x="1881517" y="1353388"/>
                </a:lnTo>
                <a:lnTo>
                  <a:pt x="1897087" y="1318615"/>
                </a:lnTo>
                <a:close/>
              </a:path>
              <a:path w="2484754" h="2472054">
                <a:moveTo>
                  <a:pt x="1897672" y="1157820"/>
                </a:moveTo>
                <a:lnTo>
                  <a:pt x="1882051" y="1123061"/>
                </a:lnTo>
                <a:lnTo>
                  <a:pt x="1873364" y="1126959"/>
                </a:lnTo>
                <a:lnTo>
                  <a:pt x="1888972" y="1161719"/>
                </a:lnTo>
                <a:lnTo>
                  <a:pt x="1897672" y="1157820"/>
                </a:lnTo>
                <a:close/>
              </a:path>
              <a:path w="2484754" h="2472054">
                <a:moveTo>
                  <a:pt x="1924354" y="1257769"/>
                </a:moveTo>
                <a:lnTo>
                  <a:pt x="1915668" y="1253883"/>
                </a:lnTo>
                <a:lnTo>
                  <a:pt x="1900085" y="1288643"/>
                </a:lnTo>
                <a:lnTo>
                  <a:pt x="1908771" y="1292542"/>
                </a:lnTo>
                <a:lnTo>
                  <a:pt x="1924354" y="1257769"/>
                </a:lnTo>
                <a:close/>
              </a:path>
              <a:path w="2484754" h="2472054">
                <a:moveTo>
                  <a:pt x="1924989" y="1218641"/>
                </a:moveTo>
                <a:lnTo>
                  <a:pt x="1909368" y="1183881"/>
                </a:lnTo>
                <a:lnTo>
                  <a:pt x="1900682" y="1187780"/>
                </a:lnTo>
                <a:lnTo>
                  <a:pt x="1916290" y="1222540"/>
                </a:lnTo>
                <a:lnTo>
                  <a:pt x="1924989" y="1218641"/>
                </a:lnTo>
                <a:close/>
              </a:path>
              <a:path w="2484754" h="2472054">
                <a:moveTo>
                  <a:pt x="1927580" y="333311"/>
                </a:moveTo>
                <a:lnTo>
                  <a:pt x="1922767" y="325094"/>
                </a:lnTo>
                <a:lnTo>
                  <a:pt x="1889887" y="344335"/>
                </a:lnTo>
                <a:lnTo>
                  <a:pt x="1894700" y="352552"/>
                </a:lnTo>
                <a:lnTo>
                  <a:pt x="1927580" y="333311"/>
                </a:lnTo>
                <a:close/>
              </a:path>
              <a:path w="2484754" h="2472054">
                <a:moveTo>
                  <a:pt x="1928304" y="2142096"/>
                </a:moveTo>
                <a:lnTo>
                  <a:pt x="1895348" y="2122982"/>
                </a:lnTo>
                <a:lnTo>
                  <a:pt x="1890572" y="2131225"/>
                </a:lnTo>
                <a:lnTo>
                  <a:pt x="1923529" y="2150338"/>
                </a:lnTo>
                <a:lnTo>
                  <a:pt x="1928304" y="2142096"/>
                </a:lnTo>
                <a:close/>
              </a:path>
              <a:path w="2484754" h="2472054">
                <a:moveTo>
                  <a:pt x="1945373" y="1684528"/>
                </a:moveTo>
                <a:lnTo>
                  <a:pt x="1939302" y="1677187"/>
                </a:lnTo>
                <a:lnTo>
                  <a:pt x="1909940" y="1701457"/>
                </a:lnTo>
                <a:lnTo>
                  <a:pt x="1915998" y="1708797"/>
                </a:lnTo>
                <a:lnTo>
                  <a:pt x="1945373" y="1684528"/>
                </a:lnTo>
                <a:close/>
              </a:path>
              <a:path w="2484754" h="2472054">
                <a:moveTo>
                  <a:pt x="1946249" y="791083"/>
                </a:moveTo>
                <a:lnTo>
                  <a:pt x="1916798" y="766902"/>
                </a:lnTo>
                <a:lnTo>
                  <a:pt x="1910753" y="774268"/>
                </a:lnTo>
                <a:lnTo>
                  <a:pt x="1940204" y="798436"/>
                </a:lnTo>
                <a:lnTo>
                  <a:pt x="1946249" y="791083"/>
                </a:lnTo>
                <a:close/>
              </a:path>
              <a:path w="2484754" h="2472054">
                <a:moveTo>
                  <a:pt x="1951621" y="1196924"/>
                </a:moveTo>
                <a:lnTo>
                  <a:pt x="1942922" y="1193025"/>
                </a:lnTo>
                <a:lnTo>
                  <a:pt x="1927352" y="1227797"/>
                </a:lnTo>
                <a:lnTo>
                  <a:pt x="1936038" y="1231696"/>
                </a:lnTo>
                <a:lnTo>
                  <a:pt x="1951621" y="1196924"/>
                </a:lnTo>
                <a:close/>
              </a:path>
              <a:path w="2484754" h="2472054">
                <a:moveTo>
                  <a:pt x="1952294" y="1279461"/>
                </a:moveTo>
                <a:lnTo>
                  <a:pt x="1936686" y="1244701"/>
                </a:lnTo>
                <a:lnTo>
                  <a:pt x="1927999" y="1248600"/>
                </a:lnTo>
                <a:lnTo>
                  <a:pt x="1943608" y="1283360"/>
                </a:lnTo>
                <a:lnTo>
                  <a:pt x="1952294" y="1279461"/>
                </a:lnTo>
                <a:close/>
              </a:path>
              <a:path w="2484754" h="2472054">
                <a:moveTo>
                  <a:pt x="1978875" y="1136078"/>
                </a:moveTo>
                <a:lnTo>
                  <a:pt x="1970189" y="1132179"/>
                </a:lnTo>
                <a:lnTo>
                  <a:pt x="1954606" y="1166952"/>
                </a:lnTo>
                <a:lnTo>
                  <a:pt x="1963305" y="1170851"/>
                </a:lnTo>
                <a:lnTo>
                  <a:pt x="1978875" y="1136078"/>
                </a:lnTo>
                <a:close/>
              </a:path>
              <a:path w="2484754" h="2472054">
                <a:moveTo>
                  <a:pt x="1979612" y="1340281"/>
                </a:moveTo>
                <a:lnTo>
                  <a:pt x="1964004" y="1305521"/>
                </a:lnTo>
                <a:lnTo>
                  <a:pt x="1955317" y="1309433"/>
                </a:lnTo>
                <a:lnTo>
                  <a:pt x="1970925" y="1344180"/>
                </a:lnTo>
                <a:lnTo>
                  <a:pt x="1979612" y="1340281"/>
                </a:lnTo>
                <a:close/>
              </a:path>
              <a:path w="2484754" h="2472054">
                <a:moveTo>
                  <a:pt x="1985137" y="299643"/>
                </a:moveTo>
                <a:lnTo>
                  <a:pt x="1980323" y="291426"/>
                </a:lnTo>
                <a:lnTo>
                  <a:pt x="1947430" y="310667"/>
                </a:lnTo>
                <a:lnTo>
                  <a:pt x="1952244" y="318884"/>
                </a:lnTo>
                <a:lnTo>
                  <a:pt x="1985137" y="299643"/>
                </a:lnTo>
                <a:close/>
              </a:path>
              <a:path w="2484754" h="2472054">
                <a:moveTo>
                  <a:pt x="1985987" y="2175535"/>
                </a:moveTo>
                <a:lnTo>
                  <a:pt x="1953031" y="2156422"/>
                </a:lnTo>
                <a:lnTo>
                  <a:pt x="1948256" y="2164664"/>
                </a:lnTo>
                <a:lnTo>
                  <a:pt x="1981212" y="2183777"/>
                </a:lnTo>
                <a:lnTo>
                  <a:pt x="1985987" y="2175535"/>
                </a:lnTo>
                <a:close/>
              </a:path>
              <a:path w="2484754" h="2472054">
                <a:moveTo>
                  <a:pt x="1996782" y="1642071"/>
                </a:moveTo>
                <a:lnTo>
                  <a:pt x="1990712" y="1634718"/>
                </a:lnTo>
                <a:lnTo>
                  <a:pt x="1961337" y="1658988"/>
                </a:lnTo>
                <a:lnTo>
                  <a:pt x="1967407" y="1666328"/>
                </a:lnTo>
                <a:lnTo>
                  <a:pt x="1996782" y="1642071"/>
                </a:lnTo>
                <a:close/>
              </a:path>
              <a:path w="2484754" h="2472054">
                <a:moveTo>
                  <a:pt x="1997786" y="833374"/>
                </a:moveTo>
                <a:lnTo>
                  <a:pt x="1968334" y="809205"/>
                </a:lnTo>
                <a:lnTo>
                  <a:pt x="1962289" y="816571"/>
                </a:lnTo>
                <a:lnTo>
                  <a:pt x="1991741" y="840740"/>
                </a:lnTo>
                <a:lnTo>
                  <a:pt x="1997786" y="833374"/>
                </a:lnTo>
                <a:close/>
              </a:path>
              <a:path w="2484754" h="2472054">
                <a:moveTo>
                  <a:pt x="2006142" y="1075232"/>
                </a:moveTo>
                <a:lnTo>
                  <a:pt x="1997456" y="1071333"/>
                </a:lnTo>
                <a:lnTo>
                  <a:pt x="1981873" y="1106106"/>
                </a:lnTo>
                <a:lnTo>
                  <a:pt x="1990559" y="1110005"/>
                </a:lnTo>
                <a:lnTo>
                  <a:pt x="2006142" y="1075232"/>
                </a:lnTo>
                <a:close/>
              </a:path>
              <a:path w="2484754" h="2472054">
                <a:moveTo>
                  <a:pt x="2006930" y="1401102"/>
                </a:moveTo>
                <a:lnTo>
                  <a:pt x="1991321" y="1366342"/>
                </a:lnTo>
                <a:lnTo>
                  <a:pt x="1982635" y="1370253"/>
                </a:lnTo>
                <a:lnTo>
                  <a:pt x="1998243" y="1405001"/>
                </a:lnTo>
                <a:lnTo>
                  <a:pt x="2006930" y="1401102"/>
                </a:lnTo>
                <a:close/>
              </a:path>
              <a:path w="2484754" h="2472054">
                <a:moveTo>
                  <a:pt x="2033409" y="1014387"/>
                </a:moveTo>
                <a:lnTo>
                  <a:pt x="2024710" y="1010488"/>
                </a:lnTo>
                <a:lnTo>
                  <a:pt x="2009140" y="1045260"/>
                </a:lnTo>
                <a:lnTo>
                  <a:pt x="2017826" y="1049159"/>
                </a:lnTo>
                <a:lnTo>
                  <a:pt x="2033409" y="1014387"/>
                </a:lnTo>
                <a:close/>
              </a:path>
              <a:path w="2484754" h="2472054">
                <a:moveTo>
                  <a:pt x="2034247" y="1461922"/>
                </a:moveTo>
                <a:lnTo>
                  <a:pt x="2018639" y="1427175"/>
                </a:lnTo>
                <a:lnTo>
                  <a:pt x="2009952" y="1431074"/>
                </a:lnTo>
                <a:lnTo>
                  <a:pt x="2025561" y="1465834"/>
                </a:lnTo>
                <a:lnTo>
                  <a:pt x="2034247" y="1461922"/>
                </a:lnTo>
                <a:close/>
              </a:path>
              <a:path w="2484754" h="2472054">
                <a:moveTo>
                  <a:pt x="2042680" y="265976"/>
                </a:moveTo>
                <a:lnTo>
                  <a:pt x="2037867" y="257746"/>
                </a:lnTo>
                <a:lnTo>
                  <a:pt x="2004987" y="276987"/>
                </a:lnTo>
                <a:lnTo>
                  <a:pt x="2009800" y="285216"/>
                </a:lnTo>
                <a:lnTo>
                  <a:pt x="2042680" y="265976"/>
                </a:lnTo>
                <a:close/>
              </a:path>
              <a:path w="2484754" h="2472054">
                <a:moveTo>
                  <a:pt x="2043671" y="2208974"/>
                </a:moveTo>
                <a:lnTo>
                  <a:pt x="2010714" y="2189861"/>
                </a:lnTo>
                <a:lnTo>
                  <a:pt x="2005939" y="2198103"/>
                </a:lnTo>
                <a:lnTo>
                  <a:pt x="2038896" y="2217216"/>
                </a:lnTo>
                <a:lnTo>
                  <a:pt x="2043671" y="2208974"/>
                </a:lnTo>
                <a:close/>
              </a:path>
              <a:path w="2484754" h="2472054">
                <a:moveTo>
                  <a:pt x="2048179" y="1599603"/>
                </a:moveTo>
                <a:lnTo>
                  <a:pt x="2042109" y="1592262"/>
                </a:lnTo>
                <a:lnTo>
                  <a:pt x="2012746" y="1616519"/>
                </a:lnTo>
                <a:lnTo>
                  <a:pt x="2018804" y="1623872"/>
                </a:lnTo>
                <a:lnTo>
                  <a:pt x="2048179" y="1599603"/>
                </a:lnTo>
                <a:close/>
              </a:path>
              <a:path w="2484754" h="2472054">
                <a:moveTo>
                  <a:pt x="2049322" y="875677"/>
                </a:moveTo>
                <a:lnTo>
                  <a:pt x="2019871" y="851509"/>
                </a:lnTo>
                <a:lnTo>
                  <a:pt x="2013839" y="858875"/>
                </a:lnTo>
                <a:lnTo>
                  <a:pt x="2043277" y="883043"/>
                </a:lnTo>
                <a:lnTo>
                  <a:pt x="2049322" y="875677"/>
                </a:lnTo>
                <a:close/>
              </a:path>
              <a:path w="2484754" h="2472054">
                <a:moveTo>
                  <a:pt x="2060663" y="953541"/>
                </a:moveTo>
                <a:lnTo>
                  <a:pt x="2051977" y="949642"/>
                </a:lnTo>
                <a:lnTo>
                  <a:pt x="2036394" y="984415"/>
                </a:lnTo>
                <a:lnTo>
                  <a:pt x="2045093" y="988314"/>
                </a:lnTo>
                <a:lnTo>
                  <a:pt x="2060663" y="953541"/>
                </a:lnTo>
                <a:close/>
              </a:path>
              <a:path w="2484754" h="2472054">
                <a:moveTo>
                  <a:pt x="2061565" y="1522742"/>
                </a:moveTo>
                <a:lnTo>
                  <a:pt x="2045957" y="1487995"/>
                </a:lnTo>
                <a:lnTo>
                  <a:pt x="2037270" y="1491894"/>
                </a:lnTo>
                <a:lnTo>
                  <a:pt x="2052878" y="1526654"/>
                </a:lnTo>
                <a:lnTo>
                  <a:pt x="2061565" y="1522742"/>
                </a:lnTo>
                <a:close/>
              </a:path>
              <a:path w="2484754" h="2472054">
                <a:moveTo>
                  <a:pt x="2099589" y="1557134"/>
                </a:moveTo>
                <a:lnTo>
                  <a:pt x="2093518" y="1549793"/>
                </a:lnTo>
                <a:lnTo>
                  <a:pt x="2079066" y="1561731"/>
                </a:lnTo>
                <a:lnTo>
                  <a:pt x="2073275" y="1548815"/>
                </a:lnTo>
                <a:lnTo>
                  <a:pt x="2064588" y="1552714"/>
                </a:lnTo>
                <a:lnTo>
                  <a:pt x="2071458" y="1568030"/>
                </a:lnTo>
                <a:lnTo>
                  <a:pt x="2064143" y="1574063"/>
                </a:lnTo>
                <a:lnTo>
                  <a:pt x="2070214" y="1581404"/>
                </a:lnTo>
                <a:lnTo>
                  <a:pt x="2075497" y="1577035"/>
                </a:lnTo>
                <a:lnTo>
                  <a:pt x="2080196" y="1587474"/>
                </a:lnTo>
                <a:lnTo>
                  <a:pt x="2088883" y="1583575"/>
                </a:lnTo>
                <a:lnTo>
                  <a:pt x="2083117" y="1570748"/>
                </a:lnTo>
                <a:lnTo>
                  <a:pt x="2099589" y="1557134"/>
                </a:lnTo>
                <a:close/>
              </a:path>
              <a:path w="2484754" h="2472054">
                <a:moveTo>
                  <a:pt x="2100224" y="232308"/>
                </a:moveTo>
                <a:lnTo>
                  <a:pt x="2095423" y="224078"/>
                </a:lnTo>
                <a:lnTo>
                  <a:pt x="2062530" y="243319"/>
                </a:lnTo>
                <a:lnTo>
                  <a:pt x="2067344" y="251548"/>
                </a:lnTo>
                <a:lnTo>
                  <a:pt x="2100224" y="232308"/>
                </a:lnTo>
                <a:close/>
              </a:path>
              <a:path w="2484754" h="2472054">
                <a:moveTo>
                  <a:pt x="2100859" y="917981"/>
                </a:moveTo>
                <a:lnTo>
                  <a:pt x="2083117" y="903427"/>
                </a:lnTo>
                <a:lnTo>
                  <a:pt x="2087930" y="892695"/>
                </a:lnTo>
                <a:lnTo>
                  <a:pt x="2079244" y="888796"/>
                </a:lnTo>
                <a:lnTo>
                  <a:pt x="2075484" y="897166"/>
                </a:lnTo>
                <a:lnTo>
                  <a:pt x="2071408" y="893813"/>
                </a:lnTo>
                <a:lnTo>
                  <a:pt x="2065375" y="901166"/>
                </a:lnTo>
                <a:lnTo>
                  <a:pt x="2071458" y="906170"/>
                </a:lnTo>
                <a:lnTo>
                  <a:pt x="2063661" y="923569"/>
                </a:lnTo>
                <a:lnTo>
                  <a:pt x="2072347" y="927468"/>
                </a:lnTo>
                <a:lnTo>
                  <a:pt x="2079078" y="912431"/>
                </a:lnTo>
                <a:lnTo>
                  <a:pt x="2094826" y="925347"/>
                </a:lnTo>
                <a:lnTo>
                  <a:pt x="2100859" y="917981"/>
                </a:lnTo>
                <a:close/>
              </a:path>
              <a:path w="2484754" h="2472054">
                <a:moveTo>
                  <a:pt x="2101354" y="2242413"/>
                </a:moveTo>
                <a:lnTo>
                  <a:pt x="2068398" y="2223300"/>
                </a:lnTo>
                <a:lnTo>
                  <a:pt x="2063623" y="2231542"/>
                </a:lnTo>
                <a:lnTo>
                  <a:pt x="2096579" y="2250656"/>
                </a:lnTo>
                <a:lnTo>
                  <a:pt x="2101354" y="2242413"/>
                </a:lnTo>
                <a:close/>
              </a:path>
              <a:path w="2484754" h="2472054">
                <a:moveTo>
                  <a:pt x="2115197" y="831850"/>
                </a:moveTo>
                <a:lnTo>
                  <a:pt x="2106498" y="827951"/>
                </a:lnTo>
                <a:lnTo>
                  <a:pt x="2090928" y="862723"/>
                </a:lnTo>
                <a:lnTo>
                  <a:pt x="2099614" y="866609"/>
                </a:lnTo>
                <a:lnTo>
                  <a:pt x="2115197" y="831850"/>
                </a:lnTo>
                <a:close/>
              </a:path>
              <a:path w="2484754" h="2472054">
                <a:moveTo>
                  <a:pt x="2116201" y="1644396"/>
                </a:moveTo>
                <a:lnTo>
                  <a:pt x="2100592" y="1609636"/>
                </a:lnTo>
                <a:lnTo>
                  <a:pt x="2091905" y="1613535"/>
                </a:lnTo>
                <a:lnTo>
                  <a:pt x="2107514" y="1648294"/>
                </a:lnTo>
                <a:lnTo>
                  <a:pt x="2116201" y="1644396"/>
                </a:lnTo>
                <a:close/>
              </a:path>
              <a:path w="2484754" h="2472054">
                <a:moveTo>
                  <a:pt x="2142452" y="771004"/>
                </a:moveTo>
                <a:lnTo>
                  <a:pt x="2133765" y="767105"/>
                </a:lnTo>
                <a:lnTo>
                  <a:pt x="2118182" y="801878"/>
                </a:lnTo>
                <a:lnTo>
                  <a:pt x="2126881" y="805764"/>
                </a:lnTo>
                <a:lnTo>
                  <a:pt x="2142452" y="771004"/>
                </a:lnTo>
                <a:close/>
              </a:path>
              <a:path w="2484754" h="2472054">
                <a:moveTo>
                  <a:pt x="2143518" y="1705216"/>
                </a:moveTo>
                <a:lnTo>
                  <a:pt x="2127910" y="1670456"/>
                </a:lnTo>
                <a:lnTo>
                  <a:pt x="2119223" y="1674355"/>
                </a:lnTo>
                <a:lnTo>
                  <a:pt x="2134832" y="1709115"/>
                </a:lnTo>
                <a:lnTo>
                  <a:pt x="2143518" y="1705216"/>
                </a:lnTo>
                <a:close/>
              </a:path>
              <a:path w="2484754" h="2472054">
                <a:moveTo>
                  <a:pt x="2150986" y="1514678"/>
                </a:moveTo>
                <a:lnTo>
                  <a:pt x="2144928" y="1507324"/>
                </a:lnTo>
                <a:lnTo>
                  <a:pt x="2115553" y="1531594"/>
                </a:lnTo>
                <a:lnTo>
                  <a:pt x="2121611" y="1538935"/>
                </a:lnTo>
                <a:lnTo>
                  <a:pt x="2150986" y="1514678"/>
                </a:lnTo>
                <a:close/>
              </a:path>
              <a:path w="2484754" h="2472054">
                <a:moveTo>
                  <a:pt x="2152408" y="960285"/>
                </a:moveTo>
                <a:lnTo>
                  <a:pt x="2122957" y="936104"/>
                </a:lnTo>
                <a:lnTo>
                  <a:pt x="2116912" y="943470"/>
                </a:lnTo>
                <a:lnTo>
                  <a:pt x="2146363" y="967638"/>
                </a:lnTo>
                <a:lnTo>
                  <a:pt x="2152408" y="960285"/>
                </a:lnTo>
                <a:close/>
              </a:path>
              <a:path w="2484754" h="2472054">
                <a:moveTo>
                  <a:pt x="2157780" y="198640"/>
                </a:moveTo>
                <a:lnTo>
                  <a:pt x="2152967" y="190411"/>
                </a:lnTo>
                <a:lnTo>
                  <a:pt x="2120087" y="209651"/>
                </a:lnTo>
                <a:lnTo>
                  <a:pt x="2124887" y="217868"/>
                </a:lnTo>
                <a:lnTo>
                  <a:pt x="2157780" y="198640"/>
                </a:lnTo>
                <a:close/>
              </a:path>
              <a:path w="2484754" h="2472054">
                <a:moveTo>
                  <a:pt x="2159038" y="2275852"/>
                </a:moveTo>
                <a:lnTo>
                  <a:pt x="2126081" y="2256739"/>
                </a:lnTo>
                <a:lnTo>
                  <a:pt x="2121306" y="2264981"/>
                </a:lnTo>
                <a:lnTo>
                  <a:pt x="2154263" y="2284095"/>
                </a:lnTo>
                <a:lnTo>
                  <a:pt x="2159038" y="2275852"/>
                </a:lnTo>
                <a:close/>
              </a:path>
              <a:path w="2484754" h="2472054">
                <a:moveTo>
                  <a:pt x="2169718" y="710158"/>
                </a:moveTo>
                <a:lnTo>
                  <a:pt x="2161019" y="706259"/>
                </a:lnTo>
                <a:lnTo>
                  <a:pt x="2145449" y="741032"/>
                </a:lnTo>
                <a:lnTo>
                  <a:pt x="2154136" y="744918"/>
                </a:lnTo>
                <a:lnTo>
                  <a:pt x="2169718" y="710158"/>
                </a:lnTo>
                <a:close/>
              </a:path>
              <a:path w="2484754" h="2472054">
                <a:moveTo>
                  <a:pt x="2170836" y="1766036"/>
                </a:moveTo>
                <a:lnTo>
                  <a:pt x="2155228" y="1731276"/>
                </a:lnTo>
                <a:lnTo>
                  <a:pt x="2146541" y="1735188"/>
                </a:lnTo>
                <a:lnTo>
                  <a:pt x="2162149" y="1769935"/>
                </a:lnTo>
                <a:lnTo>
                  <a:pt x="2170836" y="1766036"/>
                </a:lnTo>
                <a:close/>
              </a:path>
              <a:path w="2484754" h="2472054">
                <a:moveTo>
                  <a:pt x="2196985" y="649300"/>
                </a:moveTo>
                <a:lnTo>
                  <a:pt x="2188286" y="645414"/>
                </a:lnTo>
                <a:lnTo>
                  <a:pt x="2172703" y="680186"/>
                </a:lnTo>
                <a:lnTo>
                  <a:pt x="2181402" y="684072"/>
                </a:lnTo>
                <a:lnTo>
                  <a:pt x="2196985" y="649300"/>
                </a:lnTo>
                <a:close/>
              </a:path>
              <a:path w="2484754" h="2472054">
                <a:moveTo>
                  <a:pt x="2198154" y="1826856"/>
                </a:moveTo>
                <a:lnTo>
                  <a:pt x="2182545" y="1792109"/>
                </a:lnTo>
                <a:lnTo>
                  <a:pt x="2173859" y="1796008"/>
                </a:lnTo>
                <a:lnTo>
                  <a:pt x="2189467" y="1830755"/>
                </a:lnTo>
                <a:lnTo>
                  <a:pt x="2198154" y="1826856"/>
                </a:lnTo>
                <a:close/>
              </a:path>
              <a:path w="2484754" h="2472054">
                <a:moveTo>
                  <a:pt x="2202396" y="1472209"/>
                </a:moveTo>
                <a:lnTo>
                  <a:pt x="2196325" y="1464868"/>
                </a:lnTo>
                <a:lnTo>
                  <a:pt x="2166950" y="1489125"/>
                </a:lnTo>
                <a:lnTo>
                  <a:pt x="2173020" y="1496479"/>
                </a:lnTo>
                <a:lnTo>
                  <a:pt x="2202396" y="1472209"/>
                </a:lnTo>
                <a:close/>
              </a:path>
              <a:path w="2484754" h="2472054">
                <a:moveTo>
                  <a:pt x="2203945" y="1002576"/>
                </a:moveTo>
                <a:lnTo>
                  <a:pt x="2174494" y="978408"/>
                </a:lnTo>
                <a:lnTo>
                  <a:pt x="2168448" y="985774"/>
                </a:lnTo>
                <a:lnTo>
                  <a:pt x="2197900" y="1009942"/>
                </a:lnTo>
                <a:lnTo>
                  <a:pt x="2203945" y="1002576"/>
                </a:lnTo>
                <a:close/>
              </a:path>
              <a:path w="2484754" h="2472054">
                <a:moveTo>
                  <a:pt x="2215324" y="164960"/>
                </a:moveTo>
                <a:lnTo>
                  <a:pt x="2210524" y="156743"/>
                </a:lnTo>
                <a:lnTo>
                  <a:pt x="2177631" y="175983"/>
                </a:lnTo>
                <a:lnTo>
                  <a:pt x="2182444" y="184200"/>
                </a:lnTo>
                <a:lnTo>
                  <a:pt x="2215324" y="164960"/>
                </a:lnTo>
                <a:close/>
              </a:path>
              <a:path w="2484754" h="2472054">
                <a:moveTo>
                  <a:pt x="2216721" y="2309291"/>
                </a:moveTo>
                <a:lnTo>
                  <a:pt x="2183765" y="2290178"/>
                </a:lnTo>
                <a:lnTo>
                  <a:pt x="2178989" y="2298420"/>
                </a:lnTo>
                <a:lnTo>
                  <a:pt x="2211946" y="2317534"/>
                </a:lnTo>
                <a:lnTo>
                  <a:pt x="2216721" y="2309291"/>
                </a:lnTo>
                <a:close/>
              </a:path>
              <a:path w="2484754" h="2472054">
                <a:moveTo>
                  <a:pt x="2224240" y="588454"/>
                </a:moveTo>
                <a:lnTo>
                  <a:pt x="2215553" y="584568"/>
                </a:lnTo>
                <a:lnTo>
                  <a:pt x="2199970" y="619340"/>
                </a:lnTo>
                <a:lnTo>
                  <a:pt x="2208669" y="623227"/>
                </a:lnTo>
                <a:lnTo>
                  <a:pt x="2224240" y="588454"/>
                </a:lnTo>
                <a:close/>
              </a:path>
              <a:path w="2484754" h="2472054">
                <a:moveTo>
                  <a:pt x="2225471" y="1887677"/>
                </a:moveTo>
                <a:lnTo>
                  <a:pt x="2209863" y="1852930"/>
                </a:lnTo>
                <a:lnTo>
                  <a:pt x="2201176" y="1856828"/>
                </a:lnTo>
                <a:lnTo>
                  <a:pt x="2216785" y="1891588"/>
                </a:lnTo>
                <a:lnTo>
                  <a:pt x="2225471" y="1887677"/>
                </a:lnTo>
                <a:close/>
              </a:path>
              <a:path w="2484754" h="2472054">
                <a:moveTo>
                  <a:pt x="2251506" y="527608"/>
                </a:moveTo>
                <a:lnTo>
                  <a:pt x="2242807" y="523722"/>
                </a:lnTo>
                <a:lnTo>
                  <a:pt x="2227237" y="558482"/>
                </a:lnTo>
                <a:lnTo>
                  <a:pt x="2235924" y="562381"/>
                </a:lnTo>
                <a:lnTo>
                  <a:pt x="2251506" y="527608"/>
                </a:lnTo>
                <a:close/>
              </a:path>
              <a:path w="2484754" h="2472054">
                <a:moveTo>
                  <a:pt x="2252789" y="1948497"/>
                </a:moveTo>
                <a:lnTo>
                  <a:pt x="2237181" y="1913750"/>
                </a:lnTo>
                <a:lnTo>
                  <a:pt x="2228481" y="1917649"/>
                </a:lnTo>
                <a:lnTo>
                  <a:pt x="2244102" y="1952409"/>
                </a:lnTo>
                <a:lnTo>
                  <a:pt x="2252789" y="1948497"/>
                </a:lnTo>
                <a:close/>
              </a:path>
              <a:path w="2484754" h="2472054">
                <a:moveTo>
                  <a:pt x="2253792" y="1429740"/>
                </a:moveTo>
                <a:lnTo>
                  <a:pt x="2247735" y="1422400"/>
                </a:lnTo>
                <a:lnTo>
                  <a:pt x="2218359" y="1446669"/>
                </a:lnTo>
                <a:lnTo>
                  <a:pt x="2224417" y="1454010"/>
                </a:lnTo>
                <a:lnTo>
                  <a:pt x="2253792" y="1429740"/>
                </a:lnTo>
                <a:close/>
              </a:path>
              <a:path w="2484754" h="2472054">
                <a:moveTo>
                  <a:pt x="2255482" y="1044879"/>
                </a:moveTo>
                <a:lnTo>
                  <a:pt x="2226030" y="1020711"/>
                </a:lnTo>
                <a:lnTo>
                  <a:pt x="2219985" y="1028077"/>
                </a:lnTo>
                <a:lnTo>
                  <a:pt x="2249436" y="1052245"/>
                </a:lnTo>
                <a:lnTo>
                  <a:pt x="2255482" y="1044879"/>
                </a:lnTo>
                <a:close/>
              </a:path>
              <a:path w="2484754" h="2472054">
                <a:moveTo>
                  <a:pt x="2272881" y="131292"/>
                </a:moveTo>
                <a:lnTo>
                  <a:pt x="2268067" y="123075"/>
                </a:lnTo>
                <a:lnTo>
                  <a:pt x="2235187" y="142316"/>
                </a:lnTo>
                <a:lnTo>
                  <a:pt x="2239988" y="150533"/>
                </a:lnTo>
                <a:lnTo>
                  <a:pt x="2272881" y="131292"/>
                </a:lnTo>
                <a:close/>
              </a:path>
              <a:path w="2484754" h="2472054">
                <a:moveTo>
                  <a:pt x="2274405" y="2342731"/>
                </a:moveTo>
                <a:lnTo>
                  <a:pt x="2241448" y="2323617"/>
                </a:lnTo>
                <a:lnTo>
                  <a:pt x="2236673" y="2331859"/>
                </a:lnTo>
                <a:lnTo>
                  <a:pt x="2269629" y="2350973"/>
                </a:lnTo>
                <a:lnTo>
                  <a:pt x="2274405" y="2342731"/>
                </a:lnTo>
                <a:close/>
              </a:path>
              <a:path w="2484754" h="2472054">
                <a:moveTo>
                  <a:pt x="2278773" y="466763"/>
                </a:moveTo>
                <a:lnTo>
                  <a:pt x="2270074" y="462876"/>
                </a:lnTo>
                <a:lnTo>
                  <a:pt x="2254491" y="497636"/>
                </a:lnTo>
                <a:lnTo>
                  <a:pt x="2263190" y="501535"/>
                </a:lnTo>
                <a:lnTo>
                  <a:pt x="2278773" y="466763"/>
                </a:lnTo>
                <a:close/>
              </a:path>
              <a:path w="2484754" h="2472054">
                <a:moveTo>
                  <a:pt x="2280107" y="2009330"/>
                </a:moveTo>
                <a:lnTo>
                  <a:pt x="2264499" y="1974570"/>
                </a:lnTo>
                <a:lnTo>
                  <a:pt x="2255799" y="1978469"/>
                </a:lnTo>
                <a:lnTo>
                  <a:pt x="2271420" y="2013229"/>
                </a:lnTo>
                <a:lnTo>
                  <a:pt x="2280107" y="2009330"/>
                </a:lnTo>
                <a:close/>
              </a:path>
              <a:path w="2484754" h="2472054">
                <a:moveTo>
                  <a:pt x="2305202" y="1387284"/>
                </a:moveTo>
                <a:lnTo>
                  <a:pt x="2299131" y="1379943"/>
                </a:lnTo>
                <a:lnTo>
                  <a:pt x="2269756" y="1404200"/>
                </a:lnTo>
                <a:lnTo>
                  <a:pt x="2275827" y="1411541"/>
                </a:lnTo>
                <a:lnTo>
                  <a:pt x="2305202" y="1387284"/>
                </a:lnTo>
                <a:close/>
              </a:path>
              <a:path w="2484754" h="2472054">
                <a:moveTo>
                  <a:pt x="2306028" y="405917"/>
                </a:moveTo>
                <a:lnTo>
                  <a:pt x="2297341" y="402031"/>
                </a:lnTo>
                <a:lnTo>
                  <a:pt x="2281758" y="436791"/>
                </a:lnTo>
                <a:lnTo>
                  <a:pt x="2290457" y="440690"/>
                </a:lnTo>
                <a:lnTo>
                  <a:pt x="2306028" y="405917"/>
                </a:lnTo>
                <a:close/>
              </a:path>
              <a:path w="2484754" h="2472054">
                <a:moveTo>
                  <a:pt x="2307018" y="1087183"/>
                </a:moveTo>
                <a:lnTo>
                  <a:pt x="2277567" y="1063015"/>
                </a:lnTo>
                <a:lnTo>
                  <a:pt x="2271522" y="1070368"/>
                </a:lnTo>
                <a:lnTo>
                  <a:pt x="2300973" y="1094549"/>
                </a:lnTo>
                <a:lnTo>
                  <a:pt x="2307018" y="1087183"/>
                </a:lnTo>
                <a:close/>
              </a:path>
              <a:path w="2484754" h="2472054">
                <a:moveTo>
                  <a:pt x="2307425" y="2070150"/>
                </a:moveTo>
                <a:lnTo>
                  <a:pt x="2291816" y="2035390"/>
                </a:lnTo>
                <a:lnTo>
                  <a:pt x="2283117" y="2039289"/>
                </a:lnTo>
                <a:lnTo>
                  <a:pt x="2298725" y="2074049"/>
                </a:lnTo>
                <a:lnTo>
                  <a:pt x="2307425" y="2070150"/>
                </a:lnTo>
                <a:close/>
              </a:path>
              <a:path w="2484754" h="2472054">
                <a:moveTo>
                  <a:pt x="2330424" y="97624"/>
                </a:moveTo>
                <a:lnTo>
                  <a:pt x="2325611" y="89408"/>
                </a:lnTo>
                <a:lnTo>
                  <a:pt x="2292731" y="108648"/>
                </a:lnTo>
                <a:lnTo>
                  <a:pt x="2297544" y="116865"/>
                </a:lnTo>
                <a:lnTo>
                  <a:pt x="2330424" y="97624"/>
                </a:lnTo>
                <a:close/>
              </a:path>
              <a:path w="2484754" h="2472054">
                <a:moveTo>
                  <a:pt x="2332088" y="2376170"/>
                </a:moveTo>
                <a:lnTo>
                  <a:pt x="2299131" y="2357056"/>
                </a:lnTo>
                <a:lnTo>
                  <a:pt x="2294356" y="2365298"/>
                </a:lnTo>
                <a:lnTo>
                  <a:pt x="2327313" y="2384412"/>
                </a:lnTo>
                <a:lnTo>
                  <a:pt x="2332088" y="2376170"/>
                </a:lnTo>
                <a:close/>
              </a:path>
              <a:path w="2484754" h="2472054">
                <a:moveTo>
                  <a:pt x="2333294" y="345071"/>
                </a:moveTo>
                <a:lnTo>
                  <a:pt x="2324595" y="341172"/>
                </a:lnTo>
                <a:lnTo>
                  <a:pt x="2309025" y="375945"/>
                </a:lnTo>
                <a:lnTo>
                  <a:pt x="2317712" y="379844"/>
                </a:lnTo>
                <a:lnTo>
                  <a:pt x="2333294" y="345071"/>
                </a:lnTo>
                <a:close/>
              </a:path>
              <a:path w="2484754" h="2472054">
                <a:moveTo>
                  <a:pt x="2334742" y="2130971"/>
                </a:moveTo>
                <a:lnTo>
                  <a:pt x="2319121" y="2096211"/>
                </a:lnTo>
                <a:lnTo>
                  <a:pt x="2310434" y="2100122"/>
                </a:lnTo>
                <a:lnTo>
                  <a:pt x="2326043" y="2134870"/>
                </a:lnTo>
                <a:lnTo>
                  <a:pt x="2334742" y="2130971"/>
                </a:lnTo>
                <a:close/>
              </a:path>
              <a:path w="2484754" h="2472054">
                <a:moveTo>
                  <a:pt x="2356599" y="1344815"/>
                </a:moveTo>
                <a:lnTo>
                  <a:pt x="2350541" y="1337475"/>
                </a:lnTo>
                <a:lnTo>
                  <a:pt x="2321166" y="1361744"/>
                </a:lnTo>
                <a:lnTo>
                  <a:pt x="2327237" y="1369085"/>
                </a:lnTo>
                <a:lnTo>
                  <a:pt x="2356599" y="1344815"/>
                </a:lnTo>
                <a:close/>
              </a:path>
              <a:path w="2484754" h="2472054">
                <a:moveTo>
                  <a:pt x="2358555" y="1129487"/>
                </a:moveTo>
                <a:lnTo>
                  <a:pt x="2329103" y="1105306"/>
                </a:lnTo>
                <a:lnTo>
                  <a:pt x="2323071" y="1112672"/>
                </a:lnTo>
                <a:lnTo>
                  <a:pt x="2352510" y="1136840"/>
                </a:lnTo>
                <a:lnTo>
                  <a:pt x="2358555" y="1129487"/>
                </a:lnTo>
                <a:close/>
              </a:path>
              <a:path w="2484754" h="2472054">
                <a:moveTo>
                  <a:pt x="2360549" y="284226"/>
                </a:moveTo>
                <a:lnTo>
                  <a:pt x="2351862" y="280327"/>
                </a:lnTo>
                <a:lnTo>
                  <a:pt x="2336279" y="315099"/>
                </a:lnTo>
                <a:lnTo>
                  <a:pt x="2344978" y="318998"/>
                </a:lnTo>
                <a:lnTo>
                  <a:pt x="2360549" y="284226"/>
                </a:lnTo>
                <a:close/>
              </a:path>
              <a:path w="2484754" h="2472054">
                <a:moveTo>
                  <a:pt x="2362060" y="2191791"/>
                </a:moveTo>
                <a:lnTo>
                  <a:pt x="2346439" y="2157031"/>
                </a:lnTo>
                <a:lnTo>
                  <a:pt x="2337752" y="2160943"/>
                </a:lnTo>
                <a:lnTo>
                  <a:pt x="2353360" y="2195690"/>
                </a:lnTo>
                <a:lnTo>
                  <a:pt x="2362060" y="2191791"/>
                </a:lnTo>
                <a:close/>
              </a:path>
              <a:path w="2484754" h="2472054">
                <a:moveTo>
                  <a:pt x="2387816" y="223380"/>
                </a:moveTo>
                <a:lnTo>
                  <a:pt x="2379129" y="219481"/>
                </a:lnTo>
                <a:lnTo>
                  <a:pt x="2363546" y="254254"/>
                </a:lnTo>
                <a:lnTo>
                  <a:pt x="2372233" y="258152"/>
                </a:lnTo>
                <a:lnTo>
                  <a:pt x="2387816" y="223380"/>
                </a:lnTo>
                <a:close/>
              </a:path>
              <a:path w="2484754" h="2472054">
                <a:moveTo>
                  <a:pt x="2387981" y="63957"/>
                </a:moveTo>
                <a:lnTo>
                  <a:pt x="2383167" y="55740"/>
                </a:lnTo>
                <a:lnTo>
                  <a:pt x="2350287" y="74980"/>
                </a:lnTo>
                <a:lnTo>
                  <a:pt x="2355088" y="83197"/>
                </a:lnTo>
                <a:lnTo>
                  <a:pt x="2387981" y="63957"/>
                </a:lnTo>
                <a:close/>
              </a:path>
              <a:path w="2484754" h="2472054">
                <a:moveTo>
                  <a:pt x="2389365" y="2252611"/>
                </a:moveTo>
                <a:lnTo>
                  <a:pt x="2373757" y="2217864"/>
                </a:lnTo>
                <a:lnTo>
                  <a:pt x="2365070" y="2221763"/>
                </a:lnTo>
                <a:lnTo>
                  <a:pt x="2380678" y="2256523"/>
                </a:lnTo>
                <a:lnTo>
                  <a:pt x="2389365" y="2252611"/>
                </a:lnTo>
                <a:close/>
              </a:path>
              <a:path w="2484754" h="2472054">
                <a:moveTo>
                  <a:pt x="2389771" y="2409609"/>
                </a:moveTo>
                <a:lnTo>
                  <a:pt x="2356815" y="2390495"/>
                </a:lnTo>
                <a:lnTo>
                  <a:pt x="2352040" y="2398738"/>
                </a:lnTo>
                <a:lnTo>
                  <a:pt x="2384996" y="2417851"/>
                </a:lnTo>
                <a:lnTo>
                  <a:pt x="2389771" y="2409609"/>
                </a:lnTo>
                <a:close/>
              </a:path>
              <a:path w="2484754" h="2472054">
                <a:moveTo>
                  <a:pt x="2408009" y="1302359"/>
                </a:moveTo>
                <a:lnTo>
                  <a:pt x="2401938" y="1295006"/>
                </a:lnTo>
                <a:lnTo>
                  <a:pt x="2372563" y="1319276"/>
                </a:lnTo>
                <a:lnTo>
                  <a:pt x="2378633" y="1326616"/>
                </a:lnTo>
                <a:lnTo>
                  <a:pt x="2408009" y="1302359"/>
                </a:lnTo>
                <a:close/>
              </a:path>
              <a:path w="2484754" h="2472054">
                <a:moveTo>
                  <a:pt x="2410091" y="1171778"/>
                </a:moveTo>
                <a:lnTo>
                  <a:pt x="2380653" y="1147610"/>
                </a:lnTo>
                <a:lnTo>
                  <a:pt x="2374608" y="1154976"/>
                </a:lnTo>
                <a:lnTo>
                  <a:pt x="2404059" y="1179144"/>
                </a:lnTo>
                <a:lnTo>
                  <a:pt x="2410091" y="1171778"/>
                </a:lnTo>
                <a:close/>
              </a:path>
              <a:path w="2484754" h="2472054">
                <a:moveTo>
                  <a:pt x="2415082" y="162534"/>
                </a:moveTo>
                <a:lnTo>
                  <a:pt x="2406383" y="158635"/>
                </a:lnTo>
                <a:lnTo>
                  <a:pt x="2390813" y="193408"/>
                </a:lnTo>
                <a:lnTo>
                  <a:pt x="2399500" y="197307"/>
                </a:lnTo>
                <a:lnTo>
                  <a:pt x="2415082" y="162534"/>
                </a:lnTo>
                <a:close/>
              </a:path>
              <a:path w="2484754" h="2472054">
                <a:moveTo>
                  <a:pt x="2416683" y="2313432"/>
                </a:moveTo>
                <a:lnTo>
                  <a:pt x="2401074" y="2278684"/>
                </a:lnTo>
                <a:lnTo>
                  <a:pt x="2392388" y="2282583"/>
                </a:lnTo>
                <a:lnTo>
                  <a:pt x="2407996" y="2317343"/>
                </a:lnTo>
                <a:lnTo>
                  <a:pt x="2416683" y="2313432"/>
                </a:lnTo>
                <a:close/>
              </a:path>
              <a:path w="2484754" h="2472054">
                <a:moveTo>
                  <a:pt x="2442337" y="101688"/>
                </a:moveTo>
                <a:lnTo>
                  <a:pt x="2433650" y="97790"/>
                </a:lnTo>
                <a:lnTo>
                  <a:pt x="2418067" y="132562"/>
                </a:lnTo>
                <a:lnTo>
                  <a:pt x="2426766" y="136461"/>
                </a:lnTo>
                <a:lnTo>
                  <a:pt x="2442337" y="101688"/>
                </a:lnTo>
                <a:close/>
              </a:path>
              <a:path w="2484754" h="2472054">
                <a:moveTo>
                  <a:pt x="2444000" y="2374265"/>
                </a:moveTo>
                <a:lnTo>
                  <a:pt x="2428392" y="2339505"/>
                </a:lnTo>
                <a:lnTo>
                  <a:pt x="2419705" y="2343404"/>
                </a:lnTo>
                <a:lnTo>
                  <a:pt x="2435314" y="2378164"/>
                </a:lnTo>
                <a:lnTo>
                  <a:pt x="2444000" y="2374265"/>
                </a:lnTo>
                <a:close/>
              </a:path>
              <a:path w="2484754" h="2472054">
                <a:moveTo>
                  <a:pt x="2480843" y="1236002"/>
                </a:moveTo>
                <a:lnTo>
                  <a:pt x="2446109" y="1158214"/>
                </a:lnTo>
                <a:lnTo>
                  <a:pt x="2397772" y="1217117"/>
                </a:lnTo>
                <a:lnTo>
                  <a:pt x="2480843" y="1236002"/>
                </a:lnTo>
                <a:close/>
              </a:path>
              <a:path w="2484754" h="2472054">
                <a:moveTo>
                  <a:pt x="2480843" y="1236002"/>
                </a:moveTo>
                <a:lnTo>
                  <a:pt x="2397836" y="1255166"/>
                </a:lnTo>
                <a:lnTo>
                  <a:pt x="2446363" y="1313916"/>
                </a:lnTo>
                <a:lnTo>
                  <a:pt x="2480843" y="1236002"/>
                </a:lnTo>
                <a:close/>
              </a:path>
              <a:path w="2484754" h="2472054">
                <a:moveTo>
                  <a:pt x="2484374" y="2382786"/>
                </a:moveTo>
                <a:lnTo>
                  <a:pt x="2438425" y="2403424"/>
                </a:lnTo>
                <a:lnTo>
                  <a:pt x="2434031" y="2396731"/>
                </a:lnTo>
                <a:lnTo>
                  <a:pt x="2427224" y="2408453"/>
                </a:lnTo>
                <a:lnTo>
                  <a:pt x="2414867" y="2414003"/>
                </a:lnTo>
                <a:lnTo>
                  <a:pt x="2421064" y="2419083"/>
                </a:lnTo>
                <a:lnTo>
                  <a:pt x="2417305" y="2425573"/>
                </a:lnTo>
                <a:lnTo>
                  <a:pt x="2414498" y="2423947"/>
                </a:lnTo>
                <a:lnTo>
                  <a:pt x="2409723" y="2432177"/>
                </a:lnTo>
                <a:lnTo>
                  <a:pt x="2412530" y="2433815"/>
                </a:lnTo>
                <a:lnTo>
                  <a:pt x="2395817" y="2462657"/>
                </a:lnTo>
                <a:lnTo>
                  <a:pt x="2480843" y="2467902"/>
                </a:lnTo>
                <a:lnTo>
                  <a:pt x="2484374" y="2382786"/>
                </a:lnTo>
                <a:close/>
              </a:path>
              <a:path w="2484754" h="2472054">
                <a:moveTo>
                  <a:pt x="2484450" y="89230"/>
                </a:moveTo>
                <a:lnTo>
                  <a:pt x="2483878" y="75590"/>
                </a:lnTo>
                <a:lnTo>
                  <a:pt x="2480843" y="4102"/>
                </a:lnTo>
                <a:lnTo>
                  <a:pt x="2395829" y="9702"/>
                </a:lnTo>
                <a:lnTo>
                  <a:pt x="2412669" y="38481"/>
                </a:lnTo>
                <a:lnTo>
                  <a:pt x="2407831" y="41300"/>
                </a:lnTo>
                <a:lnTo>
                  <a:pt x="2412644" y="49530"/>
                </a:lnTo>
                <a:lnTo>
                  <a:pt x="2417483" y="46697"/>
                </a:lnTo>
                <a:lnTo>
                  <a:pt x="2421140" y="52971"/>
                </a:lnTo>
                <a:lnTo>
                  <a:pt x="2414917" y="58064"/>
                </a:lnTo>
                <a:lnTo>
                  <a:pt x="2427389" y="63665"/>
                </a:lnTo>
                <a:lnTo>
                  <a:pt x="2434310" y="75476"/>
                </a:lnTo>
                <a:lnTo>
                  <a:pt x="2438704" y="68732"/>
                </a:lnTo>
                <a:lnTo>
                  <a:pt x="2445347" y="71704"/>
                </a:lnTo>
                <a:lnTo>
                  <a:pt x="2454021" y="75603"/>
                </a:lnTo>
                <a:lnTo>
                  <a:pt x="2484450" y="8923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38" name="object 38"/>
          <p:cNvSpPr txBox="1"/>
          <p:nvPr/>
        </p:nvSpPr>
        <p:spPr>
          <a:xfrm>
            <a:off x="4152941" y="5721678"/>
            <a:ext cx="767080" cy="299720"/>
          </a:xfrm>
          <a:prstGeom prst="rect">
            <a:avLst/>
          </a:prstGeom>
        </p:spPr>
        <p:txBody>
          <a:bodyPr vert="horz" wrap="square" lIns="0" tIns="12700" rIns="0" bIns="0" rtlCol="0">
            <a:spAutoFit/>
          </a:bodyPr>
          <a:lstStyle/>
          <a:p>
            <a:pPr>
              <a:spcBef>
                <a:spcPts val="100"/>
              </a:spcBef>
            </a:pPr>
            <a:r>
              <a:rPr b="1" spc="-5" dirty="0">
                <a:solidFill>
                  <a:prstClr val="black"/>
                </a:solidFill>
                <a:latin typeface="Arial"/>
                <a:cs typeface="Arial"/>
              </a:rPr>
              <a:t>Input</a:t>
            </a:r>
            <a:r>
              <a:rPr b="1" spc="-80" dirty="0">
                <a:solidFill>
                  <a:prstClr val="black"/>
                </a:solidFill>
                <a:latin typeface="Arial"/>
                <a:cs typeface="Arial"/>
              </a:rPr>
              <a:t> </a:t>
            </a:r>
            <a:r>
              <a:rPr dirty="0">
                <a:solidFill>
                  <a:prstClr val="black"/>
                </a:solidFill>
                <a:latin typeface="Cambria Math"/>
                <a:cs typeface="Cambria Math"/>
              </a:rPr>
              <a:t>𝒙</a:t>
            </a:r>
            <a:endParaRPr>
              <a:solidFill>
                <a:prstClr val="black"/>
              </a:solidFill>
              <a:latin typeface="Cambria Math"/>
              <a:cs typeface="Cambria Math"/>
            </a:endParaRPr>
          </a:p>
        </p:txBody>
      </p:sp>
      <p:sp>
        <p:nvSpPr>
          <p:cNvPr id="39" name="object 39"/>
          <p:cNvSpPr txBox="1"/>
          <p:nvPr/>
        </p:nvSpPr>
        <p:spPr>
          <a:xfrm>
            <a:off x="7366166" y="5721678"/>
            <a:ext cx="956310" cy="299720"/>
          </a:xfrm>
          <a:prstGeom prst="rect">
            <a:avLst/>
          </a:prstGeom>
        </p:spPr>
        <p:txBody>
          <a:bodyPr vert="horz" wrap="square" lIns="0" tIns="12700" rIns="0" bIns="0" rtlCol="0">
            <a:spAutoFit/>
          </a:bodyPr>
          <a:lstStyle/>
          <a:p>
            <a:pPr>
              <a:spcBef>
                <a:spcPts val="100"/>
              </a:spcBef>
            </a:pPr>
            <a:r>
              <a:rPr b="1" spc="-5" dirty="0">
                <a:solidFill>
                  <a:prstClr val="black"/>
                </a:solidFill>
                <a:latin typeface="Arial"/>
                <a:cs typeface="Arial"/>
              </a:rPr>
              <a:t>Output</a:t>
            </a:r>
            <a:r>
              <a:rPr b="1" spc="-75" dirty="0">
                <a:solidFill>
                  <a:prstClr val="black"/>
                </a:solidFill>
                <a:latin typeface="Arial"/>
                <a:cs typeface="Arial"/>
              </a:rPr>
              <a:t> </a:t>
            </a:r>
            <a:r>
              <a:rPr spc="-190" dirty="0">
                <a:solidFill>
                  <a:prstClr val="black"/>
                </a:solidFill>
                <a:latin typeface="Cambria Math"/>
                <a:cs typeface="Cambria Math"/>
              </a:rPr>
              <a:t>𝒙</a:t>
            </a:r>
            <a:r>
              <a:rPr sz="2700" spc="-284" baseline="1543" dirty="0">
                <a:solidFill>
                  <a:prstClr val="black"/>
                </a:solidFill>
                <a:latin typeface="Cambria Math"/>
                <a:cs typeface="Cambria Math"/>
              </a:rPr>
              <a:t>.</a:t>
            </a:r>
            <a:endParaRPr sz="2700" baseline="1543">
              <a:solidFill>
                <a:prstClr val="black"/>
              </a:solidFill>
              <a:latin typeface="Cambria Math"/>
              <a:cs typeface="Cambria Math"/>
            </a:endParaRPr>
          </a:p>
        </p:txBody>
      </p:sp>
      <p:grpSp>
        <p:nvGrpSpPr>
          <p:cNvPr id="40" name="object 40"/>
          <p:cNvGrpSpPr/>
          <p:nvPr/>
        </p:nvGrpSpPr>
        <p:grpSpPr>
          <a:xfrm>
            <a:off x="4022602" y="2133600"/>
            <a:ext cx="4510405" cy="3945890"/>
            <a:chOff x="2498601" y="2133600"/>
            <a:chExt cx="4510405" cy="3945890"/>
          </a:xfrm>
        </p:grpSpPr>
        <p:sp>
          <p:nvSpPr>
            <p:cNvPr id="41" name="object 41"/>
            <p:cNvSpPr/>
            <p:nvPr/>
          </p:nvSpPr>
          <p:spPr>
            <a:xfrm>
              <a:off x="2511301" y="2146300"/>
              <a:ext cx="2132330" cy="3920490"/>
            </a:xfrm>
            <a:custGeom>
              <a:avLst/>
              <a:gdLst/>
              <a:ahLst/>
              <a:cxnLst/>
              <a:rect l="l" t="t" r="r" b="b"/>
              <a:pathLst>
                <a:path w="2132329" h="3920490">
                  <a:moveTo>
                    <a:pt x="0" y="0"/>
                  </a:moveTo>
                  <a:lnTo>
                    <a:pt x="2132001" y="0"/>
                  </a:lnTo>
                  <a:lnTo>
                    <a:pt x="2132001" y="3920136"/>
                  </a:lnTo>
                  <a:lnTo>
                    <a:pt x="0" y="3920136"/>
                  </a:lnTo>
                  <a:lnTo>
                    <a:pt x="0" y="0"/>
                  </a:lnTo>
                  <a:close/>
                </a:path>
              </a:pathLst>
            </a:custGeom>
            <a:ln w="25400">
              <a:solidFill>
                <a:srgbClr val="F79646"/>
              </a:solidFill>
            </a:ln>
          </p:spPr>
          <p:txBody>
            <a:bodyPr wrap="square" lIns="0" tIns="0" rIns="0" bIns="0" rtlCol="0"/>
            <a:lstStyle/>
            <a:p>
              <a:endParaRPr>
                <a:solidFill>
                  <a:prstClr val="black"/>
                </a:solidFill>
                <a:latin typeface="Calibri"/>
              </a:endParaRPr>
            </a:p>
          </p:txBody>
        </p:sp>
        <p:sp>
          <p:nvSpPr>
            <p:cNvPr id="42" name="object 42"/>
            <p:cNvSpPr/>
            <p:nvPr/>
          </p:nvSpPr>
          <p:spPr>
            <a:xfrm>
              <a:off x="4643301" y="2146300"/>
              <a:ext cx="2352675" cy="3920490"/>
            </a:xfrm>
            <a:custGeom>
              <a:avLst/>
              <a:gdLst/>
              <a:ahLst/>
              <a:cxnLst/>
              <a:rect l="l" t="t" r="r" b="b"/>
              <a:pathLst>
                <a:path w="2352675" h="3920490">
                  <a:moveTo>
                    <a:pt x="0" y="0"/>
                  </a:moveTo>
                  <a:lnTo>
                    <a:pt x="2352543" y="0"/>
                  </a:lnTo>
                  <a:lnTo>
                    <a:pt x="2352543" y="3920136"/>
                  </a:lnTo>
                  <a:lnTo>
                    <a:pt x="0" y="3920136"/>
                  </a:lnTo>
                  <a:lnTo>
                    <a:pt x="0" y="0"/>
                  </a:lnTo>
                  <a:close/>
                </a:path>
              </a:pathLst>
            </a:custGeom>
            <a:ln w="25400">
              <a:solidFill>
                <a:srgbClr val="00B050"/>
              </a:solidFill>
            </a:ln>
          </p:spPr>
          <p:txBody>
            <a:bodyPr wrap="square" lIns="0" tIns="0" rIns="0" bIns="0" rtlCol="0"/>
            <a:lstStyle/>
            <a:p>
              <a:endParaRPr>
                <a:solidFill>
                  <a:prstClr val="black"/>
                </a:solidFill>
                <a:latin typeface="Calibri"/>
              </a:endParaRPr>
            </a:p>
          </p:txBody>
        </p:sp>
      </p:grpSp>
      <p:pic>
        <p:nvPicPr>
          <p:cNvPr id="43" name="object 43"/>
          <p:cNvPicPr/>
          <p:nvPr/>
        </p:nvPicPr>
        <p:blipFill>
          <a:blip r:embed="rId6" cstate="print"/>
          <a:stretch>
            <a:fillRect/>
          </a:stretch>
        </p:blipFill>
        <p:spPr>
          <a:xfrm>
            <a:off x="2414632" y="3275764"/>
            <a:ext cx="1330234" cy="1309770"/>
          </a:xfrm>
          <a:prstGeom prst="rect">
            <a:avLst/>
          </a:prstGeom>
        </p:spPr>
      </p:pic>
      <p:pic>
        <p:nvPicPr>
          <p:cNvPr id="44" name="object 44"/>
          <p:cNvPicPr/>
          <p:nvPr/>
        </p:nvPicPr>
        <p:blipFill>
          <a:blip r:embed="rId6" cstate="print"/>
          <a:stretch>
            <a:fillRect/>
          </a:stretch>
        </p:blipFill>
        <p:spPr>
          <a:xfrm>
            <a:off x="8859659" y="3275764"/>
            <a:ext cx="1330234" cy="1309770"/>
          </a:xfrm>
          <a:prstGeom prst="rect">
            <a:avLst/>
          </a:prstGeom>
        </p:spPr>
      </p:pic>
      <p:sp>
        <p:nvSpPr>
          <p:cNvPr id="45" name="object 45"/>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46" name="object 46"/>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21</a:t>
            </a:fld>
            <a:endParaRPr dirty="0">
              <a:solidFill>
                <a:prstClr val="white"/>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1" y="1109979"/>
            <a:ext cx="5714365" cy="391160"/>
          </a:xfrm>
          <a:prstGeom prst="rect">
            <a:avLst/>
          </a:prstGeom>
        </p:spPr>
        <p:txBody>
          <a:bodyPr vert="horz" wrap="square" lIns="0" tIns="12700" rIns="0" bIns="0" rtlCol="0">
            <a:spAutoFit/>
          </a:bodyPr>
          <a:lstStyle/>
          <a:p>
            <a:pPr marL="12700">
              <a:spcBef>
                <a:spcPts val="100"/>
              </a:spcBef>
            </a:pPr>
            <a:r>
              <a:rPr sz="2400" b="1" spc="-30" dirty="0">
                <a:solidFill>
                  <a:prstClr val="black"/>
                </a:solidFill>
                <a:latin typeface="Arial"/>
                <a:cs typeface="Arial"/>
              </a:rPr>
              <a:t>Train</a:t>
            </a:r>
            <a:r>
              <a:rPr sz="2400" b="1" spc="-15" dirty="0">
                <a:solidFill>
                  <a:prstClr val="black"/>
                </a:solidFill>
                <a:latin typeface="Arial"/>
                <a:cs typeface="Arial"/>
              </a:rPr>
              <a:t> </a:t>
            </a:r>
            <a:r>
              <a:rPr sz="2400" b="1" spc="-5" dirty="0">
                <a:solidFill>
                  <a:prstClr val="black"/>
                </a:solidFill>
                <a:latin typeface="Arial"/>
                <a:cs typeface="Arial"/>
              </a:rPr>
              <a:t>autoencoder</a:t>
            </a:r>
            <a:r>
              <a:rPr sz="2400" b="1" dirty="0">
                <a:solidFill>
                  <a:prstClr val="black"/>
                </a:solidFill>
                <a:latin typeface="Arial"/>
                <a:cs typeface="Arial"/>
              </a:rPr>
              <a:t> </a:t>
            </a:r>
            <a:r>
              <a:rPr sz="2400" b="1" spc="-5" dirty="0">
                <a:solidFill>
                  <a:prstClr val="black"/>
                </a:solidFill>
                <a:latin typeface="Arial"/>
                <a:cs typeface="Arial"/>
              </a:rPr>
              <a:t>and</a:t>
            </a:r>
            <a:r>
              <a:rPr sz="2400" b="1" spc="-10" dirty="0">
                <a:solidFill>
                  <a:prstClr val="black"/>
                </a:solidFill>
                <a:latin typeface="Arial"/>
                <a:cs typeface="Arial"/>
              </a:rPr>
              <a:t> </a:t>
            </a:r>
            <a:r>
              <a:rPr sz="2400" b="1" spc="-5" dirty="0">
                <a:solidFill>
                  <a:prstClr val="black"/>
                </a:solidFill>
                <a:latin typeface="Arial"/>
                <a:cs typeface="Arial"/>
              </a:rPr>
              <a:t>replace decoder</a:t>
            </a:r>
            <a:endParaRPr sz="2400">
              <a:solidFill>
                <a:prstClr val="black"/>
              </a:solidFill>
              <a:latin typeface="Arial"/>
              <a:cs typeface="Arial"/>
            </a:endParaRPr>
          </a:p>
        </p:txBody>
      </p:sp>
      <p:grpSp>
        <p:nvGrpSpPr>
          <p:cNvPr id="4" name="object 4"/>
          <p:cNvGrpSpPr/>
          <p:nvPr/>
        </p:nvGrpSpPr>
        <p:grpSpPr>
          <a:xfrm>
            <a:off x="1536701" y="67733"/>
            <a:ext cx="5287645" cy="918844"/>
            <a:chOff x="12700" y="67733"/>
            <a:chExt cx="5287645" cy="918844"/>
          </a:xfrm>
        </p:grpSpPr>
        <p:pic>
          <p:nvPicPr>
            <p:cNvPr id="5" name="object 5"/>
            <p:cNvPicPr/>
            <p:nvPr/>
          </p:nvPicPr>
          <p:blipFill>
            <a:blip r:embed="rId3" cstate="print"/>
            <a:stretch>
              <a:fillRect/>
            </a:stretch>
          </p:blipFill>
          <p:spPr>
            <a:xfrm>
              <a:off x="12700" y="67733"/>
              <a:ext cx="1210733" cy="918633"/>
            </a:xfrm>
            <a:prstGeom prst="rect">
              <a:avLst/>
            </a:prstGeom>
          </p:spPr>
        </p:pic>
        <p:pic>
          <p:nvPicPr>
            <p:cNvPr id="6" name="object 6"/>
            <p:cNvPicPr/>
            <p:nvPr/>
          </p:nvPicPr>
          <p:blipFill>
            <a:blip r:embed="rId4" cstate="print"/>
            <a:stretch>
              <a:fillRect/>
            </a:stretch>
          </p:blipFill>
          <p:spPr>
            <a:xfrm>
              <a:off x="668866" y="67733"/>
              <a:ext cx="690033" cy="918633"/>
            </a:xfrm>
            <a:prstGeom prst="rect">
              <a:avLst/>
            </a:prstGeom>
          </p:spPr>
        </p:pic>
        <p:pic>
          <p:nvPicPr>
            <p:cNvPr id="7" name="object 7"/>
            <p:cNvPicPr/>
            <p:nvPr/>
          </p:nvPicPr>
          <p:blipFill>
            <a:blip r:embed="rId5" cstate="print"/>
            <a:stretch>
              <a:fillRect/>
            </a:stretch>
          </p:blipFill>
          <p:spPr>
            <a:xfrm>
              <a:off x="804333" y="67733"/>
              <a:ext cx="2040467" cy="918633"/>
            </a:xfrm>
            <a:prstGeom prst="rect">
              <a:avLst/>
            </a:prstGeom>
          </p:spPr>
        </p:pic>
        <p:pic>
          <p:nvPicPr>
            <p:cNvPr id="8" name="object 8"/>
            <p:cNvPicPr/>
            <p:nvPr/>
          </p:nvPicPr>
          <p:blipFill>
            <a:blip r:embed="rId6" cstate="print"/>
            <a:stretch>
              <a:fillRect/>
            </a:stretch>
          </p:blipFill>
          <p:spPr>
            <a:xfrm>
              <a:off x="2404532" y="67733"/>
              <a:ext cx="2895600" cy="918633"/>
            </a:xfrm>
            <a:prstGeom prst="rect">
              <a:avLst/>
            </a:prstGeom>
          </p:spPr>
        </p:pic>
      </p:grpSp>
      <p:sp>
        <p:nvSpPr>
          <p:cNvPr id="9" name="object 9"/>
          <p:cNvSpPr txBox="1">
            <a:spLocks noGrp="1"/>
          </p:cNvSpPr>
          <p:nvPr>
            <p:ph type="title"/>
          </p:nvPr>
        </p:nvSpPr>
        <p:spPr>
          <a:xfrm>
            <a:off x="1785621" y="183388"/>
            <a:ext cx="4756785"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Pre-training</a:t>
            </a:r>
            <a:r>
              <a:rPr sz="3200" spc="-35" dirty="0">
                <a:solidFill>
                  <a:srgbClr val="004990"/>
                </a:solidFill>
              </a:rPr>
              <a:t> </a:t>
            </a:r>
            <a:r>
              <a:rPr sz="3200" spc="-5" dirty="0">
                <a:solidFill>
                  <a:srgbClr val="004990"/>
                </a:solidFill>
              </a:rPr>
              <a:t>(fine</a:t>
            </a:r>
            <a:r>
              <a:rPr sz="3200" spc="-40" dirty="0">
                <a:solidFill>
                  <a:srgbClr val="004990"/>
                </a:solidFill>
              </a:rPr>
              <a:t> </a:t>
            </a:r>
            <a:r>
              <a:rPr sz="3200" spc="-10" dirty="0">
                <a:solidFill>
                  <a:srgbClr val="004990"/>
                </a:solidFill>
              </a:rPr>
              <a:t>tuning)</a:t>
            </a:r>
            <a:endParaRPr sz="3200"/>
          </a:p>
        </p:txBody>
      </p:sp>
      <p:grpSp>
        <p:nvGrpSpPr>
          <p:cNvPr id="10" name="object 10"/>
          <p:cNvGrpSpPr/>
          <p:nvPr/>
        </p:nvGrpSpPr>
        <p:grpSpPr>
          <a:xfrm>
            <a:off x="4170318" y="2324100"/>
            <a:ext cx="749300" cy="749300"/>
            <a:chOff x="2646318" y="2324100"/>
            <a:chExt cx="749300" cy="749300"/>
          </a:xfrm>
        </p:grpSpPr>
        <p:sp>
          <p:nvSpPr>
            <p:cNvPr id="11" name="object 11"/>
            <p:cNvSpPr/>
            <p:nvPr/>
          </p:nvSpPr>
          <p:spPr>
            <a:xfrm>
              <a:off x="2659018"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2" name="object 12"/>
            <p:cNvSpPr/>
            <p:nvPr/>
          </p:nvSpPr>
          <p:spPr>
            <a:xfrm>
              <a:off x="2659018"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13" name="object 13"/>
          <p:cNvSpPr txBox="1"/>
          <p:nvPr/>
        </p:nvSpPr>
        <p:spPr>
          <a:xfrm>
            <a:off x="4398759" y="25404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grpSp>
        <p:nvGrpSpPr>
          <p:cNvPr id="14" name="object 14"/>
          <p:cNvGrpSpPr/>
          <p:nvPr/>
        </p:nvGrpSpPr>
        <p:grpSpPr>
          <a:xfrm>
            <a:off x="4170318" y="3556000"/>
            <a:ext cx="749300" cy="749300"/>
            <a:chOff x="2646318" y="3556000"/>
            <a:chExt cx="749300" cy="749300"/>
          </a:xfrm>
        </p:grpSpPr>
        <p:sp>
          <p:nvSpPr>
            <p:cNvPr id="15" name="object 15"/>
            <p:cNvSpPr/>
            <p:nvPr/>
          </p:nvSpPr>
          <p:spPr>
            <a:xfrm>
              <a:off x="2659018" y="35687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6" name="object 16"/>
            <p:cNvSpPr/>
            <p:nvPr/>
          </p:nvSpPr>
          <p:spPr>
            <a:xfrm>
              <a:off x="2659018" y="35687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17" name="object 17"/>
          <p:cNvSpPr txBox="1"/>
          <p:nvPr/>
        </p:nvSpPr>
        <p:spPr>
          <a:xfrm>
            <a:off x="4367199" y="37723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grpSp>
        <p:nvGrpSpPr>
          <p:cNvPr id="18" name="object 18"/>
          <p:cNvGrpSpPr/>
          <p:nvPr/>
        </p:nvGrpSpPr>
        <p:grpSpPr>
          <a:xfrm>
            <a:off x="4170318" y="4787900"/>
            <a:ext cx="749300" cy="749300"/>
            <a:chOff x="2646318" y="4787900"/>
            <a:chExt cx="749300" cy="749300"/>
          </a:xfrm>
        </p:grpSpPr>
        <p:sp>
          <p:nvSpPr>
            <p:cNvPr id="19" name="object 19"/>
            <p:cNvSpPr/>
            <p:nvPr/>
          </p:nvSpPr>
          <p:spPr>
            <a:xfrm>
              <a:off x="2659018" y="4800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0" name="object 20"/>
            <p:cNvSpPr/>
            <p:nvPr/>
          </p:nvSpPr>
          <p:spPr>
            <a:xfrm>
              <a:off x="2659018" y="4800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21" name="object 21"/>
          <p:cNvSpPr txBox="1"/>
          <p:nvPr/>
        </p:nvSpPr>
        <p:spPr>
          <a:xfrm>
            <a:off x="4367199" y="50042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grpSp>
        <p:nvGrpSpPr>
          <p:cNvPr id="22" name="object 22"/>
          <p:cNvGrpSpPr/>
          <p:nvPr/>
        </p:nvGrpSpPr>
        <p:grpSpPr>
          <a:xfrm>
            <a:off x="5770517" y="2324100"/>
            <a:ext cx="2349500" cy="2705100"/>
            <a:chOff x="4246517" y="2324100"/>
            <a:chExt cx="2349500" cy="2705100"/>
          </a:xfrm>
        </p:grpSpPr>
        <p:sp>
          <p:nvSpPr>
            <p:cNvPr id="23" name="object 23"/>
            <p:cNvSpPr/>
            <p:nvPr/>
          </p:nvSpPr>
          <p:spPr>
            <a:xfrm>
              <a:off x="4259217" y="2849479"/>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4" name="object 24"/>
            <p:cNvSpPr/>
            <p:nvPr/>
          </p:nvSpPr>
          <p:spPr>
            <a:xfrm>
              <a:off x="4259217" y="2849479"/>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5" name="object 25"/>
            <p:cNvSpPr/>
            <p:nvPr/>
          </p:nvSpPr>
          <p:spPr>
            <a:xfrm>
              <a:off x="4259217" y="42926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900"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26" name="object 26"/>
            <p:cNvSpPr/>
            <p:nvPr/>
          </p:nvSpPr>
          <p:spPr>
            <a:xfrm>
              <a:off x="4259217" y="42926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7" name="object 27"/>
            <p:cNvSpPr/>
            <p:nvPr/>
          </p:nvSpPr>
          <p:spPr>
            <a:xfrm>
              <a:off x="5859417" y="233680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F3CECE"/>
            </a:solidFill>
          </p:spPr>
          <p:txBody>
            <a:bodyPr wrap="square" lIns="0" tIns="0" rIns="0" bIns="0" rtlCol="0"/>
            <a:lstStyle/>
            <a:p>
              <a:endParaRPr>
                <a:solidFill>
                  <a:prstClr val="black"/>
                </a:solidFill>
                <a:latin typeface="Calibri"/>
              </a:endParaRPr>
            </a:p>
          </p:txBody>
        </p:sp>
        <p:sp>
          <p:nvSpPr>
            <p:cNvPr id="28" name="object 28"/>
            <p:cNvSpPr/>
            <p:nvPr/>
          </p:nvSpPr>
          <p:spPr>
            <a:xfrm>
              <a:off x="5859417" y="233680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29" name="object 29"/>
          <p:cNvSpPr txBox="1"/>
          <p:nvPr/>
        </p:nvSpPr>
        <p:spPr>
          <a:xfrm>
            <a:off x="7565219" y="2540444"/>
            <a:ext cx="299085"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𝒚</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grpSp>
        <p:nvGrpSpPr>
          <p:cNvPr id="30" name="object 30"/>
          <p:cNvGrpSpPr/>
          <p:nvPr/>
        </p:nvGrpSpPr>
        <p:grpSpPr>
          <a:xfrm>
            <a:off x="7389815" y="3220604"/>
            <a:ext cx="749300" cy="749300"/>
            <a:chOff x="5865815" y="3220604"/>
            <a:chExt cx="749300" cy="749300"/>
          </a:xfrm>
        </p:grpSpPr>
        <p:sp>
          <p:nvSpPr>
            <p:cNvPr id="31" name="object 31"/>
            <p:cNvSpPr/>
            <p:nvPr/>
          </p:nvSpPr>
          <p:spPr>
            <a:xfrm>
              <a:off x="5878515" y="3233304"/>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2"/>
                  </a:lnTo>
                  <a:lnTo>
                    <a:pt x="49416" y="179266"/>
                  </a:lnTo>
                  <a:lnTo>
                    <a:pt x="28443" y="221062"/>
                  </a:lnTo>
                  <a:lnTo>
                    <a:pt x="12929" y="265728"/>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8"/>
                  </a:lnTo>
                  <a:lnTo>
                    <a:pt x="695456" y="221062"/>
                  </a:lnTo>
                  <a:lnTo>
                    <a:pt x="674483" y="179266"/>
                  </a:lnTo>
                  <a:lnTo>
                    <a:pt x="648483" y="140772"/>
                  </a:lnTo>
                  <a:lnTo>
                    <a:pt x="617887" y="106012"/>
                  </a:lnTo>
                  <a:lnTo>
                    <a:pt x="583126" y="75416"/>
                  </a:lnTo>
                  <a:lnTo>
                    <a:pt x="544633" y="49416"/>
                  </a:lnTo>
                  <a:lnTo>
                    <a:pt x="502837" y="28443"/>
                  </a:lnTo>
                  <a:lnTo>
                    <a:pt x="458170" y="12929"/>
                  </a:lnTo>
                  <a:lnTo>
                    <a:pt x="411064" y="3304"/>
                  </a:lnTo>
                  <a:lnTo>
                    <a:pt x="361950" y="0"/>
                  </a:lnTo>
                  <a:close/>
                </a:path>
              </a:pathLst>
            </a:custGeom>
            <a:solidFill>
              <a:srgbClr val="F3CECE"/>
            </a:solidFill>
          </p:spPr>
          <p:txBody>
            <a:bodyPr wrap="square" lIns="0" tIns="0" rIns="0" bIns="0" rtlCol="0"/>
            <a:lstStyle/>
            <a:p>
              <a:endParaRPr>
                <a:solidFill>
                  <a:prstClr val="black"/>
                </a:solidFill>
                <a:latin typeface="Calibri"/>
              </a:endParaRPr>
            </a:p>
          </p:txBody>
        </p:sp>
        <p:sp>
          <p:nvSpPr>
            <p:cNvPr id="32" name="object 32"/>
            <p:cNvSpPr/>
            <p:nvPr/>
          </p:nvSpPr>
          <p:spPr>
            <a:xfrm>
              <a:off x="5878515" y="3233304"/>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33" name="object 33"/>
          <p:cNvSpPr txBox="1"/>
          <p:nvPr/>
        </p:nvSpPr>
        <p:spPr>
          <a:xfrm>
            <a:off x="7584316" y="3436949"/>
            <a:ext cx="299085"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𝒚</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grpSp>
        <p:nvGrpSpPr>
          <p:cNvPr id="34" name="object 34"/>
          <p:cNvGrpSpPr/>
          <p:nvPr/>
        </p:nvGrpSpPr>
        <p:grpSpPr>
          <a:xfrm>
            <a:off x="7389815" y="4053540"/>
            <a:ext cx="749300" cy="749300"/>
            <a:chOff x="5865815" y="4053540"/>
            <a:chExt cx="749300" cy="749300"/>
          </a:xfrm>
        </p:grpSpPr>
        <p:sp>
          <p:nvSpPr>
            <p:cNvPr id="35" name="object 35"/>
            <p:cNvSpPr/>
            <p:nvPr/>
          </p:nvSpPr>
          <p:spPr>
            <a:xfrm>
              <a:off x="5878515" y="4066240"/>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F3CECE"/>
            </a:solidFill>
          </p:spPr>
          <p:txBody>
            <a:bodyPr wrap="square" lIns="0" tIns="0" rIns="0" bIns="0" rtlCol="0"/>
            <a:lstStyle/>
            <a:p>
              <a:endParaRPr>
                <a:solidFill>
                  <a:prstClr val="black"/>
                </a:solidFill>
                <a:latin typeface="Calibri"/>
              </a:endParaRPr>
            </a:p>
          </p:txBody>
        </p:sp>
        <p:sp>
          <p:nvSpPr>
            <p:cNvPr id="36" name="object 36"/>
            <p:cNvSpPr/>
            <p:nvPr/>
          </p:nvSpPr>
          <p:spPr>
            <a:xfrm>
              <a:off x="5878515" y="4066240"/>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37" name="object 37"/>
          <p:cNvSpPr txBox="1"/>
          <p:nvPr/>
        </p:nvSpPr>
        <p:spPr>
          <a:xfrm>
            <a:off x="7584316" y="4269884"/>
            <a:ext cx="299085"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𝒚</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38" name="object 38"/>
          <p:cNvSpPr/>
          <p:nvPr/>
        </p:nvSpPr>
        <p:spPr>
          <a:xfrm>
            <a:off x="4902569" y="2694648"/>
            <a:ext cx="2484755" cy="2472055"/>
          </a:xfrm>
          <a:custGeom>
            <a:avLst/>
            <a:gdLst/>
            <a:ahLst/>
            <a:cxnLst/>
            <a:rect l="l" t="t" r="r" b="b"/>
            <a:pathLst>
              <a:path w="2484754" h="2472054">
                <a:moveTo>
                  <a:pt x="36817" y="1215517"/>
                </a:moveTo>
                <a:lnTo>
                  <a:pt x="30772" y="1208151"/>
                </a:lnTo>
                <a:lnTo>
                  <a:pt x="1320" y="1232331"/>
                </a:lnTo>
                <a:lnTo>
                  <a:pt x="4343" y="1236014"/>
                </a:lnTo>
                <a:lnTo>
                  <a:pt x="1308" y="1239685"/>
                </a:lnTo>
                <a:lnTo>
                  <a:pt x="30683" y="1263942"/>
                </a:lnTo>
                <a:lnTo>
                  <a:pt x="36753" y="1256601"/>
                </a:lnTo>
                <a:lnTo>
                  <a:pt x="11836" y="1236027"/>
                </a:lnTo>
                <a:lnTo>
                  <a:pt x="36817" y="1215517"/>
                </a:lnTo>
                <a:close/>
              </a:path>
              <a:path w="2484754" h="2472054">
                <a:moveTo>
                  <a:pt x="39636" y="19240"/>
                </a:moveTo>
                <a:lnTo>
                  <a:pt x="6743" y="0"/>
                </a:lnTo>
                <a:lnTo>
                  <a:pt x="4343" y="4114"/>
                </a:lnTo>
                <a:lnTo>
                  <a:pt x="0" y="6057"/>
                </a:lnTo>
                <a:lnTo>
                  <a:pt x="15570" y="40830"/>
                </a:lnTo>
                <a:lnTo>
                  <a:pt x="24269" y="36931"/>
                </a:lnTo>
                <a:lnTo>
                  <a:pt x="14757" y="15722"/>
                </a:lnTo>
                <a:lnTo>
                  <a:pt x="34823" y="27457"/>
                </a:lnTo>
                <a:lnTo>
                  <a:pt x="39636" y="19240"/>
                </a:lnTo>
                <a:close/>
              </a:path>
              <a:path w="2484754" h="2472054">
                <a:moveTo>
                  <a:pt x="39700" y="2452916"/>
                </a:moveTo>
                <a:lnTo>
                  <a:pt x="34912" y="2444673"/>
                </a:lnTo>
                <a:lnTo>
                  <a:pt x="14732" y="2456383"/>
                </a:lnTo>
                <a:lnTo>
                  <a:pt x="24295" y="2435098"/>
                </a:lnTo>
                <a:lnTo>
                  <a:pt x="15608" y="2431199"/>
                </a:lnTo>
                <a:lnTo>
                  <a:pt x="0" y="2465959"/>
                </a:lnTo>
                <a:lnTo>
                  <a:pt x="4343" y="2467914"/>
                </a:lnTo>
                <a:lnTo>
                  <a:pt x="6731" y="2472029"/>
                </a:lnTo>
                <a:lnTo>
                  <a:pt x="39700" y="2452916"/>
                </a:lnTo>
                <a:close/>
              </a:path>
              <a:path w="2484754" h="2472054">
                <a:moveTo>
                  <a:pt x="51536" y="97777"/>
                </a:moveTo>
                <a:lnTo>
                  <a:pt x="35953" y="63004"/>
                </a:lnTo>
                <a:lnTo>
                  <a:pt x="27254" y="66903"/>
                </a:lnTo>
                <a:lnTo>
                  <a:pt x="42837" y="101676"/>
                </a:lnTo>
                <a:lnTo>
                  <a:pt x="51536" y="97777"/>
                </a:lnTo>
                <a:close/>
              </a:path>
              <a:path w="2484754" h="2472054">
                <a:moveTo>
                  <a:pt x="51612" y="2374277"/>
                </a:moveTo>
                <a:lnTo>
                  <a:pt x="42926" y="2370378"/>
                </a:lnTo>
                <a:lnTo>
                  <a:pt x="27317" y="2405138"/>
                </a:lnTo>
                <a:lnTo>
                  <a:pt x="36004" y="2409037"/>
                </a:lnTo>
                <a:lnTo>
                  <a:pt x="51612" y="2374277"/>
                </a:lnTo>
                <a:close/>
              </a:path>
              <a:path w="2484754" h="2472054">
                <a:moveTo>
                  <a:pt x="78790" y="158623"/>
                </a:moveTo>
                <a:lnTo>
                  <a:pt x="63220" y="123850"/>
                </a:lnTo>
                <a:lnTo>
                  <a:pt x="54521" y="127749"/>
                </a:lnTo>
                <a:lnTo>
                  <a:pt x="70104" y="162521"/>
                </a:lnTo>
                <a:lnTo>
                  <a:pt x="78790" y="158623"/>
                </a:lnTo>
                <a:close/>
              </a:path>
              <a:path w="2484754" h="2472054">
                <a:moveTo>
                  <a:pt x="78930" y="2313457"/>
                </a:moveTo>
                <a:lnTo>
                  <a:pt x="70243" y="2309558"/>
                </a:lnTo>
                <a:lnTo>
                  <a:pt x="54635" y="2344318"/>
                </a:lnTo>
                <a:lnTo>
                  <a:pt x="63322" y="2348217"/>
                </a:lnTo>
                <a:lnTo>
                  <a:pt x="78930" y="2313457"/>
                </a:lnTo>
                <a:close/>
              </a:path>
              <a:path w="2484754" h="2472054">
                <a:moveTo>
                  <a:pt x="88150" y="1299070"/>
                </a:moveTo>
                <a:lnTo>
                  <a:pt x="58775" y="1274800"/>
                </a:lnTo>
                <a:lnTo>
                  <a:pt x="52717" y="1282141"/>
                </a:lnTo>
                <a:lnTo>
                  <a:pt x="82092" y="1306410"/>
                </a:lnTo>
                <a:lnTo>
                  <a:pt x="88150" y="1299070"/>
                </a:lnTo>
                <a:close/>
              </a:path>
              <a:path w="2484754" h="2472054">
                <a:moveTo>
                  <a:pt x="88353" y="1173213"/>
                </a:moveTo>
                <a:lnTo>
                  <a:pt x="82308" y="1165860"/>
                </a:lnTo>
                <a:lnTo>
                  <a:pt x="52857" y="1190028"/>
                </a:lnTo>
                <a:lnTo>
                  <a:pt x="58902" y="1197394"/>
                </a:lnTo>
                <a:lnTo>
                  <a:pt x="88353" y="1173213"/>
                </a:lnTo>
                <a:close/>
              </a:path>
              <a:path w="2484754" h="2472054">
                <a:moveTo>
                  <a:pt x="97180" y="52908"/>
                </a:moveTo>
                <a:lnTo>
                  <a:pt x="64300" y="33667"/>
                </a:lnTo>
                <a:lnTo>
                  <a:pt x="59486" y="41884"/>
                </a:lnTo>
                <a:lnTo>
                  <a:pt x="92379" y="61125"/>
                </a:lnTo>
                <a:lnTo>
                  <a:pt x="97180" y="52908"/>
                </a:lnTo>
                <a:close/>
              </a:path>
              <a:path w="2484754" h="2472054">
                <a:moveTo>
                  <a:pt x="97383" y="2419477"/>
                </a:moveTo>
                <a:lnTo>
                  <a:pt x="92595" y="2411234"/>
                </a:lnTo>
                <a:lnTo>
                  <a:pt x="59639" y="2430348"/>
                </a:lnTo>
                <a:lnTo>
                  <a:pt x="64414" y="2438590"/>
                </a:lnTo>
                <a:lnTo>
                  <a:pt x="97383" y="2419477"/>
                </a:lnTo>
                <a:close/>
              </a:path>
              <a:path w="2484754" h="2472054">
                <a:moveTo>
                  <a:pt x="106057" y="219468"/>
                </a:moveTo>
                <a:lnTo>
                  <a:pt x="90474" y="184696"/>
                </a:lnTo>
                <a:lnTo>
                  <a:pt x="81788" y="188595"/>
                </a:lnTo>
                <a:lnTo>
                  <a:pt x="97358" y="223367"/>
                </a:lnTo>
                <a:lnTo>
                  <a:pt x="106057" y="219468"/>
                </a:lnTo>
                <a:close/>
              </a:path>
              <a:path w="2484754" h="2472054">
                <a:moveTo>
                  <a:pt x="106248" y="2252637"/>
                </a:moveTo>
                <a:lnTo>
                  <a:pt x="97561" y="2248738"/>
                </a:lnTo>
                <a:lnTo>
                  <a:pt x="81953" y="2283485"/>
                </a:lnTo>
                <a:lnTo>
                  <a:pt x="90639" y="2287397"/>
                </a:lnTo>
                <a:lnTo>
                  <a:pt x="106248" y="2252637"/>
                </a:lnTo>
                <a:close/>
              </a:path>
              <a:path w="2484754" h="2472054">
                <a:moveTo>
                  <a:pt x="133324" y="280314"/>
                </a:moveTo>
                <a:lnTo>
                  <a:pt x="117741" y="245541"/>
                </a:lnTo>
                <a:lnTo>
                  <a:pt x="109042" y="249440"/>
                </a:lnTo>
                <a:lnTo>
                  <a:pt x="124625" y="284213"/>
                </a:lnTo>
                <a:lnTo>
                  <a:pt x="133324" y="280314"/>
                </a:lnTo>
                <a:close/>
              </a:path>
              <a:path w="2484754" h="2472054">
                <a:moveTo>
                  <a:pt x="133565" y="2191816"/>
                </a:moveTo>
                <a:lnTo>
                  <a:pt x="124879" y="2187918"/>
                </a:lnTo>
                <a:lnTo>
                  <a:pt x="109270" y="2222665"/>
                </a:lnTo>
                <a:lnTo>
                  <a:pt x="117957" y="2226564"/>
                </a:lnTo>
                <a:lnTo>
                  <a:pt x="133565" y="2191816"/>
                </a:lnTo>
                <a:close/>
              </a:path>
              <a:path w="2484754" h="2472054">
                <a:moveTo>
                  <a:pt x="139560" y="1341526"/>
                </a:moveTo>
                <a:lnTo>
                  <a:pt x="110185" y="1317269"/>
                </a:lnTo>
                <a:lnTo>
                  <a:pt x="104114" y="1324610"/>
                </a:lnTo>
                <a:lnTo>
                  <a:pt x="133489" y="1348867"/>
                </a:lnTo>
                <a:lnTo>
                  <a:pt x="139560" y="1341526"/>
                </a:lnTo>
                <a:close/>
              </a:path>
              <a:path w="2484754" h="2472054">
                <a:moveTo>
                  <a:pt x="139890" y="1130922"/>
                </a:moveTo>
                <a:lnTo>
                  <a:pt x="133845" y="1123556"/>
                </a:lnTo>
                <a:lnTo>
                  <a:pt x="104394" y="1147724"/>
                </a:lnTo>
                <a:lnTo>
                  <a:pt x="110439" y="1155090"/>
                </a:lnTo>
                <a:lnTo>
                  <a:pt x="139890" y="1130922"/>
                </a:lnTo>
                <a:close/>
              </a:path>
              <a:path w="2484754" h="2472054">
                <a:moveTo>
                  <a:pt x="154736" y="86575"/>
                </a:moveTo>
                <a:lnTo>
                  <a:pt x="121843" y="67335"/>
                </a:lnTo>
                <a:lnTo>
                  <a:pt x="117043" y="75552"/>
                </a:lnTo>
                <a:lnTo>
                  <a:pt x="149923" y="94792"/>
                </a:lnTo>
                <a:lnTo>
                  <a:pt x="154736" y="86575"/>
                </a:lnTo>
                <a:close/>
              </a:path>
              <a:path w="2484754" h="2472054">
                <a:moveTo>
                  <a:pt x="155067" y="2386038"/>
                </a:moveTo>
                <a:lnTo>
                  <a:pt x="150279" y="2377795"/>
                </a:lnTo>
                <a:lnTo>
                  <a:pt x="117322" y="2396909"/>
                </a:lnTo>
                <a:lnTo>
                  <a:pt x="122097" y="2405151"/>
                </a:lnTo>
                <a:lnTo>
                  <a:pt x="155067" y="2386038"/>
                </a:lnTo>
                <a:close/>
              </a:path>
              <a:path w="2484754" h="2472054">
                <a:moveTo>
                  <a:pt x="160578" y="341160"/>
                </a:moveTo>
                <a:lnTo>
                  <a:pt x="145008" y="306387"/>
                </a:lnTo>
                <a:lnTo>
                  <a:pt x="136309" y="310286"/>
                </a:lnTo>
                <a:lnTo>
                  <a:pt x="151892" y="345059"/>
                </a:lnTo>
                <a:lnTo>
                  <a:pt x="160578" y="341160"/>
                </a:lnTo>
                <a:close/>
              </a:path>
              <a:path w="2484754" h="2472054">
                <a:moveTo>
                  <a:pt x="160883" y="2130996"/>
                </a:moveTo>
                <a:lnTo>
                  <a:pt x="152196" y="2127085"/>
                </a:lnTo>
                <a:lnTo>
                  <a:pt x="136588" y="2161844"/>
                </a:lnTo>
                <a:lnTo>
                  <a:pt x="145275" y="2165743"/>
                </a:lnTo>
                <a:lnTo>
                  <a:pt x="160883" y="2130996"/>
                </a:lnTo>
                <a:close/>
              </a:path>
              <a:path w="2484754" h="2472054">
                <a:moveTo>
                  <a:pt x="187845" y="402005"/>
                </a:moveTo>
                <a:lnTo>
                  <a:pt x="172262" y="367245"/>
                </a:lnTo>
                <a:lnTo>
                  <a:pt x="163576" y="371132"/>
                </a:lnTo>
                <a:lnTo>
                  <a:pt x="179146" y="405904"/>
                </a:lnTo>
                <a:lnTo>
                  <a:pt x="187845" y="402005"/>
                </a:lnTo>
                <a:close/>
              </a:path>
              <a:path w="2484754" h="2472054">
                <a:moveTo>
                  <a:pt x="188201" y="2070176"/>
                </a:moveTo>
                <a:lnTo>
                  <a:pt x="179514" y="2066264"/>
                </a:lnTo>
                <a:lnTo>
                  <a:pt x="163906" y="2101024"/>
                </a:lnTo>
                <a:lnTo>
                  <a:pt x="172593" y="2104923"/>
                </a:lnTo>
                <a:lnTo>
                  <a:pt x="188201" y="2070176"/>
                </a:lnTo>
                <a:close/>
              </a:path>
              <a:path w="2484754" h="2472054">
                <a:moveTo>
                  <a:pt x="190957" y="1383995"/>
                </a:moveTo>
                <a:lnTo>
                  <a:pt x="161594" y="1359725"/>
                </a:lnTo>
                <a:lnTo>
                  <a:pt x="155524" y="1367066"/>
                </a:lnTo>
                <a:lnTo>
                  <a:pt x="184899" y="1391335"/>
                </a:lnTo>
                <a:lnTo>
                  <a:pt x="190957" y="1383995"/>
                </a:lnTo>
                <a:close/>
              </a:path>
              <a:path w="2484754" h="2472054">
                <a:moveTo>
                  <a:pt x="191427" y="1088618"/>
                </a:moveTo>
                <a:lnTo>
                  <a:pt x="185394" y="1081252"/>
                </a:lnTo>
                <a:lnTo>
                  <a:pt x="155943" y="1105420"/>
                </a:lnTo>
                <a:lnTo>
                  <a:pt x="161975" y="1112786"/>
                </a:lnTo>
                <a:lnTo>
                  <a:pt x="191427" y="1088618"/>
                </a:lnTo>
                <a:close/>
              </a:path>
              <a:path w="2484754" h="2472054">
                <a:moveTo>
                  <a:pt x="212280" y="120243"/>
                </a:moveTo>
                <a:lnTo>
                  <a:pt x="179400" y="101003"/>
                </a:lnTo>
                <a:lnTo>
                  <a:pt x="174586" y="109232"/>
                </a:lnTo>
                <a:lnTo>
                  <a:pt x="207467" y="128460"/>
                </a:lnTo>
                <a:lnTo>
                  <a:pt x="212280" y="120243"/>
                </a:lnTo>
                <a:close/>
              </a:path>
              <a:path w="2484754" h="2472054">
                <a:moveTo>
                  <a:pt x="212750" y="2352598"/>
                </a:moveTo>
                <a:lnTo>
                  <a:pt x="207962" y="2344356"/>
                </a:lnTo>
                <a:lnTo>
                  <a:pt x="175006" y="2363470"/>
                </a:lnTo>
                <a:lnTo>
                  <a:pt x="179781" y="2371712"/>
                </a:lnTo>
                <a:lnTo>
                  <a:pt x="212750" y="2352598"/>
                </a:lnTo>
                <a:close/>
              </a:path>
              <a:path w="2484754" h="2472054">
                <a:moveTo>
                  <a:pt x="215099" y="462851"/>
                </a:moveTo>
                <a:lnTo>
                  <a:pt x="199529" y="428091"/>
                </a:lnTo>
                <a:lnTo>
                  <a:pt x="190830" y="431977"/>
                </a:lnTo>
                <a:lnTo>
                  <a:pt x="206413" y="466750"/>
                </a:lnTo>
                <a:lnTo>
                  <a:pt x="215099" y="462851"/>
                </a:lnTo>
                <a:close/>
              </a:path>
              <a:path w="2484754" h="2472054">
                <a:moveTo>
                  <a:pt x="215519" y="2009343"/>
                </a:moveTo>
                <a:lnTo>
                  <a:pt x="206832" y="2005444"/>
                </a:lnTo>
                <a:lnTo>
                  <a:pt x="191223" y="2040204"/>
                </a:lnTo>
                <a:lnTo>
                  <a:pt x="199910" y="2044103"/>
                </a:lnTo>
                <a:lnTo>
                  <a:pt x="215519" y="2009343"/>
                </a:lnTo>
                <a:close/>
              </a:path>
              <a:path w="2484754" h="2472054">
                <a:moveTo>
                  <a:pt x="242366" y="1426451"/>
                </a:moveTo>
                <a:lnTo>
                  <a:pt x="212991" y="1402194"/>
                </a:lnTo>
                <a:lnTo>
                  <a:pt x="206921" y="1409534"/>
                </a:lnTo>
                <a:lnTo>
                  <a:pt x="236296" y="1433804"/>
                </a:lnTo>
                <a:lnTo>
                  <a:pt x="242366" y="1426451"/>
                </a:lnTo>
                <a:close/>
              </a:path>
              <a:path w="2484754" h="2472054">
                <a:moveTo>
                  <a:pt x="242366" y="523697"/>
                </a:moveTo>
                <a:lnTo>
                  <a:pt x="226783" y="488937"/>
                </a:lnTo>
                <a:lnTo>
                  <a:pt x="218097" y="492823"/>
                </a:lnTo>
                <a:lnTo>
                  <a:pt x="233680" y="527596"/>
                </a:lnTo>
                <a:lnTo>
                  <a:pt x="242366" y="523697"/>
                </a:lnTo>
                <a:close/>
              </a:path>
              <a:path w="2484754" h="2472054">
                <a:moveTo>
                  <a:pt x="242836" y="1948522"/>
                </a:moveTo>
                <a:lnTo>
                  <a:pt x="234149" y="1944624"/>
                </a:lnTo>
                <a:lnTo>
                  <a:pt x="218528" y="1979383"/>
                </a:lnTo>
                <a:lnTo>
                  <a:pt x="227228" y="1983282"/>
                </a:lnTo>
                <a:lnTo>
                  <a:pt x="242836" y="1948522"/>
                </a:lnTo>
                <a:close/>
              </a:path>
              <a:path w="2484754" h="2472054">
                <a:moveTo>
                  <a:pt x="242976" y="1046314"/>
                </a:moveTo>
                <a:lnTo>
                  <a:pt x="236931" y="1038948"/>
                </a:lnTo>
                <a:lnTo>
                  <a:pt x="207479" y="1063129"/>
                </a:lnTo>
                <a:lnTo>
                  <a:pt x="213525" y="1070483"/>
                </a:lnTo>
                <a:lnTo>
                  <a:pt x="242976" y="1046314"/>
                </a:lnTo>
                <a:close/>
              </a:path>
              <a:path w="2484754" h="2472054">
                <a:moveTo>
                  <a:pt x="269633" y="584555"/>
                </a:moveTo>
                <a:lnTo>
                  <a:pt x="254050" y="549783"/>
                </a:lnTo>
                <a:lnTo>
                  <a:pt x="245364" y="553669"/>
                </a:lnTo>
                <a:lnTo>
                  <a:pt x="260934" y="588441"/>
                </a:lnTo>
                <a:lnTo>
                  <a:pt x="269633" y="584555"/>
                </a:lnTo>
                <a:close/>
              </a:path>
              <a:path w="2484754" h="2472054">
                <a:moveTo>
                  <a:pt x="269836" y="153911"/>
                </a:moveTo>
                <a:lnTo>
                  <a:pt x="236943" y="134670"/>
                </a:lnTo>
                <a:lnTo>
                  <a:pt x="232130" y="142900"/>
                </a:lnTo>
                <a:lnTo>
                  <a:pt x="265023" y="162140"/>
                </a:lnTo>
                <a:lnTo>
                  <a:pt x="269836" y="153911"/>
                </a:lnTo>
                <a:close/>
              </a:path>
              <a:path w="2484754" h="2472054">
                <a:moveTo>
                  <a:pt x="270154" y="1887702"/>
                </a:moveTo>
                <a:lnTo>
                  <a:pt x="261454" y="1883803"/>
                </a:lnTo>
                <a:lnTo>
                  <a:pt x="245846" y="1918550"/>
                </a:lnTo>
                <a:lnTo>
                  <a:pt x="254546" y="1922462"/>
                </a:lnTo>
                <a:lnTo>
                  <a:pt x="270154" y="1887702"/>
                </a:lnTo>
                <a:close/>
              </a:path>
              <a:path w="2484754" h="2472054">
                <a:moveTo>
                  <a:pt x="270421" y="2319159"/>
                </a:moveTo>
                <a:lnTo>
                  <a:pt x="265645" y="2310917"/>
                </a:lnTo>
                <a:lnTo>
                  <a:pt x="232689" y="2330031"/>
                </a:lnTo>
                <a:lnTo>
                  <a:pt x="237464" y="2338273"/>
                </a:lnTo>
                <a:lnTo>
                  <a:pt x="270421" y="2319159"/>
                </a:lnTo>
                <a:close/>
              </a:path>
              <a:path w="2484754" h="2472054">
                <a:moveTo>
                  <a:pt x="293776" y="1468920"/>
                </a:moveTo>
                <a:lnTo>
                  <a:pt x="264401" y="1444650"/>
                </a:lnTo>
                <a:lnTo>
                  <a:pt x="258330" y="1452003"/>
                </a:lnTo>
                <a:lnTo>
                  <a:pt x="287705" y="1476260"/>
                </a:lnTo>
                <a:lnTo>
                  <a:pt x="293776" y="1468920"/>
                </a:lnTo>
                <a:close/>
              </a:path>
              <a:path w="2484754" h="2472054">
                <a:moveTo>
                  <a:pt x="294513" y="1004011"/>
                </a:moveTo>
                <a:lnTo>
                  <a:pt x="288467" y="996657"/>
                </a:lnTo>
                <a:lnTo>
                  <a:pt x="259016" y="1020826"/>
                </a:lnTo>
                <a:lnTo>
                  <a:pt x="265061" y="1028192"/>
                </a:lnTo>
                <a:lnTo>
                  <a:pt x="294513" y="1004011"/>
                </a:lnTo>
                <a:close/>
              </a:path>
              <a:path w="2484754" h="2472054">
                <a:moveTo>
                  <a:pt x="296887" y="645401"/>
                </a:moveTo>
                <a:lnTo>
                  <a:pt x="281317" y="610628"/>
                </a:lnTo>
                <a:lnTo>
                  <a:pt x="272618" y="614527"/>
                </a:lnTo>
                <a:lnTo>
                  <a:pt x="288201" y="649287"/>
                </a:lnTo>
                <a:lnTo>
                  <a:pt x="296887" y="645401"/>
                </a:lnTo>
                <a:close/>
              </a:path>
              <a:path w="2484754" h="2472054">
                <a:moveTo>
                  <a:pt x="297472" y="1826882"/>
                </a:moveTo>
                <a:lnTo>
                  <a:pt x="288772" y="1822983"/>
                </a:lnTo>
                <a:lnTo>
                  <a:pt x="273164" y="1857730"/>
                </a:lnTo>
                <a:lnTo>
                  <a:pt x="281851" y="1861642"/>
                </a:lnTo>
                <a:lnTo>
                  <a:pt x="297472" y="1826882"/>
                </a:lnTo>
                <a:close/>
              </a:path>
              <a:path w="2484754" h="2472054">
                <a:moveTo>
                  <a:pt x="324154" y="706247"/>
                </a:moveTo>
                <a:lnTo>
                  <a:pt x="308571" y="671474"/>
                </a:lnTo>
                <a:lnTo>
                  <a:pt x="299885" y="675373"/>
                </a:lnTo>
                <a:lnTo>
                  <a:pt x="315468" y="710133"/>
                </a:lnTo>
                <a:lnTo>
                  <a:pt x="324154" y="706247"/>
                </a:lnTo>
                <a:close/>
              </a:path>
              <a:path w="2484754" h="2472054">
                <a:moveTo>
                  <a:pt x="324789" y="1766062"/>
                </a:moveTo>
                <a:lnTo>
                  <a:pt x="316090" y="1762150"/>
                </a:lnTo>
                <a:lnTo>
                  <a:pt x="300482" y="1796910"/>
                </a:lnTo>
                <a:lnTo>
                  <a:pt x="309168" y="1800809"/>
                </a:lnTo>
                <a:lnTo>
                  <a:pt x="324789" y="1766062"/>
                </a:lnTo>
                <a:close/>
              </a:path>
              <a:path w="2484754" h="2472054">
                <a:moveTo>
                  <a:pt x="327380" y="187579"/>
                </a:moveTo>
                <a:lnTo>
                  <a:pt x="294500" y="168338"/>
                </a:lnTo>
                <a:lnTo>
                  <a:pt x="289687" y="176568"/>
                </a:lnTo>
                <a:lnTo>
                  <a:pt x="322567" y="195808"/>
                </a:lnTo>
                <a:lnTo>
                  <a:pt x="327380" y="187579"/>
                </a:lnTo>
                <a:close/>
              </a:path>
              <a:path w="2484754" h="2472054">
                <a:moveTo>
                  <a:pt x="328104" y="2285720"/>
                </a:moveTo>
                <a:lnTo>
                  <a:pt x="323329" y="2277478"/>
                </a:lnTo>
                <a:lnTo>
                  <a:pt x="290372" y="2296591"/>
                </a:lnTo>
                <a:lnTo>
                  <a:pt x="295148" y="2304834"/>
                </a:lnTo>
                <a:lnTo>
                  <a:pt x="328104" y="2285720"/>
                </a:lnTo>
                <a:close/>
              </a:path>
              <a:path w="2484754" h="2472054">
                <a:moveTo>
                  <a:pt x="345173" y="1511388"/>
                </a:moveTo>
                <a:lnTo>
                  <a:pt x="315798" y="1487119"/>
                </a:lnTo>
                <a:lnTo>
                  <a:pt x="309740" y="1494459"/>
                </a:lnTo>
                <a:lnTo>
                  <a:pt x="339102" y="1518729"/>
                </a:lnTo>
                <a:lnTo>
                  <a:pt x="345173" y="1511388"/>
                </a:lnTo>
                <a:close/>
              </a:path>
              <a:path w="2484754" h="2472054">
                <a:moveTo>
                  <a:pt x="346049" y="961720"/>
                </a:moveTo>
                <a:lnTo>
                  <a:pt x="340004" y="954354"/>
                </a:lnTo>
                <a:lnTo>
                  <a:pt x="310553" y="978522"/>
                </a:lnTo>
                <a:lnTo>
                  <a:pt x="316598" y="985888"/>
                </a:lnTo>
                <a:lnTo>
                  <a:pt x="346049" y="961720"/>
                </a:lnTo>
                <a:close/>
              </a:path>
              <a:path w="2484754" h="2472054">
                <a:moveTo>
                  <a:pt x="351421" y="767092"/>
                </a:moveTo>
                <a:lnTo>
                  <a:pt x="335838" y="732320"/>
                </a:lnTo>
                <a:lnTo>
                  <a:pt x="327152" y="736219"/>
                </a:lnTo>
                <a:lnTo>
                  <a:pt x="342722" y="770978"/>
                </a:lnTo>
                <a:lnTo>
                  <a:pt x="351421" y="767092"/>
                </a:lnTo>
                <a:close/>
              </a:path>
              <a:path w="2484754" h="2472054">
                <a:moveTo>
                  <a:pt x="352094" y="1705241"/>
                </a:moveTo>
                <a:lnTo>
                  <a:pt x="343408" y="1701330"/>
                </a:lnTo>
                <a:lnTo>
                  <a:pt x="327799" y="1736090"/>
                </a:lnTo>
                <a:lnTo>
                  <a:pt x="336486" y="1739988"/>
                </a:lnTo>
                <a:lnTo>
                  <a:pt x="352094" y="1705241"/>
                </a:lnTo>
                <a:close/>
              </a:path>
              <a:path w="2484754" h="2472054">
                <a:moveTo>
                  <a:pt x="378675" y="827938"/>
                </a:moveTo>
                <a:lnTo>
                  <a:pt x="363105" y="793165"/>
                </a:lnTo>
                <a:lnTo>
                  <a:pt x="354406" y="797064"/>
                </a:lnTo>
                <a:lnTo>
                  <a:pt x="369989" y="831824"/>
                </a:lnTo>
                <a:lnTo>
                  <a:pt x="378675" y="827938"/>
                </a:lnTo>
                <a:close/>
              </a:path>
              <a:path w="2484754" h="2472054">
                <a:moveTo>
                  <a:pt x="379412" y="1644408"/>
                </a:moveTo>
                <a:lnTo>
                  <a:pt x="370725" y="1640509"/>
                </a:lnTo>
                <a:lnTo>
                  <a:pt x="355117" y="1675269"/>
                </a:lnTo>
                <a:lnTo>
                  <a:pt x="363804" y="1679168"/>
                </a:lnTo>
                <a:lnTo>
                  <a:pt x="379412" y="1644408"/>
                </a:lnTo>
                <a:close/>
              </a:path>
              <a:path w="2484754" h="2472054">
                <a:moveTo>
                  <a:pt x="384937" y="221246"/>
                </a:moveTo>
                <a:lnTo>
                  <a:pt x="352044" y="202018"/>
                </a:lnTo>
                <a:lnTo>
                  <a:pt x="347230" y="210235"/>
                </a:lnTo>
                <a:lnTo>
                  <a:pt x="380123" y="229476"/>
                </a:lnTo>
                <a:lnTo>
                  <a:pt x="384937" y="221246"/>
                </a:lnTo>
                <a:close/>
              </a:path>
              <a:path w="2484754" h="2472054">
                <a:moveTo>
                  <a:pt x="385787" y="2252281"/>
                </a:moveTo>
                <a:lnTo>
                  <a:pt x="381012" y="2244039"/>
                </a:lnTo>
                <a:lnTo>
                  <a:pt x="348056" y="2263152"/>
                </a:lnTo>
                <a:lnTo>
                  <a:pt x="352831" y="2271395"/>
                </a:lnTo>
                <a:lnTo>
                  <a:pt x="385787" y="2252281"/>
                </a:lnTo>
                <a:close/>
              </a:path>
              <a:path w="2484754" h="2472054">
                <a:moveTo>
                  <a:pt x="396582" y="1553845"/>
                </a:moveTo>
                <a:lnTo>
                  <a:pt x="367207" y="1529588"/>
                </a:lnTo>
                <a:lnTo>
                  <a:pt x="361137" y="1536928"/>
                </a:lnTo>
                <a:lnTo>
                  <a:pt x="390512" y="1561198"/>
                </a:lnTo>
                <a:lnTo>
                  <a:pt x="396582" y="1553845"/>
                </a:lnTo>
                <a:close/>
              </a:path>
              <a:path w="2484754" h="2472054">
                <a:moveTo>
                  <a:pt x="397586" y="919416"/>
                </a:moveTo>
                <a:lnTo>
                  <a:pt x="391541" y="912050"/>
                </a:lnTo>
                <a:lnTo>
                  <a:pt x="362089" y="936218"/>
                </a:lnTo>
                <a:lnTo>
                  <a:pt x="368134" y="943584"/>
                </a:lnTo>
                <a:lnTo>
                  <a:pt x="397586" y="919416"/>
                </a:lnTo>
                <a:close/>
              </a:path>
              <a:path w="2484754" h="2472054">
                <a:moveTo>
                  <a:pt x="405942" y="888784"/>
                </a:moveTo>
                <a:lnTo>
                  <a:pt x="390359" y="854011"/>
                </a:lnTo>
                <a:lnTo>
                  <a:pt x="381673" y="857910"/>
                </a:lnTo>
                <a:lnTo>
                  <a:pt x="397256" y="892683"/>
                </a:lnTo>
                <a:lnTo>
                  <a:pt x="405942" y="888784"/>
                </a:lnTo>
                <a:close/>
              </a:path>
              <a:path w="2484754" h="2472054">
                <a:moveTo>
                  <a:pt x="406730" y="1583588"/>
                </a:moveTo>
                <a:lnTo>
                  <a:pt x="398043" y="1579689"/>
                </a:lnTo>
                <a:lnTo>
                  <a:pt x="382435" y="1614449"/>
                </a:lnTo>
                <a:lnTo>
                  <a:pt x="391121" y="1618348"/>
                </a:lnTo>
                <a:lnTo>
                  <a:pt x="406730" y="1583588"/>
                </a:lnTo>
                <a:close/>
              </a:path>
              <a:path w="2484754" h="2472054">
                <a:moveTo>
                  <a:pt x="433209" y="949629"/>
                </a:moveTo>
                <a:lnTo>
                  <a:pt x="417626" y="914857"/>
                </a:lnTo>
                <a:lnTo>
                  <a:pt x="408940" y="918756"/>
                </a:lnTo>
                <a:lnTo>
                  <a:pt x="424510" y="953528"/>
                </a:lnTo>
                <a:lnTo>
                  <a:pt x="433209" y="949629"/>
                </a:lnTo>
                <a:close/>
              </a:path>
              <a:path w="2484754" h="2472054">
                <a:moveTo>
                  <a:pt x="434047" y="1522768"/>
                </a:moveTo>
                <a:lnTo>
                  <a:pt x="425361" y="1518869"/>
                </a:lnTo>
                <a:lnTo>
                  <a:pt x="409752" y="1553629"/>
                </a:lnTo>
                <a:lnTo>
                  <a:pt x="418439" y="1557528"/>
                </a:lnTo>
                <a:lnTo>
                  <a:pt x="434047" y="1522768"/>
                </a:lnTo>
                <a:close/>
              </a:path>
              <a:path w="2484754" h="2472054">
                <a:moveTo>
                  <a:pt x="442480" y="254927"/>
                </a:moveTo>
                <a:lnTo>
                  <a:pt x="409600" y="235686"/>
                </a:lnTo>
                <a:lnTo>
                  <a:pt x="404787" y="243903"/>
                </a:lnTo>
                <a:lnTo>
                  <a:pt x="437667" y="263144"/>
                </a:lnTo>
                <a:lnTo>
                  <a:pt x="442480" y="254927"/>
                </a:lnTo>
                <a:close/>
              </a:path>
              <a:path w="2484754" h="2472054">
                <a:moveTo>
                  <a:pt x="443471" y="2218842"/>
                </a:moveTo>
                <a:lnTo>
                  <a:pt x="438696" y="2210600"/>
                </a:lnTo>
                <a:lnTo>
                  <a:pt x="405739" y="2229713"/>
                </a:lnTo>
                <a:lnTo>
                  <a:pt x="410514" y="2237956"/>
                </a:lnTo>
                <a:lnTo>
                  <a:pt x="443471" y="2218842"/>
                </a:lnTo>
                <a:close/>
              </a:path>
              <a:path w="2484754" h="2472054">
                <a:moveTo>
                  <a:pt x="447979" y="1596313"/>
                </a:moveTo>
                <a:lnTo>
                  <a:pt x="418604" y="1572044"/>
                </a:lnTo>
                <a:lnTo>
                  <a:pt x="412546" y="1579397"/>
                </a:lnTo>
                <a:lnTo>
                  <a:pt x="441909" y="1603654"/>
                </a:lnTo>
                <a:lnTo>
                  <a:pt x="447979" y="1596313"/>
                </a:lnTo>
                <a:close/>
              </a:path>
              <a:path w="2484754" h="2472054">
                <a:moveTo>
                  <a:pt x="449122" y="877112"/>
                </a:moveTo>
                <a:lnTo>
                  <a:pt x="443077" y="869746"/>
                </a:lnTo>
                <a:lnTo>
                  <a:pt x="413639" y="893927"/>
                </a:lnTo>
                <a:lnTo>
                  <a:pt x="419671" y="901280"/>
                </a:lnTo>
                <a:lnTo>
                  <a:pt x="449122" y="877112"/>
                </a:lnTo>
                <a:close/>
              </a:path>
              <a:path w="2484754" h="2472054">
                <a:moveTo>
                  <a:pt x="460463" y="1010475"/>
                </a:moveTo>
                <a:lnTo>
                  <a:pt x="444893" y="975702"/>
                </a:lnTo>
                <a:lnTo>
                  <a:pt x="436194" y="979601"/>
                </a:lnTo>
                <a:lnTo>
                  <a:pt x="451777" y="1014374"/>
                </a:lnTo>
                <a:lnTo>
                  <a:pt x="460463" y="1010475"/>
                </a:lnTo>
                <a:close/>
              </a:path>
              <a:path w="2484754" h="2472054">
                <a:moveTo>
                  <a:pt x="461365" y="1461947"/>
                </a:moveTo>
                <a:lnTo>
                  <a:pt x="452678" y="1458048"/>
                </a:lnTo>
                <a:lnTo>
                  <a:pt x="437070" y="1492796"/>
                </a:lnTo>
                <a:lnTo>
                  <a:pt x="445757" y="1496707"/>
                </a:lnTo>
                <a:lnTo>
                  <a:pt x="461365" y="1461947"/>
                </a:lnTo>
                <a:close/>
              </a:path>
              <a:path w="2484754" h="2472054">
                <a:moveTo>
                  <a:pt x="487730" y="1071321"/>
                </a:moveTo>
                <a:lnTo>
                  <a:pt x="472147" y="1036548"/>
                </a:lnTo>
                <a:lnTo>
                  <a:pt x="463461" y="1040447"/>
                </a:lnTo>
                <a:lnTo>
                  <a:pt x="479044" y="1075220"/>
                </a:lnTo>
                <a:lnTo>
                  <a:pt x="487730" y="1071321"/>
                </a:lnTo>
                <a:close/>
              </a:path>
              <a:path w="2484754" h="2472054">
                <a:moveTo>
                  <a:pt x="488683" y="1401127"/>
                </a:moveTo>
                <a:lnTo>
                  <a:pt x="479996" y="1397228"/>
                </a:lnTo>
                <a:lnTo>
                  <a:pt x="464388" y="1431975"/>
                </a:lnTo>
                <a:lnTo>
                  <a:pt x="473075" y="1435874"/>
                </a:lnTo>
                <a:lnTo>
                  <a:pt x="488683" y="1401127"/>
                </a:lnTo>
                <a:close/>
              </a:path>
              <a:path w="2484754" h="2472054">
                <a:moveTo>
                  <a:pt x="499389" y="1638782"/>
                </a:moveTo>
                <a:lnTo>
                  <a:pt x="470014" y="1614512"/>
                </a:lnTo>
                <a:lnTo>
                  <a:pt x="463943" y="1621853"/>
                </a:lnTo>
                <a:lnTo>
                  <a:pt x="493318" y="1646123"/>
                </a:lnTo>
                <a:lnTo>
                  <a:pt x="499389" y="1638782"/>
                </a:lnTo>
                <a:close/>
              </a:path>
              <a:path w="2484754" h="2472054">
                <a:moveTo>
                  <a:pt x="500024" y="288594"/>
                </a:moveTo>
                <a:lnTo>
                  <a:pt x="467144" y="269354"/>
                </a:lnTo>
                <a:lnTo>
                  <a:pt x="462330" y="277571"/>
                </a:lnTo>
                <a:lnTo>
                  <a:pt x="495223" y="296811"/>
                </a:lnTo>
                <a:lnTo>
                  <a:pt x="500024" y="288594"/>
                </a:lnTo>
                <a:close/>
              </a:path>
              <a:path w="2484754" h="2472054">
                <a:moveTo>
                  <a:pt x="500659" y="834821"/>
                </a:moveTo>
                <a:lnTo>
                  <a:pt x="494626" y="827455"/>
                </a:lnTo>
                <a:lnTo>
                  <a:pt x="465175" y="851623"/>
                </a:lnTo>
                <a:lnTo>
                  <a:pt x="471208" y="858989"/>
                </a:lnTo>
                <a:lnTo>
                  <a:pt x="500659" y="834821"/>
                </a:lnTo>
                <a:close/>
              </a:path>
              <a:path w="2484754" h="2472054">
                <a:moveTo>
                  <a:pt x="501154" y="2185403"/>
                </a:moveTo>
                <a:lnTo>
                  <a:pt x="496379" y="2177161"/>
                </a:lnTo>
                <a:lnTo>
                  <a:pt x="463423" y="2196274"/>
                </a:lnTo>
                <a:lnTo>
                  <a:pt x="468198" y="2204516"/>
                </a:lnTo>
                <a:lnTo>
                  <a:pt x="501154" y="2185403"/>
                </a:lnTo>
                <a:close/>
              </a:path>
              <a:path w="2484754" h="2472054">
                <a:moveTo>
                  <a:pt x="514997" y="1132166"/>
                </a:moveTo>
                <a:lnTo>
                  <a:pt x="499414" y="1097394"/>
                </a:lnTo>
                <a:lnTo>
                  <a:pt x="490728" y="1101293"/>
                </a:lnTo>
                <a:lnTo>
                  <a:pt x="506298" y="1136065"/>
                </a:lnTo>
                <a:lnTo>
                  <a:pt x="514997" y="1132166"/>
                </a:lnTo>
                <a:close/>
              </a:path>
              <a:path w="2484754" h="2472054">
                <a:moveTo>
                  <a:pt x="516001" y="1340307"/>
                </a:moveTo>
                <a:lnTo>
                  <a:pt x="507314" y="1336395"/>
                </a:lnTo>
                <a:lnTo>
                  <a:pt x="491705" y="1371155"/>
                </a:lnTo>
                <a:lnTo>
                  <a:pt x="500392" y="1375054"/>
                </a:lnTo>
                <a:lnTo>
                  <a:pt x="516001" y="1340307"/>
                </a:lnTo>
                <a:close/>
              </a:path>
              <a:path w="2484754" h="2472054">
                <a:moveTo>
                  <a:pt x="542251" y="1193012"/>
                </a:moveTo>
                <a:lnTo>
                  <a:pt x="526681" y="1158252"/>
                </a:lnTo>
                <a:lnTo>
                  <a:pt x="517982" y="1162138"/>
                </a:lnTo>
                <a:lnTo>
                  <a:pt x="533565" y="1196911"/>
                </a:lnTo>
                <a:lnTo>
                  <a:pt x="542251" y="1193012"/>
                </a:lnTo>
                <a:close/>
              </a:path>
              <a:path w="2484754" h="2472054">
                <a:moveTo>
                  <a:pt x="543318" y="1279486"/>
                </a:moveTo>
                <a:lnTo>
                  <a:pt x="534631" y="1275575"/>
                </a:lnTo>
                <a:lnTo>
                  <a:pt x="519023" y="1310335"/>
                </a:lnTo>
                <a:lnTo>
                  <a:pt x="527710" y="1314234"/>
                </a:lnTo>
                <a:lnTo>
                  <a:pt x="543318" y="1279486"/>
                </a:lnTo>
                <a:close/>
              </a:path>
              <a:path w="2484754" h="2472054">
                <a:moveTo>
                  <a:pt x="550786" y="1681238"/>
                </a:moveTo>
                <a:lnTo>
                  <a:pt x="521411" y="1656981"/>
                </a:lnTo>
                <a:lnTo>
                  <a:pt x="515353" y="1664322"/>
                </a:lnTo>
                <a:lnTo>
                  <a:pt x="544728" y="1688579"/>
                </a:lnTo>
                <a:lnTo>
                  <a:pt x="550786" y="1681238"/>
                </a:lnTo>
                <a:close/>
              </a:path>
              <a:path w="2484754" h="2472054">
                <a:moveTo>
                  <a:pt x="552208" y="792518"/>
                </a:moveTo>
                <a:lnTo>
                  <a:pt x="546163" y="785152"/>
                </a:lnTo>
                <a:lnTo>
                  <a:pt x="516712" y="809320"/>
                </a:lnTo>
                <a:lnTo>
                  <a:pt x="522757" y="816686"/>
                </a:lnTo>
                <a:lnTo>
                  <a:pt x="552208" y="792518"/>
                </a:lnTo>
                <a:close/>
              </a:path>
              <a:path w="2484754" h="2472054">
                <a:moveTo>
                  <a:pt x="557580" y="322262"/>
                </a:moveTo>
                <a:lnTo>
                  <a:pt x="524687" y="303022"/>
                </a:lnTo>
                <a:lnTo>
                  <a:pt x="519887" y="311238"/>
                </a:lnTo>
                <a:lnTo>
                  <a:pt x="552767" y="330479"/>
                </a:lnTo>
                <a:lnTo>
                  <a:pt x="557580" y="322262"/>
                </a:lnTo>
                <a:close/>
              </a:path>
              <a:path w="2484754" h="2472054">
                <a:moveTo>
                  <a:pt x="558838" y="2151964"/>
                </a:moveTo>
                <a:lnTo>
                  <a:pt x="554062" y="2143722"/>
                </a:lnTo>
                <a:lnTo>
                  <a:pt x="521106" y="2162835"/>
                </a:lnTo>
                <a:lnTo>
                  <a:pt x="525881" y="2171077"/>
                </a:lnTo>
                <a:lnTo>
                  <a:pt x="558838" y="2151964"/>
                </a:lnTo>
                <a:close/>
              </a:path>
              <a:path w="2484754" h="2472054">
                <a:moveTo>
                  <a:pt x="570636" y="1218653"/>
                </a:moveTo>
                <a:lnTo>
                  <a:pt x="561949" y="1214755"/>
                </a:lnTo>
                <a:lnTo>
                  <a:pt x="556958" y="1225867"/>
                </a:lnTo>
                <a:lnTo>
                  <a:pt x="553935" y="1219098"/>
                </a:lnTo>
                <a:lnTo>
                  <a:pt x="545249" y="1222984"/>
                </a:lnTo>
                <a:lnTo>
                  <a:pt x="551738" y="1237488"/>
                </a:lnTo>
                <a:lnTo>
                  <a:pt x="546341" y="1249514"/>
                </a:lnTo>
                <a:lnTo>
                  <a:pt x="555028" y="1253413"/>
                </a:lnTo>
                <a:lnTo>
                  <a:pt x="556945" y="1249133"/>
                </a:lnTo>
                <a:lnTo>
                  <a:pt x="560819" y="1257757"/>
                </a:lnTo>
                <a:lnTo>
                  <a:pt x="569518" y="1253858"/>
                </a:lnTo>
                <a:lnTo>
                  <a:pt x="562178" y="1237488"/>
                </a:lnTo>
                <a:lnTo>
                  <a:pt x="570636" y="1218653"/>
                </a:lnTo>
                <a:close/>
              </a:path>
              <a:path w="2484754" h="2472054">
                <a:moveTo>
                  <a:pt x="596785" y="1314704"/>
                </a:moveTo>
                <a:lnTo>
                  <a:pt x="581202" y="1279944"/>
                </a:lnTo>
                <a:lnTo>
                  <a:pt x="572503" y="1283830"/>
                </a:lnTo>
                <a:lnTo>
                  <a:pt x="588086" y="1318602"/>
                </a:lnTo>
                <a:lnTo>
                  <a:pt x="596785" y="1314704"/>
                </a:lnTo>
                <a:close/>
              </a:path>
              <a:path w="2484754" h="2472054">
                <a:moveTo>
                  <a:pt x="597954" y="1157833"/>
                </a:moveTo>
                <a:lnTo>
                  <a:pt x="589267" y="1153934"/>
                </a:lnTo>
                <a:lnTo>
                  <a:pt x="573659" y="1188694"/>
                </a:lnTo>
                <a:lnTo>
                  <a:pt x="582345" y="1192593"/>
                </a:lnTo>
                <a:lnTo>
                  <a:pt x="597954" y="1157833"/>
                </a:lnTo>
                <a:close/>
              </a:path>
              <a:path w="2484754" h="2472054">
                <a:moveTo>
                  <a:pt x="602195" y="1723707"/>
                </a:moveTo>
                <a:lnTo>
                  <a:pt x="572820" y="1699437"/>
                </a:lnTo>
                <a:lnTo>
                  <a:pt x="566750" y="1706778"/>
                </a:lnTo>
                <a:lnTo>
                  <a:pt x="596125" y="1731048"/>
                </a:lnTo>
                <a:lnTo>
                  <a:pt x="602195" y="1723707"/>
                </a:lnTo>
                <a:close/>
              </a:path>
              <a:path w="2484754" h="2472054">
                <a:moveTo>
                  <a:pt x="603745" y="750214"/>
                </a:moveTo>
                <a:lnTo>
                  <a:pt x="597700" y="742848"/>
                </a:lnTo>
                <a:lnTo>
                  <a:pt x="568248" y="767029"/>
                </a:lnTo>
                <a:lnTo>
                  <a:pt x="574294" y="774382"/>
                </a:lnTo>
                <a:lnTo>
                  <a:pt x="603745" y="750214"/>
                </a:lnTo>
                <a:close/>
              </a:path>
              <a:path w="2484754" h="2472054">
                <a:moveTo>
                  <a:pt x="615124" y="355930"/>
                </a:moveTo>
                <a:lnTo>
                  <a:pt x="582244" y="336689"/>
                </a:lnTo>
                <a:lnTo>
                  <a:pt x="577430" y="344906"/>
                </a:lnTo>
                <a:lnTo>
                  <a:pt x="610323" y="364147"/>
                </a:lnTo>
                <a:lnTo>
                  <a:pt x="615124" y="355930"/>
                </a:lnTo>
                <a:close/>
              </a:path>
              <a:path w="2484754" h="2472054">
                <a:moveTo>
                  <a:pt x="616521" y="2118525"/>
                </a:moveTo>
                <a:lnTo>
                  <a:pt x="611746" y="2110282"/>
                </a:lnTo>
                <a:lnTo>
                  <a:pt x="578789" y="2129396"/>
                </a:lnTo>
                <a:lnTo>
                  <a:pt x="583565" y="2137638"/>
                </a:lnTo>
                <a:lnTo>
                  <a:pt x="616521" y="2118525"/>
                </a:lnTo>
                <a:close/>
              </a:path>
              <a:path w="2484754" h="2472054">
                <a:moveTo>
                  <a:pt x="624039" y="1375549"/>
                </a:moveTo>
                <a:lnTo>
                  <a:pt x="608469" y="1340789"/>
                </a:lnTo>
                <a:lnTo>
                  <a:pt x="599770" y="1344676"/>
                </a:lnTo>
                <a:lnTo>
                  <a:pt x="615353" y="1379448"/>
                </a:lnTo>
                <a:lnTo>
                  <a:pt x="624039" y="1375549"/>
                </a:lnTo>
                <a:close/>
              </a:path>
              <a:path w="2484754" h="2472054">
                <a:moveTo>
                  <a:pt x="625271" y="1097013"/>
                </a:moveTo>
                <a:lnTo>
                  <a:pt x="616585" y="1093114"/>
                </a:lnTo>
                <a:lnTo>
                  <a:pt x="600976" y="1127861"/>
                </a:lnTo>
                <a:lnTo>
                  <a:pt x="609663" y="1131773"/>
                </a:lnTo>
                <a:lnTo>
                  <a:pt x="625271" y="1097013"/>
                </a:lnTo>
                <a:close/>
              </a:path>
              <a:path w="2484754" h="2472054">
                <a:moveTo>
                  <a:pt x="651306" y="1436408"/>
                </a:moveTo>
                <a:lnTo>
                  <a:pt x="635723" y="1401635"/>
                </a:lnTo>
                <a:lnTo>
                  <a:pt x="627037" y="1405521"/>
                </a:lnTo>
                <a:lnTo>
                  <a:pt x="642607" y="1440294"/>
                </a:lnTo>
                <a:lnTo>
                  <a:pt x="651306" y="1436408"/>
                </a:lnTo>
                <a:close/>
              </a:path>
              <a:path w="2484754" h="2472054">
                <a:moveTo>
                  <a:pt x="652589" y="1036193"/>
                </a:moveTo>
                <a:lnTo>
                  <a:pt x="643902" y="1032294"/>
                </a:lnTo>
                <a:lnTo>
                  <a:pt x="628281" y="1067041"/>
                </a:lnTo>
                <a:lnTo>
                  <a:pt x="636981" y="1070952"/>
                </a:lnTo>
                <a:lnTo>
                  <a:pt x="652589" y="1036193"/>
                </a:lnTo>
                <a:close/>
              </a:path>
              <a:path w="2484754" h="2472054">
                <a:moveTo>
                  <a:pt x="653592" y="1766176"/>
                </a:moveTo>
                <a:lnTo>
                  <a:pt x="624217" y="1741906"/>
                </a:lnTo>
                <a:lnTo>
                  <a:pt x="618159" y="1749247"/>
                </a:lnTo>
                <a:lnTo>
                  <a:pt x="647534" y="1773516"/>
                </a:lnTo>
                <a:lnTo>
                  <a:pt x="653592" y="1766176"/>
                </a:lnTo>
                <a:close/>
              </a:path>
              <a:path w="2484754" h="2472054">
                <a:moveTo>
                  <a:pt x="655281" y="707910"/>
                </a:moveTo>
                <a:lnTo>
                  <a:pt x="649236" y="700557"/>
                </a:lnTo>
                <a:lnTo>
                  <a:pt x="619785" y="724725"/>
                </a:lnTo>
                <a:lnTo>
                  <a:pt x="625830" y="732091"/>
                </a:lnTo>
                <a:lnTo>
                  <a:pt x="655281" y="707910"/>
                </a:lnTo>
                <a:close/>
              </a:path>
              <a:path w="2484754" h="2472054">
                <a:moveTo>
                  <a:pt x="672680" y="389597"/>
                </a:moveTo>
                <a:lnTo>
                  <a:pt x="639787" y="370357"/>
                </a:lnTo>
                <a:lnTo>
                  <a:pt x="634987" y="378587"/>
                </a:lnTo>
                <a:lnTo>
                  <a:pt x="667867" y="397814"/>
                </a:lnTo>
                <a:lnTo>
                  <a:pt x="672680" y="389597"/>
                </a:lnTo>
                <a:close/>
              </a:path>
              <a:path w="2484754" h="2472054">
                <a:moveTo>
                  <a:pt x="674204" y="2085086"/>
                </a:moveTo>
                <a:lnTo>
                  <a:pt x="669429" y="2076843"/>
                </a:lnTo>
                <a:lnTo>
                  <a:pt x="636473" y="2095957"/>
                </a:lnTo>
                <a:lnTo>
                  <a:pt x="641248" y="2104186"/>
                </a:lnTo>
                <a:lnTo>
                  <a:pt x="674204" y="2085086"/>
                </a:lnTo>
                <a:close/>
              </a:path>
              <a:path w="2484754" h="2472054">
                <a:moveTo>
                  <a:pt x="678573" y="1497253"/>
                </a:moveTo>
                <a:lnTo>
                  <a:pt x="662990" y="1462481"/>
                </a:lnTo>
                <a:lnTo>
                  <a:pt x="654291" y="1466380"/>
                </a:lnTo>
                <a:lnTo>
                  <a:pt x="669874" y="1501140"/>
                </a:lnTo>
                <a:lnTo>
                  <a:pt x="678573" y="1497253"/>
                </a:lnTo>
                <a:close/>
              </a:path>
              <a:path w="2484754" h="2472054">
                <a:moveTo>
                  <a:pt x="679907" y="975372"/>
                </a:moveTo>
                <a:lnTo>
                  <a:pt x="671220" y="971473"/>
                </a:lnTo>
                <a:lnTo>
                  <a:pt x="655599" y="1006221"/>
                </a:lnTo>
                <a:lnTo>
                  <a:pt x="664298" y="1010119"/>
                </a:lnTo>
                <a:lnTo>
                  <a:pt x="679907" y="975372"/>
                </a:lnTo>
                <a:close/>
              </a:path>
              <a:path w="2484754" h="2472054">
                <a:moveTo>
                  <a:pt x="705002" y="1808632"/>
                </a:moveTo>
                <a:lnTo>
                  <a:pt x="675627" y="1784362"/>
                </a:lnTo>
                <a:lnTo>
                  <a:pt x="669556" y="1791716"/>
                </a:lnTo>
                <a:lnTo>
                  <a:pt x="698931" y="1815973"/>
                </a:lnTo>
                <a:lnTo>
                  <a:pt x="705002" y="1808632"/>
                </a:lnTo>
                <a:close/>
              </a:path>
              <a:path w="2484754" h="2472054">
                <a:moveTo>
                  <a:pt x="705827" y="1558099"/>
                </a:moveTo>
                <a:lnTo>
                  <a:pt x="690257" y="1523326"/>
                </a:lnTo>
                <a:lnTo>
                  <a:pt x="681558" y="1527225"/>
                </a:lnTo>
                <a:lnTo>
                  <a:pt x="697141" y="1561985"/>
                </a:lnTo>
                <a:lnTo>
                  <a:pt x="705827" y="1558099"/>
                </a:lnTo>
                <a:close/>
              </a:path>
              <a:path w="2484754" h="2472054">
                <a:moveTo>
                  <a:pt x="706818" y="665619"/>
                </a:moveTo>
                <a:lnTo>
                  <a:pt x="700773" y="658253"/>
                </a:lnTo>
                <a:lnTo>
                  <a:pt x="671322" y="682421"/>
                </a:lnTo>
                <a:lnTo>
                  <a:pt x="677367" y="689787"/>
                </a:lnTo>
                <a:lnTo>
                  <a:pt x="706818" y="665619"/>
                </a:lnTo>
                <a:close/>
              </a:path>
              <a:path w="2484754" h="2472054">
                <a:moveTo>
                  <a:pt x="707224" y="914552"/>
                </a:moveTo>
                <a:lnTo>
                  <a:pt x="698525" y="910640"/>
                </a:lnTo>
                <a:lnTo>
                  <a:pt x="682917" y="945400"/>
                </a:lnTo>
                <a:lnTo>
                  <a:pt x="691616" y="949299"/>
                </a:lnTo>
                <a:lnTo>
                  <a:pt x="707224" y="914552"/>
                </a:lnTo>
                <a:close/>
              </a:path>
              <a:path w="2484754" h="2472054">
                <a:moveTo>
                  <a:pt x="730224" y="423265"/>
                </a:moveTo>
                <a:lnTo>
                  <a:pt x="697344" y="404025"/>
                </a:lnTo>
                <a:lnTo>
                  <a:pt x="692531" y="412254"/>
                </a:lnTo>
                <a:lnTo>
                  <a:pt x="725411" y="431495"/>
                </a:lnTo>
                <a:lnTo>
                  <a:pt x="730224" y="423265"/>
                </a:lnTo>
                <a:close/>
              </a:path>
              <a:path w="2484754" h="2472054">
                <a:moveTo>
                  <a:pt x="731888" y="2051646"/>
                </a:moveTo>
                <a:lnTo>
                  <a:pt x="727113" y="2043404"/>
                </a:lnTo>
                <a:lnTo>
                  <a:pt x="694156" y="2062518"/>
                </a:lnTo>
                <a:lnTo>
                  <a:pt x="698931" y="2070747"/>
                </a:lnTo>
                <a:lnTo>
                  <a:pt x="731888" y="2051646"/>
                </a:lnTo>
                <a:close/>
              </a:path>
              <a:path w="2484754" h="2472054">
                <a:moveTo>
                  <a:pt x="733094" y="1618945"/>
                </a:moveTo>
                <a:lnTo>
                  <a:pt x="717511" y="1584172"/>
                </a:lnTo>
                <a:lnTo>
                  <a:pt x="708825" y="1588071"/>
                </a:lnTo>
                <a:lnTo>
                  <a:pt x="724395" y="1622831"/>
                </a:lnTo>
                <a:lnTo>
                  <a:pt x="733094" y="1618945"/>
                </a:lnTo>
                <a:close/>
              </a:path>
              <a:path w="2484754" h="2472054">
                <a:moveTo>
                  <a:pt x="734542" y="853719"/>
                </a:moveTo>
                <a:lnTo>
                  <a:pt x="725843" y="849820"/>
                </a:lnTo>
                <a:lnTo>
                  <a:pt x="710234" y="884580"/>
                </a:lnTo>
                <a:lnTo>
                  <a:pt x="718921" y="888479"/>
                </a:lnTo>
                <a:lnTo>
                  <a:pt x="734542" y="853719"/>
                </a:lnTo>
                <a:close/>
              </a:path>
              <a:path w="2484754" h="2472054">
                <a:moveTo>
                  <a:pt x="756399" y="1851101"/>
                </a:moveTo>
                <a:lnTo>
                  <a:pt x="727036" y="1826831"/>
                </a:lnTo>
                <a:lnTo>
                  <a:pt x="720966" y="1834172"/>
                </a:lnTo>
                <a:lnTo>
                  <a:pt x="750341" y="1858441"/>
                </a:lnTo>
                <a:lnTo>
                  <a:pt x="756399" y="1851101"/>
                </a:lnTo>
                <a:close/>
              </a:path>
              <a:path w="2484754" h="2472054">
                <a:moveTo>
                  <a:pt x="758355" y="623316"/>
                </a:moveTo>
                <a:lnTo>
                  <a:pt x="752309" y="615950"/>
                </a:lnTo>
                <a:lnTo>
                  <a:pt x="722871" y="640118"/>
                </a:lnTo>
                <a:lnTo>
                  <a:pt x="728903" y="647484"/>
                </a:lnTo>
                <a:lnTo>
                  <a:pt x="758355" y="623316"/>
                </a:lnTo>
                <a:close/>
              </a:path>
              <a:path w="2484754" h="2472054">
                <a:moveTo>
                  <a:pt x="760349" y="1679790"/>
                </a:moveTo>
                <a:lnTo>
                  <a:pt x="744778" y="1645018"/>
                </a:lnTo>
                <a:lnTo>
                  <a:pt x="736079" y="1648917"/>
                </a:lnTo>
                <a:lnTo>
                  <a:pt x="751662" y="1683689"/>
                </a:lnTo>
                <a:lnTo>
                  <a:pt x="760349" y="1679790"/>
                </a:lnTo>
                <a:close/>
              </a:path>
              <a:path w="2484754" h="2472054">
                <a:moveTo>
                  <a:pt x="761860" y="792899"/>
                </a:moveTo>
                <a:lnTo>
                  <a:pt x="753160" y="789000"/>
                </a:lnTo>
                <a:lnTo>
                  <a:pt x="737552" y="823760"/>
                </a:lnTo>
                <a:lnTo>
                  <a:pt x="746239" y="827659"/>
                </a:lnTo>
                <a:lnTo>
                  <a:pt x="761860" y="792899"/>
                </a:lnTo>
                <a:close/>
              </a:path>
              <a:path w="2484754" h="2472054">
                <a:moveTo>
                  <a:pt x="787615" y="1740636"/>
                </a:moveTo>
                <a:lnTo>
                  <a:pt x="772033" y="1705864"/>
                </a:lnTo>
                <a:lnTo>
                  <a:pt x="763346" y="1709762"/>
                </a:lnTo>
                <a:lnTo>
                  <a:pt x="778929" y="1744535"/>
                </a:lnTo>
                <a:lnTo>
                  <a:pt x="787615" y="1740636"/>
                </a:lnTo>
                <a:close/>
              </a:path>
              <a:path w="2484754" h="2472054">
                <a:moveTo>
                  <a:pt x="787781" y="456933"/>
                </a:moveTo>
                <a:lnTo>
                  <a:pt x="754888" y="437692"/>
                </a:lnTo>
                <a:lnTo>
                  <a:pt x="750087" y="445922"/>
                </a:lnTo>
                <a:lnTo>
                  <a:pt x="782967" y="465162"/>
                </a:lnTo>
                <a:lnTo>
                  <a:pt x="787781" y="456933"/>
                </a:lnTo>
                <a:close/>
              </a:path>
              <a:path w="2484754" h="2472054">
                <a:moveTo>
                  <a:pt x="789165" y="732078"/>
                </a:moveTo>
                <a:lnTo>
                  <a:pt x="780478" y="728179"/>
                </a:lnTo>
                <a:lnTo>
                  <a:pt x="764870" y="762939"/>
                </a:lnTo>
                <a:lnTo>
                  <a:pt x="773557" y="766838"/>
                </a:lnTo>
                <a:lnTo>
                  <a:pt x="789165" y="732078"/>
                </a:lnTo>
                <a:close/>
              </a:path>
              <a:path w="2484754" h="2472054">
                <a:moveTo>
                  <a:pt x="789571" y="2018207"/>
                </a:moveTo>
                <a:lnTo>
                  <a:pt x="784796" y="2009965"/>
                </a:lnTo>
                <a:lnTo>
                  <a:pt x="751840" y="2029079"/>
                </a:lnTo>
                <a:lnTo>
                  <a:pt x="756615" y="2037308"/>
                </a:lnTo>
                <a:lnTo>
                  <a:pt x="789571" y="2018207"/>
                </a:lnTo>
                <a:close/>
              </a:path>
              <a:path w="2484754" h="2472054">
                <a:moveTo>
                  <a:pt x="807808" y="1893557"/>
                </a:moveTo>
                <a:lnTo>
                  <a:pt x="778433" y="1869300"/>
                </a:lnTo>
                <a:lnTo>
                  <a:pt x="772363" y="1876640"/>
                </a:lnTo>
                <a:lnTo>
                  <a:pt x="801738" y="1900910"/>
                </a:lnTo>
                <a:lnTo>
                  <a:pt x="807808" y="1893557"/>
                </a:lnTo>
                <a:close/>
              </a:path>
              <a:path w="2484754" h="2472054">
                <a:moveTo>
                  <a:pt x="809891" y="581012"/>
                </a:moveTo>
                <a:lnTo>
                  <a:pt x="803859" y="573646"/>
                </a:lnTo>
                <a:lnTo>
                  <a:pt x="774407" y="597827"/>
                </a:lnTo>
                <a:lnTo>
                  <a:pt x="780453" y="605180"/>
                </a:lnTo>
                <a:lnTo>
                  <a:pt x="809891" y="581012"/>
                </a:lnTo>
                <a:close/>
              </a:path>
              <a:path w="2484754" h="2472054">
                <a:moveTo>
                  <a:pt x="814882" y="1801482"/>
                </a:moveTo>
                <a:lnTo>
                  <a:pt x="799299" y="1766709"/>
                </a:lnTo>
                <a:lnTo>
                  <a:pt x="790613" y="1770608"/>
                </a:lnTo>
                <a:lnTo>
                  <a:pt x="806183" y="1805381"/>
                </a:lnTo>
                <a:lnTo>
                  <a:pt x="814882" y="1801482"/>
                </a:lnTo>
                <a:close/>
              </a:path>
              <a:path w="2484754" h="2472054">
                <a:moveTo>
                  <a:pt x="816483" y="671258"/>
                </a:moveTo>
                <a:lnTo>
                  <a:pt x="807796" y="667359"/>
                </a:lnTo>
                <a:lnTo>
                  <a:pt x="792187" y="702106"/>
                </a:lnTo>
                <a:lnTo>
                  <a:pt x="800874" y="706018"/>
                </a:lnTo>
                <a:lnTo>
                  <a:pt x="816483" y="671258"/>
                </a:lnTo>
                <a:close/>
              </a:path>
              <a:path w="2484754" h="2472054">
                <a:moveTo>
                  <a:pt x="842137" y="1862328"/>
                </a:moveTo>
                <a:lnTo>
                  <a:pt x="826566" y="1827555"/>
                </a:lnTo>
                <a:lnTo>
                  <a:pt x="817867" y="1831454"/>
                </a:lnTo>
                <a:lnTo>
                  <a:pt x="833450" y="1866226"/>
                </a:lnTo>
                <a:lnTo>
                  <a:pt x="842137" y="1862328"/>
                </a:lnTo>
                <a:close/>
              </a:path>
              <a:path w="2484754" h="2472054">
                <a:moveTo>
                  <a:pt x="843800" y="610438"/>
                </a:moveTo>
                <a:lnTo>
                  <a:pt x="835113" y="606539"/>
                </a:lnTo>
                <a:lnTo>
                  <a:pt x="819505" y="641286"/>
                </a:lnTo>
                <a:lnTo>
                  <a:pt x="828192" y="645198"/>
                </a:lnTo>
                <a:lnTo>
                  <a:pt x="843800" y="610438"/>
                </a:lnTo>
                <a:close/>
              </a:path>
              <a:path w="2484754" h="2472054">
                <a:moveTo>
                  <a:pt x="880643" y="1959902"/>
                </a:moveTo>
                <a:lnTo>
                  <a:pt x="795616" y="1965159"/>
                </a:lnTo>
                <a:lnTo>
                  <a:pt x="812330" y="1994001"/>
                </a:lnTo>
                <a:lnTo>
                  <a:pt x="809523" y="1995639"/>
                </a:lnTo>
                <a:lnTo>
                  <a:pt x="814298" y="2003869"/>
                </a:lnTo>
                <a:lnTo>
                  <a:pt x="817105" y="2002243"/>
                </a:lnTo>
                <a:lnTo>
                  <a:pt x="833831" y="2031085"/>
                </a:lnTo>
                <a:lnTo>
                  <a:pt x="852792" y="2002243"/>
                </a:lnTo>
                <a:lnTo>
                  <a:pt x="880643" y="1959902"/>
                </a:lnTo>
                <a:close/>
              </a:path>
              <a:path w="2484754" h="2472054">
                <a:moveTo>
                  <a:pt x="880643" y="516788"/>
                </a:moveTo>
                <a:lnTo>
                  <a:pt x="852868" y="474192"/>
                </a:lnTo>
                <a:lnTo>
                  <a:pt x="834110" y="445427"/>
                </a:lnTo>
                <a:lnTo>
                  <a:pt x="817283" y="474192"/>
                </a:lnTo>
                <a:lnTo>
                  <a:pt x="812444" y="471373"/>
                </a:lnTo>
                <a:lnTo>
                  <a:pt x="807631" y="479590"/>
                </a:lnTo>
                <a:lnTo>
                  <a:pt x="812469" y="482422"/>
                </a:lnTo>
                <a:lnTo>
                  <a:pt x="795629" y="511187"/>
                </a:lnTo>
                <a:lnTo>
                  <a:pt x="880643" y="516788"/>
                </a:lnTo>
                <a:close/>
              </a:path>
              <a:path w="2484754" h="2472054">
                <a:moveTo>
                  <a:pt x="884174" y="601903"/>
                </a:moveTo>
                <a:lnTo>
                  <a:pt x="880643" y="516788"/>
                </a:lnTo>
                <a:lnTo>
                  <a:pt x="797572" y="535686"/>
                </a:lnTo>
                <a:lnTo>
                  <a:pt x="821626" y="565010"/>
                </a:lnTo>
                <a:lnTo>
                  <a:pt x="814666" y="570687"/>
                </a:lnTo>
                <a:lnTo>
                  <a:pt x="833081" y="578967"/>
                </a:lnTo>
                <a:lnTo>
                  <a:pt x="845908" y="594575"/>
                </a:lnTo>
                <a:lnTo>
                  <a:pt x="849566" y="586371"/>
                </a:lnTo>
                <a:lnTo>
                  <a:pt x="884174" y="601903"/>
                </a:lnTo>
                <a:close/>
              </a:path>
              <a:path w="2484754" h="2472054">
                <a:moveTo>
                  <a:pt x="884250" y="1874786"/>
                </a:moveTo>
                <a:lnTo>
                  <a:pt x="853833" y="1888426"/>
                </a:lnTo>
                <a:lnTo>
                  <a:pt x="849795" y="1890217"/>
                </a:lnTo>
                <a:lnTo>
                  <a:pt x="846162" y="1882000"/>
                </a:lnTo>
                <a:lnTo>
                  <a:pt x="833234" y="1897659"/>
                </a:lnTo>
                <a:lnTo>
                  <a:pt x="814717" y="1905952"/>
                </a:lnTo>
                <a:lnTo>
                  <a:pt x="821664" y="1911654"/>
                </a:lnTo>
                <a:lnTo>
                  <a:pt x="797636" y="1940750"/>
                </a:lnTo>
                <a:lnTo>
                  <a:pt x="880643" y="1959902"/>
                </a:lnTo>
                <a:lnTo>
                  <a:pt x="884250" y="1874786"/>
                </a:lnTo>
                <a:close/>
              </a:path>
              <a:path w="2484754" h="2472054">
                <a:moveTo>
                  <a:pt x="1639836" y="501662"/>
                </a:moveTo>
                <a:lnTo>
                  <a:pt x="1635023" y="493433"/>
                </a:lnTo>
                <a:lnTo>
                  <a:pt x="1602143" y="512673"/>
                </a:lnTo>
                <a:lnTo>
                  <a:pt x="1604543" y="516788"/>
                </a:lnTo>
                <a:lnTo>
                  <a:pt x="1600200" y="518744"/>
                </a:lnTo>
                <a:lnTo>
                  <a:pt x="1615808" y="553491"/>
                </a:lnTo>
                <a:lnTo>
                  <a:pt x="1624495" y="549592"/>
                </a:lnTo>
                <a:lnTo>
                  <a:pt x="1610639" y="518744"/>
                </a:lnTo>
                <a:lnTo>
                  <a:pt x="1639836" y="501662"/>
                </a:lnTo>
                <a:close/>
              </a:path>
              <a:path w="2484754" h="2472054">
                <a:moveTo>
                  <a:pt x="1639900" y="1974900"/>
                </a:moveTo>
                <a:lnTo>
                  <a:pt x="1610639" y="1957946"/>
                </a:lnTo>
                <a:lnTo>
                  <a:pt x="1624469" y="1927085"/>
                </a:lnTo>
                <a:lnTo>
                  <a:pt x="1615770" y="1923186"/>
                </a:lnTo>
                <a:lnTo>
                  <a:pt x="1600200" y="1957959"/>
                </a:lnTo>
                <a:lnTo>
                  <a:pt x="1604543" y="1959914"/>
                </a:lnTo>
                <a:lnTo>
                  <a:pt x="1602155" y="1964029"/>
                </a:lnTo>
                <a:lnTo>
                  <a:pt x="1635112" y="1983130"/>
                </a:lnTo>
                <a:lnTo>
                  <a:pt x="1639900" y="1974900"/>
                </a:lnTo>
                <a:close/>
              </a:path>
              <a:path w="2484754" h="2472054">
                <a:moveTo>
                  <a:pt x="1651736" y="1866239"/>
                </a:moveTo>
                <a:lnTo>
                  <a:pt x="1643037" y="1862340"/>
                </a:lnTo>
                <a:lnTo>
                  <a:pt x="1627454" y="1897113"/>
                </a:lnTo>
                <a:lnTo>
                  <a:pt x="1636153" y="1901012"/>
                </a:lnTo>
                <a:lnTo>
                  <a:pt x="1651736" y="1866239"/>
                </a:lnTo>
                <a:close/>
              </a:path>
              <a:path w="2484754" h="2472054">
                <a:moveTo>
                  <a:pt x="1651812" y="610412"/>
                </a:moveTo>
                <a:lnTo>
                  <a:pt x="1636204" y="575652"/>
                </a:lnTo>
                <a:lnTo>
                  <a:pt x="1627517" y="579564"/>
                </a:lnTo>
                <a:lnTo>
                  <a:pt x="1643126" y="614311"/>
                </a:lnTo>
                <a:lnTo>
                  <a:pt x="1651812" y="610412"/>
                </a:lnTo>
                <a:close/>
              </a:path>
              <a:path w="2484754" h="2472054">
                <a:moveTo>
                  <a:pt x="1678990" y="1805393"/>
                </a:moveTo>
                <a:lnTo>
                  <a:pt x="1670304" y="1801495"/>
                </a:lnTo>
                <a:lnTo>
                  <a:pt x="1654721" y="1836267"/>
                </a:lnTo>
                <a:lnTo>
                  <a:pt x="1663420" y="1840166"/>
                </a:lnTo>
                <a:lnTo>
                  <a:pt x="1678990" y="1805393"/>
                </a:lnTo>
                <a:close/>
              </a:path>
              <a:path w="2484754" h="2472054">
                <a:moveTo>
                  <a:pt x="1679130" y="671233"/>
                </a:moveTo>
                <a:lnTo>
                  <a:pt x="1663522" y="636485"/>
                </a:lnTo>
                <a:lnTo>
                  <a:pt x="1654835" y="640384"/>
                </a:lnTo>
                <a:lnTo>
                  <a:pt x="1670443" y="675144"/>
                </a:lnTo>
                <a:lnTo>
                  <a:pt x="1679130" y="671233"/>
                </a:lnTo>
                <a:close/>
              </a:path>
              <a:path w="2484754" h="2472054">
                <a:moveTo>
                  <a:pt x="1697380" y="467995"/>
                </a:moveTo>
                <a:lnTo>
                  <a:pt x="1692579" y="459765"/>
                </a:lnTo>
                <a:lnTo>
                  <a:pt x="1659686" y="479005"/>
                </a:lnTo>
                <a:lnTo>
                  <a:pt x="1664500" y="487235"/>
                </a:lnTo>
                <a:lnTo>
                  <a:pt x="1697380" y="467995"/>
                </a:lnTo>
                <a:close/>
              </a:path>
              <a:path w="2484754" h="2472054">
                <a:moveTo>
                  <a:pt x="1697583" y="2008339"/>
                </a:moveTo>
                <a:lnTo>
                  <a:pt x="1664614" y="1989226"/>
                </a:lnTo>
                <a:lnTo>
                  <a:pt x="1659839" y="1997468"/>
                </a:lnTo>
                <a:lnTo>
                  <a:pt x="1692795" y="2016582"/>
                </a:lnTo>
                <a:lnTo>
                  <a:pt x="1697583" y="2008339"/>
                </a:lnTo>
                <a:close/>
              </a:path>
              <a:path w="2484754" h="2472054">
                <a:moveTo>
                  <a:pt x="1706257" y="1744548"/>
                </a:moveTo>
                <a:lnTo>
                  <a:pt x="1697558" y="1740649"/>
                </a:lnTo>
                <a:lnTo>
                  <a:pt x="1681988" y="1775421"/>
                </a:lnTo>
                <a:lnTo>
                  <a:pt x="1690674" y="1779320"/>
                </a:lnTo>
                <a:lnTo>
                  <a:pt x="1706257" y="1744548"/>
                </a:lnTo>
                <a:close/>
              </a:path>
              <a:path w="2484754" h="2472054">
                <a:moveTo>
                  <a:pt x="1706448" y="732053"/>
                </a:moveTo>
                <a:lnTo>
                  <a:pt x="1690839" y="697306"/>
                </a:lnTo>
                <a:lnTo>
                  <a:pt x="1682153" y="701205"/>
                </a:lnTo>
                <a:lnTo>
                  <a:pt x="1697761" y="735965"/>
                </a:lnTo>
                <a:lnTo>
                  <a:pt x="1706448" y="732053"/>
                </a:lnTo>
                <a:close/>
              </a:path>
              <a:path w="2484754" h="2472054">
                <a:moveTo>
                  <a:pt x="1733524" y="1683702"/>
                </a:moveTo>
                <a:lnTo>
                  <a:pt x="1724825" y="1679803"/>
                </a:lnTo>
                <a:lnTo>
                  <a:pt x="1709242" y="1714576"/>
                </a:lnTo>
                <a:lnTo>
                  <a:pt x="1717941" y="1718462"/>
                </a:lnTo>
                <a:lnTo>
                  <a:pt x="1733524" y="1683702"/>
                </a:lnTo>
                <a:close/>
              </a:path>
              <a:path w="2484754" h="2472054">
                <a:moveTo>
                  <a:pt x="1733765" y="792886"/>
                </a:moveTo>
                <a:lnTo>
                  <a:pt x="1718157" y="758126"/>
                </a:lnTo>
                <a:lnTo>
                  <a:pt x="1709470" y="762025"/>
                </a:lnTo>
                <a:lnTo>
                  <a:pt x="1725079" y="796785"/>
                </a:lnTo>
                <a:lnTo>
                  <a:pt x="1733765" y="792886"/>
                </a:lnTo>
                <a:close/>
              </a:path>
              <a:path w="2484754" h="2472054">
                <a:moveTo>
                  <a:pt x="1754936" y="434314"/>
                </a:moveTo>
                <a:lnTo>
                  <a:pt x="1750123" y="426097"/>
                </a:lnTo>
                <a:lnTo>
                  <a:pt x="1717243" y="445338"/>
                </a:lnTo>
                <a:lnTo>
                  <a:pt x="1722043" y="453555"/>
                </a:lnTo>
                <a:lnTo>
                  <a:pt x="1754936" y="434314"/>
                </a:lnTo>
                <a:close/>
              </a:path>
              <a:path w="2484754" h="2472054">
                <a:moveTo>
                  <a:pt x="1755267" y="2041779"/>
                </a:moveTo>
                <a:lnTo>
                  <a:pt x="1722297" y="2022665"/>
                </a:lnTo>
                <a:lnTo>
                  <a:pt x="1717522" y="2030907"/>
                </a:lnTo>
                <a:lnTo>
                  <a:pt x="1750479" y="2050021"/>
                </a:lnTo>
                <a:lnTo>
                  <a:pt x="1755267" y="2041779"/>
                </a:lnTo>
                <a:close/>
              </a:path>
              <a:path w="2484754" h="2472054">
                <a:moveTo>
                  <a:pt x="1760778" y="1622856"/>
                </a:moveTo>
                <a:lnTo>
                  <a:pt x="1752092" y="1618957"/>
                </a:lnTo>
                <a:lnTo>
                  <a:pt x="1736509" y="1653730"/>
                </a:lnTo>
                <a:lnTo>
                  <a:pt x="1745208" y="1657616"/>
                </a:lnTo>
                <a:lnTo>
                  <a:pt x="1760778" y="1622856"/>
                </a:lnTo>
                <a:close/>
              </a:path>
              <a:path w="2484754" h="2472054">
                <a:moveTo>
                  <a:pt x="1761083" y="853706"/>
                </a:moveTo>
                <a:lnTo>
                  <a:pt x="1745475" y="818946"/>
                </a:lnTo>
                <a:lnTo>
                  <a:pt x="1736788" y="822845"/>
                </a:lnTo>
                <a:lnTo>
                  <a:pt x="1752396" y="857605"/>
                </a:lnTo>
                <a:lnTo>
                  <a:pt x="1761083" y="853706"/>
                </a:lnTo>
                <a:close/>
              </a:path>
              <a:path w="2484754" h="2472054">
                <a:moveTo>
                  <a:pt x="1788045" y="1562011"/>
                </a:moveTo>
                <a:lnTo>
                  <a:pt x="1779346" y="1558112"/>
                </a:lnTo>
                <a:lnTo>
                  <a:pt x="1763776" y="1592884"/>
                </a:lnTo>
                <a:lnTo>
                  <a:pt x="1772462" y="1596771"/>
                </a:lnTo>
                <a:lnTo>
                  <a:pt x="1788045" y="1562011"/>
                </a:lnTo>
                <a:close/>
              </a:path>
              <a:path w="2484754" h="2472054">
                <a:moveTo>
                  <a:pt x="1788401" y="914527"/>
                </a:moveTo>
                <a:lnTo>
                  <a:pt x="1772793" y="879767"/>
                </a:lnTo>
                <a:lnTo>
                  <a:pt x="1764106" y="883678"/>
                </a:lnTo>
                <a:lnTo>
                  <a:pt x="1779714" y="918425"/>
                </a:lnTo>
                <a:lnTo>
                  <a:pt x="1788401" y="914527"/>
                </a:lnTo>
                <a:close/>
              </a:path>
              <a:path w="2484754" h="2472054">
                <a:moveTo>
                  <a:pt x="1812480" y="400646"/>
                </a:moveTo>
                <a:lnTo>
                  <a:pt x="1807667" y="392430"/>
                </a:lnTo>
                <a:lnTo>
                  <a:pt x="1774786" y="411670"/>
                </a:lnTo>
                <a:lnTo>
                  <a:pt x="1779600" y="419887"/>
                </a:lnTo>
                <a:lnTo>
                  <a:pt x="1812480" y="400646"/>
                </a:lnTo>
                <a:close/>
              </a:path>
              <a:path w="2484754" h="2472054">
                <a:moveTo>
                  <a:pt x="1812950" y="2075218"/>
                </a:moveTo>
                <a:lnTo>
                  <a:pt x="1779981" y="2056104"/>
                </a:lnTo>
                <a:lnTo>
                  <a:pt x="1775206" y="2064346"/>
                </a:lnTo>
                <a:lnTo>
                  <a:pt x="1808162" y="2083460"/>
                </a:lnTo>
                <a:lnTo>
                  <a:pt x="1812950" y="2075218"/>
                </a:lnTo>
                <a:close/>
              </a:path>
              <a:path w="2484754" h="2472054">
                <a:moveTo>
                  <a:pt x="1815299" y="1501165"/>
                </a:moveTo>
                <a:lnTo>
                  <a:pt x="1806613" y="1497266"/>
                </a:lnTo>
                <a:lnTo>
                  <a:pt x="1791030" y="1532039"/>
                </a:lnTo>
                <a:lnTo>
                  <a:pt x="1799729" y="1535925"/>
                </a:lnTo>
                <a:lnTo>
                  <a:pt x="1815299" y="1501165"/>
                </a:lnTo>
                <a:close/>
              </a:path>
              <a:path w="2484754" h="2472054">
                <a:moveTo>
                  <a:pt x="1815719" y="975347"/>
                </a:moveTo>
                <a:lnTo>
                  <a:pt x="1800110" y="940587"/>
                </a:lnTo>
                <a:lnTo>
                  <a:pt x="1791423" y="944499"/>
                </a:lnTo>
                <a:lnTo>
                  <a:pt x="1807032" y="979246"/>
                </a:lnTo>
                <a:lnTo>
                  <a:pt x="1815719" y="975347"/>
                </a:lnTo>
                <a:close/>
              </a:path>
              <a:path w="2484754" h="2472054">
                <a:moveTo>
                  <a:pt x="1842566" y="1440307"/>
                </a:moveTo>
                <a:lnTo>
                  <a:pt x="1833880" y="1436420"/>
                </a:lnTo>
                <a:lnTo>
                  <a:pt x="1818297" y="1471193"/>
                </a:lnTo>
                <a:lnTo>
                  <a:pt x="1826983" y="1475079"/>
                </a:lnTo>
                <a:lnTo>
                  <a:pt x="1842566" y="1440307"/>
                </a:lnTo>
                <a:close/>
              </a:path>
              <a:path w="2484754" h="2472054">
                <a:moveTo>
                  <a:pt x="1843036" y="1036167"/>
                </a:moveTo>
                <a:lnTo>
                  <a:pt x="1827428" y="1001420"/>
                </a:lnTo>
                <a:lnTo>
                  <a:pt x="1818728" y="1005319"/>
                </a:lnTo>
                <a:lnTo>
                  <a:pt x="1834349" y="1040066"/>
                </a:lnTo>
                <a:lnTo>
                  <a:pt x="1843036" y="1036167"/>
                </a:lnTo>
                <a:close/>
              </a:path>
              <a:path w="2484754" h="2472054">
                <a:moveTo>
                  <a:pt x="1869833" y="1379461"/>
                </a:moveTo>
                <a:lnTo>
                  <a:pt x="1861134" y="1375575"/>
                </a:lnTo>
                <a:lnTo>
                  <a:pt x="1845564" y="1410335"/>
                </a:lnTo>
                <a:lnTo>
                  <a:pt x="1854250" y="1414233"/>
                </a:lnTo>
                <a:lnTo>
                  <a:pt x="1869833" y="1379461"/>
                </a:lnTo>
                <a:close/>
              </a:path>
              <a:path w="2484754" h="2472054">
                <a:moveTo>
                  <a:pt x="1870036" y="366979"/>
                </a:moveTo>
                <a:lnTo>
                  <a:pt x="1865223" y="358762"/>
                </a:lnTo>
                <a:lnTo>
                  <a:pt x="1832330" y="378002"/>
                </a:lnTo>
                <a:lnTo>
                  <a:pt x="1837143" y="386219"/>
                </a:lnTo>
                <a:lnTo>
                  <a:pt x="1870036" y="366979"/>
                </a:lnTo>
                <a:close/>
              </a:path>
              <a:path w="2484754" h="2472054">
                <a:moveTo>
                  <a:pt x="1870354" y="1096987"/>
                </a:moveTo>
                <a:lnTo>
                  <a:pt x="1854746" y="1062240"/>
                </a:lnTo>
                <a:lnTo>
                  <a:pt x="1846046" y="1066139"/>
                </a:lnTo>
                <a:lnTo>
                  <a:pt x="1861654" y="1100899"/>
                </a:lnTo>
                <a:lnTo>
                  <a:pt x="1870354" y="1096987"/>
                </a:lnTo>
                <a:close/>
              </a:path>
              <a:path w="2484754" h="2472054">
                <a:moveTo>
                  <a:pt x="1870621" y="2108657"/>
                </a:moveTo>
                <a:lnTo>
                  <a:pt x="1837664" y="2089543"/>
                </a:lnTo>
                <a:lnTo>
                  <a:pt x="1832889" y="2097786"/>
                </a:lnTo>
                <a:lnTo>
                  <a:pt x="1865845" y="2116899"/>
                </a:lnTo>
                <a:lnTo>
                  <a:pt x="1870621" y="2108657"/>
                </a:lnTo>
                <a:close/>
              </a:path>
              <a:path w="2484754" h="2472054">
                <a:moveTo>
                  <a:pt x="1897087" y="1318615"/>
                </a:moveTo>
                <a:lnTo>
                  <a:pt x="1888401" y="1314729"/>
                </a:lnTo>
                <a:lnTo>
                  <a:pt x="1872818" y="1349489"/>
                </a:lnTo>
                <a:lnTo>
                  <a:pt x="1881517" y="1353388"/>
                </a:lnTo>
                <a:lnTo>
                  <a:pt x="1897087" y="1318615"/>
                </a:lnTo>
                <a:close/>
              </a:path>
              <a:path w="2484754" h="2472054">
                <a:moveTo>
                  <a:pt x="1897672" y="1157820"/>
                </a:moveTo>
                <a:lnTo>
                  <a:pt x="1882051" y="1123061"/>
                </a:lnTo>
                <a:lnTo>
                  <a:pt x="1873364" y="1126959"/>
                </a:lnTo>
                <a:lnTo>
                  <a:pt x="1888972" y="1161719"/>
                </a:lnTo>
                <a:lnTo>
                  <a:pt x="1897672" y="1157820"/>
                </a:lnTo>
                <a:close/>
              </a:path>
              <a:path w="2484754" h="2472054">
                <a:moveTo>
                  <a:pt x="1924354" y="1257769"/>
                </a:moveTo>
                <a:lnTo>
                  <a:pt x="1915668" y="1253883"/>
                </a:lnTo>
                <a:lnTo>
                  <a:pt x="1900085" y="1288643"/>
                </a:lnTo>
                <a:lnTo>
                  <a:pt x="1908771" y="1292542"/>
                </a:lnTo>
                <a:lnTo>
                  <a:pt x="1924354" y="1257769"/>
                </a:lnTo>
                <a:close/>
              </a:path>
              <a:path w="2484754" h="2472054">
                <a:moveTo>
                  <a:pt x="1924989" y="1218641"/>
                </a:moveTo>
                <a:lnTo>
                  <a:pt x="1909368" y="1183881"/>
                </a:lnTo>
                <a:lnTo>
                  <a:pt x="1900682" y="1187780"/>
                </a:lnTo>
                <a:lnTo>
                  <a:pt x="1916290" y="1222540"/>
                </a:lnTo>
                <a:lnTo>
                  <a:pt x="1924989" y="1218641"/>
                </a:lnTo>
                <a:close/>
              </a:path>
              <a:path w="2484754" h="2472054">
                <a:moveTo>
                  <a:pt x="1927580" y="333311"/>
                </a:moveTo>
                <a:lnTo>
                  <a:pt x="1922767" y="325094"/>
                </a:lnTo>
                <a:lnTo>
                  <a:pt x="1889887" y="344335"/>
                </a:lnTo>
                <a:lnTo>
                  <a:pt x="1894700" y="352552"/>
                </a:lnTo>
                <a:lnTo>
                  <a:pt x="1927580" y="333311"/>
                </a:lnTo>
                <a:close/>
              </a:path>
              <a:path w="2484754" h="2472054">
                <a:moveTo>
                  <a:pt x="1928304" y="2142096"/>
                </a:moveTo>
                <a:lnTo>
                  <a:pt x="1895348" y="2122982"/>
                </a:lnTo>
                <a:lnTo>
                  <a:pt x="1890572" y="2131225"/>
                </a:lnTo>
                <a:lnTo>
                  <a:pt x="1923529" y="2150338"/>
                </a:lnTo>
                <a:lnTo>
                  <a:pt x="1928304" y="2142096"/>
                </a:lnTo>
                <a:close/>
              </a:path>
              <a:path w="2484754" h="2472054">
                <a:moveTo>
                  <a:pt x="1951621" y="1196924"/>
                </a:moveTo>
                <a:lnTo>
                  <a:pt x="1942922" y="1193025"/>
                </a:lnTo>
                <a:lnTo>
                  <a:pt x="1927352" y="1227797"/>
                </a:lnTo>
                <a:lnTo>
                  <a:pt x="1936038" y="1231696"/>
                </a:lnTo>
                <a:lnTo>
                  <a:pt x="1951621" y="1196924"/>
                </a:lnTo>
                <a:close/>
              </a:path>
              <a:path w="2484754" h="2472054">
                <a:moveTo>
                  <a:pt x="1952294" y="1279461"/>
                </a:moveTo>
                <a:lnTo>
                  <a:pt x="1936686" y="1244701"/>
                </a:lnTo>
                <a:lnTo>
                  <a:pt x="1927999" y="1248600"/>
                </a:lnTo>
                <a:lnTo>
                  <a:pt x="1943608" y="1283360"/>
                </a:lnTo>
                <a:lnTo>
                  <a:pt x="1952294" y="1279461"/>
                </a:lnTo>
                <a:close/>
              </a:path>
              <a:path w="2484754" h="2472054">
                <a:moveTo>
                  <a:pt x="1978875" y="1136078"/>
                </a:moveTo>
                <a:lnTo>
                  <a:pt x="1970189" y="1132179"/>
                </a:lnTo>
                <a:lnTo>
                  <a:pt x="1954606" y="1166952"/>
                </a:lnTo>
                <a:lnTo>
                  <a:pt x="1963305" y="1170851"/>
                </a:lnTo>
                <a:lnTo>
                  <a:pt x="1978875" y="1136078"/>
                </a:lnTo>
                <a:close/>
              </a:path>
              <a:path w="2484754" h="2472054">
                <a:moveTo>
                  <a:pt x="1979612" y="1340281"/>
                </a:moveTo>
                <a:lnTo>
                  <a:pt x="1964004" y="1305521"/>
                </a:lnTo>
                <a:lnTo>
                  <a:pt x="1955317" y="1309433"/>
                </a:lnTo>
                <a:lnTo>
                  <a:pt x="1970925" y="1344180"/>
                </a:lnTo>
                <a:lnTo>
                  <a:pt x="1979612" y="1340281"/>
                </a:lnTo>
                <a:close/>
              </a:path>
              <a:path w="2484754" h="2472054">
                <a:moveTo>
                  <a:pt x="1985137" y="299643"/>
                </a:moveTo>
                <a:lnTo>
                  <a:pt x="1980323" y="291426"/>
                </a:lnTo>
                <a:lnTo>
                  <a:pt x="1947430" y="310667"/>
                </a:lnTo>
                <a:lnTo>
                  <a:pt x="1952244" y="318884"/>
                </a:lnTo>
                <a:lnTo>
                  <a:pt x="1985137" y="299643"/>
                </a:lnTo>
                <a:close/>
              </a:path>
              <a:path w="2484754" h="2472054">
                <a:moveTo>
                  <a:pt x="1985987" y="2175535"/>
                </a:moveTo>
                <a:lnTo>
                  <a:pt x="1953031" y="2156422"/>
                </a:lnTo>
                <a:lnTo>
                  <a:pt x="1948256" y="2164664"/>
                </a:lnTo>
                <a:lnTo>
                  <a:pt x="1981212" y="2183777"/>
                </a:lnTo>
                <a:lnTo>
                  <a:pt x="1985987" y="2175535"/>
                </a:lnTo>
                <a:close/>
              </a:path>
              <a:path w="2484754" h="2472054">
                <a:moveTo>
                  <a:pt x="2006142" y="1075232"/>
                </a:moveTo>
                <a:lnTo>
                  <a:pt x="1997456" y="1071333"/>
                </a:lnTo>
                <a:lnTo>
                  <a:pt x="1981873" y="1106106"/>
                </a:lnTo>
                <a:lnTo>
                  <a:pt x="1990559" y="1110005"/>
                </a:lnTo>
                <a:lnTo>
                  <a:pt x="2006142" y="1075232"/>
                </a:lnTo>
                <a:close/>
              </a:path>
              <a:path w="2484754" h="2472054">
                <a:moveTo>
                  <a:pt x="2006930" y="1401102"/>
                </a:moveTo>
                <a:lnTo>
                  <a:pt x="1991321" y="1366342"/>
                </a:lnTo>
                <a:lnTo>
                  <a:pt x="1982635" y="1370253"/>
                </a:lnTo>
                <a:lnTo>
                  <a:pt x="1998243" y="1405001"/>
                </a:lnTo>
                <a:lnTo>
                  <a:pt x="2006930" y="1401102"/>
                </a:lnTo>
                <a:close/>
              </a:path>
              <a:path w="2484754" h="2472054">
                <a:moveTo>
                  <a:pt x="2033409" y="1014387"/>
                </a:moveTo>
                <a:lnTo>
                  <a:pt x="2024710" y="1010488"/>
                </a:lnTo>
                <a:lnTo>
                  <a:pt x="2009140" y="1045260"/>
                </a:lnTo>
                <a:lnTo>
                  <a:pt x="2017826" y="1049159"/>
                </a:lnTo>
                <a:lnTo>
                  <a:pt x="2033409" y="1014387"/>
                </a:lnTo>
                <a:close/>
              </a:path>
              <a:path w="2484754" h="2472054">
                <a:moveTo>
                  <a:pt x="2034247" y="1461922"/>
                </a:moveTo>
                <a:lnTo>
                  <a:pt x="2018639" y="1427175"/>
                </a:lnTo>
                <a:lnTo>
                  <a:pt x="2009952" y="1431074"/>
                </a:lnTo>
                <a:lnTo>
                  <a:pt x="2025561" y="1465834"/>
                </a:lnTo>
                <a:lnTo>
                  <a:pt x="2034247" y="1461922"/>
                </a:lnTo>
                <a:close/>
              </a:path>
              <a:path w="2484754" h="2472054">
                <a:moveTo>
                  <a:pt x="2042680" y="265976"/>
                </a:moveTo>
                <a:lnTo>
                  <a:pt x="2037867" y="257746"/>
                </a:lnTo>
                <a:lnTo>
                  <a:pt x="2004987" y="276987"/>
                </a:lnTo>
                <a:lnTo>
                  <a:pt x="2009800" y="285216"/>
                </a:lnTo>
                <a:lnTo>
                  <a:pt x="2042680" y="265976"/>
                </a:lnTo>
                <a:close/>
              </a:path>
              <a:path w="2484754" h="2472054">
                <a:moveTo>
                  <a:pt x="2043671" y="2208974"/>
                </a:moveTo>
                <a:lnTo>
                  <a:pt x="2010714" y="2189861"/>
                </a:lnTo>
                <a:lnTo>
                  <a:pt x="2005939" y="2198103"/>
                </a:lnTo>
                <a:lnTo>
                  <a:pt x="2038896" y="2217216"/>
                </a:lnTo>
                <a:lnTo>
                  <a:pt x="2043671" y="2208974"/>
                </a:lnTo>
                <a:close/>
              </a:path>
              <a:path w="2484754" h="2472054">
                <a:moveTo>
                  <a:pt x="2060663" y="953541"/>
                </a:moveTo>
                <a:lnTo>
                  <a:pt x="2051977" y="949642"/>
                </a:lnTo>
                <a:lnTo>
                  <a:pt x="2036394" y="984415"/>
                </a:lnTo>
                <a:lnTo>
                  <a:pt x="2045093" y="988314"/>
                </a:lnTo>
                <a:lnTo>
                  <a:pt x="2060663" y="953541"/>
                </a:lnTo>
                <a:close/>
              </a:path>
              <a:path w="2484754" h="2472054">
                <a:moveTo>
                  <a:pt x="2061565" y="1522742"/>
                </a:moveTo>
                <a:lnTo>
                  <a:pt x="2045957" y="1487995"/>
                </a:lnTo>
                <a:lnTo>
                  <a:pt x="2037270" y="1491894"/>
                </a:lnTo>
                <a:lnTo>
                  <a:pt x="2052878" y="1526654"/>
                </a:lnTo>
                <a:lnTo>
                  <a:pt x="2061565" y="1522742"/>
                </a:lnTo>
                <a:close/>
              </a:path>
              <a:path w="2484754" h="2472054">
                <a:moveTo>
                  <a:pt x="2087930" y="892695"/>
                </a:moveTo>
                <a:lnTo>
                  <a:pt x="2079244" y="888796"/>
                </a:lnTo>
                <a:lnTo>
                  <a:pt x="2063661" y="923569"/>
                </a:lnTo>
                <a:lnTo>
                  <a:pt x="2072347" y="927468"/>
                </a:lnTo>
                <a:lnTo>
                  <a:pt x="2087930" y="892695"/>
                </a:lnTo>
                <a:close/>
              </a:path>
              <a:path w="2484754" h="2472054">
                <a:moveTo>
                  <a:pt x="2088883" y="1583575"/>
                </a:moveTo>
                <a:lnTo>
                  <a:pt x="2073275" y="1548815"/>
                </a:lnTo>
                <a:lnTo>
                  <a:pt x="2064588" y="1552714"/>
                </a:lnTo>
                <a:lnTo>
                  <a:pt x="2080196" y="1587474"/>
                </a:lnTo>
                <a:lnTo>
                  <a:pt x="2088883" y="1583575"/>
                </a:lnTo>
                <a:close/>
              </a:path>
              <a:path w="2484754" h="2472054">
                <a:moveTo>
                  <a:pt x="2100224" y="232308"/>
                </a:moveTo>
                <a:lnTo>
                  <a:pt x="2095423" y="224078"/>
                </a:lnTo>
                <a:lnTo>
                  <a:pt x="2062530" y="243319"/>
                </a:lnTo>
                <a:lnTo>
                  <a:pt x="2067344" y="251548"/>
                </a:lnTo>
                <a:lnTo>
                  <a:pt x="2100224" y="232308"/>
                </a:lnTo>
                <a:close/>
              </a:path>
              <a:path w="2484754" h="2472054">
                <a:moveTo>
                  <a:pt x="2101354" y="2242413"/>
                </a:moveTo>
                <a:lnTo>
                  <a:pt x="2068398" y="2223300"/>
                </a:lnTo>
                <a:lnTo>
                  <a:pt x="2063623" y="2231542"/>
                </a:lnTo>
                <a:lnTo>
                  <a:pt x="2096579" y="2250656"/>
                </a:lnTo>
                <a:lnTo>
                  <a:pt x="2101354" y="2242413"/>
                </a:lnTo>
                <a:close/>
              </a:path>
              <a:path w="2484754" h="2472054">
                <a:moveTo>
                  <a:pt x="2115197" y="831850"/>
                </a:moveTo>
                <a:lnTo>
                  <a:pt x="2106498" y="827951"/>
                </a:lnTo>
                <a:lnTo>
                  <a:pt x="2090928" y="862723"/>
                </a:lnTo>
                <a:lnTo>
                  <a:pt x="2099614" y="866609"/>
                </a:lnTo>
                <a:lnTo>
                  <a:pt x="2115197" y="831850"/>
                </a:lnTo>
                <a:close/>
              </a:path>
              <a:path w="2484754" h="2472054">
                <a:moveTo>
                  <a:pt x="2116201" y="1644396"/>
                </a:moveTo>
                <a:lnTo>
                  <a:pt x="2100592" y="1609636"/>
                </a:lnTo>
                <a:lnTo>
                  <a:pt x="2091905" y="1613535"/>
                </a:lnTo>
                <a:lnTo>
                  <a:pt x="2107514" y="1648294"/>
                </a:lnTo>
                <a:lnTo>
                  <a:pt x="2116201" y="1644396"/>
                </a:lnTo>
                <a:close/>
              </a:path>
              <a:path w="2484754" h="2472054">
                <a:moveTo>
                  <a:pt x="2142452" y="771004"/>
                </a:moveTo>
                <a:lnTo>
                  <a:pt x="2133765" y="767105"/>
                </a:lnTo>
                <a:lnTo>
                  <a:pt x="2118182" y="801878"/>
                </a:lnTo>
                <a:lnTo>
                  <a:pt x="2126881" y="805764"/>
                </a:lnTo>
                <a:lnTo>
                  <a:pt x="2142452" y="771004"/>
                </a:lnTo>
                <a:close/>
              </a:path>
              <a:path w="2484754" h="2472054">
                <a:moveTo>
                  <a:pt x="2143518" y="1705216"/>
                </a:moveTo>
                <a:lnTo>
                  <a:pt x="2127910" y="1670456"/>
                </a:lnTo>
                <a:lnTo>
                  <a:pt x="2119223" y="1674355"/>
                </a:lnTo>
                <a:lnTo>
                  <a:pt x="2134832" y="1709115"/>
                </a:lnTo>
                <a:lnTo>
                  <a:pt x="2143518" y="1705216"/>
                </a:lnTo>
                <a:close/>
              </a:path>
              <a:path w="2484754" h="2472054">
                <a:moveTo>
                  <a:pt x="2157780" y="198640"/>
                </a:moveTo>
                <a:lnTo>
                  <a:pt x="2152967" y="190411"/>
                </a:lnTo>
                <a:lnTo>
                  <a:pt x="2120087" y="209651"/>
                </a:lnTo>
                <a:lnTo>
                  <a:pt x="2124887" y="217868"/>
                </a:lnTo>
                <a:lnTo>
                  <a:pt x="2157780" y="198640"/>
                </a:lnTo>
                <a:close/>
              </a:path>
              <a:path w="2484754" h="2472054">
                <a:moveTo>
                  <a:pt x="2159038" y="2275852"/>
                </a:moveTo>
                <a:lnTo>
                  <a:pt x="2126081" y="2256739"/>
                </a:lnTo>
                <a:lnTo>
                  <a:pt x="2121306" y="2264981"/>
                </a:lnTo>
                <a:lnTo>
                  <a:pt x="2154263" y="2284095"/>
                </a:lnTo>
                <a:lnTo>
                  <a:pt x="2159038" y="2275852"/>
                </a:lnTo>
                <a:close/>
              </a:path>
              <a:path w="2484754" h="2472054">
                <a:moveTo>
                  <a:pt x="2169718" y="710158"/>
                </a:moveTo>
                <a:lnTo>
                  <a:pt x="2161019" y="706259"/>
                </a:lnTo>
                <a:lnTo>
                  <a:pt x="2145449" y="741032"/>
                </a:lnTo>
                <a:lnTo>
                  <a:pt x="2154136" y="744918"/>
                </a:lnTo>
                <a:lnTo>
                  <a:pt x="2169718" y="710158"/>
                </a:lnTo>
                <a:close/>
              </a:path>
              <a:path w="2484754" h="2472054">
                <a:moveTo>
                  <a:pt x="2170836" y="1766036"/>
                </a:moveTo>
                <a:lnTo>
                  <a:pt x="2155228" y="1731276"/>
                </a:lnTo>
                <a:lnTo>
                  <a:pt x="2146541" y="1735188"/>
                </a:lnTo>
                <a:lnTo>
                  <a:pt x="2162149" y="1769935"/>
                </a:lnTo>
                <a:lnTo>
                  <a:pt x="2170836" y="1766036"/>
                </a:lnTo>
                <a:close/>
              </a:path>
              <a:path w="2484754" h="2472054">
                <a:moveTo>
                  <a:pt x="2196985" y="649300"/>
                </a:moveTo>
                <a:lnTo>
                  <a:pt x="2188286" y="645414"/>
                </a:lnTo>
                <a:lnTo>
                  <a:pt x="2172703" y="680186"/>
                </a:lnTo>
                <a:lnTo>
                  <a:pt x="2181402" y="684072"/>
                </a:lnTo>
                <a:lnTo>
                  <a:pt x="2196985" y="649300"/>
                </a:lnTo>
                <a:close/>
              </a:path>
              <a:path w="2484754" h="2472054">
                <a:moveTo>
                  <a:pt x="2198154" y="1826856"/>
                </a:moveTo>
                <a:lnTo>
                  <a:pt x="2182545" y="1792109"/>
                </a:lnTo>
                <a:lnTo>
                  <a:pt x="2173859" y="1796008"/>
                </a:lnTo>
                <a:lnTo>
                  <a:pt x="2189467" y="1830755"/>
                </a:lnTo>
                <a:lnTo>
                  <a:pt x="2198154" y="1826856"/>
                </a:lnTo>
                <a:close/>
              </a:path>
              <a:path w="2484754" h="2472054">
                <a:moveTo>
                  <a:pt x="2215324" y="164960"/>
                </a:moveTo>
                <a:lnTo>
                  <a:pt x="2210524" y="156743"/>
                </a:lnTo>
                <a:lnTo>
                  <a:pt x="2177631" y="175983"/>
                </a:lnTo>
                <a:lnTo>
                  <a:pt x="2182444" y="184200"/>
                </a:lnTo>
                <a:lnTo>
                  <a:pt x="2215324" y="164960"/>
                </a:lnTo>
                <a:close/>
              </a:path>
              <a:path w="2484754" h="2472054">
                <a:moveTo>
                  <a:pt x="2216721" y="2309291"/>
                </a:moveTo>
                <a:lnTo>
                  <a:pt x="2183765" y="2290178"/>
                </a:lnTo>
                <a:lnTo>
                  <a:pt x="2178989" y="2298420"/>
                </a:lnTo>
                <a:lnTo>
                  <a:pt x="2211946" y="2317534"/>
                </a:lnTo>
                <a:lnTo>
                  <a:pt x="2216721" y="2309291"/>
                </a:lnTo>
                <a:close/>
              </a:path>
              <a:path w="2484754" h="2472054">
                <a:moveTo>
                  <a:pt x="2224240" y="588454"/>
                </a:moveTo>
                <a:lnTo>
                  <a:pt x="2215553" y="584568"/>
                </a:lnTo>
                <a:lnTo>
                  <a:pt x="2199970" y="619340"/>
                </a:lnTo>
                <a:lnTo>
                  <a:pt x="2208669" y="623227"/>
                </a:lnTo>
                <a:lnTo>
                  <a:pt x="2224240" y="588454"/>
                </a:lnTo>
                <a:close/>
              </a:path>
              <a:path w="2484754" h="2472054">
                <a:moveTo>
                  <a:pt x="2225471" y="1887677"/>
                </a:moveTo>
                <a:lnTo>
                  <a:pt x="2209863" y="1852930"/>
                </a:lnTo>
                <a:lnTo>
                  <a:pt x="2201176" y="1856828"/>
                </a:lnTo>
                <a:lnTo>
                  <a:pt x="2216785" y="1891588"/>
                </a:lnTo>
                <a:lnTo>
                  <a:pt x="2225471" y="1887677"/>
                </a:lnTo>
                <a:close/>
              </a:path>
              <a:path w="2484754" h="2472054">
                <a:moveTo>
                  <a:pt x="2251506" y="527608"/>
                </a:moveTo>
                <a:lnTo>
                  <a:pt x="2242807" y="523722"/>
                </a:lnTo>
                <a:lnTo>
                  <a:pt x="2227237" y="558482"/>
                </a:lnTo>
                <a:lnTo>
                  <a:pt x="2235924" y="562381"/>
                </a:lnTo>
                <a:lnTo>
                  <a:pt x="2251506" y="527608"/>
                </a:lnTo>
                <a:close/>
              </a:path>
              <a:path w="2484754" h="2472054">
                <a:moveTo>
                  <a:pt x="2252789" y="1948497"/>
                </a:moveTo>
                <a:lnTo>
                  <a:pt x="2237181" y="1913750"/>
                </a:lnTo>
                <a:lnTo>
                  <a:pt x="2228481" y="1917649"/>
                </a:lnTo>
                <a:lnTo>
                  <a:pt x="2244102" y="1952409"/>
                </a:lnTo>
                <a:lnTo>
                  <a:pt x="2252789" y="1948497"/>
                </a:lnTo>
                <a:close/>
              </a:path>
              <a:path w="2484754" h="2472054">
                <a:moveTo>
                  <a:pt x="2272881" y="131292"/>
                </a:moveTo>
                <a:lnTo>
                  <a:pt x="2268067" y="123075"/>
                </a:lnTo>
                <a:lnTo>
                  <a:pt x="2235187" y="142316"/>
                </a:lnTo>
                <a:lnTo>
                  <a:pt x="2239988" y="150533"/>
                </a:lnTo>
                <a:lnTo>
                  <a:pt x="2272881" y="131292"/>
                </a:lnTo>
                <a:close/>
              </a:path>
              <a:path w="2484754" h="2472054">
                <a:moveTo>
                  <a:pt x="2274405" y="2342731"/>
                </a:moveTo>
                <a:lnTo>
                  <a:pt x="2241448" y="2323617"/>
                </a:lnTo>
                <a:lnTo>
                  <a:pt x="2236673" y="2331859"/>
                </a:lnTo>
                <a:lnTo>
                  <a:pt x="2269629" y="2350973"/>
                </a:lnTo>
                <a:lnTo>
                  <a:pt x="2274405" y="2342731"/>
                </a:lnTo>
                <a:close/>
              </a:path>
              <a:path w="2484754" h="2472054">
                <a:moveTo>
                  <a:pt x="2278773" y="466763"/>
                </a:moveTo>
                <a:lnTo>
                  <a:pt x="2270074" y="462876"/>
                </a:lnTo>
                <a:lnTo>
                  <a:pt x="2254491" y="497636"/>
                </a:lnTo>
                <a:lnTo>
                  <a:pt x="2263190" y="501535"/>
                </a:lnTo>
                <a:lnTo>
                  <a:pt x="2278773" y="466763"/>
                </a:lnTo>
                <a:close/>
              </a:path>
              <a:path w="2484754" h="2472054">
                <a:moveTo>
                  <a:pt x="2280107" y="2009330"/>
                </a:moveTo>
                <a:lnTo>
                  <a:pt x="2264499" y="1974570"/>
                </a:lnTo>
                <a:lnTo>
                  <a:pt x="2255799" y="1978469"/>
                </a:lnTo>
                <a:lnTo>
                  <a:pt x="2271420" y="2013229"/>
                </a:lnTo>
                <a:lnTo>
                  <a:pt x="2280107" y="2009330"/>
                </a:lnTo>
                <a:close/>
              </a:path>
              <a:path w="2484754" h="2472054">
                <a:moveTo>
                  <a:pt x="2306028" y="405917"/>
                </a:moveTo>
                <a:lnTo>
                  <a:pt x="2297341" y="402031"/>
                </a:lnTo>
                <a:lnTo>
                  <a:pt x="2281758" y="436791"/>
                </a:lnTo>
                <a:lnTo>
                  <a:pt x="2290457" y="440690"/>
                </a:lnTo>
                <a:lnTo>
                  <a:pt x="2306028" y="405917"/>
                </a:lnTo>
                <a:close/>
              </a:path>
              <a:path w="2484754" h="2472054">
                <a:moveTo>
                  <a:pt x="2307425" y="2070150"/>
                </a:moveTo>
                <a:lnTo>
                  <a:pt x="2291816" y="2035390"/>
                </a:lnTo>
                <a:lnTo>
                  <a:pt x="2283117" y="2039289"/>
                </a:lnTo>
                <a:lnTo>
                  <a:pt x="2298725" y="2074049"/>
                </a:lnTo>
                <a:lnTo>
                  <a:pt x="2307425" y="2070150"/>
                </a:lnTo>
                <a:close/>
              </a:path>
              <a:path w="2484754" h="2472054">
                <a:moveTo>
                  <a:pt x="2330424" y="97624"/>
                </a:moveTo>
                <a:lnTo>
                  <a:pt x="2325611" y="89408"/>
                </a:lnTo>
                <a:lnTo>
                  <a:pt x="2292731" y="108648"/>
                </a:lnTo>
                <a:lnTo>
                  <a:pt x="2297544" y="116865"/>
                </a:lnTo>
                <a:lnTo>
                  <a:pt x="2330424" y="97624"/>
                </a:lnTo>
                <a:close/>
              </a:path>
              <a:path w="2484754" h="2472054">
                <a:moveTo>
                  <a:pt x="2332088" y="2376170"/>
                </a:moveTo>
                <a:lnTo>
                  <a:pt x="2299131" y="2357056"/>
                </a:lnTo>
                <a:lnTo>
                  <a:pt x="2294356" y="2365298"/>
                </a:lnTo>
                <a:lnTo>
                  <a:pt x="2327313" y="2384412"/>
                </a:lnTo>
                <a:lnTo>
                  <a:pt x="2332088" y="2376170"/>
                </a:lnTo>
                <a:close/>
              </a:path>
              <a:path w="2484754" h="2472054">
                <a:moveTo>
                  <a:pt x="2333294" y="345071"/>
                </a:moveTo>
                <a:lnTo>
                  <a:pt x="2324595" y="341172"/>
                </a:lnTo>
                <a:lnTo>
                  <a:pt x="2309025" y="375945"/>
                </a:lnTo>
                <a:lnTo>
                  <a:pt x="2317712" y="379844"/>
                </a:lnTo>
                <a:lnTo>
                  <a:pt x="2333294" y="345071"/>
                </a:lnTo>
                <a:close/>
              </a:path>
              <a:path w="2484754" h="2472054">
                <a:moveTo>
                  <a:pt x="2334742" y="2130971"/>
                </a:moveTo>
                <a:lnTo>
                  <a:pt x="2319121" y="2096211"/>
                </a:lnTo>
                <a:lnTo>
                  <a:pt x="2310434" y="2100122"/>
                </a:lnTo>
                <a:lnTo>
                  <a:pt x="2326043" y="2134870"/>
                </a:lnTo>
                <a:lnTo>
                  <a:pt x="2334742" y="2130971"/>
                </a:lnTo>
                <a:close/>
              </a:path>
              <a:path w="2484754" h="2472054">
                <a:moveTo>
                  <a:pt x="2360549" y="284226"/>
                </a:moveTo>
                <a:lnTo>
                  <a:pt x="2351862" y="280327"/>
                </a:lnTo>
                <a:lnTo>
                  <a:pt x="2336279" y="315099"/>
                </a:lnTo>
                <a:lnTo>
                  <a:pt x="2344978" y="318998"/>
                </a:lnTo>
                <a:lnTo>
                  <a:pt x="2360549" y="284226"/>
                </a:lnTo>
                <a:close/>
              </a:path>
              <a:path w="2484754" h="2472054">
                <a:moveTo>
                  <a:pt x="2362060" y="2191791"/>
                </a:moveTo>
                <a:lnTo>
                  <a:pt x="2346439" y="2157031"/>
                </a:lnTo>
                <a:lnTo>
                  <a:pt x="2337752" y="2160943"/>
                </a:lnTo>
                <a:lnTo>
                  <a:pt x="2353360" y="2195690"/>
                </a:lnTo>
                <a:lnTo>
                  <a:pt x="2362060" y="2191791"/>
                </a:lnTo>
                <a:close/>
              </a:path>
              <a:path w="2484754" h="2472054">
                <a:moveTo>
                  <a:pt x="2387816" y="223380"/>
                </a:moveTo>
                <a:lnTo>
                  <a:pt x="2379129" y="219481"/>
                </a:lnTo>
                <a:lnTo>
                  <a:pt x="2363546" y="254254"/>
                </a:lnTo>
                <a:lnTo>
                  <a:pt x="2372233" y="258152"/>
                </a:lnTo>
                <a:lnTo>
                  <a:pt x="2387816" y="223380"/>
                </a:lnTo>
                <a:close/>
              </a:path>
              <a:path w="2484754" h="2472054">
                <a:moveTo>
                  <a:pt x="2387981" y="63957"/>
                </a:moveTo>
                <a:lnTo>
                  <a:pt x="2383167" y="55740"/>
                </a:lnTo>
                <a:lnTo>
                  <a:pt x="2350287" y="74980"/>
                </a:lnTo>
                <a:lnTo>
                  <a:pt x="2355088" y="83197"/>
                </a:lnTo>
                <a:lnTo>
                  <a:pt x="2387981" y="63957"/>
                </a:lnTo>
                <a:close/>
              </a:path>
              <a:path w="2484754" h="2472054">
                <a:moveTo>
                  <a:pt x="2389365" y="2252611"/>
                </a:moveTo>
                <a:lnTo>
                  <a:pt x="2373757" y="2217864"/>
                </a:lnTo>
                <a:lnTo>
                  <a:pt x="2365070" y="2221763"/>
                </a:lnTo>
                <a:lnTo>
                  <a:pt x="2380678" y="2256523"/>
                </a:lnTo>
                <a:lnTo>
                  <a:pt x="2389365" y="2252611"/>
                </a:lnTo>
                <a:close/>
              </a:path>
              <a:path w="2484754" h="2472054">
                <a:moveTo>
                  <a:pt x="2389771" y="2409609"/>
                </a:moveTo>
                <a:lnTo>
                  <a:pt x="2356815" y="2390495"/>
                </a:lnTo>
                <a:lnTo>
                  <a:pt x="2352040" y="2398738"/>
                </a:lnTo>
                <a:lnTo>
                  <a:pt x="2384996" y="2417851"/>
                </a:lnTo>
                <a:lnTo>
                  <a:pt x="2389771" y="2409609"/>
                </a:lnTo>
                <a:close/>
              </a:path>
              <a:path w="2484754" h="2472054">
                <a:moveTo>
                  <a:pt x="2415082" y="162534"/>
                </a:moveTo>
                <a:lnTo>
                  <a:pt x="2406383" y="158635"/>
                </a:lnTo>
                <a:lnTo>
                  <a:pt x="2390813" y="193408"/>
                </a:lnTo>
                <a:lnTo>
                  <a:pt x="2399500" y="197307"/>
                </a:lnTo>
                <a:lnTo>
                  <a:pt x="2415082" y="162534"/>
                </a:lnTo>
                <a:close/>
              </a:path>
              <a:path w="2484754" h="2472054">
                <a:moveTo>
                  <a:pt x="2416683" y="2313432"/>
                </a:moveTo>
                <a:lnTo>
                  <a:pt x="2401074" y="2278684"/>
                </a:lnTo>
                <a:lnTo>
                  <a:pt x="2392388" y="2282583"/>
                </a:lnTo>
                <a:lnTo>
                  <a:pt x="2407996" y="2317343"/>
                </a:lnTo>
                <a:lnTo>
                  <a:pt x="2416683" y="2313432"/>
                </a:lnTo>
                <a:close/>
              </a:path>
              <a:path w="2484754" h="2472054">
                <a:moveTo>
                  <a:pt x="2442337" y="101688"/>
                </a:moveTo>
                <a:lnTo>
                  <a:pt x="2433650" y="97790"/>
                </a:lnTo>
                <a:lnTo>
                  <a:pt x="2418067" y="132562"/>
                </a:lnTo>
                <a:lnTo>
                  <a:pt x="2426766" y="136461"/>
                </a:lnTo>
                <a:lnTo>
                  <a:pt x="2442337" y="101688"/>
                </a:lnTo>
                <a:close/>
              </a:path>
              <a:path w="2484754" h="2472054">
                <a:moveTo>
                  <a:pt x="2444000" y="2374265"/>
                </a:moveTo>
                <a:lnTo>
                  <a:pt x="2428392" y="2339505"/>
                </a:lnTo>
                <a:lnTo>
                  <a:pt x="2419705" y="2343404"/>
                </a:lnTo>
                <a:lnTo>
                  <a:pt x="2435314" y="2378164"/>
                </a:lnTo>
                <a:lnTo>
                  <a:pt x="2444000" y="2374265"/>
                </a:lnTo>
                <a:close/>
              </a:path>
              <a:path w="2484754" h="2472054">
                <a:moveTo>
                  <a:pt x="2484374" y="2382786"/>
                </a:moveTo>
                <a:lnTo>
                  <a:pt x="2438425" y="2403424"/>
                </a:lnTo>
                <a:lnTo>
                  <a:pt x="2434031" y="2396731"/>
                </a:lnTo>
                <a:lnTo>
                  <a:pt x="2427224" y="2408453"/>
                </a:lnTo>
                <a:lnTo>
                  <a:pt x="2414867" y="2414003"/>
                </a:lnTo>
                <a:lnTo>
                  <a:pt x="2421064" y="2419083"/>
                </a:lnTo>
                <a:lnTo>
                  <a:pt x="2417305" y="2425573"/>
                </a:lnTo>
                <a:lnTo>
                  <a:pt x="2414498" y="2423947"/>
                </a:lnTo>
                <a:lnTo>
                  <a:pt x="2409723" y="2432177"/>
                </a:lnTo>
                <a:lnTo>
                  <a:pt x="2412530" y="2433815"/>
                </a:lnTo>
                <a:lnTo>
                  <a:pt x="2395817" y="2462657"/>
                </a:lnTo>
                <a:lnTo>
                  <a:pt x="2480843" y="2467902"/>
                </a:lnTo>
                <a:lnTo>
                  <a:pt x="2484374" y="2382786"/>
                </a:lnTo>
                <a:close/>
              </a:path>
              <a:path w="2484754" h="2472054">
                <a:moveTo>
                  <a:pt x="2484450" y="89230"/>
                </a:moveTo>
                <a:lnTo>
                  <a:pt x="2483878" y="75590"/>
                </a:lnTo>
                <a:lnTo>
                  <a:pt x="2480843" y="4102"/>
                </a:lnTo>
                <a:lnTo>
                  <a:pt x="2395829" y="9702"/>
                </a:lnTo>
                <a:lnTo>
                  <a:pt x="2412669" y="38481"/>
                </a:lnTo>
                <a:lnTo>
                  <a:pt x="2407831" y="41300"/>
                </a:lnTo>
                <a:lnTo>
                  <a:pt x="2412644" y="49530"/>
                </a:lnTo>
                <a:lnTo>
                  <a:pt x="2417483" y="46697"/>
                </a:lnTo>
                <a:lnTo>
                  <a:pt x="2421140" y="52971"/>
                </a:lnTo>
                <a:lnTo>
                  <a:pt x="2414917" y="58064"/>
                </a:lnTo>
                <a:lnTo>
                  <a:pt x="2427389" y="63665"/>
                </a:lnTo>
                <a:lnTo>
                  <a:pt x="2434310" y="75476"/>
                </a:lnTo>
                <a:lnTo>
                  <a:pt x="2438704" y="68732"/>
                </a:lnTo>
                <a:lnTo>
                  <a:pt x="2445347" y="71704"/>
                </a:lnTo>
                <a:lnTo>
                  <a:pt x="2454021" y="75603"/>
                </a:lnTo>
                <a:lnTo>
                  <a:pt x="2484450" y="8923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39" name="object 39"/>
          <p:cNvSpPr txBox="1"/>
          <p:nvPr/>
        </p:nvSpPr>
        <p:spPr>
          <a:xfrm>
            <a:off x="4152941" y="5721678"/>
            <a:ext cx="767080" cy="299720"/>
          </a:xfrm>
          <a:prstGeom prst="rect">
            <a:avLst/>
          </a:prstGeom>
        </p:spPr>
        <p:txBody>
          <a:bodyPr vert="horz" wrap="square" lIns="0" tIns="12700" rIns="0" bIns="0" rtlCol="0">
            <a:spAutoFit/>
          </a:bodyPr>
          <a:lstStyle/>
          <a:p>
            <a:pPr>
              <a:spcBef>
                <a:spcPts val="100"/>
              </a:spcBef>
            </a:pPr>
            <a:r>
              <a:rPr b="1" spc="-5" dirty="0">
                <a:solidFill>
                  <a:prstClr val="black"/>
                </a:solidFill>
                <a:latin typeface="Arial"/>
                <a:cs typeface="Arial"/>
              </a:rPr>
              <a:t>Input</a:t>
            </a:r>
            <a:r>
              <a:rPr b="1" spc="-80" dirty="0">
                <a:solidFill>
                  <a:prstClr val="black"/>
                </a:solidFill>
                <a:latin typeface="Arial"/>
                <a:cs typeface="Arial"/>
              </a:rPr>
              <a:t> </a:t>
            </a:r>
            <a:r>
              <a:rPr dirty="0">
                <a:solidFill>
                  <a:prstClr val="black"/>
                </a:solidFill>
                <a:latin typeface="Cambria Math"/>
                <a:cs typeface="Cambria Math"/>
              </a:rPr>
              <a:t>𝒙</a:t>
            </a:r>
            <a:endParaRPr>
              <a:solidFill>
                <a:prstClr val="black"/>
              </a:solidFill>
              <a:latin typeface="Cambria Math"/>
              <a:cs typeface="Cambria Math"/>
            </a:endParaRPr>
          </a:p>
        </p:txBody>
      </p:sp>
      <p:pic>
        <p:nvPicPr>
          <p:cNvPr id="40" name="object 40"/>
          <p:cNvPicPr/>
          <p:nvPr/>
        </p:nvPicPr>
        <p:blipFill>
          <a:blip r:embed="rId7" cstate="print"/>
          <a:stretch>
            <a:fillRect/>
          </a:stretch>
        </p:blipFill>
        <p:spPr>
          <a:xfrm>
            <a:off x="2414632" y="3275764"/>
            <a:ext cx="1330234" cy="1309770"/>
          </a:xfrm>
          <a:prstGeom prst="rect">
            <a:avLst/>
          </a:prstGeom>
        </p:spPr>
      </p:pic>
      <p:grpSp>
        <p:nvGrpSpPr>
          <p:cNvPr id="41" name="object 41"/>
          <p:cNvGrpSpPr/>
          <p:nvPr/>
        </p:nvGrpSpPr>
        <p:grpSpPr>
          <a:xfrm>
            <a:off x="4022602" y="2133600"/>
            <a:ext cx="4510405" cy="3945890"/>
            <a:chOff x="2498601" y="2133600"/>
            <a:chExt cx="4510405" cy="3945890"/>
          </a:xfrm>
        </p:grpSpPr>
        <p:sp>
          <p:nvSpPr>
            <p:cNvPr id="42" name="object 42"/>
            <p:cNvSpPr/>
            <p:nvPr/>
          </p:nvSpPr>
          <p:spPr>
            <a:xfrm>
              <a:off x="2511301" y="2146300"/>
              <a:ext cx="2132330" cy="3920490"/>
            </a:xfrm>
            <a:custGeom>
              <a:avLst/>
              <a:gdLst/>
              <a:ahLst/>
              <a:cxnLst/>
              <a:rect l="l" t="t" r="r" b="b"/>
              <a:pathLst>
                <a:path w="2132329" h="3920490">
                  <a:moveTo>
                    <a:pt x="0" y="0"/>
                  </a:moveTo>
                  <a:lnTo>
                    <a:pt x="2132001" y="0"/>
                  </a:lnTo>
                  <a:lnTo>
                    <a:pt x="2132001" y="3920136"/>
                  </a:lnTo>
                  <a:lnTo>
                    <a:pt x="0" y="3920136"/>
                  </a:lnTo>
                  <a:lnTo>
                    <a:pt x="0" y="0"/>
                  </a:lnTo>
                  <a:close/>
                </a:path>
              </a:pathLst>
            </a:custGeom>
            <a:ln w="25400">
              <a:solidFill>
                <a:srgbClr val="F79646"/>
              </a:solidFill>
            </a:ln>
          </p:spPr>
          <p:txBody>
            <a:bodyPr wrap="square" lIns="0" tIns="0" rIns="0" bIns="0" rtlCol="0"/>
            <a:lstStyle/>
            <a:p>
              <a:endParaRPr>
                <a:solidFill>
                  <a:prstClr val="black"/>
                </a:solidFill>
                <a:latin typeface="Calibri"/>
              </a:endParaRPr>
            </a:p>
          </p:txBody>
        </p:sp>
        <p:sp>
          <p:nvSpPr>
            <p:cNvPr id="43" name="object 43"/>
            <p:cNvSpPr/>
            <p:nvPr/>
          </p:nvSpPr>
          <p:spPr>
            <a:xfrm>
              <a:off x="4643301" y="2146300"/>
              <a:ext cx="2352675" cy="3920490"/>
            </a:xfrm>
            <a:custGeom>
              <a:avLst/>
              <a:gdLst/>
              <a:ahLst/>
              <a:cxnLst/>
              <a:rect l="l" t="t" r="r" b="b"/>
              <a:pathLst>
                <a:path w="2352675" h="3920490">
                  <a:moveTo>
                    <a:pt x="0" y="0"/>
                  </a:moveTo>
                  <a:lnTo>
                    <a:pt x="2352543" y="0"/>
                  </a:lnTo>
                  <a:lnTo>
                    <a:pt x="2352543" y="3920136"/>
                  </a:lnTo>
                  <a:lnTo>
                    <a:pt x="0" y="3920136"/>
                  </a:lnTo>
                  <a:lnTo>
                    <a:pt x="0" y="0"/>
                  </a:lnTo>
                  <a:close/>
                </a:path>
              </a:pathLst>
            </a:custGeom>
            <a:ln w="25400">
              <a:solidFill>
                <a:srgbClr val="FF0000"/>
              </a:solidFill>
            </a:ln>
          </p:spPr>
          <p:txBody>
            <a:bodyPr wrap="square" lIns="0" tIns="0" rIns="0" bIns="0" rtlCol="0"/>
            <a:lstStyle/>
            <a:p>
              <a:endParaRPr>
                <a:solidFill>
                  <a:prstClr val="black"/>
                </a:solidFill>
                <a:latin typeface="Calibri"/>
              </a:endParaRPr>
            </a:p>
          </p:txBody>
        </p:sp>
        <p:sp>
          <p:nvSpPr>
            <p:cNvPr id="44" name="object 44"/>
            <p:cNvSpPr/>
            <p:nvPr/>
          </p:nvSpPr>
          <p:spPr>
            <a:xfrm>
              <a:off x="4979479" y="3207054"/>
              <a:ext cx="899160" cy="1450975"/>
            </a:xfrm>
            <a:custGeom>
              <a:avLst/>
              <a:gdLst/>
              <a:ahLst/>
              <a:cxnLst/>
              <a:rect l="l" t="t" r="r" b="b"/>
              <a:pathLst>
                <a:path w="899160" h="1450975">
                  <a:moveTo>
                    <a:pt x="31864" y="1421472"/>
                  </a:moveTo>
                  <a:lnTo>
                    <a:pt x="24587" y="1415326"/>
                  </a:lnTo>
                  <a:lnTo>
                    <a:pt x="0" y="1444421"/>
                  </a:lnTo>
                  <a:lnTo>
                    <a:pt x="7264" y="1450581"/>
                  </a:lnTo>
                  <a:lnTo>
                    <a:pt x="31864" y="1421472"/>
                  </a:lnTo>
                  <a:close/>
                </a:path>
                <a:path w="899160" h="1450975">
                  <a:moveTo>
                    <a:pt x="40525" y="15011"/>
                  </a:moveTo>
                  <a:lnTo>
                    <a:pt x="5511" y="0"/>
                  </a:lnTo>
                  <a:lnTo>
                    <a:pt x="1752" y="8763"/>
                  </a:lnTo>
                  <a:lnTo>
                    <a:pt x="36779" y="23774"/>
                  </a:lnTo>
                  <a:lnTo>
                    <a:pt x="40525" y="15011"/>
                  </a:lnTo>
                  <a:close/>
                </a:path>
                <a:path w="899160" h="1450975">
                  <a:moveTo>
                    <a:pt x="74904" y="1370558"/>
                  </a:moveTo>
                  <a:lnTo>
                    <a:pt x="67627" y="1364411"/>
                  </a:lnTo>
                  <a:lnTo>
                    <a:pt x="43040" y="1393507"/>
                  </a:lnTo>
                  <a:lnTo>
                    <a:pt x="50317" y="1399654"/>
                  </a:lnTo>
                  <a:lnTo>
                    <a:pt x="74904" y="1370558"/>
                  </a:lnTo>
                  <a:close/>
                </a:path>
                <a:path w="899160" h="1450975">
                  <a:moveTo>
                    <a:pt x="101803" y="41287"/>
                  </a:moveTo>
                  <a:lnTo>
                    <a:pt x="66789" y="26276"/>
                  </a:lnTo>
                  <a:lnTo>
                    <a:pt x="63042" y="35026"/>
                  </a:lnTo>
                  <a:lnTo>
                    <a:pt x="98056" y="50038"/>
                  </a:lnTo>
                  <a:lnTo>
                    <a:pt x="101803" y="41287"/>
                  </a:lnTo>
                  <a:close/>
                </a:path>
                <a:path w="899160" h="1450975">
                  <a:moveTo>
                    <a:pt x="117944" y="1319631"/>
                  </a:moveTo>
                  <a:lnTo>
                    <a:pt x="110680" y="1313484"/>
                  </a:lnTo>
                  <a:lnTo>
                    <a:pt x="86080" y="1342580"/>
                  </a:lnTo>
                  <a:lnTo>
                    <a:pt x="93357" y="1348740"/>
                  </a:lnTo>
                  <a:lnTo>
                    <a:pt x="117944" y="1319631"/>
                  </a:lnTo>
                  <a:close/>
                </a:path>
                <a:path w="899160" h="1450975">
                  <a:moveTo>
                    <a:pt x="160997" y="1268717"/>
                  </a:moveTo>
                  <a:lnTo>
                    <a:pt x="153720" y="1262570"/>
                  </a:lnTo>
                  <a:lnTo>
                    <a:pt x="129120" y="1291666"/>
                  </a:lnTo>
                  <a:lnTo>
                    <a:pt x="136398" y="1297813"/>
                  </a:lnTo>
                  <a:lnTo>
                    <a:pt x="160997" y="1268717"/>
                  </a:lnTo>
                  <a:close/>
                </a:path>
                <a:path w="899160" h="1450975">
                  <a:moveTo>
                    <a:pt x="163093" y="67551"/>
                  </a:moveTo>
                  <a:lnTo>
                    <a:pt x="128079" y="52539"/>
                  </a:lnTo>
                  <a:lnTo>
                    <a:pt x="124320" y="61302"/>
                  </a:lnTo>
                  <a:lnTo>
                    <a:pt x="159334" y="76314"/>
                  </a:lnTo>
                  <a:lnTo>
                    <a:pt x="163093" y="67551"/>
                  </a:lnTo>
                  <a:close/>
                </a:path>
                <a:path w="899160" h="1450975">
                  <a:moveTo>
                    <a:pt x="204038" y="1217790"/>
                  </a:moveTo>
                  <a:lnTo>
                    <a:pt x="196761" y="1211643"/>
                  </a:lnTo>
                  <a:lnTo>
                    <a:pt x="172161" y="1240739"/>
                  </a:lnTo>
                  <a:lnTo>
                    <a:pt x="179438" y="1246886"/>
                  </a:lnTo>
                  <a:lnTo>
                    <a:pt x="204038" y="1217790"/>
                  </a:lnTo>
                  <a:close/>
                </a:path>
                <a:path w="899160" h="1450975">
                  <a:moveTo>
                    <a:pt x="224370" y="93827"/>
                  </a:moveTo>
                  <a:lnTo>
                    <a:pt x="189357" y="78816"/>
                  </a:lnTo>
                  <a:lnTo>
                    <a:pt x="185597" y="87566"/>
                  </a:lnTo>
                  <a:lnTo>
                    <a:pt x="220624" y="102577"/>
                  </a:lnTo>
                  <a:lnTo>
                    <a:pt x="224370" y="93827"/>
                  </a:lnTo>
                  <a:close/>
                </a:path>
                <a:path w="899160" h="1450975">
                  <a:moveTo>
                    <a:pt x="247078" y="1166876"/>
                  </a:moveTo>
                  <a:lnTo>
                    <a:pt x="239801" y="1160729"/>
                  </a:lnTo>
                  <a:lnTo>
                    <a:pt x="215201" y="1189824"/>
                  </a:lnTo>
                  <a:lnTo>
                    <a:pt x="222478" y="1195971"/>
                  </a:lnTo>
                  <a:lnTo>
                    <a:pt x="247078" y="1166876"/>
                  </a:lnTo>
                  <a:close/>
                </a:path>
                <a:path w="899160" h="1450975">
                  <a:moveTo>
                    <a:pt x="285661" y="120091"/>
                  </a:moveTo>
                  <a:lnTo>
                    <a:pt x="250634" y="105079"/>
                  </a:lnTo>
                  <a:lnTo>
                    <a:pt x="246888" y="113830"/>
                  </a:lnTo>
                  <a:lnTo>
                    <a:pt x="281901" y="128841"/>
                  </a:lnTo>
                  <a:lnTo>
                    <a:pt x="285661" y="120091"/>
                  </a:lnTo>
                  <a:close/>
                </a:path>
                <a:path w="899160" h="1450975">
                  <a:moveTo>
                    <a:pt x="290118" y="1115949"/>
                  </a:moveTo>
                  <a:lnTo>
                    <a:pt x="282841" y="1109802"/>
                  </a:lnTo>
                  <a:lnTo>
                    <a:pt x="258254" y="1138897"/>
                  </a:lnTo>
                  <a:lnTo>
                    <a:pt x="265518" y="1145044"/>
                  </a:lnTo>
                  <a:lnTo>
                    <a:pt x="290118" y="1115949"/>
                  </a:lnTo>
                  <a:close/>
                </a:path>
                <a:path w="899160" h="1450975">
                  <a:moveTo>
                    <a:pt x="333159" y="1065034"/>
                  </a:moveTo>
                  <a:lnTo>
                    <a:pt x="325882" y="1058887"/>
                  </a:lnTo>
                  <a:lnTo>
                    <a:pt x="301294" y="1087983"/>
                  </a:lnTo>
                  <a:lnTo>
                    <a:pt x="308559" y="1094130"/>
                  </a:lnTo>
                  <a:lnTo>
                    <a:pt x="333159" y="1065034"/>
                  </a:lnTo>
                  <a:close/>
                </a:path>
                <a:path w="899160" h="1450975">
                  <a:moveTo>
                    <a:pt x="346938" y="146367"/>
                  </a:moveTo>
                  <a:lnTo>
                    <a:pt x="311924" y="131356"/>
                  </a:lnTo>
                  <a:lnTo>
                    <a:pt x="308165" y="140106"/>
                  </a:lnTo>
                  <a:lnTo>
                    <a:pt x="343179" y="155117"/>
                  </a:lnTo>
                  <a:lnTo>
                    <a:pt x="346938" y="146367"/>
                  </a:lnTo>
                  <a:close/>
                </a:path>
                <a:path w="899160" h="1450975">
                  <a:moveTo>
                    <a:pt x="376199" y="1014107"/>
                  </a:moveTo>
                  <a:lnTo>
                    <a:pt x="368922" y="1007960"/>
                  </a:lnTo>
                  <a:lnTo>
                    <a:pt x="344335" y="1037056"/>
                  </a:lnTo>
                  <a:lnTo>
                    <a:pt x="351612" y="1043203"/>
                  </a:lnTo>
                  <a:lnTo>
                    <a:pt x="376199" y="1014107"/>
                  </a:lnTo>
                  <a:close/>
                </a:path>
                <a:path w="899160" h="1450975">
                  <a:moveTo>
                    <a:pt x="408216" y="172631"/>
                  </a:moveTo>
                  <a:lnTo>
                    <a:pt x="373202" y="157619"/>
                  </a:lnTo>
                  <a:lnTo>
                    <a:pt x="369443" y="166370"/>
                  </a:lnTo>
                  <a:lnTo>
                    <a:pt x="404469" y="181381"/>
                  </a:lnTo>
                  <a:lnTo>
                    <a:pt x="408216" y="172631"/>
                  </a:lnTo>
                  <a:close/>
                </a:path>
                <a:path w="899160" h="1450975">
                  <a:moveTo>
                    <a:pt x="419239" y="963193"/>
                  </a:moveTo>
                  <a:lnTo>
                    <a:pt x="411975" y="957046"/>
                  </a:lnTo>
                  <a:lnTo>
                    <a:pt x="387375" y="986142"/>
                  </a:lnTo>
                  <a:lnTo>
                    <a:pt x="394652" y="992289"/>
                  </a:lnTo>
                  <a:lnTo>
                    <a:pt x="419239" y="963193"/>
                  </a:lnTo>
                  <a:close/>
                </a:path>
                <a:path w="899160" h="1450975">
                  <a:moveTo>
                    <a:pt x="462292" y="912266"/>
                  </a:moveTo>
                  <a:lnTo>
                    <a:pt x="455015" y="906119"/>
                  </a:lnTo>
                  <a:lnTo>
                    <a:pt x="430415" y="935215"/>
                  </a:lnTo>
                  <a:lnTo>
                    <a:pt x="437692" y="941362"/>
                  </a:lnTo>
                  <a:lnTo>
                    <a:pt x="462292" y="912266"/>
                  </a:lnTo>
                  <a:close/>
                </a:path>
                <a:path w="899160" h="1450975">
                  <a:moveTo>
                    <a:pt x="469506" y="198894"/>
                  </a:moveTo>
                  <a:lnTo>
                    <a:pt x="434479" y="183883"/>
                  </a:lnTo>
                  <a:lnTo>
                    <a:pt x="430733" y="192646"/>
                  </a:lnTo>
                  <a:lnTo>
                    <a:pt x="465747" y="207657"/>
                  </a:lnTo>
                  <a:lnTo>
                    <a:pt x="469506" y="198894"/>
                  </a:lnTo>
                  <a:close/>
                </a:path>
                <a:path w="899160" h="1450975">
                  <a:moveTo>
                    <a:pt x="505333" y="861352"/>
                  </a:moveTo>
                  <a:lnTo>
                    <a:pt x="498055" y="855205"/>
                  </a:lnTo>
                  <a:lnTo>
                    <a:pt x="473456" y="884301"/>
                  </a:lnTo>
                  <a:lnTo>
                    <a:pt x="480733" y="890447"/>
                  </a:lnTo>
                  <a:lnTo>
                    <a:pt x="505333" y="861352"/>
                  </a:lnTo>
                  <a:close/>
                </a:path>
                <a:path w="899160" h="1450975">
                  <a:moveTo>
                    <a:pt x="530783" y="225171"/>
                  </a:moveTo>
                  <a:lnTo>
                    <a:pt x="495769" y="210159"/>
                  </a:lnTo>
                  <a:lnTo>
                    <a:pt x="492010" y="218909"/>
                  </a:lnTo>
                  <a:lnTo>
                    <a:pt x="527024" y="233921"/>
                  </a:lnTo>
                  <a:lnTo>
                    <a:pt x="530783" y="225171"/>
                  </a:lnTo>
                  <a:close/>
                </a:path>
                <a:path w="899160" h="1450975">
                  <a:moveTo>
                    <a:pt x="548373" y="810425"/>
                  </a:moveTo>
                  <a:lnTo>
                    <a:pt x="541096" y="804278"/>
                  </a:lnTo>
                  <a:lnTo>
                    <a:pt x="516496" y="833374"/>
                  </a:lnTo>
                  <a:lnTo>
                    <a:pt x="523773" y="839520"/>
                  </a:lnTo>
                  <a:lnTo>
                    <a:pt x="548373" y="810425"/>
                  </a:lnTo>
                  <a:close/>
                </a:path>
                <a:path w="899160" h="1450975">
                  <a:moveTo>
                    <a:pt x="591413" y="759510"/>
                  </a:moveTo>
                  <a:lnTo>
                    <a:pt x="584136" y="753364"/>
                  </a:lnTo>
                  <a:lnTo>
                    <a:pt x="559549" y="782459"/>
                  </a:lnTo>
                  <a:lnTo>
                    <a:pt x="566813" y="788606"/>
                  </a:lnTo>
                  <a:lnTo>
                    <a:pt x="591413" y="759510"/>
                  </a:lnTo>
                  <a:close/>
                </a:path>
                <a:path w="899160" h="1450975">
                  <a:moveTo>
                    <a:pt x="592061" y="251434"/>
                  </a:moveTo>
                  <a:lnTo>
                    <a:pt x="557047" y="236423"/>
                  </a:lnTo>
                  <a:lnTo>
                    <a:pt x="553288" y="245186"/>
                  </a:lnTo>
                  <a:lnTo>
                    <a:pt x="588314" y="260197"/>
                  </a:lnTo>
                  <a:lnTo>
                    <a:pt x="592061" y="251434"/>
                  </a:lnTo>
                  <a:close/>
                </a:path>
                <a:path w="899160" h="1450975">
                  <a:moveTo>
                    <a:pt x="634453" y="708583"/>
                  </a:moveTo>
                  <a:lnTo>
                    <a:pt x="627176" y="702437"/>
                  </a:lnTo>
                  <a:lnTo>
                    <a:pt x="602589" y="731532"/>
                  </a:lnTo>
                  <a:lnTo>
                    <a:pt x="609854" y="737679"/>
                  </a:lnTo>
                  <a:lnTo>
                    <a:pt x="634453" y="708583"/>
                  </a:lnTo>
                  <a:close/>
                </a:path>
                <a:path w="899160" h="1450975">
                  <a:moveTo>
                    <a:pt x="653351" y="277710"/>
                  </a:moveTo>
                  <a:lnTo>
                    <a:pt x="618324" y="262699"/>
                  </a:lnTo>
                  <a:lnTo>
                    <a:pt x="614578" y="271449"/>
                  </a:lnTo>
                  <a:lnTo>
                    <a:pt x="649592" y="286461"/>
                  </a:lnTo>
                  <a:lnTo>
                    <a:pt x="653351" y="277710"/>
                  </a:lnTo>
                  <a:close/>
                </a:path>
                <a:path w="899160" h="1450975">
                  <a:moveTo>
                    <a:pt x="677494" y="657669"/>
                  </a:moveTo>
                  <a:lnTo>
                    <a:pt x="670217" y="651522"/>
                  </a:lnTo>
                  <a:lnTo>
                    <a:pt x="645629" y="680618"/>
                  </a:lnTo>
                  <a:lnTo>
                    <a:pt x="652907" y="686765"/>
                  </a:lnTo>
                  <a:lnTo>
                    <a:pt x="677494" y="657669"/>
                  </a:lnTo>
                  <a:close/>
                </a:path>
                <a:path w="899160" h="1450975">
                  <a:moveTo>
                    <a:pt x="714629" y="303974"/>
                  </a:moveTo>
                  <a:lnTo>
                    <a:pt x="679615" y="288963"/>
                  </a:lnTo>
                  <a:lnTo>
                    <a:pt x="675855" y="297726"/>
                  </a:lnTo>
                  <a:lnTo>
                    <a:pt x="710869" y="312737"/>
                  </a:lnTo>
                  <a:lnTo>
                    <a:pt x="714629" y="303974"/>
                  </a:lnTo>
                  <a:close/>
                </a:path>
                <a:path w="899160" h="1450975">
                  <a:moveTo>
                    <a:pt x="720534" y="606742"/>
                  </a:moveTo>
                  <a:lnTo>
                    <a:pt x="713270" y="600595"/>
                  </a:lnTo>
                  <a:lnTo>
                    <a:pt x="688670" y="629691"/>
                  </a:lnTo>
                  <a:lnTo>
                    <a:pt x="695947" y="635838"/>
                  </a:lnTo>
                  <a:lnTo>
                    <a:pt x="720534" y="606742"/>
                  </a:lnTo>
                  <a:close/>
                </a:path>
                <a:path w="899160" h="1450975">
                  <a:moveTo>
                    <a:pt x="763587" y="555828"/>
                  </a:moveTo>
                  <a:lnTo>
                    <a:pt x="756310" y="549668"/>
                  </a:lnTo>
                  <a:lnTo>
                    <a:pt x="731710" y="578777"/>
                  </a:lnTo>
                  <a:lnTo>
                    <a:pt x="738987" y="584923"/>
                  </a:lnTo>
                  <a:lnTo>
                    <a:pt x="763587" y="555828"/>
                  </a:lnTo>
                  <a:close/>
                </a:path>
                <a:path w="899160" h="1450975">
                  <a:moveTo>
                    <a:pt x="775906" y="330250"/>
                  </a:moveTo>
                  <a:lnTo>
                    <a:pt x="740892" y="315239"/>
                  </a:lnTo>
                  <a:lnTo>
                    <a:pt x="737146" y="323989"/>
                  </a:lnTo>
                  <a:lnTo>
                    <a:pt x="772160" y="339001"/>
                  </a:lnTo>
                  <a:lnTo>
                    <a:pt x="775906" y="330250"/>
                  </a:lnTo>
                  <a:close/>
                </a:path>
                <a:path w="899160" h="1450975">
                  <a:moveTo>
                    <a:pt x="806627" y="504901"/>
                  </a:moveTo>
                  <a:lnTo>
                    <a:pt x="799350" y="498754"/>
                  </a:lnTo>
                  <a:lnTo>
                    <a:pt x="774750" y="527850"/>
                  </a:lnTo>
                  <a:lnTo>
                    <a:pt x="782027" y="533996"/>
                  </a:lnTo>
                  <a:lnTo>
                    <a:pt x="806627" y="504901"/>
                  </a:lnTo>
                  <a:close/>
                </a:path>
                <a:path w="899160" h="1450975">
                  <a:moveTo>
                    <a:pt x="849668" y="453986"/>
                  </a:moveTo>
                  <a:lnTo>
                    <a:pt x="842391" y="447827"/>
                  </a:lnTo>
                  <a:lnTo>
                    <a:pt x="817791" y="476935"/>
                  </a:lnTo>
                  <a:lnTo>
                    <a:pt x="825068" y="483082"/>
                  </a:lnTo>
                  <a:lnTo>
                    <a:pt x="849668" y="453986"/>
                  </a:lnTo>
                  <a:close/>
                </a:path>
                <a:path w="899160" h="1450975">
                  <a:moveTo>
                    <a:pt x="899033" y="388200"/>
                  </a:moveTo>
                  <a:lnTo>
                    <a:pt x="869924" y="353809"/>
                  </a:lnTo>
                  <a:lnTo>
                    <a:pt x="844003" y="323164"/>
                  </a:lnTo>
                  <a:lnTo>
                    <a:pt x="830872" y="353809"/>
                  </a:lnTo>
                  <a:lnTo>
                    <a:pt x="802170" y="341503"/>
                  </a:lnTo>
                  <a:lnTo>
                    <a:pt x="798423" y="350253"/>
                  </a:lnTo>
                  <a:lnTo>
                    <a:pt x="827112" y="362559"/>
                  </a:lnTo>
                  <a:lnTo>
                    <a:pt x="813981" y="393204"/>
                  </a:lnTo>
                  <a:lnTo>
                    <a:pt x="899033" y="388200"/>
                  </a:lnTo>
                  <a:close/>
                </a:path>
                <a:path w="899160" h="1450975">
                  <a:moveTo>
                    <a:pt x="899033" y="388200"/>
                  </a:moveTo>
                  <a:lnTo>
                    <a:pt x="820737" y="421805"/>
                  </a:lnTo>
                  <a:lnTo>
                    <a:pt x="878941" y="470992"/>
                  </a:lnTo>
                  <a:lnTo>
                    <a:pt x="899033" y="38820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45" name="object 45"/>
            <p:cNvSpPr/>
            <p:nvPr/>
          </p:nvSpPr>
          <p:spPr>
            <a:xfrm>
              <a:off x="5878514" y="4924397"/>
              <a:ext cx="723900" cy="723900"/>
            </a:xfrm>
            <a:custGeom>
              <a:avLst/>
              <a:gdLst/>
              <a:ahLst/>
              <a:cxnLst/>
              <a:rect l="l" t="t" r="r" b="b"/>
              <a:pathLst>
                <a:path w="723900" h="723900">
                  <a:moveTo>
                    <a:pt x="361950" y="0"/>
                  </a:moveTo>
                  <a:lnTo>
                    <a:pt x="312835" y="3304"/>
                  </a:lnTo>
                  <a:lnTo>
                    <a:pt x="265729" y="12929"/>
                  </a:lnTo>
                  <a:lnTo>
                    <a:pt x="221062" y="28443"/>
                  </a:lnTo>
                  <a:lnTo>
                    <a:pt x="179266" y="49416"/>
                  </a:lnTo>
                  <a:lnTo>
                    <a:pt x="140773" y="75416"/>
                  </a:lnTo>
                  <a:lnTo>
                    <a:pt x="106012" y="106012"/>
                  </a:lnTo>
                  <a:lnTo>
                    <a:pt x="75416" y="140773"/>
                  </a:lnTo>
                  <a:lnTo>
                    <a:pt x="49416" y="179266"/>
                  </a:lnTo>
                  <a:lnTo>
                    <a:pt x="28443" y="221062"/>
                  </a:lnTo>
                  <a:lnTo>
                    <a:pt x="12929" y="265729"/>
                  </a:lnTo>
                  <a:lnTo>
                    <a:pt x="3304" y="312835"/>
                  </a:lnTo>
                  <a:lnTo>
                    <a:pt x="0" y="361950"/>
                  </a:lnTo>
                  <a:lnTo>
                    <a:pt x="3304" y="411064"/>
                  </a:lnTo>
                  <a:lnTo>
                    <a:pt x="12929" y="458170"/>
                  </a:lnTo>
                  <a:lnTo>
                    <a:pt x="28443" y="502837"/>
                  </a:lnTo>
                  <a:lnTo>
                    <a:pt x="49416" y="544633"/>
                  </a:lnTo>
                  <a:lnTo>
                    <a:pt x="75416" y="583126"/>
                  </a:lnTo>
                  <a:lnTo>
                    <a:pt x="106012" y="617887"/>
                  </a:lnTo>
                  <a:lnTo>
                    <a:pt x="140773" y="648483"/>
                  </a:lnTo>
                  <a:lnTo>
                    <a:pt x="179266" y="674483"/>
                  </a:lnTo>
                  <a:lnTo>
                    <a:pt x="221062" y="695456"/>
                  </a:lnTo>
                  <a:lnTo>
                    <a:pt x="265729" y="710970"/>
                  </a:lnTo>
                  <a:lnTo>
                    <a:pt x="312835" y="720595"/>
                  </a:lnTo>
                  <a:lnTo>
                    <a:pt x="361950" y="723900"/>
                  </a:lnTo>
                  <a:lnTo>
                    <a:pt x="411064" y="720595"/>
                  </a:lnTo>
                  <a:lnTo>
                    <a:pt x="458170" y="710970"/>
                  </a:lnTo>
                  <a:lnTo>
                    <a:pt x="502837" y="695456"/>
                  </a:lnTo>
                  <a:lnTo>
                    <a:pt x="544633" y="674483"/>
                  </a:lnTo>
                  <a:lnTo>
                    <a:pt x="583126" y="648483"/>
                  </a:lnTo>
                  <a:lnTo>
                    <a:pt x="617887" y="617887"/>
                  </a:lnTo>
                  <a:lnTo>
                    <a:pt x="648483" y="583126"/>
                  </a:lnTo>
                  <a:lnTo>
                    <a:pt x="674483" y="544633"/>
                  </a:lnTo>
                  <a:lnTo>
                    <a:pt x="695456" y="502837"/>
                  </a:lnTo>
                  <a:lnTo>
                    <a:pt x="710970" y="458170"/>
                  </a:lnTo>
                  <a:lnTo>
                    <a:pt x="720595" y="411064"/>
                  </a:lnTo>
                  <a:lnTo>
                    <a:pt x="723899" y="361950"/>
                  </a:lnTo>
                  <a:lnTo>
                    <a:pt x="720595" y="312835"/>
                  </a:lnTo>
                  <a:lnTo>
                    <a:pt x="710970" y="265729"/>
                  </a:lnTo>
                  <a:lnTo>
                    <a:pt x="695456" y="221062"/>
                  </a:lnTo>
                  <a:lnTo>
                    <a:pt x="674483" y="179266"/>
                  </a:lnTo>
                  <a:lnTo>
                    <a:pt x="648483" y="140773"/>
                  </a:lnTo>
                  <a:lnTo>
                    <a:pt x="617887" y="106012"/>
                  </a:lnTo>
                  <a:lnTo>
                    <a:pt x="583126" y="75416"/>
                  </a:lnTo>
                  <a:lnTo>
                    <a:pt x="544633" y="49416"/>
                  </a:lnTo>
                  <a:lnTo>
                    <a:pt x="502837" y="28443"/>
                  </a:lnTo>
                  <a:lnTo>
                    <a:pt x="458170" y="12929"/>
                  </a:lnTo>
                  <a:lnTo>
                    <a:pt x="411064" y="3304"/>
                  </a:lnTo>
                  <a:lnTo>
                    <a:pt x="361950" y="0"/>
                  </a:lnTo>
                  <a:close/>
                </a:path>
              </a:pathLst>
            </a:custGeom>
            <a:solidFill>
              <a:srgbClr val="F3CECE"/>
            </a:solidFill>
          </p:spPr>
          <p:txBody>
            <a:bodyPr wrap="square" lIns="0" tIns="0" rIns="0" bIns="0" rtlCol="0"/>
            <a:lstStyle/>
            <a:p>
              <a:endParaRPr>
                <a:solidFill>
                  <a:prstClr val="black"/>
                </a:solidFill>
                <a:latin typeface="Calibri"/>
              </a:endParaRPr>
            </a:p>
          </p:txBody>
        </p:sp>
        <p:sp>
          <p:nvSpPr>
            <p:cNvPr id="46" name="object 46"/>
            <p:cNvSpPr/>
            <p:nvPr/>
          </p:nvSpPr>
          <p:spPr>
            <a:xfrm>
              <a:off x="5878514" y="4924397"/>
              <a:ext cx="723900" cy="723900"/>
            </a:xfrm>
            <a:custGeom>
              <a:avLst/>
              <a:gdLst/>
              <a:ahLst/>
              <a:cxnLst/>
              <a:rect l="l" t="t" r="r" b="b"/>
              <a:pathLst>
                <a:path w="723900" h="723900">
                  <a:moveTo>
                    <a:pt x="0" y="361950"/>
                  </a:moveTo>
                  <a:lnTo>
                    <a:pt x="3304" y="312835"/>
                  </a:lnTo>
                  <a:lnTo>
                    <a:pt x="12929" y="265729"/>
                  </a:lnTo>
                  <a:lnTo>
                    <a:pt x="28443" y="221062"/>
                  </a:lnTo>
                  <a:lnTo>
                    <a:pt x="49416" y="179266"/>
                  </a:lnTo>
                  <a:lnTo>
                    <a:pt x="75416" y="140773"/>
                  </a:lnTo>
                  <a:lnTo>
                    <a:pt x="106012" y="106012"/>
                  </a:lnTo>
                  <a:lnTo>
                    <a:pt x="140773" y="75416"/>
                  </a:lnTo>
                  <a:lnTo>
                    <a:pt x="179266" y="49416"/>
                  </a:lnTo>
                  <a:lnTo>
                    <a:pt x="221062" y="28443"/>
                  </a:lnTo>
                  <a:lnTo>
                    <a:pt x="265729" y="12929"/>
                  </a:lnTo>
                  <a:lnTo>
                    <a:pt x="312835" y="3304"/>
                  </a:lnTo>
                  <a:lnTo>
                    <a:pt x="361950" y="0"/>
                  </a:lnTo>
                  <a:lnTo>
                    <a:pt x="411064" y="3304"/>
                  </a:lnTo>
                  <a:lnTo>
                    <a:pt x="458170" y="12929"/>
                  </a:lnTo>
                  <a:lnTo>
                    <a:pt x="502837" y="28443"/>
                  </a:lnTo>
                  <a:lnTo>
                    <a:pt x="544633" y="49416"/>
                  </a:lnTo>
                  <a:lnTo>
                    <a:pt x="583126" y="75416"/>
                  </a:lnTo>
                  <a:lnTo>
                    <a:pt x="617887" y="106012"/>
                  </a:lnTo>
                  <a:lnTo>
                    <a:pt x="648483" y="140773"/>
                  </a:lnTo>
                  <a:lnTo>
                    <a:pt x="674483" y="179266"/>
                  </a:lnTo>
                  <a:lnTo>
                    <a:pt x="695456" y="221062"/>
                  </a:lnTo>
                  <a:lnTo>
                    <a:pt x="710970" y="265729"/>
                  </a:lnTo>
                  <a:lnTo>
                    <a:pt x="720595" y="312835"/>
                  </a:lnTo>
                  <a:lnTo>
                    <a:pt x="723900" y="361950"/>
                  </a:lnTo>
                  <a:lnTo>
                    <a:pt x="720595" y="411064"/>
                  </a:lnTo>
                  <a:lnTo>
                    <a:pt x="710970" y="458170"/>
                  </a:lnTo>
                  <a:lnTo>
                    <a:pt x="695456" y="502837"/>
                  </a:lnTo>
                  <a:lnTo>
                    <a:pt x="674483" y="544633"/>
                  </a:lnTo>
                  <a:lnTo>
                    <a:pt x="648483" y="583126"/>
                  </a:lnTo>
                  <a:lnTo>
                    <a:pt x="617887" y="617887"/>
                  </a:lnTo>
                  <a:lnTo>
                    <a:pt x="583126" y="648483"/>
                  </a:lnTo>
                  <a:lnTo>
                    <a:pt x="544633" y="674483"/>
                  </a:lnTo>
                  <a:lnTo>
                    <a:pt x="502837" y="695456"/>
                  </a:lnTo>
                  <a:lnTo>
                    <a:pt x="458170" y="710970"/>
                  </a:lnTo>
                  <a:lnTo>
                    <a:pt x="411064" y="720595"/>
                  </a:lnTo>
                  <a:lnTo>
                    <a:pt x="361950" y="723900"/>
                  </a:lnTo>
                  <a:lnTo>
                    <a:pt x="312835" y="720595"/>
                  </a:lnTo>
                  <a:lnTo>
                    <a:pt x="265729" y="710970"/>
                  </a:lnTo>
                  <a:lnTo>
                    <a:pt x="221062" y="695456"/>
                  </a:lnTo>
                  <a:lnTo>
                    <a:pt x="179266" y="674483"/>
                  </a:lnTo>
                  <a:lnTo>
                    <a:pt x="140773" y="648483"/>
                  </a:lnTo>
                  <a:lnTo>
                    <a:pt x="106012" y="617887"/>
                  </a:lnTo>
                  <a:lnTo>
                    <a:pt x="75416" y="583126"/>
                  </a:lnTo>
                  <a:lnTo>
                    <a:pt x="49416" y="544633"/>
                  </a:lnTo>
                  <a:lnTo>
                    <a:pt x="28443" y="502837"/>
                  </a:lnTo>
                  <a:lnTo>
                    <a:pt x="12929" y="458170"/>
                  </a:lnTo>
                  <a:lnTo>
                    <a:pt x="3304" y="411064"/>
                  </a:lnTo>
                  <a:lnTo>
                    <a:pt x="0" y="361950"/>
                  </a:lnTo>
                  <a:close/>
                </a:path>
              </a:pathLst>
            </a:custGeom>
            <a:ln w="25400">
              <a:solidFill>
                <a:srgbClr val="000000"/>
              </a:solidFill>
            </a:ln>
          </p:spPr>
          <p:txBody>
            <a:bodyPr wrap="square" lIns="0" tIns="0" rIns="0" bIns="0" rtlCol="0"/>
            <a:lstStyle/>
            <a:p>
              <a:endParaRPr>
                <a:solidFill>
                  <a:prstClr val="black"/>
                </a:solidFill>
                <a:latin typeface="Calibri"/>
              </a:endParaRPr>
            </a:p>
          </p:txBody>
        </p:sp>
      </p:grpSp>
      <p:sp>
        <p:nvSpPr>
          <p:cNvPr id="47" name="object 47"/>
          <p:cNvSpPr txBox="1"/>
          <p:nvPr/>
        </p:nvSpPr>
        <p:spPr>
          <a:xfrm>
            <a:off x="4678141" y="1813115"/>
            <a:ext cx="836294" cy="269240"/>
          </a:xfrm>
          <a:prstGeom prst="rect">
            <a:avLst/>
          </a:prstGeom>
        </p:spPr>
        <p:txBody>
          <a:bodyPr vert="horz" wrap="square" lIns="0" tIns="12700" rIns="0" bIns="0" rtlCol="0">
            <a:spAutoFit/>
          </a:bodyPr>
          <a:lstStyle/>
          <a:p>
            <a:pPr marL="12700">
              <a:spcBef>
                <a:spcPts val="100"/>
              </a:spcBef>
            </a:pPr>
            <a:r>
              <a:rPr sz="1600" b="1" spc="-5" dirty="0">
                <a:solidFill>
                  <a:prstClr val="black"/>
                </a:solidFill>
                <a:latin typeface="Arial"/>
                <a:cs typeface="Arial"/>
              </a:rPr>
              <a:t>Encode</a:t>
            </a:r>
            <a:r>
              <a:rPr sz="1600" b="1" dirty="0">
                <a:solidFill>
                  <a:prstClr val="black"/>
                </a:solidFill>
                <a:latin typeface="Arial"/>
                <a:cs typeface="Arial"/>
              </a:rPr>
              <a:t>r</a:t>
            </a:r>
            <a:endParaRPr sz="1600">
              <a:solidFill>
                <a:prstClr val="black"/>
              </a:solidFill>
              <a:latin typeface="Arial"/>
              <a:cs typeface="Arial"/>
            </a:endParaRPr>
          </a:p>
        </p:txBody>
      </p:sp>
      <p:sp>
        <p:nvSpPr>
          <p:cNvPr id="48" name="object 48"/>
          <p:cNvSpPr txBox="1"/>
          <p:nvPr/>
        </p:nvSpPr>
        <p:spPr>
          <a:xfrm>
            <a:off x="6347093" y="1799495"/>
            <a:ext cx="1664335" cy="269240"/>
          </a:xfrm>
          <a:prstGeom prst="rect">
            <a:avLst/>
          </a:prstGeom>
        </p:spPr>
        <p:txBody>
          <a:bodyPr vert="horz" wrap="square" lIns="0" tIns="12700" rIns="0" bIns="0" rtlCol="0">
            <a:spAutoFit/>
          </a:bodyPr>
          <a:lstStyle/>
          <a:p>
            <a:pPr marL="12700">
              <a:spcBef>
                <a:spcPts val="100"/>
              </a:spcBef>
            </a:pPr>
            <a:r>
              <a:rPr sz="1600" b="1" spc="-5" dirty="0">
                <a:solidFill>
                  <a:prstClr val="black"/>
                </a:solidFill>
                <a:latin typeface="Arial"/>
                <a:cs typeface="Arial"/>
              </a:rPr>
              <a:t>New</a:t>
            </a:r>
            <a:r>
              <a:rPr sz="1600" b="1" spc="-25" dirty="0">
                <a:solidFill>
                  <a:prstClr val="black"/>
                </a:solidFill>
                <a:latin typeface="Arial"/>
                <a:cs typeface="Arial"/>
              </a:rPr>
              <a:t> </a:t>
            </a:r>
            <a:r>
              <a:rPr sz="1600" b="1" spc="-5" dirty="0">
                <a:solidFill>
                  <a:prstClr val="black"/>
                </a:solidFill>
                <a:latin typeface="Arial"/>
                <a:cs typeface="Arial"/>
              </a:rPr>
              <a:t>output</a:t>
            </a:r>
            <a:r>
              <a:rPr sz="1600" b="1" spc="-20" dirty="0">
                <a:solidFill>
                  <a:prstClr val="black"/>
                </a:solidFill>
                <a:latin typeface="Arial"/>
                <a:cs typeface="Arial"/>
              </a:rPr>
              <a:t> </a:t>
            </a:r>
            <a:r>
              <a:rPr sz="1600" b="1" spc="-5" dirty="0">
                <a:solidFill>
                  <a:prstClr val="black"/>
                </a:solidFill>
                <a:latin typeface="Arial"/>
                <a:cs typeface="Arial"/>
              </a:rPr>
              <a:t>layer</a:t>
            </a:r>
            <a:endParaRPr sz="1600">
              <a:solidFill>
                <a:prstClr val="black"/>
              </a:solidFill>
              <a:latin typeface="Arial"/>
              <a:cs typeface="Arial"/>
            </a:endParaRPr>
          </a:p>
        </p:txBody>
      </p:sp>
      <p:sp>
        <p:nvSpPr>
          <p:cNvPr id="49" name="object 49"/>
          <p:cNvSpPr txBox="1"/>
          <p:nvPr/>
        </p:nvSpPr>
        <p:spPr>
          <a:xfrm>
            <a:off x="7584316" y="5128041"/>
            <a:ext cx="299085"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𝒚</a:t>
            </a:r>
            <a:r>
              <a:rPr sz="1950" spc="-7" baseline="-14957" dirty="0">
                <a:solidFill>
                  <a:prstClr val="black"/>
                </a:solidFill>
                <a:latin typeface="Cambria Math"/>
                <a:cs typeface="Cambria Math"/>
              </a:rPr>
              <a:t>𝟒</a:t>
            </a:r>
            <a:endParaRPr sz="1950" baseline="-14957">
              <a:solidFill>
                <a:prstClr val="black"/>
              </a:solidFill>
              <a:latin typeface="Cambria Math"/>
              <a:cs typeface="Cambria Math"/>
            </a:endParaRPr>
          </a:p>
        </p:txBody>
      </p:sp>
      <p:sp>
        <p:nvSpPr>
          <p:cNvPr id="50" name="object 50"/>
          <p:cNvSpPr txBox="1"/>
          <p:nvPr/>
        </p:nvSpPr>
        <p:spPr>
          <a:xfrm>
            <a:off x="8759819" y="5721678"/>
            <a:ext cx="962025"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Output</a:t>
            </a:r>
            <a:r>
              <a:rPr b="1" spc="-75" dirty="0">
                <a:solidFill>
                  <a:prstClr val="black"/>
                </a:solidFill>
                <a:latin typeface="Arial"/>
                <a:cs typeface="Arial"/>
              </a:rPr>
              <a:t> </a:t>
            </a:r>
            <a:r>
              <a:rPr dirty="0">
                <a:solidFill>
                  <a:prstClr val="black"/>
                </a:solidFill>
                <a:latin typeface="Cambria Math"/>
                <a:cs typeface="Cambria Math"/>
              </a:rPr>
              <a:t>𝐲</a:t>
            </a:r>
            <a:endParaRPr>
              <a:solidFill>
                <a:prstClr val="black"/>
              </a:solidFill>
              <a:latin typeface="Cambria Math"/>
              <a:cs typeface="Cambria Math"/>
            </a:endParaRPr>
          </a:p>
        </p:txBody>
      </p:sp>
      <p:sp>
        <p:nvSpPr>
          <p:cNvPr id="51" name="object 51"/>
          <p:cNvSpPr/>
          <p:nvPr/>
        </p:nvSpPr>
        <p:spPr>
          <a:xfrm>
            <a:off x="6503276" y="2660663"/>
            <a:ext cx="2858770" cy="2654935"/>
          </a:xfrm>
          <a:custGeom>
            <a:avLst/>
            <a:gdLst/>
            <a:ahLst/>
            <a:cxnLst/>
            <a:rect l="l" t="t" r="r" b="b"/>
            <a:pathLst>
              <a:path w="2858770" h="2654935">
                <a:moveTo>
                  <a:pt x="30251" y="578637"/>
                </a:moveTo>
                <a:lnTo>
                  <a:pt x="7670" y="547954"/>
                </a:lnTo>
                <a:lnTo>
                  <a:pt x="0" y="553593"/>
                </a:lnTo>
                <a:lnTo>
                  <a:pt x="22580" y="584276"/>
                </a:lnTo>
                <a:lnTo>
                  <a:pt x="30251" y="578637"/>
                </a:lnTo>
                <a:close/>
              </a:path>
              <a:path w="2858770" h="2654935">
                <a:moveTo>
                  <a:pt x="41935" y="1989175"/>
                </a:moveTo>
                <a:lnTo>
                  <a:pt x="39611" y="1979942"/>
                </a:lnTo>
                <a:lnTo>
                  <a:pt x="2667" y="1989277"/>
                </a:lnTo>
                <a:lnTo>
                  <a:pt x="5003" y="1998510"/>
                </a:lnTo>
                <a:lnTo>
                  <a:pt x="41935" y="1989175"/>
                </a:lnTo>
                <a:close/>
              </a:path>
              <a:path w="2858770" h="2654935">
                <a:moveTo>
                  <a:pt x="69773" y="632333"/>
                </a:moveTo>
                <a:lnTo>
                  <a:pt x="47193" y="601649"/>
                </a:lnTo>
                <a:lnTo>
                  <a:pt x="39522" y="607301"/>
                </a:lnTo>
                <a:lnTo>
                  <a:pt x="62103" y="637984"/>
                </a:lnTo>
                <a:lnTo>
                  <a:pt x="69773" y="632333"/>
                </a:lnTo>
                <a:close/>
              </a:path>
              <a:path w="2858770" h="2654935">
                <a:moveTo>
                  <a:pt x="106578" y="1972830"/>
                </a:moveTo>
                <a:lnTo>
                  <a:pt x="104254" y="1963597"/>
                </a:lnTo>
                <a:lnTo>
                  <a:pt x="67310" y="1972932"/>
                </a:lnTo>
                <a:lnTo>
                  <a:pt x="69646" y="1982165"/>
                </a:lnTo>
                <a:lnTo>
                  <a:pt x="106578" y="1972830"/>
                </a:lnTo>
                <a:close/>
              </a:path>
              <a:path w="2858770" h="2654935">
                <a:moveTo>
                  <a:pt x="109296" y="686041"/>
                </a:moveTo>
                <a:lnTo>
                  <a:pt x="86702" y="655358"/>
                </a:lnTo>
                <a:lnTo>
                  <a:pt x="79032" y="660996"/>
                </a:lnTo>
                <a:lnTo>
                  <a:pt x="101612" y="691680"/>
                </a:lnTo>
                <a:lnTo>
                  <a:pt x="109296" y="686041"/>
                </a:lnTo>
                <a:close/>
              </a:path>
              <a:path w="2858770" h="2654935">
                <a:moveTo>
                  <a:pt x="148805" y="739736"/>
                </a:moveTo>
                <a:lnTo>
                  <a:pt x="126225" y="709053"/>
                </a:lnTo>
                <a:lnTo>
                  <a:pt x="118554" y="714705"/>
                </a:lnTo>
                <a:lnTo>
                  <a:pt x="141135" y="745388"/>
                </a:lnTo>
                <a:lnTo>
                  <a:pt x="148805" y="739736"/>
                </a:lnTo>
                <a:close/>
              </a:path>
              <a:path w="2858770" h="2654935">
                <a:moveTo>
                  <a:pt x="171221" y="1956485"/>
                </a:moveTo>
                <a:lnTo>
                  <a:pt x="168884" y="1947252"/>
                </a:lnTo>
                <a:lnTo>
                  <a:pt x="131953" y="1956587"/>
                </a:lnTo>
                <a:lnTo>
                  <a:pt x="134289" y="1965833"/>
                </a:lnTo>
                <a:lnTo>
                  <a:pt x="171221" y="1956485"/>
                </a:lnTo>
                <a:close/>
              </a:path>
              <a:path w="2858770" h="2654935">
                <a:moveTo>
                  <a:pt x="188328" y="793445"/>
                </a:moveTo>
                <a:lnTo>
                  <a:pt x="165747" y="762762"/>
                </a:lnTo>
                <a:lnTo>
                  <a:pt x="158076" y="768400"/>
                </a:lnTo>
                <a:lnTo>
                  <a:pt x="180657" y="799084"/>
                </a:lnTo>
                <a:lnTo>
                  <a:pt x="188328" y="793445"/>
                </a:lnTo>
                <a:close/>
              </a:path>
              <a:path w="2858770" h="2654935">
                <a:moveTo>
                  <a:pt x="227850" y="847140"/>
                </a:moveTo>
                <a:lnTo>
                  <a:pt x="205257" y="816457"/>
                </a:lnTo>
                <a:lnTo>
                  <a:pt x="197586" y="822109"/>
                </a:lnTo>
                <a:lnTo>
                  <a:pt x="220167" y="852792"/>
                </a:lnTo>
                <a:lnTo>
                  <a:pt x="227850" y="847140"/>
                </a:lnTo>
                <a:close/>
              </a:path>
              <a:path w="2858770" h="2654935">
                <a:moveTo>
                  <a:pt x="235864" y="1940153"/>
                </a:moveTo>
                <a:lnTo>
                  <a:pt x="233527" y="1930908"/>
                </a:lnTo>
                <a:lnTo>
                  <a:pt x="196596" y="1940255"/>
                </a:lnTo>
                <a:lnTo>
                  <a:pt x="198932" y="1949488"/>
                </a:lnTo>
                <a:lnTo>
                  <a:pt x="235864" y="1940153"/>
                </a:lnTo>
                <a:close/>
              </a:path>
              <a:path w="2858770" h="2654935">
                <a:moveTo>
                  <a:pt x="267360" y="900849"/>
                </a:moveTo>
                <a:lnTo>
                  <a:pt x="244779" y="870165"/>
                </a:lnTo>
                <a:lnTo>
                  <a:pt x="237109" y="875804"/>
                </a:lnTo>
                <a:lnTo>
                  <a:pt x="259689" y="906487"/>
                </a:lnTo>
                <a:lnTo>
                  <a:pt x="267360" y="900849"/>
                </a:lnTo>
                <a:close/>
              </a:path>
              <a:path w="2858770" h="2654935">
                <a:moveTo>
                  <a:pt x="300507" y="1923808"/>
                </a:moveTo>
                <a:lnTo>
                  <a:pt x="298170" y="1914575"/>
                </a:lnTo>
                <a:lnTo>
                  <a:pt x="261239" y="1923910"/>
                </a:lnTo>
                <a:lnTo>
                  <a:pt x="263563" y="1933143"/>
                </a:lnTo>
                <a:lnTo>
                  <a:pt x="300507" y="1923808"/>
                </a:lnTo>
                <a:close/>
              </a:path>
              <a:path w="2858770" h="2654935">
                <a:moveTo>
                  <a:pt x="306882" y="954544"/>
                </a:moveTo>
                <a:lnTo>
                  <a:pt x="284302" y="923861"/>
                </a:lnTo>
                <a:lnTo>
                  <a:pt x="276631" y="929513"/>
                </a:lnTo>
                <a:lnTo>
                  <a:pt x="299212" y="960196"/>
                </a:lnTo>
                <a:lnTo>
                  <a:pt x="306882" y="954544"/>
                </a:lnTo>
                <a:close/>
              </a:path>
              <a:path w="2858770" h="2654935">
                <a:moveTo>
                  <a:pt x="346405" y="1008253"/>
                </a:moveTo>
                <a:lnTo>
                  <a:pt x="323811" y="977557"/>
                </a:lnTo>
                <a:lnTo>
                  <a:pt x="316141" y="983208"/>
                </a:lnTo>
                <a:lnTo>
                  <a:pt x="338734" y="1013891"/>
                </a:lnTo>
                <a:lnTo>
                  <a:pt x="346405" y="1008253"/>
                </a:lnTo>
                <a:close/>
              </a:path>
              <a:path w="2858770" h="2654935">
                <a:moveTo>
                  <a:pt x="365150" y="1907463"/>
                </a:moveTo>
                <a:lnTo>
                  <a:pt x="362813" y="1898230"/>
                </a:lnTo>
                <a:lnTo>
                  <a:pt x="325882" y="1907565"/>
                </a:lnTo>
                <a:lnTo>
                  <a:pt x="328206" y="1916798"/>
                </a:lnTo>
                <a:lnTo>
                  <a:pt x="365150" y="1907463"/>
                </a:lnTo>
                <a:close/>
              </a:path>
              <a:path w="2858770" h="2654935">
                <a:moveTo>
                  <a:pt x="385914" y="1061948"/>
                </a:moveTo>
                <a:lnTo>
                  <a:pt x="363334" y="1031265"/>
                </a:lnTo>
                <a:lnTo>
                  <a:pt x="355663" y="1036904"/>
                </a:lnTo>
                <a:lnTo>
                  <a:pt x="378244" y="1067600"/>
                </a:lnTo>
                <a:lnTo>
                  <a:pt x="385914" y="1061948"/>
                </a:lnTo>
                <a:close/>
              </a:path>
              <a:path w="2858770" h="2654935">
                <a:moveTo>
                  <a:pt x="425437" y="1115656"/>
                </a:moveTo>
                <a:lnTo>
                  <a:pt x="402856" y="1084961"/>
                </a:lnTo>
                <a:lnTo>
                  <a:pt x="395185" y="1090612"/>
                </a:lnTo>
                <a:lnTo>
                  <a:pt x="417766" y="1121295"/>
                </a:lnTo>
                <a:lnTo>
                  <a:pt x="425437" y="1115656"/>
                </a:lnTo>
                <a:close/>
              </a:path>
              <a:path w="2858770" h="2654935">
                <a:moveTo>
                  <a:pt x="429793" y="1891118"/>
                </a:moveTo>
                <a:lnTo>
                  <a:pt x="427456" y="1881886"/>
                </a:lnTo>
                <a:lnTo>
                  <a:pt x="390512" y="1891220"/>
                </a:lnTo>
                <a:lnTo>
                  <a:pt x="392849" y="1900466"/>
                </a:lnTo>
                <a:lnTo>
                  <a:pt x="429793" y="1891118"/>
                </a:lnTo>
                <a:close/>
              </a:path>
              <a:path w="2858770" h="2654935">
                <a:moveTo>
                  <a:pt x="464959" y="1169352"/>
                </a:moveTo>
                <a:lnTo>
                  <a:pt x="442379" y="1138669"/>
                </a:lnTo>
                <a:lnTo>
                  <a:pt x="434695" y="1144308"/>
                </a:lnTo>
                <a:lnTo>
                  <a:pt x="457288" y="1175004"/>
                </a:lnTo>
                <a:lnTo>
                  <a:pt x="464959" y="1169352"/>
                </a:lnTo>
                <a:close/>
              </a:path>
              <a:path w="2858770" h="2654935">
                <a:moveTo>
                  <a:pt x="494436" y="1874786"/>
                </a:moveTo>
                <a:lnTo>
                  <a:pt x="492099" y="1865541"/>
                </a:lnTo>
                <a:lnTo>
                  <a:pt x="455155" y="1874888"/>
                </a:lnTo>
                <a:lnTo>
                  <a:pt x="457492" y="1884121"/>
                </a:lnTo>
                <a:lnTo>
                  <a:pt x="494436" y="1874786"/>
                </a:lnTo>
                <a:close/>
              </a:path>
              <a:path w="2858770" h="2654935">
                <a:moveTo>
                  <a:pt x="504469" y="1223060"/>
                </a:moveTo>
                <a:lnTo>
                  <a:pt x="481888" y="1192364"/>
                </a:lnTo>
                <a:lnTo>
                  <a:pt x="474218" y="1198016"/>
                </a:lnTo>
                <a:lnTo>
                  <a:pt x="496798" y="1228699"/>
                </a:lnTo>
                <a:lnTo>
                  <a:pt x="504469" y="1223060"/>
                </a:lnTo>
                <a:close/>
              </a:path>
              <a:path w="2858770" h="2654935">
                <a:moveTo>
                  <a:pt x="543991" y="1276756"/>
                </a:moveTo>
                <a:lnTo>
                  <a:pt x="521411" y="1246073"/>
                </a:lnTo>
                <a:lnTo>
                  <a:pt x="513740" y="1251712"/>
                </a:lnTo>
                <a:lnTo>
                  <a:pt x="536321" y="1282407"/>
                </a:lnTo>
                <a:lnTo>
                  <a:pt x="543991" y="1276756"/>
                </a:lnTo>
                <a:close/>
              </a:path>
              <a:path w="2858770" h="2654935">
                <a:moveTo>
                  <a:pt x="559066" y="1858441"/>
                </a:moveTo>
                <a:lnTo>
                  <a:pt x="556742" y="1849208"/>
                </a:lnTo>
                <a:lnTo>
                  <a:pt x="519798" y="1858543"/>
                </a:lnTo>
                <a:lnTo>
                  <a:pt x="522135" y="1867776"/>
                </a:lnTo>
                <a:lnTo>
                  <a:pt x="559066" y="1858441"/>
                </a:lnTo>
                <a:close/>
              </a:path>
              <a:path w="2858770" h="2654935">
                <a:moveTo>
                  <a:pt x="583514" y="1330464"/>
                </a:moveTo>
                <a:lnTo>
                  <a:pt x="560933" y="1299768"/>
                </a:lnTo>
                <a:lnTo>
                  <a:pt x="553250" y="1305420"/>
                </a:lnTo>
                <a:lnTo>
                  <a:pt x="575843" y="1336103"/>
                </a:lnTo>
                <a:lnTo>
                  <a:pt x="583514" y="1330464"/>
                </a:lnTo>
                <a:close/>
              </a:path>
              <a:path w="2858770" h="2654935">
                <a:moveTo>
                  <a:pt x="623023" y="1384160"/>
                </a:moveTo>
                <a:lnTo>
                  <a:pt x="600443" y="1353477"/>
                </a:lnTo>
                <a:lnTo>
                  <a:pt x="592772" y="1359115"/>
                </a:lnTo>
                <a:lnTo>
                  <a:pt x="615353" y="1389811"/>
                </a:lnTo>
                <a:lnTo>
                  <a:pt x="623023" y="1384160"/>
                </a:lnTo>
                <a:close/>
              </a:path>
              <a:path w="2858770" h="2654935">
                <a:moveTo>
                  <a:pt x="623709" y="1842096"/>
                </a:moveTo>
                <a:lnTo>
                  <a:pt x="621372" y="1832864"/>
                </a:lnTo>
                <a:lnTo>
                  <a:pt x="584441" y="1842198"/>
                </a:lnTo>
                <a:lnTo>
                  <a:pt x="586778" y="1851431"/>
                </a:lnTo>
                <a:lnTo>
                  <a:pt x="623709" y="1842096"/>
                </a:lnTo>
                <a:close/>
              </a:path>
              <a:path w="2858770" h="2654935">
                <a:moveTo>
                  <a:pt x="662546" y="1437868"/>
                </a:moveTo>
                <a:lnTo>
                  <a:pt x="639965" y="1407172"/>
                </a:lnTo>
                <a:lnTo>
                  <a:pt x="632294" y="1412824"/>
                </a:lnTo>
                <a:lnTo>
                  <a:pt x="654875" y="1443507"/>
                </a:lnTo>
                <a:lnTo>
                  <a:pt x="662546" y="1437868"/>
                </a:lnTo>
                <a:close/>
              </a:path>
              <a:path w="2858770" h="2654935">
                <a:moveTo>
                  <a:pt x="688352" y="1825752"/>
                </a:moveTo>
                <a:lnTo>
                  <a:pt x="686015" y="1816519"/>
                </a:lnTo>
                <a:lnTo>
                  <a:pt x="649084" y="1825853"/>
                </a:lnTo>
                <a:lnTo>
                  <a:pt x="651421" y="1835099"/>
                </a:lnTo>
                <a:lnTo>
                  <a:pt x="688352" y="1825752"/>
                </a:lnTo>
                <a:close/>
              </a:path>
              <a:path w="2858770" h="2654935">
                <a:moveTo>
                  <a:pt x="702068" y="1491564"/>
                </a:moveTo>
                <a:lnTo>
                  <a:pt x="679488" y="1460881"/>
                </a:lnTo>
                <a:lnTo>
                  <a:pt x="671804" y="1466519"/>
                </a:lnTo>
                <a:lnTo>
                  <a:pt x="694397" y="1497215"/>
                </a:lnTo>
                <a:lnTo>
                  <a:pt x="702068" y="1491564"/>
                </a:lnTo>
                <a:close/>
              </a:path>
              <a:path w="2858770" h="2654935">
                <a:moveTo>
                  <a:pt x="741578" y="1545259"/>
                </a:moveTo>
                <a:lnTo>
                  <a:pt x="718997" y="1514576"/>
                </a:lnTo>
                <a:lnTo>
                  <a:pt x="711327" y="1520228"/>
                </a:lnTo>
                <a:lnTo>
                  <a:pt x="733907" y="1550911"/>
                </a:lnTo>
                <a:lnTo>
                  <a:pt x="741578" y="1545259"/>
                </a:lnTo>
                <a:close/>
              </a:path>
              <a:path w="2858770" h="2654935">
                <a:moveTo>
                  <a:pt x="752995" y="1809419"/>
                </a:moveTo>
                <a:lnTo>
                  <a:pt x="750658" y="1800174"/>
                </a:lnTo>
                <a:lnTo>
                  <a:pt x="713727" y="1809521"/>
                </a:lnTo>
                <a:lnTo>
                  <a:pt x="716064" y="1818754"/>
                </a:lnTo>
                <a:lnTo>
                  <a:pt x="752995" y="1809419"/>
                </a:lnTo>
                <a:close/>
              </a:path>
              <a:path w="2858770" h="2654935">
                <a:moveTo>
                  <a:pt x="781100" y="1598968"/>
                </a:moveTo>
                <a:lnTo>
                  <a:pt x="758520" y="1568284"/>
                </a:lnTo>
                <a:lnTo>
                  <a:pt x="750849" y="1573923"/>
                </a:lnTo>
                <a:lnTo>
                  <a:pt x="773430" y="1604606"/>
                </a:lnTo>
                <a:lnTo>
                  <a:pt x="781100" y="1598968"/>
                </a:lnTo>
                <a:close/>
              </a:path>
              <a:path w="2858770" h="2654935">
                <a:moveTo>
                  <a:pt x="817638" y="1793074"/>
                </a:moveTo>
                <a:lnTo>
                  <a:pt x="815301" y="1783842"/>
                </a:lnTo>
                <a:lnTo>
                  <a:pt x="778370" y="1793176"/>
                </a:lnTo>
                <a:lnTo>
                  <a:pt x="780694" y="1802409"/>
                </a:lnTo>
                <a:lnTo>
                  <a:pt x="817638" y="1793074"/>
                </a:lnTo>
                <a:close/>
              </a:path>
              <a:path w="2858770" h="2654935">
                <a:moveTo>
                  <a:pt x="820623" y="1652663"/>
                </a:moveTo>
                <a:lnTo>
                  <a:pt x="798042" y="1621980"/>
                </a:lnTo>
                <a:lnTo>
                  <a:pt x="790371" y="1627632"/>
                </a:lnTo>
                <a:lnTo>
                  <a:pt x="812952" y="1658315"/>
                </a:lnTo>
                <a:lnTo>
                  <a:pt x="820623" y="1652663"/>
                </a:lnTo>
                <a:close/>
              </a:path>
              <a:path w="2858770" h="2654935">
                <a:moveTo>
                  <a:pt x="899236" y="1767535"/>
                </a:moveTo>
                <a:lnTo>
                  <a:pt x="888161" y="1703336"/>
                </a:lnTo>
                <a:lnTo>
                  <a:pt x="884758" y="1683575"/>
                </a:lnTo>
                <a:lnTo>
                  <a:pt x="857910" y="1703336"/>
                </a:lnTo>
                <a:lnTo>
                  <a:pt x="837552" y="1675688"/>
                </a:lnTo>
                <a:lnTo>
                  <a:pt x="829881" y="1681327"/>
                </a:lnTo>
                <a:lnTo>
                  <a:pt x="850239" y="1708988"/>
                </a:lnTo>
                <a:lnTo>
                  <a:pt x="823379" y="1728736"/>
                </a:lnTo>
                <a:lnTo>
                  <a:pt x="899236" y="1767535"/>
                </a:lnTo>
                <a:close/>
              </a:path>
              <a:path w="2858770" h="2654935">
                <a:moveTo>
                  <a:pt x="899236" y="1767535"/>
                </a:moveTo>
                <a:lnTo>
                  <a:pt x="816013" y="1749272"/>
                </a:lnTo>
                <a:lnTo>
                  <a:pt x="834694" y="1823148"/>
                </a:lnTo>
                <a:lnTo>
                  <a:pt x="899236" y="1767535"/>
                </a:lnTo>
                <a:close/>
              </a:path>
              <a:path w="2858770" h="2654935">
                <a:moveTo>
                  <a:pt x="1642135" y="33324"/>
                </a:moveTo>
                <a:lnTo>
                  <a:pt x="1604035" y="33324"/>
                </a:lnTo>
                <a:lnTo>
                  <a:pt x="1604035" y="42849"/>
                </a:lnTo>
                <a:lnTo>
                  <a:pt x="1642135" y="42849"/>
                </a:lnTo>
                <a:lnTo>
                  <a:pt x="1642135" y="33324"/>
                </a:lnTo>
                <a:close/>
              </a:path>
              <a:path w="2858770" h="2654935">
                <a:moveTo>
                  <a:pt x="1661236" y="929830"/>
                </a:moveTo>
                <a:lnTo>
                  <a:pt x="1623136" y="929830"/>
                </a:lnTo>
                <a:lnTo>
                  <a:pt x="1623136" y="939355"/>
                </a:lnTo>
                <a:lnTo>
                  <a:pt x="1661236" y="939355"/>
                </a:lnTo>
                <a:lnTo>
                  <a:pt x="1661236" y="929830"/>
                </a:lnTo>
                <a:close/>
              </a:path>
              <a:path w="2858770" h="2654935">
                <a:moveTo>
                  <a:pt x="1661274" y="2630144"/>
                </a:moveTo>
                <a:lnTo>
                  <a:pt x="1661185" y="2620619"/>
                </a:lnTo>
                <a:lnTo>
                  <a:pt x="1623098" y="2620924"/>
                </a:lnTo>
                <a:lnTo>
                  <a:pt x="1623174" y="2630449"/>
                </a:lnTo>
                <a:lnTo>
                  <a:pt x="1661274" y="2630144"/>
                </a:lnTo>
                <a:close/>
              </a:path>
              <a:path w="2858770" h="2654935">
                <a:moveTo>
                  <a:pt x="1661287" y="1771878"/>
                </a:moveTo>
                <a:lnTo>
                  <a:pt x="1661185" y="1762353"/>
                </a:lnTo>
                <a:lnTo>
                  <a:pt x="1623085" y="1762772"/>
                </a:lnTo>
                <a:lnTo>
                  <a:pt x="1623187" y="1772297"/>
                </a:lnTo>
                <a:lnTo>
                  <a:pt x="1661287" y="1771878"/>
                </a:lnTo>
                <a:close/>
              </a:path>
              <a:path w="2858770" h="2654935">
                <a:moveTo>
                  <a:pt x="1708810" y="33324"/>
                </a:moveTo>
                <a:lnTo>
                  <a:pt x="1670710" y="33324"/>
                </a:lnTo>
                <a:lnTo>
                  <a:pt x="1670710" y="42849"/>
                </a:lnTo>
                <a:lnTo>
                  <a:pt x="1708810" y="42849"/>
                </a:lnTo>
                <a:lnTo>
                  <a:pt x="1708810" y="33324"/>
                </a:lnTo>
                <a:close/>
              </a:path>
              <a:path w="2858770" h="2654935">
                <a:moveTo>
                  <a:pt x="1727911" y="929830"/>
                </a:moveTo>
                <a:lnTo>
                  <a:pt x="1689811" y="929830"/>
                </a:lnTo>
                <a:lnTo>
                  <a:pt x="1689811" y="939355"/>
                </a:lnTo>
                <a:lnTo>
                  <a:pt x="1727911" y="939355"/>
                </a:lnTo>
                <a:lnTo>
                  <a:pt x="1727911" y="929830"/>
                </a:lnTo>
                <a:close/>
              </a:path>
              <a:path w="2858770" h="2654935">
                <a:moveTo>
                  <a:pt x="1727949" y="2629598"/>
                </a:moveTo>
                <a:lnTo>
                  <a:pt x="1727860" y="2620073"/>
                </a:lnTo>
                <a:lnTo>
                  <a:pt x="1689773" y="2620378"/>
                </a:lnTo>
                <a:lnTo>
                  <a:pt x="1689849" y="2629903"/>
                </a:lnTo>
                <a:lnTo>
                  <a:pt x="1727949" y="2629598"/>
                </a:lnTo>
                <a:close/>
              </a:path>
              <a:path w="2858770" h="2654935">
                <a:moveTo>
                  <a:pt x="1727949" y="1771154"/>
                </a:moveTo>
                <a:lnTo>
                  <a:pt x="1727847" y="1761629"/>
                </a:lnTo>
                <a:lnTo>
                  <a:pt x="1689747" y="1762048"/>
                </a:lnTo>
                <a:lnTo>
                  <a:pt x="1689862" y="1771573"/>
                </a:lnTo>
                <a:lnTo>
                  <a:pt x="1727949" y="1771154"/>
                </a:lnTo>
                <a:close/>
              </a:path>
              <a:path w="2858770" h="2654935">
                <a:moveTo>
                  <a:pt x="1775485" y="33324"/>
                </a:moveTo>
                <a:lnTo>
                  <a:pt x="1737385" y="33324"/>
                </a:lnTo>
                <a:lnTo>
                  <a:pt x="1737385" y="42849"/>
                </a:lnTo>
                <a:lnTo>
                  <a:pt x="1775485" y="42849"/>
                </a:lnTo>
                <a:lnTo>
                  <a:pt x="1775485" y="33324"/>
                </a:lnTo>
                <a:close/>
              </a:path>
              <a:path w="2858770" h="2654935">
                <a:moveTo>
                  <a:pt x="1794586" y="929830"/>
                </a:moveTo>
                <a:lnTo>
                  <a:pt x="1756486" y="929830"/>
                </a:lnTo>
                <a:lnTo>
                  <a:pt x="1756486" y="939355"/>
                </a:lnTo>
                <a:lnTo>
                  <a:pt x="1794586" y="939355"/>
                </a:lnTo>
                <a:lnTo>
                  <a:pt x="1794586" y="929830"/>
                </a:lnTo>
                <a:close/>
              </a:path>
              <a:path w="2858770" h="2654935">
                <a:moveTo>
                  <a:pt x="1794611" y="2629052"/>
                </a:moveTo>
                <a:lnTo>
                  <a:pt x="1794535" y="2619527"/>
                </a:lnTo>
                <a:lnTo>
                  <a:pt x="1756435" y="2619845"/>
                </a:lnTo>
                <a:lnTo>
                  <a:pt x="1756511" y="2629370"/>
                </a:lnTo>
                <a:lnTo>
                  <a:pt x="1794611" y="2629052"/>
                </a:lnTo>
                <a:close/>
              </a:path>
              <a:path w="2858770" h="2654935">
                <a:moveTo>
                  <a:pt x="1794624" y="1770430"/>
                </a:moveTo>
                <a:lnTo>
                  <a:pt x="1794522" y="1760918"/>
                </a:lnTo>
                <a:lnTo>
                  <a:pt x="1756422" y="1761324"/>
                </a:lnTo>
                <a:lnTo>
                  <a:pt x="1756524" y="1770849"/>
                </a:lnTo>
                <a:lnTo>
                  <a:pt x="1794624" y="1770430"/>
                </a:lnTo>
                <a:close/>
              </a:path>
              <a:path w="2858770" h="2654935">
                <a:moveTo>
                  <a:pt x="1842160" y="33324"/>
                </a:moveTo>
                <a:lnTo>
                  <a:pt x="1804060" y="33324"/>
                </a:lnTo>
                <a:lnTo>
                  <a:pt x="1804060" y="42849"/>
                </a:lnTo>
                <a:lnTo>
                  <a:pt x="1842160" y="42849"/>
                </a:lnTo>
                <a:lnTo>
                  <a:pt x="1842160" y="33324"/>
                </a:lnTo>
                <a:close/>
              </a:path>
              <a:path w="2858770" h="2654935">
                <a:moveTo>
                  <a:pt x="1861261" y="929830"/>
                </a:moveTo>
                <a:lnTo>
                  <a:pt x="1823161" y="929830"/>
                </a:lnTo>
                <a:lnTo>
                  <a:pt x="1823161" y="939355"/>
                </a:lnTo>
                <a:lnTo>
                  <a:pt x="1861261" y="939355"/>
                </a:lnTo>
                <a:lnTo>
                  <a:pt x="1861261" y="929830"/>
                </a:lnTo>
                <a:close/>
              </a:path>
              <a:path w="2858770" h="2654935">
                <a:moveTo>
                  <a:pt x="1861286" y="2628506"/>
                </a:moveTo>
                <a:lnTo>
                  <a:pt x="1861210" y="2618981"/>
                </a:lnTo>
                <a:lnTo>
                  <a:pt x="1823110" y="2619298"/>
                </a:lnTo>
                <a:lnTo>
                  <a:pt x="1823186" y="2628823"/>
                </a:lnTo>
                <a:lnTo>
                  <a:pt x="1861286" y="2628506"/>
                </a:lnTo>
                <a:close/>
              </a:path>
              <a:path w="2858770" h="2654935">
                <a:moveTo>
                  <a:pt x="1861299" y="1769719"/>
                </a:moveTo>
                <a:lnTo>
                  <a:pt x="1861197" y="1760194"/>
                </a:lnTo>
                <a:lnTo>
                  <a:pt x="1823097" y="1760601"/>
                </a:lnTo>
                <a:lnTo>
                  <a:pt x="1823199" y="1770126"/>
                </a:lnTo>
                <a:lnTo>
                  <a:pt x="1861299" y="1769719"/>
                </a:lnTo>
                <a:close/>
              </a:path>
              <a:path w="2858770" h="2654935">
                <a:moveTo>
                  <a:pt x="1908835" y="33324"/>
                </a:moveTo>
                <a:lnTo>
                  <a:pt x="1870735" y="33324"/>
                </a:lnTo>
                <a:lnTo>
                  <a:pt x="1870735" y="42849"/>
                </a:lnTo>
                <a:lnTo>
                  <a:pt x="1908835" y="42849"/>
                </a:lnTo>
                <a:lnTo>
                  <a:pt x="1908835" y="33324"/>
                </a:lnTo>
                <a:close/>
              </a:path>
              <a:path w="2858770" h="2654935">
                <a:moveTo>
                  <a:pt x="1927936" y="929830"/>
                </a:moveTo>
                <a:lnTo>
                  <a:pt x="1889836" y="929830"/>
                </a:lnTo>
                <a:lnTo>
                  <a:pt x="1889836" y="939355"/>
                </a:lnTo>
                <a:lnTo>
                  <a:pt x="1927936" y="939355"/>
                </a:lnTo>
                <a:lnTo>
                  <a:pt x="1927936" y="929830"/>
                </a:lnTo>
                <a:close/>
              </a:path>
              <a:path w="2858770" h="2654935">
                <a:moveTo>
                  <a:pt x="1927961" y="2627960"/>
                </a:moveTo>
                <a:lnTo>
                  <a:pt x="1927885" y="2618448"/>
                </a:lnTo>
                <a:lnTo>
                  <a:pt x="1889785" y="2618752"/>
                </a:lnTo>
                <a:lnTo>
                  <a:pt x="1889861" y="2628277"/>
                </a:lnTo>
                <a:lnTo>
                  <a:pt x="1927961" y="2627960"/>
                </a:lnTo>
                <a:close/>
              </a:path>
              <a:path w="2858770" h="2654935">
                <a:moveTo>
                  <a:pt x="1927961" y="1768995"/>
                </a:moveTo>
                <a:lnTo>
                  <a:pt x="1927860" y="1759470"/>
                </a:lnTo>
                <a:lnTo>
                  <a:pt x="1889760" y="1759877"/>
                </a:lnTo>
                <a:lnTo>
                  <a:pt x="1889874" y="1769402"/>
                </a:lnTo>
                <a:lnTo>
                  <a:pt x="1927961" y="1768995"/>
                </a:lnTo>
                <a:close/>
              </a:path>
              <a:path w="2858770" h="2654935">
                <a:moveTo>
                  <a:pt x="1975510" y="33324"/>
                </a:moveTo>
                <a:lnTo>
                  <a:pt x="1937410" y="33324"/>
                </a:lnTo>
                <a:lnTo>
                  <a:pt x="1937410" y="42849"/>
                </a:lnTo>
                <a:lnTo>
                  <a:pt x="1975510" y="42849"/>
                </a:lnTo>
                <a:lnTo>
                  <a:pt x="1975510" y="33324"/>
                </a:lnTo>
                <a:close/>
              </a:path>
              <a:path w="2858770" h="2654935">
                <a:moveTo>
                  <a:pt x="1994611" y="929830"/>
                </a:moveTo>
                <a:lnTo>
                  <a:pt x="1956511" y="929830"/>
                </a:lnTo>
                <a:lnTo>
                  <a:pt x="1956511" y="939355"/>
                </a:lnTo>
                <a:lnTo>
                  <a:pt x="1994611" y="939355"/>
                </a:lnTo>
                <a:lnTo>
                  <a:pt x="1994611" y="929830"/>
                </a:lnTo>
                <a:close/>
              </a:path>
              <a:path w="2858770" h="2654935">
                <a:moveTo>
                  <a:pt x="1994636" y="2627426"/>
                </a:moveTo>
                <a:lnTo>
                  <a:pt x="1994560" y="2617901"/>
                </a:lnTo>
                <a:lnTo>
                  <a:pt x="1956460" y="2618206"/>
                </a:lnTo>
                <a:lnTo>
                  <a:pt x="1956536" y="2627731"/>
                </a:lnTo>
                <a:lnTo>
                  <a:pt x="1994636" y="2627426"/>
                </a:lnTo>
                <a:close/>
              </a:path>
              <a:path w="2858770" h="2654935">
                <a:moveTo>
                  <a:pt x="1994636" y="1768271"/>
                </a:moveTo>
                <a:lnTo>
                  <a:pt x="1994535" y="1758746"/>
                </a:lnTo>
                <a:lnTo>
                  <a:pt x="1956435" y="1759153"/>
                </a:lnTo>
                <a:lnTo>
                  <a:pt x="1956536" y="1768678"/>
                </a:lnTo>
                <a:lnTo>
                  <a:pt x="1994636" y="1768271"/>
                </a:lnTo>
                <a:close/>
              </a:path>
              <a:path w="2858770" h="2654935">
                <a:moveTo>
                  <a:pt x="2042185" y="33324"/>
                </a:moveTo>
                <a:lnTo>
                  <a:pt x="2004085" y="33324"/>
                </a:lnTo>
                <a:lnTo>
                  <a:pt x="2004085" y="42849"/>
                </a:lnTo>
                <a:lnTo>
                  <a:pt x="2042185" y="42849"/>
                </a:lnTo>
                <a:lnTo>
                  <a:pt x="2042185" y="33324"/>
                </a:lnTo>
                <a:close/>
              </a:path>
              <a:path w="2858770" h="2654935">
                <a:moveTo>
                  <a:pt x="2061286" y="929830"/>
                </a:moveTo>
                <a:lnTo>
                  <a:pt x="2023186" y="929830"/>
                </a:lnTo>
                <a:lnTo>
                  <a:pt x="2023186" y="939355"/>
                </a:lnTo>
                <a:lnTo>
                  <a:pt x="2061286" y="939355"/>
                </a:lnTo>
                <a:lnTo>
                  <a:pt x="2061286" y="929830"/>
                </a:lnTo>
                <a:close/>
              </a:path>
              <a:path w="2858770" h="2654935">
                <a:moveTo>
                  <a:pt x="2061311" y="2626880"/>
                </a:moveTo>
                <a:lnTo>
                  <a:pt x="2061235" y="2617355"/>
                </a:lnTo>
                <a:lnTo>
                  <a:pt x="2023135" y="2617660"/>
                </a:lnTo>
                <a:lnTo>
                  <a:pt x="2023211" y="2627185"/>
                </a:lnTo>
                <a:lnTo>
                  <a:pt x="2061311" y="2626880"/>
                </a:lnTo>
                <a:close/>
              </a:path>
              <a:path w="2858770" h="2654935">
                <a:moveTo>
                  <a:pt x="2061311" y="1767547"/>
                </a:moveTo>
                <a:lnTo>
                  <a:pt x="2061210" y="1758022"/>
                </a:lnTo>
                <a:lnTo>
                  <a:pt x="2023110" y="1758429"/>
                </a:lnTo>
                <a:lnTo>
                  <a:pt x="2023211" y="1767954"/>
                </a:lnTo>
                <a:lnTo>
                  <a:pt x="2061311" y="1767547"/>
                </a:lnTo>
                <a:close/>
              </a:path>
              <a:path w="2858770" h="2654935">
                <a:moveTo>
                  <a:pt x="2108860" y="33324"/>
                </a:moveTo>
                <a:lnTo>
                  <a:pt x="2070760" y="33324"/>
                </a:lnTo>
                <a:lnTo>
                  <a:pt x="2070760" y="42849"/>
                </a:lnTo>
                <a:lnTo>
                  <a:pt x="2108860" y="42849"/>
                </a:lnTo>
                <a:lnTo>
                  <a:pt x="2108860" y="33324"/>
                </a:lnTo>
                <a:close/>
              </a:path>
              <a:path w="2858770" h="2654935">
                <a:moveTo>
                  <a:pt x="2127961" y="929830"/>
                </a:moveTo>
                <a:lnTo>
                  <a:pt x="2089861" y="929830"/>
                </a:lnTo>
                <a:lnTo>
                  <a:pt x="2089861" y="939355"/>
                </a:lnTo>
                <a:lnTo>
                  <a:pt x="2127961" y="939355"/>
                </a:lnTo>
                <a:lnTo>
                  <a:pt x="2127961" y="929830"/>
                </a:lnTo>
                <a:close/>
              </a:path>
              <a:path w="2858770" h="2654935">
                <a:moveTo>
                  <a:pt x="2127974" y="2626334"/>
                </a:moveTo>
                <a:lnTo>
                  <a:pt x="2127897" y="2616809"/>
                </a:lnTo>
                <a:lnTo>
                  <a:pt x="2089797" y="2617127"/>
                </a:lnTo>
                <a:lnTo>
                  <a:pt x="2089886" y="2626639"/>
                </a:lnTo>
                <a:lnTo>
                  <a:pt x="2127974" y="2626334"/>
                </a:lnTo>
                <a:close/>
              </a:path>
              <a:path w="2858770" h="2654935">
                <a:moveTo>
                  <a:pt x="2127974" y="1766824"/>
                </a:moveTo>
                <a:lnTo>
                  <a:pt x="2127872" y="1757299"/>
                </a:lnTo>
                <a:lnTo>
                  <a:pt x="2089785" y="1757705"/>
                </a:lnTo>
                <a:lnTo>
                  <a:pt x="2089886" y="1767230"/>
                </a:lnTo>
                <a:lnTo>
                  <a:pt x="2127974" y="1766824"/>
                </a:lnTo>
                <a:close/>
              </a:path>
              <a:path w="2858770" h="2654935">
                <a:moveTo>
                  <a:pt x="2175535" y="33324"/>
                </a:moveTo>
                <a:lnTo>
                  <a:pt x="2137435" y="33324"/>
                </a:lnTo>
                <a:lnTo>
                  <a:pt x="2137435" y="42849"/>
                </a:lnTo>
                <a:lnTo>
                  <a:pt x="2175535" y="42849"/>
                </a:lnTo>
                <a:lnTo>
                  <a:pt x="2175535" y="33324"/>
                </a:lnTo>
                <a:close/>
              </a:path>
              <a:path w="2858770" h="2654935">
                <a:moveTo>
                  <a:pt x="2194636" y="929830"/>
                </a:moveTo>
                <a:lnTo>
                  <a:pt x="2156536" y="929830"/>
                </a:lnTo>
                <a:lnTo>
                  <a:pt x="2156536" y="939355"/>
                </a:lnTo>
                <a:lnTo>
                  <a:pt x="2194636" y="939355"/>
                </a:lnTo>
                <a:lnTo>
                  <a:pt x="2194636" y="929830"/>
                </a:lnTo>
                <a:close/>
              </a:path>
              <a:path w="2858770" h="2654935">
                <a:moveTo>
                  <a:pt x="2194649" y="2625788"/>
                </a:moveTo>
                <a:lnTo>
                  <a:pt x="2194572" y="2616263"/>
                </a:lnTo>
                <a:lnTo>
                  <a:pt x="2156472" y="2616581"/>
                </a:lnTo>
                <a:lnTo>
                  <a:pt x="2156549" y="2626106"/>
                </a:lnTo>
                <a:lnTo>
                  <a:pt x="2194649" y="2625788"/>
                </a:lnTo>
                <a:close/>
              </a:path>
              <a:path w="2858770" h="2654935">
                <a:moveTo>
                  <a:pt x="2194649" y="1766100"/>
                </a:moveTo>
                <a:lnTo>
                  <a:pt x="2194547" y="1756575"/>
                </a:lnTo>
                <a:lnTo>
                  <a:pt x="2156447" y="1756994"/>
                </a:lnTo>
                <a:lnTo>
                  <a:pt x="2156549" y="1766519"/>
                </a:lnTo>
                <a:lnTo>
                  <a:pt x="2194649" y="1766100"/>
                </a:lnTo>
                <a:close/>
              </a:path>
              <a:path w="2858770" h="2654935">
                <a:moveTo>
                  <a:pt x="2242210" y="33324"/>
                </a:moveTo>
                <a:lnTo>
                  <a:pt x="2204110" y="33324"/>
                </a:lnTo>
                <a:lnTo>
                  <a:pt x="2204110" y="42849"/>
                </a:lnTo>
                <a:lnTo>
                  <a:pt x="2242210" y="42849"/>
                </a:lnTo>
                <a:lnTo>
                  <a:pt x="2242210" y="33324"/>
                </a:lnTo>
                <a:close/>
              </a:path>
              <a:path w="2858770" h="2654935">
                <a:moveTo>
                  <a:pt x="2261311" y="929830"/>
                </a:moveTo>
                <a:lnTo>
                  <a:pt x="2223211" y="929830"/>
                </a:lnTo>
                <a:lnTo>
                  <a:pt x="2223211" y="939355"/>
                </a:lnTo>
                <a:lnTo>
                  <a:pt x="2261311" y="939355"/>
                </a:lnTo>
                <a:lnTo>
                  <a:pt x="2261311" y="929830"/>
                </a:lnTo>
                <a:close/>
              </a:path>
              <a:path w="2858770" h="2654935">
                <a:moveTo>
                  <a:pt x="2261324" y="2625242"/>
                </a:moveTo>
                <a:lnTo>
                  <a:pt x="2261247" y="2615717"/>
                </a:lnTo>
                <a:lnTo>
                  <a:pt x="2223147" y="2616035"/>
                </a:lnTo>
                <a:lnTo>
                  <a:pt x="2223224" y="2625560"/>
                </a:lnTo>
                <a:lnTo>
                  <a:pt x="2261324" y="2625242"/>
                </a:lnTo>
                <a:close/>
              </a:path>
              <a:path w="2858770" h="2654935">
                <a:moveTo>
                  <a:pt x="2261324" y="1765376"/>
                </a:moveTo>
                <a:lnTo>
                  <a:pt x="2261222" y="1755851"/>
                </a:lnTo>
                <a:lnTo>
                  <a:pt x="2223122" y="1756270"/>
                </a:lnTo>
                <a:lnTo>
                  <a:pt x="2223224" y="1765795"/>
                </a:lnTo>
                <a:lnTo>
                  <a:pt x="2261324" y="1765376"/>
                </a:lnTo>
                <a:close/>
              </a:path>
              <a:path w="2858770" h="2654935">
                <a:moveTo>
                  <a:pt x="2308885" y="33324"/>
                </a:moveTo>
                <a:lnTo>
                  <a:pt x="2270785" y="33324"/>
                </a:lnTo>
                <a:lnTo>
                  <a:pt x="2270785" y="42849"/>
                </a:lnTo>
                <a:lnTo>
                  <a:pt x="2308885" y="42849"/>
                </a:lnTo>
                <a:lnTo>
                  <a:pt x="2308885" y="33324"/>
                </a:lnTo>
                <a:close/>
              </a:path>
              <a:path w="2858770" h="2654935">
                <a:moveTo>
                  <a:pt x="2327986" y="929830"/>
                </a:moveTo>
                <a:lnTo>
                  <a:pt x="2289886" y="929830"/>
                </a:lnTo>
                <a:lnTo>
                  <a:pt x="2289886" y="939355"/>
                </a:lnTo>
                <a:lnTo>
                  <a:pt x="2327986" y="939355"/>
                </a:lnTo>
                <a:lnTo>
                  <a:pt x="2327986" y="929830"/>
                </a:lnTo>
                <a:close/>
              </a:path>
              <a:path w="2858770" h="2654935">
                <a:moveTo>
                  <a:pt x="2327999" y="2624709"/>
                </a:moveTo>
                <a:lnTo>
                  <a:pt x="2327922" y="2615184"/>
                </a:lnTo>
                <a:lnTo>
                  <a:pt x="2289822" y="2615488"/>
                </a:lnTo>
                <a:lnTo>
                  <a:pt x="2289899" y="2625013"/>
                </a:lnTo>
                <a:lnTo>
                  <a:pt x="2327999" y="2624709"/>
                </a:lnTo>
                <a:close/>
              </a:path>
              <a:path w="2858770" h="2654935">
                <a:moveTo>
                  <a:pt x="2327999" y="1764652"/>
                </a:moveTo>
                <a:lnTo>
                  <a:pt x="2327884" y="1755127"/>
                </a:lnTo>
                <a:lnTo>
                  <a:pt x="2289797" y="1755546"/>
                </a:lnTo>
                <a:lnTo>
                  <a:pt x="2289899" y="1765071"/>
                </a:lnTo>
                <a:lnTo>
                  <a:pt x="2327999" y="1764652"/>
                </a:lnTo>
                <a:close/>
              </a:path>
              <a:path w="2858770" h="2654935">
                <a:moveTo>
                  <a:pt x="2375560" y="33337"/>
                </a:moveTo>
                <a:lnTo>
                  <a:pt x="2337460" y="33324"/>
                </a:lnTo>
                <a:lnTo>
                  <a:pt x="2337460" y="42849"/>
                </a:lnTo>
                <a:lnTo>
                  <a:pt x="2375560" y="42849"/>
                </a:lnTo>
                <a:lnTo>
                  <a:pt x="2375560" y="33337"/>
                </a:lnTo>
                <a:close/>
              </a:path>
              <a:path w="2858770" h="2654935">
                <a:moveTo>
                  <a:pt x="2394661" y="1763928"/>
                </a:moveTo>
                <a:lnTo>
                  <a:pt x="2394559" y="1754403"/>
                </a:lnTo>
                <a:lnTo>
                  <a:pt x="2356459" y="1754822"/>
                </a:lnTo>
                <a:lnTo>
                  <a:pt x="2356561" y="1764347"/>
                </a:lnTo>
                <a:lnTo>
                  <a:pt x="2394661" y="1763928"/>
                </a:lnTo>
                <a:close/>
              </a:path>
              <a:path w="2858770" h="2654935">
                <a:moveTo>
                  <a:pt x="2394661" y="929830"/>
                </a:moveTo>
                <a:lnTo>
                  <a:pt x="2356561" y="929830"/>
                </a:lnTo>
                <a:lnTo>
                  <a:pt x="2356561" y="939355"/>
                </a:lnTo>
                <a:lnTo>
                  <a:pt x="2394661" y="939355"/>
                </a:lnTo>
                <a:lnTo>
                  <a:pt x="2394661" y="929830"/>
                </a:lnTo>
                <a:close/>
              </a:path>
              <a:path w="2858770" h="2654935">
                <a:moveTo>
                  <a:pt x="2394674" y="2624163"/>
                </a:moveTo>
                <a:lnTo>
                  <a:pt x="2394597" y="2614638"/>
                </a:lnTo>
                <a:lnTo>
                  <a:pt x="2356497" y="2614942"/>
                </a:lnTo>
                <a:lnTo>
                  <a:pt x="2356574" y="2624467"/>
                </a:lnTo>
                <a:lnTo>
                  <a:pt x="2394674" y="2624163"/>
                </a:lnTo>
                <a:close/>
              </a:path>
              <a:path w="2858770" h="2654935">
                <a:moveTo>
                  <a:pt x="2442235" y="33337"/>
                </a:moveTo>
                <a:lnTo>
                  <a:pt x="2404135" y="33337"/>
                </a:lnTo>
                <a:lnTo>
                  <a:pt x="2404135" y="42862"/>
                </a:lnTo>
                <a:lnTo>
                  <a:pt x="2442235" y="42862"/>
                </a:lnTo>
                <a:lnTo>
                  <a:pt x="2442235" y="33337"/>
                </a:lnTo>
                <a:close/>
              </a:path>
              <a:path w="2858770" h="2654935">
                <a:moveTo>
                  <a:pt x="2461336" y="1763204"/>
                </a:moveTo>
                <a:lnTo>
                  <a:pt x="2461234" y="1753679"/>
                </a:lnTo>
                <a:lnTo>
                  <a:pt x="2423134" y="1754098"/>
                </a:lnTo>
                <a:lnTo>
                  <a:pt x="2423236" y="1763623"/>
                </a:lnTo>
                <a:lnTo>
                  <a:pt x="2461336" y="1763204"/>
                </a:lnTo>
                <a:close/>
              </a:path>
              <a:path w="2858770" h="2654935">
                <a:moveTo>
                  <a:pt x="2461336" y="929830"/>
                </a:moveTo>
                <a:lnTo>
                  <a:pt x="2423236" y="929830"/>
                </a:lnTo>
                <a:lnTo>
                  <a:pt x="2423236" y="939355"/>
                </a:lnTo>
                <a:lnTo>
                  <a:pt x="2461336" y="939355"/>
                </a:lnTo>
                <a:lnTo>
                  <a:pt x="2461336" y="929830"/>
                </a:lnTo>
                <a:close/>
              </a:path>
              <a:path w="2858770" h="2654935">
                <a:moveTo>
                  <a:pt x="2461349" y="2623616"/>
                </a:moveTo>
                <a:lnTo>
                  <a:pt x="2461272" y="2614091"/>
                </a:lnTo>
                <a:lnTo>
                  <a:pt x="2423172" y="2614396"/>
                </a:lnTo>
                <a:lnTo>
                  <a:pt x="2423249" y="2623921"/>
                </a:lnTo>
                <a:lnTo>
                  <a:pt x="2461349" y="2623616"/>
                </a:lnTo>
                <a:close/>
              </a:path>
              <a:path w="2858770" h="2654935">
                <a:moveTo>
                  <a:pt x="2508910" y="33337"/>
                </a:moveTo>
                <a:lnTo>
                  <a:pt x="2470810" y="33337"/>
                </a:lnTo>
                <a:lnTo>
                  <a:pt x="2470810" y="42862"/>
                </a:lnTo>
                <a:lnTo>
                  <a:pt x="2508910" y="42862"/>
                </a:lnTo>
                <a:lnTo>
                  <a:pt x="2508910" y="33337"/>
                </a:lnTo>
                <a:close/>
              </a:path>
              <a:path w="2858770" h="2654935">
                <a:moveTo>
                  <a:pt x="2528011" y="2623070"/>
                </a:moveTo>
                <a:lnTo>
                  <a:pt x="2527935" y="2613545"/>
                </a:lnTo>
                <a:lnTo>
                  <a:pt x="2489835" y="2613863"/>
                </a:lnTo>
                <a:lnTo>
                  <a:pt x="2489924" y="2623388"/>
                </a:lnTo>
                <a:lnTo>
                  <a:pt x="2528011" y="2623070"/>
                </a:lnTo>
                <a:close/>
              </a:path>
              <a:path w="2858770" h="2654935">
                <a:moveTo>
                  <a:pt x="2528011" y="1762480"/>
                </a:moveTo>
                <a:lnTo>
                  <a:pt x="2527897" y="1752955"/>
                </a:lnTo>
                <a:lnTo>
                  <a:pt x="2489809" y="1753374"/>
                </a:lnTo>
                <a:lnTo>
                  <a:pt x="2489911" y="1762899"/>
                </a:lnTo>
                <a:lnTo>
                  <a:pt x="2528011" y="1762480"/>
                </a:lnTo>
                <a:close/>
              </a:path>
              <a:path w="2858770" h="2654935">
                <a:moveTo>
                  <a:pt x="2528011" y="929830"/>
                </a:moveTo>
                <a:lnTo>
                  <a:pt x="2489911" y="929830"/>
                </a:lnTo>
                <a:lnTo>
                  <a:pt x="2489911" y="939355"/>
                </a:lnTo>
                <a:lnTo>
                  <a:pt x="2528011" y="939355"/>
                </a:lnTo>
                <a:lnTo>
                  <a:pt x="2528011" y="929830"/>
                </a:lnTo>
                <a:close/>
              </a:path>
              <a:path w="2858770" h="2654935">
                <a:moveTo>
                  <a:pt x="2575585" y="33337"/>
                </a:moveTo>
                <a:lnTo>
                  <a:pt x="2537485" y="33337"/>
                </a:lnTo>
                <a:lnTo>
                  <a:pt x="2537485" y="42862"/>
                </a:lnTo>
                <a:lnTo>
                  <a:pt x="2575585" y="42862"/>
                </a:lnTo>
                <a:lnTo>
                  <a:pt x="2575585" y="33337"/>
                </a:lnTo>
                <a:close/>
              </a:path>
              <a:path w="2858770" h="2654935">
                <a:moveTo>
                  <a:pt x="2594673" y="1761769"/>
                </a:moveTo>
                <a:lnTo>
                  <a:pt x="2594572" y="1752244"/>
                </a:lnTo>
                <a:lnTo>
                  <a:pt x="2556472" y="1752650"/>
                </a:lnTo>
                <a:lnTo>
                  <a:pt x="2556573" y="1762175"/>
                </a:lnTo>
                <a:lnTo>
                  <a:pt x="2594673" y="1761769"/>
                </a:lnTo>
                <a:close/>
              </a:path>
              <a:path w="2858770" h="2654935">
                <a:moveTo>
                  <a:pt x="2594686" y="2622524"/>
                </a:moveTo>
                <a:lnTo>
                  <a:pt x="2594610" y="2612999"/>
                </a:lnTo>
                <a:lnTo>
                  <a:pt x="2556510" y="2613317"/>
                </a:lnTo>
                <a:lnTo>
                  <a:pt x="2556586" y="2622842"/>
                </a:lnTo>
                <a:lnTo>
                  <a:pt x="2594686" y="2622524"/>
                </a:lnTo>
                <a:close/>
              </a:path>
              <a:path w="2858770" h="2654935">
                <a:moveTo>
                  <a:pt x="2594686" y="929830"/>
                </a:moveTo>
                <a:lnTo>
                  <a:pt x="2556586" y="929830"/>
                </a:lnTo>
                <a:lnTo>
                  <a:pt x="2556586" y="939355"/>
                </a:lnTo>
                <a:lnTo>
                  <a:pt x="2594686" y="939355"/>
                </a:lnTo>
                <a:lnTo>
                  <a:pt x="2594686" y="929830"/>
                </a:lnTo>
                <a:close/>
              </a:path>
              <a:path w="2858770" h="2654935">
                <a:moveTo>
                  <a:pt x="2642260" y="33337"/>
                </a:moveTo>
                <a:lnTo>
                  <a:pt x="2604160" y="33337"/>
                </a:lnTo>
                <a:lnTo>
                  <a:pt x="2604160" y="42862"/>
                </a:lnTo>
                <a:lnTo>
                  <a:pt x="2642260" y="42862"/>
                </a:lnTo>
                <a:lnTo>
                  <a:pt x="2642260" y="33337"/>
                </a:lnTo>
                <a:close/>
              </a:path>
              <a:path w="2858770" h="2654935">
                <a:moveTo>
                  <a:pt x="2661348" y="1761045"/>
                </a:moveTo>
                <a:lnTo>
                  <a:pt x="2661247" y="1751520"/>
                </a:lnTo>
                <a:lnTo>
                  <a:pt x="2623147" y="1751926"/>
                </a:lnTo>
                <a:lnTo>
                  <a:pt x="2623248" y="1761451"/>
                </a:lnTo>
                <a:lnTo>
                  <a:pt x="2661348" y="1761045"/>
                </a:lnTo>
                <a:close/>
              </a:path>
              <a:path w="2858770" h="2654935">
                <a:moveTo>
                  <a:pt x="2661361" y="2621978"/>
                </a:moveTo>
                <a:lnTo>
                  <a:pt x="2661285" y="2612453"/>
                </a:lnTo>
                <a:lnTo>
                  <a:pt x="2623185" y="2612771"/>
                </a:lnTo>
                <a:lnTo>
                  <a:pt x="2623261" y="2622296"/>
                </a:lnTo>
                <a:lnTo>
                  <a:pt x="2661361" y="2621978"/>
                </a:lnTo>
                <a:close/>
              </a:path>
              <a:path w="2858770" h="2654935">
                <a:moveTo>
                  <a:pt x="2661361" y="929830"/>
                </a:moveTo>
                <a:lnTo>
                  <a:pt x="2623261" y="929830"/>
                </a:lnTo>
                <a:lnTo>
                  <a:pt x="2623261" y="939355"/>
                </a:lnTo>
                <a:lnTo>
                  <a:pt x="2661361" y="939355"/>
                </a:lnTo>
                <a:lnTo>
                  <a:pt x="2661361" y="929830"/>
                </a:lnTo>
                <a:close/>
              </a:path>
              <a:path w="2858770" h="2654935">
                <a:moveTo>
                  <a:pt x="2708935" y="33337"/>
                </a:moveTo>
                <a:lnTo>
                  <a:pt x="2670835" y="33337"/>
                </a:lnTo>
                <a:lnTo>
                  <a:pt x="2670835" y="42862"/>
                </a:lnTo>
                <a:lnTo>
                  <a:pt x="2708935" y="42862"/>
                </a:lnTo>
                <a:lnTo>
                  <a:pt x="2708935" y="33337"/>
                </a:lnTo>
                <a:close/>
              </a:path>
              <a:path w="2858770" h="2654935">
                <a:moveTo>
                  <a:pt x="2728023" y="1760321"/>
                </a:moveTo>
                <a:lnTo>
                  <a:pt x="2727922" y="1750796"/>
                </a:lnTo>
                <a:lnTo>
                  <a:pt x="2689822" y="1751203"/>
                </a:lnTo>
                <a:lnTo>
                  <a:pt x="2689923" y="1760728"/>
                </a:lnTo>
                <a:lnTo>
                  <a:pt x="2728023" y="1760321"/>
                </a:lnTo>
                <a:close/>
              </a:path>
              <a:path w="2858770" h="2654935">
                <a:moveTo>
                  <a:pt x="2728036" y="2621445"/>
                </a:moveTo>
                <a:lnTo>
                  <a:pt x="2727960" y="2611920"/>
                </a:lnTo>
                <a:lnTo>
                  <a:pt x="2689860" y="2612225"/>
                </a:lnTo>
                <a:lnTo>
                  <a:pt x="2689936" y="2621750"/>
                </a:lnTo>
                <a:lnTo>
                  <a:pt x="2728036" y="2621445"/>
                </a:lnTo>
                <a:close/>
              </a:path>
              <a:path w="2858770" h="2654935">
                <a:moveTo>
                  <a:pt x="2728036" y="929830"/>
                </a:moveTo>
                <a:lnTo>
                  <a:pt x="2689936" y="929830"/>
                </a:lnTo>
                <a:lnTo>
                  <a:pt x="2689936" y="939355"/>
                </a:lnTo>
                <a:lnTo>
                  <a:pt x="2728036" y="939355"/>
                </a:lnTo>
                <a:lnTo>
                  <a:pt x="2728036" y="929830"/>
                </a:lnTo>
                <a:close/>
              </a:path>
              <a:path w="2858770" h="2654935">
                <a:moveTo>
                  <a:pt x="2820149" y="1754555"/>
                </a:moveTo>
                <a:lnTo>
                  <a:pt x="2743543" y="1717281"/>
                </a:lnTo>
                <a:lnTo>
                  <a:pt x="2744368" y="1793481"/>
                </a:lnTo>
                <a:lnTo>
                  <a:pt x="2820149" y="1754555"/>
                </a:lnTo>
                <a:close/>
              </a:path>
              <a:path w="2858770" h="2654935">
                <a:moveTo>
                  <a:pt x="2820149" y="934593"/>
                </a:moveTo>
                <a:lnTo>
                  <a:pt x="2743949" y="896493"/>
                </a:lnTo>
                <a:lnTo>
                  <a:pt x="2743949" y="972693"/>
                </a:lnTo>
                <a:lnTo>
                  <a:pt x="2820149" y="934593"/>
                </a:lnTo>
                <a:close/>
              </a:path>
              <a:path w="2858770" h="2654935">
                <a:moveTo>
                  <a:pt x="2820149" y="38100"/>
                </a:moveTo>
                <a:lnTo>
                  <a:pt x="2743949" y="0"/>
                </a:lnTo>
                <a:lnTo>
                  <a:pt x="2743949" y="33337"/>
                </a:lnTo>
                <a:lnTo>
                  <a:pt x="2737510" y="33337"/>
                </a:lnTo>
                <a:lnTo>
                  <a:pt x="2737510" y="42862"/>
                </a:lnTo>
                <a:lnTo>
                  <a:pt x="2743949" y="42862"/>
                </a:lnTo>
                <a:lnTo>
                  <a:pt x="2743949" y="76200"/>
                </a:lnTo>
                <a:lnTo>
                  <a:pt x="2820149" y="38100"/>
                </a:lnTo>
                <a:close/>
              </a:path>
              <a:path w="2858770" h="2654935">
                <a:moveTo>
                  <a:pt x="2858351" y="2615615"/>
                </a:moveTo>
                <a:lnTo>
                  <a:pt x="2781833" y="2578138"/>
                </a:lnTo>
                <a:lnTo>
                  <a:pt x="2782112" y="2611475"/>
                </a:lnTo>
                <a:lnTo>
                  <a:pt x="2756535" y="2611678"/>
                </a:lnTo>
                <a:lnTo>
                  <a:pt x="2756611" y="2621203"/>
                </a:lnTo>
                <a:lnTo>
                  <a:pt x="2782189" y="2621153"/>
                </a:lnTo>
                <a:lnTo>
                  <a:pt x="2782455" y="2654338"/>
                </a:lnTo>
                <a:lnTo>
                  <a:pt x="2847797" y="2621000"/>
                </a:lnTo>
                <a:lnTo>
                  <a:pt x="2858351" y="2615615"/>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52" name="object 52"/>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53" name="object 53"/>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22</a:t>
            </a:fld>
            <a:endParaRPr dirty="0">
              <a:solidFill>
                <a:prstClr val="white"/>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1748" y="1199009"/>
            <a:ext cx="170687" cy="177800"/>
          </a:xfrm>
          <a:prstGeom prst="rect">
            <a:avLst/>
          </a:prstGeom>
        </p:spPr>
      </p:pic>
      <p:sp>
        <p:nvSpPr>
          <p:cNvPr id="3" name="object 3"/>
          <p:cNvSpPr txBox="1"/>
          <p:nvPr/>
        </p:nvSpPr>
        <p:spPr>
          <a:xfrm>
            <a:off x="801858" y="984985"/>
            <a:ext cx="11254154" cy="1165063"/>
          </a:xfrm>
          <a:prstGeom prst="rect">
            <a:avLst/>
          </a:prstGeom>
        </p:spPr>
        <p:txBody>
          <a:bodyPr vert="horz" wrap="square" lIns="0" tIns="137795" rIns="0" bIns="0" rtlCol="0">
            <a:spAutoFit/>
          </a:bodyPr>
          <a:lstStyle/>
          <a:p>
            <a:pPr marL="12700">
              <a:spcBef>
                <a:spcPts val="1085"/>
              </a:spcBef>
            </a:pPr>
            <a:r>
              <a:rPr sz="2400" b="1" spc="-5" dirty="0">
                <a:solidFill>
                  <a:prstClr val="black"/>
                </a:solidFill>
                <a:latin typeface="Arial"/>
                <a:cs typeface="Arial"/>
              </a:rPr>
              <a:t>Undercomplete</a:t>
            </a:r>
            <a:r>
              <a:rPr sz="2400" b="1" spc="-20" dirty="0">
                <a:solidFill>
                  <a:prstClr val="black"/>
                </a:solidFill>
                <a:latin typeface="Arial"/>
                <a:cs typeface="Arial"/>
              </a:rPr>
              <a:t> </a:t>
            </a:r>
            <a:r>
              <a:rPr sz="2400" b="1" spc="-5" dirty="0">
                <a:solidFill>
                  <a:prstClr val="black"/>
                </a:solidFill>
                <a:latin typeface="Arial"/>
                <a:cs typeface="Arial"/>
              </a:rPr>
              <a:t>autoencoder</a:t>
            </a:r>
            <a:r>
              <a:rPr lang="en-IN" sz="2400" b="1" spc="-5" dirty="0">
                <a:solidFill>
                  <a:prstClr val="black"/>
                </a:solidFill>
                <a:latin typeface="Arial"/>
                <a:cs typeface="Arial"/>
              </a:rPr>
              <a:t> and Overcomplete Autoencoder</a:t>
            </a:r>
            <a:endParaRPr sz="2400" dirty="0">
              <a:solidFill>
                <a:prstClr val="black"/>
              </a:solidFill>
              <a:latin typeface="Arial"/>
              <a:cs typeface="Arial"/>
            </a:endParaRPr>
          </a:p>
          <a:p>
            <a:pPr marL="127000">
              <a:spcBef>
                <a:spcPts val="820"/>
              </a:spcBef>
              <a:tabLst>
                <a:tab pos="411480" algn="l"/>
              </a:tabLst>
            </a:pPr>
            <a:r>
              <a:rPr lang="en-IN" b="1" spc="-5" dirty="0">
                <a:solidFill>
                  <a:srgbClr val="4F81BD"/>
                </a:solidFill>
                <a:latin typeface="Arial"/>
                <a:cs typeface="Arial"/>
              </a:rPr>
              <a:t>For Undercomplete autoencoder - </a:t>
            </a:r>
            <a:r>
              <a:rPr b="1" spc="-5" dirty="0">
                <a:solidFill>
                  <a:srgbClr val="4F81BD"/>
                </a:solidFill>
                <a:latin typeface="Arial"/>
                <a:cs typeface="Arial"/>
              </a:rPr>
              <a:t>output</a:t>
            </a:r>
            <a:r>
              <a:rPr b="1" spc="-10" dirty="0">
                <a:solidFill>
                  <a:srgbClr val="4F81BD"/>
                </a:solidFill>
                <a:latin typeface="Arial"/>
                <a:cs typeface="Arial"/>
              </a:rPr>
              <a:t> </a:t>
            </a:r>
            <a:r>
              <a:rPr b="1" spc="-5" dirty="0">
                <a:solidFill>
                  <a:srgbClr val="4F81BD"/>
                </a:solidFill>
                <a:latin typeface="Arial"/>
                <a:cs typeface="Arial"/>
              </a:rPr>
              <a:t>dimension </a:t>
            </a:r>
            <a:r>
              <a:rPr b="1" dirty="0">
                <a:solidFill>
                  <a:srgbClr val="4F81BD"/>
                </a:solidFill>
                <a:latin typeface="Arial"/>
                <a:cs typeface="Arial"/>
              </a:rPr>
              <a:t>of</a:t>
            </a:r>
            <a:r>
              <a:rPr b="1" spc="-10" dirty="0">
                <a:solidFill>
                  <a:srgbClr val="4F81BD"/>
                </a:solidFill>
                <a:latin typeface="Arial"/>
                <a:cs typeface="Arial"/>
              </a:rPr>
              <a:t> </a:t>
            </a:r>
            <a:r>
              <a:rPr b="1" dirty="0">
                <a:solidFill>
                  <a:srgbClr val="4F81BD"/>
                </a:solidFill>
                <a:latin typeface="Arial"/>
                <a:cs typeface="Arial"/>
              </a:rPr>
              <a:t>encoder</a:t>
            </a:r>
            <a:r>
              <a:rPr b="1" spc="-10" dirty="0">
                <a:solidFill>
                  <a:srgbClr val="4F81BD"/>
                </a:solidFill>
                <a:latin typeface="Arial"/>
                <a:cs typeface="Arial"/>
              </a:rPr>
              <a:t> </a:t>
            </a:r>
            <a:r>
              <a:rPr b="1" spc="-5" dirty="0">
                <a:solidFill>
                  <a:srgbClr val="4F81BD"/>
                </a:solidFill>
                <a:latin typeface="Arial"/>
                <a:cs typeface="Arial"/>
              </a:rPr>
              <a:t>is</a:t>
            </a:r>
            <a:r>
              <a:rPr b="1" spc="-10" dirty="0">
                <a:solidFill>
                  <a:srgbClr val="4F81BD"/>
                </a:solidFill>
                <a:latin typeface="Arial"/>
                <a:cs typeface="Arial"/>
              </a:rPr>
              <a:t> </a:t>
            </a:r>
            <a:r>
              <a:rPr b="1" spc="-5" dirty="0">
                <a:solidFill>
                  <a:srgbClr val="4F81BD"/>
                </a:solidFill>
                <a:latin typeface="Arial"/>
                <a:cs typeface="Arial"/>
              </a:rPr>
              <a:t>smaller</a:t>
            </a:r>
            <a:r>
              <a:rPr b="1" spc="-10" dirty="0">
                <a:solidFill>
                  <a:srgbClr val="4F81BD"/>
                </a:solidFill>
                <a:latin typeface="Arial"/>
                <a:cs typeface="Arial"/>
              </a:rPr>
              <a:t> </a:t>
            </a:r>
            <a:r>
              <a:rPr b="1" spc="-5" dirty="0">
                <a:solidFill>
                  <a:srgbClr val="4F81BD"/>
                </a:solidFill>
                <a:latin typeface="Arial"/>
                <a:cs typeface="Arial"/>
              </a:rPr>
              <a:t>than input</a:t>
            </a:r>
            <a:r>
              <a:rPr b="1" spc="-10" dirty="0">
                <a:solidFill>
                  <a:srgbClr val="4F81BD"/>
                </a:solidFill>
                <a:latin typeface="Arial"/>
                <a:cs typeface="Arial"/>
              </a:rPr>
              <a:t> </a:t>
            </a:r>
            <a:r>
              <a:rPr b="1" spc="-5" dirty="0">
                <a:solidFill>
                  <a:srgbClr val="4F81BD"/>
                </a:solidFill>
                <a:latin typeface="Arial"/>
                <a:cs typeface="Arial"/>
              </a:rPr>
              <a:t>dimension</a:t>
            </a:r>
            <a:r>
              <a:rPr lang="en-IN" b="1" spc="-5" dirty="0">
                <a:solidFill>
                  <a:srgbClr val="4F81BD"/>
                </a:solidFill>
                <a:latin typeface="Arial"/>
                <a:cs typeface="Arial"/>
              </a:rPr>
              <a:t> and vice versa for Overcomplete autoencoder</a:t>
            </a:r>
            <a:endParaRPr dirty="0">
              <a:solidFill>
                <a:prstClr val="black"/>
              </a:solidFill>
              <a:latin typeface="Arial"/>
              <a:cs typeface="Arial"/>
            </a:endParaRPr>
          </a:p>
        </p:txBody>
      </p:sp>
      <p:grpSp>
        <p:nvGrpSpPr>
          <p:cNvPr id="4" name="object 4"/>
          <p:cNvGrpSpPr/>
          <p:nvPr/>
        </p:nvGrpSpPr>
        <p:grpSpPr>
          <a:xfrm>
            <a:off x="1536701" y="67733"/>
            <a:ext cx="5401945" cy="918844"/>
            <a:chOff x="12700" y="67733"/>
            <a:chExt cx="5401945" cy="918844"/>
          </a:xfrm>
        </p:grpSpPr>
        <p:pic>
          <p:nvPicPr>
            <p:cNvPr id="5" name="object 5"/>
            <p:cNvPicPr/>
            <p:nvPr/>
          </p:nvPicPr>
          <p:blipFill>
            <a:blip r:embed="rId3" cstate="print"/>
            <a:stretch>
              <a:fillRect/>
            </a:stretch>
          </p:blipFill>
          <p:spPr>
            <a:xfrm>
              <a:off x="12700" y="67733"/>
              <a:ext cx="3551767" cy="918633"/>
            </a:xfrm>
            <a:prstGeom prst="rect">
              <a:avLst/>
            </a:prstGeom>
          </p:spPr>
        </p:pic>
        <p:pic>
          <p:nvPicPr>
            <p:cNvPr id="6" name="object 6"/>
            <p:cNvPicPr/>
            <p:nvPr/>
          </p:nvPicPr>
          <p:blipFill>
            <a:blip r:embed="rId4" cstate="print"/>
            <a:stretch>
              <a:fillRect/>
            </a:stretch>
          </p:blipFill>
          <p:spPr>
            <a:xfrm>
              <a:off x="3009900" y="67733"/>
              <a:ext cx="2404532" cy="918633"/>
            </a:xfrm>
            <a:prstGeom prst="rect">
              <a:avLst/>
            </a:prstGeom>
          </p:spPr>
        </p:pic>
      </p:grpSp>
      <p:sp>
        <p:nvSpPr>
          <p:cNvPr id="7" name="object 7"/>
          <p:cNvSpPr txBox="1">
            <a:spLocks noGrp="1"/>
          </p:cNvSpPr>
          <p:nvPr>
            <p:ph type="title"/>
          </p:nvPr>
        </p:nvSpPr>
        <p:spPr>
          <a:xfrm>
            <a:off x="1785620" y="183388"/>
            <a:ext cx="4872990"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Dimensionality</a:t>
            </a:r>
            <a:r>
              <a:rPr sz="3200" spc="-80" dirty="0">
                <a:solidFill>
                  <a:srgbClr val="004990"/>
                </a:solidFill>
              </a:rPr>
              <a:t> </a:t>
            </a:r>
            <a:r>
              <a:rPr sz="3200" spc="-5" dirty="0">
                <a:solidFill>
                  <a:srgbClr val="004990"/>
                </a:solidFill>
              </a:rPr>
              <a:t>reduction</a:t>
            </a:r>
            <a:endParaRPr sz="3200"/>
          </a:p>
        </p:txBody>
      </p:sp>
      <p:pic>
        <p:nvPicPr>
          <p:cNvPr id="8" name="object 8"/>
          <p:cNvPicPr/>
          <p:nvPr/>
        </p:nvPicPr>
        <p:blipFill>
          <a:blip r:embed="rId5" cstate="print"/>
          <a:stretch>
            <a:fillRect/>
          </a:stretch>
        </p:blipFill>
        <p:spPr>
          <a:xfrm>
            <a:off x="2449223" y="2662935"/>
            <a:ext cx="2705239" cy="2202227"/>
          </a:xfrm>
          <a:prstGeom prst="rect">
            <a:avLst/>
          </a:prstGeom>
        </p:spPr>
      </p:pic>
      <p:sp>
        <p:nvSpPr>
          <p:cNvPr id="9" name="object 9"/>
          <p:cNvSpPr txBox="1"/>
          <p:nvPr/>
        </p:nvSpPr>
        <p:spPr>
          <a:xfrm>
            <a:off x="2600356" y="2764497"/>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10" name="object 10"/>
          <p:cNvSpPr txBox="1"/>
          <p:nvPr/>
        </p:nvSpPr>
        <p:spPr>
          <a:xfrm>
            <a:off x="2531323" y="3605742"/>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11" name="object 11"/>
          <p:cNvSpPr txBox="1"/>
          <p:nvPr/>
        </p:nvSpPr>
        <p:spPr>
          <a:xfrm>
            <a:off x="2531323" y="4446987"/>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2" name="object 12"/>
          <p:cNvSpPr txBox="1"/>
          <p:nvPr/>
        </p:nvSpPr>
        <p:spPr>
          <a:xfrm>
            <a:off x="4716824" y="2764497"/>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13" name="object 13"/>
          <p:cNvSpPr txBox="1"/>
          <p:nvPr/>
        </p:nvSpPr>
        <p:spPr>
          <a:xfrm>
            <a:off x="4716824" y="3605742"/>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14" name="object 14"/>
          <p:cNvSpPr txBox="1"/>
          <p:nvPr/>
        </p:nvSpPr>
        <p:spPr>
          <a:xfrm>
            <a:off x="4716824" y="4446987"/>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5" name="object 15"/>
          <p:cNvSpPr/>
          <p:nvPr/>
        </p:nvSpPr>
        <p:spPr>
          <a:xfrm>
            <a:off x="2361049" y="2545544"/>
            <a:ext cx="2876550" cy="2413000"/>
          </a:xfrm>
          <a:custGeom>
            <a:avLst/>
            <a:gdLst/>
            <a:ahLst/>
            <a:cxnLst/>
            <a:rect l="l" t="t" r="r" b="b"/>
            <a:pathLst>
              <a:path w="2876550" h="2413000">
                <a:moveTo>
                  <a:pt x="0" y="0"/>
                </a:moveTo>
                <a:lnTo>
                  <a:pt x="2875944" y="0"/>
                </a:lnTo>
                <a:lnTo>
                  <a:pt x="2875944" y="2412821"/>
                </a:lnTo>
                <a:lnTo>
                  <a:pt x="0" y="2412821"/>
                </a:lnTo>
                <a:lnTo>
                  <a:pt x="0" y="0"/>
                </a:lnTo>
                <a:close/>
              </a:path>
            </a:pathLst>
          </a:custGeom>
          <a:ln w="25400">
            <a:solidFill>
              <a:srgbClr val="F79646"/>
            </a:solidFill>
          </a:ln>
        </p:spPr>
        <p:txBody>
          <a:bodyPr wrap="square" lIns="0" tIns="0" rIns="0" bIns="0" rtlCol="0"/>
          <a:lstStyle/>
          <a:p>
            <a:endParaRPr>
              <a:solidFill>
                <a:prstClr val="black"/>
              </a:solidFill>
              <a:latin typeface="Calibri"/>
            </a:endParaRPr>
          </a:p>
        </p:txBody>
      </p:sp>
      <p:sp>
        <p:nvSpPr>
          <p:cNvPr id="16" name="object 16"/>
          <p:cNvSpPr txBox="1"/>
          <p:nvPr/>
        </p:nvSpPr>
        <p:spPr>
          <a:xfrm>
            <a:off x="2851679" y="5762757"/>
            <a:ext cx="1873885" cy="330200"/>
          </a:xfrm>
          <a:prstGeom prst="rect">
            <a:avLst/>
          </a:prstGeom>
        </p:spPr>
        <p:txBody>
          <a:bodyPr vert="horz" wrap="square" lIns="0" tIns="12700" rIns="0" bIns="0" rtlCol="0">
            <a:spAutoFit/>
          </a:bodyPr>
          <a:lstStyle/>
          <a:p>
            <a:pPr marL="12700">
              <a:spcBef>
                <a:spcPts val="100"/>
              </a:spcBef>
            </a:pPr>
            <a:r>
              <a:rPr sz="2000" b="1" spc="-5" dirty="0">
                <a:solidFill>
                  <a:prstClr val="black"/>
                </a:solidFill>
                <a:latin typeface="Arial"/>
                <a:cs typeface="Arial"/>
              </a:rPr>
              <a:t>Undercomplete</a:t>
            </a:r>
            <a:endParaRPr sz="2000">
              <a:solidFill>
                <a:prstClr val="black"/>
              </a:solidFill>
              <a:latin typeface="Arial"/>
              <a:cs typeface="Arial"/>
            </a:endParaRPr>
          </a:p>
        </p:txBody>
      </p:sp>
      <p:grpSp>
        <p:nvGrpSpPr>
          <p:cNvPr id="17" name="object 17"/>
          <p:cNvGrpSpPr/>
          <p:nvPr/>
        </p:nvGrpSpPr>
        <p:grpSpPr>
          <a:xfrm>
            <a:off x="6725513" y="2417626"/>
            <a:ext cx="2901950" cy="2856230"/>
            <a:chOff x="5201513" y="2417626"/>
            <a:chExt cx="2901950" cy="2856230"/>
          </a:xfrm>
        </p:grpSpPr>
        <p:sp>
          <p:nvSpPr>
            <p:cNvPr id="18" name="object 18"/>
            <p:cNvSpPr/>
            <p:nvPr/>
          </p:nvSpPr>
          <p:spPr>
            <a:xfrm>
              <a:off x="5214213" y="2430326"/>
              <a:ext cx="2876550" cy="2830830"/>
            </a:xfrm>
            <a:custGeom>
              <a:avLst/>
              <a:gdLst/>
              <a:ahLst/>
              <a:cxnLst/>
              <a:rect l="l" t="t" r="r" b="b"/>
              <a:pathLst>
                <a:path w="2876550" h="2830829">
                  <a:moveTo>
                    <a:pt x="0" y="0"/>
                  </a:moveTo>
                  <a:lnTo>
                    <a:pt x="2875944" y="0"/>
                  </a:lnTo>
                  <a:lnTo>
                    <a:pt x="2875944" y="2830383"/>
                  </a:lnTo>
                  <a:lnTo>
                    <a:pt x="0" y="2830383"/>
                  </a:lnTo>
                  <a:lnTo>
                    <a:pt x="0" y="0"/>
                  </a:lnTo>
                  <a:close/>
                </a:path>
              </a:pathLst>
            </a:custGeom>
            <a:ln w="25400">
              <a:solidFill>
                <a:srgbClr val="F79646"/>
              </a:solidFill>
            </a:ln>
          </p:spPr>
          <p:txBody>
            <a:bodyPr wrap="square" lIns="0" tIns="0" rIns="0" bIns="0" rtlCol="0"/>
            <a:lstStyle/>
            <a:p>
              <a:endParaRPr>
                <a:solidFill>
                  <a:prstClr val="black"/>
                </a:solidFill>
                <a:latin typeface="Calibri"/>
              </a:endParaRPr>
            </a:p>
          </p:txBody>
        </p:sp>
        <p:pic>
          <p:nvPicPr>
            <p:cNvPr id="19" name="object 19"/>
            <p:cNvPicPr/>
            <p:nvPr/>
          </p:nvPicPr>
          <p:blipFill>
            <a:blip r:embed="rId6" cstate="print"/>
            <a:stretch>
              <a:fillRect/>
            </a:stretch>
          </p:blipFill>
          <p:spPr>
            <a:xfrm>
              <a:off x="5296223" y="2475052"/>
              <a:ext cx="2705240" cy="2798357"/>
            </a:xfrm>
            <a:prstGeom prst="rect">
              <a:avLst/>
            </a:prstGeom>
          </p:spPr>
        </p:pic>
      </p:grpSp>
      <p:sp>
        <p:nvSpPr>
          <p:cNvPr id="20" name="object 20"/>
          <p:cNvSpPr txBox="1"/>
          <p:nvPr/>
        </p:nvSpPr>
        <p:spPr>
          <a:xfrm>
            <a:off x="6971358" y="2772144"/>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21" name="object 21"/>
          <p:cNvSpPr txBox="1"/>
          <p:nvPr/>
        </p:nvSpPr>
        <p:spPr>
          <a:xfrm>
            <a:off x="6902325" y="3613388"/>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22" name="object 22"/>
          <p:cNvSpPr txBox="1"/>
          <p:nvPr/>
        </p:nvSpPr>
        <p:spPr>
          <a:xfrm>
            <a:off x="6902325" y="4454633"/>
            <a:ext cx="294640" cy="299720"/>
          </a:xfrm>
          <a:prstGeom prst="rect">
            <a:avLst/>
          </a:prstGeom>
        </p:spPr>
        <p:txBody>
          <a:bodyPr vert="horz" wrap="square" lIns="0" tIns="12700" rIns="0" bIns="0" rtlCol="0">
            <a:spAutoFit/>
          </a:bodyPr>
          <a:lstStyle/>
          <a:p>
            <a:pPr marL="254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23" name="object 23"/>
          <p:cNvSpPr txBox="1"/>
          <p:nvPr/>
        </p:nvSpPr>
        <p:spPr>
          <a:xfrm>
            <a:off x="9087826" y="2772144"/>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24" name="object 24"/>
          <p:cNvSpPr txBox="1"/>
          <p:nvPr/>
        </p:nvSpPr>
        <p:spPr>
          <a:xfrm>
            <a:off x="9087826" y="3613388"/>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25" name="object 25"/>
          <p:cNvSpPr txBox="1"/>
          <p:nvPr/>
        </p:nvSpPr>
        <p:spPr>
          <a:xfrm>
            <a:off x="9087826" y="4454633"/>
            <a:ext cx="294640" cy="299720"/>
          </a:xfrm>
          <a:prstGeom prst="rect">
            <a:avLst/>
          </a:prstGeom>
        </p:spPr>
        <p:txBody>
          <a:bodyPr vert="horz" wrap="square" lIns="0" tIns="12700" rIns="0" bIns="0" rtlCol="0">
            <a:spAutoFit/>
          </a:bodyPr>
          <a:lstStyle/>
          <a:p>
            <a:pPr marL="254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26" name="object 26"/>
          <p:cNvSpPr/>
          <p:nvPr/>
        </p:nvSpPr>
        <p:spPr>
          <a:xfrm>
            <a:off x="7322681" y="2734933"/>
            <a:ext cx="1711325" cy="2282825"/>
          </a:xfrm>
          <a:custGeom>
            <a:avLst/>
            <a:gdLst/>
            <a:ahLst/>
            <a:cxnLst/>
            <a:rect l="l" t="t" r="r" b="b"/>
            <a:pathLst>
              <a:path w="1711325" h="2282825">
                <a:moveTo>
                  <a:pt x="19558" y="230873"/>
                </a:moveTo>
                <a:lnTo>
                  <a:pt x="9156" y="194221"/>
                </a:lnTo>
                <a:lnTo>
                  <a:pt x="0" y="196824"/>
                </a:lnTo>
                <a:lnTo>
                  <a:pt x="10388" y="233476"/>
                </a:lnTo>
                <a:lnTo>
                  <a:pt x="19558" y="230873"/>
                </a:lnTo>
                <a:close/>
              </a:path>
              <a:path w="1711325" h="2282825">
                <a:moveTo>
                  <a:pt x="37744" y="295021"/>
                </a:moveTo>
                <a:lnTo>
                  <a:pt x="27343" y="258368"/>
                </a:lnTo>
                <a:lnTo>
                  <a:pt x="18186" y="260972"/>
                </a:lnTo>
                <a:lnTo>
                  <a:pt x="28575" y="297624"/>
                </a:lnTo>
                <a:lnTo>
                  <a:pt x="37744" y="295021"/>
                </a:lnTo>
                <a:close/>
              </a:path>
              <a:path w="1711325" h="2282825">
                <a:moveTo>
                  <a:pt x="38785" y="1895462"/>
                </a:moveTo>
                <a:lnTo>
                  <a:pt x="10807" y="1876501"/>
                </a:lnTo>
                <a:lnTo>
                  <a:pt x="26911" y="1846783"/>
                </a:lnTo>
                <a:lnTo>
                  <a:pt x="20739" y="1843443"/>
                </a:lnTo>
                <a:lnTo>
                  <a:pt x="20815" y="1843214"/>
                </a:lnTo>
                <a:lnTo>
                  <a:pt x="19621" y="1842833"/>
                </a:lnTo>
                <a:lnTo>
                  <a:pt x="18529" y="1842236"/>
                </a:lnTo>
                <a:lnTo>
                  <a:pt x="18415" y="1842452"/>
                </a:lnTo>
                <a:lnTo>
                  <a:pt x="11747" y="1840293"/>
                </a:lnTo>
                <a:lnTo>
                  <a:pt x="50" y="1876552"/>
                </a:lnTo>
                <a:lnTo>
                  <a:pt x="4572" y="1878012"/>
                </a:lnTo>
                <a:lnTo>
                  <a:pt x="1905" y="1881949"/>
                </a:lnTo>
                <a:lnTo>
                  <a:pt x="33439" y="1903336"/>
                </a:lnTo>
                <a:lnTo>
                  <a:pt x="38785" y="1895462"/>
                </a:lnTo>
                <a:close/>
              </a:path>
              <a:path w="1711325" h="2282825">
                <a:moveTo>
                  <a:pt x="41287" y="1779765"/>
                </a:moveTo>
                <a:lnTo>
                  <a:pt x="32232" y="1776844"/>
                </a:lnTo>
                <a:lnTo>
                  <a:pt x="20523" y="1813102"/>
                </a:lnTo>
                <a:lnTo>
                  <a:pt x="29591" y="1816023"/>
                </a:lnTo>
                <a:lnTo>
                  <a:pt x="41287" y="1779765"/>
                </a:lnTo>
                <a:close/>
              </a:path>
              <a:path w="1711325" h="2282825">
                <a:moveTo>
                  <a:pt x="41287" y="1025525"/>
                </a:moveTo>
                <a:lnTo>
                  <a:pt x="37388" y="1016825"/>
                </a:lnTo>
                <a:lnTo>
                  <a:pt x="2628" y="1032421"/>
                </a:lnTo>
                <a:lnTo>
                  <a:pt x="4572" y="1036764"/>
                </a:lnTo>
                <a:lnTo>
                  <a:pt x="279" y="1038809"/>
                </a:lnTo>
                <a:lnTo>
                  <a:pt x="16637" y="1073213"/>
                </a:lnTo>
                <a:lnTo>
                  <a:pt x="25247" y="1069124"/>
                </a:lnTo>
                <a:lnTo>
                  <a:pt x="18097" y="1054112"/>
                </a:lnTo>
                <a:lnTo>
                  <a:pt x="30924" y="1064691"/>
                </a:lnTo>
                <a:lnTo>
                  <a:pt x="36995" y="1057351"/>
                </a:lnTo>
                <a:lnTo>
                  <a:pt x="13512" y="1037983"/>
                </a:lnTo>
                <a:lnTo>
                  <a:pt x="41287" y="1025525"/>
                </a:lnTo>
                <a:close/>
              </a:path>
              <a:path w="1711325" h="2282825">
                <a:moveTo>
                  <a:pt x="53886" y="1129334"/>
                </a:moveTo>
                <a:lnTo>
                  <a:pt x="37515" y="1094930"/>
                </a:lnTo>
                <a:lnTo>
                  <a:pt x="28917" y="1099019"/>
                </a:lnTo>
                <a:lnTo>
                  <a:pt x="45275" y="1133424"/>
                </a:lnTo>
                <a:lnTo>
                  <a:pt x="53886" y="1129334"/>
                </a:lnTo>
                <a:close/>
              </a:path>
              <a:path w="1711325" h="2282825">
                <a:moveTo>
                  <a:pt x="55930" y="359168"/>
                </a:moveTo>
                <a:lnTo>
                  <a:pt x="45542" y="322516"/>
                </a:lnTo>
                <a:lnTo>
                  <a:pt x="36372" y="325120"/>
                </a:lnTo>
                <a:lnTo>
                  <a:pt x="46761" y="361772"/>
                </a:lnTo>
                <a:lnTo>
                  <a:pt x="55930" y="359168"/>
                </a:lnTo>
                <a:close/>
              </a:path>
              <a:path w="1711325" h="2282825">
                <a:moveTo>
                  <a:pt x="58661" y="1788147"/>
                </a:moveTo>
                <a:lnTo>
                  <a:pt x="50279" y="1783613"/>
                </a:lnTo>
                <a:lnTo>
                  <a:pt x="32143" y="1817116"/>
                </a:lnTo>
                <a:lnTo>
                  <a:pt x="40513" y="1821649"/>
                </a:lnTo>
                <a:lnTo>
                  <a:pt x="58661" y="1788147"/>
                </a:lnTo>
                <a:close/>
              </a:path>
              <a:path w="1711325" h="2282825">
                <a:moveTo>
                  <a:pt x="61772" y="1716316"/>
                </a:moveTo>
                <a:lnTo>
                  <a:pt x="52705" y="1713382"/>
                </a:lnTo>
                <a:lnTo>
                  <a:pt x="41008" y="1749640"/>
                </a:lnTo>
                <a:lnTo>
                  <a:pt x="50063" y="1752574"/>
                </a:lnTo>
                <a:lnTo>
                  <a:pt x="61772" y="1716316"/>
                </a:lnTo>
                <a:close/>
              </a:path>
              <a:path w="1711325" h="2282825">
                <a:moveTo>
                  <a:pt x="74117" y="423316"/>
                </a:moveTo>
                <a:lnTo>
                  <a:pt x="63728" y="386664"/>
                </a:lnTo>
                <a:lnTo>
                  <a:pt x="54559" y="389255"/>
                </a:lnTo>
                <a:lnTo>
                  <a:pt x="64960" y="425919"/>
                </a:lnTo>
                <a:lnTo>
                  <a:pt x="74117" y="423316"/>
                </a:lnTo>
                <a:close/>
              </a:path>
              <a:path w="1711325" h="2282825">
                <a:moveTo>
                  <a:pt x="82245" y="1652866"/>
                </a:moveTo>
                <a:lnTo>
                  <a:pt x="73190" y="1649933"/>
                </a:lnTo>
                <a:lnTo>
                  <a:pt x="61480" y="1686191"/>
                </a:lnTo>
                <a:lnTo>
                  <a:pt x="70548" y="1689125"/>
                </a:lnTo>
                <a:lnTo>
                  <a:pt x="82245" y="1652866"/>
                </a:lnTo>
                <a:close/>
              </a:path>
              <a:path w="1711325" h="2282825">
                <a:moveTo>
                  <a:pt x="82524" y="1189545"/>
                </a:moveTo>
                <a:lnTo>
                  <a:pt x="66154" y="1155141"/>
                </a:lnTo>
                <a:lnTo>
                  <a:pt x="57556" y="1159230"/>
                </a:lnTo>
                <a:lnTo>
                  <a:pt x="73914" y="1193647"/>
                </a:lnTo>
                <a:lnTo>
                  <a:pt x="82524" y="1189545"/>
                </a:lnTo>
                <a:close/>
              </a:path>
              <a:path w="1711325" h="2282825">
                <a:moveTo>
                  <a:pt x="88417" y="1099794"/>
                </a:moveTo>
                <a:lnTo>
                  <a:pt x="59029" y="1075537"/>
                </a:lnTo>
                <a:lnTo>
                  <a:pt x="52959" y="1082890"/>
                </a:lnTo>
                <a:lnTo>
                  <a:pt x="82346" y="1107135"/>
                </a:lnTo>
                <a:lnTo>
                  <a:pt x="88417" y="1099794"/>
                </a:lnTo>
                <a:close/>
              </a:path>
              <a:path w="1711325" h="2282825">
                <a:moveTo>
                  <a:pt x="90411" y="1729524"/>
                </a:moveTo>
                <a:lnTo>
                  <a:pt x="82029" y="1724977"/>
                </a:lnTo>
                <a:lnTo>
                  <a:pt x="63893" y="1758480"/>
                </a:lnTo>
                <a:lnTo>
                  <a:pt x="72263" y="1763026"/>
                </a:lnTo>
                <a:lnTo>
                  <a:pt x="90411" y="1729524"/>
                </a:lnTo>
                <a:close/>
              </a:path>
              <a:path w="1711325" h="2282825">
                <a:moveTo>
                  <a:pt x="92303" y="487464"/>
                </a:moveTo>
                <a:lnTo>
                  <a:pt x="81915" y="450811"/>
                </a:lnTo>
                <a:lnTo>
                  <a:pt x="72745" y="453402"/>
                </a:lnTo>
                <a:lnTo>
                  <a:pt x="83146" y="490067"/>
                </a:lnTo>
                <a:lnTo>
                  <a:pt x="92303" y="487464"/>
                </a:lnTo>
                <a:close/>
              </a:path>
              <a:path w="1711325" h="2282825">
                <a:moveTo>
                  <a:pt x="93967" y="1932876"/>
                </a:moveTo>
                <a:lnTo>
                  <a:pt x="62433" y="1911489"/>
                </a:lnTo>
                <a:lnTo>
                  <a:pt x="57086" y="1919376"/>
                </a:lnTo>
                <a:lnTo>
                  <a:pt x="88620" y="1940763"/>
                </a:lnTo>
                <a:lnTo>
                  <a:pt x="93967" y="1932876"/>
                </a:lnTo>
                <a:close/>
              </a:path>
              <a:path w="1711325" h="2282825">
                <a:moveTo>
                  <a:pt x="102120" y="998232"/>
                </a:moveTo>
                <a:lnTo>
                  <a:pt x="98221" y="989545"/>
                </a:lnTo>
                <a:lnTo>
                  <a:pt x="63461" y="1005128"/>
                </a:lnTo>
                <a:lnTo>
                  <a:pt x="67360" y="1013828"/>
                </a:lnTo>
                <a:lnTo>
                  <a:pt x="102120" y="998232"/>
                </a:lnTo>
                <a:close/>
              </a:path>
              <a:path w="1711325" h="2282825">
                <a:moveTo>
                  <a:pt x="102730" y="1589405"/>
                </a:moveTo>
                <a:lnTo>
                  <a:pt x="93662" y="1586484"/>
                </a:lnTo>
                <a:lnTo>
                  <a:pt x="81965" y="1622742"/>
                </a:lnTo>
                <a:lnTo>
                  <a:pt x="91033" y="1625663"/>
                </a:lnTo>
                <a:lnTo>
                  <a:pt x="102730" y="1589405"/>
                </a:lnTo>
                <a:close/>
              </a:path>
              <a:path w="1711325" h="2282825">
                <a:moveTo>
                  <a:pt x="110502" y="551611"/>
                </a:moveTo>
                <a:lnTo>
                  <a:pt x="100101" y="514959"/>
                </a:lnTo>
                <a:lnTo>
                  <a:pt x="90944" y="517550"/>
                </a:lnTo>
                <a:lnTo>
                  <a:pt x="101333" y="554202"/>
                </a:lnTo>
                <a:lnTo>
                  <a:pt x="110502" y="551611"/>
                </a:lnTo>
                <a:close/>
              </a:path>
              <a:path w="1711325" h="2282825">
                <a:moveTo>
                  <a:pt x="111163" y="1249756"/>
                </a:moveTo>
                <a:lnTo>
                  <a:pt x="94792" y="1215351"/>
                </a:lnTo>
                <a:lnTo>
                  <a:pt x="86194" y="1219441"/>
                </a:lnTo>
                <a:lnTo>
                  <a:pt x="102552" y="1253858"/>
                </a:lnTo>
                <a:lnTo>
                  <a:pt x="111163" y="1249756"/>
                </a:lnTo>
                <a:close/>
              </a:path>
              <a:path w="1711325" h="2282825">
                <a:moveTo>
                  <a:pt x="122161" y="1670888"/>
                </a:moveTo>
                <a:lnTo>
                  <a:pt x="113792" y="1666354"/>
                </a:lnTo>
                <a:lnTo>
                  <a:pt x="95643" y="1699856"/>
                </a:lnTo>
                <a:lnTo>
                  <a:pt x="104013" y="1704390"/>
                </a:lnTo>
                <a:lnTo>
                  <a:pt x="122161" y="1670888"/>
                </a:lnTo>
                <a:close/>
              </a:path>
              <a:path w="1711325" h="2282825">
                <a:moveTo>
                  <a:pt x="123215" y="1525955"/>
                </a:moveTo>
                <a:lnTo>
                  <a:pt x="114147" y="1523034"/>
                </a:lnTo>
                <a:lnTo>
                  <a:pt x="102438" y="1559293"/>
                </a:lnTo>
                <a:lnTo>
                  <a:pt x="111506" y="1562214"/>
                </a:lnTo>
                <a:lnTo>
                  <a:pt x="123215" y="1525955"/>
                </a:lnTo>
                <a:close/>
              </a:path>
              <a:path w="1711325" h="2282825">
                <a:moveTo>
                  <a:pt x="128689" y="615759"/>
                </a:moveTo>
                <a:lnTo>
                  <a:pt x="118287" y="579094"/>
                </a:lnTo>
                <a:lnTo>
                  <a:pt x="109131" y="581698"/>
                </a:lnTo>
                <a:lnTo>
                  <a:pt x="119519" y="618350"/>
                </a:lnTo>
                <a:lnTo>
                  <a:pt x="128689" y="615759"/>
                </a:lnTo>
                <a:close/>
              </a:path>
              <a:path w="1711325" h="2282825">
                <a:moveTo>
                  <a:pt x="139801" y="1309966"/>
                </a:moveTo>
                <a:lnTo>
                  <a:pt x="123431" y="1275562"/>
                </a:lnTo>
                <a:lnTo>
                  <a:pt x="114833" y="1279652"/>
                </a:lnTo>
                <a:lnTo>
                  <a:pt x="131203" y="1314069"/>
                </a:lnTo>
                <a:lnTo>
                  <a:pt x="139801" y="1309966"/>
                </a:lnTo>
                <a:close/>
              </a:path>
              <a:path w="1711325" h="2282825">
                <a:moveTo>
                  <a:pt x="139827" y="1142238"/>
                </a:moveTo>
                <a:lnTo>
                  <a:pt x="110451" y="1117981"/>
                </a:lnTo>
                <a:lnTo>
                  <a:pt x="104381" y="1125334"/>
                </a:lnTo>
                <a:lnTo>
                  <a:pt x="133769" y="1149578"/>
                </a:lnTo>
                <a:lnTo>
                  <a:pt x="139827" y="1142238"/>
                </a:lnTo>
                <a:close/>
              </a:path>
              <a:path w="1711325" h="2282825">
                <a:moveTo>
                  <a:pt x="143687" y="1462506"/>
                </a:moveTo>
                <a:lnTo>
                  <a:pt x="134620" y="1459585"/>
                </a:lnTo>
                <a:lnTo>
                  <a:pt x="122923" y="1495844"/>
                </a:lnTo>
                <a:lnTo>
                  <a:pt x="131991" y="1498765"/>
                </a:lnTo>
                <a:lnTo>
                  <a:pt x="143687" y="1462506"/>
                </a:lnTo>
                <a:close/>
              </a:path>
              <a:path w="1711325" h="2282825">
                <a:moveTo>
                  <a:pt x="146875" y="679907"/>
                </a:moveTo>
                <a:lnTo>
                  <a:pt x="136486" y="643242"/>
                </a:lnTo>
                <a:lnTo>
                  <a:pt x="127317" y="645845"/>
                </a:lnTo>
                <a:lnTo>
                  <a:pt x="137718" y="682498"/>
                </a:lnTo>
                <a:lnTo>
                  <a:pt x="146875" y="679907"/>
                </a:lnTo>
                <a:close/>
              </a:path>
              <a:path w="1711325" h="2282825">
                <a:moveTo>
                  <a:pt x="149148" y="1970303"/>
                </a:moveTo>
                <a:lnTo>
                  <a:pt x="117614" y="1948916"/>
                </a:lnTo>
                <a:lnTo>
                  <a:pt x="112268" y="1956803"/>
                </a:lnTo>
                <a:lnTo>
                  <a:pt x="143802" y="1978190"/>
                </a:lnTo>
                <a:lnTo>
                  <a:pt x="149148" y="1970303"/>
                </a:lnTo>
                <a:close/>
              </a:path>
              <a:path w="1711325" h="2282825">
                <a:moveTo>
                  <a:pt x="153911" y="1612265"/>
                </a:moveTo>
                <a:lnTo>
                  <a:pt x="145542" y="1607718"/>
                </a:lnTo>
                <a:lnTo>
                  <a:pt x="127393" y="1641221"/>
                </a:lnTo>
                <a:lnTo>
                  <a:pt x="135763" y="1645767"/>
                </a:lnTo>
                <a:lnTo>
                  <a:pt x="153911" y="1612265"/>
                </a:lnTo>
                <a:close/>
              </a:path>
              <a:path w="1711325" h="2282825">
                <a:moveTo>
                  <a:pt x="162953" y="970940"/>
                </a:moveTo>
                <a:lnTo>
                  <a:pt x="159067" y="962253"/>
                </a:lnTo>
                <a:lnTo>
                  <a:pt x="124294" y="977849"/>
                </a:lnTo>
                <a:lnTo>
                  <a:pt x="128193" y="986536"/>
                </a:lnTo>
                <a:lnTo>
                  <a:pt x="162953" y="970940"/>
                </a:lnTo>
                <a:close/>
              </a:path>
              <a:path w="1711325" h="2282825">
                <a:moveTo>
                  <a:pt x="164172" y="1399057"/>
                </a:moveTo>
                <a:lnTo>
                  <a:pt x="155105" y="1396123"/>
                </a:lnTo>
                <a:lnTo>
                  <a:pt x="143395" y="1432382"/>
                </a:lnTo>
                <a:lnTo>
                  <a:pt x="152463" y="1435315"/>
                </a:lnTo>
                <a:lnTo>
                  <a:pt x="164172" y="1399057"/>
                </a:lnTo>
                <a:close/>
              </a:path>
              <a:path w="1711325" h="2282825">
                <a:moveTo>
                  <a:pt x="165061" y="744042"/>
                </a:moveTo>
                <a:lnTo>
                  <a:pt x="154673" y="707390"/>
                </a:lnTo>
                <a:lnTo>
                  <a:pt x="145503" y="709993"/>
                </a:lnTo>
                <a:lnTo>
                  <a:pt x="155905" y="746645"/>
                </a:lnTo>
                <a:lnTo>
                  <a:pt x="165061" y="744042"/>
                </a:lnTo>
                <a:close/>
              </a:path>
              <a:path w="1711325" h="2282825">
                <a:moveTo>
                  <a:pt x="183261" y="808189"/>
                </a:moveTo>
                <a:lnTo>
                  <a:pt x="172859" y="771537"/>
                </a:lnTo>
                <a:lnTo>
                  <a:pt x="163703" y="774141"/>
                </a:lnTo>
                <a:lnTo>
                  <a:pt x="174091" y="810793"/>
                </a:lnTo>
                <a:lnTo>
                  <a:pt x="183261" y="808189"/>
                </a:lnTo>
                <a:close/>
              </a:path>
              <a:path w="1711325" h="2282825">
                <a:moveTo>
                  <a:pt x="184645" y="1335595"/>
                </a:moveTo>
                <a:lnTo>
                  <a:pt x="175577" y="1332674"/>
                </a:lnTo>
                <a:lnTo>
                  <a:pt x="165481" y="1363967"/>
                </a:lnTo>
                <a:lnTo>
                  <a:pt x="152069" y="1335773"/>
                </a:lnTo>
                <a:lnTo>
                  <a:pt x="143471" y="1339862"/>
                </a:lnTo>
                <a:lnTo>
                  <a:pt x="159842" y="1374279"/>
                </a:lnTo>
                <a:lnTo>
                  <a:pt x="168148" y="1370317"/>
                </a:lnTo>
                <a:lnTo>
                  <a:pt x="172948" y="1371854"/>
                </a:lnTo>
                <a:lnTo>
                  <a:pt x="184645" y="1335595"/>
                </a:lnTo>
                <a:close/>
              </a:path>
              <a:path w="1711325" h="2282825">
                <a:moveTo>
                  <a:pt x="185661" y="1553629"/>
                </a:moveTo>
                <a:lnTo>
                  <a:pt x="177292" y="1549095"/>
                </a:lnTo>
                <a:lnTo>
                  <a:pt x="159143" y="1582597"/>
                </a:lnTo>
                <a:lnTo>
                  <a:pt x="167525" y="1587131"/>
                </a:lnTo>
                <a:lnTo>
                  <a:pt x="185661" y="1553629"/>
                </a:lnTo>
                <a:close/>
              </a:path>
              <a:path w="1711325" h="2282825">
                <a:moveTo>
                  <a:pt x="191249" y="1184681"/>
                </a:moveTo>
                <a:lnTo>
                  <a:pt x="161874" y="1160424"/>
                </a:lnTo>
                <a:lnTo>
                  <a:pt x="155803" y="1167777"/>
                </a:lnTo>
                <a:lnTo>
                  <a:pt x="185191" y="1192022"/>
                </a:lnTo>
                <a:lnTo>
                  <a:pt x="191249" y="1184681"/>
                </a:lnTo>
                <a:close/>
              </a:path>
              <a:path w="1711325" h="2282825">
                <a:moveTo>
                  <a:pt x="197078" y="1430388"/>
                </a:moveTo>
                <a:lnTo>
                  <a:pt x="180708" y="1395984"/>
                </a:lnTo>
                <a:lnTo>
                  <a:pt x="172110" y="1400073"/>
                </a:lnTo>
                <a:lnTo>
                  <a:pt x="188480" y="1434490"/>
                </a:lnTo>
                <a:lnTo>
                  <a:pt x="197078" y="1430388"/>
                </a:lnTo>
                <a:close/>
              </a:path>
              <a:path w="1711325" h="2282825">
                <a:moveTo>
                  <a:pt x="201447" y="872337"/>
                </a:moveTo>
                <a:lnTo>
                  <a:pt x="191046" y="835685"/>
                </a:lnTo>
                <a:lnTo>
                  <a:pt x="181889" y="838288"/>
                </a:lnTo>
                <a:lnTo>
                  <a:pt x="192278" y="874941"/>
                </a:lnTo>
                <a:lnTo>
                  <a:pt x="201447" y="872337"/>
                </a:lnTo>
                <a:close/>
              </a:path>
              <a:path w="1711325" h="2282825">
                <a:moveTo>
                  <a:pt x="204330" y="2007730"/>
                </a:moveTo>
                <a:lnTo>
                  <a:pt x="172796" y="1986343"/>
                </a:lnTo>
                <a:lnTo>
                  <a:pt x="167449" y="1994230"/>
                </a:lnTo>
                <a:lnTo>
                  <a:pt x="198983" y="2015617"/>
                </a:lnTo>
                <a:lnTo>
                  <a:pt x="204330" y="2007730"/>
                </a:lnTo>
                <a:close/>
              </a:path>
              <a:path w="1711325" h="2282825">
                <a:moveTo>
                  <a:pt x="205130" y="1272146"/>
                </a:moveTo>
                <a:lnTo>
                  <a:pt x="196062" y="1269225"/>
                </a:lnTo>
                <a:lnTo>
                  <a:pt x="184365" y="1305483"/>
                </a:lnTo>
                <a:lnTo>
                  <a:pt x="193421" y="1308404"/>
                </a:lnTo>
                <a:lnTo>
                  <a:pt x="205130" y="1272146"/>
                </a:lnTo>
                <a:close/>
              </a:path>
              <a:path w="1711325" h="2282825">
                <a:moveTo>
                  <a:pt x="217411" y="1495005"/>
                </a:moveTo>
                <a:lnTo>
                  <a:pt x="209042" y="1490459"/>
                </a:lnTo>
                <a:lnTo>
                  <a:pt x="190893" y="1523961"/>
                </a:lnTo>
                <a:lnTo>
                  <a:pt x="199275" y="1528508"/>
                </a:lnTo>
                <a:lnTo>
                  <a:pt x="217411" y="1495005"/>
                </a:lnTo>
                <a:close/>
              </a:path>
              <a:path w="1711325" h="2282825">
                <a:moveTo>
                  <a:pt x="223799" y="943660"/>
                </a:moveTo>
                <a:lnTo>
                  <a:pt x="219900" y="934961"/>
                </a:lnTo>
                <a:lnTo>
                  <a:pt x="219278" y="935240"/>
                </a:lnTo>
                <a:lnTo>
                  <a:pt x="209245" y="899833"/>
                </a:lnTo>
                <a:lnTo>
                  <a:pt x="200075" y="902423"/>
                </a:lnTo>
                <a:lnTo>
                  <a:pt x="210464" y="939088"/>
                </a:lnTo>
                <a:lnTo>
                  <a:pt x="211099" y="938911"/>
                </a:lnTo>
                <a:lnTo>
                  <a:pt x="185127" y="950556"/>
                </a:lnTo>
                <a:lnTo>
                  <a:pt x="189026" y="959256"/>
                </a:lnTo>
                <a:lnTo>
                  <a:pt x="223799" y="943660"/>
                </a:lnTo>
                <a:close/>
              </a:path>
              <a:path w="1711325" h="2282825">
                <a:moveTo>
                  <a:pt x="225717" y="1490599"/>
                </a:moveTo>
                <a:lnTo>
                  <a:pt x="209346" y="1456194"/>
                </a:lnTo>
                <a:lnTo>
                  <a:pt x="200748" y="1460284"/>
                </a:lnTo>
                <a:lnTo>
                  <a:pt x="217119" y="1494701"/>
                </a:lnTo>
                <a:lnTo>
                  <a:pt x="225717" y="1490599"/>
                </a:lnTo>
                <a:close/>
              </a:path>
              <a:path w="1711325" h="2282825">
                <a:moveTo>
                  <a:pt x="237820" y="1000633"/>
                </a:moveTo>
                <a:lnTo>
                  <a:pt x="227431" y="963980"/>
                </a:lnTo>
                <a:lnTo>
                  <a:pt x="218262" y="966571"/>
                </a:lnTo>
                <a:lnTo>
                  <a:pt x="228663" y="1003223"/>
                </a:lnTo>
                <a:lnTo>
                  <a:pt x="237820" y="1000633"/>
                </a:lnTo>
                <a:close/>
              </a:path>
              <a:path w="1711325" h="2282825">
                <a:moveTo>
                  <a:pt x="242671" y="1227124"/>
                </a:moveTo>
                <a:lnTo>
                  <a:pt x="224485" y="1212126"/>
                </a:lnTo>
                <a:lnTo>
                  <a:pt x="225602" y="1208697"/>
                </a:lnTo>
                <a:lnTo>
                  <a:pt x="216966" y="1205915"/>
                </a:lnTo>
                <a:lnTo>
                  <a:pt x="213283" y="1202867"/>
                </a:lnTo>
                <a:lnTo>
                  <a:pt x="207225" y="1210221"/>
                </a:lnTo>
                <a:lnTo>
                  <a:pt x="213448" y="1215364"/>
                </a:lnTo>
                <a:lnTo>
                  <a:pt x="204838" y="1242034"/>
                </a:lnTo>
                <a:lnTo>
                  <a:pt x="213906" y="1244955"/>
                </a:lnTo>
                <a:lnTo>
                  <a:pt x="221348" y="1221879"/>
                </a:lnTo>
                <a:lnTo>
                  <a:pt x="236613" y="1234478"/>
                </a:lnTo>
                <a:lnTo>
                  <a:pt x="242671" y="1227124"/>
                </a:lnTo>
                <a:close/>
              </a:path>
              <a:path w="1711325" h="2282825">
                <a:moveTo>
                  <a:pt x="246087" y="1145247"/>
                </a:moveTo>
                <a:lnTo>
                  <a:pt x="237020" y="1142314"/>
                </a:lnTo>
                <a:lnTo>
                  <a:pt x="225323" y="1178572"/>
                </a:lnTo>
                <a:lnTo>
                  <a:pt x="234378" y="1181506"/>
                </a:lnTo>
                <a:lnTo>
                  <a:pt x="246087" y="1145247"/>
                </a:lnTo>
                <a:close/>
              </a:path>
              <a:path w="1711325" h="2282825">
                <a:moveTo>
                  <a:pt x="249161" y="1436370"/>
                </a:moveTo>
                <a:lnTo>
                  <a:pt x="240792" y="1431836"/>
                </a:lnTo>
                <a:lnTo>
                  <a:pt x="222643" y="1465338"/>
                </a:lnTo>
                <a:lnTo>
                  <a:pt x="231025" y="1469872"/>
                </a:lnTo>
                <a:lnTo>
                  <a:pt x="249161" y="1436370"/>
                </a:lnTo>
                <a:close/>
              </a:path>
              <a:path w="1711325" h="2282825">
                <a:moveTo>
                  <a:pt x="254355" y="1550809"/>
                </a:moveTo>
                <a:lnTo>
                  <a:pt x="237985" y="1516405"/>
                </a:lnTo>
                <a:lnTo>
                  <a:pt x="229387" y="1520494"/>
                </a:lnTo>
                <a:lnTo>
                  <a:pt x="245757" y="1554911"/>
                </a:lnTo>
                <a:lnTo>
                  <a:pt x="254355" y="1550809"/>
                </a:lnTo>
                <a:close/>
              </a:path>
              <a:path w="1711325" h="2282825">
                <a:moveTo>
                  <a:pt x="256006" y="1064780"/>
                </a:moveTo>
                <a:lnTo>
                  <a:pt x="245618" y="1028128"/>
                </a:lnTo>
                <a:lnTo>
                  <a:pt x="236448" y="1030719"/>
                </a:lnTo>
                <a:lnTo>
                  <a:pt x="246849" y="1067371"/>
                </a:lnTo>
                <a:lnTo>
                  <a:pt x="256006" y="1064780"/>
                </a:lnTo>
                <a:close/>
              </a:path>
              <a:path w="1711325" h="2282825">
                <a:moveTo>
                  <a:pt x="259511" y="2045157"/>
                </a:moveTo>
                <a:lnTo>
                  <a:pt x="227977" y="2023770"/>
                </a:lnTo>
                <a:lnTo>
                  <a:pt x="222631" y="2031657"/>
                </a:lnTo>
                <a:lnTo>
                  <a:pt x="254165" y="2053031"/>
                </a:lnTo>
                <a:lnTo>
                  <a:pt x="259511" y="2045157"/>
                </a:lnTo>
                <a:close/>
              </a:path>
              <a:path w="1711325" h="2282825">
                <a:moveTo>
                  <a:pt x="274205" y="1128928"/>
                </a:moveTo>
                <a:lnTo>
                  <a:pt x="263804" y="1092263"/>
                </a:lnTo>
                <a:lnTo>
                  <a:pt x="263118" y="1092466"/>
                </a:lnTo>
                <a:lnTo>
                  <a:pt x="266560" y="1081798"/>
                </a:lnTo>
                <a:lnTo>
                  <a:pt x="257505" y="1078865"/>
                </a:lnTo>
                <a:lnTo>
                  <a:pt x="245795" y="1115123"/>
                </a:lnTo>
                <a:lnTo>
                  <a:pt x="254863" y="1118057"/>
                </a:lnTo>
                <a:lnTo>
                  <a:pt x="258241" y="1107579"/>
                </a:lnTo>
                <a:lnTo>
                  <a:pt x="265036" y="1131519"/>
                </a:lnTo>
                <a:lnTo>
                  <a:pt x="274205" y="1128928"/>
                </a:lnTo>
                <a:close/>
              </a:path>
              <a:path w="1711325" h="2282825">
                <a:moveTo>
                  <a:pt x="280911" y="1377746"/>
                </a:moveTo>
                <a:lnTo>
                  <a:pt x="272542" y="1373200"/>
                </a:lnTo>
                <a:lnTo>
                  <a:pt x="254393" y="1406702"/>
                </a:lnTo>
                <a:lnTo>
                  <a:pt x="262775" y="1411249"/>
                </a:lnTo>
                <a:lnTo>
                  <a:pt x="280911" y="1377746"/>
                </a:lnTo>
                <a:close/>
              </a:path>
              <a:path w="1711325" h="2282825">
                <a:moveTo>
                  <a:pt x="282994" y="1611020"/>
                </a:moveTo>
                <a:lnTo>
                  <a:pt x="266623" y="1576616"/>
                </a:lnTo>
                <a:lnTo>
                  <a:pt x="258025" y="1580705"/>
                </a:lnTo>
                <a:lnTo>
                  <a:pt x="274396" y="1615122"/>
                </a:lnTo>
                <a:lnTo>
                  <a:pt x="282994" y="1611020"/>
                </a:lnTo>
                <a:close/>
              </a:path>
              <a:path w="1711325" h="2282825">
                <a:moveTo>
                  <a:pt x="284632" y="916368"/>
                </a:moveTo>
                <a:lnTo>
                  <a:pt x="280733" y="907681"/>
                </a:lnTo>
                <a:lnTo>
                  <a:pt x="245973" y="923277"/>
                </a:lnTo>
                <a:lnTo>
                  <a:pt x="249872" y="931964"/>
                </a:lnTo>
                <a:lnTo>
                  <a:pt x="284632" y="916368"/>
                </a:lnTo>
                <a:close/>
              </a:path>
              <a:path w="1711325" h="2282825">
                <a:moveTo>
                  <a:pt x="287045" y="1018336"/>
                </a:moveTo>
                <a:lnTo>
                  <a:pt x="277977" y="1015415"/>
                </a:lnTo>
                <a:lnTo>
                  <a:pt x="266280" y="1051674"/>
                </a:lnTo>
                <a:lnTo>
                  <a:pt x="275348" y="1054595"/>
                </a:lnTo>
                <a:lnTo>
                  <a:pt x="287045" y="1018336"/>
                </a:lnTo>
                <a:close/>
              </a:path>
              <a:path w="1711325" h="2282825">
                <a:moveTo>
                  <a:pt x="292392" y="1193063"/>
                </a:moveTo>
                <a:lnTo>
                  <a:pt x="281990" y="1156411"/>
                </a:lnTo>
                <a:lnTo>
                  <a:pt x="272834" y="1159014"/>
                </a:lnTo>
                <a:lnTo>
                  <a:pt x="283222" y="1195666"/>
                </a:lnTo>
                <a:lnTo>
                  <a:pt x="292392" y="1193063"/>
                </a:lnTo>
                <a:close/>
              </a:path>
              <a:path w="1711325" h="2282825">
                <a:moveTo>
                  <a:pt x="294093" y="1269568"/>
                </a:moveTo>
                <a:lnTo>
                  <a:pt x="264706" y="1245311"/>
                </a:lnTo>
                <a:lnTo>
                  <a:pt x="258648" y="1252664"/>
                </a:lnTo>
                <a:lnTo>
                  <a:pt x="288023" y="1276921"/>
                </a:lnTo>
                <a:lnTo>
                  <a:pt x="294093" y="1269568"/>
                </a:lnTo>
                <a:close/>
              </a:path>
              <a:path w="1711325" h="2282825">
                <a:moveTo>
                  <a:pt x="307530" y="954887"/>
                </a:moveTo>
                <a:lnTo>
                  <a:pt x="298462" y="951966"/>
                </a:lnTo>
                <a:lnTo>
                  <a:pt x="286753" y="988225"/>
                </a:lnTo>
                <a:lnTo>
                  <a:pt x="295821" y="991146"/>
                </a:lnTo>
                <a:lnTo>
                  <a:pt x="307530" y="954887"/>
                </a:lnTo>
                <a:close/>
              </a:path>
              <a:path w="1711325" h="2282825">
                <a:moveTo>
                  <a:pt x="310578" y="1257211"/>
                </a:moveTo>
                <a:lnTo>
                  <a:pt x="300189" y="1220558"/>
                </a:lnTo>
                <a:lnTo>
                  <a:pt x="291020" y="1223162"/>
                </a:lnTo>
                <a:lnTo>
                  <a:pt x="301421" y="1259814"/>
                </a:lnTo>
                <a:lnTo>
                  <a:pt x="310578" y="1257211"/>
                </a:lnTo>
                <a:close/>
              </a:path>
              <a:path w="1711325" h="2282825">
                <a:moveTo>
                  <a:pt x="311632" y="1671243"/>
                </a:moveTo>
                <a:lnTo>
                  <a:pt x="295275" y="1636826"/>
                </a:lnTo>
                <a:lnTo>
                  <a:pt x="286664" y="1640916"/>
                </a:lnTo>
                <a:lnTo>
                  <a:pt x="303034" y="1675333"/>
                </a:lnTo>
                <a:lnTo>
                  <a:pt x="311632" y="1671243"/>
                </a:lnTo>
                <a:close/>
              </a:path>
              <a:path w="1711325" h="2282825">
                <a:moveTo>
                  <a:pt x="312674" y="1319110"/>
                </a:moveTo>
                <a:lnTo>
                  <a:pt x="304292" y="1314577"/>
                </a:lnTo>
                <a:lnTo>
                  <a:pt x="286143" y="1348079"/>
                </a:lnTo>
                <a:lnTo>
                  <a:pt x="294525" y="1352613"/>
                </a:lnTo>
                <a:lnTo>
                  <a:pt x="312674" y="1319110"/>
                </a:lnTo>
                <a:close/>
              </a:path>
              <a:path w="1711325" h="2282825">
                <a:moveTo>
                  <a:pt x="314693" y="2082571"/>
                </a:moveTo>
                <a:lnTo>
                  <a:pt x="283159" y="2061197"/>
                </a:lnTo>
                <a:lnTo>
                  <a:pt x="277812" y="2069071"/>
                </a:lnTo>
                <a:lnTo>
                  <a:pt x="309346" y="2090458"/>
                </a:lnTo>
                <a:lnTo>
                  <a:pt x="314693" y="2082571"/>
                </a:lnTo>
                <a:close/>
              </a:path>
              <a:path w="1711325" h="2282825">
                <a:moveTo>
                  <a:pt x="340271" y="1731454"/>
                </a:moveTo>
                <a:lnTo>
                  <a:pt x="323913" y="1697037"/>
                </a:lnTo>
                <a:lnTo>
                  <a:pt x="315302" y="1701139"/>
                </a:lnTo>
                <a:lnTo>
                  <a:pt x="331673" y="1735543"/>
                </a:lnTo>
                <a:lnTo>
                  <a:pt x="340271" y="1731454"/>
                </a:lnTo>
                <a:close/>
              </a:path>
              <a:path w="1711325" h="2282825">
                <a:moveTo>
                  <a:pt x="345465" y="889088"/>
                </a:moveTo>
                <a:lnTo>
                  <a:pt x="341566" y="880389"/>
                </a:lnTo>
                <a:lnTo>
                  <a:pt x="321551" y="889368"/>
                </a:lnTo>
                <a:lnTo>
                  <a:pt x="318935" y="888517"/>
                </a:lnTo>
                <a:lnTo>
                  <a:pt x="318160" y="890892"/>
                </a:lnTo>
                <a:lnTo>
                  <a:pt x="306806" y="895985"/>
                </a:lnTo>
                <a:lnTo>
                  <a:pt x="310705" y="904671"/>
                </a:lnTo>
                <a:lnTo>
                  <a:pt x="314223" y="903097"/>
                </a:lnTo>
                <a:lnTo>
                  <a:pt x="307238" y="924775"/>
                </a:lnTo>
                <a:lnTo>
                  <a:pt x="316306" y="927696"/>
                </a:lnTo>
                <a:lnTo>
                  <a:pt x="325932" y="897851"/>
                </a:lnTo>
                <a:lnTo>
                  <a:pt x="345465" y="889088"/>
                </a:lnTo>
                <a:close/>
              </a:path>
              <a:path w="1711325" h="2282825">
                <a:moveTo>
                  <a:pt x="345516" y="1312011"/>
                </a:moveTo>
                <a:lnTo>
                  <a:pt x="320192" y="1291132"/>
                </a:lnTo>
                <a:lnTo>
                  <a:pt x="320040" y="1290612"/>
                </a:lnTo>
                <a:lnTo>
                  <a:pt x="326275" y="1293990"/>
                </a:lnTo>
                <a:lnTo>
                  <a:pt x="344424" y="1260487"/>
                </a:lnTo>
                <a:lnTo>
                  <a:pt x="336042" y="1255941"/>
                </a:lnTo>
                <a:lnTo>
                  <a:pt x="319087" y="1287259"/>
                </a:lnTo>
                <a:lnTo>
                  <a:pt x="318376" y="1284706"/>
                </a:lnTo>
                <a:lnTo>
                  <a:pt x="309206" y="1287310"/>
                </a:lnTo>
                <a:lnTo>
                  <a:pt x="311073" y="1293901"/>
                </a:lnTo>
                <a:lnTo>
                  <a:pt x="310070" y="1295107"/>
                </a:lnTo>
                <a:lnTo>
                  <a:pt x="311823" y="1296568"/>
                </a:lnTo>
                <a:lnTo>
                  <a:pt x="319608" y="1323962"/>
                </a:lnTo>
                <a:lnTo>
                  <a:pt x="328764" y="1321358"/>
                </a:lnTo>
                <a:lnTo>
                  <a:pt x="324751" y="1307249"/>
                </a:lnTo>
                <a:lnTo>
                  <a:pt x="339445" y="1319364"/>
                </a:lnTo>
                <a:lnTo>
                  <a:pt x="345516" y="1312011"/>
                </a:lnTo>
                <a:close/>
              </a:path>
              <a:path w="1711325" h="2282825">
                <a:moveTo>
                  <a:pt x="346964" y="1385506"/>
                </a:moveTo>
                <a:lnTo>
                  <a:pt x="336562" y="1348854"/>
                </a:lnTo>
                <a:lnTo>
                  <a:pt x="327406" y="1351445"/>
                </a:lnTo>
                <a:lnTo>
                  <a:pt x="337794" y="1388110"/>
                </a:lnTo>
                <a:lnTo>
                  <a:pt x="346964" y="1385506"/>
                </a:lnTo>
                <a:close/>
              </a:path>
              <a:path w="1711325" h="2282825">
                <a:moveTo>
                  <a:pt x="348488" y="827989"/>
                </a:moveTo>
                <a:lnTo>
                  <a:pt x="339420" y="825068"/>
                </a:lnTo>
                <a:lnTo>
                  <a:pt x="327723" y="861314"/>
                </a:lnTo>
                <a:lnTo>
                  <a:pt x="336778" y="864247"/>
                </a:lnTo>
                <a:lnTo>
                  <a:pt x="348488" y="827989"/>
                </a:lnTo>
                <a:close/>
              </a:path>
              <a:path w="1711325" h="2282825">
                <a:moveTo>
                  <a:pt x="365150" y="1449654"/>
                </a:moveTo>
                <a:lnTo>
                  <a:pt x="354749" y="1413002"/>
                </a:lnTo>
                <a:lnTo>
                  <a:pt x="345592" y="1415592"/>
                </a:lnTo>
                <a:lnTo>
                  <a:pt x="355981" y="1452257"/>
                </a:lnTo>
                <a:lnTo>
                  <a:pt x="365150" y="1449654"/>
                </a:lnTo>
                <a:close/>
              </a:path>
              <a:path w="1711325" h="2282825">
                <a:moveTo>
                  <a:pt x="368909" y="1791665"/>
                </a:moveTo>
                <a:lnTo>
                  <a:pt x="352552" y="1757248"/>
                </a:lnTo>
                <a:lnTo>
                  <a:pt x="343941" y="1761350"/>
                </a:lnTo>
                <a:lnTo>
                  <a:pt x="360311" y="1795754"/>
                </a:lnTo>
                <a:lnTo>
                  <a:pt x="368909" y="1791665"/>
                </a:lnTo>
                <a:close/>
              </a:path>
              <a:path w="1711325" h="2282825">
                <a:moveTo>
                  <a:pt x="368960" y="764540"/>
                </a:moveTo>
                <a:lnTo>
                  <a:pt x="359905" y="761606"/>
                </a:lnTo>
                <a:lnTo>
                  <a:pt x="348195" y="797864"/>
                </a:lnTo>
                <a:lnTo>
                  <a:pt x="357263" y="800798"/>
                </a:lnTo>
                <a:lnTo>
                  <a:pt x="368960" y="764540"/>
                </a:lnTo>
                <a:close/>
              </a:path>
              <a:path w="1711325" h="2282825">
                <a:moveTo>
                  <a:pt x="369874" y="2119998"/>
                </a:moveTo>
                <a:lnTo>
                  <a:pt x="338340" y="2098611"/>
                </a:lnTo>
                <a:lnTo>
                  <a:pt x="332994" y="2106498"/>
                </a:lnTo>
                <a:lnTo>
                  <a:pt x="364528" y="2127885"/>
                </a:lnTo>
                <a:lnTo>
                  <a:pt x="369874" y="2119998"/>
                </a:lnTo>
                <a:close/>
              </a:path>
              <a:path w="1711325" h="2282825">
                <a:moveTo>
                  <a:pt x="376174" y="1201851"/>
                </a:moveTo>
                <a:lnTo>
                  <a:pt x="367792" y="1197317"/>
                </a:lnTo>
                <a:lnTo>
                  <a:pt x="349656" y="1230820"/>
                </a:lnTo>
                <a:lnTo>
                  <a:pt x="358025" y="1235354"/>
                </a:lnTo>
                <a:lnTo>
                  <a:pt x="376174" y="1201851"/>
                </a:lnTo>
                <a:close/>
              </a:path>
              <a:path w="1711325" h="2282825">
                <a:moveTo>
                  <a:pt x="383336" y="1513801"/>
                </a:moveTo>
                <a:lnTo>
                  <a:pt x="372948" y="1477149"/>
                </a:lnTo>
                <a:lnTo>
                  <a:pt x="363778" y="1479740"/>
                </a:lnTo>
                <a:lnTo>
                  <a:pt x="374167" y="1516392"/>
                </a:lnTo>
                <a:lnTo>
                  <a:pt x="383336" y="1513801"/>
                </a:lnTo>
                <a:close/>
              </a:path>
              <a:path w="1711325" h="2282825">
                <a:moveTo>
                  <a:pt x="389445" y="701078"/>
                </a:moveTo>
                <a:lnTo>
                  <a:pt x="380377" y="698157"/>
                </a:lnTo>
                <a:lnTo>
                  <a:pt x="368681" y="734415"/>
                </a:lnTo>
                <a:lnTo>
                  <a:pt x="377736" y="737336"/>
                </a:lnTo>
                <a:lnTo>
                  <a:pt x="389445" y="701078"/>
                </a:lnTo>
                <a:close/>
              </a:path>
              <a:path w="1711325" h="2282825">
                <a:moveTo>
                  <a:pt x="396925" y="1354455"/>
                </a:moveTo>
                <a:lnTo>
                  <a:pt x="367550" y="1330210"/>
                </a:lnTo>
                <a:lnTo>
                  <a:pt x="361480" y="1337551"/>
                </a:lnTo>
                <a:lnTo>
                  <a:pt x="390867" y="1361808"/>
                </a:lnTo>
                <a:lnTo>
                  <a:pt x="396925" y="1354455"/>
                </a:lnTo>
                <a:close/>
              </a:path>
              <a:path w="1711325" h="2282825">
                <a:moveTo>
                  <a:pt x="397548" y="1851875"/>
                </a:moveTo>
                <a:lnTo>
                  <a:pt x="381190" y="1817458"/>
                </a:lnTo>
                <a:lnTo>
                  <a:pt x="372579" y="1821561"/>
                </a:lnTo>
                <a:lnTo>
                  <a:pt x="388950" y="1855965"/>
                </a:lnTo>
                <a:lnTo>
                  <a:pt x="397548" y="1851875"/>
                </a:lnTo>
                <a:close/>
              </a:path>
              <a:path w="1711325" h="2282825">
                <a:moveTo>
                  <a:pt x="401523" y="1577949"/>
                </a:moveTo>
                <a:lnTo>
                  <a:pt x="391134" y="1541284"/>
                </a:lnTo>
                <a:lnTo>
                  <a:pt x="381965" y="1543888"/>
                </a:lnTo>
                <a:lnTo>
                  <a:pt x="392366" y="1580540"/>
                </a:lnTo>
                <a:lnTo>
                  <a:pt x="401523" y="1577949"/>
                </a:lnTo>
                <a:close/>
              </a:path>
              <a:path w="1711325" h="2282825">
                <a:moveTo>
                  <a:pt x="406298" y="861796"/>
                </a:moveTo>
                <a:lnTo>
                  <a:pt x="402399" y="853109"/>
                </a:lnTo>
                <a:lnTo>
                  <a:pt x="367639" y="868692"/>
                </a:lnTo>
                <a:lnTo>
                  <a:pt x="371538" y="877392"/>
                </a:lnTo>
                <a:lnTo>
                  <a:pt x="406298" y="861796"/>
                </a:lnTo>
                <a:close/>
              </a:path>
              <a:path w="1711325" h="2282825">
                <a:moveTo>
                  <a:pt x="407924" y="1143228"/>
                </a:moveTo>
                <a:lnTo>
                  <a:pt x="399542" y="1138682"/>
                </a:lnTo>
                <a:lnTo>
                  <a:pt x="381406" y="1172184"/>
                </a:lnTo>
                <a:lnTo>
                  <a:pt x="389775" y="1176731"/>
                </a:lnTo>
                <a:lnTo>
                  <a:pt x="407924" y="1143228"/>
                </a:lnTo>
                <a:close/>
              </a:path>
              <a:path w="1711325" h="2282825">
                <a:moveTo>
                  <a:pt x="409917" y="637628"/>
                </a:moveTo>
                <a:lnTo>
                  <a:pt x="400862" y="634707"/>
                </a:lnTo>
                <a:lnTo>
                  <a:pt x="389153" y="670966"/>
                </a:lnTo>
                <a:lnTo>
                  <a:pt x="398221" y="673887"/>
                </a:lnTo>
                <a:lnTo>
                  <a:pt x="409917" y="637628"/>
                </a:lnTo>
                <a:close/>
              </a:path>
              <a:path w="1711325" h="2282825">
                <a:moveTo>
                  <a:pt x="419709" y="1642097"/>
                </a:moveTo>
                <a:lnTo>
                  <a:pt x="409321" y="1605432"/>
                </a:lnTo>
                <a:lnTo>
                  <a:pt x="400151" y="1608035"/>
                </a:lnTo>
                <a:lnTo>
                  <a:pt x="410552" y="1644688"/>
                </a:lnTo>
                <a:lnTo>
                  <a:pt x="419709" y="1642097"/>
                </a:lnTo>
                <a:close/>
              </a:path>
              <a:path w="1711325" h="2282825">
                <a:moveTo>
                  <a:pt x="425056" y="2157425"/>
                </a:moveTo>
                <a:lnTo>
                  <a:pt x="393522" y="2136038"/>
                </a:lnTo>
                <a:lnTo>
                  <a:pt x="388175" y="2143925"/>
                </a:lnTo>
                <a:lnTo>
                  <a:pt x="419709" y="2165312"/>
                </a:lnTo>
                <a:lnTo>
                  <a:pt x="425056" y="2157425"/>
                </a:lnTo>
                <a:close/>
              </a:path>
              <a:path w="1711325" h="2282825">
                <a:moveTo>
                  <a:pt x="426186" y="1912086"/>
                </a:moveTo>
                <a:lnTo>
                  <a:pt x="409829" y="1877669"/>
                </a:lnTo>
                <a:lnTo>
                  <a:pt x="401218" y="1881771"/>
                </a:lnTo>
                <a:lnTo>
                  <a:pt x="417588" y="1916176"/>
                </a:lnTo>
                <a:lnTo>
                  <a:pt x="426186" y="1912086"/>
                </a:lnTo>
                <a:close/>
              </a:path>
              <a:path w="1711325" h="2282825">
                <a:moveTo>
                  <a:pt x="430403" y="574179"/>
                </a:moveTo>
                <a:lnTo>
                  <a:pt x="421335" y="571258"/>
                </a:lnTo>
                <a:lnTo>
                  <a:pt x="409638" y="607517"/>
                </a:lnTo>
                <a:lnTo>
                  <a:pt x="418693" y="610438"/>
                </a:lnTo>
                <a:lnTo>
                  <a:pt x="430403" y="574179"/>
                </a:lnTo>
                <a:close/>
              </a:path>
              <a:path w="1711325" h="2282825">
                <a:moveTo>
                  <a:pt x="437908" y="1706232"/>
                </a:moveTo>
                <a:lnTo>
                  <a:pt x="427507" y="1669580"/>
                </a:lnTo>
                <a:lnTo>
                  <a:pt x="418350" y="1672183"/>
                </a:lnTo>
                <a:lnTo>
                  <a:pt x="428739" y="1708835"/>
                </a:lnTo>
                <a:lnTo>
                  <a:pt x="437908" y="1706232"/>
                </a:lnTo>
                <a:close/>
              </a:path>
              <a:path w="1711325" h="2282825">
                <a:moveTo>
                  <a:pt x="439674" y="1084592"/>
                </a:moveTo>
                <a:lnTo>
                  <a:pt x="431292" y="1080058"/>
                </a:lnTo>
                <a:lnTo>
                  <a:pt x="413156" y="1113561"/>
                </a:lnTo>
                <a:lnTo>
                  <a:pt x="421525" y="1118095"/>
                </a:lnTo>
                <a:lnTo>
                  <a:pt x="439674" y="1084592"/>
                </a:lnTo>
                <a:close/>
              </a:path>
              <a:path w="1711325" h="2282825">
                <a:moveTo>
                  <a:pt x="448348" y="1396898"/>
                </a:moveTo>
                <a:lnTo>
                  <a:pt x="418973" y="1372654"/>
                </a:lnTo>
                <a:lnTo>
                  <a:pt x="412902" y="1379994"/>
                </a:lnTo>
                <a:lnTo>
                  <a:pt x="442290" y="1404251"/>
                </a:lnTo>
                <a:lnTo>
                  <a:pt x="448348" y="1396898"/>
                </a:lnTo>
                <a:close/>
              </a:path>
              <a:path w="1711325" h="2282825">
                <a:moveTo>
                  <a:pt x="450888" y="510730"/>
                </a:moveTo>
                <a:lnTo>
                  <a:pt x="441820" y="507796"/>
                </a:lnTo>
                <a:lnTo>
                  <a:pt x="430110" y="544055"/>
                </a:lnTo>
                <a:lnTo>
                  <a:pt x="439178" y="546989"/>
                </a:lnTo>
                <a:lnTo>
                  <a:pt x="450888" y="510730"/>
                </a:lnTo>
                <a:close/>
              </a:path>
              <a:path w="1711325" h="2282825">
                <a:moveTo>
                  <a:pt x="454825" y="1972297"/>
                </a:moveTo>
                <a:lnTo>
                  <a:pt x="438467" y="1937880"/>
                </a:lnTo>
                <a:lnTo>
                  <a:pt x="429856" y="1941982"/>
                </a:lnTo>
                <a:lnTo>
                  <a:pt x="446227" y="1976386"/>
                </a:lnTo>
                <a:lnTo>
                  <a:pt x="454825" y="1972297"/>
                </a:lnTo>
                <a:close/>
              </a:path>
              <a:path w="1711325" h="2282825">
                <a:moveTo>
                  <a:pt x="456095" y="1770380"/>
                </a:moveTo>
                <a:lnTo>
                  <a:pt x="445693" y="1733727"/>
                </a:lnTo>
                <a:lnTo>
                  <a:pt x="436537" y="1736331"/>
                </a:lnTo>
                <a:lnTo>
                  <a:pt x="446925" y="1772983"/>
                </a:lnTo>
                <a:lnTo>
                  <a:pt x="456095" y="1770380"/>
                </a:lnTo>
                <a:close/>
              </a:path>
              <a:path w="1711325" h="2282825">
                <a:moveTo>
                  <a:pt x="467131" y="834504"/>
                </a:moveTo>
                <a:lnTo>
                  <a:pt x="463245" y="825817"/>
                </a:lnTo>
                <a:lnTo>
                  <a:pt x="428472" y="841413"/>
                </a:lnTo>
                <a:lnTo>
                  <a:pt x="432371" y="850099"/>
                </a:lnTo>
                <a:lnTo>
                  <a:pt x="467131" y="834504"/>
                </a:lnTo>
                <a:close/>
              </a:path>
              <a:path w="1711325" h="2282825">
                <a:moveTo>
                  <a:pt x="471360" y="447281"/>
                </a:moveTo>
                <a:lnTo>
                  <a:pt x="462292" y="444347"/>
                </a:lnTo>
                <a:lnTo>
                  <a:pt x="450596" y="480606"/>
                </a:lnTo>
                <a:lnTo>
                  <a:pt x="459663" y="483539"/>
                </a:lnTo>
                <a:lnTo>
                  <a:pt x="471360" y="447281"/>
                </a:lnTo>
                <a:close/>
              </a:path>
              <a:path w="1711325" h="2282825">
                <a:moveTo>
                  <a:pt x="471424" y="1025969"/>
                </a:moveTo>
                <a:lnTo>
                  <a:pt x="463042" y="1021422"/>
                </a:lnTo>
                <a:lnTo>
                  <a:pt x="444906" y="1054925"/>
                </a:lnTo>
                <a:lnTo>
                  <a:pt x="453275" y="1059472"/>
                </a:lnTo>
                <a:lnTo>
                  <a:pt x="471424" y="1025969"/>
                </a:lnTo>
                <a:close/>
              </a:path>
              <a:path w="1711325" h="2282825">
                <a:moveTo>
                  <a:pt x="474281" y="1834527"/>
                </a:moveTo>
                <a:lnTo>
                  <a:pt x="463892" y="1797875"/>
                </a:lnTo>
                <a:lnTo>
                  <a:pt x="454723" y="1800466"/>
                </a:lnTo>
                <a:lnTo>
                  <a:pt x="465124" y="1837131"/>
                </a:lnTo>
                <a:lnTo>
                  <a:pt x="474281" y="1834527"/>
                </a:lnTo>
                <a:close/>
              </a:path>
              <a:path w="1711325" h="2282825">
                <a:moveTo>
                  <a:pt x="480237" y="2194852"/>
                </a:moveTo>
                <a:lnTo>
                  <a:pt x="448703" y="2173465"/>
                </a:lnTo>
                <a:lnTo>
                  <a:pt x="443357" y="2181352"/>
                </a:lnTo>
                <a:lnTo>
                  <a:pt x="474891" y="2202738"/>
                </a:lnTo>
                <a:lnTo>
                  <a:pt x="480237" y="2194852"/>
                </a:lnTo>
                <a:close/>
              </a:path>
              <a:path w="1711325" h="2282825">
                <a:moveTo>
                  <a:pt x="483463" y="2032508"/>
                </a:moveTo>
                <a:lnTo>
                  <a:pt x="467106" y="1998091"/>
                </a:lnTo>
                <a:lnTo>
                  <a:pt x="458508" y="2002193"/>
                </a:lnTo>
                <a:lnTo>
                  <a:pt x="474865" y="2036597"/>
                </a:lnTo>
                <a:lnTo>
                  <a:pt x="483463" y="2032508"/>
                </a:lnTo>
                <a:close/>
              </a:path>
              <a:path w="1711325" h="2282825">
                <a:moveTo>
                  <a:pt x="491845" y="383819"/>
                </a:moveTo>
                <a:lnTo>
                  <a:pt x="482777" y="380898"/>
                </a:lnTo>
                <a:lnTo>
                  <a:pt x="471068" y="417156"/>
                </a:lnTo>
                <a:lnTo>
                  <a:pt x="480136" y="420077"/>
                </a:lnTo>
                <a:lnTo>
                  <a:pt x="491845" y="383819"/>
                </a:lnTo>
                <a:close/>
              </a:path>
              <a:path w="1711325" h="2282825">
                <a:moveTo>
                  <a:pt x="492467" y="1898675"/>
                </a:moveTo>
                <a:lnTo>
                  <a:pt x="482079" y="1862023"/>
                </a:lnTo>
                <a:lnTo>
                  <a:pt x="472909" y="1864614"/>
                </a:lnTo>
                <a:lnTo>
                  <a:pt x="483311" y="1901278"/>
                </a:lnTo>
                <a:lnTo>
                  <a:pt x="492467" y="1898675"/>
                </a:lnTo>
                <a:close/>
              </a:path>
              <a:path w="1711325" h="2282825">
                <a:moveTo>
                  <a:pt x="499770" y="1439354"/>
                </a:moveTo>
                <a:lnTo>
                  <a:pt x="470382" y="1415097"/>
                </a:lnTo>
                <a:lnTo>
                  <a:pt x="464324" y="1422438"/>
                </a:lnTo>
                <a:lnTo>
                  <a:pt x="493712" y="1446695"/>
                </a:lnTo>
                <a:lnTo>
                  <a:pt x="499770" y="1439354"/>
                </a:lnTo>
                <a:close/>
              </a:path>
              <a:path w="1711325" h="2282825">
                <a:moveTo>
                  <a:pt x="503174" y="967333"/>
                </a:moveTo>
                <a:lnTo>
                  <a:pt x="494804" y="962799"/>
                </a:lnTo>
                <a:lnTo>
                  <a:pt x="476656" y="996302"/>
                </a:lnTo>
                <a:lnTo>
                  <a:pt x="485025" y="1000836"/>
                </a:lnTo>
                <a:lnTo>
                  <a:pt x="503174" y="967333"/>
                </a:lnTo>
                <a:close/>
              </a:path>
              <a:path w="1711325" h="2282825">
                <a:moveTo>
                  <a:pt x="510667" y="1962823"/>
                </a:moveTo>
                <a:lnTo>
                  <a:pt x="500265" y="1926170"/>
                </a:lnTo>
                <a:lnTo>
                  <a:pt x="491109" y="1928761"/>
                </a:lnTo>
                <a:lnTo>
                  <a:pt x="501497" y="1965413"/>
                </a:lnTo>
                <a:lnTo>
                  <a:pt x="510667" y="1962823"/>
                </a:lnTo>
                <a:close/>
              </a:path>
              <a:path w="1711325" h="2282825">
                <a:moveTo>
                  <a:pt x="512102" y="2092718"/>
                </a:moveTo>
                <a:lnTo>
                  <a:pt x="495744" y="2058301"/>
                </a:lnTo>
                <a:lnTo>
                  <a:pt x="487146" y="2062403"/>
                </a:lnTo>
                <a:lnTo>
                  <a:pt x="503504" y="2096808"/>
                </a:lnTo>
                <a:lnTo>
                  <a:pt x="512102" y="2092718"/>
                </a:lnTo>
                <a:close/>
              </a:path>
              <a:path w="1711325" h="2282825">
                <a:moveTo>
                  <a:pt x="512318" y="320370"/>
                </a:moveTo>
                <a:lnTo>
                  <a:pt x="503250" y="317449"/>
                </a:lnTo>
                <a:lnTo>
                  <a:pt x="491553" y="353707"/>
                </a:lnTo>
                <a:lnTo>
                  <a:pt x="500621" y="356628"/>
                </a:lnTo>
                <a:lnTo>
                  <a:pt x="512318" y="320370"/>
                </a:lnTo>
                <a:close/>
              </a:path>
              <a:path w="1711325" h="2282825">
                <a:moveTo>
                  <a:pt x="527977" y="807224"/>
                </a:moveTo>
                <a:lnTo>
                  <a:pt x="524078" y="798525"/>
                </a:lnTo>
                <a:lnTo>
                  <a:pt x="489305" y="814120"/>
                </a:lnTo>
                <a:lnTo>
                  <a:pt x="493204" y="822807"/>
                </a:lnTo>
                <a:lnTo>
                  <a:pt x="527977" y="807224"/>
                </a:lnTo>
                <a:close/>
              </a:path>
              <a:path w="1711325" h="2282825">
                <a:moveTo>
                  <a:pt x="528853" y="2026970"/>
                </a:moveTo>
                <a:lnTo>
                  <a:pt x="518452" y="1990305"/>
                </a:lnTo>
                <a:lnTo>
                  <a:pt x="509295" y="1992909"/>
                </a:lnTo>
                <a:lnTo>
                  <a:pt x="519684" y="2029561"/>
                </a:lnTo>
                <a:lnTo>
                  <a:pt x="528853" y="2026970"/>
                </a:lnTo>
                <a:close/>
              </a:path>
              <a:path w="1711325" h="2282825">
                <a:moveTo>
                  <a:pt x="532803" y="256921"/>
                </a:moveTo>
                <a:lnTo>
                  <a:pt x="523735" y="254000"/>
                </a:lnTo>
                <a:lnTo>
                  <a:pt x="512038" y="290258"/>
                </a:lnTo>
                <a:lnTo>
                  <a:pt x="521093" y="293179"/>
                </a:lnTo>
                <a:lnTo>
                  <a:pt x="532803" y="256921"/>
                </a:lnTo>
                <a:close/>
              </a:path>
              <a:path w="1711325" h="2282825">
                <a:moveTo>
                  <a:pt x="534924" y="908710"/>
                </a:moveTo>
                <a:lnTo>
                  <a:pt x="526554" y="904163"/>
                </a:lnTo>
                <a:lnTo>
                  <a:pt x="508406" y="937666"/>
                </a:lnTo>
                <a:lnTo>
                  <a:pt x="516788" y="942213"/>
                </a:lnTo>
                <a:lnTo>
                  <a:pt x="534924" y="908710"/>
                </a:lnTo>
                <a:close/>
              </a:path>
              <a:path w="1711325" h="2282825">
                <a:moveTo>
                  <a:pt x="540740" y="2152929"/>
                </a:moveTo>
                <a:lnTo>
                  <a:pt x="524383" y="2118512"/>
                </a:lnTo>
                <a:lnTo>
                  <a:pt x="515785" y="2122614"/>
                </a:lnTo>
                <a:lnTo>
                  <a:pt x="532142" y="2157018"/>
                </a:lnTo>
                <a:lnTo>
                  <a:pt x="540740" y="2152929"/>
                </a:lnTo>
                <a:close/>
              </a:path>
              <a:path w="1711325" h="2282825">
                <a:moveTo>
                  <a:pt x="547039" y="2091118"/>
                </a:moveTo>
                <a:lnTo>
                  <a:pt x="536651" y="2054453"/>
                </a:lnTo>
                <a:lnTo>
                  <a:pt x="527481" y="2057057"/>
                </a:lnTo>
                <a:lnTo>
                  <a:pt x="537870" y="2093709"/>
                </a:lnTo>
                <a:lnTo>
                  <a:pt x="547039" y="2091118"/>
                </a:lnTo>
                <a:close/>
              </a:path>
              <a:path w="1711325" h="2282825">
                <a:moveTo>
                  <a:pt x="551192" y="1481797"/>
                </a:moveTo>
                <a:lnTo>
                  <a:pt x="521804" y="1457540"/>
                </a:lnTo>
                <a:lnTo>
                  <a:pt x="515747" y="1464881"/>
                </a:lnTo>
                <a:lnTo>
                  <a:pt x="545122" y="1489138"/>
                </a:lnTo>
                <a:lnTo>
                  <a:pt x="551192" y="1481797"/>
                </a:lnTo>
                <a:close/>
              </a:path>
              <a:path w="1711325" h="2282825">
                <a:moveTo>
                  <a:pt x="553275" y="193471"/>
                </a:moveTo>
                <a:lnTo>
                  <a:pt x="544220" y="190538"/>
                </a:lnTo>
                <a:lnTo>
                  <a:pt x="532511" y="226796"/>
                </a:lnTo>
                <a:lnTo>
                  <a:pt x="541578" y="229730"/>
                </a:lnTo>
                <a:lnTo>
                  <a:pt x="553275" y="193471"/>
                </a:lnTo>
                <a:close/>
              </a:path>
              <a:path w="1711325" h="2282825">
                <a:moveTo>
                  <a:pt x="565226" y="2155253"/>
                </a:moveTo>
                <a:lnTo>
                  <a:pt x="554837" y="2118601"/>
                </a:lnTo>
                <a:lnTo>
                  <a:pt x="545668" y="2121204"/>
                </a:lnTo>
                <a:lnTo>
                  <a:pt x="556069" y="2157857"/>
                </a:lnTo>
                <a:lnTo>
                  <a:pt x="565226" y="2155253"/>
                </a:lnTo>
                <a:close/>
              </a:path>
              <a:path w="1711325" h="2282825">
                <a:moveTo>
                  <a:pt x="566674" y="850074"/>
                </a:moveTo>
                <a:lnTo>
                  <a:pt x="558304" y="845540"/>
                </a:lnTo>
                <a:lnTo>
                  <a:pt x="540156" y="879043"/>
                </a:lnTo>
                <a:lnTo>
                  <a:pt x="548538" y="883577"/>
                </a:lnTo>
                <a:lnTo>
                  <a:pt x="566674" y="850074"/>
                </a:lnTo>
                <a:close/>
              </a:path>
              <a:path w="1711325" h="2282825">
                <a:moveTo>
                  <a:pt x="573760" y="130009"/>
                </a:moveTo>
                <a:lnTo>
                  <a:pt x="564692" y="127088"/>
                </a:lnTo>
                <a:lnTo>
                  <a:pt x="552996" y="163347"/>
                </a:lnTo>
                <a:lnTo>
                  <a:pt x="562051" y="166268"/>
                </a:lnTo>
                <a:lnTo>
                  <a:pt x="573760" y="130009"/>
                </a:lnTo>
                <a:close/>
              </a:path>
              <a:path w="1711325" h="2282825">
                <a:moveTo>
                  <a:pt x="606336" y="766851"/>
                </a:moveTo>
                <a:lnTo>
                  <a:pt x="521208" y="763282"/>
                </a:lnTo>
                <a:lnTo>
                  <a:pt x="542772" y="811364"/>
                </a:lnTo>
                <a:lnTo>
                  <a:pt x="536536" y="815721"/>
                </a:lnTo>
                <a:lnTo>
                  <a:pt x="547357" y="821588"/>
                </a:lnTo>
                <a:lnTo>
                  <a:pt x="552399" y="832802"/>
                </a:lnTo>
                <a:lnTo>
                  <a:pt x="557212" y="826922"/>
                </a:lnTo>
                <a:lnTo>
                  <a:pt x="603542" y="852004"/>
                </a:lnTo>
                <a:lnTo>
                  <a:pt x="606336" y="766851"/>
                </a:lnTo>
                <a:close/>
              </a:path>
              <a:path w="1711325" h="2282825">
                <a:moveTo>
                  <a:pt x="610717" y="1537106"/>
                </a:moveTo>
                <a:lnTo>
                  <a:pt x="576211" y="1459217"/>
                </a:lnTo>
                <a:lnTo>
                  <a:pt x="527697" y="1517980"/>
                </a:lnTo>
                <a:lnTo>
                  <a:pt x="610717" y="1537106"/>
                </a:lnTo>
                <a:close/>
              </a:path>
              <a:path w="1711325" h="2282825">
                <a:moveTo>
                  <a:pt x="611124" y="2194915"/>
                </a:moveTo>
                <a:lnTo>
                  <a:pt x="596823" y="2198979"/>
                </a:lnTo>
                <a:lnTo>
                  <a:pt x="596938" y="2193442"/>
                </a:lnTo>
                <a:lnTo>
                  <a:pt x="578535" y="2202192"/>
                </a:lnTo>
                <a:lnTo>
                  <a:pt x="573024" y="2182749"/>
                </a:lnTo>
                <a:lnTo>
                  <a:pt x="563854" y="2185352"/>
                </a:lnTo>
                <a:lnTo>
                  <a:pt x="569810" y="2206345"/>
                </a:lnTo>
                <a:lnTo>
                  <a:pt x="568325" y="2207044"/>
                </a:lnTo>
                <a:lnTo>
                  <a:pt x="566699" y="2207514"/>
                </a:lnTo>
                <a:lnTo>
                  <a:pt x="553021" y="2178735"/>
                </a:lnTo>
                <a:lnTo>
                  <a:pt x="544423" y="2182825"/>
                </a:lnTo>
                <a:lnTo>
                  <a:pt x="557403" y="2210143"/>
                </a:lnTo>
                <a:lnTo>
                  <a:pt x="556920" y="2210282"/>
                </a:lnTo>
                <a:lnTo>
                  <a:pt x="553580" y="2204313"/>
                </a:lnTo>
                <a:lnTo>
                  <a:pt x="547763" y="2212873"/>
                </a:lnTo>
                <a:lnTo>
                  <a:pt x="537819" y="2215692"/>
                </a:lnTo>
                <a:lnTo>
                  <a:pt x="541540" y="2219782"/>
                </a:lnTo>
                <a:lnTo>
                  <a:pt x="528116" y="2226170"/>
                </a:lnTo>
                <a:lnTo>
                  <a:pt x="535063" y="2231606"/>
                </a:lnTo>
                <a:lnTo>
                  <a:pt x="534860" y="2231898"/>
                </a:lnTo>
                <a:lnTo>
                  <a:pt x="503885" y="2210892"/>
                </a:lnTo>
                <a:lnTo>
                  <a:pt x="498538" y="2218766"/>
                </a:lnTo>
                <a:lnTo>
                  <a:pt x="529513" y="2239784"/>
                </a:lnTo>
                <a:lnTo>
                  <a:pt x="510806" y="2267381"/>
                </a:lnTo>
                <a:lnTo>
                  <a:pt x="595261" y="2278608"/>
                </a:lnTo>
                <a:lnTo>
                  <a:pt x="609396" y="2204008"/>
                </a:lnTo>
                <a:lnTo>
                  <a:pt x="611124" y="2194915"/>
                </a:lnTo>
                <a:close/>
              </a:path>
              <a:path w="1711325" h="2282825">
                <a:moveTo>
                  <a:pt x="623570" y="84213"/>
                </a:moveTo>
                <a:lnTo>
                  <a:pt x="622007" y="73977"/>
                </a:lnTo>
                <a:lnTo>
                  <a:pt x="610717" y="0"/>
                </a:lnTo>
                <a:lnTo>
                  <a:pt x="551053" y="60807"/>
                </a:lnTo>
                <a:lnTo>
                  <a:pt x="582777" y="71043"/>
                </a:lnTo>
                <a:lnTo>
                  <a:pt x="573468" y="99898"/>
                </a:lnTo>
                <a:lnTo>
                  <a:pt x="582536" y="102819"/>
                </a:lnTo>
                <a:lnTo>
                  <a:pt x="591845" y="73977"/>
                </a:lnTo>
                <a:lnTo>
                  <a:pt x="623570" y="84213"/>
                </a:lnTo>
                <a:close/>
              </a:path>
              <a:path w="1711325" h="2282825">
                <a:moveTo>
                  <a:pt x="1123442" y="2179345"/>
                </a:moveTo>
                <a:lnTo>
                  <a:pt x="1114298" y="2176678"/>
                </a:lnTo>
                <a:lnTo>
                  <a:pt x="1103655" y="2213267"/>
                </a:lnTo>
                <a:lnTo>
                  <a:pt x="1112799" y="2215921"/>
                </a:lnTo>
                <a:lnTo>
                  <a:pt x="1123442" y="2179345"/>
                </a:lnTo>
                <a:close/>
              </a:path>
              <a:path w="1711325" h="2282825">
                <a:moveTo>
                  <a:pt x="1124013" y="2261578"/>
                </a:moveTo>
                <a:lnTo>
                  <a:pt x="1118755" y="2253640"/>
                </a:lnTo>
                <a:lnTo>
                  <a:pt x="1101521" y="2265032"/>
                </a:lnTo>
                <a:lnTo>
                  <a:pt x="1110589" y="2246465"/>
                </a:lnTo>
                <a:lnTo>
                  <a:pt x="1104734" y="2243620"/>
                </a:lnTo>
                <a:lnTo>
                  <a:pt x="1104811" y="2243366"/>
                </a:lnTo>
                <a:lnTo>
                  <a:pt x="1103388" y="2242959"/>
                </a:lnTo>
                <a:lnTo>
                  <a:pt x="1102029" y="2242286"/>
                </a:lnTo>
                <a:lnTo>
                  <a:pt x="1101902" y="2242528"/>
                </a:lnTo>
                <a:lnTo>
                  <a:pt x="1095667" y="2240699"/>
                </a:lnTo>
                <a:lnTo>
                  <a:pt x="1085024" y="2277287"/>
                </a:lnTo>
                <a:lnTo>
                  <a:pt x="1089596" y="2278621"/>
                </a:lnTo>
                <a:lnTo>
                  <a:pt x="1092225" y="2282583"/>
                </a:lnTo>
                <a:lnTo>
                  <a:pt x="1124013" y="2261578"/>
                </a:lnTo>
                <a:close/>
              </a:path>
              <a:path w="1711325" h="2282825">
                <a:moveTo>
                  <a:pt x="1139837" y="2186546"/>
                </a:moveTo>
                <a:lnTo>
                  <a:pt x="1131277" y="2182368"/>
                </a:lnTo>
                <a:lnTo>
                  <a:pt x="1114564" y="2216607"/>
                </a:lnTo>
                <a:lnTo>
                  <a:pt x="1123124" y="2220785"/>
                </a:lnTo>
                <a:lnTo>
                  <a:pt x="1139837" y="2186546"/>
                </a:lnTo>
                <a:close/>
              </a:path>
              <a:path w="1711325" h="2282825">
                <a:moveTo>
                  <a:pt x="1140434" y="1552028"/>
                </a:moveTo>
                <a:lnTo>
                  <a:pt x="1113294" y="1536369"/>
                </a:lnTo>
                <a:lnTo>
                  <a:pt x="1137208" y="1516113"/>
                </a:lnTo>
                <a:lnTo>
                  <a:pt x="1131049" y="1508848"/>
                </a:lnTo>
                <a:lnTo>
                  <a:pt x="1101979" y="1533474"/>
                </a:lnTo>
                <a:lnTo>
                  <a:pt x="1105052" y="1537106"/>
                </a:lnTo>
                <a:lnTo>
                  <a:pt x="1102677" y="1541233"/>
                </a:lnTo>
                <a:lnTo>
                  <a:pt x="1135672" y="1560271"/>
                </a:lnTo>
                <a:lnTo>
                  <a:pt x="1140434" y="1552028"/>
                </a:lnTo>
                <a:close/>
              </a:path>
              <a:path w="1711325" h="2282825">
                <a:moveTo>
                  <a:pt x="1142072" y="2115324"/>
                </a:moveTo>
                <a:lnTo>
                  <a:pt x="1132928" y="2112657"/>
                </a:lnTo>
                <a:lnTo>
                  <a:pt x="1122286" y="2149246"/>
                </a:lnTo>
                <a:lnTo>
                  <a:pt x="1131430" y="2151900"/>
                </a:lnTo>
                <a:lnTo>
                  <a:pt x="1142072" y="2115324"/>
                </a:lnTo>
                <a:close/>
              </a:path>
              <a:path w="1711325" h="2282825">
                <a:moveTo>
                  <a:pt x="1160703" y="2051304"/>
                </a:moveTo>
                <a:lnTo>
                  <a:pt x="1151559" y="2048637"/>
                </a:lnTo>
                <a:lnTo>
                  <a:pt x="1140904" y="2085225"/>
                </a:lnTo>
                <a:lnTo>
                  <a:pt x="1150048" y="2087880"/>
                </a:lnTo>
                <a:lnTo>
                  <a:pt x="1160703" y="2051304"/>
                </a:lnTo>
                <a:close/>
              </a:path>
              <a:path w="1711325" h="2282825">
                <a:moveTo>
                  <a:pt x="1169085" y="2126627"/>
                </a:moveTo>
                <a:lnTo>
                  <a:pt x="1160526" y="2122449"/>
                </a:lnTo>
                <a:lnTo>
                  <a:pt x="1143812" y="2156688"/>
                </a:lnTo>
                <a:lnTo>
                  <a:pt x="1152372" y="2160867"/>
                </a:lnTo>
                <a:lnTo>
                  <a:pt x="1169085" y="2126627"/>
                </a:lnTo>
                <a:close/>
              </a:path>
              <a:path w="1711325" h="2282825">
                <a:moveTo>
                  <a:pt x="1179322" y="1987283"/>
                </a:moveTo>
                <a:lnTo>
                  <a:pt x="1170178" y="1984616"/>
                </a:lnTo>
                <a:lnTo>
                  <a:pt x="1159535" y="2021205"/>
                </a:lnTo>
                <a:lnTo>
                  <a:pt x="1168679" y="2023872"/>
                </a:lnTo>
                <a:lnTo>
                  <a:pt x="1179322" y="1987283"/>
                </a:lnTo>
                <a:close/>
              </a:path>
              <a:path w="1711325" h="2282825">
                <a:moveTo>
                  <a:pt x="1179626" y="2224824"/>
                </a:moveTo>
                <a:lnTo>
                  <a:pt x="1174381" y="2216874"/>
                </a:lnTo>
                <a:lnTo>
                  <a:pt x="1142593" y="2237879"/>
                </a:lnTo>
                <a:lnTo>
                  <a:pt x="1147851" y="2245830"/>
                </a:lnTo>
                <a:lnTo>
                  <a:pt x="1179626" y="2224824"/>
                </a:lnTo>
                <a:close/>
              </a:path>
              <a:path w="1711325" h="2282825">
                <a:moveTo>
                  <a:pt x="1188085" y="1473022"/>
                </a:moveTo>
                <a:lnTo>
                  <a:pt x="1181925" y="1465757"/>
                </a:lnTo>
                <a:lnTo>
                  <a:pt x="1152855" y="1490383"/>
                </a:lnTo>
                <a:lnTo>
                  <a:pt x="1159014" y="1497647"/>
                </a:lnTo>
                <a:lnTo>
                  <a:pt x="1188085" y="1473022"/>
                </a:lnTo>
                <a:close/>
              </a:path>
              <a:path w="1711325" h="2282825">
                <a:moveTo>
                  <a:pt x="1197952" y="1923262"/>
                </a:moveTo>
                <a:lnTo>
                  <a:pt x="1188808" y="1920608"/>
                </a:lnTo>
                <a:lnTo>
                  <a:pt x="1178166" y="1957184"/>
                </a:lnTo>
                <a:lnTo>
                  <a:pt x="1187310" y="1959851"/>
                </a:lnTo>
                <a:lnTo>
                  <a:pt x="1197952" y="1923262"/>
                </a:lnTo>
                <a:close/>
              </a:path>
              <a:path w="1711325" h="2282825">
                <a:moveTo>
                  <a:pt x="1198181" y="1585353"/>
                </a:moveTo>
                <a:lnTo>
                  <a:pt x="1165186" y="1566316"/>
                </a:lnTo>
                <a:lnTo>
                  <a:pt x="1160424" y="1574558"/>
                </a:lnTo>
                <a:lnTo>
                  <a:pt x="1193419" y="1593608"/>
                </a:lnTo>
                <a:lnTo>
                  <a:pt x="1198181" y="1585353"/>
                </a:lnTo>
                <a:close/>
              </a:path>
              <a:path w="1711325" h="2282825">
                <a:moveTo>
                  <a:pt x="1198321" y="2066709"/>
                </a:moveTo>
                <a:lnTo>
                  <a:pt x="1189761" y="2062530"/>
                </a:lnTo>
                <a:lnTo>
                  <a:pt x="1173048" y="2096770"/>
                </a:lnTo>
                <a:lnTo>
                  <a:pt x="1181608" y="2100948"/>
                </a:lnTo>
                <a:lnTo>
                  <a:pt x="1198321" y="2066709"/>
                </a:lnTo>
                <a:close/>
              </a:path>
              <a:path w="1711325" h="2282825">
                <a:moveTo>
                  <a:pt x="1216583" y="1859241"/>
                </a:moveTo>
                <a:lnTo>
                  <a:pt x="1207439" y="1856587"/>
                </a:lnTo>
                <a:lnTo>
                  <a:pt x="1196797" y="1893163"/>
                </a:lnTo>
                <a:lnTo>
                  <a:pt x="1205941" y="1895830"/>
                </a:lnTo>
                <a:lnTo>
                  <a:pt x="1216583" y="1859241"/>
                </a:lnTo>
                <a:close/>
              </a:path>
              <a:path w="1711325" h="2282825">
                <a:moveTo>
                  <a:pt x="1227569" y="2006790"/>
                </a:moveTo>
                <a:lnTo>
                  <a:pt x="1219009" y="2002612"/>
                </a:lnTo>
                <a:lnTo>
                  <a:pt x="1202296" y="2036851"/>
                </a:lnTo>
                <a:lnTo>
                  <a:pt x="1210856" y="2041029"/>
                </a:lnTo>
                <a:lnTo>
                  <a:pt x="1227569" y="2006790"/>
                </a:lnTo>
                <a:close/>
              </a:path>
              <a:path w="1711325" h="2282825">
                <a:moveTo>
                  <a:pt x="1235214" y="1795221"/>
                </a:moveTo>
                <a:lnTo>
                  <a:pt x="1226070" y="1792566"/>
                </a:lnTo>
                <a:lnTo>
                  <a:pt x="1215428" y="1829142"/>
                </a:lnTo>
                <a:lnTo>
                  <a:pt x="1224572" y="1831809"/>
                </a:lnTo>
                <a:lnTo>
                  <a:pt x="1235214" y="1795221"/>
                </a:lnTo>
                <a:close/>
              </a:path>
              <a:path w="1711325" h="2282825">
                <a:moveTo>
                  <a:pt x="1235252" y="2188057"/>
                </a:moveTo>
                <a:lnTo>
                  <a:pt x="1230007" y="2180107"/>
                </a:lnTo>
                <a:lnTo>
                  <a:pt x="1198219" y="2201113"/>
                </a:lnTo>
                <a:lnTo>
                  <a:pt x="1203464" y="2209063"/>
                </a:lnTo>
                <a:lnTo>
                  <a:pt x="1235252" y="2188057"/>
                </a:lnTo>
                <a:close/>
              </a:path>
              <a:path w="1711325" h="2282825">
                <a:moveTo>
                  <a:pt x="1238961" y="1429931"/>
                </a:moveTo>
                <a:lnTo>
                  <a:pt x="1232801" y="1422654"/>
                </a:lnTo>
                <a:lnTo>
                  <a:pt x="1203731" y="1447279"/>
                </a:lnTo>
                <a:lnTo>
                  <a:pt x="1209890" y="1454556"/>
                </a:lnTo>
                <a:lnTo>
                  <a:pt x="1238961" y="1429931"/>
                </a:lnTo>
                <a:close/>
              </a:path>
              <a:path w="1711325" h="2282825">
                <a:moveTo>
                  <a:pt x="1253845" y="1731200"/>
                </a:moveTo>
                <a:lnTo>
                  <a:pt x="1244701" y="1728546"/>
                </a:lnTo>
                <a:lnTo>
                  <a:pt x="1234046" y="1765122"/>
                </a:lnTo>
                <a:lnTo>
                  <a:pt x="1243203" y="1767789"/>
                </a:lnTo>
                <a:lnTo>
                  <a:pt x="1253845" y="1731200"/>
                </a:lnTo>
                <a:close/>
              </a:path>
              <a:path w="1711325" h="2282825">
                <a:moveTo>
                  <a:pt x="1255928" y="1618678"/>
                </a:moveTo>
                <a:lnTo>
                  <a:pt x="1222933" y="1599641"/>
                </a:lnTo>
                <a:lnTo>
                  <a:pt x="1218171" y="1607883"/>
                </a:lnTo>
                <a:lnTo>
                  <a:pt x="1251165" y="1626933"/>
                </a:lnTo>
                <a:lnTo>
                  <a:pt x="1255928" y="1618678"/>
                </a:lnTo>
                <a:close/>
              </a:path>
              <a:path w="1711325" h="2282825">
                <a:moveTo>
                  <a:pt x="1256817" y="1946871"/>
                </a:moveTo>
                <a:lnTo>
                  <a:pt x="1248257" y="1942693"/>
                </a:lnTo>
                <a:lnTo>
                  <a:pt x="1231544" y="1976932"/>
                </a:lnTo>
                <a:lnTo>
                  <a:pt x="1240104" y="1981111"/>
                </a:lnTo>
                <a:lnTo>
                  <a:pt x="1256817" y="1946871"/>
                </a:lnTo>
                <a:close/>
              </a:path>
              <a:path w="1711325" h="2282825">
                <a:moveTo>
                  <a:pt x="1272476" y="1667179"/>
                </a:moveTo>
                <a:lnTo>
                  <a:pt x="1263319" y="1664525"/>
                </a:lnTo>
                <a:lnTo>
                  <a:pt x="1252677" y="1701101"/>
                </a:lnTo>
                <a:lnTo>
                  <a:pt x="1261821" y="1703768"/>
                </a:lnTo>
                <a:lnTo>
                  <a:pt x="1272476" y="1667179"/>
                </a:lnTo>
                <a:close/>
              </a:path>
              <a:path w="1711325" h="2282825">
                <a:moveTo>
                  <a:pt x="1286065" y="1886953"/>
                </a:moveTo>
                <a:lnTo>
                  <a:pt x="1277505" y="1882775"/>
                </a:lnTo>
                <a:lnTo>
                  <a:pt x="1260792" y="1917014"/>
                </a:lnTo>
                <a:lnTo>
                  <a:pt x="1269352" y="1921192"/>
                </a:lnTo>
                <a:lnTo>
                  <a:pt x="1286065" y="1886953"/>
                </a:lnTo>
                <a:close/>
              </a:path>
              <a:path w="1711325" h="2282825">
                <a:moveTo>
                  <a:pt x="1289837" y="1386827"/>
                </a:moveTo>
                <a:lnTo>
                  <a:pt x="1283677" y="1379562"/>
                </a:lnTo>
                <a:lnTo>
                  <a:pt x="1254607" y="1404188"/>
                </a:lnTo>
                <a:lnTo>
                  <a:pt x="1260767" y="1411452"/>
                </a:lnTo>
                <a:lnTo>
                  <a:pt x="1289837" y="1386827"/>
                </a:lnTo>
                <a:close/>
              </a:path>
              <a:path w="1711325" h="2282825">
                <a:moveTo>
                  <a:pt x="1290878" y="2151291"/>
                </a:moveTo>
                <a:lnTo>
                  <a:pt x="1285633" y="2143341"/>
                </a:lnTo>
                <a:lnTo>
                  <a:pt x="1253845" y="2164359"/>
                </a:lnTo>
                <a:lnTo>
                  <a:pt x="1259090" y="2172297"/>
                </a:lnTo>
                <a:lnTo>
                  <a:pt x="1290878" y="2151291"/>
                </a:lnTo>
                <a:close/>
              </a:path>
              <a:path w="1711325" h="2282825">
                <a:moveTo>
                  <a:pt x="1309725" y="1539151"/>
                </a:moveTo>
                <a:lnTo>
                  <a:pt x="1300581" y="1536484"/>
                </a:lnTo>
                <a:lnTo>
                  <a:pt x="1289939" y="1573060"/>
                </a:lnTo>
                <a:lnTo>
                  <a:pt x="1299083" y="1575727"/>
                </a:lnTo>
                <a:lnTo>
                  <a:pt x="1309725" y="1539151"/>
                </a:lnTo>
                <a:close/>
              </a:path>
              <a:path w="1711325" h="2282825">
                <a:moveTo>
                  <a:pt x="1313675" y="1652016"/>
                </a:moveTo>
                <a:lnTo>
                  <a:pt x="1282166" y="1633829"/>
                </a:lnTo>
                <a:lnTo>
                  <a:pt x="1291094" y="1603159"/>
                </a:lnTo>
                <a:lnTo>
                  <a:pt x="1281950" y="1600504"/>
                </a:lnTo>
                <a:lnTo>
                  <a:pt x="1271308" y="1637080"/>
                </a:lnTo>
                <a:lnTo>
                  <a:pt x="1277289" y="1638833"/>
                </a:lnTo>
                <a:lnTo>
                  <a:pt x="1275918" y="1641221"/>
                </a:lnTo>
                <a:lnTo>
                  <a:pt x="1308925" y="1660258"/>
                </a:lnTo>
                <a:lnTo>
                  <a:pt x="1313675" y="1652016"/>
                </a:lnTo>
                <a:close/>
              </a:path>
              <a:path w="1711325" h="2282825">
                <a:moveTo>
                  <a:pt x="1315313" y="1827034"/>
                </a:moveTo>
                <a:lnTo>
                  <a:pt x="1306753" y="1822856"/>
                </a:lnTo>
                <a:lnTo>
                  <a:pt x="1290040" y="1857095"/>
                </a:lnTo>
                <a:lnTo>
                  <a:pt x="1298600" y="1861273"/>
                </a:lnTo>
                <a:lnTo>
                  <a:pt x="1315313" y="1827034"/>
                </a:lnTo>
                <a:close/>
              </a:path>
              <a:path w="1711325" h="2282825">
                <a:moveTo>
                  <a:pt x="1328356" y="1475130"/>
                </a:moveTo>
                <a:lnTo>
                  <a:pt x="1319212" y="1472463"/>
                </a:lnTo>
                <a:lnTo>
                  <a:pt x="1308569" y="1509052"/>
                </a:lnTo>
                <a:lnTo>
                  <a:pt x="1317713" y="1511706"/>
                </a:lnTo>
                <a:lnTo>
                  <a:pt x="1328356" y="1475130"/>
                </a:lnTo>
                <a:close/>
              </a:path>
              <a:path w="1711325" h="2282825">
                <a:moveTo>
                  <a:pt x="1340713" y="1343736"/>
                </a:moveTo>
                <a:lnTo>
                  <a:pt x="1334554" y="1336471"/>
                </a:lnTo>
                <a:lnTo>
                  <a:pt x="1305483" y="1361097"/>
                </a:lnTo>
                <a:lnTo>
                  <a:pt x="1311643" y="1368361"/>
                </a:lnTo>
                <a:lnTo>
                  <a:pt x="1340713" y="1343736"/>
                </a:lnTo>
                <a:close/>
              </a:path>
              <a:path w="1711325" h="2282825">
                <a:moveTo>
                  <a:pt x="1344561" y="1767116"/>
                </a:moveTo>
                <a:lnTo>
                  <a:pt x="1336001" y="1762937"/>
                </a:lnTo>
                <a:lnTo>
                  <a:pt x="1319288" y="1797177"/>
                </a:lnTo>
                <a:lnTo>
                  <a:pt x="1327848" y="1801355"/>
                </a:lnTo>
                <a:lnTo>
                  <a:pt x="1344561" y="1767116"/>
                </a:lnTo>
                <a:close/>
              </a:path>
              <a:path w="1711325" h="2282825">
                <a:moveTo>
                  <a:pt x="1346504" y="2114524"/>
                </a:moveTo>
                <a:lnTo>
                  <a:pt x="1341247" y="2106587"/>
                </a:lnTo>
                <a:lnTo>
                  <a:pt x="1309471" y="2127593"/>
                </a:lnTo>
                <a:lnTo>
                  <a:pt x="1314716" y="2135543"/>
                </a:lnTo>
                <a:lnTo>
                  <a:pt x="1346504" y="2114524"/>
                </a:lnTo>
                <a:close/>
              </a:path>
              <a:path w="1711325" h="2282825">
                <a:moveTo>
                  <a:pt x="1346987" y="1411109"/>
                </a:moveTo>
                <a:lnTo>
                  <a:pt x="1337843" y="1408442"/>
                </a:lnTo>
                <a:lnTo>
                  <a:pt x="1327200" y="1445031"/>
                </a:lnTo>
                <a:lnTo>
                  <a:pt x="1336344" y="1447685"/>
                </a:lnTo>
                <a:lnTo>
                  <a:pt x="1346987" y="1411109"/>
                </a:lnTo>
                <a:close/>
              </a:path>
              <a:path w="1711325" h="2282825">
                <a:moveTo>
                  <a:pt x="1365618" y="1347089"/>
                </a:moveTo>
                <a:lnTo>
                  <a:pt x="1356474" y="1344422"/>
                </a:lnTo>
                <a:lnTo>
                  <a:pt x="1345819" y="1381010"/>
                </a:lnTo>
                <a:lnTo>
                  <a:pt x="1354975" y="1383665"/>
                </a:lnTo>
                <a:lnTo>
                  <a:pt x="1365618" y="1347089"/>
                </a:lnTo>
                <a:close/>
              </a:path>
              <a:path w="1711325" h="2282825">
                <a:moveTo>
                  <a:pt x="1371422" y="1685340"/>
                </a:moveTo>
                <a:lnTo>
                  <a:pt x="1338427" y="1666290"/>
                </a:lnTo>
                <a:lnTo>
                  <a:pt x="1333665" y="1674545"/>
                </a:lnTo>
                <a:lnTo>
                  <a:pt x="1366672" y="1693595"/>
                </a:lnTo>
                <a:lnTo>
                  <a:pt x="1371422" y="1685340"/>
                </a:lnTo>
                <a:close/>
              </a:path>
              <a:path w="1711325" h="2282825">
                <a:moveTo>
                  <a:pt x="1373797" y="1707197"/>
                </a:moveTo>
                <a:lnTo>
                  <a:pt x="1365237" y="1703019"/>
                </a:lnTo>
                <a:lnTo>
                  <a:pt x="1348536" y="1737258"/>
                </a:lnTo>
                <a:lnTo>
                  <a:pt x="1357096" y="1741436"/>
                </a:lnTo>
                <a:lnTo>
                  <a:pt x="1373797" y="1707197"/>
                </a:lnTo>
                <a:close/>
              </a:path>
              <a:path w="1711325" h="2282825">
                <a:moveTo>
                  <a:pt x="1391589" y="1300645"/>
                </a:moveTo>
                <a:lnTo>
                  <a:pt x="1385430" y="1293368"/>
                </a:lnTo>
                <a:lnTo>
                  <a:pt x="1379867" y="1298079"/>
                </a:lnTo>
                <a:lnTo>
                  <a:pt x="1384249" y="1283068"/>
                </a:lnTo>
                <a:lnTo>
                  <a:pt x="1375092" y="1280401"/>
                </a:lnTo>
                <a:lnTo>
                  <a:pt x="1366697" y="1309230"/>
                </a:lnTo>
                <a:lnTo>
                  <a:pt x="1356360" y="1317993"/>
                </a:lnTo>
                <a:lnTo>
                  <a:pt x="1362519" y="1325270"/>
                </a:lnTo>
                <a:lnTo>
                  <a:pt x="1370291" y="1318691"/>
                </a:lnTo>
                <a:lnTo>
                  <a:pt x="1373593" y="1319644"/>
                </a:lnTo>
                <a:lnTo>
                  <a:pt x="1375041" y="1314665"/>
                </a:lnTo>
                <a:lnTo>
                  <a:pt x="1391589" y="1300645"/>
                </a:lnTo>
                <a:close/>
              </a:path>
              <a:path w="1711325" h="2282825">
                <a:moveTo>
                  <a:pt x="1402130" y="2077770"/>
                </a:moveTo>
                <a:lnTo>
                  <a:pt x="1396873" y="2069820"/>
                </a:lnTo>
                <a:lnTo>
                  <a:pt x="1365097" y="2090826"/>
                </a:lnTo>
                <a:lnTo>
                  <a:pt x="1370342" y="2098776"/>
                </a:lnTo>
                <a:lnTo>
                  <a:pt x="1402130" y="2077770"/>
                </a:lnTo>
                <a:close/>
              </a:path>
              <a:path w="1711325" h="2282825">
                <a:moveTo>
                  <a:pt x="1402867" y="1219047"/>
                </a:moveTo>
                <a:lnTo>
                  <a:pt x="1393723" y="1216380"/>
                </a:lnTo>
                <a:lnTo>
                  <a:pt x="1383080" y="1252969"/>
                </a:lnTo>
                <a:lnTo>
                  <a:pt x="1392224" y="1255623"/>
                </a:lnTo>
                <a:lnTo>
                  <a:pt x="1402867" y="1219047"/>
                </a:lnTo>
                <a:close/>
              </a:path>
              <a:path w="1711325" h="2282825">
                <a:moveTo>
                  <a:pt x="1403045" y="1647278"/>
                </a:moveTo>
                <a:lnTo>
                  <a:pt x="1394485" y="1643100"/>
                </a:lnTo>
                <a:lnTo>
                  <a:pt x="1377772" y="1677339"/>
                </a:lnTo>
                <a:lnTo>
                  <a:pt x="1386332" y="1681518"/>
                </a:lnTo>
                <a:lnTo>
                  <a:pt x="1403045" y="1647278"/>
                </a:lnTo>
                <a:close/>
              </a:path>
              <a:path w="1711325" h="2282825">
                <a:moveTo>
                  <a:pt x="1421498" y="1155026"/>
                </a:moveTo>
                <a:lnTo>
                  <a:pt x="1412354" y="1152359"/>
                </a:lnTo>
                <a:lnTo>
                  <a:pt x="1401711" y="1188948"/>
                </a:lnTo>
                <a:lnTo>
                  <a:pt x="1410855" y="1191602"/>
                </a:lnTo>
                <a:lnTo>
                  <a:pt x="1421498" y="1155026"/>
                </a:lnTo>
                <a:close/>
              </a:path>
              <a:path w="1711325" h="2282825">
                <a:moveTo>
                  <a:pt x="1429169" y="1718665"/>
                </a:moveTo>
                <a:lnTo>
                  <a:pt x="1396174" y="1699628"/>
                </a:lnTo>
                <a:lnTo>
                  <a:pt x="1391412" y="1707870"/>
                </a:lnTo>
                <a:lnTo>
                  <a:pt x="1424419" y="1726920"/>
                </a:lnTo>
                <a:lnTo>
                  <a:pt x="1429169" y="1718665"/>
                </a:lnTo>
                <a:close/>
              </a:path>
              <a:path w="1711325" h="2282825">
                <a:moveTo>
                  <a:pt x="1432293" y="1587360"/>
                </a:moveTo>
                <a:lnTo>
                  <a:pt x="1423733" y="1583182"/>
                </a:lnTo>
                <a:lnTo>
                  <a:pt x="1407020" y="1617421"/>
                </a:lnTo>
                <a:lnTo>
                  <a:pt x="1415580" y="1621599"/>
                </a:lnTo>
                <a:lnTo>
                  <a:pt x="1432293" y="1587360"/>
                </a:lnTo>
                <a:close/>
              </a:path>
              <a:path w="1711325" h="2282825">
                <a:moveTo>
                  <a:pt x="1440129" y="1091006"/>
                </a:moveTo>
                <a:lnTo>
                  <a:pt x="1430985" y="1088339"/>
                </a:lnTo>
                <a:lnTo>
                  <a:pt x="1420342" y="1124927"/>
                </a:lnTo>
                <a:lnTo>
                  <a:pt x="1429486" y="1127594"/>
                </a:lnTo>
                <a:lnTo>
                  <a:pt x="1440129" y="1091006"/>
                </a:lnTo>
                <a:close/>
              </a:path>
              <a:path w="1711325" h="2282825">
                <a:moveTo>
                  <a:pt x="1442466" y="1257541"/>
                </a:moveTo>
                <a:lnTo>
                  <a:pt x="1436306" y="1250276"/>
                </a:lnTo>
                <a:lnTo>
                  <a:pt x="1407236" y="1274902"/>
                </a:lnTo>
                <a:lnTo>
                  <a:pt x="1413395" y="1282166"/>
                </a:lnTo>
                <a:lnTo>
                  <a:pt x="1442466" y="1257541"/>
                </a:lnTo>
                <a:close/>
              </a:path>
              <a:path w="1711325" h="2282825">
                <a:moveTo>
                  <a:pt x="1457756" y="2041004"/>
                </a:moveTo>
                <a:lnTo>
                  <a:pt x="1452499" y="2033054"/>
                </a:lnTo>
                <a:lnTo>
                  <a:pt x="1420710" y="2054072"/>
                </a:lnTo>
                <a:lnTo>
                  <a:pt x="1425968" y="2062010"/>
                </a:lnTo>
                <a:lnTo>
                  <a:pt x="1457756" y="2041004"/>
                </a:lnTo>
                <a:close/>
              </a:path>
              <a:path w="1711325" h="2282825">
                <a:moveTo>
                  <a:pt x="1458760" y="1026985"/>
                </a:moveTo>
                <a:lnTo>
                  <a:pt x="1449616" y="1024331"/>
                </a:lnTo>
                <a:lnTo>
                  <a:pt x="1438960" y="1060907"/>
                </a:lnTo>
                <a:lnTo>
                  <a:pt x="1448117" y="1063574"/>
                </a:lnTo>
                <a:lnTo>
                  <a:pt x="1458760" y="1026985"/>
                </a:lnTo>
                <a:close/>
              </a:path>
              <a:path w="1711325" h="2282825">
                <a:moveTo>
                  <a:pt x="1461541" y="1527441"/>
                </a:moveTo>
                <a:lnTo>
                  <a:pt x="1452981" y="1523263"/>
                </a:lnTo>
                <a:lnTo>
                  <a:pt x="1436268" y="1557502"/>
                </a:lnTo>
                <a:lnTo>
                  <a:pt x="1444828" y="1561680"/>
                </a:lnTo>
                <a:lnTo>
                  <a:pt x="1461541" y="1527441"/>
                </a:lnTo>
                <a:close/>
              </a:path>
              <a:path w="1711325" h="2282825">
                <a:moveTo>
                  <a:pt x="1477391" y="962964"/>
                </a:moveTo>
                <a:lnTo>
                  <a:pt x="1468234" y="960310"/>
                </a:lnTo>
                <a:lnTo>
                  <a:pt x="1457591" y="996886"/>
                </a:lnTo>
                <a:lnTo>
                  <a:pt x="1466735" y="999553"/>
                </a:lnTo>
                <a:lnTo>
                  <a:pt x="1477391" y="962964"/>
                </a:lnTo>
                <a:close/>
              </a:path>
              <a:path w="1711325" h="2282825">
                <a:moveTo>
                  <a:pt x="1486928" y="1752003"/>
                </a:moveTo>
                <a:lnTo>
                  <a:pt x="1453921" y="1732953"/>
                </a:lnTo>
                <a:lnTo>
                  <a:pt x="1449158" y="1741208"/>
                </a:lnTo>
                <a:lnTo>
                  <a:pt x="1482166" y="1760245"/>
                </a:lnTo>
                <a:lnTo>
                  <a:pt x="1486928" y="1752003"/>
                </a:lnTo>
                <a:close/>
              </a:path>
              <a:path w="1711325" h="2282825">
                <a:moveTo>
                  <a:pt x="1490789" y="1467523"/>
                </a:moveTo>
                <a:lnTo>
                  <a:pt x="1482229" y="1463344"/>
                </a:lnTo>
                <a:lnTo>
                  <a:pt x="1465516" y="1497584"/>
                </a:lnTo>
                <a:lnTo>
                  <a:pt x="1474076" y="1501762"/>
                </a:lnTo>
                <a:lnTo>
                  <a:pt x="1490789" y="1467523"/>
                </a:lnTo>
                <a:close/>
              </a:path>
              <a:path w="1711325" h="2282825">
                <a:moveTo>
                  <a:pt x="1493342" y="1214450"/>
                </a:moveTo>
                <a:lnTo>
                  <a:pt x="1487182" y="1207185"/>
                </a:lnTo>
                <a:lnTo>
                  <a:pt x="1458112" y="1231811"/>
                </a:lnTo>
                <a:lnTo>
                  <a:pt x="1464271" y="1239075"/>
                </a:lnTo>
                <a:lnTo>
                  <a:pt x="1493342" y="1214450"/>
                </a:lnTo>
                <a:close/>
              </a:path>
              <a:path w="1711325" h="2282825">
                <a:moveTo>
                  <a:pt x="1496009" y="898944"/>
                </a:moveTo>
                <a:lnTo>
                  <a:pt x="1486865" y="896289"/>
                </a:lnTo>
                <a:lnTo>
                  <a:pt x="1476222" y="932865"/>
                </a:lnTo>
                <a:lnTo>
                  <a:pt x="1485366" y="935532"/>
                </a:lnTo>
                <a:lnTo>
                  <a:pt x="1496009" y="898944"/>
                </a:lnTo>
                <a:close/>
              </a:path>
              <a:path w="1711325" h="2282825">
                <a:moveTo>
                  <a:pt x="1513382" y="2004237"/>
                </a:moveTo>
                <a:lnTo>
                  <a:pt x="1508125" y="1996300"/>
                </a:lnTo>
                <a:lnTo>
                  <a:pt x="1476336" y="2017306"/>
                </a:lnTo>
                <a:lnTo>
                  <a:pt x="1481594" y="2025256"/>
                </a:lnTo>
                <a:lnTo>
                  <a:pt x="1513382" y="2004237"/>
                </a:lnTo>
                <a:close/>
              </a:path>
              <a:path w="1711325" h="2282825">
                <a:moveTo>
                  <a:pt x="1514640" y="834923"/>
                </a:moveTo>
                <a:lnTo>
                  <a:pt x="1505496" y="832269"/>
                </a:lnTo>
                <a:lnTo>
                  <a:pt x="1494853" y="868845"/>
                </a:lnTo>
                <a:lnTo>
                  <a:pt x="1503997" y="871512"/>
                </a:lnTo>
                <a:lnTo>
                  <a:pt x="1514640" y="834923"/>
                </a:lnTo>
                <a:close/>
              </a:path>
              <a:path w="1711325" h="2282825">
                <a:moveTo>
                  <a:pt x="1520037" y="1407604"/>
                </a:moveTo>
                <a:lnTo>
                  <a:pt x="1511477" y="1403426"/>
                </a:lnTo>
                <a:lnTo>
                  <a:pt x="1494764" y="1437665"/>
                </a:lnTo>
                <a:lnTo>
                  <a:pt x="1503324" y="1441843"/>
                </a:lnTo>
                <a:lnTo>
                  <a:pt x="1520037" y="1407604"/>
                </a:lnTo>
                <a:close/>
              </a:path>
              <a:path w="1711325" h="2282825">
                <a:moveTo>
                  <a:pt x="1533271" y="770902"/>
                </a:moveTo>
                <a:lnTo>
                  <a:pt x="1524127" y="768248"/>
                </a:lnTo>
                <a:lnTo>
                  <a:pt x="1513484" y="804824"/>
                </a:lnTo>
                <a:lnTo>
                  <a:pt x="1522628" y="807491"/>
                </a:lnTo>
                <a:lnTo>
                  <a:pt x="1533271" y="770902"/>
                </a:lnTo>
                <a:close/>
              </a:path>
              <a:path w="1711325" h="2282825">
                <a:moveTo>
                  <a:pt x="1544218" y="1171359"/>
                </a:moveTo>
                <a:lnTo>
                  <a:pt x="1538058" y="1164082"/>
                </a:lnTo>
                <a:lnTo>
                  <a:pt x="1508988" y="1188707"/>
                </a:lnTo>
                <a:lnTo>
                  <a:pt x="1515148" y="1195984"/>
                </a:lnTo>
                <a:lnTo>
                  <a:pt x="1544218" y="1171359"/>
                </a:lnTo>
                <a:close/>
              </a:path>
              <a:path w="1711325" h="2282825">
                <a:moveTo>
                  <a:pt x="1544675" y="1785327"/>
                </a:moveTo>
                <a:lnTo>
                  <a:pt x="1511668" y="1766277"/>
                </a:lnTo>
                <a:lnTo>
                  <a:pt x="1506905" y="1774532"/>
                </a:lnTo>
                <a:lnTo>
                  <a:pt x="1539913" y="1793570"/>
                </a:lnTo>
                <a:lnTo>
                  <a:pt x="1544675" y="1785327"/>
                </a:lnTo>
                <a:close/>
              </a:path>
              <a:path w="1711325" h="2282825">
                <a:moveTo>
                  <a:pt x="1549273" y="1347685"/>
                </a:moveTo>
                <a:lnTo>
                  <a:pt x="1540713" y="1343507"/>
                </a:lnTo>
                <a:lnTo>
                  <a:pt x="1524012" y="1377746"/>
                </a:lnTo>
                <a:lnTo>
                  <a:pt x="1532572" y="1381925"/>
                </a:lnTo>
                <a:lnTo>
                  <a:pt x="1549273" y="1347685"/>
                </a:lnTo>
                <a:close/>
              </a:path>
              <a:path w="1711325" h="2282825">
                <a:moveTo>
                  <a:pt x="1551901" y="706882"/>
                </a:moveTo>
                <a:lnTo>
                  <a:pt x="1542757" y="704227"/>
                </a:lnTo>
                <a:lnTo>
                  <a:pt x="1532115" y="740803"/>
                </a:lnTo>
                <a:lnTo>
                  <a:pt x="1541259" y="743470"/>
                </a:lnTo>
                <a:lnTo>
                  <a:pt x="1551901" y="706882"/>
                </a:lnTo>
                <a:close/>
              </a:path>
              <a:path w="1711325" h="2282825">
                <a:moveTo>
                  <a:pt x="1569008" y="1967484"/>
                </a:moveTo>
                <a:lnTo>
                  <a:pt x="1563751" y="1959533"/>
                </a:lnTo>
                <a:lnTo>
                  <a:pt x="1531962" y="1980539"/>
                </a:lnTo>
                <a:lnTo>
                  <a:pt x="1537220" y="1988489"/>
                </a:lnTo>
                <a:lnTo>
                  <a:pt x="1569008" y="1967484"/>
                </a:lnTo>
                <a:close/>
              </a:path>
              <a:path w="1711325" h="2282825">
                <a:moveTo>
                  <a:pt x="1570532" y="642874"/>
                </a:moveTo>
                <a:lnTo>
                  <a:pt x="1561388" y="640207"/>
                </a:lnTo>
                <a:lnTo>
                  <a:pt x="1550733" y="676795"/>
                </a:lnTo>
                <a:lnTo>
                  <a:pt x="1559890" y="679450"/>
                </a:lnTo>
                <a:lnTo>
                  <a:pt x="1570532" y="642874"/>
                </a:lnTo>
                <a:close/>
              </a:path>
              <a:path w="1711325" h="2282825">
                <a:moveTo>
                  <a:pt x="1578521" y="1287767"/>
                </a:moveTo>
                <a:lnTo>
                  <a:pt x="1569961" y="1283589"/>
                </a:lnTo>
                <a:lnTo>
                  <a:pt x="1553248" y="1317828"/>
                </a:lnTo>
                <a:lnTo>
                  <a:pt x="1561807" y="1322006"/>
                </a:lnTo>
                <a:lnTo>
                  <a:pt x="1578521" y="1287767"/>
                </a:lnTo>
                <a:close/>
              </a:path>
              <a:path w="1711325" h="2282825">
                <a:moveTo>
                  <a:pt x="1589163" y="578853"/>
                </a:moveTo>
                <a:lnTo>
                  <a:pt x="1580007" y="576186"/>
                </a:lnTo>
                <a:lnTo>
                  <a:pt x="1569364" y="612775"/>
                </a:lnTo>
                <a:lnTo>
                  <a:pt x="1578508" y="615429"/>
                </a:lnTo>
                <a:lnTo>
                  <a:pt x="1589163" y="578853"/>
                </a:lnTo>
                <a:close/>
              </a:path>
              <a:path w="1711325" h="2282825">
                <a:moveTo>
                  <a:pt x="1595094" y="1128255"/>
                </a:moveTo>
                <a:lnTo>
                  <a:pt x="1588935" y="1120990"/>
                </a:lnTo>
                <a:lnTo>
                  <a:pt x="1559864" y="1145616"/>
                </a:lnTo>
                <a:lnTo>
                  <a:pt x="1566024" y="1152880"/>
                </a:lnTo>
                <a:lnTo>
                  <a:pt x="1595094" y="1128255"/>
                </a:lnTo>
                <a:close/>
              </a:path>
              <a:path w="1711325" h="2282825">
                <a:moveTo>
                  <a:pt x="1602422" y="1818652"/>
                </a:moveTo>
                <a:lnTo>
                  <a:pt x="1569415" y="1799615"/>
                </a:lnTo>
                <a:lnTo>
                  <a:pt x="1564652" y="1807857"/>
                </a:lnTo>
                <a:lnTo>
                  <a:pt x="1597660" y="1826907"/>
                </a:lnTo>
                <a:lnTo>
                  <a:pt x="1602422" y="1818652"/>
                </a:lnTo>
                <a:close/>
              </a:path>
              <a:path w="1711325" h="2282825">
                <a:moveTo>
                  <a:pt x="1607769" y="1227848"/>
                </a:moveTo>
                <a:lnTo>
                  <a:pt x="1599209" y="1223670"/>
                </a:lnTo>
                <a:lnTo>
                  <a:pt x="1582496" y="1257909"/>
                </a:lnTo>
                <a:lnTo>
                  <a:pt x="1591056" y="1262087"/>
                </a:lnTo>
                <a:lnTo>
                  <a:pt x="1607769" y="1227848"/>
                </a:lnTo>
                <a:close/>
              </a:path>
              <a:path w="1711325" h="2282825">
                <a:moveTo>
                  <a:pt x="1607781" y="514832"/>
                </a:moveTo>
                <a:lnTo>
                  <a:pt x="1598637" y="512165"/>
                </a:lnTo>
                <a:lnTo>
                  <a:pt x="1587995" y="548754"/>
                </a:lnTo>
                <a:lnTo>
                  <a:pt x="1597139" y="551408"/>
                </a:lnTo>
                <a:lnTo>
                  <a:pt x="1607781" y="514832"/>
                </a:lnTo>
                <a:close/>
              </a:path>
              <a:path w="1711325" h="2282825">
                <a:moveTo>
                  <a:pt x="1624622" y="1930717"/>
                </a:moveTo>
                <a:lnTo>
                  <a:pt x="1619377" y="1922767"/>
                </a:lnTo>
                <a:lnTo>
                  <a:pt x="1587588" y="1943785"/>
                </a:lnTo>
                <a:lnTo>
                  <a:pt x="1592846" y="1951723"/>
                </a:lnTo>
                <a:lnTo>
                  <a:pt x="1624622" y="1930717"/>
                </a:lnTo>
                <a:close/>
              </a:path>
              <a:path w="1711325" h="2282825">
                <a:moveTo>
                  <a:pt x="1626412" y="450811"/>
                </a:moveTo>
                <a:lnTo>
                  <a:pt x="1617268" y="448144"/>
                </a:lnTo>
                <a:lnTo>
                  <a:pt x="1606626" y="484733"/>
                </a:lnTo>
                <a:lnTo>
                  <a:pt x="1615770" y="487387"/>
                </a:lnTo>
                <a:lnTo>
                  <a:pt x="1626412" y="450811"/>
                </a:lnTo>
                <a:close/>
              </a:path>
              <a:path w="1711325" h="2282825">
                <a:moveTo>
                  <a:pt x="1637017" y="1167930"/>
                </a:moveTo>
                <a:lnTo>
                  <a:pt x="1628457" y="1163751"/>
                </a:lnTo>
                <a:lnTo>
                  <a:pt x="1611744" y="1197991"/>
                </a:lnTo>
                <a:lnTo>
                  <a:pt x="1620304" y="1202169"/>
                </a:lnTo>
                <a:lnTo>
                  <a:pt x="1637017" y="1167930"/>
                </a:lnTo>
                <a:close/>
              </a:path>
              <a:path w="1711325" h="2282825">
                <a:moveTo>
                  <a:pt x="1645043" y="386791"/>
                </a:moveTo>
                <a:lnTo>
                  <a:pt x="1635899" y="384124"/>
                </a:lnTo>
                <a:lnTo>
                  <a:pt x="1625257" y="420712"/>
                </a:lnTo>
                <a:lnTo>
                  <a:pt x="1634401" y="423367"/>
                </a:lnTo>
                <a:lnTo>
                  <a:pt x="1645043" y="386791"/>
                </a:lnTo>
                <a:close/>
              </a:path>
              <a:path w="1711325" h="2282825">
                <a:moveTo>
                  <a:pt x="1663674" y="322770"/>
                </a:moveTo>
                <a:lnTo>
                  <a:pt x="1654530" y="320103"/>
                </a:lnTo>
                <a:lnTo>
                  <a:pt x="1643888" y="356692"/>
                </a:lnTo>
                <a:lnTo>
                  <a:pt x="1653032" y="359346"/>
                </a:lnTo>
                <a:lnTo>
                  <a:pt x="1663674" y="322770"/>
                </a:lnTo>
                <a:close/>
              </a:path>
              <a:path w="1711325" h="2282825">
                <a:moveTo>
                  <a:pt x="1695742" y="1878012"/>
                </a:moveTo>
                <a:lnTo>
                  <a:pt x="1667852" y="1835797"/>
                </a:lnTo>
                <a:lnTo>
                  <a:pt x="1648790" y="1806917"/>
                </a:lnTo>
                <a:lnTo>
                  <a:pt x="1632127" y="1835797"/>
                </a:lnTo>
                <a:lnTo>
                  <a:pt x="1627162" y="1832940"/>
                </a:lnTo>
                <a:lnTo>
                  <a:pt x="1622399" y="1841182"/>
                </a:lnTo>
                <a:lnTo>
                  <a:pt x="1627365" y="1844052"/>
                </a:lnTo>
                <a:lnTo>
                  <a:pt x="1610702" y="1872919"/>
                </a:lnTo>
                <a:lnTo>
                  <a:pt x="1695742" y="1878012"/>
                </a:lnTo>
                <a:close/>
              </a:path>
              <a:path w="1711325" h="2282825">
                <a:moveTo>
                  <a:pt x="1695742" y="1878012"/>
                </a:moveTo>
                <a:lnTo>
                  <a:pt x="1611160" y="1888236"/>
                </a:lnTo>
                <a:lnTo>
                  <a:pt x="1653171" y="1951812"/>
                </a:lnTo>
                <a:lnTo>
                  <a:pt x="1695742" y="1878012"/>
                </a:lnTo>
                <a:close/>
              </a:path>
              <a:path w="1711325" h="2282825">
                <a:moveTo>
                  <a:pt x="1696554" y="1121956"/>
                </a:moveTo>
                <a:lnTo>
                  <a:pt x="1695742" y="1036764"/>
                </a:lnTo>
                <a:lnTo>
                  <a:pt x="1612963" y="1056944"/>
                </a:lnTo>
                <a:lnTo>
                  <a:pt x="1634515" y="1082382"/>
                </a:lnTo>
                <a:lnTo>
                  <a:pt x="1610741" y="1102525"/>
                </a:lnTo>
                <a:lnTo>
                  <a:pt x="1616900" y="1109789"/>
                </a:lnTo>
                <a:lnTo>
                  <a:pt x="1636903" y="1092847"/>
                </a:lnTo>
                <a:lnTo>
                  <a:pt x="1647939" y="1098232"/>
                </a:lnTo>
                <a:lnTo>
                  <a:pt x="1655864" y="1107592"/>
                </a:lnTo>
                <a:lnTo>
                  <a:pt x="1640992" y="1138072"/>
                </a:lnTo>
                <a:lnTo>
                  <a:pt x="1649552" y="1142250"/>
                </a:lnTo>
                <a:lnTo>
                  <a:pt x="1666265" y="1108011"/>
                </a:lnTo>
                <a:lnTo>
                  <a:pt x="1665427" y="1107605"/>
                </a:lnTo>
                <a:lnTo>
                  <a:pt x="1665719" y="1106919"/>
                </a:lnTo>
                <a:lnTo>
                  <a:pt x="1696554" y="1121956"/>
                </a:lnTo>
                <a:close/>
              </a:path>
              <a:path w="1711325" h="2282825">
                <a:moveTo>
                  <a:pt x="1711032" y="279336"/>
                </a:moveTo>
                <a:lnTo>
                  <a:pt x="1709331" y="270014"/>
                </a:lnTo>
                <a:lnTo>
                  <a:pt x="1695742" y="195529"/>
                </a:lnTo>
                <a:lnTo>
                  <a:pt x="1637868" y="258038"/>
                </a:lnTo>
                <a:lnTo>
                  <a:pt x="1669872" y="267360"/>
                </a:lnTo>
                <a:lnTo>
                  <a:pt x="1662506" y="292671"/>
                </a:lnTo>
                <a:lnTo>
                  <a:pt x="1671650" y="295338"/>
                </a:lnTo>
                <a:lnTo>
                  <a:pt x="1679016" y="270014"/>
                </a:lnTo>
                <a:lnTo>
                  <a:pt x="1711032" y="279336"/>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27" name="object 27"/>
          <p:cNvSpPr txBox="1"/>
          <p:nvPr/>
        </p:nvSpPr>
        <p:spPr>
          <a:xfrm>
            <a:off x="7297118" y="5779623"/>
            <a:ext cx="1718310" cy="330200"/>
          </a:xfrm>
          <a:prstGeom prst="rect">
            <a:avLst/>
          </a:prstGeom>
        </p:spPr>
        <p:txBody>
          <a:bodyPr vert="horz" wrap="square" lIns="0" tIns="12700" rIns="0" bIns="0" rtlCol="0">
            <a:spAutoFit/>
          </a:bodyPr>
          <a:lstStyle/>
          <a:p>
            <a:pPr marL="12700">
              <a:spcBef>
                <a:spcPts val="100"/>
              </a:spcBef>
            </a:pPr>
            <a:r>
              <a:rPr sz="2000" b="1" spc="-5" dirty="0">
                <a:solidFill>
                  <a:prstClr val="black"/>
                </a:solidFill>
                <a:latin typeface="Arial"/>
                <a:cs typeface="Arial"/>
              </a:rPr>
              <a:t>Overcomplete</a:t>
            </a:r>
            <a:endParaRPr sz="2000" dirty="0">
              <a:solidFill>
                <a:prstClr val="black"/>
              </a:solidFill>
              <a:latin typeface="Arial"/>
              <a:cs typeface="Arial"/>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23</a:t>
            </a:fld>
            <a:endParaRPr dirty="0">
              <a:solidFill>
                <a:prstClr val="white"/>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358246" y="973586"/>
            <a:ext cx="11627427" cy="1171218"/>
          </a:xfrm>
          <a:prstGeom prst="rect">
            <a:avLst/>
          </a:prstGeom>
        </p:spPr>
        <p:txBody>
          <a:bodyPr vert="horz" wrap="square" lIns="0" tIns="12700" rIns="0" bIns="0" rtlCol="0">
            <a:spAutoFit/>
          </a:bodyPr>
          <a:lstStyle/>
          <a:p>
            <a:pPr marL="273050" marR="342900">
              <a:lnSpc>
                <a:spcPct val="109800"/>
              </a:lnSpc>
              <a:spcBef>
                <a:spcPts val="100"/>
              </a:spcBef>
            </a:pPr>
            <a:r>
              <a:rPr sz="2200" dirty="0">
                <a:solidFill>
                  <a:srgbClr val="FF0000"/>
                </a:solidFill>
              </a:rPr>
              <a:t>If autoencoder is undercomplete, encoder has effect of </a:t>
            </a:r>
            <a:r>
              <a:rPr sz="2200" spc="-600" dirty="0">
                <a:solidFill>
                  <a:srgbClr val="FF0000"/>
                </a:solidFill>
              </a:rPr>
              <a:t> </a:t>
            </a:r>
            <a:r>
              <a:rPr sz="2200" dirty="0">
                <a:solidFill>
                  <a:srgbClr val="FF0000"/>
                </a:solidFill>
              </a:rPr>
              <a:t>dimensionality</a:t>
            </a:r>
            <a:r>
              <a:rPr sz="2200" spc="-5" dirty="0">
                <a:solidFill>
                  <a:srgbClr val="FF0000"/>
                </a:solidFill>
              </a:rPr>
              <a:t> </a:t>
            </a:r>
            <a:r>
              <a:rPr sz="2200" dirty="0">
                <a:solidFill>
                  <a:srgbClr val="FF0000"/>
                </a:solidFill>
              </a:rPr>
              <a:t>reduction</a:t>
            </a:r>
          </a:p>
          <a:p>
            <a:pPr marL="273050" marR="5080">
              <a:lnSpc>
                <a:spcPct val="111100"/>
              </a:lnSpc>
              <a:spcBef>
                <a:spcPts val="500"/>
              </a:spcBef>
            </a:pPr>
            <a:r>
              <a:rPr sz="2200" dirty="0">
                <a:solidFill>
                  <a:srgbClr val="FF0000"/>
                </a:solidFill>
              </a:rPr>
              <a:t>If decoder</a:t>
            </a:r>
            <a:r>
              <a:rPr sz="2200" spc="-5" dirty="0">
                <a:solidFill>
                  <a:srgbClr val="FF0000"/>
                </a:solidFill>
              </a:rPr>
              <a:t> </a:t>
            </a:r>
            <a:r>
              <a:rPr sz="2200" dirty="0">
                <a:solidFill>
                  <a:srgbClr val="FF0000"/>
                </a:solidFill>
              </a:rPr>
              <a:t>is </a:t>
            </a:r>
            <a:r>
              <a:rPr lang="en-IN" sz="2200" dirty="0">
                <a:solidFill>
                  <a:srgbClr val="FF0000"/>
                </a:solidFill>
              </a:rPr>
              <a:t>undercomplete and </a:t>
            </a:r>
            <a:r>
              <a:rPr sz="2200" spc="-20" dirty="0">
                <a:solidFill>
                  <a:srgbClr val="FF0000"/>
                </a:solidFill>
              </a:rPr>
              <a:t>linear,</a:t>
            </a:r>
            <a:r>
              <a:rPr sz="2200" dirty="0">
                <a:solidFill>
                  <a:srgbClr val="FF0000"/>
                </a:solidFill>
              </a:rPr>
              <a:t> encoder</a:t>
            </a:r>
            <a:r>
              <a:rPr sz="2200" spc="-10" dirty="0">
                <a:solidFill>
                  <a:srgbClr val="FF0000"/>
                </a:solidFill>
              </a:rPr>
              <a:t> </a:t>
            </a:r>
            <a:r>
              <a:rPr sz="2200" dirty="0">
                <a:solidFill>
                  <a:srgbClr val="FF0000"/>
                </a:solidFill>
              </a:rPr>
              <a:t>has </a:t>
            </a:r>
            <a:r>
              <a:rPr sz="2200" spc="-5" dirty="0">
                <a:solidFill>
                  <a:srgbClr val="FF0000"/>
                </a:solidFill>
              </a:rPr>
              <a:t>same</a:t>
            </a:r>
            <a:r>
              <a:rPr sz="2200" dirty="0">
                <a:solidFill>
                  <a:srgbClr val="FF0000"/>
                </a:solidFill>
              </a:rPr>
              <a:t> effect</a:t>
            </a:r>
            <a:r>
              <a:rPr sz="2200" spc="5" dirty="0">
                <a:solidFill>
                  <a:srgbClr val="FF0000"/>
                </a:solidFill>
              </a:rPr>
              <a:t> </a:t>
            </a:r>
            <a:r>
              <a:rPr sz="2200" dirty="0">
                <a:solidFill>
                  <a:srgbClr val="FF0000"/>
                </a:solidFill>
              </a:rPr>
              <a:t>of</a:t>
            </a:r>
            <a:r>
              <a:rPr sz="2200" spc="5" dirty="0">
                <a:solidFill>
                  <a:srgbClr val="FF0000"/>
                </a:solidFill>
              </a:rPr>
              <a:t> </a:t>
            </a:r>
            <a:r>
              <a:rPr sz="2200" spc="-5" dirty="0">
                <a:solidFill>
                  <a:srgbClr val="FF0000"/>
                </a:solidFill>
              </a:rPr>
              <a:t>Principle </a:t>
            </a:r>
            <a:r>
              <a:rPr sz="2200" spc="-600" dirty="0">
                <a:solidFill>
                  <a:srgbClr val="FF0000"/>
                </a:solidFill>
              </a:rPr>
              <a:t> </a:t>
            </a:r>
            <a:r>
              <a:rPr sz="2200" dirty="0">
                <a:solidFill>
                  <a:srgbClr val="FF0000"/>
                </a:solidFill>
              </a:rPr>
              <a:t>Component</a:t>
            </a:r>
            <a:r>
              <a:rPr sz="2200" spc="-80" dirty="0">
                <a:solidFill>
                  <a:srgbClr val="FF0000"/>
                </a:solidFill>
              </a:rPr>
              <a:t> </a:t>
            </a:r>
            <a:r>
              <a:rPr sz="2200" dirty="0">
                <a:solidFill>
                  <a:srgbClr val="FF0000"/>
                </a:solidFill>
              </a:rPr>
              <a:t>Analysis </a:t>
            </a:r>
            <a:r>
              <a:rPr sz="2200" spc="-5" dirty="0">
                <a:solidFill>
                  <a:srgbClr val="FF0000"/>
                </a:solidFill>
              </a:rPr>
              <a:t>(PCA)</a:t>
            </a:r>
            <a:endParaRPr sz="2200" dirty="0">
              <a:solidFill>
                <a:srgbClr val="FF0000"/>
              </a:solidFill>
            </a:endParaRPr>
          </a:p>
        </p:txBody>
      </p:sp>
      <p:pic>
        <p:nvPicPr>
          <p:cNvPr id="5" name="object 5"/>
          <p:cNvPicPr/>
          <p:nvPr/>
        </p:nvPicPr>
        <p:blipFill>
          <a:blip r:embed="rId2" cstate="print"/>
          <a:stretch>
            <a:fillRect/>
          </a:stretch>
        </p:blipFill>
        <p:spPr>
          <a:xfrm>
            <a:off x="1536700" y="67734"/>
            <a:ext cx="5401732" cy="918633"/>
          </a:xfrm>
          <a:prstGeom prst="rect">
            <a:avLst/>
          </a:prstGeom>
        </p:spPr>
      </p:pic>
      <p:sp>
        <p:nvSpPr>
          <p:cNvPr id="6" name="object 6"/>
          <p:cNvSpPr txBox="1">
            <a:spLocks noGrp="1"/>
          </p:cNvSpPr>
          <p:nvPr>
            <p:ph type="title"/>
          </p:nvPr>
        </p:nvSpPr>
        <p:spPr>
          <a:xfrm>
            <a:off x="1785620" y="183388"/>
            <a:ext cx="4874260"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Dimensionality</a:t>
            </a:r>
            <a:r>
              <a:rPr sz="3200" spc="-75" dirty="0">
                <a:solidFill>
                  <a:srgbClr val="004990"/>
                </a:solidFill>
              </a:rPr>
              <a:t> </a:t>
            </a:r>
            <a:r>
              <a:rPr sz="3200" spc="-5" dirty="0">
                <a:solidFill>
                  <a:srgbClr val="004990"/>
                </a:solidFill>
              </a:rPr>
              <a:t>reduction</a:t>
            </a:r>
            <a:endParaRPr sz="3200"/>
          </a:p>
        </p:txBody>
      </p:sp>
      <p:sp>
        <p:nvSpPr>
          <p:cNvPr id="7" name="object 7"/>
          <p:cNvSpPr txBox="1"/>
          <p:nvPr/>
        </p:nvSpPr>
        <p:spPr>
          <a:xfrm>
            <a:off x="5297812" y="6261110"/>
            <a:ext cx="5280660" cy="197490"/>
          </a:xfrm>
          <a:prstGeom prst="rect">
            <a:avLst/>
          </a:prstGeom>
        </p:spPr>
        <p:txBody>
          <a:bodyPr vert="horz" wrap="square" lIns="0" tIns="12700" rIns="0" bIns="0" rtlCol="0">
            <a:spAutoFit/>
          </a:bodyPr>
          <a:lstStyle/>
          <a:p>
            <a:pPr marL="12700">
              <a:spcBef>
                <a:spcPts val="100"/>
              </a:spcBef>
            </a:pPr>
            <a:r>
              <a:rPr sz="1200" b="1" spc="-5" dirty="0">
                <a:solidFill>
                  <a:prstClr val="black"/>
                </a:solidFill>
                <a:latin typeface="Arial"/>
                <a:cs typeface="Arial"/>
              </a:rPr>
              <a:t>image</a:t>
            </a:r>
            <a:r>
              <a:rPr sz="1200" b="1" spc="20" dirty="0">
                <a:solidFill>
                  <a:prstClr val="black"/>
                </a:solidFill>
                <a:latin typeface="Arial"/>
                <a:cs typeface="Arial"/>
              </a:rPr>
              <a:t> </a:t>
            </a:r>
            <a:r>
              <a:rPr sz="1200" b="1" spc="-5" dirty="0">
                <a:solidFill>
                  <a:prstClr val="black"/>
                </a:solidFill>
                <a:latin typeface="Arial"/>
                <a:cs typeface="Arial"/>
              </a:rPr>
              <a:t>source</a:t>
            </a:r>
            <a:r>
              <a:rPr sz="1200" b="1" spc="25" dirty="0">
                <a:solidFill>
                  <a:prstClr val="black"/>
                </a:solidFill>
                <a:latin typeface="Arial"/>
                <a:cs typeface="Arial"/>
              </a:rPr>
              <a:t> </a:t>
            </a:r>
            <a:r>
              <a:rPr sz="1200" b="1" dirty="0">
                <a:solidFill>
                  <a:prstClr val="black"/>
                </a:solidFill>
                <a:latin typeface="Arial"/>
                <a:cs typeface="Arial"/>
              </a:rPr>
              <a:t>:</a:t>
            </a:r>
            <a:r>
              <a:rPr sz="1200" b="1" spc="35" dirty="0">
                <a:solidFill>
                  <a:prstClr val="black"/>
                </a:solidFill>
                <a:latin typeface="Arial"/>
                <a:cs typeface="Arial"/>
              </a:rPr>
              <a:t> </a:t>
            </a:r>
            <a:r>
              <a:rPr sz="1200" b="1" spc="-5" dirty="0">
                <a:solidFill>
                  <a:prstClr val="black"/>
                </a:solidFill>
                <a:latin typeface="Arial"/>
                <a:cs typeface="Arial"/>
              </a:rPr>
              <a:t>https://blog.keras.io/building-autoencoders-in-keras.html</a:t>
            </a:r>
            <a:endParaRPr sz="1200">
              <a:solidFill>
                <a:prstClr val="black"/>
              </a:solidFill>
              <a:latin typeface="Arial"/>
              <a:cs typeface="Arial"/>
            </a:endParaRPr>
          </a:p>
        </p:txBody>
      </p:sp>
      <p:pic>
        <p:nvPicPr>
          <p:cNvPr id="8" name="object 8"/>
          <p:cNvPicPr/>
          <p:nvPr/>
        </p:nvPicPr>
        <p:blipFill>
          <a:blip r:embed="rId3" cstate="print"/>
          <a:stretch>
            <a:fillRect/>
          </a:stretch>
        </p:blipFill>
        <p:spPr>
          <a:xfrm>
            <a:off x="1920572" y="3720091"/>
            <a:ext cx="8432800" cy="2336800"/>
          </a:xfrm>
          <a:prstGeom prst="rect">
            <a:avLst/>
          </a:prstGeom>
        </p:spPr>
      </p:pic>
      <p:sp>
        <p:nvSpPr>
          <p:cNvPr id="9" name="object 9"/>
          <p:cNvSpPr txBox="1"/>
          <p:nvPr/>
        </p:nvSpPr>
        <p:spPr>
          <a:xfrm>
            <a:off x="3372370" y="4001737"/>
            <a:ext cx="184150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(Undercomplete)</a:t>
            </a:r>
            <a:endParaRPr>
              <a:solidFill>
                <a:prstClr val="black"/>
              </a:solidFill>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24</a:t>
            </a:fld>
            <a:endParaRPr dirty="0">
              <a:solidFill>
                <a:prstClr val="whit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A44C9-86D1-895D-32AB-32E58B2E0280}"/>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67E4328B-E20F-DD43-5F9B-D41FB920776E}"/>
              </a:ext>
            </a:extLst>
          </p:cNvPr>
          <p:cNvPicPr>
            <a:picLocks noGrp="1" noChangeAspect="1"/>
          </p:cNvPicPr>
          <p:nvPr>
            <p:ph idx="1"/>
          </p:nvPr>
        </p:nvPicPr>
        <p:blipFill>
          <a:blip r:embed="rId2"/>
          <a:stretch>
            <a:fillRect/>
          </a:stretch>
        </p:blipFill>
        <p:spPr>
          <a:xfrm>
            <a:off x="257907" y="127000"/>
            <a:ext cx="11676185" cy="6274191"/>
          </a:xfrm>
          <a:ln>
            <a:solidFill>
              <a:srgbClr val="000000"/>
            </a:solidFill>
          </a:ln>
        </p:spPr>
      </p:pic>
      <p:sp>
        <p:nvSpPr>
          <p:cNvPr id="4" name="Slide Number Placeholder 3">
            <a:extLst>
              <a:ext uri="{FF2B5EF4-FFF2-40B4-BE49-F238E27FC236}">
                <a16:creationId xmlns:a16="http://schemas.microsoft.com/office/drawing/2014/main" id="{4C85046D-6AAB-1C69-B290-9DD0C4F4F133}"/>
              </a:ext>
            </a:extLst>
          </p:cNvPr>
          <p:cNvSpPr>
            <a:spLocks noGrp="1"/>
          </p:cNvSpPr>
          <p:nvPr>
            <p:ph type="sldNum" sz="quarter" idx="12"/>
          </p:nvPr>
        </p:nvSpPr>
        <p:spPr/>
        <p:txBody>
          <a:bodyPr/>
          <a:lstStyle/>
          <a:p>
            <a:pPr>
              <a:defRPr/>
            </a:pPr>
            <a:fld id="{9AD681D7-8A59-4380-9311-10B86FF921AA}" type="slidenum">
              <a:rPr lang="en-US" altLang="zh-TW" smtClean="0"/>
              <a:pPr>
                <a:defRPr/>
              </a:pPr>
              <a:t>25</a:t>
            </a:fld>
            <a:endParaRPr lang="en-US" altLang="zh-TW"/>
          </a:p>
        </p:txBody>
      </p:sp>
      <p:sp>
        <p:nvSpPr>
          <p:cNvPr id="8" name="TextBox 7">
            <a:extLst>
              <a:ext uri="{FF2B5EF4-FFF2-40B4-BE49-F238E27FC236}">
                <a16:creationId xmlns:a16="http://schemas.microsoft.com/office/drawing/2014/main" id="{89D2D1D5-7D5B-F596-31EB-AE4EA6B14A56}"/>
              </a:ext>
            </a:extLst>
          </p:cNvPr>
          <p:cNvSpPr txBox="1"/>
          <p:nvPr/>
        </p:nvSpPr>
        <p:spPr>
          <a:xfrm>
            <a:off x="3597812" y="6429717"/>
            <a:ext cx="6098344" cy="369332"/>
          </a:xfrm>
          <a:prstGeom prst="rect">
            <a:avLst/>
          </a:prstGeom>
          <a:noFill/>
          <a:ln>
            <a:solidFill>
              <a:schemeClr val="tx1"/>
            </a:solidFill>
          </a:ln>
        </p:spPr>
        <p:txBody>
          <a:bodyPr wrap="square">
            <a:spAutoFit/>
          </a:bodyPr>
          <a:lstStyle/>
          <a:p>
            <a:r>
              <a:rPr lang="en-IN" b="1" dirty="0"/>
              <a:t>https://www.youtube.com/watch?v=aqaVv3RiNow</a:t>
            </a:r>
          </a:p>
        </p:txBody>
      </p:sp>
    </p:spTree>
    <p:extLst>
      <p:ext uri="{BB962C8B-B14F-4D97-AF65-F5344CB8AC3E}">
        <p14:creationId xmlns:p14="http://schemas.microsoft.com/office/powerpoint/2010/main" val="3703694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D6574-6D01-4971-9CF1-3EC582496B81}"/>
              </a:ext>
            </a:extLst>
          </p:cNvPr>
          <p:cNvSpPr>
            <a:spLocks noGrp="1"/>
          </p:cNvSpPr>
          <p:nvPr>
            <p:ph type="title"/>
          </p:nvPr>
        </p:nvSpPr>
        <p:spPr/>
        <p:txBody>
          <a:bodyPr/>
          <a:lstStyle/>
          <a:p>
            <a:r>
              <a:rPr lang="en-US" altLang="zh-TW" sz="4400" dirty="0"/>
              <a:t>Autoencoder </a:t>
            </a:r>
            <a:r>
              <a:rPr lang="en-US" altLang="zh-TW" sz="2800" dirty="0">
                <a:solidFill>
                  <a:srgbClr val="FF0000"/>
                </a:solidFill>
              </a:rPr>
              <a:t>(Network that encodes data on its own) </a:t>
            </a:r>
            <a:endParaRPr lang="en-IN" sz="2800" dirty="0">
              <a:solidFill>
                <a:srgbClr val="FF0000"/>
              </a:solidFill>
            </a:endParaRPr>
          </a:p>
        </p:txBody>
      </p:sp>
      <p:sp>
        <p:nvSpPr>
          <p:cNvPr id="4" name="Slide Number Placeholder 3">
            <a:extLst>
              <a:ext uri="{FF2B5EF4-FFF2-40B4-BE49-F238E27FC236}">
                <a16:creationId xmlns:a16="http://schemas.microsoft.com/office/drawing/2014/main" id="{50BC4BE5-31FB-45E8-A238-4621B9DACA60}"/>
              </a:ext>
            </a:extLst>
          </p:cNvPr>
          <p:cNvSpPr>
            <a:spLocks noGrp="1"/>
          </p:cNvSpPr>
          <p:nvPr>
            <p:ph type="sldNum" sz="quarter" idx="12"/>
          </p:nvPr>
        </p:nvSpPr>
        <p:spPr/>
        <p:txBody>
          <a:bodyPr/>
          <a:lstStyle/>
          <a:p>
            <a:pPr>
              <a:defRPr/>
            </a:pPr>
            <a:fld id="{9AD681D7-8A59-4380-9311-10B86FF921AA}" type="slidenum">
              <a:rPr lang="en-US" altLang="zh-TW" smtClean="0"/>
              <a:pPr>
                <a:defRPr/>
              </a:pPr>
              <a:t>26</a:t>
            </a:fld>
            <a:endParaRPr lang="en-US" altLang="zh-TW"/>
          </a:p>
        </p:txBody>
      </p:sp>
      <p:sp>
        <p:nvSpPr>
          <p:cNvPr id="3" name="Content Placeholder 2">
            <a:extLst>
              <a:ext uri="{FF2B5EF4-FFF2-40B4-BE49-F238E27FC236}">
                <a16:creationId xmlns:a16="http://schemas.microsoft.com/office/drawing/2014/main" id="{4990028B-82B3-45C9-B8C7-A140D150D132}"/>
              </a:ext>
            </a:extLst>
          </p:cNvPr>
          <p:cNvSpPr>
            <a:spLocks noGrp="1"/>
          </p:cNvSpPr>
          <p:nvPr>
            <p:ph idx="1"/>
          </p:nvPr>
        </p:nvSpPr>
        <p:spPr>
          <a:xfrm>
            <a:off x="1117601" y="2362201"/>
            <a:ext cx="11074399" cy="4368799"/>
          </a:xfrm>
          <a:ln>
            <a:solidFill>
              <a:srgbClr val="000000"/>
            </a:solidFill>
          </a:ln>
        </p:spPr>
        <p:txBody>
          <a:bodyPr/>
          <a:lstStyle/>
          <a:p>
            <a:pPr marL="182563" indent="-182563">
              <a:buFont typeface="Arial" panose="020B0604020202020204" pitchFamily="34" charset="0"/>
              <a:buChar char="•"/>
            </a:pPr>
            <a:r>
              <a:rPr kumimoji="0" lang="en-US" sz="1800" dirty="0">
                <a:solidFill>
                  <a:srgbClr val="000000"/>
                </a:solidFill>
                <a:ea typeface="新細明體"/>
              </a:rPr>
              <a:t>Autoencoder is a </a:t>
            </a:r>
            <a:r>
              <a:rPr kumimoji="0" lang="en-US" sz="1800" b="1" dirty="0">
                <a:solidFill>
                  <a:srgbClr val="FF0000"/>
                </a:solidFill>
                <a:ea typeface="新細明體"/>
              </a:rPr>
              <a:t>feed forward neural network </a:t>
            </a:r>
            <a:r>
              <a:rPr kumimoji="0" lang="en-US" sz="1800" dirty="0">
                <a:solidFill>
                  <a:srgbClr val="000000"/>
                </a:solidFill>
                <a:ea typeface="新細明體"/>
              </a:rPr>
              <a:t>trained by using </a:t>
            </a:r>
            <a:r>
              <a:rPr kumimoji="0" lang="en-US" sz="1800" b="1" dirty="0">
                <a:solidFill>
                  <a:srgbClr val="FF0000"/>
                </a:solidFill>
                <a:ea typeface="新細明體"/>
              </a:rPr>
              <a:t>unsupervised learning</a:t>
            </a:r>
            <a:r>
              <a:rPr kumimoji="0" lang="en-US" sz="1800" dirty="0">
                <a:solidFill>
                  <a:srgbClr val="000000"/>
                </a:solidFill>
                <a:ea typeface="新細明體"/>
              </a:rPr>
              <a:t>.</a:t>
            </a:r>
          </a:p>
          <a:p>
            <a:pPr marL="182563" indent="-182563">
              <a:buFont typeface="Arial" panose="020B0604020202020204" pitchFamily="34" charset="0"/>
              <a:buChar char="•"/>
            </a:pPr>
            <a:r>
              <a:rPr kumimoji="0" lang="en-US" sz="1800" dirty="0">
                <a:solidFill>
                  <a:srgbClr val="000000"/>
                </a:solidFill>
                <a:ea typeface="新細明體"/>
              </a:rPr>
              <a:t>Neural networks trained to </a:t>
            </a:r>
            <a:r>
              <a:rPr kumimoji="0" lang="en-US" sz="1800" b="1" dirty="0">
                <a:solidFill>
                  <a:srgbClr val="000000"/>
                </a:solidFill>
                <a:ea typeface="新細明體"/>
              </a:rPr>
              <a:t>attempt to copy its input to its output.</a:t>
            </a:r>
          </a:p>
          <a:p>
            <a:pPr marL="182563" indent="-182563">
              <a:buFont typeface="Arial" panose="020B0604020202020204" pitchFamily="34" charset="0"/>
              <a:buChar char="•"/>
            </a:pPr>
            <a:r>
              <a:rPr kumimoji="0" lang="en-US" sz="1800" dirty="0">
                <a:solidFill>
                  <a:srgbClr val="000000"/>
                </a:solidFill>
                <a:ea typeface="新細明體"/>
              </a:rPr>
              <a:t>It’s a simple network that </a:t>
            </a:r>
            <a:r>
              <a:rPr kumimoji="0" lang="en-US" sz="1800" b="1" dirty="0">
                <a:solidFill>
                  <a:srgbClr val="000000"/>
                </a:solidFill>
                <a:ea typeface="新細明體"/>
              </a:rPr>
              <a:t>transforms inputs into outputs with minimum possible errors.</a:t>
            </a:r>
          </a:p>
          <a:p>
            <a:pPr marL="182563" indent="-182563">
              <a:buFont typeface="Arial" panose="020B0604020202020204" pitchFamily="34" charset="0"/>
              <a:buChar char="•"/>
            </a:pPr>
            <a:r>
              <a:rPr kumimoji="0" lang="en-US" sz="1800" dirty="0">
                <a:solidFill>
                  <a:srgbClr val="000000"/>
                </a:solidFill>
                <a:ea typeface="新細明體"/>
              </a:rPr>
              <a:t>Autoencoder is an </a:t>
            </a:r>
            <a:r>
              <a:rPr kumimoji="0" lang="en-US" sz="1800" b="1" dirty="0">
                <a:solidFill>
                  <a:srgbClr val="000000"/>
                </a:solidFill>
                <a:ea typeface="新細明體"/>
              </a:rPr>
              <a:t>unsupervised machine learning algorithm </a:t>
            </a:r>
            <a:r>
              <a:rPr kumimoji="0" lang="en-US" sz="1800" dirty="0">
                <a:solidFill>
                  <a:srgbClr val="000000"/>
                </a:solidFill>
                <a:ea typeface="新細明體"/>
              </a:rPr>
              <a:t>that </a:t>
            </a:r>
            <a:r>
              <a:rPr kumimoji="0" lang="en-US" sz="1800" b="1" dirty="0">
                <a:solidFill>
                  <a:srgbClr val="000000"/>
                </a:solidFill>
                <a:ea typeface="新細明體"/>
              </a:rPr>
              <a:t>applies back propagation setting target output values as its inputs.</a:t>
            </a:r>
          </a:p>
          <a:p>
            <a:pPr marL="541338" indent="-541338">
              <a:buNone/>
            </a:pPr>
            <a:r>
              <a:rPr kumimoji="0" lang="en-US" sz="1800" b="0" i="0" u="none" strike="noStrike" kern="1200" cap="none" spc="0" normalizeH="0" baseline="0" noProof="0" dirty="0">
                <a:ln>
                  <a:noFill/>
                </a:ln>
                <a:solidFill>
                  <a:srgbClr val="000000"/>
                </a:solidFill>
                <a:effectLst/>
                <a:uLnTx/>
                <a:uFillTx/>
                <a:ea typeface="新細明體"/>
                <a:cs typeface="+mn-cs"/>
              </a:rPr>
              <a:t>• It contain </a:t>
            </a:r>
            <a:r>
              <a:rPr kumimoji="0" lang="en-US" sz="1800" b="1" i="0" u="none" strike="noStrike" kern="1200" cap="none" spc="0" normalizeH="0" baseline="0" noProof="0" dirty="0">
                <a:ln>
                  <a:noFill/>
                </a:ln>
                <a:solidFill>
                  <a:srgbClr val="000000"/>
                </a:solidFill>
                <a:effectLst/>
                <a:uLnTx/>
                <a:uFillTx/>
                <a:ea typeface="新細明體"/>
                <a:cs typeface="+mn-cs"/>
              </a:rPr>
              <a:t>two parts</a:t>
            </a:r>
            <a:r>
              <a:rPr kumimoji="0" lang="en-US" sz="1800" b="0" i="0" u="none" strike="noStrike" kern="1200" cap="none" spc="0" normalizeH="0" baseline="0" noProof="0" dirty="0">
                <a:ln>
                  <a:noFill/>
                </a:ln>
                <a:solidFill>
                  <a:srgbClr val="000000"/>
                </a:solidFill>
                <a:effectLst/>
                <a:uLnTx/>
                <a:uFillTx/>
                <a:ea typeface="新細明體"/>
                <a:cs typeface="+mn-cs"/>
              </a:rPr>
              <a:t>:</a:t>
            </a:r>
            <a:br>
              <a:rPr kumimoji="0" lang="en-US" sz="1800" b="0" i="0" u="none" strike="noStrike" kern="1200" cap="none" spc="0" normalizeH="0" baseline="0" noProof="0" dirty="0">
                <a:ln>
                  <a:noFill/>
                </a:ln>
                <a:solidFill>
                  <a:srgbClr val="000000"/>
                </a:solidFill>
                <a:effectLst/>
                <a:uLnTx/>
                <a:uFillTx/>
                <a:ea typeface="新細明體"/>
                <a:cs typeface="+mn-cs"/>
              </a:rPr>
            </a:br>
            <a:r>
              <a:rPr kumimoji="0" lang="en-US" sz="1600" b="1" i="0" u="none" strike="noStrike" kern="1200" cap="none" spc="0" normalizeH="0" baseline="0" noProof="0" dirty="0">
                <a:ln>
                  <a:noFill/>
                </a:ln>
                <a:solidFill>
                  <a:srgbClr val="000000"/>
                </a:solidFill>
                <a:effectLst/>
                <a:uLnTx/>
                <a:uFillTx/>
                <a:ea typeface="新細明體"/>
                <a:cs typeface="+mn-cs"/>
              </a:rPr>
              <a:t>Encoder: </a:t>
            </a:r>
            <a:r>
              <a:rPr kumimoji="0" lang="en-US" sz="1600" b="0" i="0" u="none" strike="noStrike" kern="1200" cap="none" spc="0" normalizeH="0" baseline="0" noProof="0" dirty="0">
                <a:ln>
                  <a:noFill/>
                </a:ln>
                <a:solidFill>
                  <a:srgbClr val="000000"/>
                </a:solidFill>
                <a:effectLst/>
                <a:uLnTx/>
                <a:uFillTx/>
                <a:ea typeface="新細明體"/>
                <a:cs typeface="+mn-cs"/>
              </a:rPr>
              <a:t>map the input to a hidden representation. </a:t>
            </a:r>
            <a:r>
              <a:rPr kumimoji="1" lang="en-US" sz="1600" b="0" i="0" u="none" strike="noStrike" kern="1200" cap="none" spc="0" normalizeH="0" baseline="0" noProof="0" dirty="0">
                <a:ln>
                  <a:noFill/>
                </a:ln>
                <a:solidFill>
                  <a:srgbClr val="000000"/>
                </a:solidFill>
                <a:effectLst/>
                <a:uLnTx/>
                <a:uFillTx/>
                <a:ea typeface="PMingLiU" panose="02020500000000000000" pitchFamily="18" charset="-120"/>
                <a:cs typeface="+mn-cs"/>
              </a:rPr>
              <a:t>An encoder function </a:t>
            </a:r>
            <a:r>
              <a:rPr kumimoji="1" lang="en-US" sz="1600" b="1" i="1" u="none" strike="noStrike" kern="1200" cap="none" spc="0" normalizeH="0" baseline="0" noProof="0" dirty="0">
                <a:ln>
                  <a:noFill/>
                </a:ln>
                <a:solidFill>
                  <a:srgbClr val="000000"/>
                </a:solidFill>
                <a:effectLst/>
                <a:uLnTx/>
                <a:uFillTx/>
                <a:ea typeface="PMingLiU" panose="02020500000000000000" pitchFamily="18" charset="-120"/>
                <a:cs typeface="+mn-cs"/>
              </a:rPr>
              <a:t>h </a:t>
            </a:r>
            <a:r>
              <a:rPr kumimoji="1" lang="en-US" sz="1600" b="0" i="0" u="none" strike="noStrike" kern="1200" cap="none" spc="0" normalizeH="0" baseline="0" noProof="0" dirty="0">
                <a:ln>
                  <a:noFill/>
                </a:ln>
                <a:solidFill>
                  <a:srgbClr val="000000"/>
                </a:solidFill>
                <a:effectLst/>
                <a:uLnTx/>
                <a:uFillTx/>
                <a:ea typeface="PMingLiU" panose="02020500000000000000" pitchFamily="18" charset="-120"/>
                <a:cs typeface="+mn-cs"/>
              </a:rPr>
              <a:t>= </a:t>
            </a:r>
            <a:r>
              <a:rPr kumimoji="1" lang="en-US" sz="1600" b="0" i="1" u="none" strike="noStrike" kern="1200" cap="none" spc="0" normalizeH="0" baseline="0" noProof="0" dirty="0">
                <a:ln>
                  <a:noFill/>
                </a:ln>
                <a:solidFill>
                  <a:srgbClr val="000000"/>
                </a:solidFill>
                <a:effectLst/>
                <a:uLnTx/>
                <a:uFillTx/>
                <a:ea typeface="PMingLiU" panose="02020500000000000000" pitchFamily="18" charset="-120"/>
                <a:cs typeface="+mn-cs"/>
              </a:rPr>
              <a:t>f</a:t>
            </a:r>
            <a:r>
              <a:rPr kumimoji="1" lang="en-US" sz="1600" b="0" i="0" u="none" strike="noStrike" kern="1200" cap="none" spc="0" normalizeH="0" baseline="0" noProof="0" dirty="0">
                <a:ln>
                  <a:noFill/>
                </a:ln>
                <a:solidFill>
                  <a:srgbClr val="000000"/>
                </a:solidFill>
                <a:effectLst/>
                <a:uLnTx/>
                <a:uFillTx/>
                <a:ea typeface="PMingLiU" panose="02020500000000000000" pitchFamily="18" charset="-120"/>
                <a:cs typeface="+mn-cs"/>
              </a:rPr>
              <a:t>(</a:t>
            </a:r>
            <a:r>
              <a:rPr kumimoji="1" lang="en-US" sz="1600" b="1" i="1" u="none" strike="noStrike" kern="1200" cap="none" spc="0" normalizeH="0" baseline="0" noProof="0" dirty="0">
                <a:ln>
                  <a:noFill/>
                </a:ln>
                <a:solidFill>
                  <a:srgbClr val="000000"/>
                </a:solidFill>
                <a:effectLst/>
                <a:uLnTx/>
                <a:uFillTx/>
                <a:ea typeface="PMingLiU" panose="02020500000000000000" pitchFamily="18" charset="-120"/>
                <a:cs typeface="+mn-cs"/>
              </a:rPr>
              <a:t>x</a:t>
            </a:r>
            <a:r>
              <a:rPr kumimoji="1" lang="en-US" sz="1600" b="0" i="0" u="none" strike="noStrike" kern="1200" cap="none" spc="0" normalizeH="0" baseline="0" noProof="0" dirty="0">
                <a:ln>
                  <a:noFill/>
                </a:ln>
                <a:solidFill>
                  <a:srgbClr val="000000"/>
                </a:solidFill>
                <a:effectLst/>
                <a:uLnTx/>
                <a:uFillTx/>
                <a:ea typeface="PMingLiU" panose="02020500000000000000" pitchFamily="18" charset="-120"/>
                <a:cs typeface="+mn-cs"/>
              </a:rPr>
              <a:t>)</a:t>
            </a:r>
            <a:br>
              <a:rPr kumimoji="0" lang="en-US" sz="1600" b="0" i="0" u="none" strike="noStrike" kern="1200" cap="none" spc="0" normalizeH="0" baseline="0" noProof="0" dirty="0">
                <a:ln>
                  <a:noFill/>
                </a:ln>
                <a:solidFill>
                  <a:srgbClr val="000000"/>
                </a:solidFill>
                <a:effectLst/>
                <a:uLnTx/>
                <a:uFillTx/>
                <a:ea typeface="新細明體"/>
                <a:cs typeface="+mn-cs"/>
              </a:rPr>
            </a:br>
            <a:r>
              <a:rPr kumimoji="0" lang="en-US" sz="1600" b="1" i="0" u="none" strike="noStrike" kern="1200" cap="none" spc="0" normalizeH="0" baseline="0" noProof="0" dirty="0">
                <a:ln>
                  <a:noFill/>
                </a:ln>
                <a:solidFill>
                  <a:srgbClr val="000000"/>
                </a:solidFill>
                <a:effectLst/>
                <a:uLnTx/>
                <a:uFillTx/>
                <a:ea typeface="新細明體"/>
                <a:cs typeface="+mn-cs"/>
              </a:rPr>
              <a:t>Decoder: </a:t>
            </a:r>
            <a:r>
              <a:rPr kumimoji="0" lang="en-US" sz="1600" b="0" i="0" u="none" strike="noStrike" kern="1200" cap="none" spc="0" normalizeH="0" baseline="0" noProof="0" dirty="0">
                <a:ln>
                  <a:noFill/>
                </a:ln>
                <a:solidFill>
                  <a:srgbClr val="000000"/>
                </a:solidFill>
                <a:effectLst/>
                <a:uLnTx/>
                <a:uFillTx/>
                <a:ea typeface="新細明體"/>
                <a:cs typeface="+mn-cs"/>
              </a:rPr>
              <a:t>map the hidden representation to the output (reconstructs the input). The decoder function </a:t>
            </a:r>
            <a:r>
              <a:rPr lang="en-US" sz="1600" b="1" i="1" dirty="0">
                <a:solidFill>
                  <a:srgbClr val="000000"/>
                </a:solidFill>
                <a:effectLst/>
              </a:rPr>
              <a:t>r </a:t>
            </a:r>
            <a:r>
              <a:rPr lang="en-US" sz="1600" b="0" i="0" dirty="0">
                <a:solidFill>
                  <a:srgbClr val="000000"/>
                </a:solidFill>
                <a:effectLst/>
              </a:rPr>
              <a:t>= </a:t>
            </a:r>
            <a:r>
              <a:rPr lang="en-US" sz="1600" b="0" i="1" dirty="0">
                <a:solidFill>
                  <a:srgbClr val="000000"/>
                </a:solidFill>
                <a:effectLst/>
              </a:rPr>
              <a:t>g</a:t>
            </a:r>
            <a:r>
              <a:rPr lang="en-US" sz="1600" b="0" i="0" dirty="0">
                <a:solidFill>
                  <a:srgbClr val="000000"/>
                </a:solidFill>
                <a:effectLst/>
              </a:rPr>
              <a:t>(</a:t>
            </a:r>
            <a:r>
              <a:rPr lang="en-US" sz="1600" b="1" i="1" dirty="0">
                <a:solidFill>
                  <a:srgbClr val="000000"/>
                </a:solidFill>
                <a:effectLst/>
              </a:rPr>
              <a:t>h</a:t>
            </a:r>
            <a:r>
              <a:rPr lang="en-US" sz="1600" b="0" i="0" dirty="0">
                <a:solidFill>
                  <a:srgbClr val="000000"/>
                </a:solidFill>
                <a:effectLst/>
              </a:rPr>
              <a:t>).</a:t>
            </a:r>
          </a:p>
          <a:p>
            <a:pPr marL="0" indent="0">
              <a:buNone/>
            </a:pPr>
            <a:endParaRPr lang="en-US" sz="1800" dirty="0">
              <a:solidFill>
                <a:srgbClr val="000000"/>
              </a:solidFill>
            </a:endParaRPr>
          </a:p>
          <a:p>
            <a:endParaRPr lang="en-US" sz="1800" b="0" i="0" dirty="0">
              <a:solidFill>
                <a:srgbClr val="000000"/>
              </a:solidFill>
              <a:effectLst/>
              <a:latin typeface="SFRM1095"/>
            </a:endParaRPr>
          </a:p>
        </p:txBody>
      </p:sp>
      <p:sp>
        <p:nvSpPr>
          <p:cNvPr id="9" name="TextBox 8">
            <a:extLst>
              <a:ext uri="{FF2B5EF4-FFF2-40B4-BE49-F238E27FC236}">
                <a16:creationId xmlns:a16="http://schemas.microsoft.com/office/drawing/2014/main" id="{CD20786C-0391-4A02-B696-91F4D09C9362}"/>
              </a:ext>
            </a:extLst>
          </p:cNvPr>
          <p:cNvSpPr txBox="1"/>
          <p:nvPr/>
        </p:nvSpPr>
        <p:spPr>
          <a:xfrm>
            <a:off x="5666204" y="6361668"/>
            <a:ext cx="1762627" cy="369332"/>
          </a:xfrm>
          <a:prstGeom prst="rect">
            <a:avLst/>
          </a:prstGeom>
          <a:noFill/>
        </p:spPr>
        <p:txBody>
          <a:bodyPr wrap="square">
            <a:spAutoFit/>
          </a:bodyPr>
          <a:lstStyle/>
          <a:p>
            <a:r>
              <a:rPr kumimoji="1" lang="en-US" sz="1800" b="0" i="0" u="none" strike="noStrike" kern="1200" cap="none" spc="0" normalizeH="0" baseline="0" noProof="0" dirty="0">
                <a:ln>
                  <a:noFill/>
                </a:ln>
                <a:solidFill>
                  <a:srgbClr val="000000"/>
                </a:solidFill>
                <a:effectLst/>
                <a:uLnTx/>
                <a:uFillTx/>
                <a:latin typeface="SFRM1095"/>
                <a:ea typeface="PMingLiU" panose="02020500000000000000" pitchFamily="18" charset="-120"/>
                <a:cs typeface="+mn-cs"/>
              </a:rPr>
              <a:t>Architecture</a:t>
            </a:r>
            <a:endParaRPr lang="en-IN" dirty="0"/>
          </a:p>
        </p:txBody>
      </p:sp>
      <p:pic>
        <p:nvPicPr>
          <p:cNvPr id="8" name="Picture 7">
            <a:extLst>
              <a:ext uri="{FF2B5EF4-FFF2-40B4-BE49-F238E27FC236}">
                <a16:creationId xmlns:a16="http://schemas.microsoft.com/office/drawing/2014/main" id="{67BF7988-966D-463F-A661-50905148DB0A}"/>
              </a:ext>
            </a:extLst>
          </p:cNvPr>
          <p:cNvPicPr>
            <a:picLocks noChangeAspect="1"/>
          </p:cNvPicPr>
          <p:nvPr/>
        </p:nvPicPr>
        <p:blipFill rotWithShape="1">
          <a:blip r:embed="rId2"/>
          <a:srcRect l="2626" t="6017" r="4057" b="5413"/>
          <a:stretch/>
        </p:blipFill>
        <p:spPr>
          <a:xfrm>
            <a:off x="4915568" y="4783014"/>
            <a:ext cx="2767263" cy="1578653"/>
          </a:xfrm>
          <a:prstGeom prst="rect">
            <a:avLst/>
          </a:prstGeom>
        </p:spPr>
      </p:pic>
    </p:spTree>
    <p:extLst>
      <p:ext uri="{BB962C8B-B14F-4D97-AF65-F5344CB8AC3E}">
        <p14:creationId xmlns:p14="http://schemas.microsoft.com/office/powerpoint/2010/main" val="902932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0" name="Slide Number Placeholder 3">
            <a:extLst>
              <a:ext uri="{FF2B5EF4-FFF2-40B4-BE49-F238E27FC236}">
                <a16:creationId xmlns:a16="http://schemas.microsoft.com/office/drawing/2014/main" id="{99090D8F-3E2B-45ED-8479-E8ABC0EC5B3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A6A8D3BF-185F-45D5-AC29-2EC0C8DF4E2B}" type="slidenum">
              <a:rPr kumimoji="0" lang="en-US" altLang="zh-TW" sz="2600">
                <a:solidFill>
                  <a:srgbClr val="FFFFFF"/>
                </a:solidFill>
              </a:rPr>
              <a:pPr fontAlgn="base">
                <a:spcBef>
                  <a:spcPct val="0"/>
                </a:spcBef>
                <a:spcAft>
                  <a:spcPct val="0"/>
                </a:spcAft>
                <a:buClrTx/>
                <a:buSzTx/>
                <a:buNone/>
              </a:pPr>
              <a:t>27</a:t>
            </a:fld>
            <a:endParaRPr kumimoji="0" lang="en-US" altLang="zh-TW" sz="2600">
              <a:solidFill>
                <a:srgbClr val="FFFFFF"/>
              </a:solidFill>
            </a:endParaRPr>
          </a:p>
        </p:txBody>
      </p:sp>
      <p:sp>
        <p:nvSpPr>
          <p:cNvPr id="7" name="Content Placeholder 2">
            <a:extLst>
              <a:ext uri="{FF2B5EF4-FFF2-40B4-BE49-F238E27FC236}">
                <a16:creationId xmlns:a16="http://schemas.microsoft.com/office/drawing/2014/main" id="{26DA7E37-B9B7-41B8-9EE1-0089E51D1C62}"/>
              </a:ext>
            </a:extLst>
          </p:cNvPr>
          <p:cNvSpPr txBox="1">
            <a:spLocks/>
          </p:cNvSpPr>
          <p:nvPr/>
        </p:nvSpPr>
        <p:spPr>
          <a:xfrm>
            <a:off x="1176421" y="2379662"/>
            <a:ext cx="10759016" cy="4351338"/>
          </a:xfrm>
          <a:prstGeom prst="rect">
            <a:avLst/>
          </a:prstGeom>
          <a:ln>
            <a:solidFill>
              <a:srgbClr val="0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138" marR="0" lvl="0" indent="-84138" defTabSz="914400" eaLnBrk="0" fontAlgn="base" latinLnBrk="0" hangingPunct="0">
              <a:lnSpc>
                <a:spcPct val="90000"/>
              </a:lnSpc>
              <a:spcBef>
                <a:spcPct val="20000"/>
              </a:spcBef>
              <a:spcAft>
                <a:spcPct val="0"/>
              </a:spcAft>
              <a:buClr>
                <a:schemeClr val="tx1"/>
              </a:buClr>
              <a:buSzPct val="75000"/>
              <a:tabLst>
                <a:tab pos="180975" algn="l"/>
              </a:tabLst>
              <a:defRPr/>
            </a:pPr>
            <a:r>
              <a:rPr lang="en-US" sz="1800" b="1" dirty="0">
                <a:solidFill>
                  <a:srgbClr val="000000"/>
                </a:solidFill>
                <a:ea typeface="新細明體"/>
              </a:rPr>
              <a:t>Encoder:  Compress input </a:t>
            </a:r>
            <a:r>
              <a:rPr lang="en-US" sz="1800" dirty="0">
                <a:solidFill>
                  <a:srgbClr val="000000"/>
                </a:solidFill>
                <a:ea typeface="新細明體"/>
              </a:rPr>
              <a:t>into a </a:t>
            </a:r>
            <a:r>
              <a:rPr lang="en-US" sz="1800" b="1" dirty="0">
                <a:solidFill>
                  <a:srgbClr val="000000"/>
                </a:solidFill>
                <a:ea typeface="新細明體"/>
              </a:rPr>
              <a:t>latent-space</a:t>
            </a:r>
            <a:r>
              <a:rPr lang="en-US" sz="1800" dirty="0">
                <a:solidFill>
                  <a:srgbClr val="000000"/>
                </a:solidFill>
                <a:ea typeface="新細明體"/>
              </a:rPr>
              <a:t> of usually </a:t>
            </a:r>
            <a:r>
              <a:rPr lang="en-US" sz="1800" b="1" dirty="0">
                <a:solidFill>
                  <a:srgbClr val="000000"/>
                </a:solidFill>
                <a:ea typeface="新細明體"/>
              </a:rPr>
              <a:t>smaller dimension.  h = f(x)</a:t>
            </a:r>
          </a:p>
          <a:p>
            <a:pPr marL="84138" marR="0" lvl="0" indent="-84138" defTabSz="914400" eaLnBrk="0" fontAlgn="base" latinLnBrk="0" hangingPunct="0">
              <a:lnSpc>
                <a:spcPct val="90000"/>
              </a:lnSpc>
              <a:spcBef>
                <a:spcPct val="20000"/>
              </a:spcBef>
              <a:spcAft>
                <a:spcPct val="0"/>
              </a:spcAft>
              <a:buClr>
                <a:schemeClr val="tx1"/>
              </a:buClr>
              <a:buSzPct val="75000"/>
              <a:tabLst>
                <a:tab pos="180975" algn="l"/>
              </a:tabLst>
              <a:defRPr/>
            </a:pPr>
            <a:r>
              <a:rPr lang="en-US" sz="1800" b="1" dirty="0">
                <a:solidFill>
                  <a:srgbClr val="000000"/>
                </a:solidFill>
                <a:ea typeface="新細明體"/>
              </a:rPr>
              <a:t>Decoder: Reconstruct input from the latent space</a:t>
            </a:r>
            <a:r>
              <a:rPr lang="en-US" sz="1800" dirty="0">
                <a:solidFill>
                  <a:srgbClr val="000000"/>
                </a:solidFill>
                <a:ea typeface="新細明體"/>
              </a:rPr>
              <a:t>.   </a:t>
            </a:r>
            <a:r>
              <a:rPr lang="en-US" sz="1800" b="1" dirty="0">
                <a:solidFill>
                  <a:srgbClr val="000000"/>
                </a:solidFill>
                <a:ea typeface="新細明體"/>
              </a:rPr>
              <a:t>r = g(f(x)) </a:t>
            </a:r>
            <a:r>
              <a:rPr lang="en-US" sz="1800" dirty="0">
                <a:solidFill>
                  <a:srgbClr val="000000"/>
                </a:solidFill>
                <a:ea typeface="新細明體"/>
              </a:rPr>
              <a:t>with </a:t>
            </a:r>
            <a:r>
              <a:rPr lang="en-US" sz="1800" b="1" dirty="0">
                <a:solidFill>
                  <a:srgbClr val="000000"/>
                </a:solidFill>
                <a:ea typeface="新細明體"/>
              </a:rPr>
              <a:t>r as close to x as possible</a:t>
            </a:r>
          </a:p>
        </p:txBody>
      </p:sp>
      <p:sp>
        <p:nvSpPr>
          <p:cNvPr id="3" name="Title 2">
            <a:extLst>
              <a:ext uri="{FF2B5EF4-FFF2-40B4-BE49-F238E27FC236}">
                <a16:creationId xmlns:a16="http://schemas.microsoft.com/office/drawing/2014/main" id="{B447038E-1331-41F4-A815-31C6B42C7F43}"/>
              </a:ext>
            </a:extLst>
          </p:cNvPr>
          <p:cNvSpPr>
            <a:spLocks noGrp="1"/>
          </p:cNvSpPr>
          <p:nvPr>
            <p:ph type="title"/>
          </p:nvPr>
        </p:nvSpPr>
        <p:spPr/>
        <p:txBody>
          <a:bodyPr/>
          <a:lstStyle/>
          <a:p>
            <a:r>
              <a:rPr lang="en-US" altLang="zh-TW" sz="3600" dirty="0"/>
              <a:t>Autoencoder</a:t>
            </a:r>
            <a:endParaRPr lang="en-IN" dirty="0"/>
          </a:p>
        </p:txBody>
      </p:sp>
      <p:pic>
        <p:nvPicPr>
          <p:cNvPr id="10" name="Picture 2" descr="https://cdn-images-1.medium.com/max/1600/1*V_YtxTFUqDrmmu2JqMZ-rA.png">
            <a:extLst>
              <a:ext uri="{FF2B5EF4-FFF2-40B4-BE49-F238E27FC236}">
                <a16:creationId xmlns:a16="http://schemas.microsoft.com/office/drawing/2014/main" id="{21132498-79C0-49B2-B398-6293E0A1F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579" y="3557587"/>
            <a:ext cx="9144000" cy="22494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355C31-C33C-BBDA-B2F9-E9B8FE17D498}"/>
              </a:ext>
            </a:extLst>
          </p:cNvPr>
          <p:cNvSpPr txBox="1"/>
          <p:nvPr/>
        </p:nvSpPr>
        <p:spPr>
          <a:xfrm>
            <a:off x="1292665" y="6096000"/>
            <a:ext cx="6852529" cy="584775"/>
          </a:xfrm>
          <a:prstGeom prst="rect">
            <a:avLst/>
          </a:prstGeom>
          <a:noFill/>
          <a:ln>
            <a:solidFill>
              <a:schemeClr val="tx1"/>
            </a:solidFill>
          </a:ln>
        </p:spPr>
        <p:txBody>
          <a:bodyPr wrap="square" rtlCol="0">
            <a:spAutoFit/>
          </a:bodyPr>
          <a:lstStyle/>
          <a:p>
            <a:r>
              <a:rPr lang="en-IN" sz="1600" b="1" dirty="0"/>
              <a:t>For image of size m*n---- size of input vector (m*n+1) [1 for bias], size of hidden layer (required compressed size), size of output (m*n).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F3EDF-3869-4970-9C77-FF69BFEFF9DB}"/>
              </a:ext>
            </a:extLst>
          </p:cNvPr>
          <p:cNvSpPr>
            <a:spLocks noGrp="1"/>
          </p:cNvSpPr>
          <p:nvPr>
            <p:ph type="title"/>
          </p:nvPr>
        </p:nvSpPr>
        <p:spPr/>
        <p:txBody>
          <a:bodyPr/>
          <a:lstStyle/>
          <a:p>
            <a:r>
              <a:rPr lang="en-US" altLang="zh-TW" sz="3600" dirty="0"/>
              <a:t>Autoencoder</a:t>
            </a:r>
            <a:endParaRPr lang="en-IN" dirty="0"/>
          </a:p>
        </p:txBody>
      </p:sp>
      <p:sp>
        <p:nvSpPr>
          <p:cNvPr id="3" name="Content Placeholder 2">
            <a:extLst>
              <a:ext uri="{FF2B5EF4-FFF2-40B4-BE49-F238E27FC236}">
                <a16:creationId xmlns:a16="http://schemas.microsoft.com/office/drawing/2014/main" id="{C3A55FA8-B732-4BBD-AF2C-9AFE54613D00}"/>
              </a:ext>
            </a:extLst>
          </p:cNvPr>
          <p:cNvSpPr>
            <a:spLocks noGrp="1"/>
          </p:cNvSpPr>
          <p:nvPr>
            <p:ph idx="1"/>
          </p:nvPr>
        </p:nvSpPr>
        <p:spPr>
          <a:xfrm>
            <a:off x="1117600" y="2362201"/>
            <a:ext cx="11074399" cy="4495799"/>
          </a:xfrm>
          <a:ln>
            <a:solidFill>
              <a:srgbClr val="000000"/>
            </a:solidFill>
          </a:ln>
        </p:spPr>
        <p:txBody>
          <a:bodyPr/>
          <a:lstStyle/>
          <a:p>
            <a:pPr marL="84138" indent="-84138">
              <a:buFont typeface="Arial" panose="020B0604020202020204" pitchFamily="34" charset="0"/>
              <a:buChar char="•"/>
              <a:tabLst>
                <a:tab pos="180975" algn="l"/>
              </a:tabLst>
            </a:pPr>
            <a:r>
              <a:rPr kumimoji="0" lang="en-IN" sz="1800" dirty="0">
                <a:solidFill>
                  <a:srgbClr val="000000"/>
                </a:solidFill>
                <a:ea typeface="新細明體"/>
              </a:rPr>
              <a:t>It basically has </a:t>
            </a:r>
            <a:r>
              <a:rPr kumimoji="0" lang="en-IN" sz="1800" b="1" dirty="0">
                <a:solidFill>
                  <a:srgbClr val="000000"/>
                </a:solidFill>
                <a:ea typeface="新細明體"/>
              </a:rPr>
              <a:t>three layers</a:t>
            </a:r>
            <a:r>
              <a:rPr kumimoji="0" lang="en-IN" sz="1800" dirty="0">
                <a:solidFill>
                  <a:srgbClr val="000000"/>
                </a:solidFill>
                <a:ea typeface="新細明體"/>
              </a:rPr>
              <a:t>:  </a:t>
            </a:r>
            <a:r>
              <a:rPr kumimoji="0" lang="en-IN" sz="1800" b="1" dirty="0">
                <a:solidFill>
                  <a:srgbClr val="000000"/>
                </a:solidFill>
                <a:ea typeface="新細明體"/>
              </a:rPr>
              <a:t>input, hidden (Bottleneck) and output layer</a:t>
            </a:r>
          </a:p>
          <a:p>
            <a:pPr marL="84138" indent="-84138">
              <a:buFont typeface="Arial" panose="020B0604020202020204" pitchFamily="34" charset="0"/>
              <a:buChar char="•"/>
              <a:tabLst>
                <a:tab pos="180975" algn="l"/>
              </a:tabLst>
            </a:pPr>
            <a:endParaRPr kumimoji="0" lang="en-IN" sz="1800" dirty="0">
              <a:solidFill>
                <a:srgbClr val="000000"/>
              </a:solidFill>
              <a:ea typeface="新細明體"/>
            </a:endParaRPr>
          </a:p>
          <a:p>
            <a:pPr marL="84138" indent="-84138">
              <a:buFont typeface="Arial" panose="020B0604020202020204" pitchFamily="34" charset="0"/>
              <a:buChar char="•"/>
              <a:tabLst>
                <a:tab pos="180975" algn="l"/>
              </a:tabLst>
            </a:pPr>
            <a:endParaRPr kumimoji="0" lang="en-IN" sz="1800" dirty="0">
              <a:solidFill>
                <a:srgbClr val="000000"/>
              </a:solidFill>
              <a:ea typeface="新細明體"/>
            </a:endParaRPr>
          </a:p>
          <a:p>
            <a:pPr marL="84138" indent="-84138">
              <a:buFont typeface="Arial" panose="020B0604020202020204" pitchFamily="34" charset="0"/>
              <a:buChar char="•"/>
              <a:tabLst>
                <a:tab pos="180975" algn="l"/>
              </a:tabLst>
            </a:pPr>
            <a:endParaRPr kumimoji="0" lang="en-IN" sz="1800" dirty="0">
              <a:solidFill>
                <a:srgbClr val="000000"/>
              </a:solidFill>
              <a:ea typeface="新細明體"/>
            </a:endParaRPr>
          </a:p>
          <a:p>
            <a:pPr marL="84138" indent="-84138">
              <a:buFont typeface="Arial" panose="020B0604020202020204" pitchFamily="34" charset="0"/>
              <a:buChar char="•"/>
              <a:tabLst>
                <a:tab pos="180975" algn="l"/>
              </a:tabLst>
            </a:pPr>
            <a:endParaRPr kumimoji="0" lang="en-IN" sz="1800" dirty="0">
              <a:solidFill>
                <a:srgbClr val="000000"/>
              </a:solidFill>
              <a:ea typeface="新細明體"/>
            </a:endParaRPr>
          </a:p>
          <a:p>
            <a:pPr marL="84138" indent="-84138">
              <a:buFont typeface="Arial" panose="020B0604020202020204" pitchFamily="34" charset="0"/>
              <a:buChar char="•"/>
              <a:tabLst>
                <a:tab pos="180975" algn="l"/>
              </a:tabLst>
            </a:pPr>
            <a:endParaRPr kumimoji="0" lang="en-IN" sz="1800" dirty="0">
              <a:solidFill>
                <a:srgbClr val="000000"/>
              </a:solidFill>
              <a:ea typeface="新細明體"/>
            </a:endParaRPr>
          </a:p>
          <a:p>
            <a:pPr marL="84138" indent="-84138">
              <a:buFont typeface="Arial" panose="020B0604020202020204" pitchFamily="34" charset="0"/>
              <a:buChar char="•"/>
              <a:tabLst>
                <a:tab pos="180975" algn="l"/>
              </a:tabLst>
            </a:pPr>
            <a:endParaRPr kumimoji="0" lang="en-IN" sz="1800" dirty="0">
              <a:solidFill>
                <a:srgbClr val="000000"/>
              </a:solidFill>
              <a:ea typeface="新細明體"/>
            </a:endParaRPr>
          </a:p>
          <a:p>
            <a:pPr>
              <a:buAutoNum type="alphaUcParenBoth"/>
              <a:tabLst>
                <a:tab pos="180975" algn="l"/>
              </a:tabLst>
            </a:pPr>
            <a:r>
              <a:rPr kumimoji="0" lang="en-IN" sz="1700" b="1" dirty="0">
                <a:solidFill>
                  <a:srgbClr val="000000"/>
                </a:solidFill>
                <a:ea typeface="新細明體"/>
              </a:rPr>
              <a:t>Autoencoder should be sensitive enough to a input to provide faithful reconstruction of the input and</a:t>
            </a:r>
          </a:p>
          <a:p>
            <a:pPr>
              <a:buAutoNum type="alphaUcParenBoth"/>
              <a:tabLst>
                <a:tab pos="180975" algn="l"/>
              </a:tabLst>
            </a:pPr>
            <a:r>
              <a:rPr kumimoji="0" lang="en-IN" sz="1700" b="1" dirty="0">
                <a:solidFill>
                  <a:srgbClr val="000000"/>
                </a:solidFill>
                <a:ea typeface="新細明體"/>
              </a:rPr>
              <a:t> not sensitive enough to memorise or overfit the training data. </a:t>
            </a:r>
          </a:p>
          <a:p>
            <a:pPr marL="84138" indent="-84138">
              <a:buFont typeface="Arial" panose="020B0604020202020204" pitchFamily="34" charset="0"/>
              <a:buChar char="•"/>
              <a:tabLst>
                <a:tab pos="180975" algn="l"/>
              </a:tabLst>
            </a:pPr>
            <a:r>
              <a:rPr kumimoji="0" lang="en-IN" sz="1800" dirty="0">
                <a:solidFill>
                  <a:srgbClr val="000000"/>
                </a:solidFill>
                <a:ea typeface="新細明體"/>
              </a:rPr>
              <a:t>To satisfy both these conflicting requirements </a:t>
            </a:r>
            <a:r>
              <a:rPr kumimoji="0" lang="en-IN" sz="1800" b="1" dirty="0">
                <a:solidFill>
                  <a:srgbClr val="000000"/>
                </a:solidFill>
                <a:ea typeface="新細明體"/>
              </a:rPr>
              <a:t>Loss function can be designed properly. </a:t>
            </a:r>
          </a:p>
          <a:p>
            <a:pPr marL="84138" indent="-84138">
              <a:buFont typeface="Arial" panose="020B0604020202020204" pitchFamily="34" charset="0"/>
              <a:buChar char="•"/>
              <a:tabLst>
                <a:tab pos="180975" algn="l"/>
              </a:tabLst>
            </a:pPr>
            <a:r>
              <a:rPr kumimoji="0" lang="en-IN" sz="1800" b="1" dirty="0">
                <a:solidFill>
                  <a:srgbClr val="000000"/>
                </a:solidFill>
                <a:ea typeface="新細明體"/>
              </a:rPr>
              <a:t>Loss function = L(X, X’) + </a:t>
            </a:r>
            <a:r>
              <a:rPr kumimoji="0" lang="en-IN" sz="1800" b="1" dirty="0" err="1">
                <a:solidFill>
                  <a:srgbClr val="000000"/>
                </a:solidFill>
                <a:ea typeface="新細明體"/>
              </a:rPr>
              <a:t>Regularizer</a:t>
            </a:r>
            <a:endParaRPr kumimoji="0" lang="en-IN" sz="1800" b="1" dirty="0">
              <a:solidFill>
                <a:srgbClr val="000000"/>
              </a:solidFill>
              <a:ea typeface="新細明體"/>
            </a:endParaRPr>
          </a:p>
          <a:p>
            <a:pPr marL="84138" indent="-84138">
              <a:buFont typeface="Arial" panose="020B0604020202020204" pitchFamily="34" charset="0"/>
              <a:buChar char="•"/>
              <a:tabLst>
                <a:tab pos="180975" algn="l"/>
              </a:tabLst>
            </a:pPr>
            <a:r>
              <a:rPr kumimoji="0" lang="en-IN" sz="1800" dirty="0">
                <a:solidFill>
                  <a:srgbClr val="000000"/>
                </a:solidFill>
                <a:ea typeface="新細明體"/>
              </a:rPr>
              <a:t>  </a:t>
            </a:r>
            <a:r>
              <a:rPr kumimoji="0" lang="en-IN" sz="1800" b="1" dirty="0">
                <a:solidFill>
                  <a:srgbClr val="000000"/>
                </a:solidFill>
                <a:ea typeface="新細明體"/>
              </a:rPr>
              <a:t>1st term is used for minimisation of error. </a:t>
            </a:r>
            <a:r>
              <a:rPr kumimoji="0" lang="en-IN" sz="1800" dirty="0">
                <a:solidFill>
                  <a:srgbClr val="000000"/>
                </a:solidFill>
                <a:ea typeface="新細明體"/>
              </a:rPr>
              <a:t>It takes care of faithful reconstruction of input (A).</a:t>
            </a:r>
          </a:p>
          <a:p>
            <a:pPr marL="84138" indent="-84138">
              <a:buFont typeface="Arial" panose="020B0604020202020204" pitchFamily="34" charset="0"/>
              <a:buChar char="•"/>
              <a:tabLst>
                <a:tab pos="180975" algn="l"/>
              </a:tabLst>
            </a:pPr>
            <a:r>
              <a:rPr kumimoji="0" lang="en-IN" sz="1800" dirty="0">
                <a:solidFill>
                  <a:srgbClr val="000000"/>
                </a:solidFill>
                <a:ea typeface="新細明體"/>
              </a:rPr>
              <a:t> </a:t>
            </a:r>
            <a:r>
              <a:rPr kumimoji="0" lang="en-IN" sz="1800" b="1" dirty="0">
                <a:solidFill>
                  <a:srgbClr val="000000"/>
                </a:solidFill>
                <a:ea typeface="新細明體"/>
              </a:rPr>
              <a:t>2</a:t>
            </a:r>
            <a:r>
              <a:rPr kumimoji="0" lang="en-IN" sz="1800" b="1" baseline="30000" dirty="0">
                <a:solidFill>
                  <a:srgbClr val="000000"/>
                </a:solidFill>
                <a:ea typeface="新細明體"/>
              </a:rPr>
              <a:t>nd</a:t>
            </a:r>
            <a:r>
              <a:rPr kumimoji="0" lang="en-IN" sz="1800" b="1" dirty="0">
                <a:solidFill>
                  <a:srgbClr val="000000"/>
                </a:solidFill>
                <a:ea typeface="新細明體"/>
              </a:rPr>
              <a:t> term takes care of part B..  </a:t>
            </a:r>
          </a:p>
        </p:txBody>
      </p:sp>
      <p:sp>
        <p:nvSpPr>
          <p:cNvPr id="4" name="Slide Number Placeholder 3">
            <a:extLst>
              <a:ext uri="{FF2B5EF4-FFF2-40B4-BE49-F238E27FC236}">
                <a16:creationId xmlns:a16="http://schemas.microsoft.com/office/drawing/2014/main" id="{DCF7BF21-431C-47E3-9C63-97CF5DF09ED0}"/>
              </a:ext>
            </a:extLst>
          </p:cNvPr>
          <p:cNvSpPr>
            <a:spLocks noGrp="1"/>
          </p:cNvSpPr>
          <p:nvPr>
            <p:ph type="sldNum" sz="quarter" idx="12"/>
          </p:nvPr>
        </p:nvSpPr>
        <p:spPr/>
        <p:txBody>
          <a:bodyPr/>
          <a:lstStyle/>
          <a:p>
            <a:pPr>
              <a:defRPr/>
            </a:pPr>
            <a:fld id="{9AD681D7-8A59-4380-9311-10B86FF921AA}" type="slidenum">
              <a:rPr lang="en-US" altLang="zh-TW" smtClean="0"/>
              <a:pPr>
                <a:defRPr/>
              </a:pPr>
              <a:t>28</a:t>
            </a:fld>
            <a:endParaRPr lang="en-US" altLang="zh-TW"/>
          </a:p>
        </p:txBody>
      </p:sp>
      <p:pic>
        <p:nvPicPr>
          <p:cNvPr id="6" name="Picture 5">
            <a:extLst>
              <a:ext uri="{FF2B5EF4-FFF2-40B4-BE49-F238E27FC236}">
                <a16:creationId xmlns:a16="http://schemas.microsoft.com/office/drawing/2014/main" id="{44B5833E-38F2-4470-ACD9-FB4115ED2C3B}"/>
              </a:ext>
            </a:extLst>
          </p:cNvPr>
          <p:cNvPicPr>
            <a:picLocks noChangeAspect="1"/>
          </p:cNvPicPr>
          <p:nvPr/>
        </p:nvPicPr>
        <p:blipFill>
          <a:blip r:embed="rId2"/>
          <a:stretch>
            <a:fillRect/>
          </a:stretch>
        </p:blipFill>
        <p:spPr>
          <a:xfrm>
            <a:off x="2954421" y="2719910"/>
            <a:ext cx="6689558" cy="1823955"/>
          </a:xfrm>
          <a:prstGeom prst="rect">
            <a:avLst/>
          </a:prstGeom>
        </p:spPr>
      </p:pic>
      <p:sp>
        <p:nvSpPr>
          <p:cNvPr id="8" name="TextBox 7">
            <a:extLst>
              <a:ext uri="{FF2B5EF4-FFF2-40B4-BE49-F238E27FC236}">
                <a16:creationId xmlns:a16="http://schemas.microsoft.com/office/drawing/2014/main" id="{5675E024-040E-4EFB-AF25-A8B2EE06D295}"/>
              </a:ext>
            </a:extLst>
          </p:cNvPr>
          <p:cNvSpPr txBox="1"/>
          <p:nvPr/>
        </p:nvSpPr>
        <p:spPr>
          <a:xfrm>
            <a:off x="3996730" y="4509369"/>
            <a:ext cx="338554" cy="369332"/>
          </a:xfrm>
          <a:prstGeom prst="rect">
            <a:avLst/>
          </a:prstGeom>
          <a:noFill/>
        </p:spPr>
        <p:txBody>
          <a:bodyPr wrap="none" rtlCol="0">
            <a:spAutoFit/>
          </a:bodyPr>
          <a:lstStyle/>
          <a:p>
            <a:r>
              <a:rPr lang="en-IN" dirty="0"/>
              <a:t>X</a:t>
            </a:r>
          </a:p>
        </p:txBody>
      </p:sp>
      <p:sp>
        <p:nvSpPr>
          <p:cNvPr id="9" name="TextBox 8">
            <a:extLst>
              <a:ext uri="{FF2B5EF4-FFF2-40B4-BE49-F238E27FC236}">
                <a16:creationId xmlns:a16="http://schemas.microsoft.com/office/drawing/2014/main" id="{DF38E0FF-8C09-47BA-923F-A450FC38C820}"/>
              </a:ext>
            </a:extLst>
          </p:cNvPr>
          <p:cNvSpPr txBox="1"/>
          <p:nvPr/>
        </p:nvSpPr>
        <p:spPr>
          <a:xfrm>
            <a:off x="7857963" y="4501947"/>
            <a:ext cx="389850" cy="369332"/>
          </a:xfrm>
          <a:prstGeom prst="rect">
            <a:avLst/>
          </a:prstGeom>
          <a:noFill/>
        </p:spPr>
        <p:txBody>
          <a:bodyPr wrap="none" rtlCol="0">
            <a:spAutoFit/>
          </a:bodyPr>
          <a:lstStyle/>
          <a:p>
            <a:r>
              <a:rPr lang="en-IN" dirty="0"/>
              <a:t>X’</a:t>
            </a:r>
          </a:p>
        </p:txBody>
      </p:sp>
    </p:spTree>
    <p:extLst>
      <p:ext uri="{BB962C8B-B14F-4D97-AF65-F5344CB8AC3E}">
        <p14:creationId xmlns:p14="http://schemas.microsoft.com/office/powerpoint/2010/main" val="312341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57682-8E84-478F-A5C0-102C7903B31A}"/>
              </a:ext>
            </a:extLst>
          </p:cNvPr>
          <p:cNvSpPr>
            <a:spLocks noGrp="1"/>
          </p:cNvSpPr>
          <p:nvPr>
            <p:ph type="title"/>
          </p:nvPr>
        </p:nvSpPr>
        <p:spPr/>
        <p:txBody>
          <a:bodyPr/>
          <a:lstStyle/>
          <a:p>
            <a:r>
              <a:rPr lang="en-US" altLang="zh-TW" sz="3600" dirty="0"/>
              <a:t>Autoencoder</a:t>
            </a:r>
            <a:endParaRPr lang="en-IN" dirty="0"/>
          </a:p>
        </p:txBody>
      </p:sp>
      <p:sp>
        <p:nvSpPr>
          <p:cNvPr id="4" name="Slide Number Placeholder 3">
            <a:extLst>
              <a:ext uri="{FF2B5EF4-FFF2-40B4-BE49-F238E27FC236}">
                <a16:creationId xmlns:a16="http://schemas.microsoft.com/office/drawing/2014/main" id="{FB0738F3-65D9-4E7C-9B19-C330DEB3CE80}"/>
              </a:ext>
            </a:extLst>
          </p:cNvPr>
          <p:cNvSpPr>
            <a:spLocks noGrp="1"/>
          </p:cNvSpPr>
          <p:nvPr>
            <p:ph type="sldNum" sz="quarter" idx="12"/>
          </p:nvPr>
        </p:nvSpPr>
        <p:spPr/>
        <p:txBody>
          <a:bodyPr/>
          <a:lstStyle/>
          <a:p>
            <a:pPr>
              <a:defRPr/>
            </a:pPr>
            <a:fld id="{9AD681D7-8A59-4380-9311-10B86FF921AA}" type="slidenum">
              <a:rPr lang="en-US" altLang="zh-TW" smtClean="0"/>
              <a:pPr>
                <a:defRPr/>
              </a:pPr>
              <a:t>29</a:t>
            </a:fld>
            <a:endParaRPr lang="en-US" altLang="zh-TW"/>
          </a:p>
        </p:txBody>
      </p:sp>
      <p:pic>
        <p:nvPicPr>
          <p:cNvPr id="5" name="Content Placeholder 4">
            <a:extLst>
              <a:ext uri="{FF2B5EF4-FFF2-40B4-BE49-F238E27FC236}">
                <a16:creationId xmlns:a16="http://schemas.microsoft.com/office/drawing/2014/main" id="{E762CBA5-F75A-49F4-9962-12B2C6489190}"/>
              </a:ext>
            </a:extLst>
          </p:cNvPr>
          <p:cNvPicPr>
            <a:picLocks noGrp="1" noChangeAspect="1"/>
          </p:cNvPicPr>
          <p:nvPr>
            <p:ph idx="1"/>
          </p:nvPr>
        </p:nvPicPr>
        <p:blipFill>
          <a:blip r:embed="rId2"/>
          <a:stretch>
            <a:fillRect/>
          </a:stretch>
        </p:blipFill>
        <p:spPr>
          <a:xfrm>
            <a:off x="6324725" y="59971"/>
            <a:ext cx="5799221" cy="2133944"/>
          </a:xfrm>
          <a:prstGeom prst="rect">
            <a:avLst/>
          </a:prstGeom>
          <a:ln>
            <a:solidFill>
              <a:srgbClr val="000000"/>
            </a:solidFill>
          </a:ln>
        </p:spPr>
      </p:pic>
      <p:sp>
        <p:nvSpPr>
          <p:cNvPr id="7" name="TextBox 6">
            <a:extLst>
              <a:ext uri="{FF2B5EF4-FFF2-40B4-BE49-F238E27FC236}">
                <a16:creationId xmlns:a16="http://schemas.microsoft.com/office/drawing/2014/main" id="{365EC548-65C1-4BAD-96A1-5E10D0D2935F}"/>
              </a:ext>
            </a:extLst>
          </p:cNvPr>
          <p:cNvSpPr txBox="1"/>
          <p:nvPr/>
        </p:nvSpPr>
        <p:spPr>
          <a:xfrm>
            <a:off x="1015999" y="2278323"/>
            <a:ext cx="11176001" cy="4481227"/>
          </a:xfrm>
          <a:prstGeom prst="rect">
            <a:avLst/>
          </a:prstGeom>
          <a:noFill/>
          <a:ln>
            <a:solidFill>
              <a:srgbClr val="000000"/>
            </a:solidFill>
          </a:ln>
        </p:spPr>
        <p:txBody>
          <a:bodyPr wrap="square">
            <a:spAutoFit/>
          </a:bodyPr>
          <a:lstStyle/>
          <a:p>
            <a:pPr eaLnBrk="0" fontAlgn="base" hangingPunct="0">
              <a:spcBef>
                <a:spcPct val="20000"/>
              </a:spcBef>
              <a:spcAft>
                <a:spcPct val="0"/>
              </a:spcAft>
              <a:buClr>
                <a:srgbClr val="003366"/>
              </a:buClr>
              <a:buSzPct val="75000"/>
              <a:defRPr/>
            </a:pPr>
            <a:r>
              <a:rPr kumimoji="1" lang="en-US" sz="1600" dirty="0">
                <a:solidFill>
                  <a:srgbClr val="003366"/>
                </a:solidFill>
                <a:latin typeface="Arial"/>
                <a:ea typeface="PMingLiU" panose="02020500000000000000" pitchFamily="18" charset="-120"/>
              </a:rPr>
              <a:t>Traditionally, </a:t>
            </a:r>
            <a:r>
              <a:rPr kumimoji="1" lang="en-US" sz="1600" dirty="0">
                <a:latin typeface="Arial"/>
                <a:ea typeface="PMingLiU" panose="02020500000000000000" pitchFamily="18" charset="-120"/>
              </a:rPr>
              <a:t>autoencoders were used for dimensionality reduction or feature learning.</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0" i="0" u="none" strike="noStrike" kern="1200" cap="none" spc="0" normalizeH="0" baseline="0" noProof="0" dirty="0">
                <a:ln>
                  <a:noFill/>
                </a:ln>
                <a:effectLst/>
                <a:uLnTx/>
                <a:uFillTx/>
                <a:latin typeface="Arial"/>
                <a:ea typeface="PMingLiU" panose="02020500000000000000" pitchFamily="18" charset="-120"/>
                <a:cs typeface="+mn-cs"/>
              </a:rPr>
              <a:t>An Autoencoder can be divided into two parts</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0" i="0" u="none" strike="noStrike" kern="1200" cap="none" spc="0" normalizeH="0" baseline="0" noProof="0" dirty="0">
                <a:ln>
                  <a:noFill/>
                </a:ln>
                <a:effectLst/>
                <a:uLnTx/>
                <a:uFillTx/>
                <a:latin typeface="Arial"/>
                <a:ea typeface="PMingLiU" panose="02020500000000000000" pitchFamily="18" charset="-120"/>
                <a:cs typeface="+mn-cs"/>
              </a:rPr>
              <a:t>Encoder which maps input into a lower dimensional space and decoder maps back this lower dimensional space into reconstruction space where dimensionality of reconstructed space is same as input space.</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0" i="0" u="none" strike="noStrike" kern="1200" cap="none" spc="0" normalizeH="0" baseline="0" noProof="0" dirty="0" err="1">
                <a:ln>
                  <a:noFill/>
                </a:ln>
                <a:effectLst/>
                <a:uLnTx/>
                <a:uFillTx/>
                <a:latin typeface="Arial"/>
                <a:ea typeface="PMingLiU" panose="02020500000000000000" pitchFamily="18" charset="-120"/>
                <a:cs typeface="+mn-cs"/>
              </a:rPr>
              <a:t>Eg</a:t>
            </a:r>
            <a:r>
              <a:rPr kumimoji="1" lang="en-IN" sz="1600" b="0" i="0" u="none" strike="noStrike" kern="1200" cap="none" spc="0" normalizeH="0" baseline="0" noProof="0" dirty="0">
                <a:ln>
                  <a:noFill/>
                </a:ln>
                <a:effectLst/>
                <a:uLnTx/>
                <a:uFillTx/>
                <a:latin typeface="Arial"/>
                <a:ea typeface="PMingLiU" panose="02020500000000000000" pitchFamily="18" charset="-120"/>
                <a:cs typeface="+mn-cs"/>
              </a:rPr>
              <a:t>: take an image, compress it and reconstruct it, original image back.</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1" i="0" u="none" strike="noStrike" kern="1200" cap="none" spc="0" normalizeH="0" baseline="0" noProof="0" dirty="0">
                <a:ln>
                  <a:noFill/>
                </a:ln>
                <a:effectLst/>
                <a:uLnTx/>
                <a:uFillTx/>
                <a:latin typeface="Arial"/>
                <a:ea typeface="PMingLiU" panose="02020500000000000000" pitchFamily="18" charset="-120"/>
                <a:cs typeface="+mn-cs"/>
              </a:rPr>
              <a:t>In case of Auto encoder it is lossy compression</a:t>
            </a:r>
            <a:r>
              <a:rPr kumimoji="1" lang="en-IN" sz="16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When Auto encoder compresses and uncompresses and when it uncompresses it tries to be closer to the input.</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The difference between input and output representation is called reconstruction error.</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The training objective of Autoencoder is to minimise  the error between the input and reconstructed input.</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1" dirty="0">
                <a:solidFill>
                  <a:srgbClr val="003366"/>
                </a:solidFill>
                <a:latin typeface="Arial"/>
                <a:ea typeface="PMingLiU" panose="02020500000000000000" pitchFamily="18" charset="-120"/>
              </a:rPr>
              <a:t>Reconstruction error is given by |x-x’|. Its also called as loss function.</a:t>
            </a:r>
            <a:endParaRPr kumimoji="1" lang="en-IN" sz="16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endParaRP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6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During the course of training the model weights are updated to minimise the reconstruction error. </a:t>
            </a:r>
          </a:p>
          <a:p>
            <a:pPr marL="185738" marR="0" lvl="0" indent="-185738" algn="l" defTabSz="914400" rtl="0" eaLnBrk="1" fontAlgn="auto" latinLnBrk="0" hangingPunct="1">
              <a:spcBef>
                <a:spcPts val="0"/>
              </a:spcBef>
              <a:spcAft>
                <a:spcPts val="0"/>
              </a:spcAft>
              <a:buClrTx/>
              <a:buSzTx/>
              <a:buFontTx/>
              <a:buNone/>
              <a:tabLst/>
              <a:defRPr/>
            </a:pPr>
            <a:endParaRPr kumimoji="1" lang="en-IN" sz="16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endParaRPr>
          </a:p>
          <a:p>
            <a:pPr marL="185738" marR="0" lvl="0" indent="-185738" algn="l" defTabSz="914400" rtl="0" eaLnBrk="1" fontAlgn="auto" latinLnBrk="0" hangingPunct="1">
              <a:spcBef>
                <a:spcPts val="0"/>
              </a:spcBef>
              <a:spcAft>
                <a:spcPts val="0"/>
              </a:spcAft>
              <a:buClrTx/>
              <a:buSzTx/>
              <a:buFontTx/>
              <a:buNone/>
              <a:tabLst/>
              <a:defRPr/>
            </a:pPr>
            <a:r>
              <a:rPr kumimoji="1" lang="en-IN" sz="1400" b="1" i="0" u="none" strike="noStrike" kern="1200" cap="none" spc="0" normalizeH="0" baseline="0" noProof="0" dirty="0" err="1">
                <a:ln>
                  <a:noFill/>
                </a:ln>
                <a:solidFill>
                  <a:srgbClr val="003366"/>
                </a:solidFill>
                <a:effectLst/>
                <a:uLnTx/>
                <a:uFillTx/>
                <a:latin typeface="Arial"/>
                <a:ea typeface="PMingLiU" panose="02020500000000000000" pitchFamily="18" charset="-120"/>
                <a:cs typeface="+mn-cs"/>
              </a:rPr>
              <a:t>Eg</a:t>
            </a:r>
            <a:r>
              <a:rPr kumimoji="1" lang="en-IN" sz="14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 Give 6 pixel values as input to Autoencoder</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4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Encoder encodes the signal and at hidden layer </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4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six pixels are compressed to 3 pixels.</a:t>
            </a:r>
          </a:p>
          <a:p>
            <a:pPr marL="185738" marR="0" lvl="0" indent="-185738" algn="l" defTabSz="914400" rtl="0" eaLnBrk="0" fontAlgn="base" latinLnBrk="0" hangingPunct="0">
              <a:spcBef>
                <a:spcPct val="20000"/>
              </a:spcBef>
              <a:spcAft>
                <a:spcPct val="0"/>
              </a:spcAft>
              <a:buClr>
                <a:srgbClr val="003366"/>
              </a:buClr>
              <a:buSzPct val="75000"/>
              <a:buFont typeface="Wingdings" panose="05000000000000000000" pitchFamily="2" charset="2"/>
              <a:buChar char="l"/>
              <a:tabLst/>
              <a:defRPr/>
            </a:pPr>
            <a:r>
              <a:rPr kumimoji="1" lang="en-IN" sz="14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Further decoder decodes the information (reconstructs the signal) and at output layer 3 pixels are decoded back to 6 pixels.</a:t>
            </a:r>
            <a:endParaRPr lang="en-IN" sz="1400" b="1" dirty="0"/>
          </a:p>
        </p:txBody>
      </p:sp>
      <p:sp>
        <p:nvSpPr>
          <p:cNvPr id="3" name="TextBox 2">
            <a:extLst>
              <a:ext uri="{FF2B5EF4-FFF2-40B4-BE49-F238E27FC236}">
                <a16:creationId xmlns:a16="http://schemas.microsoft.com/office/drawing/2014/main" id="{6C053EF3-15F2-A422-B3EF-CB641B0C37E3}"/>
              </a:ext>
            </a:extLst>
          </p:cNvPr>
          <p:cNvSpPr txBox="1"/>
          <p:nvPr/>
        </p:nvSpPr>
        <p:spPr>
          <a:xfrm>
            <a:off x="53602" y="42203"/>
            <a:ext cx="4208910" cy="615553"/>
          </a:xfrm>
          <a:prstGeom prst="rect">
            <a:avLst/>
          </a:prstGeom>
          <a:noFill/>
          <a:ln>
            <a:solidFill>
              <a:schemeClr val="tx1"/>
            </a:solidFill>
          </a:ln>
        </p:spPr>
        <p:txBody>
          <a:bodyPr wrap="square" rtlCol="0">
            <a:spAutoFit/>
          </a:bodyPr>
          <a:lstStyle/>
          <a:p>
            <a:r>
              <a:rPr lang="en-IN" sz="1700" b="1" dirty="0"/>
              <a:t>The encoder and decoder can be LSTM for time series data or CNN for images</a:t>
            </a:r>
          </a:p>
        </p:txBody>
      </p:sp>
    </p:spTree>
    <p:extLst>
      <p:ext uri="{BB962C8B-B14F-4D97-AF65-F5344CB8AC3E}">
        <p14:creationId xmlns:p14="http://schemas.microsoft.com/office/powerpoint/2010/main" val="736537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4ABA33-F5F4-51A4-6D6A-4619D37B686D}"/>
              </a:ext>
            </a:extLst>
          </p:cNvPr>
          <p:cNvSpPr>
            <a:spLocks noGrp="1"/>
          </p:cNvSpPr>
          <p:nvPr>
            <p:ph idx="1"/>
          </p:nvPr>
        </p:nvSpPr>
        <p:spPr>
          <a:xfrm>
            <a:off x="1117601" y="2362201"/>
            <a:ext cx="10952479" cy="3724275"/>
          </a:xfrm>
          <a:ln>
            <a:solidFill>
              <a:srgbClr val="000000"/>
            </a:solidFill>
          </a:ln>
        </p:spPr>
        <p:txBody>
          <a:bodyPr/>
          <a:lstStyle/>
          <a:p>
            <a:r>
              <a:rPr lang="en-IN" sz="1500" b="1" dirty="0">
                <a:latin typeface="Arial"/>
              </a:rPr>
              <a:t>Output is not perfect reconstruction of input</a:t>
            </a:r>
            <a:r>
              <a:rPr lang="en-IN" sz="1500" dirty="0">
                <a:latin typeface="Arial"/>
              </a:rPr>
              <a:t>. </a:t>
            </a:r>
            <a:r>
              <a:rPr lang="en-IN" sz="1500" b="1" dirty="0">
                <a:latin typeface="Arial"/>
              </a:rPr>
              <a:t>There is a loss of information and its measured using loss function</a:t>
            </a:r>
            <a:r>
              <a:rPr lang="en-IN" sz="1500" dirty="0">
                <a:latin typeface="Arial"/>
              </a:rPr>
              <a:t>.</a:t>
            </a:r>
            <a:r>
              <a:rPr lang="en-IN" sz="1500" dirty="0"/>
              <a:t>  </a:t>
            </a:r>
          </a:p>
        </p:txBody>
      </p:sp>
      <p:sp>
        <p:nvSpPr>
          <p:cNvPr id="4" name="Slide Number Placeholder 3">
            <a:extLst>
              <a:ext uri="{FF2B5EF4-FFF2-40B4-BE49-F238E27FC236}">
                <a16:creationId xmlns:a16="http://schemas.microsoft.com/office/drawing/2014/main" id="{4C3CE79A-C012-7472-EC35-0EC684D2FDAB}"/>
              </a:ext>
            </a:extLst>
          </p:cNvPr>
          <p:cNvSpPr>
            <a:spLocks noGrp="1"/>
          </p:cNvSpPr>
          <p:nvPr>
            <p:ph type="sldNum" sz="quarter" idx="12"/>
          </p:nvPr>
        </p:nvSpPr>
        <p:spPr/>
        <p:txBody>
          <a:bodyPr/>
          <a:lstStyle/>
          <a:p>
            <a:pPr>
              <a:defRPr/>
            </a:pPr>
            <a:fld id="{9AD681D7-8A59-4380-9311-10B86FF921AA}" type="slidenum">
              <a:rPr lang="en-US" altLang="zh-TW" smtClean="0"/>
              <a:pPr>
                <a:defRPr/>
              </a:pPr>
              <a:t>30</a:t>
            </a:fld>
            <a:endParaRPr lang="en-US" altLang="zh-TW"/>
          </a:p>
        </p:txBody>
      </p:sp>
      <p:pic>
        <p:nvPicPr>
          <p:cNvPr id="6" name="Picture 5">
            <a:extLst>
              <a:ext uri="{FF2B5EF4-FFF2-40B4-BE49-F238E27FC236}">
                <a16:creationId xmlns:a16="http://schemas.microsoft.com/office/drawing/2014/main" id="{16C11B8C-C520-9804-0968-8C4F6018E181}"/>
              </a:ext>
            </a:extLst>
          </p:cNvPr>
          <p:cNvPicPr>
            <a:picLocks noChangeAspect="1"/>
          </p:cNvPicPr>
          <p:nvPr/>
        </p:nvPicPr>
        <p:blipFill rotWithShape="1">
          <a:blip r:embed="rId2"/>
          <a:srcRect l="1616"/>
          <a:stretch/>
        </p:blipFill>
        <p:spPr>
          <a:xfrm>
            <a:off x="3168357" y="3036937"/>
            <a:ext cx="6850966" cy="997776"/>
          </a:xfrm>
          <a:prstGeom prst="rect">
            <a:avLst/>
          </a:prstGeom>
        </p:spPr>
      </p:pic>
      <p:sp>
        <p:nvSpPr>
          <p:cNvPr id="8" name="Rectangle 7">
            <a:extLst>
              <a:ext uri="{FF2B5EF4-FFF2-40B4-BE49-F238E27FC236}">
                <a16:creationId xmlns:a16="http://schemas.microsoft.com/office/drawing/2014/main" id="{AE26B509-0DDA-1194-B73C-E73F532680DE}"/>
              </a:ext>
            </a:extLst>
          </p:cNvPr>
          <p:cNvSpPr/>
          <p:nvPr/>
        </p:nvSpPr>
        <p:spPr bwMode="auto">
          <a:xfrm>
            <a:off x="4563176" y="3918367"/>
            <a:ext cx="2912012" cy="997776"/>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IN" sz="1800" b="0" i="0" u="none" strike="noStrike" cap="none" normalizeH="0" baseline="0" dirty="0">
                <a:ln>
                  <a:noFill/>
                </a:ln>
                <a:solidFill>
                  <a:schemeClr val="tx1"/>
                </a:solidFill>
                <a:effectLst/>
                <a:latin typeface="Arial" panose="020B0604020202020204" pitchFamily="34" charset="0"/>
                <a:ea typeface="新細明體" panose="02020500000000000000" pitchFamily="18" charset="-120"/>
              </a:rPr>
              <a:t>Reconstruction loss/Expected logged likelihood of </a:t>
            </a:r>
            <a:r>
              <a:rPr kumimoji="1" lang="en-IN" sz="1800" b="0" i="0" u="none" strike="noStrike" cap="none" normalizeH="0" baseline="0" dirty="0" err="1">
                <a:ln>
                  <a:noFill/>
                </a:ln>
                <a:solidFill>
                  <a:schemeClr val="tx1"/>
                </a:solidFill>
                <a:effectLst/>
                <a:latin typeface="Arial" panose="020B0604020202020204" pitchFamily="34" charset="0"/>
                <a:ea typeface="新細明體" panose="02020500000000000000" pitchFamily="18" charset="-120"/>
              </a:rPr>
              <a:t>ith</a:t>
            </a:r>
            <a:r>
              <a:rPr kumimoji="1" lang="en-IN" sz="1800" b="0" i="0" u="none" strike="noStrike" cap="none" normalizeH="0" baseline="0" dirty="0">
                <a:ln>
                  <a:noFill/>
                </a:ln>
                <a:solidFill>
                  <a:schemeClr val="tx1"/>
                </a:solidFill>
                <a:effectLst/>
                <a:latin typeface="Arial" panose="020B0604020202020204" pitchFamily="34" charset="0"/>
                <a:ea typeface="新細明體" panose="02020500000000000000" pitchFamily="18" charset="-120"/>
              </a:rPr>
              <a:t> data point</a:t>
            </a:r>
          </a:p>
        </p:txBody>
      </p:sp>
      <p:sp>
        <p:nvSpPr>
          <p:cNvPr id="9" name="Rectangle 8">
            <a:extLst>
              <a:ext uri="{FF2B5EF4-FFF2-40B4-BE49-F238E27FC236}">
                <a16:creationId xmlns:a16="http://schemas.microsoft.com/office/drawing/2014/main" id="{F27F0F63-24E7-639C-4557-408D806F28D2}"/>
              </a:ext>
            </a:extLst>
          </p:cNvPr>
          <p:cNvSpPr/>
          <p:nvPr/>
        </p:nvSpPr>
        <p:spPr bwMode="auto">
          <a:xfrm>
            <a:off x="7703398" y="3935725"/>
            <a:ext cx="3217365" cy="78779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IN" sz="1800" b="0" i="0" u="none" strike="noStrike" cap="none" normalizeH="0" baseline="0" dirty="0" err="1">
                <a:ln>
                  <a:noFill/>
                </a:ln>
                <a:solidFill>
                  <a:schemeClr val="tx1"/>
                </a:solidFill>
                <a:effectLst/>
                <a:latin typeface="Arial" panose="020B0604020202020204" pitchFamily="34" charset="0"/>
                <a:ea typeface="新細明體" panose="02020500000000000000" pitchFamily="18" charset="-120"/>
              </a:rPr>
              <a:t>Kcullbackliibler</a:t>
            </a:r>
            <a:r>
              <a:rPr kumimoji="1" lang="en-IN" sz="1800" b="0" i="0" u="none" strike="noStrike" cap="none" normalizeH="0" baseline="0" dirty="0">
                <a:ln>
                  <a:noFill/>
                </a:ln>
                <a:solidFill>
                  <a:schemeClr val="tx1"/>
                </a:solidFill>
                <a:effectLst/>
                <a:latin typeface="Arial" panose="020B0604020202020204" pitchFamily="34" charset="0"/>
                <a:ea typeface="新細明體" panose="02020500000000000000" pitchFamily="18" charset="-120"/>
              </a:rPr>
              <a:t> divergence between encoder distribution.</a:t>
            </a:r>
          </a:p>
        </p:txBody>
      </p:sp>
      <p:sp>
        <p:nvSpPr>
          <p:cNvPr id="5" name="Title 1">
            <a:extLst>
              <a:ext uri="{FF2B5EF4-FFF2-40B4-BE49-F238E27FC236}">
                <a16:creationId xmlns:a16="http://schemas.microsoft.com/office/drawing/2014/main" id="{BF3DE386-A959-D476-E1CB-43653B887B11}"/>
              </a:ext>
            </a:extLst>
          </p:cNvPr>
          <p:cNvSpPr>
            <a:spLocks noGrp="1"/>
          </p:cNvSpPr>
          <p:nvPr>
            <p:ph type="title"/>
          </p:nvPr>
        </p:nvSpPr>
        <p:spPr>
          <a:xfrm>
            <a:off x="1016000" y="762000"/>
            <a:ext cx="10566400" cy="1143000"/>
          </a:xfrm>
        </p:spPr>
        <p:txBody>
          <a:bodyPr/>
          <a:lstStyle/>
          <a:p>
            <a:r>
              <a:rPr lang="en-US" altLang="zh-TW" sz="3600" dirty="0"/>
              <a:t>Autoencoder</a:t>
            </a:r>
            <a:endParaRPr lang="en-IN" dirty="0"/>
          </a:p>
        </p:txBody>
      </p:sp>
    </p:spTree>
    <p:extLst>
      <p:ext uri="{BB962C8B-B14F-4D97-AF65-F5344CB8AC3E}">
        <p14:creationId xmlns:p14="http://schemas.microsoft.com/office/powerpoint/2010/main" val="199596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9409-C687-050E-5B30-5AC97329F92A}"/>
              </a:ext>
            </a:extLst>
          </p:cNvPr>
          <p:cNvSpPr>
            <a:spLocks noGrp="1"/>
          </p:cNvSpPr>
          <p:nvPr>
            <p:ph type="title"/>
          </p:nvPr>
        </p:nvSpPr>
        <p:spPr/>
        <p:txBody>
          <a:bodyPr/>
          <a:lstStyle/>
          <a:p>
            <a:r>
              <a:rPr lang="en-IN" dirty="0"/>
              <a:t>Bottleneck Layer </a:t>
            </a:r>
          </a:p>
        </p:txBody>
      </p:sp>
      <p:sp>
        <p:nvSpPr>
          <p:cNvPr id="3" name="Content Placeholder 2">
            <a:extLst>
              <a:ext uri="{FF2B5EF4-FFF2-40B4-BE49-F238E27FC236}">
                <a16:creationId xmlns:a16="http://schemas.microsoft.com/office/drawing/2014/main" id="{160D173E-FC28-502D-5EA0-996586E7DA35}"/>
              </a:ext>
            </a:extLst>
          </p:cNvPr>
          <p:cNvSpPr>
            <a:spLocks noGrp="1"/>
          </p:cNvSpPr>
          <p:nvPr>
            <p:ph idx="1"/>
          </p:nvPr>
        </p:nvSpPr>
        <p:spPr>
          <a:xfrm>
            <a:off x="1016000" y="2277795"/>
            <a:ext cx="11176000" cy="4453205"/>
          </a:xfrm>
          <a:ln>
            <a:solidFill>
              <a:srgbClr val="000000"/>
            </a:solidFill>
          </a:ln>
        </p:spPr>
        <p:txBody>
          <a:bodyPr/>
          <a:lstStyle/>
          <a:p>
            <a:pPr marL="182563" indent="-182563"/>
            <a:r>
              <a:rPr lang="en-US" sz="1500" dirty="0"/>
              <a:t>The most important part of the neural network, and ironically the </a:t>
            </a:r>
            <a:r>
              <a:rPr lang="en-US" sz="1500" b="1" dirty="0"/>
              <a:t>smallest one</a:t>
            </a:r>
            <a:r>
              <a:rPr lang="en-US" sz="1500" dirty="0"/>
              <a:t>, is the bottleneck. The bottleneck exists to </a:t>
            </a:r>
            <a:r>
              <a:rPr lang="en-US" sz="1500" b="1" dirty="0"/>
              <a:t>restrict the flow of information to the decoder from the encoder</a:t>
            </a:r>
            <a:r>
              <a:rPr lang="en-US" sz="1500" dirty="0"/>
              <a:t>, thus, </a:t>
            </a:r>
            <a:r>
              <a:rPr lang="en-US" sz="1500" b="1" dirty="0"/>
              <a:t>allowing only the most vital information to pass through.</a:t>
            </a:r>
          </a:p>
          <a:p>
            <a:pPr marL="182563" indent="-182563"/>
            <a:endParaRPr lang="en-US" sz="1500" dirty="0"/>
          </a:p>
          <a:p>
            <a:pPr marL="182563" indent="-182563"/>
            <a:r>
              <a:rPr lang="en-US" sz="1500" dirty="0"/>
              <a:t>Since the bottleneck is designed in such a way that the maximum information possessed by an image is captured in it, we can say that the </a:t>
            </a:r>
            <a:r>
              <a:rPr lang="en-US" sz="1500" b="1" dirty="0"/>
              <a:t>bottleneck helps us form a knowledge-representation of the input</a:t>
            </a:r>
            <a:r>
              <a:rPr lang="en-US" sz="1500" dirty="0"/>
              <a:t>.</a:t>
            </a:r>
          </a:p>
          <a:p>
            <a:pPr marL="182563" indent="-182563"/>
            <a:endParaRPr lang="en-US" sz="1500" dirty="0"/>
          </a:p>
          <a:p>
            <a:pPr marL="182563" indent="-182563"/>
            <a:r>
              <a:rPr lang="en-US" sz="1500" dirty="0"/>
              <a:t>Thus, the encoder-decoder structure helps us </a:t>
            </a:r>
            <a:r>
              <a:rPr lang="en-US" sz="1500" b="1" dirty="0"/>
              <a:t>extract the most from an image in the form of data</a:t>
            </a:r>
            <a:r>
              <a:rPr lang="en-US" sz="1500" dirty="0"/>
              <a:t> and </a:t>
            </a:r>
            <a:r>
              <a:rPr lang="en-US" sz="1500" b="1" dirty="0"/>
              <a:t>establish useful correlations between various inputs within the network.</a:t>
            </a:r>
          </a:p>
          <a:p>
            <a:pPr marL="182563" indent="-182563"/>
            <a:endParaRPr lang="en-US" sz="1500" dirty="0"/>
          </a:p>
          <a:p>
            <a:pPr marL="182563" indent="-182563"/>
            <a:r>
              <a:rPr lang="en-US" sz="1500" dirty="0"/>
              <a:t>A bottleneck as a </a:t>
            </a:r>
            <a:r>
              <a:rPr lang="en-US" sz="1500" b="1" dirty="0"/>
              <a:t>compressed representation of the input</a:t>
            </a:r>
            <a:r>
              <a:rPr lang="en-US" sz="1500" dirty="0"/>
              <a:t> further </a:t>
            </a:r>
            <a:r>
              <a:rPr lang="en-US" sz="1500" b="1" dirty="0"/>
              <a:t>prevents the neural network from memorizing the input and overfitting on the data.</a:t>
            </a:r>
          </a:p>
          <a:p>
            <a:pPr marL="182563" indent="-182563"/>
            <a:endParaRPr lang="en-US" sz="1500" dirty="0"/>
          </a:p>
          <a:p>
            <a:pPr marL="182563" indent="-182563"/>
            <a:r>
              <a:rPr lang="en-US" sz="1500" dirty="0"/>
              <a:t>As a rule of thumb, remember this: The </a:t>
            </a:r>
            <a:r>
              <a:rPr lang="en-US" sz="1500" b="1" dirty="0"/>
              <a:t>smaller the bottleneck, the lower the risk of overfitting</a:t>
            </a:r>
            <a:r>
              <a:rPr lang="en-US" sz="1500" dirty="0"/>
              <a:t>.</a:t>
            </a:r>
          </a:p>
          <a:p>
            <a:pPr marL="182563" indent="-182563"/>
            <a:endParaRPr lang="en-US" sz="1500" dirty="0"/>
          </a:p>
          <a:p>
            <a:pPr marL="182563" indent="-182563"/>
            <a:r>
              <a:rPr lang="en-US" sz="1500" dirty="0"/>
              <a:t>However— </a:t>
            </a:r>
            <a:r>
              <a:rPr lang="en-US" sz="1500" b="1" dirty="0"/>
              <a:t>Very small bottlenecks would restrict the amount of information storable</a:t>
            </a:r>
            <a:r>
              <a:rPr lang="en-US" sz="1500" dirty="0"/>
              <a:t>, which </a:t>
            </a:r>
            <a:r>
              <a:rPr lang="en-US" sz="1500" b="1" dirty="0"/>
              <a:t>increases the chances of important information slipping out through the layers of the encoder.</a:t>
            </a:r>
            <a:endParaRPr lang="en-IN" sz="1500" b="1" dirty="0"/>
          </a:p>
        </p:txBody>
      </p:sp>
      <p:sp>
        <p:nvSpPr>
          <p:cNvPr id="4" name="Slide Number Placeholder 3">
            <a:extLst>
              <a:ext uri="{FF2B5EF4-FFF2-40B4-BE49-F238E27FC236}">
                <a16:creationId xmlns:a16="http://schemas.microsoft.com/office/drawing/2014/main" id="{4A82EEFE-EC7C-1E97-18AB-5C6C217D44CF}"/>
              </a:ext>
            </a:extLst>
          </p:cNvPr>
          <p:cNvSpPr>
            <a:spLocks noGrp="1"/>
          </p:cNvSpPr>
          <p:nvPr>
            <p:ph type="sldNum" sz="quarter" idx="12"/>
          </p:nvPr>
        </p:nvSpPr>
        <p:spPr/>
        <p:txBody>
          <a:bodyPr/>
          <a:lstStyle/>
          <a:p>
            <a:pPr>
              <a:defRPr/>
            </a:pPr>
            <a:fld id="{9AD681D7-8A59-4380-9311-10B86FF921AA}" type="slidenum">
              <a:rPr lang="en-US" altLang="zh-TW" smtClean="0"/>
              <a:pPr>
                <a:defRPr/>
              </a:pPr>
              <a:t>31</a:t>
            </a:fld>
            <a:endParaRPr lang="en-US" altLang="zh-TW"/>
          </a:p>
        </p:txBody>
      </p:sp>
      <p:sp>
        <p:nvSpPr>
          <p:cNvPr id="6" name="TextBox 5">
            <a:extLst>
              <a:ext uri="{FF2B5EF4-FFF2-40B4-BE49-F238E27FC236}">
                <a16:creationId xmlns:a16="http://schemas.microsoft.com/office/drawing/2014/main" id="{55615A99-6D34-9882-BE23-6459165EB53B}"/>
              </a:ext>
            </a:extLst>
          </p:cNvPr>
          <p:cNvSpPr txBox="1"/>
          <p:nvPr/>
        </p:nvSpPr>
        <p:spPr>
          <a:xfrm>
            <a:off x="8052619" y="19873"/>
            <a:ext cx="4139381" cy="307777"/>
          </a:xfrm>
          <a:prstGeom prst="rect">
            <a:avLst/>
          </a:prstGeom>
          <a:noFill/>
          <a:ln>
            <a:solidFill>
              <a:schemeClr val="tx1"/>
            </a:solidFill>
          </a:ln>
        </p:spPr>
        <p:txBody>
          <a:bodyPr wrap="square">
            <a:spAutoFit/>
          </a:bodyPr>
          <a:lstStyle/>
          <a:p>
            <a:r>
              <a:rPr lang="en-IN" sz="1400" dirty="0"/>
              <a:t>https://www.v7labs.com/blog/autoencoders-guide</a:t>
            </a:r>
          </a:p>
        </p:txBody>
      </p:sp>
      <p:sp>
        <p:nvSpPr>
          <p:cNvPr id="7" name="TextBox 6">
            <a:extLst>
              <a:ext uri="{FF2B5EF4-FFF2-40B4-BE49-F238E27FC236}">
                <a16:creationId xmlns:a16="http://schemas.microsoft.com/office/drawing/2014/main" id="{7EBB5FDD-3A3E-E0D9-2643-A969B5F2FC23}"/>
              </a:ext>
            </a:extLst>
          </p:cNvPr>
          <p:cNvSpPr txBox="1"/>
          <p:nvPr/>
        </p:nvSpPr>
        <p:spPr>
          <a:xfrm>
            <a:off x="-1" y="19873"/>
            <a:ext cx="8052619" cy="877163"/>
          </a:xfrm>
          <a:prstGeom prst="rect">
            <a:avLst/>
          </a:prstGeom>
          <a:noFill/>
          <a:ln>
            <a:solidFill>
              <a:srgbClr val="000000"/>
            </a:solidFill>
          </a:ln>
        </p:spPr>
        <p:txBody>
          <a:bodyPr wrap="square" rtlCol="0">
            <a:spAutoFit/>
          </a:bodyPr>
          <a:lstStyle/>
          <a:p>
            <a:r>
              <a:rPr lang="en-IN" sz="1700" b="1" dirty="0"/>
              <a:t>In order to force the network to learn the representation or inner structure of the data and not the identity function, bottleneck layer is introduced in the network. It forces compressed representation of input data.</a:t>
            </a:r>
          </a:p>
        </p:txBody>
      </p:sp>
    </p:spTree>
    <p:extLst>
      <p:ext uri="{BB962C8B-B14F-4D97-AF65-F5344CB8AC3E}">
        <p14:creationId xmlns:p14="http://schemas.microsoft.com/office/powerpoint/2010/main" val="2524605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A9B09-5FD4-4283-86E0-9790F6305128}"/>
              </a:ext>
            </a:extLst>
          </p:cNvPr>
          <p:cNvSpPr>
            <a:spLocks noGrp="1"/>
          </p:cNvSpPr>
          <p:nvPr>
            <p:ph type="title"/>
          </p:nvPr>
        </p:nvSpPr>
        <p:spPr/>
        <p:txBody>
          <a:bodyPr/>
          <a:lstStyle/>
          <a:p>
            <a:r>
              <a:rPr lang="en-IN" dirty="0"/>
              <a:t>PCA Vs. Autoencoder</a:t>
            </a:r>
          </a:p>
        </p:txBody>
      </p:sp>
      <p:sp>
        <p:nvSpPr>
          <p:cNvPr id="3" name="Content Placeholder 2">
            <a:extLst>
              <a:ext uri="{FF2B5EF4-FFF2-40B4-BE49-F238E27FC236}">
                <a16:creationId xmlns:a16="http://schemas.microsoft.com/office/drawing/2014/main" id="{0C019E70-6A42-4314-8233-B5487780546A}"/>
              </a:ext>
            </a:extLst>
          </p:cNvPr>
          <p:cNvSpPr>
            <a:spLocks noGrp="1"/>
          </p:cNvSpPr>
          <p:nvPr>
            <p:ph idx="1"/>
          </p:nvPr>
        </p:nvSpPr>
        <p:spPr>
          <a:xfrm>
            <a:off x="1325034" y="2371724"/>
            <a:ext cx="10566400" cy="4359275"/>
          </a:xfrm>
          <a:ln>
            <a:solidFill>
              <a:srgbClr val="000000"/>
            </a:solidFill>
          </a:ln>
        </p:spPr>
        <p:txBody>
          <a:bodyPr/>
          <a:lstStyle/>
          <a:p>
            <a:pPr marL="185738" indent="-185738" algn="just">
              <a:lnSpc>
                <a:spcPct val="150000"/>
              </a:lnSpc>
            </a:pPr>
            <a:r>
              <a:rPr lang="en-US" sz="1600" b="1" dirty="0">
                <a:solidFill>
                  <a:schemeClr val="tx1">
                    <a:lumMod val="75000"/>
                  </a:schemeClr>
                </a:solidFill>
                <a:ea typeface="+mn-ea"/>
              </a:rPr>
              <a:t>Other dimensionality reduction technique: PCA (Principal Component Analysis-Traditional data compression technique) </a:t>
            </a:r>
            <a:r>
              <a:rPr lang="en-US" sz="1600" dirty="0">
                <a:solidFill>
                  <a:schemeClr val="tx1">
                    <a:lumMod val="75000"/>
                  </a:schemeClr>
                </a:solidFill>
                <a:ea typeface="+mn-ea"/>
              </a:rPr>
              <a:t>that form a lower-dimensional hyperplane to represent data in a higher-dimensional form without losing information.</a:t>
            </a:r>
          </a:p>
          <a:p>
            <a:pPr marL="185738" indent="-185738" algn="just">
              <a:lnSpc>
                <a:spcPct val="150000"/>
              </a:lnSpc>
            </a:pPr>
            <a:r>
              <a:rPr lang="en-US" sz="1600" dirty="0">
                <a:solidFill>
                  <a:schemeClr val="tx1">
                    <a:lumMod val="75000"/>
                  </a:schemeClr>
                </a:solidFill>
                <a:ea typeface="+mn-ea"/>
              </a:rPr>
              <a:t>However—</a:t>
            </a:r>
          </a:p>
          <a:p>
            <a:pPr marL="185738" indent="-185738" algn="just">
              <a:lnSpc>
                <a:spcPct val="150000"/>
              </a:lnSpc>
            </a:pPr>
            <a:r>
              <a:rPr lang="en-US" sz="1600" dirty="0">
                <a:solidFill>
                  <a:schemeClr val="tx1">
                    <a:lumMod val="75000"/>
                  </a:schemeClr>
                </a:solidFill>
                <a:ea typeface="+mn-ea"/>
              </a:rPr>
              <a:t>PCA can </a:t>
            </a:r>
            <a:r>
              <a:rPr lang="en-US" sz="1600" b="1" dirty="0">
                <a:solidFill>
                  <a:schemeClr val="tx1">
                    <a:lumMod val="75000"/>
                  </a:schemeClr>
                </a:solidFill>
                <a:ea typeface="+mn-ea"/>
              </a:rPr>
              <a:t>only build linear relationships</a:t>
            </a:r>
            <a:r>
              <a:rPr lang="en-US" sz="1600" dirty="0">
                <a:solidFill>
                  <a:schemeClr val="tx1">
                    <a:lumMod val="75000"/>
                  </a:schemeClr>
                </a:solidFill>
                <a:ea typeface="+mn-ea"/>
              </a:rPr>
              <a:t>. As a result, it is put at a </a:t>
            </a:r>
            <a:r>
              <a:rPr lang="en-US" sz="1600" b="1" dirty="0">
                <a:solidFill>
                  <a:schemeClr val="tx1">
                    <a:lumMod val="75000"/>
                  </a:schemeClr>
                </a:solidFill>
                <a:ea typeface="+mn-ea"/>
              </a:rPr>
              <a:t>disadvantage </a:t>
            </a:r>
            <a:r>
              <a:rPr lang="en-US" sz="1600" dirty="0">
                <a:solidFill>
                  <a:schemeClr val="tx1">
                    <a:lumMod val="75000"/>
                  </a:schemeClr>
                </a:solidFill>
                <a:ea typeface="+mn-ea"/>
              </a:rPr>
              <a:t>compared with methods like </a:t>
            </a:r>
            <a:r>
              <a:rPr lang="en-US" sz="1600" b="1" dirty="0">
                <a:solidFill>
                  <a:schemeClr val="tx1">
                    <a:lumMod val="75000"/>
                  </a:schemeClr>
                </a:solidFill>
                <a:ea typeface="+mn-ea"/>
              </a:rPr>
              <a:t>undercomplete autoencoders </a:t>
            </a:r>
            <a:r>
              <a:rPr lang="en-US" sz="1600" dirty="0">
                <a:solidFill>
                  <a:schemeClr val="tx1">
                    <a:lumMod val="75000"/>
                  </a:schemeClr>
                </a:solidFill>
                <a:ea typeface="+mn-ea"/>
              </a:rPr>
              <a:t>that can learn </a:t>
            </a:r>
            <a:r>
              <a:rPr lang="en-US" sz="1600" b="1" dirty="0">
                <a:solidFill>
                  <a:schemeClr val="tx1">
                    <a:lumMod val="75000"/>
                  </a:schemeClr>
                </a:solidFill>
                <a:ea typeface="+mn-ea"/>
              </a:rPr>
              <a:t>non-linear</a:t>
            </a:r>
            <a:r>
              <a:rPr lang="en-US" sz="1600" dirty="0">
                <a:solidFill>
                  <a:schemeClr val="tx1">
                    <a:lumMod val="75000"/>
                  </a:schemeClr>
                </a:solidFill>
                <a:ea typeface="+mn-ea"/>
              </a:rPr>
              <a:t> relationships and, therefore, perform better in dimensionality reduction.</a:t>
            </a:r>
          </a:p>
          <a:p>
            <a:pPr marL="185738" indent="-185738" algn="just">
              <a:lnSpc>
                <a:spcPct val="150000"/>
              </a:lnSpc>
            </a:pPr>
            <a:r>
              <a:rPr lang="en-US" sz="1600" dirty="0">
                <a:solidFill>
                  <a:schemeClr val="tx1">
                    <a:lumMod val="75000"/>
                  </a:schemeClr>
                </a:solidFill>
                <a:ea typeface="+mn-ea"/>
              </a:rPr>
              <a:t>This form of nonlinear dimensionality reduction where the autoencoder learns a non-linear manifold is also termed as manifold learning.</a:t>
            </a:r>
          </a:p>
          <a:p>
            <a:pPr marL="185738" indent="-185738" algn="just">
              <a:lnSpc>
                <a:spcPct val="150000"/>
              </a:lnSpc>
            </a:pPr>
            <a:r>
              <a:rPr lang="en-US" sz="1600" dirty="0">
                <a:solidFill>
                  <a:schemeClr val="tx1">
                    <a:lumMod val="75000"/>
                  </a:schemeClr>
                </a:solidFill>
                <a:ea typeface="+mn-ea"/>
              </a:rPr>
              <a:t>Effectively, </a:t>
            </a:r>
            <a:r>
              <a:rPr lang="en-US" sz="1600" b="1" dirty="0">
                <a:solidFill>
                  <a:schemeClr val="tx1">
                    <a:lumMod val="75000"/>
                  </a:schemeClr>
                </a:solidFill>
                <a:ea typeface="+mn-ea"/>
              </a:rPr>
              <a:t>if we remove all non-linear activations from an undercomplete autoencoder and use only linear layers, </a:t>
            </a:r>
            <a:r>
              <a:rPr lang="en-US" sz="1600" dirty="0">
                <a:solidFill>
                  <a:schemeClr val="tx1">
                    <a:lumMod val="75000"/>
                  </a:schemeClr>
                </a:solidFill>
                <a:ea typeface="+mn-ea"/>
              </a:rPr>
              <a:t>we reduce the undercomplete autoencoder into something that works at an equal footing with PCA.</a:t>
            </a:r>
          </a:p>
          <a:p>
            <a:endParaRPr lang="en-IN" dirty="0"/>
          </a:p>
        </p:txBody>
      </p:sp>
      <p:sp>
        <p:nvSpPr>
          <p:cNvPr id="4" name="Slide Number Placeholder 3">
            <a:extLst>
              <a:ext uri="{FF2B5EF4-FFF2-40B4-BE49-F238E27FC236}">
                <a16:creationId xmlns:a16="http://schemas.microsoft.com/office/drawing/2014/main" id="{E6B4B32C-1492-4512-AE40-E26F96FDE52A}"/>
              </a:ext>
            </a:extLst>
          </p:cNvPr>
          <p:cNvSpPr>
            <a:spLocks noGrp="1"/>
          </p:cNvSpPr>
          <p:nvPr>
            <p:ph type="sldNum" sz="quarter" idx="12"/>
          </p:nvPr>
        </p:nvSpPr>
        <p:spPr/>
        <p:txBody>
          <a:bodyPr/>
          <a:lstStyle/>
          <a:p>
            <a:pPr>
              <a:defRPr/>
            </a:pPr>
            <a:fld id="{9AD681D7-8A59-4380-9311-10B86FF921AA}" type="slidenum">
              <a:rPr lang="en-US" altLang="zh-TW" smtClean="0"/>
              <a:pPr>
                <a:defRPr/>
              </a:pPr>
              <a:t>32</a:t>
            </a:fld>
            <a:endParaRPr lang="en-US" altLang="zh-TW"/>
          </a:p>
        </p:txBody>
      </p:sp>
    </p:spTree>
    <p:extLst>
      <p:ext uri="{BB962C8B-B14F-4D97-AF65-F5344CB8AC3E}">
        <p14:creationId xmlns:p14="http://schemas.microsoft.com/office/powerpoint/2010/main" val="19866309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90B05-A1CE-4D19-BB24-79BDF822EAFF}"/>
              </a:ext>
            </a:extLst>
          </p:cNvPr>
          <p:cNvSpPr>
            <a:spLocks noGrp="1"/>
          </p:cNvSpPr>
          <p:nvPr>
            <p:ph type="title"/>
          </p:nvPr>
        </p:nvSpPr>
        <p:spPr/>
        <p:txBody>
          <a:bodyPr/>
          <a:lstStyle/>
          <a:p>
            <a:r>
              <a:rPr lang="en-IN" dirty="0"/>
              <a:t>Comparison with PCA</a:t>
            </a:r>
          </a:p>
        </p:txBody>
      </p:sp>
      <p:sp>
        <p:nvSpPr>
          <p:cNvPr id="4" name="Slide Number Placeholder 3">
            <a:extLst>
              <a:ext uri="{FF2B5EF4-FFF2-40B4-BE49-F238E27FC236}">
                <a16:creationId xmlns:a16="http://schemas.microsoft.com/office/drawing/2014/main" id="{DB2168C6-8491-4FB8-9884-30B695D51FE9}"/>
              </a:ext>
            </a:extLst>
          </p:cNvPr>
          <p:cNvSpPr>
            <a:spLocks noGrp="1"/>
          </p:cNvSpPr>
          <p:nvPr>
            <p:ph type="sldNum" sz="quarter" idx="12"/>
          </p:nvPr>
        </p:nvSpPr>
        <p:spPr/>
        <p:txBody>
          <a:bodyPr/>
          <a:lstStyle/>
          <a:p>
            <a:pPr>
              <a:defRPr/>
            </a:pPr>
            <a:fld id="{9AD681D7-8A59-4380-9311-10B86FF921AA}" type="slidenum">
              <a:rPr lang="en-US" altLang="zh-TW" smtClean="0"/>
              <a:pPr>
                <a:defRPr/>
              </a:pPr>
              <a:t>33</a:t>
            </a:fld>
            <a:endParaRPr lang="en-US" altLang="zh-TW"/>
          </a:p>
        </p:txBody>
      </p:sp>
      <p:graphicFrame>
        <p:nvGraphicFramePr>
          <p:cNvPr id="5" name="Table 5">
            <a:extLst>
              <a:ext uri="{FF2B5EF4-FFF2-40B4-BE49-F238E27FC236}">
                <a16:creationId xmlns:a16="http://schemas.microsoft.com/office/drawing/2014/main" id="{C2CB6143-2FA3-470A-8C87-6891EB898755}"/>
              </a:ext>
            </a:extLst>
          </p:cNvPr>
          <p:cNvGraphicFramePr>
            <a:graphicFrameLocks noGrp="1"/>
          </p:cNvGraphicFramePr>
          <p:nvPr>
            <p:extLst>
              <p:ext uri="{D42A27DB-BD31-4B8C-83A1-F6EECF244321}">
                <p14:modId xmlns:p14="http://schemas.microsoft.com/office/powerpoint/2010/main" val="2169190922"/>
              </p:ext>
            </p:extLst>
          </p:nvPr>
        </p:nvGraphicFramePr>
        <p:xfrm>
          <a:off x="1156679" y="4864418"/>
          <a:ext cx="10899335" cy="1651000"/>
        </p:xfrm>
        <a:graphic>
          <a:graphicData uri="http://schemas.openxmlformats.org/drawingml/2006/table">
            <a:tbl>
              <a:tblPr firstRow="1" bandRow="1">
                <a:tableStyleId>{5C22544A-7EE6-4342-B048-85BDC9FD1C3A}</a:tableStyleId>
              </a:tblPr>
              <a:tblGrid>
                <a:gridCol w="5156829">
                  <a:extLst>
                    <a:ext uri="{9D8B030D-6E8A-4147-A177-3AD203B41FA5}">
                      <a16:colId xmlns:a16="http://schemas.microsoft.com/office/drawing/2014/main" val="2382637912"/>
                    </a:ext>
                  </a:extLst>
                </a:gridCol>
                <a:gridCol w="5742506">
                  <a:extLst>
                    <a:ext uri="{9D8B030D-6E8A-4147-A177-3AD203B41FA5}">
                      <a16:colId xmlns:a16="http://schemas.microsoft.com/office/drawing/2014/main" val="3204837863"/>
                    </a:ext>
                  </a:extLst>
                </a:gridCol>
              </a:tblGrid>
              <a:tr h="370840">
                <a:tc>
                  <a:txBody>
                    <a:bodyPr/>
                    <a:lstStyle/>
                    <a:p>
                      <a:r>
                        <a:rPr lang="en-IN" dirty="0"/>
                        <a:t>PCA</a:t>
                      </a:r>
                    </a:p>
                  </a:txBody>
                  <a:tcPr/>
                </a:tc>
                <a:tc>
                  <a:txBody>
                    <a:bodyPr/>
                    <a:lstStyle/>
                    <a:p>
                      <a:r>
                        <a:rPr lang="en-IN" dirty="0"/>
                        <a:t>Autoencoder</a:t>
                      </a:r>
                    </a:p>
                  </a:txBody>
                  <a:tcPr/>
                </a:tc>
                <a:extLst>
                  <a:ext uri="{0D108BD9-81ED-4DB2-BD59-A6C34878D82A}">
                    <a16:rowId xmlns:a16="http://schemas.microsoft.com/office/drawing/2014/main" val="2211066451"/>
                  </a:ext>
                </a:extLst>
              </a:tr>
              <a:tr h="370840">
                <a:tc>
                  <a:txBody>
                    <a:bodyPr/>
                    <a:lstStyle/>
                    <a:p>
                      <a:r>
                        <a:rPr lang="en-IN" dirty="0"/>
                        <a:t>It performs only linear transformation</a:t>
                      </a:r>
                    </a:p>
                  </a:txBody>
                  <a:tcPr/>
                </a:tc>
                <a:tc>
                  <a:txBody>
                    <a:bodyPr/>
                    <a:lstStyle/>
                    <a:p>
                      <a:r>
                        <a:rPr lang="en-IN" dirty="0"/>
                        <a:t>It can perform linear as well as non-linear transformation</a:t>
                      </a:r>
                    </a:p>
                  </a:txBody>
                  <a:tcPr/>
                </a:tc>
                <a:extLst>
                  <a:ext uri="{0D108BD9-81ED-4DB2-BD59-A6C34878D82A}">
                    <a16:rowId xmlns:a16="http://schemas.microsoft.com/office/drawing/2014/main" val="2266998083"/>
                  </a:ext>
                </a:extLst>
              </a:tr>
              <a:tr h="370840">
                <a:tc>
                  <a:txBody>
                    <a:bodyPr/>
                    <a:lstStyle/>
                    <a:p>
                      <a:r>
                        <a:rPr lang="en-IN" dirty="0"/>
                        <a:t>It reconstructs the input with significantly higher loss as compared to Autoencoder</a:t>
                      </a:r>
                    </a:p>
                  </a:txBody>
                  <a:tcPr/>
                </a:tc>
                <a:tc>
                  <a:txBody>
                    <a:bodyPr/>
                    <a:lstStyle/>
                    <a:p>
                      <a:r>
                        <a:rPr lang="en-IN" dirty="0"/>
                        <a:t>It reconstructs the input with significantly lower loss as compared to PCA</a:t>
                      </a:r>
                    </a:p>
                  </a:txBody>
                  <a:tcPr/>
                </a:tc>
                <a:extLst>
                  <a:ext uri="{0D108BD9-81ED-4DB2-BD59-A6C34878D82A}">
                    <a16:rowId xmlns:a16="http://schemas.microsoft.com/office/drawing/2014/main" val="176464159"/>
                  </a:ext>
                </a:extLst>
              </a:tr>
            </a:tbl>
          </a:graphicData>
        </a:graphic>
      </p:graphicFrame>
      <p:pic>
        <p:nvPicPr>
          <p:cNvPr id="6" name="Picture 5">
            <a:extLst>
              <a:ext uri="{FF2B5EF4-FFF2-40B4-BE49-F238E27FC236}">
                <a16:creationId xmlns:a16="http://schemas.microsoft.com/office/drawing/2014/main" id="{71322A7C-6B5E-83AC-4C9F-772DFD4EAC09}"/>
              </a:ext>
            </a:extLst>
          </p:cNvPr>
          <p:cNvPicPr>
            <a:picLocks noChangeAspect="1"/>
          </p:cNvPicPr>
          <p:nvPr/>
        </p:nvPicPr>
        <p:blipFill rotWithShape="1">
          <a:blip r:embed="rId2"/>
          <a:srcRect l="4668" t="13054" r="12636"/>
          <a:stretch/>
        </p:blipFill>
        <p:spPr>
          <a:xfrm>
            <a:off x="6949440" y="109610"/>
            <a:ext cx="5106575" cy="2099018"/>
          </a:xfrm>
          <a:prstGeom prst="rect">
            <a:avLst/>
          </a:prstGeom>
          <a:ln>
            <a:solidFill>
              <a:srgbClr val="000000"/>
            </a:solidFill>
          </a:ln>
        </p:spPr>
      </p:pic>
      <p:sp>
        <p:nvSpPr>
          <p:cNvPr id="7" name="TextBox 6">
            <a:extLst>
              <a:ext uri="{FF2B5EF4-FFF2-40B4-BE49-F238E27FC236}">
                <a16:creationId xmlns:a16="http://schemas.microsoft.com/office/drawing/2014/main" id="{A5D28A45-2FFD-57EC-1CED-114B9C4B06C2}"/>
              </a:ext>
            </a:extLst>
          </p:cNvPr>
          <p:cNvSpPr txBox="1"/>
          <p:nvPr/>
        </p:nvSpPr>
        <p:spPr>
          <a:xfrm>
            <a:off x="1156680" y="2313111"/>
            <a:ext cx="10899335" cy="2446824"/>
          </a:xfrm>
          <a:prstGeom prst="rect">
            <a:avLst/>
          </a:prstGeom>
          <a:noFill/>
          <a:ln>
            <a:solidFill>
              <a:srgbClr val="000000"/>
            </a:solidFill>
          </a:ln>
        </p:spPr>
        <p:txBody>
          <a:bodyPr wrap="square" rtlCol="0">
            <a:spAutoFit/>
          </a:bodyPr>
          <a:lstStyle/>
          <a:p>
            <a:pPr>
              <a:lnSpc>
                <a:spcPct val="150000"/>
              </a:lnSpc>
            </a:pPr>
            <a:r>
              <a:rPr lang="en-IN" b="1" dirty="0"/>
              <a:t>Given a set of data (Red dots in the above image)….</a:t>
            </a:r>
          </a:p>
          <a:p>
            <a:pPr>
              <a:lnSpc>
                <a:spcPct val="150000"/>
              </a:lnSpc>
            </a:pPr>
            <a:r>
              <a:rPr lang="en-IN" dirty="0"/>
              <a:t>… Its converted into 2 principle components (PC1and PC2) using PCA. Here data is transformed into a plane defined by PC1 and PC2. Its transformed into a straight line (Pink line).  </a:t>
            </a:r>
          </a:p>
          <a:p>
            <a:pPr>
              <a:lnSpc>
                <a:spcPct val="150000"/>
              </a:lnSpc>
            </a:pPr>
            <a:r>
              <a:rPr lang="en-IN" dirty="0"/>
              <a:t>…..For the same data Autoencoders will learn the inner structure present in the data that is not linear and transform it into a non linear structure (Blue curve).</a:t>
            </a:r>
          </a:p>
          <a:p>
            <a:r>
              <a:rPr lang="en-IN" dirty="0"/>
              <a:t>.</a:t>
            </a:r>
            <a:r>
              <a:rPr lang="en-US" dirty="0"/>
              <a:t> </a:t>
            </a:r>
            <a:r>
              <a:rPr lang="en-US" sz="1700" b="1" dirty="0"/>
              <a:t>**If Neural network uses linear activation function, output of PCA and Neural network will be same</a:t>
            </a:r>
            <a:r>
              <a:rPr lang="en-US" b="1" dirty="0"/>
              <a:t>. </a:t>
            </a:r>
            <a:endParaRPr lang="en-IN" b="1" dirty="0"/>
          </a:p>
        </p:txBody>
      </p:sp>
    </p:spTree>
    <p:extLst>
      <p:ext uri="{BB962C8B-B14F-4D97-AF65-F5344CB8AC3E}">
        <p14:creationId xmlns:p14="http://schemas.microsoft.com/office/powerpoint/2010/main" val="3171160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B92B5-1227-229C-5969-0AB91E838AE4}"/>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643856A8-A7AF-235A-7C1D-D0CFC2CE0EED}"/>
              </a:ext>
            </a:extLst>
          </p:cNvPr>
          <p:cNvPicPr>
            <a:picLocks noGrp="1" noChangeAspect="1"/>
          </p:cNvPicPr>
          <p:nvPr>
            <p:ph idx="1"/>
          </p:nvPr>
        </p:nvPicPr>
        <p:blipFill rotWithShape="1">
          <a:blip r:embed="rId2"/>
          <a:srcRect l="-1" t="1693" r="10239"/>
          <a:stretch/>
        </p:blipFill>
        <p:spPr>
          <a:xfrm>
            <a:off x="0" y="0"/>
            <a:ext cx="12192000" cy="3785438"/>
          </a:xfrm>
          <a:ln>
            <a:solidFill>
              <a:srgbClr val="000000"/>
            </a:solidFill>
          </a:ln>
        </p:spPr>
      </p:pic>
      <p:sp>
        <p:nvSpPr>
          <p:cNvPr id="4" name="Slide Number Placeholder 3">
            <a:extLst>
              <a:ext uri="{FF2B5EF4-FFF2-40B4-BE49-F238E27FC236}">
                <a16:creationId xmlns:a16="http://schemas.microsoft.com/office/drawing/2014/main" id="{FB613382-5145-1608-496A-743A6CFE8512}"/>
              </a:ext>
            </a:extLst>
          </p:cNvPr>
          <p:cNvSpPr>
            <a:spLocks noGrp="1"/>
          </p:cNvSpPr>
          <p:nvPr>
            <p:ph type="sldNum" sz="quarter" idx="12"/>
          </p:nvPr>
        </p:nvSpPr>
        <p:spPr/>
        <p:txBody>
          <a:bodyPr/>
          <a:lstStyle/>
          <a:p>
            <a:pPr>
              <a:defRPr/>
            </a:pPr>
            <a:fld id="{9AD681D7-8A59-4380-9311-10B86FF921AA}" type="slidenum">
              <a:rPr lang="en-US" altLang="zh-TW" smtClean="0"/>
              <a:pPr>
                <a:defRPr/>
              </a:pPr>
              <a:t>34</a:t>
            </a:fld>
            <a:endParaRPr lang="en-US" altLang="zh-TW"/>
          </a:p>
        </p:txBody>
      </p:sp>
      <p:sp>
        <p:nvSpPr>
          <p:cNvPr id="7" name="TextBox 6">
            <a:extLst>
              <a:ext uri="{FF2B5EF4-FFF2-40B4-BE49-F238E27FC236}">
                <a16:creationId xmlns:a16="http://schemas.microsoft.com/office/drawing/2014/main" id="{0BFC6C31-CA82-45DF-CFB8-7F05D9C7D7E8}"/>
              </a:ext>
            </a:extLst>
          </p:cNvPr>
          <p:cNvSpPr txBox="1"/>
          <p:nvPr/>
        </p:nvSpPr>
        <p:spPr>
          <a:xfrm>
            <a:off x="112184" y="2948640"/>
            <a:ext cx="2613216" cy="338554"/>
          </a:xfrm>
          <a:prstGeom prst="rect">
            <a:avLst/>
          </a:prstGeom>
          <a:noFill/>
          <a:ln>
            <a:solidFill>
              <a:srgbClr val="000000"/>
            </a:solidFill>
          </a:ln>
        </p:spPr>
        <p:txBody>
          <a:bodyPr wrap="none" rtlCol="0">
            <a:spAutoFit/>
          </a:bodyPr>
          <a:lstStyle/>
          <a:p>
            <a:r>
              <a:rPr lang="en-IN" sz="1600" b="1" dirty="0"/>
              <a:t>30 Principle components</a:t>
            </a:r>
          </a:p>
        </p:txBody>
      </p:sp>
      <p:pic>
        <p:nvPicPr>
          <p:cNvPr id="9" name="Picture 8">
            <a:extLst>
              <a:ext uri="{FF2B5EF4-FFF2-40B4-BE49-F238E27FC236}">
                <a16:creationId xmlns:a16="http://schemas.microsoft.com/office/drawing/2014/main" id="{EDBD6798-C704-7FDB-CB59-9C6F6A3728F0}"/>
              </a:ext>
            </a:extLst>
          </p:cNvPr>
          <p:cNvPicPr>
            <a:picLocks noChangeAspect="1"/>
          </p:cNvPicPr>
          <p:nvPr/>
        </p:nvPicPr>
        <p:blipFill rotWithShape="1">
          <a:blip r:embed="rId3"/>
          <a:srcRect b="6054"/>
          <a:stretch/>
        </p:blipFill>
        <p:spPr>
          <a:xfrm>
            <a:off x="0" y="3785438"/>
            <a:ext cx="12192000" cy="3072562"/>
          </a:xfrm>
          <a:prstGeom prst="rect">
            <a:avLst/>
          </a:prstGeom>
          <a:ln>
            <a:solidFill>
              <a:srgbClr val="000000"/>
            </a:solidFill>
          </a:ln>
        </p:spPr>
      </p:pic>
      <p:pic>
        <p:nvPicPr>
          <p:cNvPr id="11" name="Picture 10">
            <a:extLst>
              <a:ext uri="{FF2B5EF4-FFF2-40B4-BE49-F238E27FC236}">
                <a16:creationId xmlns:a16="http://schemas.microsoft.com/office/drawing/2014/main" id="{3A7E222A-DB45-5634-668C-DDF3E1441B24}"/>
              </a:ext>
            </a:extLst>
          </p:cNvPr>
          <p:cNvPicPr>
            <a:picLocks noChangeAspect="1"/>
          </p:cNvPicPr>
          <p:nvPr/>
        </p:nvPicPr>
        <p:blipFill>
          <a:blip r:embed="rId4"/>
          <a:stretch>
            <a:fillRect/>
          </a:stretch>
        </p:blipFill>
        <p:spPr>
          <a:xfrm>
            <a:off x="11139425" y="4225884"/>
            <a:ext cx="885949" cy="276264"/>
          </a:xfrm>
          <a:prstGeom prst="rect">
            <a:avLst/>
          </a:prstGeom>
        </p:spPr>
      </p:pic>
      <p:pic>
        <p:nvPicPr>
          <p:cNvPr id="13" name="Picture 12">
            <a:extLst>
              <a:ext uri="{FF2B5EF4-FFF2-40B4-BE49-F238E27FC236}">
                <a16:creationId xmlns:a16="http://schemas.microsoft.com/office/drawing/2014/main" id="{E90B09EC-93B3-5700-EB91-4C97C6F0340D}"/>
              </a:ext>
            </a:extLst>
          </p:cNvPr>
          <p:cNvPicPr>
            <a:picLocks noChangeAspect="1"/>
          </p:cNvPicPr>
          <p:nvPr/>
        </p:nvPicPr>
        <p:blipFill>
          <a:blip r:embed="rId5"/>
          <a:stretch>
            <a:fillRect/>
          </a:stretch>
        </p:blipFill>
        <p:spPr>
          <a:xfrm>
            <a:off x="11158478" y="5204549"/>
            <a:ext cx="866896" cy="285790"/>
          </a:xfrm>
          <a:prstGeom prst="rect">
            <a:avLst/>
          </a:prstGeom>
        </p:spPr>
      </p:pic>
      <p:pic>
        <p:nvPicPr>
          <p:cNvPr id="15" name="Picture 14">
            <a:extLst>
              <a:ext uri="{FF2B5EF4-FFF2-40B4-BE49-F238E27FC236}">
                <a16:creationId xmlns:a16="http://schemas.microsoft.com/office/drawing/2014/main" id="{63273A98-63D2-1E2D-B38F-9754D599FC58}"/>
              </a:ext>
            </a:extLst>
          </p:cNvPr>
          <p:cNvPicPr>
            <a:picLocks noChangeAspect="1"/>
          </p:cNvPicPr>
          <p:nvPr/>
        </p:nvPicPr>
        <p:blipFill>
          <a:blip r:embed="rId6"/>
          <a:stretch>
            <a:fillRect/>
          </a:stretch>
        </p:blipFill>
        <p:spPr>
          <a:xfrm>
            <a:off x="11120372" y="6087270"/>
            <a:ext cx="943107" cy="295316"/>
          </a:xfrm>
          <a:prstGeom prst="rect">
            <a:avLst/>
          </a:prstGeom>
        </p:spPr>
      </p:pic>
    </p:spTree>
    <p:extLst>
      <p:ext uri="{BB962C8B-B14F-4D97-AF65-F5344CB8AC3E}">
        <p14:creationId xmlns:p14="http://schemas.microsoft.com/office/powerpoint/2010/main" val="3111988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F953F-DF9A-DBA7-3409-554E1225F9CC}"/>
              </a:ext>
            </a:extLst>
          </p:cNvPr>
          <p:cNvSpPr>
            <a:spLocks noGrp="1"/>
          </p:cNvSpPr>
          <p:nvPr>
            <p:ph type="title"/>
          </p:nvPr>
        </p:nvSpPr>
        <p:spPr/>
        <p:txBody>
          <a:bodyPr/>
          <a:lstStyle/>
          <a:p>
            <a:r>
              <a:rPr lang="en-IN" dirty="0"/>
              <a:t>Stacked/Deep Autoencoder</a:t>
            </a:r>
          </a:p>
        </p:txBody>
      </p:sp>
      <p:pic>
        <p:nvPicPr>
          <p:cNvPr id="6" name="Content Placeholder 5">
            <a:extLst>
              <a:ext uri="{FF2B5EF4-FFF2-40B4-BE49-F238E27FC236}">
                <a16:creationId xmlns:a16="http://schemas.microsoft.com/office/drawing/2014/main" id="{61F4487A-B6BC-E1FA-7352-A082F1E9EF39}"/>
              </a:ext>
            </a:extLst>
          </p:cNvPr>
          <p:cNvPicPr>
            <a:picLocks noGrp="1" noChangeAspect="1"/>
          </p:cNvPicPr>
          <p:nvPr>
            <p:ph idx="1"/>
          </p:nvPr>
        </p:nvPicPr>
        <p:blipFill rotWithShape="1">
          <a:blip r:embed="rId2"/>
          <a:srcRect t="13252"/>
          <a:stretch/>
        </p:blipFill>
        <p:spPr>
          <a:xfrm>
            <a:off x="1135967" y="2855742"/>
            <a:ext cx="10220103" cy="3230733"/>
          </a:xfrm>
          <a:ln>
            <a:solidFill>
              <a:srgbClr val="000000"/>
            </a:solidFill>
          </a:ln>
        </p:spPr>
      </p:pic>
      <p:sp>
        <p:nvSpPr>
          <p:cNvPr id="4" name="Slide Number Placeholder 3">
            <a:extLst>
              <a:ext uri="{FF2B5EF4-FFF2-40B4-BE49-F238E27FC236}">
                <a16:creationId xmlns:a16="http://schemas.microsoft.com/office/drawing/2014/main" id="{F93FCA2B-3964-B5B6-EC2B-56E96C33D961}"/>
              </a:ext>
            </a:extLst>
          </p:cNvPr>
          <p:cNvSpPr>
            <a:spLocks noGrp="1"/>
          </p:cNvSpPr>
          <p:nvPr>
            <p:ph type="sldNum" sz="quarter" idx="12"/>
          </p:nvPr>
        </p:nvSpPr>
        <p:spPr/>
        <p:txBody>
          <a:bodyPr/>
          <a:lstStyle/>
          <a:p>
            <a:pPr>
              <a:defRPr/>
            </a:pPr>
            <a:fld id="{9AD681D7-8A59-4380-9311-10B86FF921AA}" type="slidenum">
              <a:rPr lang="en-US" altLang="zh-TW" smtClean="0"/>
              <a:pPr>
                <a:defRPr/>
              </a:pPr>
              <a:t>35</a:t>
            </a:fld>
            <a:endParaRPr lang="en-US" altLang="zh-TW"/>
          </a:p>
        </p:txBody>
      </p:sp>
      <p:sp>
        <p:nvSpPr>
          <p:cNvPr id="7" name="TextBox 6">
            <a:extLst>
              <a:ext uri="{FF2B5EF4-FFF2-40B4-BE49-F238E27FC236}">
                <a16:creationId xmlns:a16="http://schemas.microsoft.com/office/drawing/2014/main" id="{39A154AF-374A-FEF1-E31E-1D85DD0677A4}"/>
              </a:ext>
            </a:extLst>
          </p:cNvPr>
          <p:cNvSpPr txBox="1"/>
          <p:nvPr/>
        </p:nvSpPr>
        <p:spPr>
          <a:xfrm>
            <a:off x="2375029" y="6242050"/>
            <a:ext cx="2196933" cy="369332"/>
          </a:xfrm>
          <a:prstGeom prst="rect">
            <a:avLst/>
          </a:prstGeom>
          <a:noFill/>
          <a:ln>
            <a:solidFill>
              <a:srgbClr val="000000"/>
            </a:solidFill>
          </a:ln>
        </p:spPr>
        <p:txBody>
          <a:bodyPr wrap="square" rtlCol="0">
            <a:spAutoFit/>
          </a:bodyPr>
          <a:lstStyle/>
          <a:p>
            <a:r>
              <a:rPr lang="en-IN" b="1" dirty="0"/>
              <a:t>Encoder</a:t>
            </a:r>
          </a:p>
        </p:txBody>
      </p:sp>
      <p:sp>
        <p:nvSpPr>
          <p:cNvPr id="8" name="TextBox 7">
            <a:extLst>
              <a:ext uri="{FF2B5EF4-FFF2-40B4-BE49-F238E27FC236}">
                <a16:creationId xmlns:a16="http://schemas.microsoft.com/office/drawing/2014/main" id="{87B3317A-4D1C-E994-BC36-68EA099BD1F8}"/>
              </a:ext>
            </a:extLst>
          </p:cNvPr>
          <p:cNvSpPr txBox="1"/>
          <p:nvPr/>
        </p:nvSpPr>
        <p:spPr>
          <a:xfrm>
            <a:off x="5162843" y="6242050"/>
            <a:ext cx="2196933" cy="369332"/>
          </a:xfrm>
          <a:prstGeom prst="rect">
            <a:avLst/>
          </a:prstGeom>
          <a:noFill/>
          <a:ln>
            <a:solidFill>
              <a:srgbClr val="000000"/>
            </a:solidFill>
          </a:ln>
        </p:spPr>
        <p:txBody>
          <a:bodyPr wrap="square" rtlCol="0">
            <a:spAutoFit/>
          </a:bodyPr>
          <a:lstStyle/>
          <a:p>
            <a:r>
              <a:rPr lang="en-IN" b="1" dirty="0"/>
              <a:t>Decoder</a:t>
            </a:r>
          </a:p>
        </p:txBody>
      </p:sp>
      <p:sp>
        <p:nvSpPr>
          <p:cNvPr id="9" name="TextBox 8">
            <a:extLst>
              <a:ext uri="{FF2B5EF4-FFF2-40B4-BE49-F238E27FC236}">
                <a16:creationId xmlns:a16="http://schemas.microsoft.com/office/drawing/2014/main" id="{09FD82AB-3FFF-9C16-14FC-97A2AA4BD855}"/>
              </a:ext>
            </a:extLst>
          </p:cNvPr>
          <p:cNvSpPr txBox="1"/>
          <p:nvPr/>
        </p:nvSpPr>
        <p:spPr>
          <a:xfrm>
            <a:off x="1161691" y="2330835"/>
            <a:ext cx="10537949" cy="369332"/>
          </a:xfrm>
          <a:prstGeom prst="rect">
            <a:avLst/>
          </a:prstGeom>
          <a:noFill/>
        </p:spPr>
        <p:txBody>
          <a:bodyPr wrap="none" rtlCol="0">
            <a:spAutoFit/>
          </a:bodyPr>
          <a:lstStyle/>
          <a:p>
            <a:r>
              <a:rPr lang="en-IN" b="1" dirty="0"/>
              <a:t>****It includes stacks of hidden layers placed in cascade manner. Depth indicates power of AE </a:t>
            </a:r>
          </a:p>
        </p:txBody>
      </p:sp>
      <p:sp>
        <p:nvSpPr>
          <p:cNvPr id="10" name="TextBox 9">
            <a:extLst>
              <a:ext uri="{FF2B5EF4-FFF2-40B4-BE49-F238E27FC236}">
                <a16:creationId xmlns:a16="http://schemas.microsoft.com/office/drawing/2014/main" id="{41B926D5-5B03-9188-A7FA-82EABFF04C83}"/>
              </a:ext>
            </a:extLst>
          </p:cNvPr>
          <p:cNvSpPr txBox="1"/>
          <p:nvPr/>
        </p:nvSpPr>
        <p:spPr>
          <a:xfrm>
            <a:off x="4240080" y="61952"/>
            <a:ext cx="7951920" cy="369332"/>
          </a:xfrm>
          <a:prstGeom prst="rect">
            <a:avLst/>
          </a:prstGeom>
          <a:noFill/>
        </p:spPr>
        <p:txBody>
          <a:bodyPr wrap="none" rtlCol="0">
            <a:spAutoFit/>
          </a:bodyPr>
          <a:lstStyle/>
          <a:p>
            <a:r>
              <a:rPr lang="en-IN" b="1" dirty="0"/>
              <a:t>Weight matrices.. Encoder side W1 and W2, Decoder side W1’and W2’  </a:t>
            </a:r>
          </a:p>
        </p:txBody>
      </p:sp>
    </p:spTree>
    <p:extLst>
      <p:ext uri="{BB962C8B-B14F-4D97-AF65-F5344CB8AC3E}">
        <p14:creationId xmlns:p14="http://schemas.microsoft.com/office/powerpoint/2010/main" val="3314655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F953F-DF9A-DBA7-3409-554E1225F9CC}"/>
              </a:ext>
            </a:extLst>
          </p:cNvPr>
          <p:cNvSpPr>
            <a:spLocks noGrp="1"/>
          </p:cNvSpPr>
          <p:nvPr>
            <p:ph type="title"/>
          </p:nvPr>
        </p:nvSpPr>
        <p:spPr/>
        <p:txBody>
          <a:bodyPr/>
          <a:lstStyle/>
          <a:p>
            <a:r>
              <a:rPr lang="en-IN" dirty="0"/>
              <a:t>Training of Stacked/Deep Autoencoder</a:t>
            </a:r>
          </a:p>
        </p:txBody>
      </p:sp>
      <p:pic>
        <p:nvPicPr>
          <p:cNvPr id="6" name="Content Placeholder 5">
            <a:extLst>
              <a:ext uri="{FF2B5EF4-FFF2-40B4-BE49-F238E27FC236}">
                <a16:creationId xmlns:a16="http://schemas.microsoft.com/office/drawing/2014/main" id="{61F4487A-B6BC-E1FA-7352-A082F1E9EF39}"/>
              </a:ext>
            </a:extLst>
          </p:cNvPr>
          <p:cNvPicPr>
            <a:picLocks noGrp="1" noChangeAspect="1"/>
          </p:cNvPicPr>
          <p:nvPr>
            <p:ph idx="1"/>
          </p:nvPr>
        </p:nvPicPr>
        <p:blipFill rotWithShape="1">
          <a:blip r:embed="rId2"/>
          <a:srcRect t="13252"/>
          <a:stretch/>
        </p:blipFill>
        <p:spPr>
          <a:xfrm>
            <a:off x="112184" y="2307102"/>
            <a:ext cx="5983816" cy="3221501"/>
          </a:xfrm>
          <a:ln>
            <a:solidFill>
              <a:srgbClr val="000000"/>
            </a:solidFill>
          </a:ln>
        </p:spPr>
      </p:pic>
      <p:sp>
        <p:nvSpPr>
          <p:cNvPr id="4" name="Slide Number Placeholder 3">
            <a:extLst>
              <a:ext uri="{FF2B5EF4-FFF2-40B4-BE49-F238E27FC236}">
                <a16:creationId xmlns:a16="http://schemas.microsoft.com/office/drawing/2014/main" id="{F93FCA2B-3964-B5B6-EC2B-56E96C33D961}"/>
              </a:ext>
            </a:extLst>
          </p:cNvPr>
          <p:cNvSpPr>
            <a:spLocks noGrp="1"/>
          </p:cNvSpPr>
          <p:nvPr>
            <p:ph type="sldNum" sz="quarter" idx="12"/>
          </p:nvPr>
        </p:nvSpPr>
        <p:spPr/>
        <p:txBody>
          <a:bodyPr/>
          <a:lstStyle/>
          <a:p>
            <a:pPr>
              <a:defRPr/>
            </a:pPr>
            <a:fld id="{9AD681D7-8A59-4380-9311-10B86FF921AA}" type="slidenum">
              <a:rPr lang="en-US" altLang="zh-TW" smtClean="0"/>
              <a:pPr>
                <a:defRPr/>
              </a:pPr>
              <a:t>36</a:t>
            </a:fld>
            <a:endParaRPr lang="en-US" altLang="zh-TW"/>
          </a:p>
        </p:txBody>
      </p:sp>
      <p:sp>
        <p:nvSpPr>
          <p:cNvPr id="7" name="TextBox 6">
            <a:extLst>
              <a:ext uri="{FF2B5EF4-FFF2-40B4-BE49-F238E27FC236}">
                <a16:creationId xmlns:a16="http://schemas.microsoft.com/office/drawing/2014/main" id="{39A154AF-374A-FEF1-E31E-1D85DD0677A4}"/>
              </a:ext>
            </a:extLst>
          </p:cNvPr>
          <p:cNvSpPr txBox="1"/>
          <p:nvPr/>
        </p:nvSpPr>
        <p:spPr>
          <a:xfrm>
            <a:off x="661719" y="5572691"/>
            <a:ext cx="1465710" cy="369332"/>
          </a:xfrm>
          <a:prstGeom prst="rect">
            <a:avLst/>
          </a:prstGeom>
          <a:noFill/>
          <a:ln>
            <a:solidFill>
              <a:srgbClr val="000000"/>
            </a:solidFill>
          </a:ln>
        </p:spPr>
        <p:txBody>
          <a:bodyPr wrap="square" rtlCol="0">
            <a:spAutoFit/>
          </a:bodyPr>
          <a:lstStyle/>
          <a:p>
            <a:r>
              <a:rPr lang="en-IN" b="1" dirty="0"/>
              <a:t>Encoder</a:t>
            </a:r>
          </a:p>
        </p:txBody>
      </p:sp>
      <p:sp>
        <p:nvSpPr>
          <p:cNvPr id="8" name="TextBox 7">
            <a:extLst>
              <a:ext uri="{FF2B5EF4-FFF2-40B4-BE49-F238E27FC236}">
                <a16:creationId xmlns:a16="http://schemas.microsoft.com/office/drawing/2014/main" id="{87B3317A-4D1C-E994-BC36-68EA099BD1F8}"/>
              </a:ext>
            </a:extLst>
          </p:cNvPr>
          <p:cNvSpPr txBox="1"/>
          <p:nvPr/>
        </p:nvSpPr>
        <p:spPr>
          <a:xfrm>
            <a:off x="2588455" y="5572691"/>
            <a:ext cx="1252025" cy="369332"/>
          </a:xfrm>
          <a:prstGeom prst="rect">
            <a:avLst/>
          </a:prstGeom>
          <a:noFill/>
          <a:ln>
            <a:solidFill>
              <a:srgbClr val="000000"/>
            </a:solidFill>
          </a:ln>
        </p:spPr>
        <p:txBody>
          <a:bodyPr wrap="square" rtlCol="0">
            <a:spAutoFit/>
          </a:bodyPr>
          <a:lstStyle/>
          <a:p>
            <a:r>
              <a:rPr lang="en-IN" b="1" dirty="0"/>
              <a:t>Decoder</a:t>
            </a:r>
          </a:p>
        </p:txBody>
      </p:sp>
      <p:sp>
        <p:nvSpPr>
          <p:cNvPr id="9" name="TextBox 8">
            <a:extLst>
              <a:ext uri="{FF2B5EF4-FFF2-40B4-BE49-F238E27FC236}">
                <a16:creationId xmlns:a16="http://schemas.microsoft.com/office/drawing/2014/main" id="{09FD82AB-3FFF-9C16-14FC-97A2AA4BD855}"/>
              </a:ext>
            </a:extLst>
          </p:cNvPr>
          <p:cNvSpPr txBox="1"/>
          <p:nvPr/>
        </p:nvSpPr>
        <p:spPr>
          <a:xfrm>
            <a:off x="6208184" y="2307102"/>
            <a:ext cx="5983816" cy="4632037"/>
          </a:xfrm>
          <a:prstGeom prst="rect">
            <a:avLst/>
          </a:prstGeom>
          <a:noFill/>
          <a:ln>
            <a:solidFill>
              <a:srgbClr val="000000"/>
            </a:solidFill>
          </a:ln>
        </p:spPr>
        <p:txBody>
          <a:bodyPr wrap="square" rtlCol="0">
            <a:spAutoFit/>
          </a:bodyPr>
          <a:lstStyle/>
          <a:p>
            <a:pPr indent="-84138">
              <a:spcAft>
                <a:spcPts val="600"/>
              </a:spcAft>
              <a:buFont typeface="Arial" panose="020B0604020202020204" pitchFamily="34" charset="0"/>
              <a:buChar char="•"/>
            </a:pPr>
            <a:r>
              <a:rPr lang="en-IN" sz="1500" dirty="0"/>
              <a:t>It includes </a:t>
            </a:r>
            <a:r>
              <a:rPr lang="en-IN" sz="1500" dirty="0">
                <a:solidFill>
                  <a:srgbClr val="FF0000"/>
                </a:solidFill>
              </a:rPr>
              <a:t>stacks of hidden layers placed in cascade manner </a:t>
            </a:r>
            <a:r>
              <a:rPr lang="en-IN" sz="1500" dirty="0"/>
              <a:t>and Depth indicates power of AE.</a:t>
            </a:r>
          </a:p>
          <a:p>
            <a:pPr indent="-84138">
              <a:spcAft>
                <a:spcPts val="600"/>
              </a:spcAft>
              <a:buFont typeface="Arial" panose="020B0604020202020204" pitchFamily="34" charset="0"/>
              <a:buChar char="•"/>
            </a:pPr>
            <a:r>
              <a:rPr lang="en-IN" sz="1500" b="1" dirty="0"/>
              <a:t>Weight matrices.. </a:t>
            </a:r>
          </a:p>
          <a:p>
            <a:pPr marL="365125">
              <a:spcAft>
                <a:spcPts val="600"/>
              </a:spcAft>
              <a:buFont typeface="Wingdings" panose="05000000000000000000" pitchFamily="2" charset="2"/>
              <a:buChar char="ü"/>
            </a:pPr>
            <a:r>
              <a:rPr lang="en-IN" sz="1500" b="1" dirty="0"/>
              <a:t>Encoder side W1 and W2 </a:t>
            </a:r>
            <a:r>
              <a:rPr lang="en-IN" sz="1500" dirty="0"/>
              <a:t>and </a:t>
            </a:r>
            <a:r>
              <a:rPr lang="en-IN" sz="1500" b="1" dirty="0"/>
              <a:t>Decoder side W1’and W2’. </a:t>
            </a:r>
          </a:p>
          <a:p>
            <a:pPr indent="-84138">
              <a:spcAft>
                <a:spcPts val="600"/>
              </a:spcAft>
              <a:buFont typeface="Arial" panose="020B0604020202020204" pitchFamily="34" charset="0"/>
              <a:buChar char="•"/>
            </a:pPr>
            <a:r>
              <a:rPr lang="en-IN" sz="1500" dirty="0"/>
              <a:t>Deeper the network more will be the weight matrices. </a:t>
            </a:r>
          </a:p>
          <a:p>
            <a:pPr indent="-84138">
              <a:spcAft>
                <a:spcPts val="600"/>
              </a:spcAft>
              <a:buFont typeface="Arial" panose="020B0604020202020204" pitchFamily="34" charset="0"/>
              <a:buChar char="•"/>
            </a:pPr>
            <a:r>
              <a:rPr lang="en-IN" sz="1500" b="1" dirty="0"/>
              <a:t>Its problematic to handle too many matrices for Deep AE  </a:t>
            </a:r>
          </a:p>
          <a:p>
            <a:pPr marL="450850" indent="-184150">
              <a:spcAft>
                <a:spcPts val="600"/>
              </a:spcAft>
              <a:buFont typeface="Wingdings" panose="05000000000000000000" pitchFamily="2" charset="2"/>
              <a:buChar char="ü"/>
            </a:pPr>
            <a:r>
              <a:rPr lang="en-IN" sz="1500" b="1" dirty="0"/>
              <a:t>Memory</a:t>
            </a:r>
            <a:r>
              <a:rPr lang="en-IN" sz="1500" dirty="0"/>
              <a:t> requirement is </a:t>
            </a:r>
            <a:r>
              <a:rPr lang="en-IN" sz="1500" b="1" dirty="0"/>
              <a:t>higher</a:t>
            </a:r>
            <a:r>
              <a:rPr lang="en-IN" sz="1500" dirty="0"/>
              <a:t>. </a:t>
            </a:r>
          </a:p>
          <a:p>
            <a:pPr marL="450850" indent="-184150">
              <a:spcAft>
                <a:spcPts val="600"/>
              </a:spcAft>
              <a:buFont typeface="Wingdings" panose="05000000000000000000" pitchFamily="2" charset="2"/>
              <a:buChar char="ü"/>
            </a:pPr>
            <a:r>
              <a:rPr lang="en-IN" sz="1500" dirty="0"/>
              <a:t>If </a:t>
            </a:r>
            <a:r>
              <a:rPr lang="en-IN" sz="1500" b="1" dirty="0"/>
              <a:t>weight matrices are close to solution weights convergence is faster. </a:t>
            </a:r>
          </a:p>
          <a:p>
            <a:pPr marL="450850" indent="-184150">
              <a:spcAft>
                <a:spcPts val="600"/>
              </a:spcAft>
              <a:buFont typeface="Wingdings" panose="05000000000000000000" pitchFamily="2" charset="2"/>
              <a:buChar char="ü"/>
            </a:pPr>
            <a:r>
              <a:rPr lang="en-IN" sz="1500" dirty="0"/>
              <a:t>If </a:t>
            </a:r>
            <a:r>
              <a:rPr lang="en-IN" sz="1500" b="1" dirty="0"/>
              <a:t>weight elements are too large finding global minimum is difficult</a:t>
            </a:r>
            <a:r>
              <a:rPr lang="en-IN" sz="1500" dirty="0"/>
              <a:t>. </a:t>
            </a:r>
          </a:p>
          <a:p>
            <a:pPr marL="450850" indent="-184150">
              <a:spcAft>
                <a:spcPts val="600"/>
              </a:spcAft>
              <a:buFont typeface="Wingdings" panose="05000000000000000000" pitchFamily="2" charset="2"/>
              <a:buChar char="ü"/>
            </a:pPr>
            <a:r>
              <a:rPr lang="en-IN" sz="1500" dirty="0"/>
              <a:t>If </a:t>
            </a:r>
            <a:r>
              <a:rPr lang="en-IN" sz="1500" b="1" dirty="0"/>
              <a:t>weight elements are too small, convergence becomes too slow. </a:t>
            </a:r>
          </a:p>
          <a:p>
            <a:pPr indent="-84138">
              <a:spcAft>
                <a:spcPts val="600"/>
              </a:spcAft>
              <a:buFont typeface="Arial" panose="020B0604020202020204" pitchFamily="34" charset="0"/>
              <a:buChar char="•"/>
            </a:pPr>
            <a:r>
              <a:rPr lang="en-IN" sz="1500" b="1" dirty="0"/>
              <a:t>Therefore training of AE is done in two phases </a:t>
            </a:r>
          </a:p>
          <a:p>
            <a:pPr marL="450850" indent="-184150">
              <a:spcAft>
                <a:spcPts val="600"/>
              </a:spcAft>
              <a:buFont typeface="Wingdings" panose="05000000000000000000" pitchFamily="2" charset="2"/>
              <a:buChar char="ü"/>
            </a:pPr>
            <a:r>
              <a:rPr lang="en-IN" sz="1500" dirty="0">
                <a:solidFill>
                  <a:srgbClr val="FF0000"/>
                </a:solidFill>
              </a:rPr>
              <a:t>Pretraining- layer by layer </a:t>
            </a:r>
          </a:p>
          <a:p>
            <a:pPr marL="450850" indent="-184150">
              <a:spcAft>
                <a:spcPts val="600"/>
              </a:spcAft>
              <a:buFont typeface="Wingdings" panose="05000000000000000000" pitchFamily="2" charset="2"/>
              <a:buChar char="ü"/>
            </a:pPr>
            <a:r>
              <a:rPr lang="en-IN" sz="1500" dirty="0">
                <a:solidFill>
                  <a:srgbClr val="FF0000"/>
                </a:solidFill>
              </a:rPr>
              <a:t> Fine tuning.</a:t>
            </a:r>
          </a:p>
        </p:txBody>
      </p:sp>
    </p:spTree>
    <p:extLst>
      <p:ext uri="{BB962C8B-B14F-4D97-AF65-F5344CB8AC3E}">
        <p14:creationId xmlns:p14="http://schemas.microsoft.com/office/powerpoint/2010/main" val="25990699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FE8E1-CDF6-A188-510E-32109A6811E3}"/>
              </a:ext>
            </a:extLst>
          </p:cNvPr>
          <p:cNvSpPr>
            <a:spLocks noGrp="1"/>
          </p:cNvSpPr>
          <p:nvPr>
            <p:ph type="title"/>
          </p:nvPr>
        </p:nvSpPr>
        <p:spPr/>
        <p:txBody>
          <a:bodyPr/>
          <a:lstStyle/>
          <a:p>
            <a:endParaRPr lang="en-IN" dirty="0"/>
          </a:p>
        </p:txBody>
      </p:sp>
      <p:sp>
        <p:nvSpPr>
          <p:cNvPr id="4" name="Slide Number Placeholder 3">
            <a:extLst>
              <a:ext uri="{FF2B5EF4-FFF2-40B4-BE49-F238E27FC236}">
                <a16:creationId xmlns:a16="http://schemas.microsoft.com/office/drawing/2014/main" id="{ADB4E0E5-9597-ED14-5D0F-C09389824C7B}"/>
              </a:ext>
            </a:extLst>
          </p:cNvPr>
          <p:cNvSpPr>
            <a:spLocks noGrp="1"/>
          </p:cNvSpPr>
          <p:nvPr>
            <p:ph type="sldNum" sz="quarter" idx="12"/>
          </p:nvPr>
        </p:nvSpPr>
        <p:spPr/>
        <p:txBody>
          <a:bodyPr/>
          <a:lstStyle/>
          <a:p>
            <a:pPr>
              <a:defRPr/>
            </a:pPr>
            <a:fld id="{9AD681D7-8A59-4380-9311-10B86FF921AA}" type="slidenum">
              <a:rPr lang="en-US" altLang="zh-TW" smtClean="0"/>
              <a:pPr>
                <a:defRPr/>
              </a:pPr>
              <a:t>37</a:t>
            </a:fld>
            <a:endParaRPr lang="en-US" altLang="zh-TW"/>
          </a:p>
        </p:txBody>
      </p:sp>
      <p:pic>
        <p:nvPicPr>
          <p:cNvPr id="6" name="Picture 5">
            <a:extLst>
              <a:ext uri="{FF2B5EF4-FFF2-40B4-BE49-F238E27FC236}">
                <a16:creationId xmlns:a16="http://schemas.microsoft.com/office/drawing/2014/main" id="{B8726247-21FA-3C0F-C3DB-DF5620EF4F5B}"/>
              </a:ext>
            </a:extLst>
          </p:cNvPr>
          <p:cNvPicPr>
            <a:picLocks noChangeAspect="1"/>
          </p:cNvPicPr>
          <p:nvPr/>
        </p:nvPicPr>
        <p:blipFill>
          <a:blip r:embed="rId2"/>
          <a:stretch>
            <a:fillRect/>
          </a:stretch>
        </p:blipFill>
        <p:spPr>
          <a:xfrm>
            <a:off x="121918" y="0"/>
            <a:ext cx="3254327" cy="2362201"/>
          </a:xfrm>
          <a:prstGeom prst="rect">
            <a:avLst/>
          </a:prstGeom>
          <a:ln>
            <a:solidFill>
              <a:srgbClr val="000000"/>
            </a:solidFill>
          </a:ln>
        </p:spPr>
      </p:pic>
      <p:pic>
        <p:nvPicPr>
          <p:cNvPr id="8" name="Picture 7">
            <a:extLst>
              <a:ext uri="{FF2B5EF4-FFF2-40B4-BE49-F238E27FC236}">
                <a16:creationId xmlns:a16="http://schemas.microsoft.com/office/drawing/2014/main" id="{8AA02014-F946-7F1E-1561-4AB29CA9B2F1}"/>
              </a:ext>
            </a:extLst>
          </p:cNvPr>
          <p:cNvPicPr>
            <a:picLocks noChangeAspect="1"/>
          </p:cNvPicPr>
          <p:nvPr/>
        </p:nvPicPr>
        <p:blipFill rotWithShape="1">
          <a:blip r:embed="rId3"/>
          <a:srcRect l="2315" t="4587" b="1847"/>
          <a:stretch/>
        </p:blipFill>
        <p:spPr>
          <a:xfrm>
            <a:off x="3502855" y="0"/>
            <a:ext cx="3770142" cy="2362201"/>
          </a:xfrm>
          <a:prstGeom prst="rect">
            <a:avLst/>
          </a:prstGeom>
          <a:ln>
            <a:solidFill>
              <a:srgbClr val="000000"/>
            </a:solidFill>
          </a:ln>
        </p:spPr>
      </p:pic>
      <p:pic>
        <p:nvPicPr>
          <p:cNvPr id="10" name="Picture 9">
            <a:extLst>
              <a:ext uri="{FF2B5EF4-FFF2-40B4-BE49-F238E27FC236}">
                <a16:creationId xmlns:a16="http://schemas.microsoft.com/office/drawing/2014/main" id="{7DA64A80-BB11-1AEA-7F3B-CDEF8E47EA39}"/>
              </a:ext>
            </a:extLst>
          </p:cNvPr>
          <p:cNvPicPr>
            <a:picLocks noChangeAspect="1"/>
          </p:cNvPicPr>
          <p:nvPr/>
        </p:nvPicPr>
        <p:blipFill>
          <a:blip r:embed="rId4"/>
          <a:stretch>
            <a:fillRect/>
          </a:stretch>
        </p:blipFill>
        <p:spPr>
          <a:xfrm>
            <a:off x="7399607" y="0"/>
            <a:ext cx="4670474" cy="2362201"/>
          </a:xfrm>
          <a:prstGeom prst="rect">
            <a:avLst/>
          </a:prstGeom>
          <a:ln>
            <a:solidFill>
              <a:srgbClr val="000000"/>
            </a:solidFill>
          </a:ln>
        </p:spPr>
      </p:pic>
      <p:sp>
        <p:nvSpPr>
          <p:cNvPr id="11" name="TextBox 10">
            <a:extLst>
              <a:ext uri="{FF2B5EF4-FFF2-40B4-BE49-F238E27FC236}">
                <a16:creationId xmlns:a16="http://schemas.microsoft.com/office/drawing/2014/main" id="{03EAF97A-3D21-3E26-F5BC-63B96A226078}"/>
              </a:ext>
            </a:extLst>
          </p:cNvPr>
          <p:cNvSpPr txBox="1"/>
          <p:nvPr/>
        </p:nvSpPr>
        <p:spPr>
          <a:xfrm>
            <a:off x="368193" y="2420767"/>
            <a:ext cx="11162082" cy="584775"/>
          </a:xfrm>
          <a:prstGeom prst="rect">
            <a:avLst/>
          </a:prstGeom>
          <a:noFill/>
          <a:ln>
            <a:solidFill>
              <a:srgbClr val="000000"/>
            </a:solidFill>
          </a:ln>
        </p:spPr>
        <p:txBody>
          <a:bodyPr wrap="square" rtlCol="0">
            <a:spAutoFit/>
          </a:bodyPr>
          <a:lstStyle/>
          <a:p>
            <a:r>
              <a:rPr lang="en-IN" sz="1600" b="1" dirty="0"/>
              <a:t>Pretraining: STEP1                                      STEP2                                                             STEP3                             </a:t>
            </a:r>
          </a:p>
          <a:p>
            <a:r>
              <a:rPr lang="en-IN" sz="1600" b="1" dirty="0"/>
              <a:t> At the end we have pretrained values of W1, W2 and W3.</a:t>
            </a:r>
          </a:p>
        </p:txBody>
      </p:sp>
      <p:pic>
        <p:nvPicPr>
          <p:cNvPr id="13" name="Picture 12">
            <a:extLst>
              <a:ext uri="{FF2B5EF4-FFF2-40B4-BE49-F238E27FC236}">
                <a16:creationId xmlns:a16="http://schemas.microsoft.com/office/drawing/2014/main" id="{F822B7A3-1584-A779-10EA-C998A887E801}"/>
              </a:ext>
            </a:extLst>
          </p:cNvPr>
          <p:cNvPicPr>
            <a:picLocks noChangeAspect="1"/>
          </p:cNvPicPr>
          <p:nvPr/>
        </p:nvPicPr>
        <p:blipFill>
          <a:blip r:embed="rId5"/>
          <a:stretch>
            <a:fillRect/>
          </a:stretch>
        </p:blipFill>
        <p:spPr>
          <a:xfrm>
            <a:off x="738484" y="3083868"/>
            <a:ext cx="11031489" cy="2467026"/>
          </a:xfrm>
          <a:prstGeom prst="rect">
            <a:avLst/>
          </a:prstGeom>
          <a:ln>
            <a:solidFill>
              <a:srgbClr val="000000"/>
            </a:solidFill>
          </a:ln>
        </p:spPr>
      </p:pic>
      <p:sp>
        <p:nvSpPr>
          <p:cNvPr id="15" name="TextBox 14">
            <a:extLst>
              <a:ext uri="{FF2B5EF4-FFF2-40B4-BE49-F238E27FC236}">
                <a16:creationId xmlns:a16="http://schemas.microsoft.com/office/drawing/2014/main" id="{3621AEA4-DA64-5B4E-3AAD-5CFD526AEFAD}"/>
              </a:ext>
            </a:extLst>
          </p:cNvPr>
          <p:cNvSpPr txBox="1"/>
          <p:nvPr/>
        </p:nvSpPr>
        <p:spPr>
          <a:xfrm>
            <a:off x="1016001" y="5550894"/>
            <a:ext cx="10566400" cy="1323439"/>
          </a:xfrm>
          <a:prstGeom prst="rect">
            <a:avLst/>
          </a:prstGeom>
          <a:noFill/>
          <a:ln>
            <a:solidFill>
              <a:srgbClr val="000000"/>
            </a:solidFill>
          </a:ln>
        </p:spPr>
        <p:txBody>
          <a:bodyPr wrap="square">
            <a:spAutoFit/>
          </a:bodyPr>
          <a:lstStyle/>
          <a:p>
            <a:r>
              <a:rPr lang="en-IN" sz="1600" b="1" dirty="0"/>
              <a:t>Fine Tuning:  </a:t>
            </a:r>
          </a:p>
          <a:p>
            <a:pPr marL="182563" indent="-182563">
              <a:buFont typeface="Arial" panose="020B0604020202020204" pitchFamily="34" charset="0"/>
              <a:buChar char="•"/>
            </a:pPr>
            <a:r>
              <a:rPr lang="en-IN" sz="1600" b="1" dirty="0"/>
              <a:t>Decoder weights will be transposes of encoder weights. Train AE by end to end training mechanism.</a:t>
            </a:r>
          </a:p>
          <a:p>
            <a:pPr marL="182563" indent="-182563">
              <a:buFont typeface="Arial" panose="020B0604020202020204" pitchFamily="34" charset="0"/>
              <a:buChar char="•"/>
            </a:pPr>
            <a:r>
              <a:rPr lang="en-IN" sz="1600" b="1" dirty="0">
                <a:solidFill>
                  <a:srgbClr val="FF0000"/>
                </a:solidFill>
              </a:rPr>
              <a:t>Because network is pretrained, values of W1, W2 and W3 are closer to solution weights, as a result One or two iterations will be required for fine tuning. </a:t>
            </a:r>
          </a:p>
          <a:p>
            <a:pPr marL="182563" indent="-182563">
              <a:buFont typeface="Arial" panose="020B0604020202020204" pitchFamily="34" charset="0"/>
              <a:buChar char="•"/>
            </a:pPr>
            <a:r>
              <a:rPr lang="en-IN" sz="1600" b="1" dirty="0">
                <a:solidFill>
                  <a:srgbClr val="FF0000"/>
                </a:solidFill>
              </a:rPr>
              <a:t>Therefore, convergence will become faster and possibility of reaching global maximum enhances. </a:t>
            </a:r>
          </a:p>
        </p:txBody>
      </p:sp>
    </p:spTree>
    <p:extLst>
      <p:ext uri="{BB962C8B-B14F-4D97-AF65-F5344CB8AC3E}">
        <p14:creationId xmlns:p14="http://schemas.microsoft.com/office/powerpoint/2010/main" val="19883289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FA6AF-C1B1-4423-A80D-3F50A97A0510}"/>
              </a:ext>
            </a:extLst>
          </p:cNvPr>
          <p:cNvSpPr>
            <a:spLocks noGrp="1"/>
          </p:cNvSpPr>
          <p:nvPr>
            <p:ph type="title"/>
          </p:nvPr>
        </p:nvSpPr>
        <p:spPr>
          <a:xfrm>
            <a:off x="679116" y="1219201"/>
            <a:ext cx="10566400" cy="1143000"/>
          </a:xfrm>
        </p:spPr>
        <p:txBody>
          <a:bodyPr/>
          <a:lstStyle/>
          <a:p>
            <a:pPr marL="342900" marR="0" lvl="0" indent="-342900" defTabSz="914400" rtl="0" eaLnBrk="0" fontAlgn="base" latinLnBrk="0" hangingPunct="0">
              <a:lnSpc>
                <a:spcPct val="100000"/>
              </a:lnSpc>
              <a:spcBef>
                <a:spcPct val="20000"/>
              </a:spcBef>
              <a:spcAft>
                <a:spcPct val="0"/>
              </a:spcAft>
              <a:tabLst/>
              <a:defRPr/>
            </a:pPr>
            <a:br>
              <a:rPr lang="en-US" dirty="0"/>
            </a:br>
            <a:r>
              <a:rPr lang="en-US" dirty="0"/>
              <a:t>Autoencoders:</a:t>
            </a:r>
            <a:br>
              <a:rPr lang="en-US" dirty="0"/>
            </a:br>
            <a:endParaRPr lang="en-IN" dirty="0"/>
          </a:p>
        </p:txBody>
      </p:sp>
      <p:sp>
        <p:nvSpPr>
          <p:cNvPr id="3" name="Content Placeholder 2">
            <a:extLst>
              <a:ext uri="{FF2B5EF4-FFF2-40B4-BE49-F238E27FC236}">
                <a16:creationId xmlns:a16="http://schemas.microsoft.com/office/drawing/2014/main" id="{327491A8-44E2-4DD1-B457-5EEF5AE2811B}"/>
              </a:ext>
            </a:extLst>
          </p:cNvPr>
          <p:cNvSpPr>
            <a:spLocks noGrp="1"/>
          </p:cNvSpPr>
          <p:nvPr>
            <p:ph idx="1"/>
          </p:nvPr>
        </p:nvSpPr>
        <p:spPr>
          <a:xfrm>
            <a:off x="946485" y="2131093"/>
            <a:ext cx="11245515" cy="4726907"/>
          </a:xfrm>
          <a:ln>
            <a:solidFill>
              <a:srgbClr val="000000"/>
            </a:solidFill>
          </a:ln>
        </p:spPr>
        <p:txBody>
          <a:bodyPr/>
          <a:lstStyle/>
          <a:p>
            <a:pPr marL="0" indent="0">
              <a:lnSpc>
                <a:spcPct val="150000"/>
              </a:lnSpc>
              <a:buNone/>
            </a:pPr>
            <a:r>
              <a:rPr lang="en-US" sz="1800" b="1" dirty="0">
                <a:solidFill>
                  <a:srgbClr val="002060"/>
                </a:solidFill>
              </a:rPr>
              <a:t>Properties of Autoencoders:</a:t>
            </a:r>
            <a:br>
              <a:rPr lang="en-US" sz="1800" b="1" dirty="0">
                <a:solidFill>
                  <a:srgbClr val="002060"/>
                </a:solidFill>
              </a:rPr>
            </a:br>
            <a:r>
              <a:rPr kumimoji="0" lang="en-US" sz="1600" b="1" dirty="0">
                <a:solidFill>
                  <a:srgbClr val="002060"/>
                </a:solidFill>
                <a:ea typeface="新細明體"/>
              </a:rPr>
              <a:t>Data-specific: </a:t>
            </a:r>
            <a:r>
              <a:rPr kumimoji="0" lang="en-US" sz="1600" dirty="0">
                <a:solidFill>
                  <a:srgbClr val="002060"/>
                </a:solidFill>
                <a:ea typeface="新細明體"/>
              </a:rPr>
              <a:t>Autoencoders are </a:t>
            </a:r>
            <a:r>
              <a:rPr kumimoji="0" lang="en-US" sz="1600" b="1" dirty="0">
                <a:solidFill>
                  <a:srgbClr val="FF0000"/>
                </a:solidFill>
                <a:ea typeface="新細明體"/>
              </a:rPr>
              <a:t>only able to compress data similar to what they have been trained on.</a:t>
            </a:r>
          </a:p>
          <a:p>
            <a:pPr marL="0" indent="0">
              <a:lnSpc>
                <a:spcPct val="150000"/>
              </a:lnSpc>
              <a:buNone/>
            </a:pPr>
            <a:r>
              <a:rPr kumimoji="0" lang="en-US" sz="1600" b="1" dirty="0">
                <a:solidFill>
                  <a:srgbClr val="002060"/>
                </a:solidFill>
                <a:ea typeface="新細明體"/>
              </a:rPr>
              <a:t>Lossy: </a:t>
            </a:r>
            <a:r>
              <a:rPr kumimoji="0" lang="en-US" sz="1600" dirty="0">
                <a:solidFill>
                  <a:srgbClr val="002060"/>
                </a:solidFill>
                <a:ea typeface="新細明體"/>
              </a:rPr>
              <a:t>The </a:t>
            </a:r>
            <a:r>
              <a:rPr kumimoji="0" lang="en-US" sz="1600" b="1" dirty="0">
                <a:solidFill>
                  <a:srgbClr val="FF0000"/>
                </a:solidFill>
                <a:ea typeface="新細明體"/>
              </a:rPr>
              <a:t>decompressed outputs will be degraded compared to the original inputs</a:t>
            </a:r>
            <a:r>
              <a:rPr kumimoji="0" lang="en-US" sz="1600" dirty="0">
                <a:solidFill>
                  <a:srgbClr val="FF0000"/>
                </a:solidFill>
                <a:ea typeface="新細明體"/>
              </a:rPr>
              <a:t>.</a:t>
            </a:r>
          </a:p>
          <a:p>
            <a:pPr marL="0" indent="0">
              <a:lnSpc>
                <a:spcPct val="150000"/>
              </a:lnSpc>
              <a:buNone/>
            </a:pPr>
            <a:r>
              <a:rPr lang="en-IN" sz="1800" b="1" dirty="0">
                <a:solidFill>
                  <a:srgbClr val="002060"/>
                </a:solidFill>
              </a:rPr>
              <a:t>Training of Auto Encoder- </a:t>
            </a:r>
            <a:r>
              <a:rPr lang="en-IN" sz="1800" b="1" dirty="0">
                <a:solidFill>
                  <a:srgbClr val="FF0000"/>
                </a:solidFill>
              </a:rPr>
              <a:t>Hyperparameters </a:t>
            </a:r>
            <a:r>
              <a:rPr lang="en-IN" sz="1600" b="1" dirty="0">
                <a:solidFill>
                  <a:srgbClr val="002060"/>
                </a:solidFill>
              </a:rPr>
              <a:t>(Parameters to be set before training of Auto Encoder):</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FF0000"/>
                </a:solidFill>
                <a:effectLst/>
                <a:uLnTx/>
                <a:uFillTx/>
                <a:latin typeface="Arial"/>
                <a:ea typeface="新細明體"/>
                <a:cs typeface="+mn-cs"/>
              </a:rPr>
              <a:t>Code/ Bottleneck layer size</a:t>
            </a:r>
            <a:r>
              <a:rPr kumimoji="0" lang="en-US" sz="1600" b="0" i="0" u="none" strike="noStrike" kern="1200" cap="none" spc="0" normalizeH="0" baseline="0" noProof="0" dirty="0">
                <a:ln>
                  <a:noFill/>
                </a:ln>
                <a:solidFill>
                  <a:srgbClr val="002060"/>
                </a:solidFill>
                <a:effectLst/>
                <a:uLnTx/>
                <a:uFillTx/>
                <a:latin typeface="Arial"/>
                <a:ea typeface="新細明體"/>
                <a:cs typeface="+mn-cs"/>
              </a:rPr>
              <a:t>: It represents the number of nodes in the middle layer. Smaller size results in more compression.</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FF0000"/>
                </a:solidFill>
                <a:effectLst/>
                <a:uLnTx/>
                <a:uFillTx/>
                <a:latin typeface="Arial"/>
                <a:ea typeface="新細明體"/>
                <a:cs typeface="+mn-cs"/>
              </a:rPr>
              <a:t>Number of layers</a:t>
            </a:r>
            <a:r>
              <a:rPr kumimoji="0" lang="en-US" sz="1600" b="0" i="0" u="none" strike="noStrike" kern="1200" cap="none" spc="0" normalizeH="0" baseline="0" noProof="0" dirty="0">
                <a:ln>
                  <a:noFill/>
                </a:ln>
                <a:solidFill>
                  <a:srgbClr val="002060"/>
                </a:solidFill>
                <a:effectLst/>
                <a:uLnTx/>
                <a:uFillTx/>
                <a:latin typeface="Arial"/>
                <a:ea typeface="新細明體"/>
                <a:cs typeface="+mn-cs"/>
              </a:rPr>
              <a:t>: The autoencoder can consist of as many layers as we want.</a:t>
            </a:r>
          </a:p>
          <a:p>
            <a:pPr marL="0" marR="0" lvl="0" indent="8413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FF0000"/>
                </a:solidFill>
                <a:effectLst/>
                <a:uLnTx/>
                <a:uFillTx/>
                <a:latin typeface="Arial"/>
                <a:ea typeface="新細明體"/>
                <a:cs typeface="+mn-cs"/>
              </a:rPr>
              <a:t>Number of nodes per layer</a:t>
            </a:r>
            <a:r>
              <a:rPr kumimoji="0" lang="en-US" sz="1600" b="0" i="0" u="none" strike="noStrike" kern="1200" cap="none" spc="0" normalizeH="0" baseline="0" noProof="0" dirty="0">
                <a:ln>
                  <a:noFill/>
                </a:ln>
                <a:solidFill>
                  <a:srgbClr val="002060"/>
                </a:solidFill>
                <a:effectLst/>
                <a:uLnTx/>
                <a:uFillTx/>
                <a:latin typeface="Arial"/>
                <a:ea typeface="新細明體"/>
                <a:cs typeface="+mn-cs"/>
              </a:rPr>
              <a:t>: The number of nodes per layer decreases with each subsequent layer of the encoder,   and increases back in the decoder. The decoder is symmetric to the encoder in terms of the layer structure. Not compulsory.</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FF0000"/>
                </a:solidFill>
                <a:effectLst/>
                <a:uLnTx/>
                <a:uFillTx/>
                <a:latin typeface="Arial"/>
                <a:ea typeface="新細明體"/>
                <a:cs typeface="+mn-cs"/>
              </a:rPr>
              <a:t>Loss function</a:t>
            </a:r>
            <a:r>
              <a:rPr kumimoji="0" lang="en-US" sz="1600" b="1" i="0" u="none" strike="noStrike" kern="1200" cap="none" spc="0" normalizeH="0" baseline="0" noProof="0" dirty="0">
                <a:ln>
                  <a:noFill/>
                </a:ln>
                <a:solidFill>
                  <a:srgbClr val="002060"/>
                </a:solidFill>
                <a:effectLst/>
                <a:uLnTx/>
                <a:uFillTx/>
                <a:latin typeface="Arial"/>
                <a:ea typeface="新細明體"/>
                <a:cs typeface="+mn-cs"/>
              </a:rPr>
              <a:t>:</a:t>
            </a:r>
            <a:r>
              <a:rPr kumimoji="0" lang="en-US" sz="1600" b="0" i="0" u="none" strike="noStrike" kern="1200" cap="none" spc="0" normalizeH="0" baseline="0" noProof="0" dirty="0">
                <a:ln>
                  <a:noFill/>
                </a:ln>
                <a:solidFill>
                  <a:srgbClr val="002060"/>
                </a:solidFill>
                <a:effectLst/>
                <a:uLnTx/>
                <a:uFillTx/>
                <a:latin typeface="Arial"/>
                <a:ea typeface="新細明體"/>
                <a:cs typeface="+mn-cs"/>
              </a:rPr>
              <a:t> We either use </a:t>
            </a:r>
            <a:r>
              <a:rPr kumimoji="0" lang="en-US" sz="1600" b="1" i="0" u="none" strike="noStrike" kern="1200" cap="none" spc="0" normalizeH="0" baseline="0" noProof="0" dirty="0">
                <a:ln>
                  <a:noFill/>
                </a:ln>
                <a:solidFill>
                  <a:srgbClr val="002060"/>
                </a:solidFill>
                <a:effectLst/>
                <a:uLnTx/>
                <a:uFillTx/>
                <a:latin typeface="Arial"/>
                <a:ea typeface="新細明體"/>
                <a:cs typeface="+mn-cs"/>
              </a:rPr>
              <a:t>Mean Squared Error </a:t>
            </a:r>
            <a:r>
              <a:rPr kumimoji="0" lang="en-US" sz="1600" b="0" i="0" u="none" strike="noStrike" kern="1200" cap="none" spc="0" normalizeH="0" baseline="0" noProof="0" dirty="0">
                <a:ln>
                  <a:noFill/>
                </a:ln>
                <a:solidFill>
                  <a:srgbClr val="002060"/>
                </a:solidFill>
                <a:effectLst/>
                <a:uLnTx/>
                <a:uFillTx/>
                <a:latin typeface="Arial"/>
                <a:ea typeface="新細明體"/>
                <a:cs typeface="+mn-cs"/>
              </a:rPr>
              <a:t>or </a:t>
            </a:r>
            <a:r>
              <a:rPr kumimoji="0" lang="en-US" sz="1600" b="1" i="0" u="none" strike="noStrike" kern="1200" cap="none" spc="0" normalizeH="0" baseline="0" noProof="0" dirty="0">
                <a:ln>
                  <a:noFill/>
                </a:ln>
                <a:solidFill>
                  <a:srgbClr val="002060"/>
                </a:solidFill>
                <a:effectLst/>
                <a:uLnTx/>
                <a:uFillTx/>
                <a:latin typeface="Arial"/>
                <a:ea typeface="新細明體"/>
                <a:cs typeface="+mn-cs"/>
              </a:rPr>
              <a:t>Binary Cross-Entropy</a:t>
            </a:r>
            <a:r>
              <a:rPr kumimoji="0" lang="en-US" sz="1600" b="0" i="0" u="none" strike="noStrike" kern="1200" cap="none" spc="0" normalizeH="0" baseline="0" noProof="0" dirty="0">
                <a:ln>
                  <a:noFill/>
                </a:ln>
                <a:solidFill>
                  <a:srgbClr val="002060"/>
                </a:solidFill>
                <a:effectLst/>
                <a:uLnTx/>
                <a:uFillTx/>
                <a:latin typeface="Arial"/>
                <a:ea typeface="新細明體"/>
                <a:cs typeface="+mn-cs"/>
              </a:rPr>
              <a:t>. </a:t>
            </a:r>
            <a:r>
              <a:rPr kumimoji="0" lang="en-US" sz="1600" b="1" i="0" u="none" strike="noStrike" kern="1200" cap="none" spc="0" normalizeH="0" baseline="0" noProof="0" dirty="0">
                <a:ln>
                  <a:noFill/>
                </a:ln>
                <a:solidFill>
                  <a:srgbClr val="002060"/>
                </a:solidFill>
                <a:effectLst/>
                <a:uLnTx/>
                <a:uFillTx/>
                <a:latin typeface="Arial"/>
                <a:ea typeface="新細明體"/>
                <a:cs typeface="+mn-cs"/>
              </a:rPr>
              <a:t>If the input values are in the range</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2060"/>
                </a:solidFill>
                <a:effectLst/>
                <a:uLnTx/>
                <a:uFillTx/>
                <a:latin typeface="Arial"/>
                <a:ea typeface="新細明體"/>
                <a:cs typeface="+mn-cs"/>
              </a:rPr>
              <a:t> [0, 1] then we typically use cross-entropy, otherwise, we use the mean squared error.</a:t>
            </a:r>
          </a:p>
          <a:p>
            <a:pPr marL="0" indent="0">
              <a:lnSpc>
                <a:spcPct val="150000"/>
              </a:lnSpc>
              <a:buNone/>
            </a:pPr>
            <a:endParaRPr lang="en-IN" sz="2000" dirty="0">
              <a:solidFill>
                <a:schemeClr val="tx1">
                  <a:lumMod val="75000"/>
                </a:schemeClr>
              </a:solidFill>
            </a:endParaRPr>
          </a:p>
          <a:p>
            <a:pPr marL="0" indent="0">
              <a:lnSpc>
                <a:spcPct val="150000"/>
              </a:lnSpc>
              <a:buNone/>
            </a:pPr>
            <a:endParaRPr lang="en-IN" sz="2000" dirty="0"/>
          </a:p>
        </p:txBody>
      </p:sp>
      <p:sp>
        <p:nvSpPr>
          <p:cNvPr id="4" name="Slide Number Placeholder 3">
            <a:extLst>
              <a:ext uri="{FF2B5EF4-FFF2-40B4-BE49-F238E27FC236}">
                <a16:creationId xmlns:a16="http://schemas.microsoft.com/office/drawing/2014/main" id="{32796ECE-D801-4E99-B79E-8BEC9EC718C3}"/>
              </a:ext>
            </a:extLst>
          </p:cNvPr>
          <p:cNvSpPr>
            <a:spLocks noGrp="1"/>
          </p:cNvSpPr>
          <p:nvPr>
            <p:ph type="sldNum" sz="quarter" idx="12"/>
          </p:nvPr>
        </p:nvSpPr>
        <p:spPr/>
        <p:txBody>
          <a:bodyPr/>
          <a:lstStyle/>
          <a:p>
            <a:pPr>
              <a:defRPr/>
            </a:pPr>
            <a:fld id="{9AD681D7-8A59-4380-9311-10B86FF921AA}" type="slidenum">
              <a:rPr lang="en-US" altLang="zh-TW" smtClean="0"/>
              <a:pPr>
                <a:defRPr/>
              </a:pPr>
              <a:t>38</a:t>
            </a:fld>
            <a:endParaRPr lang="en-US" altLang="zh-TW"/>
          </a:p>
        </p:txBody>
      </p:sp>
      <p:sp>
        <p:nvSpPr>
          <p:cNvPr id="5" name="TextBox 4">
            <a:extLst>
              <a:ext uri="{FF2B5EF4-FFF2-40B4-BE49-F238E27FC236}">
                <a16:creationId xmlns:a16="http://schemas.microsoft.com/office/drawing/2014/main" id="{D41354E6-A42B-B38D-7045-319A7EBC8FEC}"/>
              </a:ext>
            </a:extLst>
          </p:cNvPr>
          <p:cNvSpPr txBox="1"/>
          <p:nvPr/>
        </p:nvSpPr>
        <p:spPr>
          <a:xfrm>
            <a:off x="6766561" y="105487"/>
            <a:ext cx="5303519" cy="1569660"/>
          </a:xfrm>
          <a:prstGeom prst="rect">
            <a:avLst/>
          </a:prstGeom>
          <a:noFill/>
          <a:ln>
            <a:solidFill>
              <a:srgbClr val="000000"/>
            </a:solidFill>
          </a:ln>
        </p:spPr>
        <p:txBody>
          <a:bodyPr wrap="square" rtlCol="0">
            <a:spAutoFit/>
          </a:bodyPr>
          <a:lstStyle/>
          <a:p>
            <a:r>
              <a:rPr lang="en-IN" sz="1600" b="1" dirty="0">
                <a:solidFill>
                  <a:srgbClr val="FF0000"/>
                </a:solidFill>
              </a:rPr>
              <a:t>Important assumption</a:t>
            </a:r>
            <a:r>
              <a:rPr lang="en-IN" sz="1600" b="1" dirty="0"/>
              <a:t>: Components of input data are highly correlated</a:t>
            </a:r>
            <a:r>
              <a:rPr lang="en-IN" sz="1600" dirty="0"/>
              <a:t> (dependent). As if and only if they are highly correlated to each other  </a:t>
            </a:r>
            <a:r>
              <a:rPr lang="en-IN" sz="1600" b="1" dirty="0"/>
              <a:t>then compression and Subsequent reconstruction becomes fruitful.</a:t>
            </a:r>
          </a:p>
          <a:p>
            <a:r>
              <a:rPr lang="en-IN" sz="1600" b="1" dirty="0"/>
              <a:t>It removes redundant data i.e. correlated data and preserves only uncorrelated data. </a:t>
            </a:r>
          </a:p>
        </p:txBody>
      </p:sp>
    </p:spTree>
    <p:extLst>
      <p:ext uri="{BB962C8B-B14F-4D97-AF65-F5344CB8AC3E}">
        <p14:creationId xmlns:p14="http://schemas.microsoft.com/office/powerpoint/2010/main" val="12419540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53998-C1F5-40EA-95B8-0EC83D70CE51}"/>
              </a:ext>
            </a:extLst>
          </p:cNvPr>
          <p:cNvSpPr>
            <a:spLocks noGrp="1"/>
          </p:cNvSpPr>
          <p:nvPr>
            <p:ph type="title"/>
          </p:nvPr>
        </p:nvSpPr>
        <p:spPr/>
        <p:txBody>
          <a:bodyPr/>
          <a:lstStyle/>
          <a:p>
            <a:r>
              <a:rPr lang="en-IN" dirty="0"/>
              <a:t>Autoencoder types</a:t>
            </a:r>
          </a:p>
        </p:txBody>
      </p:sp>
      <p:sp>
        <p:nvSpPr>
          <p:cNvPr id="3" name="Content Placeholder 2">
            <a:extLst>
              <a:ext uri="{FF2B5EF4-FFF2-40B4-BE49-F238E27FC236}">
                <a16:creationId xmlns:a16="http://schemas.microsoft.com/office/drawing/2014/main" id="{1C54313F-29AF-4230-BD28-3B3F31B1E591}"/>
              </a:ext>
            </a:extLst>
          </p:cNvPr>
          <p:cNvSpPr>
            <a:spLocks noGrp="1"/>
          </p:cNvSpPr>
          <p:nvPr>
            <p:ph idx="1"/>
          </p:nvPr>
        </p:nvSpPr>
        <p:spPr>
          <a:xfrm>
            <a:off x="1117602" y="2362201"/>
            <a:ext cx="5184724" cy="4094870"/>
          </a:xfrm>
          <a:ln>
            <a:solidFill>
              <a:srgbClr val="000000"/>
            </a:solidFill>
          </a:ln>
        </p:spPr>
        <p:txBody>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2060"/>
                </a:solidFill>
                <a:effectLst/>
                <a:uLnTx/>
                <a:uFillTx/>
                <a:ea typeface="新細明體"/>
                <a:cs typeface="+mn-cs"/>
              </a:rPr>
              <a:t>Stochastic Encoders and Decoders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2060"/>
                </a:solidFill>
                <a:effectLst/>
                <a:uLnTx/>
                <a:uFillTx/>
                <a:ea typeface="新細明體"/>
                <a:cs typeface="+mn-cs"/>
              </a:rPr>
              <a:t>Undercomplete autoencoders</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800" dirty="0">
                <a:solidFill>
                  <a:srgbClr val="002060"/>
                </a:solidFill>
                <a:ea typeface="新細明體"/>
              </a:rPr>
              <a:t>Overcomplete autoencoders </a:t>
            </a:r>
            <a:br>
              <a:rPr kumimoji="0" lang="en-IN" sz="1800" b="0" i="0" u="none" strike="noStrike" kern="1200" cap="none" spc="0" normalizeH="0" baseline="0" noProof="0" dirty="0">
                <a:ln>
                  <a:noFill/>
                </a:ln>
                <a:solidFill>
                  <a:srgbClr val="002060"/>
                </a:solidFill>
                <a:effectLst/>
                <a:uLnTx/>
                <a:uFillTx/>
                <a:ea typeface="新細明體"/>
                <a:cs typeface="+mn-cs"/>
              </a:rPr>
            </a:br>
            <a:r>
              <a:rPr kumimoji="0" lang="en-IN" sz="1800" b="0" i="0" u="none" strike="noStrike" kern="1200" cap="none" spc="0" normalizeH="0" baseline="0" noProof="0" dirty="0">
                <a:ln>
                  <a:noFill/>
                </a:ln>
                <a:solidFill>
                  <a:srgbClr val="002060"/>
                </a:solidFill>
                <a:effectLst/>
                <a:uLnTx/>
                <a:uFillTx/>
                <a:ea typeface="新細明體"/>
                <a:cs typeface="+mn-cs"/>
              </a:rPr>
              <a:t>Regularized autoencoders </a:t>
            </a:r>
          </a:p>
          <a:p>
            <a:pPr marL="1368425"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ü"/>
              <a:tabLst/>
              <a:defRPr/>
            </a:pPr>
            <a:r>
              <a:rPr kumimoji="0" lang="en-IN" sz="1800" dirty="0">
                <a:solidFill>
                  <a:srgbClr val="002060"/>
                </a:solidFill>
                <a:ea typeface="新細明體"/>
              </a:rPr>
              <a:t>Sparse autoencoders</a:t>
            </a:r>
          </a:p>
          <a:p>
            <a:pPr marL="1368425"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ü"/>
              <a:tabLst/>
              <a:defRPr/>
            </a:pPr>
            <a:r>
              <a:rPr kumimoji="0" lang="en-IN" sz="1800" b="0" i="0" u="none" strike="noStrike" kern="1200" cap="none" spc="0" normalizeH="0" baseline="0" noProof="0" dirty="0">
                <a:ln>
                  <a:noFill/>
                </a:ln>
                <a:solidFill>
                  <a:srgbClr val="002060"/>
                </a:solidFill>
                <a:effectLst/>
                <a:uLnTx/>
                <a:uFillTx/>
                <a:ea typeface="新細明體"/>
                <a:cs typeface="+mn-cs"/>
              </a:rPr>
              <a:t>Denoising autoencoder</a:t>
            </a:r>
          </a:p>
          <a:p>
            <a:pPr marL="1368425"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ü"/>
              <a:tabLst/>
              <a:defRPr/>
            </a:pPr>
            <a:r>
              <a:rPr kumimoji="0" lang="en-IN" sz="1800" b="0" i="0" u="none" strike="noStrike" kern="1200" cap="none" spc="0" normalizeH="0" baseline="0" noProof="0" dirty="0">
                <a:ln>
                  <a:noFill/>
                </a:ln>
                <a:solidFill>
                  <a:srgbClr val="002060"/>
                </a:solidFill>
                <a:effectLst/>
                <a:uLnTx/>
                <a:uFillTx/>
                <a:ea typeface="新細明體"/>
                <a:cs typeface="+mn-cs"/>
              </a:rPr>
              <a:t>Contractive autoencoders</a:t>
            </a:r>
            <a:br>
              <a:rPr kumimoji="0" lang="en-IN" sz="1800" b="0" i="0" u="none" strike="noStrike" kern="1200" cap="none" spc="0" normalizeH="0" baseline="0" noProof="0" dirty="0">
                <a:ln>
                  <a:noFill/>
                </a:ln>
                <a:solidFill>
                  <a:srgbClr val="002060"/>
                </a:solidFill>
                <a:effectLst/>
                <a:uLnTx/>
                <a:uFillTx/>
                <a:ea typeface="新細明體"/>
                <a:cs typeface="+mn-cs"/>
              </a:rPr>
            </a:br>
            <a:br>
              <a:rPr kumimoji="0" lang="en-IN" sz="1800" b="0" i="0" u="none" strike="noStrike" kern="1200" cap="none" spc="0" normalizeH="0" baseline="0" noProof="0" dirty="0">
                <a:ln>
                  <a:noFill/>
                </a:ln>
                <a:solidFill>
                  <a:srgbClr val="002060"/>
                </a:solidFill>
                <a:effectLst/>
                <a:uLnTx/>
                <a:uFillTx/>
                <a:ea typeface="新細明體"/>
                <a:cs typeface="+mn-cs"/>
              </a:rPr>
            </a:br>
            <a:endParaRPr lang="en-IN" dirty="0">
              <a:solidFill>
                <a:srgbClr val="002060"/>
              </a:solidFill>
            </a:endParaRPr>
          </a:p>
        </p:txBody>
      </p:sp>
      <p:sp>
        <p:nvSpPr>
          <p:cNvPr id="4" name="Slide Number Placeholder 3">
            <a:extLst>
              <a:ext uri="{FF2B5EF4-FFF2-40B4-BE49-F238E27FC236}">
                <a16:creationId xmlns:a16="http://schemas.microsoft.com/office/drawing/2014/main" id="{47DD0FD1-CD79-49DC-95CF-4A124C614D1B}"/>
              </a:ext>
            </a:extLst>
          </p:cNvPr>
          <p:cNvSpPr>
            <a:spLocks noGrp="1"/>
          </p:cNvSpPr>
          <p:nvPr>
            <p:ph type="sldNum" sz="quarter" idx="12"/>
          </p:nvPr>
        </p:nvSpPr>
        <p:spPr/>
        <p:txBody>
          <a:bodyPr/>
          <a:lstStyle/>
          <a:p>
            <a:pPr>
              <a:defRPr/>
            </a:pPr>
            <a:fld id="{9AD681D7-8A59-4380-9311-10B86FF921AA}" type="slidenum">
              <a:rPr lang="en-US" altLang="zh-TW" smtClean="0"/>
              <a:pPr>
                <a:defRPr/>
              </a:pPr>
              <a:t>39</a:t>
            </a:fld>
            <a:endParaRPr lang="en-US" altLang="zh-TW"/>
          </a:p>
        </p:txBody>
      </p:sp>
    </p:spTree>
    <p:extLst>
      <p:ext uri="{BB962C8B-B14F-4D97-AF65-F5344CB8AC3E}">
        <p14:creationId xmlns:p14="http://schemas.microsoft.com/office/powerpoint/2010/main" val="43293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1" y="984985"/>
            <a:ext cx="7858125" cy="925194"/>
          </a:xfrm>
          <a:prstGeom prst="rect">
            <a:avLst/>
          </a:prstGeom>
        </p:spPr>
        <p:txBody>
          <a:bodyPr vert="horz" wrap="square" lIns="0" tIns="137795" rIns="0" bIns="0" rtlCol="0">
            <a:spAutoFit/>
          </a:bodyPr>
          <a:lstStyle/>
          <a:p>
            <a:pPr marL="12700">
              <a:spcBef>
                <a:spcPts val="1085"/>
              </a:spcBef>
            </a:pPr>
            <a:r>
              <a:rPr sz="2400" b="1" spc="-5" dirty="0">
                <a:solidFill>
                  <a:prstClr val="black"/>
                </a:solidFill>
                <a:latin typeface="Arial"/>
                <a:cs typeface="Arial"/>
              </a:rPr>
              <a:t>Normal</a:t>
            </a:r>
            <a:r>
              <a:rPr sz="2400" b="1" spc="-10" dirty="0">
                <a:solidFill>
                  <a:prstClr val="black"/>
                </a:solidFill>
                <a:latin typeface="Arial"/>
                <a:cs typeface="Arial"/>
              </a:rPr>
              <a:t> </a:t>
            </a:r>
            <a:r>
              <a:rPr sz="2400" b="1" spc="-5" dirty="0">
                <a:solidFill>
                  <a:prstClr val="black"/>
                </a:solidFill>
                <a:latin typeface="Arial"/>
                <a:cs typeface="Arial"/>
              </a:rPr>
              <a:t>feedforward neural network</a:t>
            </a:r>
            <a:r>
              <a:rPr sz="2400" b="1" dirty="0">
                <a:solidFill>
                  <a:prstClr val="black"/>
                </a:solidFill>
                <a:latin typeface="Arial"/>
                <a:cs typeface="Arial"/>
              </a:rPr>
              <a:t> </a:t>
            </a:r>
            <a:r>
              <a:rPr sz="2400" b="1" spc="-5" dirty="0">
                <a:solidFill>
                  <a:prstClr val="black"/>
                </a:solidFill>
                <a:latin typeface="Arial"/>
                <a:cs typeface="Arial"/>
              </a:rPr>
              <a:t>and its</a:t>
            </a:r>
            <a:r>
              <a:rPr sz="2400" b="1" dirty="0">
                <a:solidFill>
                  <a:prstClr val="black"/>
                </a:solidFill>
                <a:latin typeface="Arial"/>
                <a:cs typeface="Arial"/>
              </a:rPr>
              <a:t> </a:t>
            </a:r>
            <a:r>
              <a:rPr sz="2400" b="1" spc="-5" dirty="0">
                <a:solidFill>
                  <a:prstClr val="black"/>
                </a:solidFill>
                <a:latin typeface="Arial"/>
                <a:cs typeface="Arial"/>
              </a:rPr>
              <a:t>probability</a:t>
            </a:r>
            <a:endParaRPr sz="2400" dirty="0">
              <a:solidFill>
                <a:prstClr val="black"/>
              </a:solidFill>
              <a:latin typeface="Arial"/>
              <a:cs typeface="Arial"/>
            </a:endParaRPr>
          </a:p>
          <a:p>
            <a:pPr marL="127000">
              <a:spcBef>
                <a:spcPts val="820"/>
              </a:spcBef>
              <a:tabLst>
                <a:tab pos="411480" algn="l"/>
              </a:tabLst>
            </a:pPr>
            <a:r>
              <a:rPr sz="2000" dirty="0">
                <a:solidFill>
                  <a:srgbClr val="4F81BD"/>
                </a:solidFill>
                <a:latin typeface="Arial MT"/>
                <a:cs typeface="Arial MT"/>
              </a:rPr>
              <a:t>-	</a:t>
            </a:r>
            <a:r>
              <a:rPr sz="2000" b="1" spc="-5" dirty="0">
                <a:solidFill>
                  <a:srgbClr val="4F81BD"/>
                </a:solidFill>
                <a:latin typeface="Arial"/>
                <a:cs typeface="Arial"/>
              </a:rPr>
              <a:t>training</a:t>
            </a:r>
            <a:r>
              <a:rPr sz="2000" b="1" spc="-15" dirty="0">
                <a:solidFill>
                  <a:srgbClr val="4F81BD"/>
                </a:solidFill>
                <a:latin typeface="Arial"/>
                <a:cs typeface="Arial"/>
              </a:rPr>
              <a:t> </a:t>
            </a:r>
            <a:r>
              <a:rPr sz="2000" b="1" dirty="0">
                <a:solidFill>
                  <a:srgbClr val="4F81BD"/>
                </a:solidFill>
                <a:latin typeface="Arial"/>
                <a:cs typeface="Arial"/>
              </a:rPr>
              <a:t>can</a:t>
            </a:r>
            <a:r>
              <a:rPr sz="2000" b="1" spc="-15" dirty="0">
                <a:solidFill>
                  <a:srgbClr val="4F81BD"/>
                </a:solidFill>
                <a:latin typeface="Arial"/>
                <a:cs typeface="Arial"/>
              </a:rPr>
              <a:t> </a:t>
            </a:r>
            <a:r>
              <a:rPr sz="2000" b="1" dirty="0">
                <a:solidFill>
                  <a:srgbClr val="4F81BD"/>
                </a:solidFill>
                <a:latin typeface="Arial"/>
                <a:cs typeface="Arial"/>
              </a:rPr>
              <a:t>be</a:t>
            </a:r>
            <a:r>
              <a:rPr sz="2000" b="1" spc="-20" dirty="0">
                <a:solidFill>
                  <a:srgbClr val="4F81BD"/>
                </a:solidFill>
                <a:latin typeface="Arial"/>
                <a:cs typeface="Arial"/>
              </a:rPr>
              <a:t> </a:t>
            </a:r>
            <a:r>
              <a:rPr sz="2000" b="1" dirty="0">
                <a:solidFill>
                  <a:srgbClr val="4F81BD"/>
                </a:solidFill>
                <a:latin typeface="Arial"/>
                <a:cs typeface="Arial"/>
              </a:rPr>
              <a:t>done</a:t>
            </a:r>
            <a:r>
              <a:rPr sz="2000" b="1" spc="-20" dirty="0">
                <a:solidFill>
                  <a:srgbClr val="4F81BD"/>
                </a:solidFill>
                <a:latin typeface="Arial"/>
                <a:cs typeface="Arial"/>
              </a:rPr>
              <a:t> </a:t>
            </a:r>
            <a:r>
              <a:rPr sz="2000" b="1" spc="-10" dirty="0">
                <a:solidFill>
                  <a:srgbClr val="4F81BD"/>
                </a:solidFill>
                <a:latin typeface="Arial"/>
                <a:cs typeface="Arial"/>
              </a:rPr>
              <a:t>with </a:t>
            </a:r>
            <a:r>
              <a:rPr sz="2000" b="1" spc="-5" dirty="0">
                <a:solidFill>
                  <a:srgbClr val="4F81BD"/>
                </a:solidFill>
                <a:latin typeface="Arial"/>
                <a:cs typeface="Arial"/>
              </a:rPr>
              <a:t>minimizing</a:t>
            </a:r>
            <a:r>
              <a:rPr sz="2000" b="1" spc="-15" dirty="0">
                <a:solidFill>
                  <a:srgbClr val="4F81BD"/>
                </a:solidFill>
                <a:latin typeface="Arial"/>
                <a:cs typeface="Arial"/>
              </a:rPr>
              <a:t> </a:t>
            </a:r>
            <a:r>
              <a:rPr sz="2000" spc="-5" dirty="0">
                <a:solidFill>
                  <a:srgbClr val="4F81BD"/>
                </a:solidFill>
                <a:latin typeface="Cambria Math"/>
                <a:cs typeface="Cambria Math"/>
              </a:rPr>
              <a:t>−log(𝒑(𝒚|𝒙))</a:t>
            </a:r>
            <a:endParaRPr sz="2000" dirty="0">
              <a:solidFill>
                <a:prstClr val="black"/>
              </a:solidFill>
              <a:latin typeface="Cambria Math"/>
              <a:cs typeface="Cambria Math"/>
            </a:endParaRPr>
          </a:p>
        </p:txBody>
      </p:sp>
      <p:pic>
        <p:nvPicPr>
          <p:cNvPr id="4" name="object 4"/>
          <p:cNvPicPr/>
          <p:nvPr/>
        </p:nvPicPr>
        <p:blipFill>
          <a:blip r:embed="rId3" cstate="print"/>
          <a:stretch>
            <a:fillRect/>
          </a:stretch>
        </p:blipFill>
        <p:spPr>
          <a:xfrm>
            <a:off x="1536700" y="67734"/>
            <a:ext cx="6146800" cy="918633"/>
          </a:xfrm>
          <a:prstGeom prst="rect">
            <a:avLst/>
          </a:prstGeom>
        </p:spPr>
      </p:pic>
      <p:sp>
        <p:nvSpPr>
          <p:cNvPr id="5" name="object 5"/>
          <p:cNvSpPr txBox="1">
            <a:spLocks noGrp="1"/>
          </p:cNvSpPr>
          <p:nvPr>
            <p:ph type="title"/>
          </p:nvPr>
        </p:nvSpPr>
        <p:spPr>
          <a:xfrm>
            <a:off x="1785621" y="183388"/>
            <a:ext cx="5616575"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Probability</a:t>
            </a:r>
            <a:r>
              <a:rPr sz="3200" spc="-40" dirty="0">
                <a:solidFill>
                  <a:srgbClr val="004990"/>
                </a:solidFill>
              </a:rPr>
              <a:t> </a:t>
            </a:r>
            <a:r>
              <a:rPr sz="3200" spc="-5" dirty="0">
                <a:solidFill>
                  <a:srgbClr val="004990"/>
                </a:solidFill>
              </a:rPr>
              <a:t>of</a:t>
            </a:r>
            <a:r>
              <a:rPr sz="3200" spc="-35" dirty="0">
                <a:solidFill>
                  <a:srgbClr val="004990"/>
                </a:solidFill>
              </a:rPr>
              <a:t> </a:t>
            </a:r>
            <a:r>
              <a:rPr sz="3200" spc="-5" dirty="0">
                <a:solidFill>
                  <a:srgbClr val="004990"/>
                </a:solidFill>
              </a:rPr>
              <a:t>neural</a:t>
            </a:r>
            <a:r>
              <a:rPr sz="3200" spc="-35" dirty="0">
                <a:solidFill>
                  <a:srgbClr val="004990"/>
                </a:solidFill>
              </a:rPr>
              <a:t> </a:t>
            </a:r>
            <a:r>
              <a:rPr sz="3200" spc="-5" dirty="0">
                <a:solidFill>
                  <a:srgbClr val="004990"/>
                </a:solidFill>
              </a:rPr>
              <a:t>network</a:t>
            </a:r>
            <a:endParaRPr sz="3200" dirty="0"/>
          </a:p>
        </p:txBody>
      </p:sp>
      <p:pic>
        <p:nvPicPr>
          <p:cNvPr id="6" name="object 6"/>
          <p:cNvPicPr/>
          <p:nvPr/>
        </p:nvPicPr>
        <p:blipFill>
          <a:blip r:embed="rId4" cstate="print"/>
          <a:stretch>
            <a:fillRect/>
          </a:stretch>
        </p:blipFill>
        <p:spPr>
          <a:xfrm>
            <a:off x="3337212" y="2526567"/>
            <a:ext cx="3525625" cy="3124010"/>
          </a:xfrm>
          <a:prstGeom prst="rect">
            <a:avLst/>
          </a:prstGeom>
        </p:spPr>
      </p:pic>
      <p:sp>
        <p:nvSpPr>
          <p:cNvPr id="7" name="object 7"/>
          <p:cNvSpPr txBox="1"/>
          <p:nvPr/>
        </p:nvSpPr>
        <p:spPr>
          <a:xfrm>
            <a:off x="3513683" y="2959182"/>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8" name="object 8"/>
          <p:cNvSpPr txBox="1"/>
          <p:nvPr/>
        </p:nvSpPr>
        <p:spPr>
          <a:xfrm>
            <a:off x="3482279" y="4057958"/>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9" name="object 9"/>
          <p:cNvSpPr txBox="1"/>
          <p:nvPr/>
        </p:nvSpPr>
        <p:spPr>
          <a:xfrm>
            <a:off x="3482279" y="5156737"/>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0" name="object 10"/>
          <p:cNvSpPr txBox="1"/>
          <p:nvPr/>
        </p:nvSpPr>
        <p:spPr>
          <a:xfrm>
            <a:off x="6334453" y="2959182"/>
            <a:ext cx="311785"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𝒚</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11" name="object 11"/>
          <p:cNvSpPr txBox="1"/>
          <p:nvPr/>
        </p:nvSpPr>
        <p:spPr>
          <a:xfrm>
            <a:off x="6334453" y="4057958"/>
            <a:ext cx="311785"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𝒚</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12" name="object 12"/>
          <p:cNvSpPr txBox="1"/>
          <p:nvPr/>
        </p:nvSpPr>
        <p:spPr>
          <a:xfrm>
            <a:off x="6334453" y="5156737"/>
            <a:ext cx="311785"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𝒚</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grpSp>
        <p:nvGrpSpPr>
          <p:cNvPr id="13" name="object 13"/>
          <p:cNvGrpSpPr/>
          <p:nvPr/>
        </p:nvGrpSpPr>
        <p:grpSpPr>
          <a:xfrm>
            <a:off x="3991001" y="2860676"/>
            <a:ext cx="3651250" cy="3313429"/>
            <a:chOff x="2467001" y="2860675"/>
            <a:chExt cx="3651250" cy="3313429"/>
          </a:xfrm>
        </p:grpSpPr>
        <p:sp>
          <p:nvSpPr>
            <p:cNvPr id="14" name="object 14"/>
            <p:cNvSpPr/>
            <p:nvPr/>
          </p:nvSpPr>
          <p:spPr>
            <a:xfrm>
              <a:off x="3904415" y="2860675"/>
              <a:ext cx="789940" cy="2454910"/>
            </a:xfrm>
            <a:custGeom>
              <a:avLst/>
              <a:gdLst/>
              <a:ahLst/>
              <a:cxnLst/>
              <a:rect l="l" t="t" r="r" b="b"/>
              <a:pathLst>
                <a:path w="789939" h="2454910">
                  <a:moveTo>
                    <a:pt x="749260" y="2353318"/>
                  </a:moveTo>
                  <a:lnTo>
                    <a:pt x="740173" y="2356176"/>
                  </a:lnTo>
                  <a:lnTo>
                    <a:pt x="748643" y="2383105"/>
                  </a:lnTo>
                  <a:lnTo>
                    <a:pt x="716842" y="2393107"/>
                  </a:lnTo>
                  <a:lnTo>
                    <a:pt x="776050" y="2454366"/>
                  </a:lnTo>
                  <a:lnTo>
                    <a:pt x="787929" y="2380247"/>
                  </a:lnTo>
                  <a:lnTo>
                    <a:pt x="757730" y="2380247"/>
                  </a:lnTo>
                  <a:lnTo>
                    <a:pt x="749260" y="2353318"/>
                  </a:lnTo>
                  <a:close/>
                </a:path>
                <a:path w="789939" h="2454910">
                  <a:moveTo>
                    <a:pt x="789532" y="2370245"/>
                  </a:moveTo>
                  <a:lnTo>
                    <a:pt x="757730" y="2380247"/>
                  </a:lnTo>
                  <a:lnTo>
                    <a:pt x="787929" y="2380247"/>
                  </a:lnTo>
                  <a:lnTo>
                    <a:pt x="789532" y="2370245"/>
                  </a:lnTo>
                  <a:close/>
                </a:path>
                <a:path w="789939" h="2454910">
                  <a:moveTo>
                    <a:pt x="729255" y="2289716"/>
                  </a:moveTo>
                  <a:lnTo>
                    <a:pt x="720168" y="2292573"/>
                  </a:lnTo>
                  <a:lnTo>
                    <a:pt x="731600" y="2328918"/>
                  </a:lnTo>
                  <a:lnTo>
                    <a:pt x="740686" y="2326060"/>
                  </a:lnTo>
                  <a:lnTo>
                    <a:pt x="729255" y="2289716"/>
                  </a:lnTo>
                  <a:close/>
                </a:path>
                <a:path w="789939" h="2454910">
                  <a:moveTo>
                    <a:pt x="709250" y="2226111"/>
                  </a:moveTo>
                  <a:lnTo>
                    <a:pt x="700164" y="2228970"/>
                  </a:lnTo>
                  <a:lnTo>
                    <a:pt x="711596" y="2265315"/>
                  </a:lnTo>
                  <a:lnTo>
                    <a:pt x="720681" y="2262456"/>
                  </a:lnTo>
                  <a:lnTo>
                    <a:pt x="709250" y="2226111"/>
                  </a:lnTo>
                  <a:close/>
                </a:path>
                <a:path w="789939" h="2454910">
                  <a:moveTo>
                    <a:pt x="689245" y="2162509"/>
                  </a:moveTo>
                  <a:lnTo>
                    <a:pt x="680159" y="2165366"/>
                  </a:lnTo>
                  <a:lnTo>
                    <a:pt x="691591" y="2201711"/>
                  </a:lnTo>
                  <a:lnTo>
                    <a:pt x="700676" y="2198853"/>
                  </a:lnTo>
                  <a:lnTo>
                    <a:pt x="689245" y="2162509"/>
                  </a:lnTo>
                  <a:close/>
                </a:path>
                <a:path w="789939" h="2454910">
                  <a:moveTo>
                    <a:pt x="669241" y="2098906"/>
                  </a:moveTo>
                  <a:lnTo>
                    <a:pt x="660154" y="2101763"/>
                  </a:lnTo>
                  <a:lnTo>
                    <a:pt x="671586" y="2138108"/>
                  </a:lnTo>
                  <a:lnTo>
                    <a:pt x="680673" y="2135251"/>
                  </a:lnTo>
                  <a:lnTo>
                    <a:pt x="669241" y="2098906"/>
                  </a:lnTo>
                  <a:close/>
                </a:path>
                <a:path w="789939" h="2454910">
                  <a:moveTo>
                    <a:pt x="649236" y="2035303"/>
                  </a:moveTo>
                  <a:lnTo>
                    <a:pt x="640149" y="2038160"/>
                  </a:lnTo>
                  <a:lnTo>
                    <a:pt x="651581" y="2074505"/>
                  </a:lnTo>
                  <a:lnTo>
                    <a:pt x="660667" y="2071646"/>
                  </a:lnTo>
                  <a:lnTo>
                    <a:pt x="649236" y="2035303"/>
                  </a:lnTo>
                  <a:close/>
                </a:path>
                <a:path w="789939" h="2454910">
                  <a:moveTo>
                    <a:pt x="629231" y="1971699"/>
                  </a:moveTo>
                  <a:lnTo>
                    <a:pt x="620146" y="1974556"/>
                  </a:lnTo>
                  <a:lnTo>
                    <a:pt x="631577" y="2010901"/>
                  </a:lnTo>
                  <a:lnTo>
                    <a:pt x="640662" y="2008043"/>
                  </a:lnTo>
                  <a:lnTo>
                    <a:pt x="629231" y="1971699"/>
                  </a:lnTo>
                  <a:close/>
                </a:path>
                <a:path w="789939" h="2454910">
                  <a:moveTo>
                    <a:pt x="609226" y="1908096"/>
                  </a:moveTo>
                  <a:lnTo>
                    <a:pt x="600141" y="1910953"/>
                  </a:lnTo>
                  <a:lnTo>
                    <a:pt x="611572" y="1947298"/>
                  </a:lnTo>
                  <a:lnTo>
                    <a:pt x="620657" y="1944441"/>
                  </a:lnTo>
                  <a:lnTo>
                    <a:pt x="609226" y="1908096"/>
                  </a:lnTo>
                  <a:close/>
                </a:path>
                <a:path w="789939" h="2454910">
                  <a:moveTo>
                    <a:pt x="589222" y="1844493"/>
                  </a:moveTo>
                  <a:lnTo>
                    <a:pt x="580136" y="1847350"/>
                  </a:lnTo>
                  <a:lnTo>
                    <a:pt x="591567" y="1883695"/>
                  </a:lnTo>
                  <a:lnTo>
                    <a:pt x="600654" y="1880838"/>
                  </a:lnTo>
                  <a:lnTo>
                    <a:pt x="589222" y="1844493"/>
                  </a:lnTo>
                  <a:close/>
                </a:path>
                <a:path w="789939" h="2454910">
                  <a:moveTo>
                    <a:pt x="569217" y="1780890"/>
                  </a:moveTo>
                  <a:lnTo>
                    <a:pt x="560132" y="1783748"/>
                  </a:lnTo>
                  <a:lnTo>
                    <a:pt x="571563" y="1820092"/>
                  </a:lnTo>
                  <a:lnTo>
                    <a:pt x="580649" y="1817234"/>
                  </a:lnTo>
                  <a:lnTo>
                    <a:pt x="569217" y="1780890"/>
                  </a:lnTo>
                  <a:close/>
                </a:path>
                <a:path w="789939" h="2454910">
                  <a:moveTo>
                    <a:pt x="549212" y="1717286"/>
                  </a:moveTo>
                  <a:lnTo>
                    <a:pt x="540127" y="1720143"/>
                  </a:lnTo>
                  <a:lnTo>
                    <a:pt x="551558" y="1756488"/>
                  </a:lnTo>
                  <a:lnTo>
                    <a:pt x="560644" y="1753631"/>
                  </a:lnTo>
                  <a:lnTo>
                    <a:pt x="549212" y="1717286"/>
                  </a:lnTo>
                  <a:close/>
                </a:path>
                <a:path w="789939" h="2454910">
                  <a:moveTo>
                    <a:pt x="529209" y="1653683"/>
                  </a:moveTo>
                  <a:lnTo>
                    <a:pt x="520122" y="1656541"/>
                  </a:lnTo>
                  <a:lnTo>
                    <a:pt x="531553" y="1692885"/>
                  </a:lnTo>
                  <a:lnTo>
                    <a:pt x="540640" y="1690028"/>
                  </a:lnTo>
                  <a:lnTo>
                    <a:pt x="529209" y="1653683"/>
                  </a:lnTo>
                  <a:close/>
                </a:path>
                <a:path w="789939" h="2454910">
                  <a:moveTo>
                    <a:pt x="509203" y="1590080"/>
                  </a:moveTo>
                  <a:lnTo>
                    <a:pt x="500117" y="1592938"/>
                  </a:lnTo>
                  <a:lnTo>
                    <a:pt x="511548" y="1629283"/>
                  </a:lnTo>
                  <a:lnTo>
                    <a:pt x="520635" y="1626425"/>
                  </a:lnTo>
                  <a:lnTo>
                    <a:pt x="509203" y="1590080"/>
                  </a:lnTo>
                  <a:close/>
                </a:path>
                <a:path w="789939" h="2454910">
                  <a:moveTo>
                    <a:pt x="489198" y="1526477"/>
                  </a:moveTo>
                  <a:lnTo>
                    <a:pt x="480113" y="1529335"/>
                  </a:lnTo>
                  <a:lnTo>
                    <a:pt x="491544" y="1565680"/>
                  </a:lnTo>
                  <a:lnTo>
                    <a:pt x="500630" y="1562821"/>
                  </a:lnTo>
                  <a:lnTo>
                    <a:pt x="489198" y="1526477"/>
                  </a:lnTo>
                  <a:close/>
                </a:path>
                <a:path w="789939" h="2454910">
                  <a:moveTo>
                    <a:pt x="469193" y="1462873"/>
                  </a:moveTo>
                  <a:lnTo>
                    <a:pt x="460108" y="1465731"/>
                  </a:lnTo>
                  <a:lnTo>
                    <a:pt x="471539" y="1502075"/>
                  </a:lnTo>
                  <a:lnTo>
                    <a:pt x="480625" y="1499218"/>
                  </a:lnTo>
                  <a:lnTo>
                    <a:pt x="469193" y="1462873"/>
                  </a:lnTo>
                  <a:close/>
                </a:path>
                <a:path w="789939" h="2454910">
                  <a:moveTo>
                    <a:pt x="449190" y="1399270"/>
                  </a:moveTo>
                  <a:lnTo>
                    <a:pt x="440103" y="1402128"/>
                  </a:lnTo>
                  <a:lnTo>
                    <a:pt x="451534" y="1438473"/>
                  </a:lnTo>
                  <a:lnTo>
                    <a:pt x="460621" y="1435615"/>
                  </a:lnTo>
                  <a:lnTo>
                    <a:pt x="449190" y="1399270"/>
                  </a:lnTo>
                  <a:close/>
                </a:path>
                <a:path w="789939" h="2454910">
                  <a:moveTo>
                    <a:pt x="429185" y="1335667"/>
                  </a:moveTo>
                  <a:lnTo>
                    <a:pt x="420098" y="1338525"/>
                  </a:lnTo>
                  <a:lnTo>
                    <a:pt x="431529" y="1374870"/>
                  </a:lnTo>
                  <a:lnTo>
                    <a:pt x="440616" y="1372012"/>
                  </a:lnTo>
                  <a:lnTo>
                    <a:pt x="429185" y="1335667"/>
                  </a:lnTo>
                  <a:close/>
                </a:path>
                <a:path w="789939" h="2454910">
                  <a:moveTo>
                    <a:pt x="409180" y="1272063"/>
                  </a:moveTo>
                  <a:lnTo>
                    <a:pt x="400094" y="1274922"/>
                  </a:lnTo>
                  <a:lnTo>
                    <a:pt x="411525" y="1311266"/>
                  </a:lnTo>
                  <a:lnTo>
                    <a:pt x="420611" y="1308408"/>
                  </a:lnTo>
                  <a:lnTo>
                    <a:pt x="409180" y="1272063"/>
                  </a:lnTo>
                  <a:close/>
                </a:path>
                <a:path w="789939" h="2454910">
                  <a:moveTo>
                    <a:pt x="389176" y="1208460"/>
                  </a:moveTo>
                  <a:lnTo>
                    <a:pt x="380089" y="1211318"/>
                  </a:lnTo>
                  <a:lnTo>
                    <a:pt x="391520" y="1247663"/>
                  </a:lnTo>
                  <a:lnTo>
                    <a:pt x="400607" y="1244805"/>
                  </a:lnTo>
                  <a:lnTo>
                    <a:pt x="389176" y="1208460"/>
                  </a:lnTo>
                  <a:close/>
                </a:path>
                <a:path w="789939" h="2454910">
                  <a:moveTo>
                    <a:pt x="369171" y="1144858"/>
                  </a:moveTo>
                  <a:lnTo>
                    <a:pt x="360084" y="1147715"/>
                  </a:lnTo>
                  <a:lnTo>
                    <a:pt x="371515" y="1184060"/>
                  </a:lnTo>
                  <a:lnTo>
                    <a:pt x="380602" y="1181202"/>
                  </a:lnTo>
                  <a:lnTo>
                    <a:pt x="369171" y="1144858"/>
                  </a:lnTo>
                  <a:close/>
                </a:path>
                <a:path w="789939" h="2454910">
                  <a:moveTo>
                    <a:pt x="349166" y="1081255"/>
                  </a:moveTo>
                  <a:lnTo>
                    <a:pt x="340080" y="1084112"/>
                  </a:lnTo>
                  <a:lnTo>
                    <a:pt x="351511" y="1120457"/>
                  </a:lnTo>
                  <a:lnTo>
                    <a:pt x="360597" y="1117598"/>
                  </a:lnTo>
                  <a:lnTo>
                    <a:pt x="349166" y="1081255"/>
                  </a:lnTo>
                  <a:close/>
                </a:path>
                <a:path w="789939" h="2454910">
                  <a:moveTo>
                    <a:pt x="329161" y="1017651"/>
                  </a:moveTo>
                  <a:lnTo>
                    <a:pt x="320075" y="1020509"/>
                  </a:lnTo>
                  <a:lnTo>
                    <a:pt x="331506" y="1056853"/>
                  </a:lnTo>
                  <a:lnTo>
                    <a:pt x="340592" y="1053995"/>
                  </a:lnTo>
                  <a:lnTo>
                    <a:pt x="329161" y="1017651"/>
                  </a:lnTo>
                  <a:close/>
                </a:path>
                <a:path w="789939" h="2454910">
                  <a:moveTo>
                    <a:pt x="309157" y="954048"/>
                  </a:moveTo>
                  <a:lnTo>
                    <a:pt x="300070" y="956905"/>
                  </a:lnTo>
                  <a:lnTo>
                    <a:pt x="311501" y="993250"/>
                  </a:lnTo>
                  <a:lnTo>
                    <a:pt x="320588" y="990392"/>
                  </a:lnTo>
                  <a:lnTo>
                    <a:pt x="309157" y="954048"/>
                  </a:lnTo>
                  <a:close/>
                </a:path>
                <a:path w="789939" h="2454910">
                  <a:moveTo>
                    <a:pt x="289152" y="890445"/>
                  </a:moveTo>
                  <a:lnTo>
                    <a:pt x="280065" y="893302"/>
                  </a:lnTo>
                  <a:lnTo>
                    <a:pt x="291496" y="929647"/>
                  </a:lnTo>
                  <a:lnTo>
                    <a:pt x="300583" y="926790"/>
                  </a:lnTo>
                  <a:lnTo>
                    <a:pt x="289152" y="890445"/>
                  </a:lnTo>
                  <a:close/>
                </a:path>
                <a:path w="789939" h="2454910">
                  <a:moveTo>
                    <a:pt x="269147" y="826842"/>
                  </a:moveTo>
                  <a:lnTo>
                    <a:pt x="260061" y="829699"/>
                  </a:lnTo>
                  <a:lnTo>
                    <a:pt x="271492" y="866044"/>
                  </a:lnTo>
                  <a:lnTo>
                    <a:pt x="280578" y="863185"/>
                  </a:lnTo>
                  <a:lnTo>
                    <a:pt x="269147" y="826842"/>
                  </a:lnTo>
                  <a:close/>
                </a:path>
                <a:path w="789939" h="2454910">
                  <a:moveTo>
                    <a:pt x="249142" y="763238"/>
                  </a:moveTo>
                  <a:lnTo>
                    <a:pt x="240056" y="766097"/>
                  </a:lnTo>
                  <a:lnTo>
                    <a:pt x="251487" y="802440"/>
                  </a:lnTo>
                  <a:lnTo>
                    <a:pt x="260573" y="799583"/>
                  </a:lnTo>
                  <a:lnTo>
                    <a:pt x="249142" y="763238"/>
                  </a:lnTo>
                  <a:close/>
                </a:path>
                <a:path w="789939" h="2454910">
                  <a:moveTo>
                    <a:pt x="229138" y="699635"/>
                  </a:moveTo>
                  <a:lnTo>
                    <a:pt x="220051" y="702492"/>
                  </a:lnTo>
                  <a:lnTo>
                    <a:pt x="231482" y="738837"/>
                  </a:lnTo>
                  <a:lnTo>
                    <a:pt x="240569" y="735980"/>
                  </a:lnTo>
                  <a:lnTo>
                    <a:pt x="229138" y="699635"/>
                  </a:lnTo>
                  <a:close/>
                </a:path>
                <a:path w="789939" h="2454910">
                  <a:moveTo>
                    <a:pt x="209133" y="636032"/>
                  </a:moveTo>
                  <a:lnTo>
                    <a:pt x="200047" y="638890"/>
                  </a:lnTo>
                  <a:lnTo>
                    <a:pt x="211479" y="675234"/>
                  </a:lnTo>
                  <a:lnTo>
                    <a:pt x="220564" y="672377"/>
                  </a:lnTo>
                  <a:lnTo>
                    <a:pt x="209133" y="636032"/>
                  </a:lnTo>
                  <a:close/>
                </a:path>
                <a:path w="789939" h="2454910">
                  <a:moveTo>
                    <a:pt x="189128" y="572429"/>
                  </a:moveTo>
                  <a:lnTo>
                    <a:pt x="180042" y="575287"/>
                  </a:lnTo>
                  <a:lnTo>
                    <a:pt x="191474" y="611632"/>
                  </a:lnTo>
                  <a:lnTo>
                    <a:pt x="200559" y="608773"/>
                  </a:lnTo>
                  <a:lnTo>
                    <a:pt x="189128" y="572429"/>
                  </a:lnTo>
                  <a:close/>
                </a:path>
                <a:path w="789939" h="2454910">
                  <a:moveTo>
                    <a:pt x="169124" y="508825"/>
                  </a:moveTo>
                  <a:lnTo>
                    <a:pt x="160037" y="511684"/>
                  </a:lnTo>
                  <a:lnTo>
                    <a:pt x="171469" y="548027"/>
                  </a:lnTo>
                  <a:lnTo>
                    <a:pt x="180555" y="545170"/>
                  </a:lnTo>
                  <a:lnTo>
                    <a:pt x="169124" y="508825"/>
                  </a:lnTo>
                  <a:close/>
                </a:path>
                <a:path w="789939" h="2454910">
                  <a:moveTo>
                    <a:pt x="149119" y="445222"/>
                  </a:moveTo>
                  <a:lnTo>
                    <a:pt x="140032" y="448080"/>
                  </a:lnTo>
                  <a:lnTo>
                    <a:pt x="151464" y="484424"/>
                  </a:lnTo>
                  <a:lnTo>
                    <a:pt x="160550" y="481567"/>
                  </a:lnTo>
                  <a:lnTo>
                    <a:pt x="149119" y="445222"/>
                  </a:lnTo>
                  <a:close/>
                </a:path>
                <a:path w="789939" h="2454910">
                  <a:moveTo>
                    <a:pt x="129114" y="381619"/>
                  </a:moveTo>
                  <a:lnTo>
                    <a:pt x="120028" y="384477"/>
                  </a:lnTo>
                  <a:lnTo>
                    <a:pt x="131460" y="420822"/>
                  </a:lnTo>
                  <a:lnTo>
                    <a:pt x="140545" y="417964"/>
                  </a:lnTo>
                  <a:lnTo>
                    <a:pt x="129114" y="381619"/>
                  </a:lnTo>
                  <a:close/>
                </a:path>
                <a:path w="789939" h="2454910">
                  <a:moveTo>
                    <a:pt x="109109" y="318016"/>
                  </a:moveTo>
                  <a:lnTo>
                    <a:pt x="100023" y="320874"/>
                  </a:lnTo>
                  <a:lnTo>
                    <a:pt x="111455" y="357219"/>
                  </a:lnTo>
                  <a:lnTo>
                    <a:pt x="120540" y="354360"/>
                  </a:lnTo>
                  <a:lnTo>
                    <a:pt x="109109" y="318016"/>
                  </a:lnTo>
                  <a:close/>
                </a:path>
                <a:path w="789939" h="2454910">
                  <a:moveTo>
                    <a:pt x="89105" y="254412"/>
                  </a:moveTo>
                  <a:lnTo>
                    <a:pt x="80018" y="257270"/>
                  </a:lnTo>
                  <a:lnTo>
                    <a:pt x="91450" y="293615"/>
                  </a:lnTo>
                  <a:lnTo>
                    <a:pt x="100537" y="290757"/>
                  </a:lnTo>
                  <a:lnTo>
                    <a:pt x="89105" y="254412"/>
                  </a:lnTo>
                  <a:close/>
                </a:path>
                <a:path w="789939" h="2454910">
                  <a:moveTo>
                    <a:pt x="69100" y="190809"/>
                  </a:moveTo>
                  <a:lnTo>
                    <a:pt x="60013" y="193667"/>
                  </a:lnTo>
                  <a:lnTo>
                    <a:pt x="71445" y="230012"/>
                  </a:lnTo>
                  <a:lnTo>
                    <a:pt x="80531" y="227154"/>
                  </a:lnTo>
                  <a:lnTo>
                    <a:pt x="69100" y="190809"/>
                  </a:lnTo>
                  <a:close/>
                </a:path>
                <a:path w="789939" h="2454910">
                  <a:moveTo>
                    <a:pt x="49095" y="127207"/>
                  </a:moveTo>
                  <a:lnTo>
                    <a:pt x="40010" y="130064"/>
                  </a:lnTo>
                  <a:lnTo>
                    <a:pt x="51441" y="166409"/>
                  </a:lnTo>
                  <a:lnTo>
                    <a:pt x="60526" y="163551"/>
                  </a:lnTo>
                  <a:lnTo>
                    <a:pt x="49095" y="127207"/>
                  </a:lnTo>
                  <a:close/>
                </a:path>
                <a:path w="789939" h="2454910">
                  <a:moveTo>
                    <a:pt x="29091" y="63602"/>
                  </a:moveTo>
                  <a:lnTo>
                    <a:pt x="20005" y="66461"/>
                  </a:lnTo>
                  <a:lnTo>
                    <a:pt x="31436" y="102806"/>
                  </a:lnTo>
                  <a:lnTo>
                    <a:pt x="40521" y="99947"/>
                  </a:lnTo>
                  <a:lnTo>
                    <a:pt x="29091" y="63602"/>
                  </a:lnTo>
                  <a:close/>
                </a:path>
                <a:path w="789939" h="2454910">
                  <a:moveTo>
                    <a:pt x="9086" y="0"/>
                  </a:moveTo>
                  <a:lnTo>
                    <a:pt x="0" y="2857"/>
                  </a:lnTo>
                  <a:lnTo>
                    <a:pt x="11431" y="39202"/>
                  </a:lnTo>
                  <a:lnTo>
                    <a:pt x="20518" y="36344"/>
                  </a:lnTo>
                  <a:lnTo>
                    <a:pt x="9086"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5" name="object 15"/>
            <p:cNvSpPr/>
            <p:nvPr/>
          </p:nvSpPr>
          <p:spPr>
            <a:xfrm>
              <a:off x="3257552" y="3540885"/>
              <a:ext cx="645795" cy="645795"/>
            </a:xfrm>
            <a:custGeom>
              <a:avLst/>
              <a:gdLst/>
              <a:ahLst/>
              <a:cxnLst/>
              <a:rect l="l" t="t" r="r" b="b"/>
              <a:pathLst>
                <a:path w="645795" h="645795">
                  <a:moveTo>
                    <a:pt x="322836" y="0"/>
                  </a:moveTo>
                  <a:lnTo>
                    <a:pt x="275130" y="3500"/>
                  </a:lnTo>
                  <a:lnTo>
                    <a:pt x="229597" y="13668"/>
                  </a:lnTo>
                  <a:lnTo>
                    <a:pt x="186736" y="30005"/>
                  </a:lnTo>
                  <a:lnTo>
                    <a:pt x="147048" y="52010"/>
                  </a:lnTo>
                  <a:lnTo>
                    <a:pt x="111031" y="79186"/>
                  </a:lnTo>
                  <a:lnTo>
                    <a:pt x="79186" y="111031"/>
                  </a:lnTo>
                  <a:lnTo>
                    <a:pt x="52010" y="147048"/>
                  </a:lnTo>
                  <a:lnTo>
                    <a:pt x="30005" y="186736"/>
                  </a:lnTo>
                  <a:lnTo>
                    <a:pt x="13668" y="229597"/>
                  </a:lnTo>
                  <a:lnTo>
                    <a:pt x="3500" y="275130"/>
                  </a:lnTo>
                  <a:lnTo>
                    <a:pt x="0" y="322836"/>
                  </a:lnTo>
                  <a:lnTo>
                    <a:pt x="3500" y="370542"/>
                  </a:lnTo>
                  <a:lnTo>
                    <a:pt x="13668" y="416075"/>
                  </a:lnTo>
                  <a:lnTo>
                    <a:pt x="30005" y="458935"/>
                  </a:lnTo>
                  <a:lnTo>
                    <a:pt x="52010" y="498623"/>
                  </a:lnTo>
                  <a:lnTo>
                    <a:pt x="79186" y="534640"/>
                  </a:lnTo>
                  <a:lnTo>
                    <a:pt x="111031" y="566485"/>
                  </a:lnTo>
                  <a:lnTo>
                    <a:pt x="147048" y="593660"/>
                  </a:lnTo>
                  <a:lnTo>
                    <a:pt x="186736" y="615666"/>
                  </a:lnTo>
                  <a:lnTo>
                    <a:pt x="229597" y="632003"/>
                  </a:lnTo>
                  <a:lnTo>
                    <a:pt x="275130" y="642171"/>
                  </a:lnTo>
                  <a:lnTo>
                    <a:pt x="322836" y="645671"/>
                  </a:lnTo>
                  <a:lnTo>
                    <a:pt x="370542" y="642171"/>
                  </a:lnTo>
                  <a:lnTo>
                    <a:pt x="416076" y="632003"/>
                  </a:lnTo>
                  <a:lnTo>
                    <a:pt x="458936" y="615666"/>
                  </a:lnTo>
                  <a:lnTo>
                    <a:pt x="498624" y="593660"/>
                  </a:lnTo>
                  <a:lnTo>
                    <a:pt x="534641" y="566485"/>
                  </a:lnTo>
                  <a:lnTo>
                    <a:pt x="566486" y="534640"/>
                  </a:lnTo>
                  <a:lnTo>
                    <a:pt x="593662" y="498623"/>
                  </a:lnTo>
                  <a:lnTo>
                    <a:pt x="615667" y="458935"/>
                  </a:lnTo>
                  <a:lnTo>
                    <a:pt x="632004" y="416075"/>
                  </a:lnTo>
                  <a:lnTo>
                    <a:pt x="642172" y="370542"/>
                  </a:lnTo>
                  <a:lnTo>
                    <a:pt x="645673" y="322836"/>
                  </a:lnTo>
                  <a:lnTo>
                    <a:pt x="642172" y="275130"/>
                  </a:lnTo>
                  <a:lnTo>
                    <a:pt x="632004" y="229597"/>
                  </a:lnTo>
                  <a:lnTo>
                    <a:pt x="615667" y="186736"/>
                  </a:lnTo>
                  <a:lnTo>
                    <a:pt x="593662" y="147048"/>
                  </a:lnTo>
                  <a:lnTo>
                    <a:pt x="566486" y="111031"/>
                  </a:lnTo>
                  <a:lnTo>
                    <a:pt x="534641" y="79186"/>
                  </a:lnTo>
                  <a:lnTo>
                    <a:pt x="498624" y="52010"/>
                  </a:lnTo>
                  <a:lnTo>
                    <a:pt x="458936" y="30005"/>
                  </a:lnTo>
                  <a:lnTo>
                    <a:pt x="416076" y="13668"/>
                  </a:lnTo>
                  <a:lnTo>
                    <a:pt x="370542" y="3500"/>
                  </a:lnTo>
                  <a:lnTo>
                    <a:pt x="322836"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6" name="object 16"/>
            <p:cNvSpPr/>
            <p:nvPr/>
          </p:nvSpPr>
          <p:spPr>
            <a:xfrm>
              <a:off x="3257552" y="3540885"/>
              <a:ext cx="645795" cy="645795"/>
            </a:xfrm>
            <a:custGeom>
              <a:avLst/>
              <a:gdLst/>
              <a:ahLst/>
              <a:cxnLst/>
              <a:rect l="l" t="t" r="r" b="b"/>
              <a:pathLst>
                <a:path w="645795" h="645795">
                  <a:moveTo>
                    <a:pt x="0" y="322836"/>
                  </a:moveTo>
                  <a:lnTo>
                    <a:pt x="3500" y="275129"/>
                  </a:lnTo>
                  <a:lnTo>
                    <a:pt x="13668" y="229596"/>
                  </a:lnTo>
                  <a:lnTo>
                    <a:pt x="30005" y="186736"/>
                  </a:lnTo>
                  <a:lnTo>
                    <a:pt x="52010" y="147048"/>
                  </a:lnTo>
                  <a:lnTo>
                    <a:pt x="79186" y="111031"/>
                  </a:lnTo>
                  <a:lnTo>
                    <a:pt x="111031" y="79186"/>
                  </a:lnTo>
                  <a:lnTo>
                    <a:pt x="147048" y="52010"/>
                  </a:lnTo>
                  <a:lnTo>
                    <a:pt x="186736" y="30005"/>
                  </a:lnTo>
                  <a:lnTo>
                    <a:pt x="229596" y="13668"/>
                  </a:lnTo>
                  <a:lnTo>
                    <a:pt x="275129" y="3500"/>
                  </a:lnTo>
                  <a:lnTo>
                    <a:pt x="322836" y="0"/>
                  </a:lnTo>
                  <a:lnTo>
                    <a:pt x="370542" y="3500"/>
                  </a:lnTo>
                  <a:lnTo>
                    <a:pt x="416075" y="13668"/>
                  </a:lnTo>
                  <a:lnTo>
                    <a:pt x="458935" y="30005"/>
                  </a:lnTo>
                  <a:lnTo>
                    <a:pt x="498623" y="52010"/>
                  </a:lnTo>
                  <a:lnTo>
                    <a:pt x="534640" y="79186"/>
                  </a:lnTo>
                  <a:lnTo>
                    <a:pt x="566485" y="111031"/>
                  </a:lnTo>
                  <a:lnTo>
                    <a:pt x="593661" y="147048"/>
                  </a:lnTo>
                  <a:lnTo>
                    <a:pt x="615666" y="186736"/>
                  </a:lnTo>
                  <a:lnTo>
                    <a:pt x="632003" y="229596"/>
                  </a:lnTo>
                  <a:lnTo>
                    <a:pt x="642171" y="275129"/>
                  </a:lnTo>
                  <a:lnTo>
                    <a:pt x="645672" y="322836"/>
                  </a:lnTo>
                  <a:lnTo>
                    <a:pt x="642171" y="370542"/>
                  </a:lnTo>
                  <a:lnTo>
                    <a:pt x="632003" y="416075"/>
                  </a:lnTo>
                  <a:lnTo>
                    <a:pt x="615666" y="458935"/>
                  </a:lnTo>
                  <a:lnTo>
                    <a:pt x="593661" y="498623"/>
                  </a:lnTo>
                  <a:lnTo>
                    <a:pt x="566485" y="534640"/>
                  </a:lnTo>
                  <a:lnTo>
                    <a:pt x="534640" y="566485"/>
                  </a:lnTo>
                  <a:lnTo>
                    <a:pt x="498623" y="593661"/>
                  </a:lnTo>
                  <a:lnTo>
                    <a:pt x="458935" y="615666"/>
                  </a:lnTo>
                  <a:lnTo>
                    <a:pt x="416075" y="632003"/>
                  </a:lnTo>
                  <a:lnTo>
                    <a:pt x="370542" y="642171"/>
                  </a:lnTo>
                  <a:lnTo>
                    <a:pt x="322836" y="645672"/>
                  </a:lnTo>
                  <a:lnTo>
                    <a:pt x="275129" y="642171"/>
                  </a:lnTo>
                  <a:lnTo>
                    <a:pt x="229596" y="632003"/>
                  </a:lnTo>
                  <a:lnTo>
                    <a:pt x="186736" y="615666"/>
                  </a:lnTo>
                  <a:lnTo>
                    <a:pt x="147048" y="593661"/>
                  </a:lnTo>
                  <a:lnTo>
                    <a:pt x="111031" y="566485"/>
                  </a:lnTo>
                  <a:lnTo>
                    <a:pt x="79186" y="534640"/>
                  </a:lnTo>
                  <a:lnTo>
                    <a:pt x="52010" y="498623"/>
                  </a:lnTo>
                  <a:lnTo>
                    <a:pt x="30005" y="458935"/>
                  </a:lnTo>
                  <a:lnTo>
                    <a:pt x="13668" y="416075"/>
                  </a:lnTo>
                  <a:lnTo>
                    <a:pt x="3500" y="370542"/>
                  </a:lnTo>
                  <a:lnTo>
                    <a:pt x="0" y="322836"/>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7" name="object 17"/>
            <p:cNvSpPr/>
            <p:nvPr/>
          </p:nvSpPr>
          <p:spPr>
            <a:xfrm>
              <a:off x="3243091" y="5515444"/>
              <a:ext cx="645795" cy="645795"/>
            </a:xfrm>
            <a:custGeom>
              <a:avLst/>
              <a:gdLst/>
              <a:ahLst/>
              <a:cxnLst/>
              <a:rect l="l" t="t" r="r" b="b"/>
              <a:pathLst>
                <a:path w="645795" h="645795">
                  <a:moveTo>
                    <a:pt x="322835" y="0"/>
                  </a:moveTo>
                  <a:lnTo>
                    <a:pt x="275129" y="3500"/>
                  </a:lnTo>
                  <a:lnTo>
                    <a:pt x="229596" y="13668"/>
                  </a:lnTo>
                  <a:lnTo>
                    <a:pt x="186736" y="30005"/>
                  </a:lnTo>
                  <a:lnTo>
                    <a:pt x="147048" y="52010"/>
                  </a:lnTo>
                  <a:lnTo>
                    <a:pt x="111031" y="79186"/>
                  </a:lnTo>
                  <a:lnTo>
                    <a:pt x="79186" y="111032"/>
                  </a:lnTo>
                  <a:lnTo>
                    <a:pt x="52010" y="147048"/>
                  </a:lnTo>
                  <a:lnTo>
                    <a:pt x="30005" y="186736"/>
                  </a:lnTo>
                  <a:lnTo>
                    <a:pt x="13668" y="229597"/>
                  </a:lnTo>
                  <a:lnTo>
                    <a:pt x="3500" y="275130"/>
                  </a:lnTo>
                  <a:lnTo>
                    <a:pt x="0" y="322836"/>
                  </a:lnTo>
                  <a:lnTo>
                    <a:pt x="3500" y="370542"/>
                  </a:lnTo>
                  <a:lnTo>
                    <a:pt x="13668" y="416075"/>
                  </a:lnTo>
                  <a:lnTo>
                    <a:pt x="30005" y="458935"/>
                  </a:lnTo>
                  <a:lnTo>
                    <a:pt x="52010" y="498623"/>
                  </a:lnTo>
                  <a:lnTo>
                    <a:pt x="79186" y="534640"/>
                  </a:lnTo>
                  <a:lnTo>
                    <a:pt x="111031" y="566486"/>
                  </a:lnTo>
                  <a:lnTo>
                    <a:pt x="147048" y="593661"/>
                  </a:lnTo>
                  <a:lnTo>
                    <a:pt x="186736" y="615667"/>
                  </a:lnTo>
                  <a:lnTo>
                    <a:pt x="229596" y="632003"/>
                  </a:lnTo>
                  <a:lnTo>
                    <a:pt x="275129" y="642171"/>
                  </a:lnTo>
                  <a:lnTo>
                    <a:pt x="322835" y="645672"/>
                  </a:lnTo>
                  <a:lnTo>
                    <a:pt x="370541" y="642171"/>
                  </a:lnTo>
                  <a:lnTo>
                    <a:pt x="416074" y="632003"/>
                  </a:lnTo>
                  <a:lnTo>
                    <a:pt x="458935" y="615667"/>
                  </a:lnTo>
                  <a:lnTo>
                    <a:pt x="498623" y="593661"/>
                  </a:lnTo>
                  <a:lnTo>
                    <a:pt x="534639" y="566486"/>
                  </a:lnTo>
                  <a:lnTo>
                    <a:pt x="566485" y="534640"/>
                  </a:lnTo>
                  <a:lnTo>
                    <a:pt x="593660" y="498623"/>
                  </a:lnTo>
                  <a:lnTo>
                    <a:pt x="615666" y="458935"/>
                  </a:lnTo>
                  <a:lnTo>
                    <a:pt x="632003" y="416075"/>
                  </a:lnTo>
                  <a:lnTo>
                    <a:pt x="642171" y="370542"/>
                  </a:lnTo>
                  <a:lnTo>
                    <a:pt x="645671" y="322836"/>
                  </a:lnTo>
                  <a:lnTo>
                    <a:pt x="642171" y="275130"/>
                  </a:lnTo>
                  <a:lnTo>
                    <a:pt x="632003" y="229597"/>
                  </a:lnTo>
                  <a:lnTo>
                    <a:pt x="615666" y="186736"/>
                  </a:lnTo>
                  <a:lnTo>
                    <a:pt x="593660" y="147048"/>
                  </a:lnTo>
                  <a:lnTo>
                    <a:pt x="566485" y="111032"/>
                  </a:lnTo>
                  <a:lnTo>
                    <a:pt x="534639" y="79186"/>
                  </a:lnTo>
                  <a:lnTo>
                    <a:pt x="498623" y="52010"/>
                  </a:lnTo>
                  <a:lnTo>
                    <a:pt x="458935" y="30005"/>
                  </a:lnTo>
                  <a:lnTo>
                    <a:pt x="416074" y="13668"/>
                  </a:lnTo>
                  <a:lnTo>
                    <a:pt x="370541" y="3500"/>
                  </a:lnTo>
                  <a:lnTo>
                    <a:pt x="322835" y="0"/>
                  </a:lnTo>
                  <a:close/>
                </a:path>
              </a:pathLst>
            </a:custGeom>
            <a:solidFill>
              <a:srgbClr val="DCE7DA"/>
            </a:solidFill>
          </p:spPr>
          <p:txBody>
            <a:bodyPr wrap="square" lIns="0" tIns="0" rIns="0" bIns="0" rtlCol="0"/>
            <a:lstStyle/>
            <a:p>
              <a:endParaRPr>
                <a:solidFill>
                  <a:prstClr val="black"/>
                </a:solidFill>
                <a:latin typeface="Calibri"/>
              </a:endParaRPr>
            </a:p>
          </p:txBody>
        </p:sp>
        <p:sp>
          <p:nvSpPr>
            <p:cNvPr id="18" name="object 18"/>
            <p:cNvSpPr/>
            <p:nvPr/>
          </p:nvSpPr>
          <p:spPr>
            <a:xfrm>
              <a:off x="3243091" y="5515444"/>
              <a:ext cx="645795" cy="645795"/>
            </a:xfrm>
            <a:custGeom>
              <a:avLst/>
              <a:gdLst/>
              <a:ahLst/>
              <a:cxnLst/>
              <a:rect l="l" t="t" r="r" b="b"/>
              <a:pathLst>
                <a:path w="645795" h="645795">
                  <a:moveTo>
                    <a:pt x="0" y="322836"/>
                  </a:moveTo>
                  <a:lnTo>
                    <a:pt x="3500" y="275129"/>
                  </a:lnTo>
                  <a:lnTo>
                    <a:pt x="13668" y="229596"/>
                  </a:lnTo>
                  <a:lnTo>
                    <a:pt x="30005" y="186736"/>
                  </a:lnTo>
                  <a:lnTo>
                    <a:pt x="52010" y="147048"/>
                  </a:lnTo>
                  <a:lnTo>
                    <a:pt x="79186" y="111031"/>
                  </a:lnTo>
                  <a:lnTo>
                    <a:pt x="111031" y="79186"/>
                  </a:lnTo>
                  <a:lnTo>
                    <a:pt x="147048" y="52010"/>
                  </a:lnTo>
                  <a:lnTo>
                    <a:pt x="186736" y="30005"/>
                  </a:lnTo>
                  <a:lnTo>
                    <a:pt x="229596" y="13668"/>
                  </a:lnTo>
                  <a:lnTo>
                    <a:pt x="275129" y="3500"/>
                  </a:lnTo>
                  <a:lnTo>
                    <a:pt x="322836" y="0"/>
                  </a:lnTo>
                  <a:lnTo>
                    <a:pt x="370542" y="3500"/>
                  </a:lnTo>
                  <a:lnTo>
                    <a:pt x="416075" y="13668"/>
                  </a:lnTo>
                  <a:lnTo>
                    <a:pt x="458935" y="30005"/>
                  </a:lnTo>
                  <a:lnTo>
                    <a:pt x="498623" y="52010"/>
                  </a:lnTo>
                  <a:lnTo>
                    <a:pt x="534640" y="79186"/>
                  </a:lnTo>
                  <a:lnTo>
                    <a:pt x="566485" y="111031"/>
                  </a:lnTo>
                  <a:lnTo>
                    <a:pt x="593661" y="147048"/>
                  </a:lnTo>
                  <a:lnTo>
                    <a:pt x="615666" y="186736"/>
                  </a:lnTo>
                  <a:lnTo>
                    <a:pt x="632003" y="229596"/>
                  </a:lnTo>
                  <a:lnTo>
                    <a:pt x="642171" y="275129"/>
                  </a:lnTo>
                  <a:lnTo>
                    <a:pt x="645672" y="322836"/>
                  </a:lnTo>
                  <a:lnTo>
                    <a:pt x="642171" y="370542"/>
                  </a:lnTo>
                  <a:lnTo>
                    <a:pt x="632003" y="416075"/>
                  </a:lnTo>
                  <a:lnTo>
                    <a:pt x="615666" y="458935"/>
                  </a:lnTo>
                  <a:lnTo>
                    <a:pt x="593661" y="498623"/>
                  </a:lnTo>
                  <a:lnTo>
                    <a:pt x="566485" y="534640"/>
                  </a:lnTo>
                  <a:lnTo>
                    <a:pt x="534640" y="566485"/>
                  </a:lnTo>
                  <a:lnTo>
                    <a:pt x="498623" y="593661"/>
                  </a:lnTo>
                  <a:lnTo>
                    <a:pt x="458935" y="615666"/>
                  </a:lnTo>
                  <a:lnTo>
                    <a:pt x="416075" y="632003"/>
                  </a:lnTo>
                  <a:lnTo>
                    <a:pt x="370542" y="642171"/>
                  </a:lnTo>
                  <a:lnTo>
                    <a:pt x="322836" y="645672"/>
                  </a:lnTo>
                  <a:lnTo>
                    <a:pt x="275129" y="642171"/>
                  </a:lnTo>
                  <a:lnTo>
                    <a:pt x="229596" y="632003"/>
                  </a:lnTo>
                  <a:lnTo>
                    <a:pt x="186736" y="615666"/>
                  </a:lnTo>
                  <a:lnTo>
                    <a:pt x="147048" y="593661"/>
                  </a:lnTo>
                  <a:lnTo>
                    <a:pt x="111031" y="566485"/>
                  </a:lnTo>
                  <a:lnTo>
                    <a:pt x="79186" y="534640"/>
                  </a:lnTo>
                  <a:lnTo>
                    <a:pt x="52010" y="498623"/>
                  </a:lnTo>
                  <a:lnTo>
                    <a:pt x="30005" y="458935"/>
                  </a:lnTo>
                  <a:lnTo>
                    <a:pt x="13668" y="416075"/>
                  </a:lnTo>
                  <a:lnTo>
                    <a:pt x="3500" y="370542"/>
                  </a:lnTo>
                  <a:lnTo>
                    <a:pt x="0" y="322836"/>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19" name="object 19"/>
            <p:cNvSpPr/>
            <p:nvPr/>
          </p:nvSpPr>
          <p:spPr>
            <a:xfrm>
              <a:off x="2467000" y="2862109"/>
              <a:ext cx="3651250" cy="2980690"/>
            </a:xfrm>
            <a:custGeom>
              <a:avLst/>
              <a:gdLst/>
              <a:ahLst/>
              <a:cxnLst/>
              <a:rect l="l" t="t" r="r" b="b"/>
              <a:pathLst>
                <a:path w="3651250" h="2980690">
                  <a:moveTo>
                    <a:pt x="24599" y="288150"/>
                  </a:moveTo>
                  <a:lnTo>
                    <a:pt x="8915" y="253428"/>
                  </a:lnTo>
                  <a:lnTo>
                    <a:pt x="4572" y="255384"/>
                  </a:lnTo>
                  <a:lnTo>
                    <a:pt x="0" y="256679"/>
                  </a:lnTo>
                  <a:lnTo>
                    <a:pt x="10388" y="293344"/>
                  </a:lnTo>
                  <a:lnTo>
                    <a:pt x="15798" y="291807"/>
                  </a:lnTo>
                  <a:lnTo>
                    <a:pt x="15925" y="292061"/>
                  </a:lnTo>
                  <a:lnTo>
                    <a:pt x="17653" y="291287"/>
                  </a:lnTo>
                  <a:lnTo>
                    <a:pt x="19558" y="290741"/>
                  </a:lnTo>
                  <a:lnTo>
                    <a:pt x="19469" y="290461"/>
                  </a:lnTo>
                  <a:lnTo>
                    <a:pt x="24599" y="288150"/>
                  </a:lnTo>
                  <a:close/>
                </a:path>
                <a:path w="3651250" h="2980690">
                  <a:moveTo>
                    <a:pt x="37744" y="354888"/>
                  </a:moveTo>
                  <a:lnTo>
                    <a:pt x="27343" y="318236"/>
                  </a:lnTo>
                  <a:lnTo>
                    <a:pt x="18186" y="320827"/>
                  </a:lnTo>
                  <a:lnTo>
                    <a:pt x="28575" y="357479"/>
                  </a:lnTo>
                  <a:lnTo>
                    <a:pt x="37744" y="354888"/>
                  </a:lnTo>
                  <a:close/>
                </a:path>
                <a:path w="3651250" h="2980690">
                  <a:moveTo>
                    <a:pt x="38785" y="2470378"/>
                  </a:moveTo>
                  <a:lnTo>
                    <a:pt x="10807" y="2451417"/>
                  </a:lnTo>
                  <a:lnTo>
                    <a:pt x="26911" y="2421699"/>
                  </a:lnTo>
                  <a:lnTo>
                    <a:pt x="20739" y="2418372"/>
                  </a:lnTo>
                  <a:lnTo>
                    <a:pt x="20815" y="2418143"/>
                  </a:lnTo>
                  <a:lnTo>
                    <a:pt x="19621" y="2417775"/>
                  </a:lnTo>
                  <a:lnTo>
                    <a:pt x="18529" y="2417165"/>
                  </a:lnTo>
                  <a:lnTo>
                    <a:pt x="18415" y="2417381"/>
                  </a:lnTo>
                  <a:lnTo>
                    <a:pt x="11747" y="2415222"/>
                  </a:lnTo>
                  <a:lnTo>
                    <a:pt x="50" y="2451481"/>
                  </a:lnTo>
                  <a:lnTo>
                    <a:pt x="4559" y="2452954"/>
                  </a:lnTo>
                  <a:lnTo>
                    <a:pt x="1905" y="2456878"/>
                  </a:lnTo>
                  <a:lnTo>
                    <a:pt x="33439" y="2478265"/>
                  </a:lnTo>
                  <a:lnTo>
                    <a:pt x="38785" y="2470378"/>
                  </a:lnTo>
                  <a:close/>
                </a:path>
                <a:path w="3651250" h="2980690">
                  <a:moveTo>
                    <a:pt x="41287" y="2354694"/>
                  </a:moveTo>
                  <a:lnTo>
                    <a:pt x="32232" y="2351760"/>
                  </a:lnTo>
                  <a:lnTo>
                    <a:pt x="20523" y="2388019"/>
                  </a:lnTo>
                  <a:lnTo>
                    <a:pt x="29591" y="2390952"/>
                  </a:lnTo>
                  <a:lnTo>
                    <a:pt x="41287" y="2354694"/>
                  </a:lnTo>
                  <a:close/>
                </a:path>
                <a:path w="3651250" h="2980690">
                  <a:moveTo>
                    <a:pt x="41287" y="1342910"/>
                  </a:moveTo>
                  <a:lnTo>
                    <a:pt x="37388" y="1334223"/>
                  </a:lnTo>
                  <a:lnTo>
                    <a:pt x="2628" y="1349819"/>
                  </a:lnTo>
                  <a:lnTo>
                    <a:pt x="4572" y="1354162"/>
                  </a:lnTo>
                  <a:lnTo>
                    <a:pt x="279" y="1356207"/>
                  </a:lnTo>
                  <a:lnTo>
                    <a:pt x="16637" y="1390611"/>
                  </a:lnTo>
                  <a:lnTo>
                    <a:pt x="25247" y="1386522"/>
                  </a:lnTo>
                  <a:lnTo>
                    <a:pt x="18097" y="1371511"/>
                  </a:lnTo>
                  <a:lnTo>
                    <a:pt x="30924" y="1382090"/>
                  </a:lnTo>
                  <a:lnTo>
                    <a:pt x="36995" y="1374736"/>
                  </a:lnTo>
                  <a:lnTo>
                    <a:pt x="13512" y="1355382"/>
                  </a:lnTo>
                  <a:lnTo>
                    <a:pt x="41287" y="1342910"/>
                  </a:lnTo>
                  <a:close/>
                </a:path>
                <a:path w="3651250" h="2980690">
                  <a:moveTo>
                    <a:pt x="52057" y="348907"/>
                  </a:moveTo>
                  <a:lnTo>
                    <a:pt x="36372" y="314185"/>
                  </a:lnTo>
                  <a:lnTo>
                    <a:pt x="27686" y="318109"/>
                  </a:lnTo>
                  <a:lnTo>
                    <a:pt x="43383" y="352831"/>
                  </a:lnTo>
                  <a:lnTo>
                    <a:pt x="52057" y="348907"/>
                  </a:lnTo>
                  <a:close/>
                </a:path>
                <a:path w="3651250" h="2980690">
                  <a:moveTo>
                    <a:pt x="53886" y="1446733"/>
                  </a:moveTo>
                  <a:lnTo>
                    <a:pt x="37515" y="1412328"/>
                  </a:lnTo>
                  <a:lnTo>
                    <a:pt x="28917" y="1416418"/>
                  </a:lnTo>
                  <a:lnTo>
                    <a:pt x="45275" y="1450822"/>
                  </a:lnTo>
                  <a:lnTo>
                    <a:pt x="53886" y="1446733"/>
                  </a:lnTo>
                  <a:close/>
                </a:path>
                <a:path w="3651250" h="2980690">
                  <a:moveTo>
                    <a:pt x="55930" y="419036"/>
                  </a:moveTo>
                  <a:lnTo>
                    <a:pt x="45542" y="382371"/>
                  </a:lnTo>
                  <a:lnTo>
                    <a:pt x="36372" y="384975"/>
                  </a:lnTo>
                  <a:lnTo>
                    <a:pt x="46774" y="421627"/>
                  </a:lnTo>
                  <a:lnTo>
                    <a:pt x="55930" y="419036"/>
                  </a:lnTo>
                  <a:close/>
                </a:path>
                <a:path w="3651250" h="2980690">
                  <a:moveTo>
                    <a:pt x="58661" y="2363076"/>
                  </a:moveTo>
                  <a:lnTo>
                    <a:pt x="50279" y="2358542"/>
                  </a:lnTo>
                  <a:lnTo>
                    <a:pt x="32143" y="2392045"/>
                  </a:lnTo>
                  <a:lnTo>
                    <a:pt x="40513" y="2396579"/>
                  </a:lnTo>
                  <a:lnTo>
                    <a:pt x="58661" y="2363076"/>
                  </a:lnTo>
                  <a:close/>
                </a:path>
                <a:path w="3651250" h="2980690">
                  <a:moveTo>
                    <a:pt x="61772" y="2291245"/>
                  </a:moveTo>
                  <a:lnTo>
                    <a:pt x="52705" y="2288311"/>
                  </a:lnTo>
                  <a:lnTo>
                    <a:pt x="41008" y="2324570"/>
                  </a:lnTo>
                  <a:lnTo>
                    <a:pt x="50063" y="2327503"/>
                  </a:lnTo>
                  <a:lnTo>
                    <a:pt x="61772" y="2291245"/>
                  </a:lnTo>
                  <a:close/>
                </a:path>
                <a:path w="3651250" h="2980690">
                  <a:moveTo>
                    <a:pt x="74117" y="483184"/>
                  </a:moveTo>
                  <a:lnTo>
                    <a:pt x="63728" y="446519"/>
                  </a:lnTo>
                  <a:lnTo>
                    <a:pt x="54559" y="449122"/>
                  </a:lnTo>
                  <a:lnTo>
                    <a:pt x="64960" y="485775"/>
                  </a:lnTo>
                  <a:lnTo>
                    <a:pt x="74117" y="483184"/>
                  </a:lnTo>
                  <a:close/>
                </a:path>
                <a:path w="3651250" h="2980690">
                  <a:moveTo>
                    <a:pt x="79514" y="409663"/>
                  </a:moveTo>
                  <a:lnTo>
                    <a:pt x="63817" y="374942"/>
                  </a:lnTo>
                  <a:lnTo>
                    <a:pt x="55143" y="378866"/>
                  </a:lnTo>
                  <a:lnTo>
                    <a:pt x="70827" y="413588"/>
                  </a:lnTo>
                  <a:lnTo>
                    <a:pt x="79514" y="409663"/>
                  </a:lnTo>
                  <a:close/>
                </a:path>
                <a:path w="3651250" h="2980690">
                  <a:moveTo>
                    <a:pt x="82245" y="2227783"/>
                  </a:moveTo>
                  <a:lnTo>
                    <a:pt x="73190" y="2224862"/>
                  </a:lnTo>
                  <a:lnTo>
                    <a:pt x="61480" y="2261120"/>
                  </a:lnTo>
                  <a:lnTo>
                    <a:pt x="70548" y="2264041"/>
                  </a:lnTo>
                  <a:lnTo>
                    <a:pt x="82245" y="2227783"/>
                  </a:lnTo>
                  <a:close/>
                </a:path>
                <a:path w="3651250" h="2980690">
                  <a:moveTo>
                    <a:pt x="82524" y="1506943"/>
                  </a:moveTo>
                  <a:lnTo>
                    <a:pt x="66154" y="1472539"/>
                  </a:lnTo>
                  <a:lnTo>
                    <a:pt x="57556" y="1476629"/>
                  </a:lnTo>
                  <a:lnTo>
                    <a:pt x="73926" y="1511033"/>
                  </a:lnTo>
                  <a:lnTo>
                    <a:pt x="82524" y="1506943"/>
                  </a:lnTo>
                  <a:close/>
                </a:path>
                <a:path w="3651250" h="2980690">
                  <a:moveTo>
                    <a:pt x="88417" y="1417180"/>
                  </a:moveTo>
                  <a:lnTo>
                    <a:pt x="59029" y="1392936"/>
                  </a:lnTo>
                  <a:lnTo>
                    <a:pt x="52971" y="1400276"/>
                  </a:lnTo>
                  <a:lnTo>
                    <a:pt x="82346" y="1424533"/>
                  </a:lnTo>
                  <a:lnTo>
                    <a:pt x="88417" y="1417180"/>
                  </a:lnTo>
                  <a:close/>
                </a:path>
                <a:path w="3651250" h="2980690">
                  <a:moveTo>
                    <a:pt x="90411" y="2304440"/>
                  </a:moveTo>
                  <a:lnTo>
                    <a:pt x="82042" y="2299906"/>
                  </a:lnTo>
                  <a:lnTo>
                    <a:pt x="63893" y="2333409"/>
                  </a:lnTo>
                  <a:lnTo>
                    <a:pt x="72263" y="2337943"/>
                  </a:lnTo>
                  <a:lnTo>
                    <a:pt x="90411" y="2304440"/>
                  </a:lnTo>
                  <a:close/>
                </a:path>
                <a:path w="3651250" h="2980690">
                  <a:moveTo>
                    <a:pt x="92316" y="547319"/>
                  </a:moveTo>
                  <a:lnTo>
                    <a:pt x="81915" y="510667"/>
                  </a:lnTo>
                  <a:lnTo>
                    <a:pt x="72758" y="513270"/>
                  </a:lnTo>
                  <a:lnTo>
                    <a:pt x="83146" y="549922"/>
                  </a:lnTo>
                  <a:lnTo>
                    <a:pt x="92316" y="547319"/>
                  </a:lnTo>
                  <a:close/>
                </a:path>
                <a:path w="3651250" h="2980690">
                  <a:moveTo>
                    <a:pt x="93967" y="2507805"/>
                  </a:moveTo>
                  <a:lnTo>
                    <a:pt x="62433" y="2486418"/>
                  </a:lnTo>
                  <a:lnTo>
                    <a:pt x="57086" y="2494305"/>
                  </a:lnTo>
                  <a:lnTo>
                    <a:pt x="88620" y="2515692"/>
                  </a:lnTo>
                  <a:lnTo>
                    <a:pt x="93967" y="2507805"/>
                  </a:lnTo>
                  <a:close/>
                </a:path>
                <a:path w="3651250" h="2980690">
                  <a:moveTo>
                    <a:pt x="102120" y="1315631"/>
                  </a:moveTo>
                  <a:lnTo>
                    <a:pt x="98221" y="1306931"/>
                  </a:lnTo>
                  <a:lnTo>
                    <a:pt x="63461" y="1322527"/>
                  </a:lnTo>
                  <a:lnTo>
                    <a:pt x="67360" y="1331214"/>
                  </a:lnTo>
                  <a:lnTo>
                    <a:pt x="102120" y="1315631"/>
                  </a:lnTo>
                  <a:close/>
                </a:path>
                <a:path w="3651250" h="2980690">
                  <a:moveTo>
                    <a:pt x="102730" y="2164334"/>
                  </a:moveTo>
                  <a:lnTo>
                    <a:pt x="93662" y="2161413"/>
                  </a:lnTo>
                  <a:lnTo>
                    <a:pt x="81965" y="2197671"/>
                  </a:lnTo>
                  <a:lnTo>
                    <a:pt x="91033" y="2200592"/>
                  </a:lnTo>
                  <a:lnTo>
                    <a:pt x="102730" y="2164334"/>
                  </a:lnTo>
                  <a:close/>
                </a:path>
                <a:path w="3651250" h="2980690">
                  <a:moveTo>
                    <a:pt x="106959" y="470433"/>
                  </a:moveTo>
                  <a:lnTo>
                    <a:pt x="91274" y="435711"/>
                  </a:lnTo>
                  <a:lnTo>
                    <a:pt x="82600" y="439623"/>
                  </a:lnTo>
                  <a:lnTo>
                    <a:pt x="98285" y="474345"/>
                  </a:lnTo>
                  <a:lnTo>
                    <a:pt x="106959" y="470433"/>
                  </a:lnTo>
                  <a:close/>
                </a:path>
                <a:path w="3651250" h="2980690">
                  <a:moveTo>
                    <a:pt x="110502" y="611466"/>
                  </a:moveTo>
                  <a:lnTo>
                    <a:pt x="100101" y="574814"/>
                  </a:lnTo>
                  <a:lnTo>
                    <a:pt x="90944" y="577418"/>
                  </a:lnTo>
                  <a:lnTo>
                    <a:pt x="101333" y="614070"/>
                  </a:lnTo>
                  <a:lnTo>
                    <a:pt x="110502" y="611466"/>
                  </a:lnTo>
                  <a:close/>
                </a:path>
                <a:path w="3651250" h="2980690">
                  <a:moveTo>
                    <a:pt x="111163" y="1567154"/>
                  </a:moveTo>
                  <a:lnTo>
                    <a:pt x="94792" y="1532750"/>
                  </a:lnTo>
                  <a:lnTo>
                    <a:pt x="86194" y="1536839"/>
                  </a:lnTo>
                  <a:lnTo>
                    <a:pt x="102565" y="1571244"/>
                  </a:lnTo>
                  <a:lnTo>
                    <a:pt x="111163" y="1567154"/>
                  </a:lnTo>
                  <a:close/>
                </a:path>
                <a:path w="3651250" h="2980690">
                  <a:moveTo>
                    <a:pt x="122161" y="2245817"/>
                  </a:moveTo>
                  <a:lnTo>
                    <a:pt x="113792" y="2241283"/>
                  </a:lnTo>
                  <a:lnTo>
                    <a:pt x="95643" y="2274786"/>
                  </a:lnTo>
                  <a:lnTo>
                    <a:pt x="104013" y="2279319"/>
                  </a:lnTo>
                  <a:lnTo>
                    <a:pt x="122161" y="2245817"/>
                  </a:lnTo>
                  <a:close/>
                </a:path>
                <a:path w="3651250" h="2980690">
                  <a:moveTo>
                    <a:pt x="123215" y="2100884"/>
                  </a:moveTo>
                  <a:lnTo>
                    <a:pt x="114147" y="2097963"/>
                  </a:lnTo>
                  <a:lnTo>
                    <a:pt x="102438" y="2134222"/>
                  </a:lnTo>
                  <a:lnTo>
                    <a:pt x="111506" y="2137143"/>
                  </a:lnTo>
                  <a:lnTo>
                    <a:pt x="123215" y="2100884"/>
                  </a:lnTo>
                  <a:close/>
                </a:path>
                <a:path w="3651250" h="2980690">
                  <a:moveTo>
                    <a:pt x="128689" y="675614"/>
                  </a:moveTo>
                  <a:lnTo>
                    <a:pt x="118300" y="638962"/>
                  </a:lnTo>
                  <a:lnTo>
                    <a:pt x="109131" y="641565"/>
                  </a:lnTo>
                  <a:lnTo>
                    <a:pt x="119519" y="678218"/>
                  </a:lnTo>
                  <a:lnTo>
                    <a:pt x="128689" y="675614"/>
                  </a:lnTo>
                  <a:close/>
                </a:path>
                <a:path w="3651250" h="2980690">
                  <a:moveTo>
                    <a:pt x="134416" y="531190"/>
                  </a:moveTo>
                  <a:lnTo>
                    <a:pt x="118732" y="496468"/>
                  </a:lnTo>
                  <a:lnTo>
                    <a:pt x="110045" y="500392"/>
                  </a:lnTo>
                  <a:lnTo>
                    <a:pt x="125730" y="535114"/>
                  </a:lnTo>
                  <a:lnTo>
                    <a:pt x="134416" y="531190"/>
                  </a:lnTo>
                  <a:close/>
                </a:path>
                <a:path w="3651250" h="2980690">
                  <a:moveTo>
                    <a:pt x="139801" y="1627365"/>
                  </a:moveTo>
                  <a:lnTo>
                    <a:pt x="123431" y="1592961"/>
                  </a:lnTo>
                  <a:lnTo>
                    <a:pt x="114833" y="1597050"/>
                  </a:lnTo>
                  <a:lnTo>
                    <a:pt x="131203" y="1631454"/>
                  </a:lnTo>
                  <a:lnTo>
                    <a:pt x="139801" y="1627365"/>
                  </a:lnTo>
                  <a:close/>
                </a:path>
                <a:path w="3651250" h="2980690">
                  <a:moveTo>
                    <a:pt x="139827" y="1459636"/>
                  </a:moveTo>
                  <a:lnTo>
                    <a:pt x="110451" y="1435379"/>
                  </a:lnTo>
                  <a:lnTo>
                    <a:pt x="104381" y="1442720"/>
                  </a:lnTo>
                  <a:lnTo>
                    <a:pt x="133769" y="1466977"/>
                  </a:lnTo>
                  <a:lnTo>
                    <a:pt x="139827" y="1459636"/>
                  </a:lnTo>
                  <a:close/>
                </a:path>
                <a:path w="3651250" h="2980690">
                  <a:moveTo>
                    <a:pt x="143687" y="2037435"/>
                  </a:moveTo>
                  <a:lnTo>
                    <a:pt x="134620" y="2034501"/>
                  </a:lnTo>
                  <a:lnTo>
                    <a:pt x="122923" y="2070760"/>
                  </a:lnTo>
                  <a:lnTo>
                    <a:pt x="131991" y="2073694"/>
                  </a:lnTo>
                  <a:lnTo>
                    <a:pt x="143687" y="2037435"/>
                  </a:lnTo>
                  <a:close/>
                </a:path>
                <a:path w="3651250" h="2980690">
                  <a:moveTo>
                    <a:pt x="146875" y="739762"/>
                  </a:moveTo>
                  <a:lnTo>
                    <a:pt x="136486" y="703110"/>
                  </a:lnTo>
                  <a:lnTo>
                    <a:pt x="127317" y="705700"/>
                  </a:lnTo>
                  <a:lnTo>
                    <a:pt x="137718" y="742365"/>
                  </a:lnTo>
                  <a:lnTo>
                    <a:pt x="146875" y="739762"/>
                  </a:lnTo>
                  <a:close/>
                </a:path>
                <a:path w="3651250" h="2980690">
                  <a:moveTo>
                    <a:pt x="149148" y="2545232"/>
                  </a:moveTo>
                  <a:lnTo>
                    <a:pt x="117614" y="2523845"/>
                  </a:lnTo>
                  <a:lnTo>
                    <a:pt x="112268" y="2531732"/>
                  </a:lnTo>
                  <a:lnTo>
                    <a:pt x="143802" y="2553119"/>
                  </a:lnTo>
                  <a:lnTo>
                    <a:pt x="149148" y="2545232"/>
                  </a:lnTo>
                  <a:close/>
                </a:path>
                <a:path w="3651250" h="2980690">
                  <a:moveTo>
                    <a:pt x="153911" y="2187181"/>
                  </a:moveTo>
                  <a:lnTo>
                    <a:pt x="145542" y="2182647"/>
                  </a:lnTo>
                  <a:lnTo>
                    <a:pt x="127393" y="2216150"/>
                  </a:lnTo>
                  <a:lnTo>
                    <a:pt x="135775" y="2220684"/>
                  </a:lnTo>
                  <a:lnTo>
                    <a:pt x="153911" y="2187181"/>
                  </a:lnTo>
                  <a:close/>
                </a:path>
                <a:path w="3651250" h="2980690">
                  <a:moveTo>
                    <a:pt x="161874" y="591947"/>
                  </a:moveTo>
                  <a:lnTo>
                    <a:pt x="146177" y="557225"/>
                  </a:lnTo>
                  <a:lnTo>
                    <a:pt x="137502" y="561149"/>
                  </a:lnTo>
                  <a:lnTo>
                    <a:pt x="153187" y="595871"/>
                  </a:lnTo>
                  <a:lnTo>
                    <a:pt x="161874" y="591947"/>
                  </a:lnTo>
                  <a:close/>
                </a:path>
                <a:path w="3651250" h="2980690">
                  <a:moveTo>
                    <a:pt x="162966" y="1288338"/>
                  </a:moveTo>
                  <a:lnTo>
                    <a:pt x="159067" y="1279652"/>
                  </a:lnTo>
                  <a:lnTo>
                    <a:pt x="124294" y="1295234"/>
                  </a:lnTo>
                  <a:lnTo>
                    <a:pt x="128193" y="1303934"/>
                  </a:lnTo>
                  <a:lnTo>
                    <a:pt x="162966" y="1288338"/>
                  </a:lnTo>
                  <a:close/>
                </a:path>
                <a:path w="3651250" h="2980690">
                  <a:moveTo>
                    <a:pt x="164172" y="1973973"/>
                  </a:moveTo>
                  <a:lnTo>
                    <a:pt x="155105" y="1971052"/>
                  </a:lnTo>
                  <a:lnTo>
                    <a:pt x="143408" y="2007311"/>
                  </a:lnTo>
                  <a:lnTo>
                    <a:pt x="152463" y="2010232"/>
                  </a:lnTo>
                  <a:lnTo>
                    <a:pt x="164172" y="1973973"/>
                  </a:lnTo>
                  <a:close/>
                </a:path>
                <a:path w="3651250" h="2980690">
                  <a:moveTo>
                    <a:pt x="165061" y="803910"/>
                  </a:moveTo>
                  <a:lnTo>
                    <a:pt x="154673" y="767257"/>
                  </a:lnTo>
                  <a:lnTo>
                    <a:pt x="145503" y="769848"/>
                  </a:lnTo>
                  <a:lnTo>
                    <a:pt x="155905" y="806500"/>
                  </a:lnTo>
                  <a:lnTo>
                    <a:pt x="165061" y="803910"/>
                  </a:lnTo>
                  <a:close/>
                </a:path>
                <a:path w="3651250" h="2980690">
                  <a:moveTo>
                    <a:pt x="168440" y="1687576"/>
                  </a:moveTo>
                  <a:lnTo>
                    <a:pt x="152069" y="1653171"/>
                  </a:lnTo>
                  <a:lnTo>
                    <a:pt x="143471" y="1657261"/>
                  </a:lnTo>
                  <a:lnTo>
                    <a:pt x="159842" y="1691665"/>
                  </a:lnTo>
                  <a:lnTo>
                    <a:pt x="168440" y="1687576"/>
                  </a:lnTo>
                  <a:close/>
                </a:path>
                <a:path w="3651250" h="2980690">
                  <a:moveTo>
                    <a:pt x="183261" y="868057"/>
                  </a:moveTo>
                  <a:lnTo>
                    <a:pt x="172859" y="831405"/>
                  </a:lnTo>
                  <a:lnTo>
                    <a:pt x="163703" y="833996"/>
                  </a:lnTo>
                  <a:lnTo>
                    <a:pt x="174091" y="870648"/>
                  </a:lnTo>
                  <a:lnTo>
                    <a:pt x="183261" y="868057"/>
                  </a:lnTo>
                  <a:close/>
                </a:path>
                <a:path w="3651250" h="2980690">
                  <a:moveTo>
                    <a:pt x="184645" y="1910524"/>
                  </a:moveTo>
                  <a:lnTo>
                    <a:pt x="175590" y="1907603"/>
                  </a:lnTo>
                  <a:lnTo>
                    <a:pt x="163880" y="1943862"/>
                  </a:lnTo>
                  <a:lnTo>
                    <a:pt x="172948" y="1946783"/>
                  </a:lnTo>
                  <a:lnTo>
                    <a:pt x="184645" y="1910524"/>
                  </a:lnTo>
                  <a:close/>
                </a:path>
                <a:path w="3651250" h="2980690">
                  <a:moveTo>
                    <a:pt x="185661" y="2128558"/>
                  </a:moveTo>
                  <a:lnTo>
                    <a:pt x="177292" y="2124024"/>
                  </a:lnTo>
                  <a:lnTo>
                    <a:pt x="159143" y="2157526"/>
                  </a:lnTo>
                  <a:lnTo>
                    <a:pt x="167525" y="2162060"/>
                  </a:lnTo>
                  <a:lnTo>
                    <a:pt x="185661" y="2128558"/>
                  </a:lnTo>
                  <a:close/>
                </a:path>
                <a:path w="3651250" h="2980690">
                  <a:moveTo>
                    <a:pt x="189318" y="652716"/>
                  </a:moveTo>
                  <a:lnTo>
                    <a:pt x="173634" y="617994"/>
                  </a:lnTo>
                  <a:lnTo>
                    <a:pt x="164947" y="621906"/>
                  </a:lnTo>
                  <a:lnTo>
                    <a:pt x="180644" y="656628"/>
                  </a:lnTo>
                  <a:lnTo>
                    <a:pt x="189318" y="652716"/>
                  </a:lnTo>
                  <a:close/>
                </a:path>
                <a:path w="3651250" h="2980690">
                  <a:moveTo>
                    <a:pt x="191249" y="1502079"/>
                  </a:moveTo>
                  <a:lnTo>
                    <a:pt x="161874" y="1477822"/>
                  </a:lnTo>
                  <a:lnTo>
                    <a:pt x="155803" y="1485163"/>
                  </a:lnTo>
                  <a:lnTo>
                    <a:pt x="185191" y="1509420"/>
                  </a:lnTo>
                  <a:lnTo>
                    <a:pt x="191249" y="1502079"/>
                  </a:lnTo>
                  <a:close/>
                </a:path>
                <a:path w="3651250" h="2980690">
                  <a:moveTo>
                    <a:pt x="197078" y="1747786"/>
                  </a:moveTo>
                  <a:lnTo>
                    <a:pt x="180708" y="1713382"/>
                  </a:lnTo>
                  <a:lnTo>
                    <a:pt x="172110" y="1717471"/>
                  </a:lnTo>
                  <a:lnTo>
                    <a:pt x="188480" y="1751876"/>
                  </a:lnTo>
                  <a:lnTo>
                    <a:pt x="197078" y="1747786"/>
                  </a:lnTo>
                  <a:close/>
                </a:path>
                <a:path w="3651250" h="2980690">
                  <a:moveTo>
                    <a:pt x="201447" y="932205"/>
                  </a:moveTo>
                  <a:lnTo>
                    <a:pt x="191046" y="895540"/>
                  </a:lnTo>
                  <a:lnTo>
                    <a:pt x="181889" y="898144"/>
                  </a:lnTo>
                  <a:lnTo>
                    <a:pt x="192278" y="934796"/>
                  </a:lnTo>
                  <a:lnTo>
                    <a:pt x="201447" y="932205"/>
                  </a:lnTo>
                  <a:close/>
                </a:path>
                <a:path w="3651250" h="2980690">
                  <a:moveTo>
                    <a:pt x="204330" y="2582659"/>
                  </a:moveTo>
                  <a:lnTo>
                    <a:pt x="172796" y="2561272"/>
                  </a:lnTo>
                  <a:lnTo>
                    <a:pt x="167449" y="2569146"/>
                  </a:lnTo>
                  <a:lnTo>
                    <a:pt x="198983" y="2590533"/>
                  </a:lnTo>
                  <a:lnTo>
                    <a:pt x="204330" y="2582659"/>
                  </a:lnTo>
                  <a:close/>
                </a:path>
                <a:path w="3651250" h="2980690">
                  <a:moveTo>
                    <a:pt x="205130" y="1847075"/>
                  </a:moveTo>
                  <a:lnTo>
                    <a:pt x="196062" y="1844154"/>
                  </a:lnTo>
                  <a:lnTo>
                    <a:pt x="184365" y="1880412"/>
                  </a:lnTo>
                  <a:lnTo>
                    <a:pt x="193421" y="1883333"/>
                  </a:lnTo>
                  <a:lnTo>
                    <a:pt x="205130" y="1847075"/>
                  </a:lnTo>
                  <a:close/>
                </a:path>
                <a:path w="3651250" h="2980690">
                  <a:moveTo>
                    <a:pt x="216776" y="713473"/>
                  </a:moveTo>
                  <a:lnTo>
                    <a:pt x="201091" y="678751"/>
                  </a:lnTo>
                  <a:lnTo>
                    <a:pt x="192405" y="682675"/>
                  </a:lnTo>
                  <a:lnTo>
                    <a:pt x="208089" y="717397"/>
                  </a:lnTo>
                  <a:lnTo>
                    <a:pt x="216776" y="713473"/>
                  </a:lnTo>
                  <a:close/>
                </a:path>
                <a:path w="3651250" h="2980690">
                  <a:moveTo>
                    <a:pt x="217411" y="2069922"/>
                  </a:moveTo>
                  <a:lnTo>
                    <a:pt x="209042" y="2065388"/>
                  </a:lnTo>
                  <a:lnTo>
                    <a:pt x="190893" y="2098890"/>
                  </a:lnTo>
                  <a:lnTo>
                    <a:pt x="199275" y="2103424"/>
                  </a:lnTo>
                  <a:lnTo>
                    <a:pt x="217411" y="2069922"/>
                  </a:lnTo>
                  <a:close/>
                </a:path>
                <a:path w="3651250" h="2980690">
                  <a:moveTo>
                    <a:pt x="219633" y="996340"/>
                  </a:moveTo>
                  <a:lnTo>
                    <a:pt x="209245" y="959688"/>
                  </a:lnTo>
                  <a:lnTo>
                    <a:pt x="200075" y="962291"/>
                  </a:lnTo>
                  <a:lnTo>
                    <a:pt x="210477" y="998943"/>
                  </a:lnTo>
                  <a:lnTo>
                    <a:pt x="219633" y="996340"/>
                  </a:lnTo>
                  <a:close/>
                </a:path>
                <a:path w="3651250" h="2980690">
                  <a:moveTo>
                    <a:pt x="223799" y="1261046"/>
                  </a:moveTo>
                  <a:lnTo>
                    <a:pt x="219900" y="1252359"/>
                  </a:lnTo>
                  <a:lnTo>
                    <a:pt x="185140" y="1267955"/>
                  </a:lnTo>
                  <a:lnTo>
                    <a:pt x="189039" y="1276642"/>
                  </a:lnTo>
                  <a:lnTo>
                    <a:pt x="223799" y="1261046"/>
                  </a:lnTo>
                  <a:close/>
                </a:path>
                <a:path w="3651250" h="2980690">
                  <a:moveTo>
                    <a:pt x="225717" y="1807997"/>
                  </a:moveTo>
                  <a:lnTo>
                    <a:pt x="220954" y="1798015"/>
                  </a:lnTo>
                  <a:lnTo>
                    <a:pt x="225602" y="1783626"/>
                  </a:lnTo>
                  <a:lnTo>
                    <a:pt x="216547" y="1780692"/>
                  </a:lnTo>
                  <a:lnTo>
                    <a:pt x="214998" y="1785480"/>
                  </a:lnTo>
                  <a:lnTo>
                    <a:pt x="209346" y="1773593"/>
                  </a:lnTo>
                  <a:lnTo>
                    <a:pt x="200748" y="1777682"/>
                  </a:lnTo>
                  <a:lnTo>
                    <a:pt x="210731" y="1798688"/>
                  </a:lnTo>
                  <a:lnTo>
                    <a:pt x="204838" y="1816950"/>
                  </a:lnTo>
                  <a:lnTo>
                    <a:pt x="213906" y="1819884"/>
                  </a:lnTo>
                  <a:lnTo>
                    <a:pt x="216700" y="1811223"/>
                  </a:lnTo>
                  <a:lnTo>
                    <a:pt x="217119" y="1812086"/>
                  </a:lnTo>
                  <a:lnTo>
                    <a:pt x="225717" y="1807997"/>
                  </a:lnTo>
                  <a:close/>
                </a:path>
                <a:path w="3651250" h="2980690">
                  <a:moveTo>
                    <a:pt x="237820" y="1060488"/>
                  </a:moveTo>
                  <a:lnTo>
                    <a:pt x="227431" y="1023835"/>
                  </a:lnTo>
                  <a:lnTo>
                    <a:pt x="218262" y="1026439"/>
                  </a:lnTo>
                  <a:lnTo>
                    <a:pt x="228663" y="1063091"/>
                  </a:lnTo>
                  <a:lnTo>
                    <a:pt x="237820" y="1060488"/>
                  </a:lnTo>
                  <a:close/>
                </a:path>
                <a:path w="3651250" h="2980690">
                  <a:moveTo>
                    <a:pt x="242671" y="1544523"/>
                  </a:moveTo>
                  <a:lnTo>
                    <a:pt x="213283" y="1520266"/>
                  </a:lnTo>
                  <a:lnTo>
                    <a:pt x="207225" y="1527606"/>
                  </a:lnTo>
                  <a:lnTo>
                    <a:pt x="236613" y="1551863"/>
                  </a:lnTo>
                  <a:lnTo>
                    <a:pt x="242671" y="1544523"/>
                  </a:lnTo>
                  <a:close/>
                </a:path>
                <a:path w="3651250" h="2980690">
                  <a:moveTo>
                    <a:pt x="244221" y="774230"/>
                  </a:moveTo>
                  <a:lnTo>
                    <a:pt x="228536" y="739508"/>
                  </a:lnTo>
                  <a:lnTo>
                    <a:pt x="219862" y="743432"/>
                  </a:lnTo>
                  <a:lnTo>
                    <a:pt x="235546" y="778154"/>
                  </a:lnTo>
                  <a:lnTo>
                    <a:pt x="244221" y="774230"/>
                  </a:lnTo>
                  <a:close/>
                </a:path>
                <a:path w="3651250" h="2980690">
                  <a:moveTo>
                    <a:pt x="246087" y="1720176"/>
                  </a:moveTo>
                  <a:lnTo>
                    <a:pt x="237020" y="1717243"/>
                  </a:lnTo>
                  <a:lnTo>
                    <a:pt x="225323" y="1753501"/>
                  </a:lnTo>
                  <a:lnTo>
                    <a:pt x="234391" y="1756435"/>
                  </a:lnTo>
                  <a:lnTo>
                    <a:pt x="246087" y="1720176"/>
                  </a:lnTo>
                  <a:close/>
                </a:path>
                <a:path w="3651250" h="2980690">
                  <a:moveTo>
                    <a:pt x="249161" y="2011299"/>
                  </a:moveTo>
                  <a:lnTo>
                    <a:pt x="240792" y="2006765"/>
                  </a:lnTo>
                  <a:lnTo>
                    <a:pt x="222643" y="2040267"/>
                  </a:lnTo>
                  <a:lnTo>
                    <a:pt x="231025" y="2044801"/>
                  </a:lnTo>
                  <a:lnTo>
                    <a:pt x="249161" y="2011299"/>
                  </a:lnTo>
                  <a:close/>
                </a:path>
                <a:path w="3651250" h="2980690">
                  <a:moveTo>
                    <a:pt x="254355" y="1868208"/>
                  </a:moveTo>
                  <a:lnTo>
                    <a:pt x="237985" y="1833803"/>
                  </a:lnTo>
                  <a:lnTo>
                    <a:pt x="229387" y="1837893"/>
                  </a:lnTo>
                  <a:lnTo>
                    <a:pt x="245757" y="1872297"/>
                  </a:lnTo>
                  <a:lnTo>
                    <a:pt x="254355" y="1868208"/>
                  </a:lnTo>
                  <a:close/>
                </a:path>
                <a:path w="3651250" h="2980690">
                  <a:moveTo>
                    <a:pt x="256019" y="1124635"/>
                  </a:moveTo>
                  <a:lnTo>
                    <a:pt x="245618" y="1087983"/>
                  </a:lnTo>
                  <a:lnTo>
                    <a:pt x="236461" y="1090587"/>
                  </a:lnTo>
                  <a:lnTo>
                    <a:pt x="246849" y="1127239"/>
                  </a:lnTo>
                  <a:lnTo>
                    <a:pt x="256019" y="1124635"/>
                  </a:lnTo>
                  <a:close/>
                </a:path>
                <a:path w="3651250" h="2980690">
                  <a:moveTo>
                    <a:pt x="259511" y="2620073"/>
                  </a:moveTo>
                  <a:lnTo>
                    <a:pt x="227977" y="2598699"/>
                  </a:lnTo>
                  <a:lnTo>
                    <a:pt x="222631" y="2606573"/>
                  </a:lnTo>
                  <a:lnTo>
                    <a:pt x="254165" y="2627960"/>
                  </a:lnTo>
                  <a:lnTo>
                    <a:pt x="259511" y="2620073"/>
                  </a:lnTo>
                  <a:close/>
                </a:path>
                <a:path w="3651250" h="2980690">
                  <a:moveTo>
                    <a:pt x="266573" y="1656715"/>
                  </a:moveTo>
                  <a:lnTo>
                    <a:pt x="257505" y="1653794"/>
                  </a:lnTo>
                  <a:lnTo>
                    <a:pt x="245795" y="1690052"/>
                  </a:lnTo>
                  <a:lnTo>
                    <a:pt x="254863" y="1692973"/>
                  </a:lnTo>
                  <a:lnTo>
                    <a:pt x="266573" y="1656715"/>
                  </a:lnTo>
                  <a:close/>
                </a:path>
                <a:path w="3651250" h="2980690">
                  <a:moveTo>
                    <a:pt x="271678" y="834999"/>
                  </a:moveTo>
                  <a:lnTo>
                    <a:pt x="255993" y="800277"/>
                  </a:lnTo>
                  <a:lnTo>
                    <a:pt x="247307" y="804189"/>
                  </a:lnTo>
                  <a:lnTo>
                    <a:pt x="263004" y="838911"/>
                  </a:lnTo>
                  <a:lnTo>
                    <a:pt x="271678" y="834999"/>
                  </a:lnTo>
                  <a:close/>
                </a:path>
                <a:path w="3651250" h="2980690">
                  <a:moveTo>
                    <a:pt x="274205" y="1188783"/>
                  </a:moveTo>
                  <a:lnTo>
                    <a:pt x="263804" y="1152131"/>
                  </a:lnTo>
                  <a:lnTo>
                    <a:pt x="254647" y="1154722"/>
                  </a:lnTo>
                  <a:lnTo>
                    <a:pt x="265036" y="1191387"/>
                  </a:lnTo>
                  <a:lnTo>
                    <a:pt x="274205" y="1188783"/>
                  </a:lnTo>
                  <a:close/>
                </a:path>
                <a:path w="3651250" h="2980690">
                  <a:moveTo>
                    <a:pt x="280924" y="1952663"/>
                  </a:moveTo>
                  <a:lnTo>
                    <a:pt x="272542" y="1948129"/>
                  </a:lnTo>
                  <a:lnTo>
                    <a:pt x="254393" y="1981631"/>
                  </a:lnTo>
                  <a:lnTo>
                    <a:pt x="262775" y="1986165"/>
                  </a:lnTo>
                  <a:lnTo>
                    <a:pt x="280924" y="1952663"/>
                  </a:lnTo>
                  <a:close/>
                </a:path>
                <a:path w="3651250" h="2980690">
                  <a:moveTo>
                    <a:pt x="282994" y="1928418"/>
                  </a:moveTo>
                  <a:lnTo>
                    <a:pt x="266636" y="1894014"/>
                  </a:lnTo>
                  <a:lnTo>
                    <a:pt x="258025" y="1898103"/>
                  </a:lnTo>
                  <a:lnTo>
                    <a:pt x="274396" y="1932508"/>
                  </a:lnTo>
                  <a:lnTo>
                    <a:pt x="282994" y="1928418"/>
                  </a:lnTo>
                  <a:close/>
                </a:path>
                <a:path w="3651250" h="2980690">
                  <a:moveTo>
                    <a:pt x="292392" y="1252931"/>
                  </a:moveTo>
                  <a:lnTo>
                    <a:pt x="282003" y="1216279"/>
                  </a:lnTo>
                  <a:lnTo>
                    <a:pt x="272834" y="1218869"/>
                  </a:lnTo>
                  <a:lnTo>
                    <a:pt x="275272" y="1227518"/>
                  </a:lnTo>
                  <a:lnTo>
                    <a:pt x="245973" y="1240663"/>
                  </a:lnTo>
                  <a:lnTo>
                    <a:pt x="249872" y="1249362"/>
                  </a:lnTo>
                  <a:lnTo>
                    <a:pt x="277901" y="1236789"/>
                  </a:lnTo>
                  <a:lnTo>
                    <a:pt x="283222" y="1255534"/>
                  </a:lnTo>
                  <a:lnTo>
                    <a:pt x="292392" y="1252931"/>
                  </a:lnTo>
                  <a:close/>
                </a:path>
                <a:path w="3651250" h="2980690">
                  <a:moveTo>
                    <a:pt x="294093" y="1586966"/>
                  </a:moveTo>
                  <a:lnTo>
                    <a:pt x="264706" y="1562709"/>
                  </a:lnTo>
                  <a:lnTo>
                    <a:pt x="258648" y="1570050"/>
                  </a:lnTo>
                  <a:lnTo>
                    <a:pt x="286575" y="1593126"/>
                  </a:lnTo>
                  <a:lnTo>
                    <a:pt x="277977" y="1590344"/>
                  </a:lnTo>
                  <a:lnTo>
                    <a:pt x="266280" y="1626603"/>
                  </a:lnTo>
                  <a:lnTo>
                    <a:pt x="275348" y="1629524"/>
                  </a:lnTo>
                  <a:lnTo>
                    <a:pt x="286981" y="1593456"/>
                  </a:lnTo>
                  <a:lnTo>
                    <a:pt x="288023" y="1594307"/>
                  </a:lnTo>
                  <a:lnTo>
                    <a:pt x="294093" y="1586966"/>
                  </a:lnTo>
                  <a:close/>
                </a:path>
                <a:path w="3651250" h="2980690">
                  <a:moveTo>
                    <a:pt x="299135" y="895756"/>
                  </a:moveTo>
                  <a:lnTo>
                    <a:pt x="283438" y="861034"/>
                  </a:lnTo>
                  <a:lnTo>
                    <a:pt x="274764" y="864958"/>
                  </a:lnTo>
                  <a:lnTo>
                    <a:pt x="290449" y="899680"/>
                  </a:lnTo>
                  <a:lnTo>
                    <a:pt x="299135" y="895756"/>
                  </a:lnTo>
                  <a:close/>
                </a:path>
                <a:path w="3651250" h="2980690">
                  <a:moveTo>
                    <a:pt x="307530" y="1529816"/>
                  </a:moveTo>
                  <a:lnTo>
                    <a:pt x="298462" y="1526895"/>
                  </a:lnTo>
                  <a:lnTo>
                    <a:pt x="286753" y="1563154"/>
                  </a:lnTo>
                  <a:lnTo>
                    <a:pt x="295821" y="1566075"/>
                  </a:lnTo>
                  <a:lnTo>
                    <a:pt x="307530" y="1529816"/>
                  </a:lnTo>
                  <a:close/>
                </a:path>
                <a:path w="3651250" h="2980690">
                  <a:moveTo>
                    <a:pt x="310578" y="1317078"/>
                  </a:moveTo>
                  <a:lnTo>
                    <a:pt x="300189" y="1280426"/>
                  </a:lnTo>
                  <a:lnTo>
                    <a:pt x="291020" y="1283017"/>
                  </a:lnTo>
                  <a:lnTo>
                    <a:pt x="301421" y="1319669"/>
                  </a:lnTo>
                  <a:lnTo>
                    <a:pt x="310578" y="1317078"/>
                  </a:lnTo>
                  <a:close/>
                </a:path>
                <a:path w="3651250" h="2980690">
                  <a:moveTo>
                    <a:pt x="311632" y="1988629"/>
                  </a:moveTo>
                  <a:lnTo>
                    <a:pt x="295275" y="1954225"/>
                  </a:lnTo>
                  <a:lnTo>
                    <a:pt x="286664" y="1958314"/>
                  </a:lnTo>
                  <a:lnTo>
                    <a:pt x="303034" y="1992718"/>
                  </a:lnTo>
                  <a:lnTo>
                    <a:pt x="311632" y="1988629"/>
                  </a:lnTo>
                  <a:close/>
                </a:path>
                <a:path w="3651250" h="2980690">
                  <a:moveTo>
                    <a:pt x="312674" y="1894039"/>
                  </a:moveTo>
                  <a:lnTo>
                    <a:pt x="304292" y="1889506"/>
                  </a:lnTo>
                  <a:lnTo>
                    <a:pt x="286156" y="1923008"/>
                  </a:lnTo>
                  <a:lnTo>
                    <a:pt x="294525" y="1927542"/>
                  </a:lnTo>
                  <a:lnTo>
                    <a:pt x="312674" y="1894039"/>
                  </a:lnTo>
                  <a:close/>
                </a:path>
                <a:path w="3651250" h="2980690">
                  <a:moveTo>
                    <a:pt x="314693" y="2657500"/>
                  </a:moveTo>
                  <a:lnTo>
                    <a:pt x="283159" y="2636113"/>
                  </a:lnTo>
                  <a:lnTo>
                    <a:pt x="277812" y="2644000"/>
                  </a:lnTo>
                  <a:lnTo>
                    <a:pt x="309346" y="2665387"/>
                  </a:lnTo>
                  <a:lnTo>
                    <a:pt x="314693" y="2657500"/>
                  </a:lnTo>
                  <a:close/>
                </a:path>
                <a:path w="3651250" h="2980690">
                  <a:moveTo>
                    <a:pt x="326580" y="956513"/>
                  </a:moveTo>
                  <a:lnTo>
                    <a:pt x="310896" y="921791"/>
                  </a:lnTo>
                  <a:lnTo>
                    <a:pt x="302221" y="925715"/>
                  </a:lnTo>
                  <a:lnTo>
                    <a:pt x="317906" y="960437"/>
                  </a:lnTo>
                  <a:lnTo>
                    <a:pt x="326580" y="956513"/>
                  </a:lnTo>
                  <a:close/>
                </a:path>
                <a:path w="3651250" h="2980690">
                  <a:moveTo>
                    <a:pt x="328002" y="1466367"/>
                  </a:moveTo>
                  <a:lnTo>
                    <a:pt x="318935" y="1463433"/>
                  </a:lnTo>
                  <a:lnTo>
                    <a:pt x="307238" y="1499692"/>
                  </a:lnTo>
                  <a:lnTo>
                    <a:pt x="316306" y="1502625"/>
                  </a:lnTo>
                  <a:lnTo>
                    <a:pt x="328002" y="1466367"/>
                  </a:lnTo>
                  <a:close/>
                </a:path>
                <a:path w="3651250" h="2980690">
                  <a:moveTo>
                    <a:pt x="328764" y="1381226"/>
                  </a:moveTo>
                  <a:lnTo>
                    <a:pt x="318376" y="1344561"/>
                  </a:lnTo>
                  <a:lnTo>
                    <a:pt x="309206" y="1347165"/>
                  </a:lnTo>
                  <a:lnTo>
                    <a:pt x="319608" y="1383817"/>
                  </a:lnTo>
                  <a:lnTo>
                    <a:pt x="328764" y="1381226"/>
                  </a:lnTo>
                  <a:close/>
                </a:path>
                <a:path w="3651250" h="2980690">
                  <a:moveTo>
                    <a:pt x="340271" y="2048840"/>
                  </a:moveTo>
                  <a:lnTo>
                    <a:pt x="323913" y="2014435"/>
                  </a:lnTo>
                  <a:lnTo>
                    <a:pt x="315302" y="2018525"/>
                  </a:lnTo>
                  <a:lnTo>
                    <a:pt x="331673" y="2052929"/>
                  </a:lnTo>
                  <a:lnTo>
                    <a:pt x="340271" y="2048840"/>
                  </a:lnTo>
                  <a:close/>
                </a:path>
                <a:path w="3651250" h="2980690">
                  <a:moveTo>
                    <a:pt x="344424" y="1835404"/>
                  </a:moveTo>
                  <a:lnTo>
                    <a:pt x="336042" y="1830870"/>
                  </a:lnTo>
                  <a:lnTo>
                    <a:pt x="317906" y="1864372"/>
                  </a:lnTo>
                  <a:lnTo>
                    <a:pt x="326275" y="1868906"/>
                  </a:lnTo>
                  <a:lnTo>
                    <a:pt x="344424" y="1835404"/>
                  </a:lnTo>
                  <a:close/>
                </a:path>
                <a:path w="3651250" h="2980690">
                  <a:moveTo>
                    <a:pt x="345465" y="1206474"/>
                  </a:moveTo>
                  <a:lnTo>
                    <a:pt x="341566" y="1197787"/>
                  </a:lnTo>
                  <a:lnTo>
                    <a:pt x="306806" y="1213383"/>
                  </a:lnTo>
                  <a:lnTo>
                    <a:pt x="310705" y="1222070"/>
                  </a:lnTo>
                  <a:lnTo>
                    <a:pt x="345465" y="1206474"/>
                  </a:lnTo>
                  <a:close/>
                </a:path>
                <a:path w="3651250" h="2980690">
                  <a:moveTo>
                    <a:pt x="345516" y="1629410"/>
                  </a:moveTo>
                  <a:lnTo>
                    <a:pt x="316128" y="1605153"/>
                  </a:lnTo>
                  <a:lnTo>
                    <a:pt x="310070" y="1612506"/>
                  </a:lnTo>
                  <a:lnTo>
                    <a:pt x="339445" y="1636750"/>
                  </a:lnTo>
                  <a:lnTo>
                    <a:pt x="345516" y="1629410"/>
                  </a:lnTo>
                  <a:close/>
                </a:path>
                <a:path w="3651250" h="2980690">
                  <a:moveTo>
                    <a:pt x="348488" y="1402918"/>
                  </a:moveTo>
                  <a:lnTo>
                    <a:pt x="339420" y="1399984"/>
                  </a:lnTo>
                  <a:lnTo>
                    <a:pt x="336575" y="1408785"/>
                  </a:lnTo>
                  <a:lnTo>
                    <a:pt x="327406" y="1411312"/>
                  </a:lnTo>
                  <a:lnTo>
                    <a:pt x="331304" y="1425117"/>
                  </a:lnTo>
                  <a:lnTo>
                    <a:pt x="327723" y="1436243"/>
                  </a:lnTo>
                  <a:lnTo>
                    <a:pt x="335153" y="1438656"/>
                  </a:lnTo>
                  <a:lnTo>
                    <a:pt x="337794" y="1447965"/>
                  </a:lnTo>
                  <a:lnTo>
                    <a:pt x="346964" y="1445374"/>
                  </a:lnTo>
                  <a:lnTo>
                    <a:pt x="341261" y="1425295"/>
                  </a:lnTo>
                  <a:lnTo>
                    <a:pt x="348488" y="1402918"/>
                  </a:lnTo>
                  <a:close/>
                </a:path>
                <a:path w="3651250" h="2980690">
                  <a:moveTo>
                    <a:pt x="354037" y="1017282"/>
                  </a:moveTo>
                  <a:lnTo>
                    <a:pt x="338353" y="982560"/>
                  </a:lnTo>
                  <a:lnTo>
                    <a:pt x="329666" y="986472"/>
                  </a:lnTo>
                  <a:lnTo>
                    <a:pt x="345351" y="1021194"/>
                  </a:lnTo>
                  <a:lnTo>
                    <a:pt x="354037" y="1017282"/>
                  </a:lnTo>
                  <a:close/>
                </a:path>
                <a:path w="3651250" h="2980690">
                  <a:moveTo>
                    <a:pt x="365150" y="1509509"/>
                  </a:moveTo>
                  <a:lnTo>
                    <a:pt x="354749" y="1472857"/>
                  </a:lnTo>
                  <a:lnTo>
                    <a:pt x="345592" y="1475460"/>
                  </a:lnTo>
                  <a:lnTo>
                    <a:pt x="355981" y="1512112"/>
                  </a:lnTo>
                  <a:lnTo>
                    <a:pt x="365150" y="1509509"/>
                  </a:lnTo>
                  <a:close/>
                </a:path>
                <a:path w="3651250" h="2980690">
                  <a:moveTo>
                    <a:pt x="368909" y="2109051"/>
                  </a:moveTo>
                  <a:lnTo>
                    <a:pt x="352552" y="2074646"/>
                  </a:lnTo>
                  <a:lnTo>
                    <a:pt x="343941" y="2078736"/>
                  </a:lnTo>
                  <a:lnTo>
                    <a:pt x="360311" y="2113140"/>
                  </a:lnTo>
                  <a:lnTo>
                    <a:pt x="368909" y="2109051"/>
                  </a:lnTo>
                  <a:close/>
                </a:path>
                <a:path w="3651250" h="2980690">
                  <a:moveTo>
                    <a:pt x="368960" y="1339456"/>
                  </a:moveTo>
                  <a:lnTo>
                    <a:pt x="359905" y="1336535"/>
                  </a:lnTo>
                  <a:lnTo>
                    <a:pt x="348195" y="1372793"/>
                  </a:lnTo>
                  <a:lnTo>
                    <a:pt x="357263" y="1375714"/>
                  </a:lnTo>
                  <a:lnTo>
                    <a:pt x="368960" y="1339456"/>
                  </a:lnTo>
                  <a:close/>
                </a:path>
                <a:path w="3651250" h="2980690">
                  <a:moveTo>
                    <a:pt x="369874" y="2694927"/>
                  </a:moveTo>
                  <a:lnTo>
                    <a:pt x="338340" y="2673540"/>
                  </a:lnTo>
                  <a:lnTo>
                    <a:pt x="332994" y="2681427"/>
                  </a:lnTo>
                  <a:lnTo>
                    <a:pt x="364528" y="2702814"/>
                  </a:lnTo>
                  <a:lnTo>
                    <a:pt x="369874" y="2694927"/>
                  </a:lnTo>
                  <a:close/>
                </a:path>
                <a:path w="3651250" h="2980690">
                  <a:moveTo>
                    <a:pt x="376174" y="1776780"/>
                  </a:moveTo>
                  <a:lnTo>
                    <a:pt x="367792" y="1772246"/>
                  </a:lnTo>
                  <a:lnTo>
                    <a:pt x="349656" y="1805749"/>
                  </a:lnTo>
                  <a:lnTo>
                    <a:pt x="358025" y="1810283"/>
                  </a:lnTo>
                  <a:lnTo>
                    <a:pt x="376174" y="1776780"/>
                  </a:lnTo>
                  <a:close/>
                </a:path>
                <a:path w="3651250" h="2980690">
                  <a:moveTo>
                    <a:pt x="381482" y="1078039"/>
                  </a:moveTo>
                  <a:lnTo>
                    <a:pt x="365798" y="1043317"/>
                  </a:lnTo>
                  <a:lnTo>
                    <a:pt x="357124" y="1047242"/>
                  </a:lnTo>
                  <a:lnTo>
                    <a:pt x="372808" y="1081963"/>
                  </a:lnTo>
                  <a:lnTo>
                    <a:pt x="381482" y="1078039"/>
                  </a:lnTo>
                  <a:close/>
                </a:path>
                <a:path w="3651250" h="2980690">
                  <a:moveTo>
                    <a:pt x="383336" y="1573657"/>
                  </a:moveTo>
                  <a:lnTo>
                    <a:pt x="372948" y="1537004"/>
                  </a:lnTo>
                  <a:lnTo>
                    <a:pt x="363778" y="1539608"/>
                  </a:lnTo>
                  <a:lnTo>
                    <a:pt x="374180" y="1576260"/>
                  </a:lnTo>
                  <a:lnTo>
                    <a:pt x="383336" y="1573657"/>
                  </a:lnTo>
                  <a:close/>
                </a:path>
                <a:path w="3651250" h="2980690">
                  <a:moveTo>
                    <a:pt x="389445" y="1276007"/>
                  </a:moveTo>
                  <a:lnTo>
                    <a:pt x="380377" y="1273086"/>
                  </a:lnTo>
                  <a:lnTo>
                    <a:pt x="368681" y="1309344"/>
                  </a:lnTo>
                  <a:lnTo>
                    <a:pt x="377736" y="1312265"/>
                  </a:lnTo>
                  <a:lnTo>
                    <a:pt x="389445" y="1276007"/>
                  </a:lnTo>
                  <a:close/>
                </a:path>
                <a:path w="3651250" h="2980690">
                  <a:moveTo>
                    <a:pt x="396938" y="1671853"/>
                  </a:moveTo>
                  <a:lnTo>
                    <a:pt x="367550" y="1647596"/>
                  </a:lnTo>
                  <a:lnTo>
                    <a:pt x="361480" y="1654949"/>
                  </a:lnTo>
                  <a:lnTo>
                    <a:pt x="390867" y="1679194"/>
                  </a:lnTo>
                  <a:lnTo>
                    <a:pt x="396938" y="1671853"/>
                  </a:lnTo>
                  <a:close/>
                </a:path>
                <a:path w="3651250" h="2980690">
                  <a:moveTo>
                    <a:pt x="397548" y="2169261"/>
                  </a:moveTo>
                  <a:lnTo>
                    <a:pt x="381190" y="2134857"/>
                  </a:lnTo>
                  <a:lnTo>
                    <a:pt x="372579" y="2138946"/>
                  </a:lnTo>
                  <a:lnTo>
                    <a:pt x="388950" y="2173351"/>
                  </a:lnTo>
                  <a:lnTo>
                    <a:pt x="397548" y="2169261"/>
                  </a:lnTo>
                  <a:close/>
                </a:path>
                <a:path w="3651250" h="2980690">
                  <a:moveTo>
                    <a:pt x="401523" y="1637804"/>
                  </a:moveTo>
                  <a:lnTo>
                    <a:pt x="391134" y="1601152"/>
                  </a:lnTo>
                  <a:lnTo>
                    <a:pt x="381965" y="1603756"/>
                  </a:lnTo>
                  <a:lnTo>
                    <a:pt x="392366" y="1640408"/>
                  </a:lnTo>
                  <a:lnTo>
                    <a:pt x="401523" y="1637804"/>
                  </a:lnTo>
                  <a:close/>
                </a:path>
                <a:path w="3651250" h="2980690">
                  <a:moveTo>
                    <a:pt x="406298" y="1179195"/>
                  </a:moveTo>
                  <a:lnTo>
                    <a:pt x="402399" y="1170495"/>
                  </a:lnTo>
                  <a:lnTo>
                    <a:pt x="367639" y="1186091"/>
                  </a:lnTo>
                  <a:lnTo>
                    <a:pt x="371538" y="1194777"/>
                  </a:lnTo>
                  <a:lnTo>
                    <a:pt x="406298" y="1179195"/>
                  </a:lnTo>
                  <a:close/>
                </a:path>
                <a:path w="3651250" h="2980690">
                  <a:moveTo>
                    <a:pt x="407924" y="1718144"/>
                  </a:moveTo>
                  <a:lnTo>
                    <a:pt x="399542" y="1713611"/>
                  </a:lnTo>
                  <a:lnTo>
                    <a:pt x="381406" y="1747113"/>
                  </a:lnTo>
                  <a:lnTo>
                    <a:pt x="389775" y="1751647"/>
                  </a:lnTo>
                  <a:lnTo>
                    <a:pt x="407924" y="1718144"/>
                  </a:lnTo>
                  <a:close/>
                </a:path>
                <a:path w="3651250" h="2980690">
                  <a:moveTo>
                    <a:pt x="408940" y="1138796"/>
                  </a:moveTo>
                  <a:lnTo>
                    <a:pt x="393255" y="1104074"/>
                  </a:lnTo>
                  <a:lnTo>
                    <a:pt x="384568" y="1107998"/>
                  </a:lnTo>
                  <a:lnTo>
                    <a:pt x="400265" y="1142720"/>
                  </a:lnTo>
                  <a:lnTo>
                    <a:pt x="408940" y="1138796"/>
                  </a:lnTo>
                  <a:close/>
                </a:path>
                <a:path w="3651250" h="2980690">
                  <a:moveTo>
                    <a:pt x="409917" y="1212557"/>
                  </a:moveTo>
                  <a:lnTo>
                    <a:pt x="400862" y="1209636"/>
                  </a:lnTo>
                  <a:lnTo>
                    <a:pt x="389153" y="1245895"/>
                  </a:lnTo>
                  <a:lnTo>
                    <a:pt x="398221" y="1248816"/>
                  </a:lnTo>
                  <a:lnTo>
                    <a:pt x="409917" y="1212557"/>
                  </a:lnTo>
                  <a:close/>
                </a:path>
                <a:path w="3651250" h="2980690">
                  <a:moveTo>
                    <a:pt x="425056" y="2732354"/>
                  </a:moveTo>
                  <a:lnTo>
                    <a:pt x="393522" y="2710967"/>
                  </a:lnTo>
                  <a:lnTo>
                    <a:pt x="388175" y="2718854"/>
                  </a:lnTo>
                  <a:lnTo>
                    <a:pt x="419709" y="2740241"/>
                  </a:lnTo>
                  <a:lnTo>
                    <a:pt x="425056" y="2732354"/>
                  </a:lnTo>
                  <a:close/>
                </a:path>
                <a:path w="3651250" h="2980690">
                  <a:moveTo>
                    <a:pt x="426186" y="2229472"/>
                  </a:moveTo>
                  <a:lnTo>
                    <a:pt x="409829" y="2195068"/>
                  </a:lnTo>
                  <a:lnTo>
                    <a:pt x="401218" y="2199157"/>
                  </a:lnTo>
                  <a:lnTo>
                    <a:pt x="417588" y="2233561"/>
                  </a:lnTo>
                  <a:lnTo>
                    <a:pt x="426186" y="2229472"/>
                  </a:lnTo>
                  <a:close/>
                </a:path>
                <a:path w="3651250" h="2980690">
                  <a:moveTo>
                    <a:pt x="436397" y="1199565"/>
                  </a:moveTo>
                  <a:lnTo>
                    <a:pt x="423392" y="1170813"/>
                  </a:lnTo>
                  <a:lnTo>
                    <a:pt x="430403" y="1149108"/>
                  </a:lnTo>
                  <a:lnTo>
                    <a:pt x="421335" y="1146175"/>
                  </a:lnTo>
                  <a:lnTo>
                    <a:pt x="414388" y="1167701"/>
                  </a:lnTo>
                  <a:lnTo>
                    <a:pt x="412026" y="1168768"/>
                  </a:lnTo>
                  <a:lnTo>
                    <a:pt x="413194" y="1171384"/>
                  </a:lnTo>
                  <a:lnTo>
                    <a:pt x="409638" y="1182433"/>
                  </a:lnTo>
                  <a:lnTo>
                    <a:pt x="418706" y="1185367"/>
                  </a:lnTo>
                  <a:lnTo>
                    <a:pt x="419036" y="1184313"/>
                  </a:lnTo>
                  <a:lnTo>
                    <a:pt x="427710" y="1203477"/>
                  </a:lnTo>
                  <a:lnTo>
                    <a:pt x="436397" y="1199565"/>
                  </a:lnTo>
                  <a:close/>
                </a:path>
                <a:path w="3651250" h="2980690">
                  <a:moveTo>
                    <a:pt x="437908" y="1766100"/>
                  </a:moveTo>
                  <a:lnTo>
                    <a:pt x="427507" y="1729447"/>
                  </a:lnTo>
                  <a:lnTo>
                    <a:pt x="418350" y="1732038"/>
                  </a:lnTo>
                  <a:lnTo>
                    <a:pt x="428739" y="1768690"/>
                  </a:lnTo>
                  <a:lnTo>
                    <a:pt x="437908" y="1766100"/>
                  </a:lnTo>
                  <a:close/>
                </a:path>
                <a:path w="3651250" h="2980690">
                  <a:moveTo>
                    <a:pt x="448348" y="1714296"/>
                  </a:moveTo>
                  <a:lnTo>
                    <a:pt x="421843" y="1692427"/>
                  </a:lnTo>
                  <a:lnTo>
                    <a:pt x="439674" y="1659521"/>
                  </a:lnTo>
                  <a:lnTo>
                    <a:pt x="431292" y="1654987"/>
                  </a:lnTo>
                  <a:lnTo>
                    <a:pt x="418058" y="1679448"/>
                  </a:lnTo>
                  <a:lnTo>
                    <a:pt x="418058" y="1691157"/>
                  </a:lnTo>
                  <a:lnTo>
                    <a:pt x="417004" y="1692427"/>
                  </a:lnTo>
                  <a:lnTo>
                    <a:pt x="416382" y="1690243"/>
                  </a:lnTo>
                  <a:lnTo>
                    <a:pt x="418058" y="1691157"/>
                  </a:lnTo>
                  <a:lnTo>
                    <a:pt x="418058" y="1679448"/>
                  </a:lnTo>
                  <a:lnTo>
                    <a:pt x="414947" y="1685188"/>
                  </a:lnTo>
                  <a:lnTo>
                    <a:pt x="409321" y="1665300"/>
                  </a:lnTo>
                  <a:lnTo>
                    <a:pt x="400164" y="1667891"/>
                  </a:lnTo>
                  <a:lnTo>
                    <a:pt x="410552" y="1704555"/>
                  </a:lnTo>
                  <a:lnTo>
                    <a:pt x="418757" y="1702231"/>
                  </a:lnTo>
                  <a:lnTo>
                    <a:pt x="442290" y="1721637"/>
                  </a:lnTo>
                  <a:lnTo>
                    <a:pt x="448348" y="1714296"/>
                  </a:lnTo>
                  <a:close/>
                </a:path>
                <a:path w="3651250" h="2980690">
                  <a:moveTo>
                    <a:pt x="450888" y="1085659"/>
                  </a:moveTo>
                  <a:lnTo>
                    <a:pt x="441820" y="1082725"/>
                  </a:lnTo>
                  <a:lnTo>
                    <a:pt x="430110" y="1118984"/>
                  </a:lnTo>
                  <a:lnTo>
                    <a:pt x="439178" y="1121905"/>
                  </a:lnTo>
                  <a:lnTo>
                    <a:pt x="450888" y="1085659"/>
                  </a:lnTo>
                  <a:close/>
                </a:path>
                <a:path w="3651250" h="2980690">
                  <a:moveTo>
                    <a:pt x="454825" y="2289683"/>
                  </a:moveTo>
                  <a:lnTo>
                    <a:pt x="438467" y="2255278"/>
                  </a:lnTo>
                  <a:lnTo>
                    <a:pt x="429869" y="2259368"/>
                  </a:lnTo>
                  <a:lnTo>
                    <a:pt x="446227" y="2293772"/>
                  </a:lnTo>
                  <a:lnTo>
                    <a:pt x="454825" y="2289683"/>
                  </a:lnTo>
                  <a:close/>
                </a:path>
                <a:path w="3651250" h="2980690">
                  <a:moveTo>
                    <a:pt x="456095" y="1830247"/>
                  </a:moveTo>
                  <a:lnTo>
                    <a:pt x="445706" y="1793595"/>
                  </a:lnTo>
                  <a:lnTo>
                    <a:pt x="436537" y="1796186"/>
                  </a:lnTo>
                  <a:lnTo>
                    <a:pt x="446925" y="1832838"/>
                  </a:lnTo>
                  <a:lnTo>
                    <a:pt x="456095" y="1830247"/>
                  </a:lnTo>
                  <a:close/>
                </a:path>
                <a:path w="3651250" h="2980690">
                  <a:moveTo>
                    <a:pt x="463842" y="1260322"/>
                  </a:moveTo>
                  <a:lnTo>
                    <a:pt x="448157" y="1225600"/>
                  </a:lnTo>
                  <a:lnTo>
                    <a:pt x="439483" y="1229525"/>
                  </a:lnTo>
                  <a:lnTo>
                    <a:pt x="455168" y="1264246"/>
                  </a:lnTo>
                  <a:lnTo>
                    <a:pt x="463842" y="1260322"/>
                  </a:lnTo>
                  <a:close/>
                </a:path>
                <a:path w="3651250" h="2980690">
                  <a:moveTo>
                    <a:pt x="467144" y="1151902"/>
                  </a:moveTo>
                  <a:lnTo>
                    <a:pt x="463245" y="1143215"/>
                  </a:lnTo>
                  <a:lnTo>
                    <a:pt x="428472" y="1158798"/>
                  </a:lnTo>
                  <a:lnTo>
                    <a:pt x="432371" y="1167498"/>
                  </a:lnTo>
                  <a:lnTo>
                    <a:pt x="467144" y="1151902"/>
                  </a:lnTo>
                  <a:close/>
                </a:path>
                <a:path w="3651250" h="2980690">
                  <a:moveTo>
                    <a:pt x="471360" y="1022197"/>
                  </a:moveTo>
                  <a:lnTo>
                    <a:pt x="462292" y="1019276"/>
                  </a:lnTo>
                  <a:lnTo>
                    <a:pt x="450596" y="1055535"/>
                  </a:lnTo>
                  <a:lnTo>
                    <a:pt x="459663" y="1058456"/>
                  </a:lnTo>
                  <a:lnTo>
                    <a:pt x="471360" y="1022197"/>
                  </a:lnTo>
                  <a:close/>
                </a:path>
                <a:path w="3651250" h="2980690">
                  <a:moveTo>
                    <a:pt x="471424" y="1600885"/>
                  </a:moveTo>
                  <a:lnTo>
                    <a:pt x="463054" y="1596351"/>
                  </a:lnTo>
                  <a:lnTo>
                    <a:pt x="444906" y="1629854"/>
                  </a:lnTo>
                  <a:lnTo>
                    <a:pt x="453275" y="1634388"/>
                  </a:lnTo>
                  <a:lnTo>
                    <a:pt x="471424" y="1600885"/>
                  </a:lnTo>
                  <a:close/>
                </a:path>
                <a:path w="3651250" h="2980690">
                  <a:moveTo>
                    <a:pt x="474281" y="1894395"/>
                  </a:moveTo>
                  <a:lnTo>
                    <a:pt x="463892" y="1857730"/>
                  </a:lnTo>
                  <a:lnTo>
                    <a:pt x="454723" y="1860334"/>
                  </a:lnTo>
                  <a:lnTo>
                    <a:pt x="465124" y="1896986"/>
                  </a:lnTo>
                  <a:lnTo>
                    <a:pt x="474281" y="1894395"/>
                  </a:lnTo>
                  <a:close/>
                </a:path>
                <a:path w="3651250" h="2980690">
                  <a:moveTo>
                    <a:pt x="480237" y="2769781"/>
                  </a:moveTo>
                  <a:lnTo>
                    <a:pt x="448703" y="2748394"/>
                  </a:lnTo>
                  <a:lnTo>
                    <a:pt x="443357" y="2756268"/>
                  </a:lnTo>
                  <a:lnTo>
                    <a:pt x="474891" y="2777655"/>
                  </a:lnTo>
                  <a:lnTo>
                    <a:pt x="480237" y="2769781"/>
                  </a:lnTo>
                  <a:close/>
                </a:path>
                <a:path w="3651250" h="2980690">
                  <a:moveTo>
                    <a:pt x="483463" y="2349893"/>
                  </a:moveTo>
                  <a:lnTo>
                    <a:pt x="467106" y="2315489"/>
                  </a:lnTo>
                  <a:lnTo>
                    <a:pt x="458508" y="2319578"/>
                  </a:lnTo>
                  <a:lnTo>
                    <a:pt x="474865" y="2353983"/>
                  </a:lnTo>
                  <a:lnTo>
                    <a:pt x="483463" y="2349893"/>
                  </a:lnTo>
                  <a:close/>
                </a:path>
                <a:path w="3651250" h="2980690">
                  <a:moveTo>
                    <a:pt x="491299" y="1321079"/>
                  </a:moveTo>
                  <a:lnTo>
                    <a:pt x="475615" y="1286357"/>
                  </a:lnTo>
                  <a:lnTo>
                    <a:pt x="466928" y="1290281"/>
                  </a:lnTo>
                  <a:lnTo>
                    <a:pt x="482612" y="1325003"/>
                  </a:lnTo>
                  <a:lnTo>
                    <a:pt x="491299" y="1321079"/>
                  </a:lnTo>
                  <a:close/>
                </a:path>
                <a:path w="3651250" h="2980690">
                  <a:moveTo>
                    <a:pt x="491845" y="958748"/>
                  </a:moveTo>
                  <a:lnTo>
                    <a:pt x="482777" y="955827"/>
                  </a:lnTo>
                  <a:lnTo>
                    <a:pt x="471081" y="992085"/>
                  </a:lnTo>
                  <a:lnTo>
                    <a:pt x="480136" y="995006"/>
                  </a:lnTo>
                  <a:lnTo>
                    <a:pt x="491845" y="958748"/>
                  </a:lnTo>
                  <a:close/>
                </a:path>
                <a:path w="3651250" h="2980690">
                  <a:moveTo>
                    <a:pt x="492467" y="1958530"/>
                  </a:moveTo>
                  <a:lnTo>
                    <a:pt x="482079" y="1921878"/>
                  </a:lnTo>
                  <a:lnTo>
                    <a:pt x="472909" y="1924481"/>
                  </a:lnTo>
                  <a:lnTo>
                    <a:pt x="483311" y="1961134"/>
                  </a:lnTo>
                  <a:lnTo>
                    <a:pt x="492467" y="1958530"/>
                  </a:lnTo>
                  <a:close/>
                </a:path>
                <a:path w="3651250" h="2980690">
                  <a:moveTo>
                    <a:pt x="499770" y="1756740"/>
                  </a:moveTo>
                  <a:lnTo>
                    <a:pt x="470395" y="1732483"/>
                  </a:lnTo>
                  <a:lnTo>
                    <a:pt x="464324" y="1739836"/>
                  </a:lnTo>
                  <a:lnTo>
                    <a:pt x="493712" y="1764093"/>
                  </a:lnTo>
                  <a:lnTo>
                    <a:pt x="499770" y="1756740"/>
                  </a:lnTo>
                  <a:close/>
                </a:path>
                <a:path w="3651250" h="2980690">
                  <a:moveTo>
                    <a:pt x="503174" y="1542262"/>
                  </a:moveTo>
                  <a:lnTo>
                    <a:pt x="494804" y="1537728"/>
                  </a:lnTo>
                  <a:lnTo>
                    <a:pt x="476656" y="1571231"/>
                  </a:lnTo>
                  <a:lnTo>
                    <a:pt x="485038" y="1575765"/>
                  </a:lnTo>
                  <a:lnTo>
                    <a:pt x="503174" y="1542262"/>
                  </a:lnTo>
                  <a:close/>
                </a:path>
                <a:path w="3651250" h="2980690">
                  <a:moveTo>
                    <a:pt x="510667" y="2022678"/>
                  </a:moveTo>
                  <a:lnTo>
                    <a:pt x="500265" y="1986026"/>
                  </a:lnTo>
                  <a:lnTo>
                    <a:pt x="491109" y="1988629"/>
                  </a:lnTo>
                  <a:lnTo>
                    <a:pt x="501497" y="2025281"/>
                  </a:lnTo>
                  <a:lnTo>
                    <a:pt x="510667" y="2022678"/>
                  </a:lnTo>
                  <a:close/>
                </a:path>
                <a:path w="3651250" h="2980690">
                  <a:moveTo>
                    <a:pt x="512114" y="2410104"/>
                  </a:moveTo>
                  <a:lnTo>
                    <a:pt x="495744" y="2375700"/>
                  </a:lnTo>
                  <a:lnTo>
                    <a:pt x="487146" y="2379789"/>
                  </a:lnTo>
                  <a:lnTo>
                    <a:pt x="503504" y="2414193"/>
                  </a:lnTo>
                  <a:lnTo>
                    <a:pt x="512114" y="2410104"/>
                  </a:lnTo>
                  <a:close/>
                </a:path>
                <a:path w="3651250" h="2980690">
                  <a:moveTo>
                    <a:pt x="512318" y="895299"/>
                  </a:moveTo>
                  <a:lnTo>
                    <a:pt x="503262" y="892365"/>
                  </a:lnTo>
                  <a:lnTo>
                    <a:pt x="491553" y="928624"/>
                  </a:lnTo>
                  <a:lnTo>
                    <a:pt x="500621" y="931557"/>
                  </a:lnTo>
                  <a:lnTo>
                    <a:pt x="512318" y="895299"/>
                  </a:lnTo>
                  <a:close/>
                </a:path>
                <a:path w="3651250" h="2980690">
                  <a:moveTo>
                    <a:pt x="518756" y="1381848"/>
                  </a:moveTo>
                  <a:lnTo>
                    <a:pt x="503059" y="1347127"/>
                  </a:lnTo>
                  <a:lnTo>
                    <a:pt x="494385" y="1351051"/>
                  </a:lnTo>
                  <a:lnTo>
                    <a:pt x="510070" y="1385760"/>
                  </a:lnTo>
                  <a:lnTo>
                    <a:pt x="518756" y="1381848"/>
                  </a:lnTo>
                  <a:close/>
                </a:path>
                <a:path w="3651250" h="2980690">
                  <a:moveTo>
                    <a:pt x="527977" y="1124610"/>
                  </a:moveTo>
                  <a:lnTo>
                    <a:pt x="524078" y="1115923"/>
                  </a:lnTo>
                  <a:lnTo>
                    <a:pt x="489318" y="1131519"/>
                  </a:lnTo>
                  <a:lnTo>
                    <a:pt x="493204" y="1140206"/>
                  </a:lnTo>
                  <a:lnTo>
                    <a:pt x="527977" y="1124610"/>
                  </a:lnTo>
                  <a:close/>
                </a:path>
                <a:path w="3651250" h="2980690">
                  <a:moveTo>
                    <a:pt x="528853" y="2086825"/>
                  </a:moveTo>
                  <a:lnTo>
                    <a:pt x="518452" y="2050173"/>
                  </a:lnTo>
                  <a:lnTo>
                    <a:pt x="509295" y="2052777"/>
                  </a:lnTo>
                  <a:lnTo>
                    <a:pt x="519684" y="2089429"/>
                  </a:lnTo>
                  <a:lnTo>
                    <a:pt x="528853" y="2086825"/>
                  </a:lnTo>
                  <a:close/>
                </a:path>
                <a:path w="3651250" h="2980690">
                  <a:moveTo>
                    <a:pt x="532803" y="831850"/>
                  </a:moveTo>
                  <a:lnTo>
                    <a:pt x="523735" y="828916"/>
                  </a:lnTo>
                  <a:lnTo>
                    <a:pt x="512038" y="865174"/>
                  </a:lnTo>
                  <a:lnTo>
                    <a:pt x="521093" y="868108"/>
                  </a:lnTo>
                  <a:lnTo>
                    <a:pt x="532803" y="831850"/>
                  </a:lnTo>
                  <a:close/>
                </a:path>
                <a:path w="3651250" h="2980690">
                  <a:moveTo>
                    <a:pt x="534924" y="1483626"/>
                  </a:moveTo>
                  <a:lnTo>
                    <a:pt x="526554" y="1479092"/>
                  </a:lnTo>
                  <a:lnTo>
                    <a:pt x="508406" y="1512595"/>
                  </a:lnTo>
                  <a:lnTo>
                    <a:pt x="516788" y="1517129"/>
                  </a:lnTo>
                  <a:lnTo>
                    <a:pt x="534924" y="1483626"/>
                  </a:lnTo>
                  <a:close/>
                </a:path>
                <a:path w="3651250" h="2980690">
                  <a:moveTo>
                    <a:pt x="535419" y="2807195"/>
                  </a:moveTo>
                  <a:lnTo>
                    <a:pt x="503885" y="2785821"/>
                  </a:lnTo>
                  <a:lnTo>
                    <a:pt x="498538" y="2793695"/>
                  </a:lnTo>
                  <a:lnTo>
                    <a:pt x="530072" y="2815082"/>
                  </a:lnTo>
                  <a:lnTo>
                    <a:pt x="535419" y="2807195"/>
                  </a:lnTo>
                  <a:close/>
                </a:path>
                <a:path w="3651250" h="2980690">
                  <a:moveTo>
                    <a:pt x="540753" y="2470315"/>
                  </a:moveTo>
                  <a:lnTo>
                    <a:pt x="524383" y="2435910"/>
                  </a:lnTo>
                  <a:lnTo>
                    <a:pt x="515785" y="2440000"/>
                  </a:lnTo>
                  <a:lnTo>
                    <a:pt x="532142" y="2474404"/>
                  </a:lnTo>
                  <a:lnTo>
                    <a:pt x="540753" y="2470315"/>
                  </a:lnTo>
                  <a:close/>
                </a:path>
                <a:path w="3651250" h="2980690">
                  <a:moveTo>
                    <a:pt x="546201" y="1442605"/>
                  </a:moveTo>
                  <a:lnTo>
                    <a:pt x="530517" y="1407883"/>
                  </a:lnTo>
                  <a:lnTo>
                    <a:pt x="521843" y="1411808"/>
                  </a:lnTo>
                  <a:lnTo>
                    <a:pt x="537527" y="1446530"/>
                  </a:lnTo>
                  <a:lnTo>
                    <a:pt x="546201" y="1442605"/>
                  </a:lnTo>
                  <a:close/>
                </a:path>
                <a:path w="3651250" h="2980690">
                  <a:moveTo>
                    <a:pt x="547039" y="2150973"/>
                  </a:moveTo>
                  <a:lnTo>
                    <a:pt x="536651" y="2114321"/>
                  </a:lnTo>
                  <a:lnTo>
                    <a:pt x="527481" y="2116912"/>
                  </a:lnTo>
                  <a:lnTo>
                    <a:pt x="537870" y="2153577"/>
                  </a:lnTo>
                  <a:lnTo>
                    <a:pt x="547039" y="2150973"/>
                  </a:lnTo>
                  <a:close/>
                </a:path>
                <a:path w="3651250" h="2980690">
                  <a:moveTo>
                    <a:pt x="551192" y="1799183"/>
                  </a:moveTo>
                  <a:lnTo>
                    <a:pt x="521804" y="1774939"/>
                  </a:lnTo>
                  <a:lnTo>
                    <a:pt x="515747" y="1782279"/>
                  </a:lnTo>
                  <a:lnTo>
                    <a:pt x="545134" y="1806536"/>
                  </a:lnTo>
                  <a:lnTo>
                    <a:pt x="551192" y="1799183"/>
                  </a:lnTo>
                  <a:close/>
                </a:path>
                <a:path w="3651250" h="2980690">
                  <a:moveTo>
                    <a:pt x="553275" y="768388"/>
                  </a:moveTo>
                  <a:lnTo>
                    <a:pt x="544220" y="765467"/>
                  </a:lnTo>
                  <a:lnTo>
                    <a:pt x="532511" y="801725"/>
                  </a:lnTo>
                  <a:lnTo>
                    <a:pt x="541578" y="804646"/>
                  </a:lnTo>
                  <a:lnTo>
                    <a:pt x="553275" y="768388"/>
                  </a:lnTo>
                  <a:close/>
                </a:path>
                <a:path w="3651250" h="2980690">
                  <a:moveTo>
                    <a:pt x="565226" y="2215121"/>
                  </a:moveTo>
                  <a:lnTo>
                    <a:pt x="554837" y="2178469"/>
                  </a:lnTo>
                  <a:lnTo>
                    <a:pt x="545668" y="2181060"/>
                  </a:lnTo>
                  <a:lnTo>
                    <a:pt x="556069" y="2217724"/>
                  </a:lnTo>
                  <a:lnTo>
                    <a:pt x="565226" y="2215121"/>
                  </a:lnTo>
                  <a:close/>
                </a:path>
                <a:path w="3651250" h="2980690">
                  <a:moveTo>
                    <a:pt x="566674" y="1425003"/>
                  </a:moveTo>
                  <a:lnTo>
                    <a:pt x="558304" y="1420469"/>
                  </a:lnTo>
                  <a:lnTo>
                    <a:pt x="540156" y="1453972"/>
                  </a:lnTo>
                  <a:lnTo>
                    <a:pt x="548538" y="1458506"/>
                  </a:lnTo>
                  <a:lnTo>
                    <a:pt x="566674" y="1425003"/>
                  </a:lnTo>
                  <a:close/>
                </a:path>
                <a:path w="3651250" h="2980690">
                  <a:moveTo>
                    <a:pt x="569391" y="2530525"/>
                  </a:moveTo>
                  <a:lnTo>
                    <a:pt x="553021" y="2496121"/>
                  </a:lnTo>
                  <a:lnTo>
                    <a:pt x="544423" y="2500211"/>
                  </a:lnTo>
                  <a:lnTo>
                    <a:pt x="560781" y="2534615"/>
                  </a:lnTo>
                  <a:lnTo>
                    <a:pt x="569391" y="2530525"/>
                  </a:lnTo>
                  <a:close/>
                </a:path>
                <a:path w="3651250" h="2980690">
                  <a:moveTo>
                    <a:pt x="573659" y="1503362"/>
                  </a:moveTo>
                  <a:lnTo>
                    <a:pt x="557974" y="1468640"/>
                  </a:lnTo>
                  <a:lnTo>
                    <a:pt x="549287" y="1472565"/>
                  </a:lnTo>
                  <a:lnTo>
                    <a:pt x="564972" y="1507286"/>
                  </a:lnTo>
                  <a:lnTo>
                    <a:pt x="573659" y="1503362"/>
                  </a:lnTo>
                  <a:close/>
                </a:path>
                <a:path w="3651250" h="2980690">
                  <a:moveTo>
                    <a:pt x="573760" y="704938"/>
                  </a:moveTo>
                  <a:lnTo>
                    <a:pt x="564692" y="702017"/>
                  </a:lnTo>
                  <a:lnTo>
                    <a:pt x="552996" y="738276"/>
                  </a:lnTo>
                  <a:lnTo>
                    <a:pt x="562063" y="741197"/>
                  </a:lnTo>
                  <a:lnTo>
                    <a:pt x="573760" y="704938"/>
                  </a:lnTo>
                  <a:close/>
                </a:path>
                <a:path w="3651250" h="2980690">
                  <a:moveTo>
                    <a:pt x="583412" y="2279269"/>
                  </a:moveTo>
                  <a:lnTo>
                    <a:pt x="573024" y="2242616"/>
                  </a:lnTo>
                  <a:lnTo>
                    <a:pt x="563867" y="2245207"/>
                  </a:lnTo>
                  <a:lnTo>
                    <a:pt x="574255" y="2281859"/>
                  </a:lnTo>
                  <a:lnTo>
                    <a:pt x="583412" y="2279269"/>
                  </a:lnTo>
                  <a:close/>
                </a:path>
                <a:path w="3651250" h="2980690">
                  <a:moveTo>
                    <a:pt x="588810" y="1097330"/>
                  </a:moveTo>
                  <a:lnTo>
                    <a:pt x="584911" y="1088631"/>
                  </a:lnTo>
                  <a:lnTo>
                    <a:pt x="550151" y="1104226"/>
                  </a:lnTo>
                  <a:lnTo>
                    <a:pt x="554050" y="1112913"/>
                  </a:lnTo>
                  <a:lnTo>
                    <a:pt x="588810" y="1097330"/>
                  </a:lnTo>
                  <a:close/>
                </a:path>
                <a:path w="3651250" h="2980690">
                  <a:moveTo>
                    <a:pt x="590600" y="2844622"/>
                  </a:moveTo>
                  <a:lnTo>
                    <a:pt x="559066" y="2823235"/>
                  </a:lnTo>
                  <a:lnTo>
                    <a:pt x="553720" y="2831122"/>
                  </a:lnTo>
                  <a:lnTo>
                    <a:pt x="585254" y="2852509"/>
                  </a:lnTo>
                  <a:lnTo>
                    <a:pt x="590600" y="2844622"/>
                  </a:lnTo>
                  <a:close/>
                </a:path>
                <a:path w="3651250" h="2980690">
                  <a:moveTo>
                    <a:pt x="594245" y="641489"/>
                  </a:moveTo>
                  <a:lnTo>
                    <a:pt x="585177" y="638568"/>
                  </a:lnTo>
                  <a:lnTo>
                    <a:pt x="573468" y="674827"/>
                  </a:lnTo>
                  <a:lnTo>
                    <a:pt x="582536" y="677748"/>
                  </a:lnTo>
                  <a:lnTo>
                    <a:pt x="594245" y="641489"/>
                  </a:lnTo>
                  <a:close/>
                </a:path>
                <a:path w="3651250" h="2980690">
                  <a:moveTo>
                    <a:pt x="598030" y="2590736"/>
                  </a:moveTo>
                  <a:lnTo>
                    <a:pt x="581660" y="2556332"/>
                  </a:lnTo>
                  <a:lnTo>
                    <a:pt x="573062" y="2560421"/>
                  </a:lnTo>
                  <a:lnTo>
                    <a:pt x="589419" y="2594826"/>
                  </a:lnTo>
                  <a:lnTo>
                    <a:pt x="598030" y="2590736"/>
                  </a:lnTo>
                  <a:close/>
                </a:path>
                <a:path w="3651250" h="2980690">
                  <a:moveTo>
                    <a:pt x="598424" y="1366367"/>
                  </a:moveTo>
                  <a:lnTo>
                    <a:pt x="590054" y="1361833"/>
                  </a:lnTo>
                  <a:lnTo>
                    <a:pt x="571906" y="1395336"/>
                  </a:lnTo>
                  <a:lnTo>
                    <a:pt x="580288" y="1399870"/>
                  </a:lnTo>
                  <a:lnTo>
                    <a:pt x="598424" y="1366367"/>
                  </a:lnTo>
                  <a:close/>
                </a:path>
                <a:path w="3651250" h="2980690">
                  <a:moveTo>
                    <a:pt x="601103" y="1564132"/>
                  </a:moveTo>
                  <a:lnTo>
                    <a:pt x="585419" y="1529410"/>
                  </a:lnTo>
                  <a:lnTo>
                    <a:pt x="576745" y="1533334"/>
                  </a:lnTo>
                  <a:lnTo>
                    <a:pt x="592429" y="1568043"/>
                  </a:lnTo>
                  <a:lnTo>
                    <a:pt x="601103" y="1564132"/>
                  </a:lnTo>
                  <a:close/>
                </a:path>
                <a:path w="3651250" h="2980690">
                  <a:moveTo>
                    <a:pt x="601611" y="2343416"/>
                  </a:moveTo>
                  <a:lnTo>
                    <a:pt x="591210" y="2306751"/>
                  </a:lnTo>
                  <a:lnTo>
                    <a:pt x="582053" y="2309355"/>
                  </a:lnTo>
                  <a:lnTo>
                    <a:pt x="592442" y="2346007"/>
                  </a:lnTo>
                  <a:lnTo>
                    <a:pt x="601611" y="2343416"/>
                  </a:lnTo>
                  <a:close/>
                </a:path>
                <a:path w="3651250" h="2980690">
                  <a:moveTo>
                    <a:pt x="602615" y="1841627"/>
                  </a:moveTo>
                  <a:lnTo>
                    <a:pt x="573227" y="1817382"/>
                  </a:lnTo>
                  <a:lnTo>
                    <a:pt x="567169" y="1824723"/>
                  </a:lnTo>
                  <a:lnTo>
                    <a:pt x="596544" y="1848980"/>
                  </a:lnTo>
                  <a:lnTo>
                    <a:pt x="602615" y="1841627"/>
                  </a:lnTo>
                  <a:close/>
                </a:path>
                <a:path w="3651250" h="2980690">
                  <a:moveTo>
                    <a:pt x="614718" y="578040"/>
                  </a:moveTo>
                  <a:lnTo>
                    <a:pt x="605650" y="575106"/>
                  </a:lnTo>
                  <a:lnTo>
                    <a:pt x="593953" y="611365"/>
                  </a:lnTo>
                  <a:lnTo>
                    <a:pt x="603021" y="614299"/>
                  </a:lnTo>
                  <a:lnTo>
                    <a:pt x="614718" y="578040"/>
                  </a:lnTo>
                  <a:close/>
                </a:path>
                <a:path w="3651250" h="2980690">
                  <a:moveTo>
                    <a:pt x="619798" y="2407564"/>
                  </a:moveTo>
                  <a:lnTo>
                    <a:pt x="609409" y="2370899"/>
                  </a:lnTo>
                  <a:lnTo>
                    <a:pt x="600240" y="2373503"/>
                  </a:lnTo>
                  <a:lnTo>
                    <a:pt x="610628" y="2410155"/>
                  </a:lnTo>
                  <a:lnTo>
                    <a:pt x="619798" y="2407564"/>
                  </a:lnTo>
                  <a:close/>
                </a:path>
                <a:path w="3651250" h="2980690">
                  <a:moveTo>
                    <a:pt x="626668" y="2650947"/>
                  </a:moveTo>
                  <a:lnTo>
                    <a:pt x="610298" y="2616543"/>
                  </a:lnTo>
                  <a:lnTo>
                    <a:pt x="601700" y="2620632"/>
                  </a:lnTo>
                  <a:lnTo>
                    <a:pt x="618058" y="2655036"/>
                  </a:lnTo>
                  <a:lnTo>
                    <a:pt x="626668" y="2650947"/>
                  </a:lnTo>
                  <a:close/>
                </a:path>
                <a:path w="3651250" h="2980690">
                  <a:moveTo>
                    <a:pt x="628561" y="1624888"/>
                  </a:moveTo>
                  <a:lnTo>
                    <a:pt x="612876" y="1590167"/>
                  </a:lnTo>
                  <a:lnTo>
                    <a:pt x="604189" y="1594091"/>
                  </a:lnTo>
                  <a:lnTo>
                    <a:pt x="619887" y="1628813"/>
                  </a:lnTo>
                  <a:lnTo>
                    <a:pt x="628561" y="1624888"/>
                  </a:lnTo>
                  <a:close/>
                </a:path>
                <a:path w="3651250" h="2980690">
                  <a:moveTo>
                    <a:pt x="630186" y="1307744"/>
                  </a:moveTo>
                  <a:lnTo>
                    <a:pt x="621804" y="1303210"/>
                  </a:lnTo>
                  <a:lnTo>
                    <a:pt x="603656" y="1336713"/>
                  </a:lnTo>
                  <a:lnTo>
                    <a:pt x="612038" y="1341247"/>
                  </a:lnTo>
                  <a:lnTo>
                    <a:pt x="630186" y="1307744"/>
                  </a:lnTo>
                  <a:close/>
                </a:path>
                <a:path w="3651250" h="2980690">
                  <a:moveTo>
                    <a:pt x="635203" y="514591"/>
                  </a:moveTo>
                  <a:lnTo>
                    <a:pt x="626135" y="511657"/>
                  </a:lnTo>
                  <a:lnTo>
                    <a:pt x="614426" y="547916"/>
                  </a:lnTo>
                  <a:lnTo>
                    <a:pt x="623493" y="550849"/>
                  </a:lnTo>
                  <a:lnTo>
                    <a:pt x="635203" y="514591"/>
                  </a:lnTo>
                  <a:close/>
                </a:path>
                <a:path w="3651250" h="2980690">
                  <a:moveTo>
                    <a:pt x="637984" y="2471699"/>
                  </a:moveTo>
                  <a:lnTo>
                    <a:pt x="627595" y="2435047"/>
                  </a:lnTo>
                  <a:lnTo>
                    <a:pt x="618426" y="2437650"/>
                  </a:lnTo>
                  <a:lnTo>
                    <a:pt x="628827" y="2474303"/>
                  </a:lnTo>
                  <a:lnTo>
                    <a:pt x="637984" y="2471699"/>
                  </a:lnTo>
                  <a:close/>
                </a:path>
                <a:path w="3651250" h="2980690">
                  <a:moveTo>
                    <a:pt x="645782" y="2882049"/>
                  </a:moveTo>
                  <a:lnTo>
                    <a:pt x="614248" y="2860662"/>
                  </a:lnTo>
                  <a:lnTo>
                    <a:pt x="608901" y="2868549"/>
                  </a:lnTo>
                  <a:lnTo>
                    <a:pt x="640435" y="2889935"/>
                  </a:lnTo>
                  <a:lnTo>
                    <a:pt x="645782" y="2882049"/>
                  </a:lnTo>
                  <a:close/>
                </a:path>
                <a:path w="3651250" h="2980690">
                  <a:moveTo>
                    <a:pt x="649643" y="1070038"/>
                  </a:moveTo>
                  <a:lnTo>
                    <a:pt x="645744" y="1061351"/>
                  </a:lnTo>
                  <a:lnTo>
                    <a:pt x="610984" y="1076947"/>
                  </a:lnTo>
                  <a:lnTo>
                    <a:pt x="614883" y="1085634"/>
                  </a:lnTo>
                  <a:lnTo>
                    <a:pt x="649643" y="1070038"/>
                  </a:lnTo>
                  <a:close/>
                </a:path>
                <a:path w="3651250" h="2980690">
                  <a:moveTo>
                    <a:pt x="654037" y="1884070"/>
                  </a:moveTo>
                  <a:lnTo>
                    <a:pt x="624649" y="1859826"/>
                  </a:lnTo>
                  <a:lnTo>
                    <a:pt x="618591" y="1867166"/>
                  </a:lnTo>
                  <a:lnTo>
                    <a:pt x="647966" y="1891423"/>
                  </a:lnTo>
                  <a:lnTo>
                    <a:pt x="654037" y="1884070"/>
                  </a:lnTo>
                  <a:close/>
                </a:path>
                <a:path w="3651250" h="2980690">
                  <a:moveTo>
                    <a:pt x="655307" y="2711158"/>
                  </a:moveTo>
                  <a:lnTo>
                    <a:pt x="638937" y="2676753"/>
                  </a:lnTo>
                  <a:lnTo>
                    <a:pt x="630339" y="2680843"/>
                  </a:lnTo>
                  <a:lnTo>
                    <a:pt x="646696" y="2715247"/>
                  </a:lnTo>
                  <a:lnTo>
                    <a:pt x="655307" y="2711158"/>
                  </a:lnTo>
                  <a:close/>
                </a:path>
                <a:path w="3651250" h="2980690">
                  <a:moveTo>
                    <a:pt x="655675" y="451129"/>
                  </a:moveTo>
                  <a:lnTo>
                    <a:pt x="646607" y="448208"/>
                  </a:lnTo>
                  <a:lnTo>
                    <a:pt x="634911" y="484466"/>
                  </a:lnTo>
                  <a:lnTo>
                    <a:pt x="643978" y="487387"/>
                  </a:lnTo>
                  <a:lnTo>
                    <a:pt x="655675" y="451129"/>
                  </a:lnTo>
                  <a:close/>
                </a:path>
                <a:path w="3651250" h="2980690">
                  <a:moveTo>
                    <a:pt x="656018" y="1685645"/>
                  </a:moveTo>
                  <a:lnTo>
                    <a:pt x="640321" y="1650923"/>
                  </a:lnTo>
                  <a:lnTo>
                    <a:pt x="631647" y="1654848"/>
                  </a:lnTo>
                  <a:lnTo>
                    <a:pt x="647331" y="1689569"/>
                  </a:lnTo>
                  <a:lnTo>
                    <a:pt x="656018" y="1685645"/>
                  </a:lnTo>
                  <a:close/>
                </a:path>
                <a:path w="3651250" h="2980690">
                  <a:moveTo>
                    <a:pt x="656170" y="2535847"/>
                  </a:moveTo>
                  <a:lnTo>
                    <a:pt x="645782" y="2499195"/>
                  </a:lnTo>
                  <a:lnTo>
                    <a:pt x="636612" y="2501798"/>
                  </a:lnTo>
                  <a:lnTo>
                    <a:pt x="647014" y="2538450"/>
                  </a:lnTo>
                  <a:lnTo>
                    <a:pt x="656170" y="2535847"/>
                  </a:lnTo>
                  <a:close/>
                </a:path>
                <a:path w="3651250" h="2980690">
                  <a:moveTo>
                    <a:pt x="661936" y="1249108"/>
                  </a:moveTo>
                  <a:lnTo>
                    <a:pt x="653554" y="1244574"/>
                  </a:lnTo>
                  <a:lnTo>
                    <a:pt x="635406" y="1278077"/>
                  </a:lnTo>
                  <a:lnTo>
                    <a:pt x="643788" y="1282611"/>
                  </a:lnTo>
                  <a:lnTo>
                    <a:pt x="661936" y="1249108"/>
                  </a:lnTo>
                  <a:close/>
                </a:path>
                <a:path w="3651250" h="2980690">
                  <a:moveTo>
                    <a:pt x="674370" y="2599994"/>
                  </a:moveTo>
                  <a:lnTo>
                    <a:pt x="663968" y="2563342"/>
                  </a:lnTo>
                  <a:lnTo>
                    <a:pt x="654812" y="2565946"/>
                  </a:lnTo>
                  <a:lnTo>
                    <a:pt x="665200" y="2602598"/>
                  </a:lnTo>
                  <a:lnTo>
                    <a:pt x="674370" y="2599994"/>
                  </a:lnTo>
                  <a:close/>
                </a:path>
                <a:path w="3651250" h="2980690">
                  <a:moveTo>
                    <a:pt x="676160" y="387680"/>
                  </a:moveTo>
                  <a:lnTo>
                    <a:pt x="667092" y="384759"/>
                  </a:lnTo>
                  <a:lnTo>
                    <a:pt x="655396" y="421017"/>
                  </a:lnTo>
                  <a:lnTo>
                    <a:pt x="664451" y="423938"/>
                  </a:lnTo>
                  <a:lnTo>
                    <a:pt x="676160" y="387680"/>
                  </a:lnTo>
                  <a:close/>
                </a:path>
                <a:path w="3651250" h="2980690">
                  <a:moveTo>
                    <a:pt x="683463" y="1746415"/>
                  </a:moveTo>
                  <a:lnTo>
                    <a:pt x="667778" y="1711693"/>
                  </a:lnTo>
                  <a:lnTo>
                    <a:pt x="659104" y="1715617"/>
                  </a:lnTo>
                  <a:lnTo>
                    <a:pt x="674789" y="1750326"/>
                  </a:lnTo>
                  <a:lnTo>
                    <a:pt x="683463" y="1746415"/>
                  </a:lnTo>
                  <a:close/>
                </a:path>
                <a:path w="3651250" h="2980690">
                  <a:moveTo>
                    <a:pt x="683945" y="2771368"/>
                  </a:moveTo>
                  <a:lnTo>
                    <a:pt x="667575" y="2736964"/>
                  </a:lnTo>
                  <a:lnTo>
                    <a:pt x="658977" y="2741053"/>
                  </a:lnTo>
                  <a:lnTo>
                    <a:pt x="675347" y="2775470"/>
                  </a:lnTo>
                  <a:lnTo>
                    <a:pt x="683945" y="2771368"/>
                  </a:lnTo>
                  <a:close/>
                </a:path>
                <a:path w="3651250" h="2980690">
                  <a:moveTo>
                    <a:pt x="692556" y="2664142"/>
                  </a:moveTo>
                  <a:lnTo>
                    <a:pt x="682155" y="2627490"/>
                  </a:lnTo>
                  <a:lnTo>
                    <a:pt x="672998" y="2630081"/>
                  </a:lnTo>
                  <a:lnTo>
                    <a:pt x="683387" y="2666746"/>
                  </a:lnTo>
                  <a:lnTo>
                    <a:pt x="692556" y="2664142"/>
                  </a:lnTo>
                  <a:close/>
                </a:path>
                <a:path w="3651250" h="2980690">
                  <a:moveTo>
                    <a:pt x="693686" y="1190485"/>
                  </a:moveTo>
                  <a:lnTo>
                    <a:pt x="685304" y="1185951"/>
                  </a:lnTo>
                  <a:lnTo>
                    <a:pt x="667169" y="1219454"/>
                  </a:lnTo>
                  <a:lnTo>
                    <a:pt x="675538" y="1223987"/>
                  </a:lnTo>
                  <a:lnTo>
                    <a:pt x="693686" y="1190485"/>
                  </a:lnTo>
                  <a:close/>
                </a:path>
                <a:path w="3651250" h="2980690">
                  <a:moveTo>
                    <a:pt x="696633" y="324231"/>
                  </a:moveTo>
                  <a:lnTo>
                    <a:pt x="687578" y="321310"/>
                  </a:lnTo>
                  <a:lnTo>
                    <a:pt x="675868" y="357568"/>
                  </a:lnTo>
                  <a:lnTo>
                    <a:pt x="684936" y="360489"/>
                  </a:lnTo>
                  <a:lnTo>
                    <a:pt x="696633" y="324231"/>
                  </a:lnTo>
                  <a:close/>
                </a:path>
                <a:path w="3651250" h="2980690">
                  <a:moveTo>
                    <a:pt x="700963" y="2919476"/>
                  </a:moveTo>
                  <a:lnTo>
                    <a:pt x="669429" y="2898089"/>
                  </a:lnTo>
                  <a:lnTo>
                    <a:pt x="664083" y="2905976"/>
                  </a:lnTo>
                  <a:lnTo>
                    <a:pt x="695617" y="2927350"/>
                  </a:lnTo>
                  <a:lnTo>
                    <a:pt x="700963" y="2919476"/>
                  </a:lnTo>
                  <a:close/>
                </a:path>
                <a:path w="3651250" h="2980690">
                  <a:moveTo>
                    <a:pt x="705446" y="1926526"/>
                  </a:moveTo>
                  <a:lnTo>
                    <a:pt x="676071" y="1902269"/>
                  </a:lnTo>
                  <a:lnTo>
                    <a:pt x="670001" y="1909610"/>
                  </a:lnTo>
                  <a:lnTo>
                    <a:pt x="699389" y="1933867"/>
                  </a:lnTo>
                  <a:lnTo>
                    <a:pt x="705446" y="1926526"/>
                  </a:lnTo>
                  <a:close/>
                </a:path>
                <a:path w="3651250" h="2980690">
                  <a:moveTo>
                    <a:pt x="710476" y="1042746"/>
                  </a:moveTo>
                  <a:lnTo>
                    <a:pt x="706577" y="1034059"/>
                  </a:lnTo>
                  <a:lnTo>
                    <a:pt x="671817" y="1049655"/>
                  </a:lnTo>
                  <a:lnTo>
                    <a:pt x="675716" y="1058341"/>
                  </a:lnTo>
                  <a:lnTo>
                    <a:pt x="710476" y="1042746"/>
                  </a:lnTo>
                  <a:close/>
                </a:path>
                <a:path w="3651250" h="2980690">
                  <a:moveTo>
                    <a:pt x="710742" y="2728290"/>
                  </a:moveTo>
                  <a:lnTo>
                    <a:pt x="700354" y="2691638"/>
                  </a:lnTo>
                  <a:lnTo>
                    <a:pt x="691184" y="2694228"/>
                  </a:lnTo>
                  <a:lnTo>
                    <a:pt x="701573" y="2730881"/>
                  </a:lnTo>
                  <a:lnTo>
                    <a:pt x="710742" y="2728290"/>
                  </a:lnTo>
                  <a:close/>
                </a:path>
                <a:path w="3651250" h="2980690">
                  <a:moveTo>
                    <a:pt x="710920" y="1807171"/>
                  </a:moveTo>
                  <a:lnTo>
                    <a:pt x="695236" y="1772450"/>
                  </a:lnTo>
                  <a:lnTo>
                    <a:pt x="686549" y="1776374"/>
                  </a:lnTo>
                  <a:lnTo>
                    <a:pt x="702233" y="1811096"/>
                  </a:lnTo>
                  <a:lnTo>
                    <a:pt x="710920" y="1807171"/>
                  </a:lnTo>
                  <a:close/>
                </a:path>
                <a:path w="3651250" h="2980690">
                  <a:moveTo>
                    <a:pt x="712584" y="2831579"/>
                  </a:moveTo>
                  <a:lnTo>
                    <a:pt x="696214" y="2797175"/>
                  </a:lnTo>
                  <a:lnTo>
                    <a:pt x="687616" y="2801264"/>
                  </a:lnTo>
                  <a:lnTo>
                    <a:pt x="703986" y="2835681"/>
                  </a:lnTo>
                  <a:lnTo>
                    <a:pt x="712584" y="2831579"/>
                  </a:lnTo>
                  <a:close/>
                </a:path>
                <a:path w="3651250" h="2980690">
                  <a:moveTo>
                    <a:pt x="717118" y="260781"/>
                  </a:moveTo>
                  <a:lnTo>
                    <a:pt x="708050" y="257848"/>
                  </a:lnTo>
                  <a:lnTo>
                    <a:pt x="696353" y="294106"/>
                  </a:lnTo>
                  <a:lnTo>
                    <a:pt x="705408" y="297040"/>
                  </a:lnTo>
                  <a:lnTo>
                    <a:pt x="717118" y="260781"/>
                  </a:lnTo>
                  <a:close/>
                </a:path>
                <a:path w="3651250" h="2980690">
                  <a:moveTo>
                    <a:pt x="725436" y="1131849"/>
                  </a:moveTo>
                  <a:lnTo>
                    <a:pt x="717054" y="1127315"/>
                  </a:lnTo>
                  <a:lnTo>
                    <a:pt x="698919" y="1160818"/>
                  </a:lnTo>
                  <a:lnTo>
                    <a:pt x="707288" y="1165352"/>
                  </a:lnTo>
                  <a:lnTo>
                    <a:pt x="725436" y="1131849"/>
                  </a:lnTo>
                  <a:close/>
                </a:path>
                <a:path w="3651250" h="2980690">
                  <a:moveTo>
                    <a:pt x="728929" y="2792438"/>
                  </a:moveTo>
                  <a:lnTo>
                    <a:pt x="718540" y="2755785"/>
                  </a:lnTo>
                  <a:lnTo>
                    <a:pt x="709371" y="2758376"/>
                  </a:lnTo>
                  <a:lnTo>
                    <a:pt x="719772" y="2795028"/>
                  </a:lnTo>
                  <a:lnTo>
                    <a:pt x="728929" y="2792438"/>
                  </a:lnTo>
                  <a:close/>
                </a:path>
                <a:path w="3651250" h="2980690">
                  <a:moveTo>
                    <a:pt x="737590" y="197332"/>
                  </a:moveTo>
                  <a:lnTo>
                    <a:pt x="728535" y="194398"/>
                  </a:lnTo>
                  <a:lnTo>
                    <a:pt x="716826" y="230657"/>
                  </a:lnTo>
                  <a:lnTo>
                    <a:pt x="725893" y="233578"/>
                  </a:lnTo>
                  <a:lnTo>
                    <a:pt x="737590" y="197332"/>
                  </a:lnTo>
                  <a:close/>
                </a:path>
                <a:path w="3651250" h="2980690">
                  <a:moveTo>
                    <a:pt x="738378" y="1867928"/>
                  </a:moveTo>
                  <a:lnTo>
                    <a:pt x="722680" y="1833206"/>
                  </a:lnTo>
                  <a:lnTo>
                    <a:pt x="714006" y="1837131"/>
                  </a:lnTo>
                  <a:lnTo>
                    <a:pt x="729691" y="1871853"/>
                  </a:lnTo>
                  <a:lnTo>
                    <a:pt x="738378" y="1867928"/>
                  </a:lnTo>
                  <a:close/>
                </a:path>
                <a:path w="3651250" h="2980690">
                  <a:moveTo>
                    <a:pt x="741222" y="2891790"/>
                  </a:moveTo>
                  <a:lnTo>
                    <a:pt x="724852" y="2857385"/>
                  </a:lnTo>
                  <a:lnTo>
                    <a:pt x="716254" y="2861475"/>
                  </a:lnTo>
                  <a:lnTo>
                    <a:pt x="732624" y="2895892"/>
                  </a:lnTo>
                  <a:lnTo>
                    <a:pt x="741222" y="2891790"/>
                  </a:lnTo>
                  <a:close/>
                </a:path>
                <a:path w="3651250" h="2980690">
                  <a:moveTo>
                    <a:pt x="747115" y="2856585"/>
                  </a:moveTo>
                  <a:lnTo>
                    <a:pt x="736727" y="2819920"/>
                  </a:lnTo>
                  <a:lnTo>
                    <a:pt x="727557" y="2822524"/>
                  </a:lnTo>
                  <a:lnTo>
                    <a:pt x="737958" y="2859176"/>
                  </a:lnTo>
                  <a:lnTo>
                    <a:pt x="747115" y="2856585"/>
                  </a:lnTo>
                  <a:close/>
                </a:path>
                <a:path w="3651250" h="2980690">
                  <a:moveTo>
                    <a:pt x="757186" y="1073226"/>
                  </a:moveTo>
                  <a:lnTo>
                    <a:pt x="748804" y="1068692"/>
                  </a:lnTo>
                  <a:lnTo>
                    <a:pt x="730669" y="1102194"/>
                  </a:lnTo>
                  <a:lnTo>
                    <a:pt x="739038" y="1106728"/>
                  </a:lnTo>
                  <a:lnTo>
                    <a:pt x="757186" y="1073226"/>
                  </a:lnTo>
                  <a:close/>
                </a:path>
                <a:path w="3651250" h="2980690">
                  <a:moveTo>
                    <a:pt x="758075" y="133870"/>
                  </a:moveTo>
                  <a:lnTo>
                    <a:pt x="749007" y="130949"/>
                  </a:lnTo>
                  <a:lnTo>
                    <a:pt x="737311" y="167208"/>
                  </a:lnTo>
                  <a:lnTo>
                    <a:pt x="746379" y="170129"/>
                  </a:lnTo>
                  <a:lnTo>
                    <a:pt x="758075" y="133870"/>
                  </a:lnTo>
                  <a:close/>
                </a:path>
                <a:path w="3651250" h="2980690">
                  <a:moveTo>
                    <a:pt x="790549" y="1001623"/>
                  </a:moveTo>
                  <a:lnTo>
                    <a:pt x="705421" y="998042"/>
                  </a:lnTo>
                  <a:lnTo>
                    <a:pt x="726986" y="1046124"/>
                  </a:lnTo>
                  <a:lnTo>
                    <a:pt x="720763" y="1050480"/>
                  </a:lnTo>
                  <a:lnTo>
                    <a:pt x="731570" y="1056347"/>
                  </a:lnTo>
                  <a:lnTo>
                    <a:pt x="736612" y="1067562"/>
                  </a:lnTo>
                  <a:lnTo>
                    <a:pt x="741426" y="1061681"/>
                  </a:lnTo>
                  <a:lnTo>
                    <a:pt x="787768" y="1086764"/>
                  </a:lnTo>
                  <a:lnTo>
                    <a:pt x="790549" y="1001623"/>
                  </a:lnTo>
                  <a:close/>
                </a:path>
                <a:path w="3651250" h="2980690">
                  <a:moveTo>
                    <a:pt x="791946" y="2892475"/>
                  </a:moveTo>
                  <a:lnTo>
                    <a:pt x="777646" y="2896539"/>
                  </a:lnTo>
                  <a:lnTo>
                    <a:pt x="777760" y="2891002"/>
                  </a:lnTo>
                  <a:lnTo>
                    <a:pt x="759358" y="2899753"/>
                  </a:lnTo>
                  <a:lnTo>
                    <a:pt x="754913" y="2884068"/>
                  </a:lnTo>
                  <a:lnTo>
                    <a:pt x="745756" y="2886672"/>
                  </a:lnTo>
                  <a:lnTo>
                    <a:pt x="750633" y="2903905"/>
                  </a:lnTo>
                  <a:lnTo>
                    <a:pt x="749122" y="2904629"/>
                  </a:lnTo>
                  <a:lnTo>
                    <a:pt x="737743" y="2907855"/>
                  </a:lnTo>
                  <a:lnTo>
                    <a:pt x="734402" y="2901873"/>
                  </a:lnTo>
                  <a:lnTo>
                    <a:pt x="728586" y="2910459"/>
                  </a:lnTo>
                  <a:lnTo>
                    <a:pt x="718642" y="2913265"/>
                  </a:lnTo>
                  <a:lnTo>
                    <a:pt x="722363" y="2917355"/>
                  </a:lnTo>
                  <a:lnTo>
                    <a:pt x="708952" y="2923730"/>
                  </a:lnTo>
                  <a:lnTo>
                    <a:pt x="715886" y="2929166"/>
                  </a:lnTo>
                  <a:lnTo>
                    <a:pt x="691629" y="2964942"/>
                  </a:lnTo>
                  <a:lnTo>
                    <a:pt x="776084" y="2976181"/>
                  </a:lnTo>
                  <a:lnTo>
                    <a:pt x="790232" y="2901569"/>
                  </a:lnTo>
                  <a:lnTo>
                    <a:pt x="791946" y="2892475"/>
                  </a:lnTo>
                  <a:close/>
                </a:path>
                <a:path w="3651250" h="2980690">
                  <a:moveTo>
                    <a:pt x="799630" y="1922538"/>
                  </a:moveTo>
                  <a:lnTo>
                    <a:pt x="765403" y="1938007"/>
                  </a:lnTo>
                  <a:lnTo>
                    <a:pt x="762038" y="1930412"/>
                  </a:lnTo>
                  <a:lnTo>
                    <a:pt x="765822" y="1928698"/>
                  </a:lnTo>
                  <a:lnTo>
                    <a:pt x="750138" y="1893976"/>
                  </a:lnTo>
                  <a:lnTo>
                    <a:pt x="741451" y="1897900"/>
                  </a:lnTo>
                  <a:lnTo>
                    <a:pt x="757148" y="1932609"/>
                  </a:lnTo>
                  <a:lnTo>
                    <a:pt x="760780" y="1930971"/>
                  </a:lnTo>
                  <a:lnTo>
                    <a:pt x="748779" y="1945525"/>
                  </a:lnTo>
                  <a:lnTo>
                    <a:pt x="735647" y="1951456"/>
                  </a:lnTo>
                  <a:lnTo>
                    <a:pt x="727494" y="1944712"/>
                  </a:lnTo>
                  <a:lnTo>
                    <a:pt x="721423" y="1952053"/>
                  </a:lnTo>
                  <a:lnTo>
                    <a:pt x="734479" y="1962835"/>
                  </a:lnTo>
                  <a:lnTo>
                    <a:pt x="713257" y="1988540"/>
                  </a:lnTo>
                  <a:lnTo>
                    <a:pt x="796277" y="2007666"/>
                  </a:lnTo>
                  <a:lnTo>
                    <a:pt x="799630" y="1922538"/>
                  </a:lnTo>
                  <a:close/>
                </a:path>
                <a:path w="3651250" h="2980690">
                  <a:moveTo>
                    <a:pt x="809129" y="84213"/>
                  </a:moveTo>
                  <a:lnTo>
                    <a:pt x="807567" y="73977"/>
                  </a:lnTo>
                  <a:lnTo>
                    <a:pt x="796277" y="0"/>
                  </a:lnTo>
                  <a:lnTo>
                    <a:pt x="736612" y="60807"/>
                  </a:lnTo>
                  <a:lnTo>
                    <a:pt x="768337" y="71056"/>
                  </a:lnTo>
                  <a:lnTo>
                    <a:pt x="757783" y="103759"/>
                  </a:lnTo>
                  <a:lnTo>
                    <a:pt x="766851" y="106680"/>
                  </a:lnTo>
                  <a:lnTo>
                    <a:pt x="777405" y="73977"/>
                  </a:lnTo>
                  <a:lnTo>
                    <a:pt x="809129" y="84213"/>
                  </a:lnTo>
                  <a:close/>
                </a:path>
                <a:path w="3651250" h="2980690">
                  <a:moveTo>
                    <a:pt x="1455597" y="2876905"/>
                  </a:moveTo>
                  <a:lnTo>
                    <a:pt x="1446453" y="2874238"/>
                  </a:lnTo>
                  <a:lnTo>
                    <a:pt x="1435811" y="2910827"/>
                  </a:lnTo>
                  <a:lnTo>
                    <a:pt x="1444955" y="2913481"/>
                  </a:lnTo>
                  <a:lnTo>
                    <a:pt x="1455597" y="2876905"/>
                  </a:lnTo>
                  <a:close/>
                </a:path>
                <a:path w="3651250" h="2980690">
                  <a:moveTo>
                    <a:pt x="1456169" y="2959138"/>
                  </a:moveTo>
                  <a:lnTo>
                    <a:pt x="1450911" y="2951200"/>
                  </a:lnTo>
                  <a:lnTo>
                    <a:pt x="1433677" y="2962592"/>
                  </a:lnTo>
                  <a:lnTo>
                    <a:pt x="1442745" y="2944025"/>
                  </a:lnTo>
                  <a:lnTo>
                    <a:pt x="1436903" y="2941180"/>
                  </a:lnTo>
                  <a:lnTo>
                    <a:pt x="1436979" y="2940926"/>
                  </a:lnTo>
                  <a:lnTo>
                    <a:pt x="1435531" y="2940507"/>
                  </a:lnTo>
                  <a:lnTo>
                    <a:pt x="1434185" y="2939846"/>
                  </a:lnTo>
                  <a:lnTo>
                    <a:pt x="1434071" y="2940088"/>
                  </a:lnTo>
                  <a:lnTo>
                    <a:pt x="1427822" y="2938259"/>
                  </a:lnTo>
                  <a:lnTo>
                    <a:pt x="1417180" y="2974848"/>
                  </a:lnTo>
                  <a:lnTo>
                    <a:pt x="1421752" y="2976181"/>
                  </a:lnTo>
                  <a:lnTo>
                    <a:pt x="1424381" y="2980144"/>
                  </a:lnTo>
                  <a:lnTo>
                    <a:pt x="1456169" y="2959138"/>
                  </a:lnTo>
                  <a:close/>
                </a:path>
                <a:path w="3651250" h="2980690">
                  <a:moveTo>
                    <a:pt x="1471993" y="2884106"/>
                  </a:moveTo>
                  <a:lnTo>
                    <a:pt x="1463433" y="2879928"/>
                  </a:lnTo>
                  <a:lnTo>
                    <a:pt x="1446720" y="2914167"/>
                  </a:lnTo>
                  <a:lnTo>
                    <a:pt x="1455280" y="2918345"/>
                  </a:lnTo>
                  <a:lnTo>
                    <a:pt x="1471993" y="2884106"/>
                  </a:lnTo>
                  <a:close/>
                </a:path>
                <a:path w="3651250" h="2980690">
                  <a:moveTo>
                    <a:pt x="1474228" y="2812885"/>
                  </a:moveTo>
                  <a:lnTo>
                    <a:pt x="1465084" y="2810218"/>
                  </a:lnTo>
                  <a:lnTo>
                    <a:pt x="1454442" y="2846806"/>
                  </a:lnTo>
                  <a:lnTo>
                    <a:pt x="1463586" y="2849473"/>
                  </a:lnTo>
                  <a:lnTo>
                    <a:pt x="1474228" y="2812885"/>
                  </a:lnTo>
                  <a:close/>
                </a:path>
                <a:path w="3651250" h="2980690">
                  <a:moveTo>
                    <a:pt x="1477327" y="2022589"/>
                  </a:moveTo>
                  <a:lnTo>
                    <a:pt x="1450187" y="2006930"/>
                  </a:lnTo>
                  <a:lnTo>
                    <a:pt x="1474101" y="1986673"/>
                  </a:lnTo>
                  <a:lnTo>
                    <a:pt x="1467942" y="1979409"/>
                  </a:lnTo>
                  <a:lnTo>
                    <a:pt x="1438871" y="2004034"/>
                  </a:lnTo>
                  <a:lnTo>
                    <a:pt x="1441945" y="2007666"/>
                  </a:lnTo>
                  <a:lnTo>
                    <a:pt x="1439570" y="2011794"/>
                  </a:lnTo>
                  <a:lnTo>
                    <a:pt x="1472565" y="2030844"/>
                  </a:lnTo>
                  <a:lnTo>
                    <a:pt x="1477327" y="2022589"/>
                  </a:lnTo>
                  <a:close/>
                </a:path>
                <a:path w="3651250" h="2980690">
                  <a:moveTo>
                    <a:pt x="1492859" y="2748864"/>
                  </a:moveTo>
                  <a:lnTo>
                    <a:pt x="1483715" y="2746210"/>
                  </a:lnTo>
                  <a:lnTo>
                    <a:pt x="1473073" y="2782786"/>
                  </a:lnTo>
                  <a:lnTo>
                    <a:pt x="1482217" y="2785453"/>
                  </a:lnTo>
                  <a:lnTo>
                    <a:pt x="1492859" y="2748864"/>
                  </a:lnTo>
                  <a:close/>
                </a:path>
                <a:path w="3651250" h="2980690">
                  <a:moveTo>
                    <a:pt x="1501241" y="2824188"/>
                  </a:moveTo>
                  <a:lnTo>
                    <a:pt x="1492681" y="2820009"/>
                  </a:lnTo>
                  <a:lnTo>
                    <a:pt x="1475968" y="2854248"/>
                  </a:lnTo>
                  <a:lnTo>
                    <a:pt x="1484528" y="2858427"/>
                  </a:lnTo>
                  <a:lnTo>
                    <a:pt x="1501241" y="2824188"/>
                  </a:lnTo>
                  <a:close/>
                </a:path>
                <a:path w="3651250" h="2980690">
                  <a:moveTo>
                    <a:pt x="1511490" y="2684843"/>
                  </a:moveTo>
                  <a:lnTo>
                    <a:pt x="1502346" y="2682189"/>
                  </a:lnTo>
                  <a:lnTo>
                    <a:pt x="1491703" y="2718765"/>
                  </a:lnTo>
                  <a:lnTo>
                    <a:pt x="1500847" y="2721432"/>
                  </a:lnTo>
                  <a:lnTo>
                    <a:pt x="1511490" y="2684843"/>
                  </a:lnTo>
                  <a:close/>
                </a:path>
                <a:path w="3651250" h="2980690">
                  <a:moveTo>
                    <a:pt x="1511795" y="2922384"/>
                  </a:moveTo>
                  <a:lnTo>
                    <a:pt x="1506537" y="2914434"/>
                  </a:lnTo>
                  <a:lnTo>
                    <a:pt x="1474749" y="2935440"/>
                  </a:lnTo>
                  <a:lnTo>
                    <a:pt x="1480007" y="2943390"/>
                  </a:lnTo>
                  <a:lnTo>
                    <a:pt x="1511795" y="2922384"/>
                  </a:lnTo>
                  <a:close/>
                </a:path>
                <a:path w="3651250" h="2980690">
                  <a:moveTo>
                    <a:pt x="1524977" y="1943582"/>
                  </a:moveTo>
                  <a:lnTo>
                    <a:pt x="1518818" y="1936318"/>
                  </a:lnTo>
                  <a:lnTo>
                    <a:pt x="1489748" y="1960943"/>
                  </a:lnTo>
                  <a:lnTo>
                    <a:pt x="1495907" y="1968207"/>
                  </a:lnTo>
                  <a:lnTo>
                    <a:pt x="1524977" y="1943582"/>
                  </a:lnTo>
                  <a:close/>
                </a:path>
                <a:path w="3651250" h="2980690">
                  <a:moveTo>
                    <a:pt x="1530121" y="2620822"/>
                  </a:moveTo>
                  <a:lnTo>
                    <a:pt x="1520977" y="2618168"/>
                  </a:lnTo>
                  <a:lnTo>
                    <a:pt x="1510322" y="2654744"/>
                  </a:lnTo>
                  <a:lnTo>
                    <a:pt x="1519478" y="2657411"/>
                  </a:lnTo>
                  <a:lnTo>
                    <a:pt x="1530121" y="2620822"/>
                  </a:lnTo>
                  <a:close/>
                </a:path>
                <a:path w="3651250" h="2980690">
                  <a:moveTo>
                    <a:pt x="1530489" y="2764269"/>
                  </a:moveTo>
                  <a:lnTo>
                    <a:pt x="1521929" y="2760091"/>
                  </a:lnTo>
                  <a:lnTo>
                    <a:pt x="1505216" y="2794330"/>
                  </a:lnTo>
                  <a:lnTo>
                    <a:pt x="1513776" y="2798508"/>
                  </a:lnTo>
                  <a:lnTo>
                    <a:pt x="1530489" y="2764269"/>
                  </a:lnTo>
                  <a:close/>
                </a:path>
                <a:path w="3651250" h="2980690">
                  <a:moveTo>
                    <a:pt x="1535074" y="2055914"/>
                  </a:moveTo>
                  <a:lnTo>
                    <a:pt x="1502079" y="2036876"/>
                  </a:lnTo>
                  <a:lnTo>
                    <a:pt x="1497317" y="2045119"/>
                  </a:lnTo>
                  <a:lnTo>
                    <a:pt x="1530324" y="2064169"/>
                  </a:lnTo>
                  <a:lnTo>
                    <a:pt x="1535074" y="2055914"/>
                  </a:lnTo>
                  <a:close/>
                </a:path>
                <a:path w="3651250" h="2980690">
                  <a:moveTo>
                    <a:pt x="1548752" y="2556802"/>
                  </a:moveTo>
                  <a:lnTo>
                    <a:pt x="1539595" y="2554147"/>
                  </a:lnTo>
                  <a:lnTo>
                    <a:pt x="1528953" y="2590723"/>
                  </a:lnTo>
                  <a:lnTo>
                    <a:pt x="1538097" y="2593390"/>
                  </a:lnTo>
                  <a:lnTo>
                    <a:pt x="1548752" y="2556802"/>
                  </a:lnTo>
                  <a:close/>
                </a:path>
                <a:path w="3651250" h="2980690">
                  <a:moveTo>
                    <a:pt x="1559737" y="2704350"/>
                  </a:moveTo>
                  <a:lnTo>
                    <a:pt x="1551178" y="2700172"/>
                  </a:lnTo>
                  <a:lnTo>
                    <a:pt x="1534464" y="2734411"/>
                  </a:lnTo>
                  <a:lnTo>
                    <a:pt x="1543024" y="2738590"/>
                  </a:lnTo>
                  <a:lnTo>
                    <a:pt x="1559737" y="2704350"/>
                  </a:lnTo>
                  <a:close/>
                </a:path>
                <a:path w="3651250" h="2980690">
                  <a:moveTo>
                    <a:pt x="1567370" y="2492781"/>
                  </a:moveTo>
                  <a:lnTo>
                    <a:pt x="1558226" y="2490127"/>
                  </a:lnTo>
                  <a:lnTo>
                    <a:pt x="1547583" y="2526703"/>
                  </a:lnTo>
                  <a:lnTo>
                    <a:pt x="1556727" y="2529370"/>
                  </a:lnTo>
                  <a:lnTo>
                    <a:pt x="1567370" y="2492781"/>
                  </a:lnTo>
                  <a:close/>
                </a:path>
                <a:path w="3651250" h="2980690">
                  <a:moveTo>
                    <a:pt x="1567421" y="2885617"/>
                  </a:moveTo>
                  <a:lnTo>
                    <a:pt x="1562163" y="2877667"/>
                  </a:lnTo>
                  <a:lnTo>
                    <a:pt x="1530375" y="2898673"/>
                  </a:lnTo>
                  <a:lnTo>
                    <a:pt x="1535633" y="2906623"/>
                  </a:lnTo>
                  <a:lnTo>
                    <a:pt x="1567421" y="2885617"/>
                  </a:lnTo>
                  <a:close/>
                </a:path>
                <a:path w="3651250" h="2980690">
                  <a:moveTo>
                    <a:pt x="1575854" y="1900491"/>
                  </a:moveTo>
                  <a:lnTo>
                    <a:pt x="1569694" y="1893214"/>
                  </a:lnTo>
                  <a:lnTo>
                    <a:pt x="1540624" y="1917839"/>
                  </a:lnTo>
                  <a:lnTo>
                    <a:pt x="1546783" y="1925116"/>
                  </a:lnTo>
                  <a:lnTo>
                    <a:pt x="1575854" y="1900491"/>
                  </a:lnTo>
                  <a:close/>
                </a:path>
                <a:path w="3651250" h="2980690">
                  <a:moveTo>
                    <a:pt x="1586001" y="2428760"/>
                  </a:moveTo>
                  <a:lnTo>
                    <a:pt x="1576857" y="2426106"/>
                  </a:lnTo>
                  <a:lnTo>
                    <a:pt x="1566214" y="2462682"/>
                  </a:lnTo>
                  <a:lnTo>
                    <a:pt x="1575358" y="2465349"/>
                  </a:lnTo>
                  <a:lnTo>
                    <a:pt x="1586001" y="2428760"/>
                  </a:lnTo>
                  <a:close/>
                </a:path>
                <a:path w="3651250" h="2980690">
                  <a:moveTo>
                    <a:pt x="1588973" y="2644432"/>
                  </a:moveTo>
                  <a:lnTo>
                    <a:pt x="1580413" y="2640253"/>
                  </a:lnTo>
                  <a:lnTo>
                    <a:pt x="1563712" y="2674493"/>
                  </a:lnTo>
                  <a:lnTo>
                    <a:pt x="1572272" y="2678671"/>
                  </a:lnTo>
                  <a:lnTo>
                    <a:pt x="1588973" y="2644432"/>
                  </a:lnTo>
                  <a:close/>
                </a:path>
                <a:path w="3651250" h="2980690">
                  <a:moveTo>
                    <a:pt x="1592821" y="2089251"/>
                  </a:moveTo>
                  <a:lnTo>
                    <a:pt x="1559826" y="2070201"/>
                  </a:lnTo>
                  <a:lnTo>
                    <a:pt x="1555064" y="2078456"/>
                  </a:lnTo>
                  <a:lnTo>
                    <a:pt x="1588071" y="2097493"/>
                  </a:lnTo>
                  <a:lnTo>
                    <a:pt x="1592821" y="2089251"/>
                  </a:lnTo>
                  <a:close/>
                </a:path>
                <a:path w="3651250" h="2980690">
                  <a:moveTo>
                    <a:pt x="1604632" y="2364752"/>
                  </a:moveTo>
                  <a:lnTo>
                    <a:pt x="1595488" y="2362085"/>
                  </a:lnTo>
                  <a:lnTo>
                    <a:pt x="1584845" y="2398661"/>
                  </a:lnTo>
                  <a:lnTo>
                    <a:pt x="1593989" y="2401328"/>
                  </a:lnTo>
                  <a:lnTo>
                    <a:pt x="1604632" y="2364752"/>
                  </a:lnTo>
                  <a:close/>
                </a:path>
                <a:path w="3651250" h="2980690">
                  <a:moveTo>
                    <a:pt x="1618221" y="2584513"/>
                  </a:moveTo>
                  <a:lnTo>
                    <a:pt x="1609661" y="2580335"/>
                  </a:lnTo>
                  <a:lnTo>
                    <a:pt x="1592948" y="2614574"/>
                  </a:lnTo>
                  <a:lnTo>
                    <a:pt x="1601508" y="2618752"/>
                  </a:lnTo>
                  <a:lnTo>
                    <a:pt x="1618221" y="2584513"/>
                  </a:lnTo>
                  <a:close/>
                </a:path>
                <a:path w="3651250" h="2980690">
                  <a:moveTo>
                    <a:pt x="1623047" y="2848851"/>
                  </a:moveTo>
                  <a:lnTo>
                    <a:pt x="1617789" y="2840913"/>
                  </a:lnTo>
                  <a:lnTo>
                    <a:pt x="1586001" y="2861919"/>
                  </a:lnTo>
                  <a:lnTo>
                    <a:pt x="1591259" y="2869857"/>
                  </a:lnTo>
                  <a:lnTo>
                    <a:pt x="1623047" y="2848851"/>
                  </a:lnTo>
                  <a:close/>
                </a:path>
                <a:path w="3651250" h="2980690">
                  <a:moveTo>
                    <a:pt x="1623263" y="2300732"/>
                  </a:moveTo>
                  <a:lnTo>
                    <a:pt x="1614119" y="2298065"/>
                  </a:lnTo>
                  <a:lnTo>
                    <a:pt x="1603476" y="2334653"/>
                  </a:lnTo>
                  <a:lnTo>
                    <a:pt x="1612620" y="2337308"/>
                  </a:lnTo>
                  <a:lnTo>
                    <a:pt x="1623263" y="2300732"/>
                  </a:lnTo>
                  <a:close/>
                </a:path>
                <a:path w="3651250" h="2980690">
                  <a:moveTo>
                    <a:pt x="1626730" y="1857387"/>
                  </a:moveTo>
                  <a:lnTo>
                    <a:pt x="1620570" y="1850123"/>
                  </a:lnTo>
                  <a:lnTo>
                    <a:pt x="1591500" y="1874748"/>
                  </a:lnTo>
                  <a:lnTo>
                    <a:pt x="1597660" y="1882013"/>
                  </a:lnTo>
                  <a:lnTo>
                    <a:pt x="1626730" y="1857387"/>
                  </a:lnTo>
                  <a:close/>
                </a:path>
                <a:path w="3651250" h="2980690">
                  <a:moveTo>
                    <a:pt x="1641894" y="2236711"/>
                  </a:moveTo>
                  <a:lnTo>
                    <a:pt x="1632750" y="2234044"/>
                  </a:lnTo>
                  <a:lnTo>
                    <a:pt x="1622094" y="2270633"/>
                  </a:lnTo>
                  <a:lnTo>
                    <a:pt x="1631238" y="2273287"/>
                  </a:lnTo>
                  <a:lnTo>
                    <a:pt x="1641894" y="2236711"/>
                  </a:lnTo>
                  <a:close/>
                </a:path>
                <a:path w="3651250" h="2980690">
                  <a:moveTo>
                    <a:pt x="1647469" y="2524595"/>
                  </a:moveTo>
                  <a:lnTo>
                    <a:pt x="1638909" y="2520416"/>
                  </a:lnTo>
                  <a:lnTo>
                    <a:pt x="1622196" y="2554655"/>
                  </a:lnTo>
                  <a:lnTo>
                    <a:pt x="1630756" y="2558834"/>
                  </a:lnTo>
                  <a:lnTo>
                    <a:pt x="1647469" y="2524595"/>
                  </a:lnTo>
                  <a:close/>
                </a:path>
                <a:path w="3651250" h="2980690">
                  <a:moveTo>
                    <a:pt x="1650568" y="2122576"/>
                  </a:moveTo>
                  <a:lnTo>
                    <a:pt x="1617573" y="2103526"/>
                  </a:lnTo>
                  <a:lnTo>
                    <a:pt x="1612811" y="2111781"/>
                  </a:lnTo>
                  <a:lnTo>
                    <a:pt x="1645818" y="2130818"/>
                  </a:lnTo>
                  <a:lnTo>
                    <a:pt x="1650568" y="2122576"/>
                  </a:lnTo>
                  <a:close/>
                </a:path>
                <a:path w="3651250" h="2980690">
                  <a:moveTo>
                    <a:pt x="1660512" y="2172690"/>
                  </a:moveTo>
                  <a:lnTo>
                    <a:pt x="1651368" y="2170023"/>
                  </a:lnTo>
                  <a:lnTo>
                    <a:pt x="1640725" y="2206612"/>
                  </a:lnTo>
                  <a:lnTo>
                    <a:pt x="1649869" y="2209266"/>
                  </a:lnTo>
                  <a:lnTo>
                    <a:pt x="1660512" y="2172690"/>
                  </a:lnTo>
                  <a:close/>
                </a:path>
                <a:path w="3651250" h="2980690">
                  <a:moveTo>
                    <a:pt x="1676717" y="2464676"/>
                  </a:moveTo>
                  <a:lnTo>
                    <a:pt x="1668157" y="2460498"/>
                  </a:lnTo>
                  <a:lnTo>
                    <a:pt x="1651444" y="2494737"/>
                  </a:lnTo>
                  <a:lnTo>
                    <a:pt x="1660004" y="2498915"/>
                  </a:lnTo>
                  <a:lnTo>
                    <a:pt x="1676717" y="2464676"/>
                  </a:lnTo>
                  <a:close/>
                </a:path>
                <a:path w="3651250" h="2980690">
                  <a:moveTo>
                    <a:pt x="1677606" y="1814296"/>
                  </a:moveTo>
                  <a:lnTo>
                    <a:pt x="1671447" y="1807032"/>
                  </a:lnTo>
                  <a:lnTo>
                    <a:pt x="1642376" y="1831657"/>
                  </a:lnTo>
                  <a:lnTo>
                    <a:pt x="1648536" y="1838921"/>
                  </a:lnTo>
                  <a:lnTo>
                    <a:pt x="1677606" y="1814296"/>
                  </a:lnTo>
                  <a:close/>
                </a:path>
                <a:path w="3651250" h="2980690">
                  <a:moveTo>
                    <a:pt x="1678660" y="2812097"/>
                  </a:moveTo>
                  <a:lnTo>
                    <a:pt x="1673415" y="2804147"/>
                  </a:lnTo>
                  <a:lnTo>
                    <a:pt x="1641627" y="2825153"/>
                  </a:lnTo>
                  <a:lnTo>
                    <a:pt x="1646885" y="2833103"/>
                  </a:lnTo>
                  <a:lnTo>
                    <a:pt x="1678660" y="2812097"/>
                  </a:lnTo>
                  <a:close/>
                </a:path>
                <a:path w="3651250" h="2980690">
                  <a:moveTo>
                    <a:pt x="1679143" y="2108670"/>
                  </a:moveTo>
                  <a:lnTo>
                    <a:pt x="1669999" y="2106003"/>
                  </a:lnTo>
                  <a:lnTo>
                    <a:pt x="1659356" y="2142591"/>
                  </a:lnTo>
                  <a:lnTo>
                    <a:pt x="1668500" y="2145246"/>
                  </a:lnTo>
                  <a:lnTo>
                    <a:pt x="1679143" y="2108670"/>
                  </a:lnTo>
                  <a:close/>
                </a:path>
                <a:path w="3651250" h="2980690">
                  <a:moveTo>
                    <a:pt x="1697774" y="2044649"/>
                  </a:moveTo>
                  <a:lnTo>
                    <a:pt x="1688630" y="2041982"/>
                  </a:lnTo>
                  <a:lnTo>
                    <a:pt x="1677987" y="2078570"/>
                  </a:lnTo>
                  <a:lnTo>
                    <a:pt x="1687131" y="2081225"/>
                  </a:lnTo>
                  <a:lnTo>
                    <a:pt x="1697774" y="2044649"/>
                  </a:lnTo>
                  <a:close/>
                </a:path>
                <a:path w="3651250" h="2980690">
                  <a:moveTo>
                    <a:pt x="1705965" y="2404757"/>
                  </a:moveTo>
                  <a:lnTo>
                    <a:pt x="1697405" y="2400579"/>
                  </a:lnTo>
                  <a:lnTo>
                    <a:pt x="1680692" y="2434818"/>
                  </a:lnTo>
                  <a:lnTo>
                    <a:pt x="1689252" y="2438997"/>
                  </a:lnTo>
                  <a:lnTo>
                    <a:pt x="1705965" y="2404757"/>
                  </a:lnTo>
                  <a:close/>
                </a:path>
                <a:path w="3651250" h="2980690">
                  <a:moveTo>
                    <a:pt x="1708327" y="2155901"/>
                  </a:moveTo>
                  <a:lnTo>
                    <a:pt x="1675320" y="2136864"/>
                  </a:lnTo>
                  <a:lnTo>
                    <a:pt x="1670558" y="2145106"/>
                  </a:lnTo>
                  <a:lnTo>
                    <a:pt x="1703565" y="2164156"/>
                  </a:lnTo>
                  <a:lnTo>
                    <a:pt x="1708327" y="2155901"/>
                  </a:lnTo>
                  <a:close/>
                </a:path>
                <a:path w="3651250" h="2980690">
                  <a:moveTo>
                    <a:pt x="1716405" y="1980628"/>
                  </a:moveTo>
                  <a:lnTo>
                    <a:pt x="1707261" y="1977961"/>
                  </a:lnTo>
                  <a:lnTo>
                    <a:pt x="1696618" y="2014550"/>
                  </a:lnTo>
                  <a:lnTo>
                    <a:pt x="1705762" y="2017204"/>
                  </a:lnTo>
                  <a:lnTo>
                    <a:pt x="1716405" y="1980628"/>
                  </a:lnTo>
                  <a:close/>
                </a:path>
                <a:path w="3651250" h="2980690">
                  <a:moveTo>
                    <a:pt x="1728482" y="1771205"/>
                  </a:moveTo>
                  <a:lnTo>
                    <a:pt x="1722323" y="1763941"/>
                  </a:lnTo>
                  <a:lnTo>
                    <a:pt x="1693252" y="1788566"/>
                  </a:lnTo>
                  <a:lnTo>
                    <a:pt x="1699412" y="1795830"/>
                  </a:lnTo>
                  <a:lnTo>
                    <a:pt x="1728482" y="1771205"/>
                  </a:lnTo>
                  <a:close/>
                </a:path>
                <a:path w="3651250" h="2980690">
                  <a:moveTo>
                    <a:pt x="1734286" y="2775331"/>
                  </a:moveTo>
                  <a:lnTo>
                    <a:pt x="1729041" y="2767380"/>
                  </a:lnTo>
                  <a:lnTo>
                    <a:pt x="1697253" y="2788386"/>
                  </a:lnTo>
                  <a:lnTo>
                    <a:pt x="1702511" y="2796336"/>
                  </a:lnTo>
                  <a:lnTo>
                    <a:pt x="1734286" y="2775331"/>
                  </a:lnTo>
                  <a:close/>
                </a:path>
                <a:path w="3651250" h="2980690">
                  <a:moveTo>
                    <a:pt x="1735035" y="1916607"/>
                  </a:moveTo>
                  <a:lnTo>
                    <a:pt x="1725891" y="1913940"/>
                  </a:lnTo>
                  <a:lnTo>
                    <a:pt x="1715236" y="1950529"/>
                  </a:lnTo>
                  <a:lnTo>
                    <a:pt x="1724393" y="1953196"/>
                  </a:lnTo>
                  <a:lnTo>
                    <a:pt x="1735035" y="1916607"/>
                  </a:lnTo>
                  <a:close/>
                </a:path>
                <a:path w="3651250" h="2980690">
                  <a:moveTo>
                    <a:pt x="1735213" y="2344839"/>
                  </a:moveTo>
                  <a:lnTo>
                    <a:pt x="1726653" y="2340660"/>
                  </a:lnTo>
                  <a:lnTo>
                    <a:pt x="1709940" y="2374900"/>
                  </a:lnTo>
                  <a:lnTo>
                    <a:pt x="1718500" y="2379078"/>
                  </a:lnTo>
                  <a:lnTo>
                    <a:pt x="1735213" y="2344839"/>
                  </a:lnTo>
                  <a:close/>
                </a:path>
                <a:path w="3651250" h="2980690">
                  <a:moveTo>
                    <a:pt x="1753666" y="1852587"/>
                  </a:moveTo>
                  <a:lnTo>
                    <a:pt x="1744510" y="1849932"/>
                  </a:lnTo>
                  <a:lnTo>
                    <a:pt x="1733867" y="1886508"/>
                  </a:lnTo>
                  <a:lnTo>
                    <a:pt x="1743011" y="1889175"/>
                  </a:lnTo>
                  <a:lnTo>
                    <a:pt x="1753666" y="1852587"/>
                  </a:lnTo>
                  <a:close/>
                </a:path>
                <a:path w="3651250" h="2980690">
                  <a:moveTo>
                    <a:pt x="1764461" y="2284920"/>
                  </a:moveTo>
                  <a:lnTo>
                    <a:pt x="1755902" y="2280742"/>
                  </a:lnTo>
                  <a:lnTo>
                    <a:pt x="1739188" y="2314981"/>
                  </a:lnTo>
                  <a:lnTo>
                    <a:pt x="1747748" y="2319159"/>
                  </a:lnTo>
                  <a:lnTo>
                    <a:pt x="1764461" y="2284920"/>
                  </a:lnTo>
                  <a:close/>
                </a:path>
                <a:path w="3651250" h="2980690">
                  <a:moveTo>
                    <a:pt x="1766074" y="2189226"/>
                  </a:moveTo>
                  <a:lnTo>
                    <a:pt x="1733067" y="2170188"/>
                  </a:lnTo>
                  <a:lnTo>
                    <a:pt x="1728304" y="2178431"/>
                  </a:lnTo>
                  <a:lnTo>
                    <a:pt x="1761312" y="2197481"/>
                  </a:lnTo>
                  <a:lnTo>
                    <a:pt x="1766074" y="2189226"/>
                  </a:lnTo>
                  <a:close/>
                </a:path>
                <a:path w="3651250" h="2980690">
                  <a:moveTo>
                    <a:pt x="1772285" y="1788566"/>
                  </a:moveTo>
                  <a:lnTo>
                    <a:pt x="1763141" y="1785912"/>
                  </a:lnTo>
                  <a:lnTo>
                    <a:pt x="1752498" y="1822488"/>
                  </a:lnTo>
                  <a:lnTo>
                    <a:pt x="1761642" y="1825155"/>
                  </a:lnTo>
                  <a:lnTo>
                    <a:pt x="1772285" y="1788566"/>
                  </a:lnTo>
                  <a:close/>
                </a:path>
                <a:path w="3651250" h="2980690">
                  <a:moveTo>
                    <a:pt x="1779358" y="1728114"/>
                  </a:moveTo>
                  <a:lnTo>
                    <a:pt x="1773199" y="1720837"/>
                  </a:lnTo>
                  <a:lnTo>
                    <a:pt x="1744129" y="1745462"/>
                  </a:lnTo>
                  <a:lnTo>
                    <a:pt x="1750288" y="1752739"/>
                  </a:lnTo>
                  <a:lnTo>
                    <a:pt x="1779358" y="1728114"/>
                  </a:lnTo>
                  <a:close/>
                </a:path>
                <a:path w="3651250" h="2980690">
                  <a:moveTo>
                    <a:pt x="1789912" y="2738564"/>
                  </a:moveTo>
                  <a:lnTo>
                    <a:pt x="1784667" y="2730627"/>
                  </a:lnTo>
                  <a:lnTo>
                    <a:pt x="1752879" y="2751632"/>
                  </a:lnTo>
                  <a:lnTo>
                    <a:pt x="1758124" y="2759570"/>
                  </a:lnTo>
                  <a:lnTo>
                    <a:pt x="1789912" y="2738564"/>
                  </a:lnTo>
                  <a:close/>
                </a:path>
                <a:path w="3651250" h="2980690">
                  <a:moveTo>
                    <a:pt x="1790915" y="1724545"/>
                  </a:moveTo>
                  <a:lnTo>
                    <a:pt x="1781771" y="1721891"/>
                  </a:lnTo>
                  <a:lnTo>
                    <a:pt x="1771129" y="1758467"/>
                  </a:lnTo>
                  <a:lnTo>
                    <a:pt x="1780273" y="1761134"/>
                  </a:lnTo>
                  <a:lnTo>
                    <a:pt x="1790915" y="1724545"/>
                  </a:lnTo>
                  <a:close/>
                </a:path>
                <a:path w="3651250" h="2980690">
                  <a:moveTo>
                    <a:pt x="1793697" y="2225002"/>
                  </a:moveTo>
                  <a:lnTo>
                    <a:pt x="1785137" y="2220823"/>
                  </a:lnTo>
                  <a:lnTo>
                    <a:pt x="1768424" y="2255062"/>
                  </a:lnTo>
                  <a:lnTo>
                    <a:pt x="1776984" y="2259241"/>
                  </a:lnTo>
                  <a:lnTo>
                    <a:pt x="1793697" y="2225002"/>
                  </a:lnTo>
                  <a:close/>
                </a:path>
                <a:path w="3651250" h="2980690">
                  <a:moveTo>
                    <a:pt x="1809546" y="1660525"/>
                  </a:moveTo>
                  <a:lnTo>
                    <a:pt x="1800402" y="1657870"/>
                  </a:lnTo>
                  <a:lnTo>
                    <a:pt x="1789760" y="1694446"/>
                  </a:lnTo>
                  <a:lnTo>
                    <a:pt x="1798904" y="1697113"/>
                  </a:lnTo>
                  <a:lnTo>
                    <a:pt x="1809546" y="1660525"/>
                  </a:lnTo>
                  <a:close/>
                </a:path>
                <a:path w="3651250" h="2980690">
                  <a:moveTo>
                    <a:pt x="1822945" y="2165083"/>
                  </a:moveTo>
                  <a:lnTo>
                    <a:pt x="1814385" y="2160905"/>
                  </a:lnTo>
                  <a:lnTo>
                    <a:pt x="1797672" y="2195144"/>
                  </a:lnTo>
                  <a:lnTo>
                    <a:pt x="1806232" y="2199322"/>
                  </a:lnTo>
                  <a:lnTo>
                    <a:pt x="1822945" y="2165083"/>
                  </a:lnTo>
                  <a:close/>
                </a:path>
                <a:path w="3651250" h="2980690">
                  <a:moveTo>
                    <a:pt x="1823821" y="2222563"/>
                  </a:moveTo>
                  <a:lnTo>
                    <a:pt x="1790814" y="2203513"/>
                  </a:lnTo>
                  <a:lnTo>
                    <a:pt x="1786051" y="2211768"/>
                  </a:lnTo>
                  <a:lnTo>
                    <a:pt x="1819059" y="2230805"/>
                  </a:lnTo>
                  <a:lnTo>
                    <a:pt x="1823821" y="2222563"/>
                  </a:lnTo>
                  <a:close/>
                </a:path>
                <a:path w="3651250" h="2980690">
                  <a:moveTo>
                    <a:pt x="1828177" y="1596504"/>
                  </a:moveTo>
                  <a:lnTo>
                    <a:pt x="1819033" y="1593850"/>
                  </a:lnTo>
                  <a:lnTo>
                    <a:pt x="1808391" y="1630426"/>
                  </a:lnTo>
                  <a:lnTo>
                    <a:pt x="1817535" y="1633093"/>
                  </a:lnTo>
                  <a:lnTo>
                    <a:pt x="1828177" y="1596504"/>
                  </a:lnTo>
                  <a:close/>
                </a:path>
                <a:path w="3651250" h="2980690">
                  <a:moveTo>
                    <a:pt x="1830235" y="1685010"/>
                  </a:moveTo>
                  <a:lnTo>
                    <a:pt x="1824075" y="1677746"/>
                  </a:lnTo>
                  <a:lnTo>
                    <a:pt x="1795005" y="1702371"/>
                  </a:lnTo>
                  <a:lnTo>
                    <a:pt x="1801164" y="1709635"/>
                  </a:lnTo>
                  <a:lnTo>
                    <a:pt x="1830235" y="1685010"/>
                  </a:lnTo>
                  <a:close/>
                </a:path>
                <a:path w="3651250" h="2980690">
                  <a:moveTo>
                    <a:pt x="1845538" y="2701810"/>
                  </a:moveTo>
                  <a:lnTo>
                    <a:pt x="1840293" y="2693860"/>
                  </a:lnTo>
                  <a:lnTo>
                    <a:pt x="1808505" y="2714866"/>
                  </a:lnTo>
                  <a:lnTo>
                    <a:pt x="1813750" y="2722816"/>
                  </a:lnTo>
                  <a:lnTo>
                    <a:pt x="1845538" y="2701810"/>
                  </a:lnTo>
                  <a:close/>
                </a:path>
                <a:path w="3651250" h="2980690">
                  <a:moveTo>
                    <a:pt x="1846808" y="1532483"/>
                  </a:moveTo>
                  <a:lnTo>
                    <a:pt x="1837664" y="1529829"/>
                  </a:lnTo>
                  <a:lnTo>
                    <a:pt x="1827009" y="1566405"/>
                  </a:lnTo>
                  <a:lnTo>
                    <a:pt x="1836153" y="1569072"/>
                  </a:lnTo>
                  <a:lnTo>
                    <a:pt x="1846808" y="1532483"/>
                  </a:lnTo>
                  <a:close/>
                </a:path>
                <a:path w="3651250" h="2980690">
                  <a:moveTo>
                    <a:pt x="1852193" y="2105164"/>
                  </a:moveTo>
                  <a:lnTo>
                    <a:pt x="1843633" y="2100986"/>
                  </a:lnTo>
                  <a:lnTo>
                    <a:pt x="1826920" y="2135225"/>
                  </a:lnTo>
                  <a:lnTo>
                    <a:pt x="1835480" y="2139404"/>
                  </a:lnTo>
                  <a:lnTo>
                    <a:pt x="1852193" y="2105164"/>
                  </a:lnTo>
                  <a:close/>
                </a:path>
                <a:path w="3651250" h="2980690">
                  <a:moveTo>
                    <a:pt x="1865426" y="1468475"/>
                  </a:moveTo>
                  <a:lnTo>
                    <a:pt x="1856282" y="1465808"/>
                  </a:lnTo>
                  <a:lnTo>
                    <a:pt x="1845640" y="1502397"/>
                  </a:lnTo>
                  <a:lnTo>
                    <a:pt x="1854784" y="1505051"/>
                  </a:lnTo>
                  <a:lnTo>
                    <a:pt x="1865426" y="1468475"/>
                  </a:lnTo>
                  <a:close/>
                </a:path>
                <a:path w="3651250" h="2980690">
                  <a:moveTo>
                    <a:pt x="1881111" y="1641919"/>
                  </a:moveTo>
                  <a:lnTo>
                    <a:pt x="1874951" y="1634655"/>
                  </a:lnTo>
                  <a:lnTo>
                    <a:pt x="1845881" y="1659280"/>
                  </a:lnTo>
                  <a:lnTo>
                    <a:pt x="1852041" y="1666544"/>
                  </a:lnTo>
                  <a:lnTo>
                    <a:pt x="1881111" y="1641919"/>
                  </a:lnTo>
                  <a:close/>
                </a:path>
                <a:path w="3651250" h="2980690">
                  <a:moveTo>
                    <a:pt x="1881441" y="2045246"/>
                  </a:moveTo>
                  <a:lnTo>
                    <a:pt x="1872881" y="2041067"/>
                  </a:lnTo>
                  <a:lnTo>
                    <a:pt x="1856168" y="2075307"/>
                  </a:lnTo>
                  <a:lnTo>
                    <a:pt x="1864728" y="2079485"/>
                  </a:lnTo>
                  <a:lnTo>
                    <a:pt x="1881441" y="2045246"/>
                  </a:lnTo>
                  <a:close/>
                </a:path>
                <a:path w="3651250" h="2980690">
                  <a:moveTo>
                    <a:pt x="1881568" y="2255888"/>
                  </a:moveTo>
                  <a:lnTo>
                    <a:pt x="1848561" y="2236838"/>
                  </a:lnTo>
                  <a:lnTo>
                    <a:pt x="1843798" y="2245093"/>
                  </a:lnTo>
                  <a:lnTo>
                    <a:pt x="1876806" y="2264143"/>
                  </a:lnTo>
                  <a:lnTo>
                    <a:pt x="1881568" y="2255888"/>
                  </a:lnTo>
                  <a:close/>
                </a:path>
                <a:path w="3651250" h="2980690">
                  <a:moveTo>
                    <a:pt x="1884057" y="1404454"/>
                  </a:moveTo>
                  <a:lnTo>
                    <a:pt x="1874913" y="1401787"/>
                  </a:lnTo>
                  <a:lnTo>
                    <a:pt x="1864271" y="1438376"/>
                  </a:lnTo>
                  <a:lnTo>
                    <a:pt x="1873415" y="1441030"/>
                  </a:lnTo>
                  <a:lnTo>
                    <a:pt x="1884057" y="1404454"/>
                  </a:lnTo>
                  <a:close/>
                </a:path>
                <a:path w="3651250" h="2980690">
                  <a:moveTo>
                    <a:pt x="1901164" y="2665044"/>
                  </a:moveTo>
                  <a:lnTo>
                    <a:pt x="1895906" y="2657094"/>
                  </a:lnTo>
                  <a:lnTo>
                    <a:pt x="1864131" y="2678099"/>
                  </a:lnTo>
                  <a:lnTo>
                    <a:pt x="1869376" y="2686050"/>
                  </a:lnTo>
                  <a:lnTo>
                    <a:pt x="1901164" y="2665044"/>
                  </a:lnTo>
                  <a:close/>
                </a:path>
                <a:path w="3651250" h="2980690">
                  <a:moveTo>
                    <a:pt x="1902688" y="1340434"/>
                  </a:moveTo>
                  <a:lnTo>
                    <a:pt x="1893544" y="1337767"/>
                  </a:lnTo>
                  <a:lnTo>
                    <a:pt x="1882902" y="1374355"/>
                  </a:lnTo>
                  <a:lnTo>
                    <a:pt x="1892046" y="1377010"/>
                  </a:lnTo>
                  <a:lnTo>
                    <a:pt x="1902688" y="1340434"/>
                  </a:lnTo>
                  <a:close/>
                </a:path>
                <a:path w="3651250" h="2980690">
                  <a:moveTo>
                    <a:pt x="1910689" y="1985327"/>
                  </a:moveTo>
                  <a:lnTo>
                    <a:pt x="1902129" y="1981149"/>
                  </a:lnTo>
                  <a:lnTo>
                    <a:pt x="1885416" y="2015388"/>
                  </a:lnTo>
                  <a:lnTo>
                    <a:pt x="1893976" y="2019566"/>
                  </a:lnTo>
                  <a:lnTo>
                    <a:pt x="1910689" y="1985327"/>
                  </a:lnTo>
                  <a:close/>
                </a:path>
                <a:path w="3651250" h="2980690">
                  <a:moveTo>
                    <a:pt x="1921319" y="1276413"/>
                  </a:moveTo>
                  <a:lnTo>
                    <a:pt x="1912175" y="1273746"/>
                  </a:lnTo>
                  <a:lnTo>
                    <a:pt x="1901532" y="1310335"/>
                  </a:lnTo>
                  <a:lnTo>
                    <a:pt x="1910676" y="1312989"/>
                  </a:lnTo>
                  <a:lnTo>
                    <a:pt x="1921319" y="1276413"/>
                  </a:lnTo>
                  <a:close/>
                </a:path>
                <a:path w="3651250" h="2980690">
                  <a:moveTo>
                    <a:pt x="1931987" y="1598828"/>
                  </a:moveTo>
                  <a:lnTo>
                    <a:pt x="1925828" y="1591551"/>
                  </a:lnTo>
                  <a:lnTo>
                    <a:pt x="1896757" y="1616176"/>
                  </a:lnTo>
                  <a:lnTo>
                    <a:pt x="1902917" y="1623453"/>
                  </a:lnTo>
                  <a:lnTo>
                    <a:pt x="1931987" y="1598828"/>
                  </a:lnTo>
                  <a:close/>
                </a:path>
                <a:path w="3651250" h="2980690">
                  <a:moveTo>
                    <a:pt x="1939315" y="2289213"/>
                  </a:moveTo>
                  <a:lnTo>
                    <a:pt x="1906308" y="2270175"/>
                  </a:lnTo>
                  <a:lnTo>
                    <a:pt x="1901558" y="2278418"/>
                  </a:lnTo>
                  <a:lnTo>
                    <a:pt x="1934552" y="2297468"/>
                  </a:lnTo>
                  <a:lnTo>
                    <a:pt x="1939315" y="2289213"/>
                  </a:lnTo>
                  <a:close/>
                </a:path>
                <a:path w="3651250" h="2980690">
                  <a:moveTo>
                    <a:pt x="1939937" y="1925408"/>
                  </a:moveTo>
                  <a:lnTo>
                    <a:pt x="1931377" y="1921230"/>
                  </a:lnTo>
                  <a:lnTo>
                    <a:pt x="1914664" y="1955469"/>
                  </a:lnTo>
                  <a:lnTo>
                    <a:pt x="1923224" y="1959648"/>
                  </a:lnTo>
                  <a:lnTo>
                    <a:pt x="1939937" y="1925408"/>
                  </a:lnTo>
                  <a:close/>
                </a:path>
                <a:path w="3651250" h="2980690">
                  <a:moveTo>
                    <a:pt x="1939950" y="1212392"/>
                  </a:moveTo>
                  <a:lnTo>
                    <a:pt x="1930806" y="1209725"/>
                  </a:lnTo>
                  <a:lnTo>
                    <a:pt x="1920151" y="1246314"/>
                  </a:lnTo>
                  <a:lnTo>
                    <a:pt x="1929307" y="1248968"/>
                  </a:lnTo>
                  <a:lnTo>
                    <a:pt x="1939950" y="1212392"/>
                  </a:lnTo>
                  <a:close/>
                </a:path>
                <a:path w="3651250" h="2980690">
                  <a:moveTo>
                    <a:pt x="1956790" y="2628277"/>
                  </a:moveTo>
                  <a:lnTo>
                    <a:pt x="1951532" y="2620340"/>
                  </a:lnTo>
                  <a:lnTo>
                    <a:pt x="1919757" y="2641346"/>
                  </a:lnTo>
                  <a:lnTo>
                    <a:pt x="1925002" y="2649283"/>
                  </a:lnTo>
                  <a:lnTo>
                    <a:pt x="1956790" y="2628277"/>
                  </a:lnTo>
                  <a:close/>
                </a:path>
                <a:path w="3651250" h="2980690">
                  <a:moveTo>
                    <a:pt x="1958581" y="1148372"/>
                  </a:moveTo>
                  <a:lnTo>
                    <a:pt x="1949424" y="1145705"/>
                  </a:lnTo>
                  <a:lnTo>
                    <a:pt x="1938782" y="1182293"/>
                  </a:lnTo>
                  <a:lnTo>
                    <a:pt x="1947926" y="1184948"/>
                  </a:lnTo>
                  <a:lnTo>
                    <a:pt x="1958581" y="1148372"/>
                  </a:lnTo>
                  <a:close/>
                </a:path>
                <a:path w="3651250" h="2980690">
                  <a:moveTo>
                    <a:pt x="1969173" y="1865490"/>
                  </a:moveTo>
                  <a:lnTo>
                    <a:pt x="1960613" y="1861312"/>
                  </a:lnTo>
                  <a:lnTo>
                    <a:pt x="1943912" y="1895551"/>
                  </a:lnTo>
                  <a:lnTo>
                    <a:pt x="1952472" y="1899729"/>
                  </a:lnTo>
                  <a:lnTo>
                    <a:pt x="1969173" y="1865490"/>
                  </a:lnTo>
                  <a:close/>
                </a:path>
                <a:path w="3651250" h="2980690">
                  <a:moveTo>
                    <a:pt x="1977199" y="1084351"/>
                  </a:moveTo>
                  <a:lnTo>
                    <a:pt x="1968055" y="1081684"/>
                  </a:lnTo>
                  <a:lnTo>
                    <a:pt x="1957412" y="1118273"/>
                  </a:lnTo>
                  <a:lnTo>
                    <a:pt x="1966556" y="1120940"/>
                  </a:lnTo>
                  <a:lnTo>
                    <a:pt x="1977199" y="1084351"/>
                  </a:lnTo>
                  <a:close/>
                </a:path>
                <a:path w="3651250" h="2980690">
                  <a:moveTo>
                    <a:pt x="1982863" y="1555724"/>
                  </a:moveTo>
                  <a:lnTo>
                    <a:pt x="1976704" y="1548460"/>
                  </a:lnTo>
                  <a:lnTo>
                    <a:pt x="1947633" y="1573085"/>
                  </a:lnTo>
                  <a:lnTo>
                    <a:pt x="1953793" y="1580349"/>
                  </a:lnTo>
                  <a:lnTo>
                    <a:pt x="1982863" y="1555724"/>
                  </a:lnTo>
                  <a:close/>
                </a:path>
                <a:path w="3651250" h="2980690">
                  <a:moveTo>
                    <a:pt x="1995830" y="1020330"/>
                  </a:moveTo>
                  <a:lnTo>
                    <a:pt x="1986686" y="1017676"/>
                  </a:lnTo>
                  <a:lnTo>
                    <a:pt x="1976043" y="1054252"/>
                  </a:lnTo>
                  <a:lnTo>
                    <a:pt x="1985187" y="1056919"/>
                  </a:lnTo>
                  <a:lnTo>
                    <a:pt x="1995830" y="1020330"/>
                  </a:lnTo>
                  <a:close/>
                </a:path>
                <a:path w="3651250" h="2980690">
                  <a:moveTo>
                    <a:pt x="1997062" y="2322550"/>
                  </a:moveTo>
                  <a:lnTo>
                    <a:pt x="1964055" y="2303500"/>
                  </a:lnTo>
                  <a:lnTo>
                    <a:pt x="1959305" y="2311755"/>
                  </a:lnTo>
                  <a:lnTo>
                    <a:pt x="1992299" y="2330793"/>
                  </a:lnTo>
                  <a:lnTo>
                    <a:pt x="1997062" y="2322550"/>
                  </a:lnTo>
                  <a:close/>
                </a:path>
                <a:path w="3651250" h="2980690">
                  <a:moveTo>
                    <a:pt x="1998421" y="1805571"/>
                  </a:moveTo>
                  <a:lnTo>
                    <a:pt x="1989861" y="1801393"/>
                  </a:lnTo>
                  <a:lnTo>
                    <a:pt x="1973148" y="1835632"/>
                  </a:lnTo>
                  <a:lnTo>
                    <a:pt x="1981708" y="1839810"/>
                  </a:lnTo>
                  <a:lnTo>
                    <a:pt x="1998421" y="1805571"/>
                  </a:lnTo>
                  <a:close/>
                </a:path>
                <a:path w="3651250" h="2980690">
                  <a:moveTo>
                    <a:pt x="2012416" y="2591524"/>
                  </a:moveTo>
                  <a:lnTo>
                    <a:pt x="2007158" y="2583573"/>
                  </a:lnTo>
                  <a:lnTo>
                    <a:pt x="1975370" y="2604579"/>
                  </a:lnTo>
                  <a:lnTo>
                    <a:pt x="1980628" y="2612529"/>
                  </a:lnTo>
                  <a:lnTo>
                    <a:pt x="2012416" y="2591524"/>
                  </a:lnTo>
                  <a:close/>
                </a:path>
                <a:path w="3651250" h="2980690">
                  <a:moveTo>
                    <a:pt x="2014461" y="956310"/>
                  </a:moveTo>
                  <a:lnTo>
                    <a:pt x="2005317" y="953655"/>
                  </a:lnTo>
                  <a:lnTo>
                    <a:pt x="1994674" y="990231"/>
                  </a:lnTo>
                  <a:lnTo>
                    <a:pt x="2003818" y="992898"/>
                  </a:lnTo>
                  <a:lnTo>
                    <a:pt x="2014461" y="956310"/>
                  </a:lnTo>
                  <a:close/>
                </a:path>
                <a:path w="3651250" h="2980690">
                  <a:moveTo>
                    <a:pt x="2027669" y="1745653"/>
                  </a:moveTo>
                  <a:lnTo>
                    <a:pt x="2019109" y="1741474"/>
                  </a:lnTo>
                  <a:lnTo>
                    <a:pt x="2002396" y="1775714"/>
                  </a:lnTo>
                  <a:lnTo>
                    <a:pt x="2010956" y="1779892"/>
                  </a:lnTo>
                  <a:lnTo>
                    <a:pt x="2027669" y="1745653"/>
                  </a:lnTo>
                  <a:close/>
                </a:path>
                <a:path w="3651250" h="2980690">
                  <a:moveTo>
                    <a:pt x="2033092" y="892289"/>
                  </a:moveTo>
                  <a:lnTo>
                    <a:pt x="2023948" y="889635"/>
                  </a:lnTo>
                  <a:lnTo>
                    <a:pt x="2013305" y="926211"/>
                  </a:lnTo>
                  <a:lnTo>
                    <a:pt x="2022449" y="928878"/>
                  </a:lnTo>
                  <a:lnTo>
                    <a:pt x="2033092" y="892289"/>
                  </a:lnTo>
                  <a:close/>
                </a:path>
                <a:path w="3651250" h="2980690">
                  <a:moveTo>
                    <a:pt x="2033739" y="1512633"/>
                  </a:moveTo>
                  <a:lnTo>
                    <a:pt x="2027580" y="1505369"/>
                  </a:lnTo>
                  <a:lnTo>
                    <a:pt x="1998510" y="1529994"/>
                  </a:lnTo>
                  <a:lnTo>
                    <a:pt x="2004669" y="1537258"/>
                  </a:lnTo>
                  <a:lnTo>
                    <a:pt x="2033739" y="1512633"/>
                  </a:lnTo>
                  <a:close/>
                </a:path>
                <a:path w="3651250" h="2980690">
                  <a:moveTo>
                    <a:pt x="2051723" y="828268"/>
                  </a:moveTo>
                  <a:lnTo>
                    <a:pt x="2042579" y="825614"/>
                  </a:lnTo>
                  <a:lnTo>
                    <a:pt x="2031923" y="862190"/>
                  </a:lnTo>
                  <a:lnTo>
                    <a:pt x="2041080" y="864857"/>
                  </a:lnTo>
                  <a:lnTo>
                    <a:pt x="2051723" y="828268"/>
                  </a:lnTo>
                  <a:close/>
                </a:path>
                <a:path w="3651250" h="2980690">
                  <a:moveTo>
                    <a:pt x="2054809" y="2355875"/>
                  </a:moveTo>
                  <a:lnTo>
                    <a:pt x="2021814" y="2336825"/>
                  </a:lnTo>
                  <a:lnTo>
                    <a:pt x="2017052" y="2345080"/>
                  </a:lnTo>
                  <a:lnTo>
                    <a:pt x="2050046" y="2364130"/>
                  </a:lnTo>
                  <a:lnTo>
                    <a:pt x="2054809" y="2355875"/>
                  </a:lnTo>
                  <a:close/>
                </a:path>
                <a:path w="3651250" h="2980690">
                  <a:moveTo>
                    <a:pt x="2056917" y="1685734"/>
                  </a:moveTo>
                  <a:lnTo>
                    <a:pt x="2048357" y="1681556"/>
                  </a:lnTo>
                  <a:lnTo>
                    <a:pt x="2031644" y="1715795"/>
                  </a:lnTo>
                  <a:lnTo>
                    <a:pt x="2040204" y="1719973"/>
                  </a:lnTo>
                  <a:lnTo>
                    <a:pt x="2056917" y="1685734"/>
                  </a:lnTo>
                  <a:close/>
                </a:path>
                <a:path w="3651250" h="2980690">
                  <a:moveTo>
                    <a:pt x="2068042" y="2554757"/>
                  </a:moveTo>
                  <a:lnTo>
                    <a:pt x="2062784" y="2546807"/>
                  </a:lnTo>
                  <a:lnTo>
                    <a:pt x="2030996" y="2567813"/>
                  </a:lnTo>
                  <a:lnTo>
                    <a:pt x="2036254" y="2575763"/>
                  </a:lnTo>
                  <a:lnTo>
                    <a:pt x="2068042" y="2554757"/>
                  </a:lnTo>
                  <a:close/>
                </a:path>
                <a:path w="3651250" h="2980690">
                  <a:moveTo>
                    <a:pt x="2070354" y="764247"/>
                  </a:moveTo>
                  <a:lnTo>
                    <a:pt x="2061197" y="761593"/>
                  </a:lnTo>
                  <a:lnTo>
                    <a:pt x="2050554" y="798169"/>
                  </a:lnTo>
                  <a:lnTo>
                    <a:pt x="2059698" y="800836"/>
                  </a:lnTo>
                  <a:lnTo>
                    <a:pt x="2070354" y="764247"/>
                  </a:lnTo>
                  <a:close/>
                </a:path>
                <a:path w="3651250" h="2980690">
                  <a:moveTo>
                    <a:pt x="2084616" y="1469542"/>
                  </a:moveTo>
                  <a:lnTo>
                    <a:pt x="2078456" y="1462265"/>
                  </a:lnTo>
                  <a:lnTo>
                    <a:pt x="2049386" y="1486890"/>
                  </a:lnTo>
                  <a:lnTo>
                    <a:pt x="2055545" y="1494167"/>
                  </a:lnTo>
                  <a:lnTo>
                    <a:pt x="2084616" y="1469542"/>
                  </a:lnTo>
                  <a:close/>
                </a:path>
                <a:path w="3651250" h="2980690">
                  <a:moveTo>
                    <a:pt x="2086165" y="1625815"/>
                  </a:moveTo>
                  <a:lnTo>
                    <a:pt x="2077605" y="1621637"/>
                  </a:lnTo>
                  <a:lnTo>
                    <a:pt x="2060892" y="1655876"/>
                  </a:lnTo>
                  <a:lnTo>
                    <a:pt x="2069452" y="1660055"/>
                  </a:lnTo>
                  <a:lnTo>
                    <a:pt x="2086165" y="1625815"/>
                  </a:lnTo>
                  <a:close/>
                </a:path>
                <a:path w="3651250" h="2980690">
                  <a:moveTo>
                    <a:pt x="2088972" y="700239"/>
                  </a:moveTo>
                  <a:lnTo>
                    <a:pt x="2079828" y="697572"/>
                  </a:lnTo>
                  <a:lnTo>
                    <a:pt x="2069185" y="734161"/>
                  </a:lnTo>
                  <a:lnTo>
                    <a:pt x="2078329" y="736815"/>
                  </a:lnTo>
                  <a:lnTo>
                    <a:pt x="2088972" y="700239"/>
                  </a:lnTo>
                  <a:close/>
                </a:path>
                <a:path w="3651250" h="2980690">
                  <a:moveTo>
                    <a:pt x="2107603" y="636219"/>
                  </a:moveTo>
                  <a:lnTo>
                    <a:pt x="2098459" y="633552"/>
                  </a:lnTo>
                  <a:lnTo>
                    <a:pt x="2087816" y="670140"/>
                  </a:lnTo>
                  <a:lnTo>
                    <a:pt x="2096960" y="672795"/>
                  </a:lnTo>
                  <a:lnTo>
                    <a:pt x="2107603" y="636219"/>
                  </a:lnTo>
                  <a:close/>
                </a:path>
                <a:path w="3651250" h="2980690">
                  <a:moveTo>
                    <a:pt x="2112556" y="2389200"/>
                  </a:moveTo>
                  <a:lnTo>
                    <a:pt x="2079561" y="2370163"/>
                  </a:lnTo>
                  <a:lnTo>
                    <a:pt x="2074799" y="2378405"/>
                  </a:lnTo>
                  <a:lnTo>
                    <a:pt x="2107793" y="2397455"/>
                  </a:lnTo>
                  <a:lnTo>
                    <a:pt x="2112556" y="2389200"/>
                  </a:lnTo>
                  <a:close/>
                </a:path>
                <a:path w="3651250" h="2980690">
                  <a:moveTo>
                    <a:pt x="2115413" y="1565897"/>
                  </a:moveTo>
                  <a:lnTo>
                    <a:pt x="2106853" y="1561719"/>
                  </a:lnTo>
                  <a:lnTo>
                    <a:pt x="2090140" y="1595958"/>
                  </a:lnTo>
                  <a:lnTo>
                    <a:pt x="2098700" y="1600136"/>
                  </a:lnTo>
                  <a:lnTo>
                    <a:pt x="2115413" y="1565897"/>
                  </a:lnTo>
                  <a:close/>
                </a:path>
                <a:path w="3651250" h="2980690">
                  <a:moveTo>
                    <a:pt x="2123656" y="2517991"/>
                  </a:moveTo>
                  <a:lnTo>
                    <a:pt x="2118410" y="2510053"/>
                  </a:lnTo>
                  <a:lnTo>
                    <a:pt x="2086622" y="2531059"/>
                  </a:lnTo>
                  <a:lnTo>
                    <a:pt x="2091880" y="2538996"/>
                  </a:lnTo>
                  <a:lnTo>
                    <a:pt x="2123656" y="2517991"/>
                  </a:lnTo>
                  <a:close/>
                </a:path>
                <a:path w="3651250" h="2980690">
                  <a:moveTo>
                    <a:pt x="2126234" y="572198"/>
                  </a:moveTo>
                  <a:lnTo>
                    <a:pt x="2117090" y="569531"/>
                  </a:lnTo>
                  <a:lnTo>
                    <a:pt x="2106447" y="606120"/>
                  </a:lnTo>
                  <a:lnTo>
                    <a:pt x="2115591" y="608774"/>
                  </a:lnTo>
                  <a:lnTo>
                    <a:pt x="2126234" y="572198"/>
                  </a:lnTo>
                  <a:close/>
                </a:path>
                <a:path w="3651250" h="2980690">
                  <a:moveTo>
                    <a:pt x="2135492" y="1426438"/>
                  </a:moveTo>
                  <a:lnTo>
                    <a:pt x="2129332" y="1419174"/>
                  </a:lnTo>
                  <a:lnTo>
                    <a:pt x="2100262" y="1443799"/>
                  </a:lnTo>
                  <a:lnTo>
                    <a:pt x="2106422" y="1451063"/>
                  </a:lnTo>
                  <a:lnTo>
                    <a:pt x="2135492" y="1426438"/>
                  </a:lnTo>
                  <a:close/>
                </a:path>
                <a:path w="3651250" h="2980690">
                  <a:moveTo>
                    <a:pt x="2144649" y="1505978"/>
                  </a:moveTo>
                  <a:lnTo>
                    <a:pt x="2136089" y="1501800"/>
                  </a:lnTo>
                  <a:lnTo>
                    <a:pt x="2119388" y="1536039"/>
                  </a:lnTo>
                  <a:lnTo>
                    <a:pt x="2127948" y="1540217"/>
                  </a:lnTo>
                  <a:lnTo>
                    <a:pt x="2144649" y="1505978"/>
                  </a:lnTo>
                  <a:close/>
                </a:path>
                <a:path w="3651250" h="2980690">
                  <a:moveTo>
                    <a:pt x="2144865" y="508177"/>
                  </a:moveTo>
                  <a:lnTo>
                    <a:pt x="2135721" y="505510"/>
                  </a:lnTo>
                  <a:lnTo>
                    <a:pt x="2125065" y="542099"/>
                  </a:lnTo>
                  <a:lnTo>
                    <a:pt x="2134222" y="544753"/>
                  </a:lnTo>
                  <a:lnTo>
                    <a:pt x="2144865" y="508177"/>
                  </a:lnTo>
                  <a:close/>
                </a:path>
                <a:path w="3651250" h="2980690">
                  <a:moveTo>
                    <a:pt x="2163495" y="444157"/>
                  </a:moveTo>
                  <a:lnTo>
                    <a:pt x="2154339" y="441490"/>
                  </a:lnTo>
                  <a:lnTo>
                    <a:pt x="2143696" y="478078"/>
                  </a:lnTo>
                  <a:lnTo>
                    <a:pt x="2152840" y="480733"/>
                  </a:lnTo>
                  <a:lnTo>
                    <a:pt x="2163495" y="444157"/>
                  </a:lnTo>
                  <a:close/>
                </a:path>
                <a:path w="3651250" h="2980690">
                  <a:moveTo>
                    <a:pt x="2173897" y="1446060"/>
                  </a:moveTo>
                  <a:lnTo>
                    <a:pt x="2165337" y="1441881"/>
                  </a:lnTo>
                  <a:lnTo>
                    <a:pt x="2148624" y="1476121"/>
                  </a:lnTo>
                  <a:lnTo>
                    <a:pt x="2157184" y="1480299"/>
                  </a:lnTo>
                  <a:lnTo>
                    <a:pt x="2173897" y="1446060"/>
                  </a:lnTo>
                  <a:close/>
                </a:path>
                <a:path w="3651250" h="2980690">
                  <a:moveTo>
                    <a:pt x="2182114" y="380136"/>
                  </a:moveTo>
                  <a:lnTo>
                    <a:pt x="2172970" y="377469"/>
                  </a:lnTo>
                  <a:lnTo>
                    <a:pt x="2162327" y="414058"/>
                  </a:lnTo>
                  <a:lnTo>
                    <a:pt x="2171471" y="416712"/>
                  </a:lnTo>
                  <a:lnTo>
                    <a:pt x="2182114" y="380136"/>
                  </a:lnTo>
                  <a:close/>
                </a:path>
                <a:path w="3651250" h="2980690">
                  <a:moveTo>
                    <a:pt x="2213457" y="2452941"/>
                  </a:moveTo>
                  <a:lnTo>
                    <a:pt x="2185581" y="2410726"/>
                  </a:lnTo>
                  <a:lnTo>
                    <a:pt x="2166505" y="2381847"/>
                  </a:lnTo>
                  <a:lnTo>
                    <a:pt x="2149843" y="2410726"/>
                  </a:lnTo>
                  <a:lnTo>
                    <a:pt x="2137308" y="2403487"/>
                  </a:lnTo>
                  <a:lnTo>
                    <a:pt x="2132546" y="2411730"/>
                  </a:lnTo>
                  <a:lnTo>
                    <a:pt x="2145080" y="2418969"/>
                  </a:lnTo>
                  <a:lnTo>
                    <a:pt x="2128418" y="2447848"/>
                  </a:lnTo>
                  <a:lnTo>
                    <a:pt x="2213457" y="2452941"/>
                  </a:lnTo>
                  <a:close/>
                </a:path>
                <a:path w="3651250" h="2980690">
                  <a:moveTo>
                    <a:pt x="2213457" y="2452941"/>
                  </a:moveTo>
                  <a:lnTo>
                    <a:pt x="2128875" y="2463165"/>
                  </a:lnTo>
                  <a:lnTo>
                    <a:pt x="2147265" y="2490978"/>
                  </a:lnTo>
                  <a:lnTo>
                    <a:pt x="2142248" y="2494292"/>
                  </a:lnTo>
                  <a:lnTo>
                    <a:pt x="2147506" y="2502243"/>
                  </a:lnTo>
                  <a:lnTo>
                    <a:pt x="2152510" y="2498928"/>
                  </a:lnTo>
                  <a:lnTo>
                    <a:pt x="2170900" y="2526741"/>
                  </a:lnTo>
                  <a:lnTo>
                    <a:pt x="2186940" y="2498928"/>
                  </a:lnTo>
                  <a:lnTo>
                    <a:pt x="2213457" y="2452941"/>
                  </a:lnTo>
                  <a:close/>
                </a:path>
                <a:path w="3651250" h="2980690">
                  <a:moveTo>
                    <a:pt x="2214270" y="1439354"/>
                  </a:moveTo>
                  <a:lnTo>
                    <a:pt x="2213457" y="1354162"/>
                  </a:lnTo>
                  <a:lnTo>
                    <a:pt x="2130691" y="1374343"/>
                  </a:lnTo>
                  <a:lnTo>
                    <a:pt x="2152231" y="1399781"/>
                  </a:lnTo>
                  <a:lnTo>
                    <a:pt x="2151138" y="1400708"/>
                  </a:lnTo>
                  <a:lnTo>
                    <a:pt x="2151710" y="1401394"/>
                  </a:lnTo>
                  <a:lnTo>
                    <a:pt x="2145792" y="1405928"/>
                  </a:lnTo>
                  <a:lnTo>
                    <a:pt x="2165654" y="1415630"/>
                  </a:lnTo>
                  <a:lnTo>
                    <a:pt x="2179942" y="1432483"/>
                  </a:lnTo>
                  <a:lnTo>
                    <a:pt x="2183434" y="1424317"/>
                  </a:lnTo>
                  <a:lnTo>
                    <a:pt x="2214270" y="1439354"/>
                  </a:lnTo>
                  <a:close/>
                </a:path>
                <a:path w="3651250" h="2980690">
                  <a:moveTo>
                    <a:pt x="2228748" y="339191"/>
                  </a:moveTo>
                  <a:lnTo>
                    <a:pt x="2227046" y="329882"/>
                  </a:lnTo>
                  <a:lnTo>
                    <a:pt x="2213457" y="255384"/>
                  </a:lnTo>
                  <a:lnTo>
                    <a:pt x="2155583" y="317906"/>
                  </a:lnTo>
                  <a:lnTo>
                    <a:pt x="2187600" y="327215"/>
                  </a:lnTo>
                  <a:lnTo>
                    <a:pt x="2180958" y="350037"/>
                  </a:lnTo>
                  <a:lnTo>
                    <a:pt x="2190102" y="352691"/>
                  </a:lnTo>
                  <a:lnTo>
                    <a:pt x="2196744" y="329882"/>
                  </a:lnTo>
                  <a:lnTo>
                    <a:pt x="2228748" y="339191"/>
                  </a:lnTo>
                  <a:close/>
                </a:path>
                <a:path w="3651250" h="2980690">
                  <a:moveTo>
                    <a:pt x="2897225" y="2448179"/>
                  </a:moveTo>
                  <a:lnTo>
                    <a:pt x="2859125" y="2448179"/>
                  </a:lnTo>
                  <a:lnTo>
                    <a:pt x="2859125" y="2457704"/>
                  </a:lnTo>
                  <a:lnTo>
                    <a:pt x="2897225" y="2457704"/>
                  </a:lnTo>
                  <a:lnTo>
                    <a:pt x="2897225" y="2448179"/>
                  </a:lnTo>
                  <a:close/>
                </a:path>
                <a:path w="3651250" h="2980690">
                  <a:moveTo>
                    <a:pt x="2897225" y="1349400"/>
                  </a:moveTo>
                  <a:lnTo>
                    <a:pt x="2859125" y="1349400"/>
                  </a:lnTo>
                  <a:lnTo>
                    <a:pt x="2859125" y="1358925"/>
                  </a:lnTo>
                  <a:lnTo>
                    <a:pt x="2897225" y="1358925"/>
                  </a:lnTo>
                  <a:lnTo>
                    <a:pt x="2897225" y="1349400"/>
                  </a:lnTo>
                  <a:close/>
                </a:path>
                <a:path w="3651250" h="2980690">
                  <a:moveTo>
                    <a:pt x="2897225" y="250621"/>
                  </a:moveTo>
                  <a:lnTo>
                    <a:pt x="2859125" y="250621"/>
                  </a:lnTo>
                  <a:lnTo>
                    <a:pt x="2859125" y="260146"/>
                  </a:lnTo>
                  <a:lnTo>
                    <a:pt x="2897225" y="260146"/>
                  </a:lnTo>
                  <a:lnTo>
                    <a:pt x="2897225" y="250621"/>
                  </a:lnTo>
                  <a:close/>
                </a:path>
                <a:path w="3651250" h="2980690">
                  <a:moveTo>
                    <a:pt x="2963900" y="2448179"/>
                  </a:moveTo>
                  <a:lnTo>
                    <a:pt x="2925800" y="2448179"/>
                  </a:lnTo>
                  <a:lnTo>
                    <a:pt x="2925800" y="2457704"/>
                  </a:lnTo>
                  <a:lnTo>
                    <a:pt x="2963900" y="2457704"/>
                  </a:lnTo>
                  <a:lnTo>
                    <a:pt x="2963900" y="2448179"/>
                  </a:lnTo>
                  <a:close/>
                </a:path>
                <a:path w="3651250" h="2980690">
                  <a:moveTo>
                    <a:pt x="2963900" y="1349400"/>
                  </a:moveTo>
                  <a:lnTo>
                    <a:pt x="2925800" y="1349400"/>
                  </a:lnTo>
                  <a:lnTo>
                    <a:pt x="2925800" y="1358925"/>
                  </a:lnTo>
                  <a:lnTo>
                    <a:pt x="2963900" y="1358925"/>
                  </a:lnTo>
                  <a:lnTo>
                    <a:pt x="2963900" y="1349400"/>
                  </a:lnTo>
                  <a:close/>
                </a:path>
                <a:path w="3651250" h="2980690">
                  <a:moveTo>
                    <a:pt x="2963900" y="250621"/>
                  </a:moveTo>
                  <a:lnTo>
                    <a:pt x="2925800" y="250621"/>
                  </a:lnTo>
                  <a:lnTo>
                    <a:pt x="2925800" y="260146"/>
                  </a:lnTo>
                  <a:lnTo>
                    <a:pt x="2963900" y="260146"/>
                  </a:lnTo>
                  <a:lnTo>
                    <a:pt x="2963900" y="250621"/>
                  </a:lnTo>
                  <a:close/>
                </a:path>
                <a:path w="3651250" h="2980690">
                  <a:moveTo>
                    <a:pt x="3030575" y="2448179"/>
                  </a:moveTo>
                  <a:lnTo>
                    <a:pt x="2992475" y="2448179"/>
                  </a:lnTo>
                  <a:lnTo>
                    <a:pt x="2992475" y="2457704"/>
                  </a:lnTo>
                  <a:lnTo>
                    <a:pt x="3030575" y="2457704"/>
                  </a:lnTo>
                  <a:lnTo>
                    <a:pt x="3030575" y="2448179"/>
                  </a:lnTo>
                  <a:close/>
                </a:path>
                <a:path w="3651250" h="2980690">
                  <a:moveTo>
                    <a:pt x="3030575" y="1349400"/>
                  </a:moveTo>
                  <a:lnTo>
                    <a:pt x="2992475" y="1349400"/>
                  </a:lnTo>
                  <a:lnTo>
                    <a:pt x="2992475" y="1358925"/>
                  </a:lnTo>
                  <a:lnTo>
                    <a:pt x="3030575" y="1358925"/>
                  </a:lnTo>
                  <a:lnTo>
                    <a:pt x="3030575" y="1349400"/>
                  </a:lnTo>
                  <a:close/>
                </a:path>
                <a:path w="3651250" h="2980690">
                  <a:moveTo>
                    <a:pt x="3030575" y="250621"/>
                  </a:moveTo>
                  <a:lnTo>
                    <a:pt x="2992475" y="250621"/>
                  </a:lnTo>
                  <a:lnTo>
                    <a:pt x="2992475" y="260146"/>
                  </a:lnTo>
                  <a:lnTo>
                    <a:pt x="3030575" y="260146"/>
                  </a:lnTo>
                  <a:lnTo>
                    <a:pt x="3030575" y="250621"/>
                  </a:lnTo>
                  <a:close/>
                </a:path>
                <a:path w="3651250" h="2980690">
                  <a:moveTo>
                    <a:pt x="3097250" y="2448179"/>
                  </a:moveTo>
                  <a:lnTo>
                    <a:pt x="3059150" y="2448179"/>
                  </a:lnTo>
                  <a:lnTo>
                    <a:pt x="3059150" y="2457704"/>
                  </a:lnTo>
                  <a:lnTo>
                    <a:pt x="3097250" y="2457704"/>
                  </a:lnTo>
                  <a:lnTo>
                    <a:pt x="3097250" y="2448179"/>
                  </a:lnTo>
                  <a:close/>
                </a:path>
                <a:path w="3651250" h="2980690">
                  <a:moveTo>
                    <a:pt x="3097250" y="1349400"/>
                  </a:moveTo>
                  <a:lnTo>
                    <a:pt x="3059150" y="1349400"/>
                  </a:lnTo>
                  <a:lnTo>
                    <a:pt x="3059150" y="1358925"/>
                  </a:lnTo>
                  <a:lnTo>
                    <a:pt x="3097250" y="1358925"/>
                  </a:lnTo>
                  <a:lnTo>
                    <a:pt x="3097250" y="1349400"/>
                  </a:lnTo>
                  <a:close/>
                </a:path>
                <a:path w="3651250" h="2980690">
                  <a:moveTo>
                    <a:pt x="3097250" y="250621"/>
                  </a:moveTo>
                  <a:lnTo>
                    <a:pt x="3059150" y="250621"/>
                  </a:lnTo>
                  <a:lnTo>
                    <a:pt x="3059150" y="260146"/>
                  </a:lnTo>
                  <a:lnTo>
                    <a:pt x="3097250" y="260146"/>
                  </a:lnTo>
                  <a:lnTo>
                    <a:pt x="3097250" y="250621"/>
                  </a:lnTo>
                  <a:close/>
                </a:path>
                <a:path w="3651250" h="2980690">
                  <a:moveTo>
                    <a:pt x="3163925" y="2448179"/>
                  </a:moveTo>
                  <a:lnTo>
                    <a:pt x="3125825" y="2448179"/>
                  </a:lnTo>
                  <a:lnTo>
                    <a:pt x="3125825" y="2457704"/>
                  </a:lnTo>
                  <a:lnTo>
                    <a:pt x="3163925" y="2457704"/>
                  </a:lnTo>
                  <a:lnTo>
                    <a:pt x="3163925" y="2448179"/>
                  </a:lnTo>
                  <a:close/>
                </a:path>
                <a:path w="3651250" h="2980690">
                  <a:moveTo>
                    <a:pt x="3163925" y="1349400"/>
                  </a:moveTo>
                  <a:lnTo>
                    <a:pt x="3125825" y="1349400"/>
                  </a:lnTo>
                  <a:lnTo>
                    <a:pt x="3125825" y="1358925"/>
                  </a:lnTo>
                  <a:lnTo>
                    <a:pt x="3163925" y="1358925"/>
                  </a:lnTo>
                  <a:lnTo>
                    <a:pt x="3163925" y="1349400"/>
                  </a:lnTo>
                  <a:close/>
                </a:path>
                <a:path w="3651250" h="2980690">
                  <a:moveTo>
                    <a:pt x="3163925" y="250621"/>
                  </a:moveTo>
                  <a:lnTo>
                    <a:pt x="3125825" y="250621"/>
                  </a:lnTo>
                  <a:lnTo>
                    <a:pt x="3125825" y="260146"/>
                  </a:lnTo>
                  <a:lnTo>
                    <a:pt x="3163925" y="260146"/>
                  </a:lnTo>
                  <a:lnTo>
                    <a:pt x="3163925" y="250621"/>
                  </a:lnTo>
                  <a:close/>
                </a:path>
                <a:path w="3651250" h="2980690">
                  <a:moveTo>
                    <a:pt x="3230600" y="2448179"/>
                  </a:moveTo>
                  <a:lnTo>
                    <a:pt x="3192500" y="2448179"/>
                  </a:lnTo>
                  <a:lnTo>
                    <a:pt x="3192500" y="2457704"/>
                  </a:lnTo>
                  <a:lnTo>
                    <a:pt x="3230600" y="2457704"/>
                  </a:lnTo>
                  <a:lnTo>
                    <a:pt x="3230600" y="2448179"/>
                  </a:lnTo>
                  <a:close/>
                </a:path>
                <a:path w="3651250" h="2980690">
                  <a:moveTo>
                    <a:pt x="3230600" y="1349400"/>
                  </a:moveTo>
                  <a:lnTo>
                    <a:pt x="3192500" y="1349400"/>
                  </a:lnTo>
                  <a:lnTo>
                    <a:pt x="3192500" y="1358925"/>
                  </a:lnTo>
                  <a:lnTo>
                    <a:pt x="3230600" y="1358925"/>
                  </a:lnTo>
                  <a:lnTo>
                    <a:pt x="3230600" y="1349400"/>
                  </a:lnTo>
                  <a:close/>
                </a:path>
                <a:path w="3651250" h="2980690">
                  <a:moveTo>
                    <a:pt x="3230600" y="250621"/>
                  </a:moveTo>
                  <a:lnTo>
                    <a:pt x="3192500" y="250621"/>
                  </a:lnTo>
                  <a:lnTo>
                    <a:pt x="3192500" y="260146"/>
                  </a:lnTo>
                  <a:lnTo>
                    <a:pt x="3230600" y="260146"/>
                  </a:lnTo>
                  <a:lnTo>
                    <a:pt x="3230600" y="250621"/>
                  </a:lnTo>
                  <a:close/>
                </a:path>
                <a:path w="3651250" h="2980690">
                  <a:moveTo>
                    <a:pt x="3297275" y="2448179"/>
                  </a:moveTo>
                  <a:lnTo>
                    <a:pt x="3259175" y="2448179"/>
                  </a:lnTo>
                  <a:lnTo>
                    <a:pt x="3259175" y="2457704"/>
                  </a:lnTo>
                  <a:lnTo>
                    <a:pt x="3297275" y="2457704"/>
                  </a:lnTo>
                  <a:lnTo>
                    <a:pt x="3297275" y="2448179"/>
                  </a:lnTo>
                  <a:close/>
                </a:path>
                <a:path w="3651250" h="2980690">
                  <a:moveTo>
                    <a:pt x="3297275" y="1349400"/>
                  </a:moveTo>
                  <a:lnTo>
                    <a:pt x="3259175" y="1349400"/>
                  </a:lnTo>
                  <a:lnTo>
                    <a:pt x="3259175" y="1358925"/>
                  </a:lnTo>
                  <a:lnTo>
                    <a:pt x="3297275" y="1358925"/>
                  </a:lnTo>
                  <a:lnTo>
                    <a:pt x="3297275" y="1349400"/>
                  </a:lnTo>
                  <a:close/>
                </a:path>
                <a:path w="3651250" h="2980690">
                  <a:moveTo>
                    <a:pt x="3297275" y="250621"/>
                  </a:moveTo>
                  <a:lnTo>
                    <a:pt x="3259175" y="250621"/>
                  </a:lnTo>
                  <a:lnTo>
                    <a:pt x="3259175" y="260146"/>
                  </a:lnTo>
                  <a:lnTo>
                    <a:pt x="3297275" y="260146"/>
                  </a:lnTo>
                  <a:lnTo>
                    <a:pt x="3297275" y="250621"/>
                  </a:lnTo>
                  <a:close/>
                </a:path>
                <a:path w="3651250" h="2980690">
                  <a:moveTo>
                    <a:pt x="3363950" y="2448179"/>
                  </a:moveTo>
                  <a:lnTo>
                    <a:pt x="3325850" y="2448179"/>
                  </a:lnTo>
                  <a:lnTo>
                    <a:pt x="3325850" y="2457704"/>
                  </a:lnTo>
                  <a:lnTo>
                    <a:pt x="3363950" y="2457704"/>
                  </a:lnTo>
                  <a:lnTo>
                    <a:pt x="3363950" y="2448179"/>
                  </a:lnTo>
                  <a:close/>
                </a:path>
                <a:path w="3651250" h="2980690">
                  <a:moveTo>
                    <a:pt x="3363950" y="1349400"/>
                  </a:moveTo>
                  <a:lnTo>
                    <a:pt x="3325850" y="1349400"/>
                  </a:lnTo>
                  <a:lnTo>
                    <a:pt x="3325850" y="1358925"/>
                  </a:lnTo>
                  <a:lnTo>
                    <a:pt x="3363950" y="1358925"/>
                  </a:lnTo>
                  <a:lnTo>
                    <a:pt x="3363950" y="1349400"/>
                  </a:lnTo>
                  <a:close/>
                </a:path>
                <a:path w="3651250" h="2980690">
                  <a:moveTo>
                    <a:pt x="3363950" y="250621"/>
                  </a:moveTo>
                  <a:lnTo>
                    <a:pt x="3325850" y="250621"/>
                  </a:lnTo>
                  <a:lnTo>
                    <a:pt x="3325850" y="260146"/>
                  </a:lnTo>
                  <a:lnTo>
                    <a:pt x="3363950" y="260146"/>
                  </a:lnTo>
                  <a:lnTo>
                    <a:pt x="3363950" y="250621"/>
                  </a:lnTo>
                  <a:close/>
                </a:path>
                <a:path w="3651250" h="2980690">
                  <a:moveTo>
                    <a:pt x="3430625" y="2448179"/>
                  </a:moveTo>
                  <a:lnTo>
                    <a:pt x="3392525" y="2448179"/>
                  </a:lnTo>
                  <a:lnTo>
                    <a:pt x="3392525" y="2457704"/>
                  </a:lnTo>
                  <a:lnTo>
                    <a:pt x="3430625" y="2457704"/>
                  </a:lnTo>
                  <a:lnTo>
                    <a:pt x="3430625" y="2448179"/>
                  </a:lnTo>
                  <a:close/>
                </a:path>
                <a:path w="3651250" h="2980690">
                  <a:moveTo>
                    <a:pt x="3430625" y="1349400"/>
                  </a:moveTo>
                  <a:lnTo>
                    <a:pt x="3392525" y="1349400"/>
                  </a:lnTo>
                  <a:lnTo>
                    <a:pt x="3392525" y="1358925"/>
                  </a:lnTo>
                  <a:lnTo>
                    <a:pt x="3430625" y="1358925"/>
                  </a:lnTo>
                  <a:lnTo>
                    <a:pt x="3430625" y="1349400"/>
                  </a:lnTo>
                  <a:close/>
                </a:path>
                <a:path w="3651250" h="2980690">
                  <a:moveTo>
                    <a:pt x="3430625" y="250621"/>
                  </a:moveTo>
                  <a:lnTo>
                    <a:pt x="3392525" y="250621"/>
                  </a:lnTo>
                  <a:lnTo>
                    <a:pt x="3392525" y="260146"/>
                  </a:lnTo>
                  <a:lnTo>
                    <a:pt x="3430625" y="260146"/>
                  </a:lnTo>
                  <a:lnTo>
                    <a:pt x="3430625" y="250621"/>
                  </a:lnTo>
                  <a:close/>
                </a:path>
                <a:path w="3651250" h="2980690">
                  <a:moveTo>
                    <a:pt x="3497300" y="2448179"/>
                  </a:moveTo>
                  <a:lnTo>
                    <a:pt x="3459200" y="2448179"/>
                  </a:lnTo>
                  <a:lnTo>
                    <a:pt x="3459200" y="2457704"/>
                  </a:lnTo>
                  <a:lnTo>
                    <a:pt x="3497300" y="2457704"/>
                  </a:lnTo>
                  <a:lnTo>
                    <a:pt x="3497300" y="2448179"/>
                  </a:lnTo>
                  <a:close/>
                </a:path>
                <a:path w="3651250" h="2980690">
                  <a:moveTo>
                    <a:pt x="3497300" y="1349400"/>
                  </a:moveTo>
                  <a:lnTo>
                    <a:pt x="3459200" y="1349400"/>
                  </a:lnTo>
                  <a:lnTo>
                    <a:pt x="3459200" y="1358925"/>
                  </a:lnTo>
                  <a:lnTo>
                    <a:pt x="3497300" y="1358925"/>
                  </a:lnTo>
                  <a:lnTo>
                    <a:pt x="3497300" y="1349400"/>
                  </a:lnTo>
                  <a:close/>
                </a:path>
                <a:path w="3651250" h="2980690">
                  <a:moveTo>
                    <a:pt x="3497300" y="250621"/>
                  </a:moveTo>
                  <a:lnTo>
                    <a:pt x="3459200" y="250621"/>
                  </a:lnTo>
                  <a:lnTo>
                    <a:pt x="3459200" y="260146"/>
                  </a:lnTo>
                  <a:lnTo>
                    <a:pt x="3497300" y="260146"/>
                  </a:lnTo>
                  <a:lnTo>
                    <a:pt x="3497300" y="250621"/>
                  </a:lnTo>
                  <a:close/>
                </a:path>
                <a:path w="3651250" h="2980690">
                  <a:moveTo>
                    <a:pt x="3563975" y="2448179"/>
                  </a:moveTo>
                  <a:lnTo>
                    <a:pt x="3525875" y="2448179"/>
                  </a:lnTo>
                  <a:lnTo>
                    <a:pt x="3525875" y="2457704"/>
                  </a:lnTo>
                  <a:lnTo>
                    <a:pt x="3563975" y="2457704"/>
                  </a:lnTo>
                  <a:lnTo>
                    <a:pt x="3563975" y="2448179"/>
                  </a:lnTo>
                  <a:close/>
                </a:path>
                <a:path w="3651250" h="2980690">
                  <a:moveTo>
                    <a:pt x="3630638" y="1354162"/>
                  </a:moveTo>
                  <a:lnTo>
                    <a:pt x="3554438" y="1316062"/>
                  </a:lnTo>
                  <a:lnTo>
                    <a:pt x="3554438" y="1349400"/>
                  </a:lnTo>
                  <a:lnTo>
                    <a:pt x="3525875" y="1349400"/>
                  </a:lnTo>
                  <a:lnTo>
                    <a:pt x="3525875" y="1358925"/>
                  </a:lnTo>
                  <a:lnTo>
                    <a:pt x="3554438" y="1358925"/>
                  </a:lnTo>
                  <a:lnTo>
                    <a:pt x="3554438" y="1392262"/>
                  </a:lnTo>
                  <a:lnTo>
                    <a:pt x="3630638" y="1354162"/>
                  </a:lnTo>
                  <a:close/>
                </a:path>
                <a:path w="3651250" h="2980690">
                  <a:moveTo>
                    <a:pt x="3630638" y="255384"/>
                  </a:moveTo>
                  <a:lnTo>
                    <a:pt x="3554438" y="217284"/>
                  </a:lnTo>
                  <a:lnTo>
                    <a:pt x="3554438" y="250621"/>
                  </a:lnTo>
                  <a:lnTo>
                    <a:pt x="3525875" y="250621"/>
                  </a:lnTo>
                  <a:lnTo>
                    <a:pt x="3525875" y="260146"/>
                  </a:lnTo>
                  <a:lnTo>
                    <a:pt x="3554438" y="260146"/>
                  </a:lnTo>
                  <a:lnTo>
                    <a:pt x="3554438" y="293484"/>
                  </a:lnTo>
                  <a:lnTo>
                    <a:pt x="3630638" y="255384"/>
                  </a:lnTo>
                  <a:close/>
                </a:path>
                <a:path w="3651250" h="2980690">
                  <a:moveTo>
                    <a:pt x="3650831" y="2452941"/>
                  </a:moveTo>
                  <a:lnTo>
                    <a:pt x="3574631" y="2414841"/>
                  </a:lnTo>
                  <a:lnTo>
                    <a:pt x="3574631" y="2491041"/>
                  </a:lnTo>
                  <a:lnTo>
                    <a:pt x="3650831" y="2452941"/>
                  </a:lnTo>
                  <a:close/>
                </a:path>
              </a:pathLst>
            </a:custGeom>
            <a:solidFill>
              <a:srgbClr val="000000"/>
            </a:solidFill>
          </p:spPr>
          <p:txBody>
            <a:bodyPr wrap="square" lIns="0" tIns="0" rIns="0" bIns="0" rtlCol="0"/>
            <a:lstStyle/>
            <a:p>
              <a:endParaRPr>
                <a:solidFill>
                  <a:prstClr val="black"/>
                </a:solidFill>
                <a:latin typeface="Calibri"/>
              </a:endParaRPr>
            </a:p>
          </p:txBody>
        </p:sp>
      </p:grpSp>
      <p:sp>
        <p:nvSpPr>
          <p:cNvPr id="20" name="object 20"/>
          <p:cNvSpPr txBox="1"/>
          <p:nvPr/>
        </p:nvSpPr>
        <p:spPr>
          <a:xfrm>
            <a:off x="7892940" y="2959989"/>
            <a:ext cx="858519" cy="299720"/>
          </a:xfrm>
          <a:prstGeom prst="rect">
            <a:avLst/>
          </a:prstGeom>
        </p:spPr>
        <p:txBody>
          <a:bodyPr vert="horz" wrap="square" lIns="0" tIns="12700" rIns="0" bIns="0" rtlCol="0">
            <a:spAutoFit/>
          </a:bodyPr>
          <a:lstStyle/>
          <a:p>
            <a:pPr marL="38100">
              <a:spcBef>
                <a:spcPts val="100"/>
              </a:spcBef>
            </a:pPr>
            <a:r>
              <a:rPr spc="10" dirty="0">
                <a:solidFill>
                  <a:prstClr val="black"/>
                </a:solidFill>
                <a:latin typeface="Cambria Math"/>
                <a:cs typeface="Cambria Math"/>
              </a:rPr>
              <a:t>𝒑(𝒚</a:t>
            </a:r>
            <a:r>
              <a:rPr sz="1950" spc="15" baseline="-14957" dirty="0">
                <a:solidFill>
                  <a:prstClr val="black"/>
                </a:solidFill>
                <a:latin typeface="Cambria Math"/>
                <a:cs typeface="Cambria Math"/>
              </a:rPr>
              <a:t>𝟏</a:t>
            </a:r>
            <a:r>
              <a:rPr spc="10" dirty="0">
                <a:solidFill>
                  <a:prstClr val="black"/>
                </a:solidFill>
                <a:latin typeface="Cambria Math"/>
                <a:cs typeface="Cambria Math"/>
              </a:rPr>
              <a:t>|𝒙)</a:t>
            </a:r>
            <a:endParaRPr dirty="0">
              <a:solidFill>
                <a:prstClr val="black"/>
              </a:solidFill>
              <a:latin typeface="Cambria Math"/>
              <a:cs typeface="Cambria Math"/>
            </a:endParaRPr>
          </a:p>
        </p:txBody>
      </p:sp>
      <p:sp>
        <p:nvSpPr>
          <p:cNvPr id="23" name="object 23"/>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40</a:t>
            </a:fld>
            <a:endParaRPr dirty="0">
              <a:solidFill>
                <a:prstClr val="white"/>
              </a:solidFill>
            </a:endParaRPr>
          </a:p>
        </p:txBody>
      </p:sp>
      <p:sp>
        <p:nvSpPr>
          <p:cNvPr id="21" name="object 21"/>
          <p:cNvSpPr txBox="1"/>
          <p:nvPr/>
        </p:nvSpPr>
        <p:spPr>
          <a:xfrm>
            <a:off x="7892940" y="4056172"/>
            <a:ext cx="858519" cy="299720"/>
          </a:xfrm>
          <a:prstGeom prst="rect">
            <a:avLst/>
          </a:prstGeom>
        </p:spPr>
        <p:txBody>
          <a:bodyPr vert="horz" wrap="square" lIns="0" tIns="12700" rIns="0" bIns="0" rtlCol="0">
            <a:spAutoFit/>
          </a:bodyPr>
          <a:lstStyle/>
          <a:p>
            <a:pPr marL="38100">
              <a:spcBef>
                <a:spcPts val="100"/>
              </a:spcBef>
            </a:pPr>
            <a:r>
              <a:rPr spc="10" dirty="0">
                <a:solidFill>
                  <a:prstClr val="black"/>
                </a:solidFill>
                <a:latin typeface="Cambria Math"/>
                <a:cs typeface="Cambria Math"/>
              </a:rPr>
              <a:t>𝒑(𝒚</a:t>
            </a:r>
            <a:r>
              <a:rPr sz="1950" spc="15" baseline="-14957" dirty="0">
                <a:solidFill>
                  <a:prstClr val="black"/>
                </a:solidFill>
                <a:latin typeface="Cambria Math"/>
                <a:cs typeface="Cambria Math"/>
              </a:rPr>
              <a:t>𝟐</a:t>
            </a:r>
            <a:r>
              <a:rPr spc="10" dirty="0">
                <a:solidFill>
                  <a:prstClr val="black"/>
                </a:solidFill>
                <a:latin typeface="Cambria Math"/>
                <a:cs typeface="Cambria Math"/>
              </a:rPr>
              <a:t>|𝒙)</a:t>
            </a:r>
            <a:endParaRPr dirty="0">
              <a:solidFill>
                <a:prstClr val="black"/>
              </a:solidFill>
              <a:latin typeface="Cambria Math"/>
              <a:cs typeface="Cambria Math"/>
            </a:endParaRPr>
          </a:p>
        </p:txBody>
      </p:sp>
      <p:sp>
        <p:nvSpPr>
          <p:cNvPr id="22" name="object 22"/>
          <p:cNvSpPr txBox="1"/>
          <p:nvPr/>
        </p:nvSpPr>
        <p:spPr>
          <a:xfrm>
            <a:off x="7892940" y="5152357"/>
            <a:ext cx="858519" cy="299720"/>
          </a:xfrm>
          <a:prstGeom prst="rect">
            <a:avLst/>
          </a:prstGeom>
        </p:spPr>
        <p:txBody>
          <a:bodyPr vert="horz" wrap="square" lIns="0" tIns="12700" rIns="0" bIns="0" rtlCol="0">
            <a:spAutoFit/>
          </a:bodyPr>
          <a:lstStyle/>
          <a:p>
            <a:pPr marL="38100">
              <a:spcBef>
                <a:spcPts val="100"/>
              </a:spcBef>
            </a:pPr>
            <a:r>
              <a:rPr spc="10" dirty="0">
                <a:solidFill>
                  <a:prstClr val="black"/>
                </a:solidFill>
                <a:latin typeface="Cambria Math"/>
                <a:cs typeface="Cambria Math"/>
              </a:rPr>
              <a:t>𝒑(𝒚</a:t>
            </a:r>
            <a:r>
              <a:rPr sz="1950" spc="15" baseline="-14957" dirty="0">
                <a:solidFill>
                  <a:prstClr val="black"/>
                </a:solidFill>
                <a:latin typeface="Cambria Math"/>
                <a:cs typeface="Cambria Math"/>
              </a:rPr>
              <a:t>𝟑</a:t>
            </a:r>
            <a:r>
              <a:rPr spc="10" dirty="0">
                <a:solidFill>
                  <a:prstClr val="black"/>
                </a:solidFill>
                <a:latin typeface="Cambria Math"/>
                <a:cs typeface="Cambria Math"/>
              </a:rPr>
              <a:t>|𝒙)</a:t>
            </a:r>
            <a:endParaRPr dirty="0">
              <a:solidFill>
                <a:prstClr val="black"/>
              </a:solidFill>
              <a:latin typeface="Cambria Math"/>
              <a:cs typeface="Cambria Math"/>
            </a:endParaRPr>
          </a:p>
        </p:txBody>
      </p:sp>
      <p:sp>
        <p:nvSpPr>
          <p:cNvPr id="26" name="object 5">
            <a:extLst>
              <a:ext uri="{FF2B5EF4-FFF2-40B4-BE49-F238E27FC236}">
                <a16:creationId xmlns:a16="http://schemas.microsoft.com/office/drawing/2014/main" id="{55ADA176-3761-C7BF-3CD6-DD2ADBF25458}"/>
              </a:ext>
            </a:extLst>
          </p:cNvPr>
          <p:cNvSpPr txBox="1">
            <a:spLocks/>
          </p:cNvSpPr>
          <p:nvPr/>
        </p:nvSpPr>
        <p:spPr>
          <a:xfrm>
            <a:off x="110083" y="1903618"/>
            <a:ext cx="2508421" cy="1490152"/>
          </a:xfrm>
          <a:prstGeom prst="rect">
            <a:avLst/>
          </a:prstGeom>
          <a:ln>
            <a:solidFill>
              <a:schemeClr val="tx1"/>
            </a:solidFill>
          </a:ln>
        </p:spPr>
        <p:txBody>
          <a:bodyPr vert="horz" wrap="square" lIns="0" tIns="12700" rIns="0" bIns="0" rtlCol="0">
            <a:spAutoFit/>
          </a:bodyPr>
          <a:lstStyle>
            <a:lvl1pPr>
              <a:defRPr sz="4000" b="1" i="0">
                <a:solidFill>
                  <a:schemeClr val="tx2"/>
                </a:solidFill>
                <a:latin typeface="Arial"/>
                <a:ea typeface="+mj-ea"/>
                <a:cs typeface="Arial"/>
              </a:defRPr>
            </a:lvl1pPr>
          </a:lstStyle>
          <a:p>
            <a:pPr marL="12700">
              <a:spcBef>
                <a:spcPts val="100"/>
              </a:spcBef>
            </a:pPr>
            <a:r>
              <a:rPr lang="en-IN" sz="3200" kern="0" spc="-160" dirty="0"/>
              <a:t>S</a:t>
            </a:r>
            <a:r>
              <a:rPr lang="en-IN" sz="3200" kern="0" spc="-145" dirty="0"/>
              <a:t>t</a:t>
            </a:r>
            <a:r>
              <a:rPr lang="en-IN" sz="3200" kern="0" spc="-155" dirty="0"/>
              <a:t>o</a:t>
            </a:r>
            <a:r>
              <a:rPr lang="en-IN" sz="3200" kern="0" spc="-150" dirty="0"/>
              <a:t>c</a:t>
            </a:r>
            <a:r>
              <a:rPr lang="en-IN" sz="3200" kern="0" spc="-155" dirty="0"/>
              <a:t>h</a:t>
            </a:r>
            <a:r>
              <a:rPr lang="en-IN" sz="3200" kern="0" spc="-150" dirty="0"/>
              <a:t>as</a:t>
            </a:r>
            <a:r>
              <a:rPr lang="en-IN" sz="3200" kern="0" spc="-145" dirty="0"/>
              <a:t>t</a:t>
            </a:r>
            <a:r>
              <a:rPr lang="en-IN" sz="3200" kern="0" spc="-150" dirty="0"/>
              <a:t>i</a:t>
            </a:r>
            <a:r>
              <a:rPr lang="en-IN" sz="3200" kern="0" dirty="0"/>
              <a:t>c</a:t>
            </a:r>
            <a:r>
              <a:rPr lang="en-IN" sz="3200" kern="0" spc="-300" dirty="0"/>
              <a:t> </a:t>
            </a:r>
            <a:r>
              <a:rPr lang="en-IN" sz="3200" kern="0" spc="-160" dirty="0"/>
              <a:t>En</a:t>
            </a:r>
            <a:r>
              <a:rPr lang="en-IN" sz="3200" kern="0" spc="-150" dirty="0"/>
              <a:t>c</a:t>
            </a:r>
            <a:r>
              <a:rPr lang="en-IN" sz="3200" kern="0" spc="-155" dirty="0"/>
              <a:t>od</a:t>
            </a:r>
            <a:r>
              <a:rPr lang="en-IN" sz="3200" kern="0" spc="-150" dirty="0"/>
              <a:t>e</a:t>
            </a:r>
            <a:r>
              <a:rPr lang="en-IN" sz="3200" kern="0" spc="-145" dirty="0"/>
              <a:t>r</a:t>
            </a:r>
            <a:r>
              <a:rPr lang="en-IN" sz="3200" kern="0" dirty="0"/>
              <a:t>s</a:t>
            </a:r>
            <a:r>
              <a:rPr lang="en-IN" sz="3200" kern="0" spc="-300" dirty="0"/>
              <a:t> </a:t>
            </a:r>
            <a:r>
              <a:rPr lang="en-IN" sz="3200" kern="0" spc="-150" dirty="0"/>
              <a:t>a</a:t>
            </a:r>
            <a:r>
              <a:rPr lang="en-IN" sz="3200" kern="0" spc="-155" dirty="0"/>
              <a:t>n</a:t>
            </a:r>
            <a:r>
              <a:rPr lang="en-IN" sz="3200" kern="0" dirty="0"/>
              <a:t>d</a:t>
            </a:r>
            <a:r>
              <a:rPr lang="en-IN" sz="3200" kern="0" spc="-305" dirty="0"/>
              <a:t> </a:t>
            </a:r>
            <a:r>
              <a:rPr lang="en-IN" sz="3200" kern="0" spc="-155" dirty="0"/>
              <a:t>D</a:t>
            </a:r>
            <a:r>
              <a:rPr lang="en-IN" sz="3200" kern="0" spc="-150" dirty="0"/>
              <a:t>ec</a:t>
            </a:r>
            <a:r>
              <a:rPr lang="en-IN" sz="3200" kern="0" spc="-155" dirty="0"/>
              <a:t>od</a:t>
            </a:r>
            <a:r>
              <a:rPr lang="en-IN" sz="3200" kern="0" spc="-150" dirty="0"/>
              <a:t>e</a:t>
            </a:r>
            <a:r>
              <a:rPr lang="en-IN" sz="3200" kern="0" spc="-145" dirty="0"/>
              <a:t>r</a:t>
            </a:r>
            <a:r>
              <a:rPr lang="en-IN" sz="3200" kern="0" dirty="0"/>
              <a:t>s</a:t>
            </a:r>
          </a:p>
        </p:txBody>
      </p:sp>
      <p:sp>
        <p:nvSpPr>
          <p:cNvPr id="27" name="TextBox 26">
            <a:extLst>
              <a:ext uri="{FF2B5EF4-FFF2-40B4-BE49-F238E27FC236}">
                <a16:creationId xmlns:a16="http://schemas.microsoft.com/office/drawing/2014/main" id="{C4D4A317-2382-6C37-8044-43831D8BEFDC}"/>
              </a:ext>
            </a:extLst>
          </p:cNvPr>
          <p:cNvSpPr txBox="1"/>
          <p:nvPr/>
        </p:nvSpPr>
        <p:spPr>
          <a:xfrm>
            <a:off x="9206290" y="3398825"/>
            <a:ext cx="2689220" cy="2308324"/>
          </a:xfrm>
          <a:prstGeom prst="rect">
            <a:avLst/>
          </a:prstGeom>
          <a:noFill/>
          <a:ln>
            <a:solidFill>
              <a:schemeClr val="tx1"/>
            </a:solidFill>
          </a:ln>
        </p:spPr>
        <p:txBody>
          <a:bodyPr wrap="square">
            <a:spAutoFit/>
          </a:bodyPr>
          <a:lstStyle/>
          <a:p>
            <a:pPr algn="just"/>
            <a:r>
              <a:rPr lang="en-US" sz="1600" b="1" spc="-5" dirty="0">
                <a:solidFill>
                  <a:srgbClr val="FF0000"/>
                </a:solidFill>
                <a:latin typeface="Arial"/>
                <a:cs typeface="Arial"/>
              </a:rPr>
              <a:t>Conditional probability is a measure of the probability of an event occurring, given that another event is already known to have occurred.</a:t>
            </a:r>
          </a:p>
          <a:p>
            <a:pPr algn="just"/>
            <a:r>
              <a:rPr lang="en-IN" sz="1600" b="1" spc="-5" dirty="0">
                <a:solidFill>
                  <a:prstClr val="black"/>
                </a:solidFill>
                <a:latin typeface="Arial"/>
                <a:cs typeface="Arial"/>
              </a:rPr>
              <a:t>𝒑(𝒚𝟏|𝒙) Probability of occurrence of y1 given x has occurred.</a:t>
            </a:r>
            <a:endParaRPr lang="en-IN"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1" y="984986"/>
            <a:ext cx="7431405" cy="1264285"/>
          </a:xfrm>
          <a:prstGeom prst="rect">
            <a:avLst/>
          </a:prstGeom>
        </p:spPr>
        <p:txBody>
          <a:bodyPr vert="horz" wrap="square" lIns="0" tIns="137795" rIns="0" bIns="0" rtlCol="0">
            <a:spAutoFit/>
          </a:bodyPr>
          <a:lstStyle/>
          <a:p>
            <a:pPr marL="12700">
              <a:spcBef>
                <a:spcPts val="1085"/>
              </a:spcBef>
            </a:pPr>
            <a:r>
              <a:rPr sz="2400" b="1" spc="-5" dirty="0">
                <a:solidFill>
                  <a:prstClr val="black"/>
                </a:solidFill>
                <a:latin typeface="Arial"/>
                <a:cs typeface="Arial"/>
              </a:rPr>
              <a:t>Autoencoders</a:t>
            </a:r>
            <a:r>
              <a:rPr sz="2400" b="1" spc="5" dirty="0">
                <a:solidFill>
                  <a:prstClr val="black"/>
                </a:solidFill>
                <a:latin typeface="Arial"/>
                <a:cs typeface="Arial"/>
              </a:rPr>
              <a:t> </a:t>
            </a:r>
            <a:r>
              <a:rPr sz="2400" b="1" dirty="0">
                <a:solidFill>
                  <a:prstClr val="black"/>
                </a:solidFill>
                <a:latin typeface="Arial"/>
                <a:cs typeface="Arial"/>
              </a:rPr>
              <a:t>are</a:t>
            </a:r>
            <a:r>
              <a:rPr sz="2400" b="1" spc="-5" dirty="0">
                <a:solidFill>
                  <a:prstClr val="black"/>
                </a:solidFill>
                <a:latin typeface="Arial"/>
                <a:cs typeface="Arial"/>
              </a:rPr>
              <a:t> just feedforward</a:t>
            </a:r>
            <a:r>
              <a:rPr sz="2400" b="1" spc="-10" dirty="0">
                <a:solidFill>
                  <a:prstClr val="black"/>
                </a:solidFill>
                <a:latin typeface="Arial"/>
                <a:cs typeface="Arial"/>
              </a:rPr>
              <a:t> </a:t>
            </a:r>
            <a:r>
              <a:rPr sz="2400" b="1" spc="-5" dirty="0">
                <a:solidFill>
                  <a:prstClr val="black"/>
                </a:solidFill>
                <a:latin typeface="Arial"/>
                <a:cs typeface="Arial"/>
              </a:rPr>
              <a:t>networks</a:t>
            </a:r>
            <a:endParaRPr sz="2400" dirty="0">
              <a:solidFill>
                <a:prstClr val="black"/>
              </a:solidFill>
              <a:latin typeface="Arial"/>
              <a:cs typeface="Arial"/>
            </a:endParaRPr>
          </a:p>
          <a:p>
            <a:pPr marL="412115" marR="5080" indent="-284480">
              <a:lnSpc>
                <a:spcPct val="111100"/>
              </a:lnSpc>
              <a:spcBef>
                <a:spcPts val="550"/>
              </a:spcBef>
              <a:tabLst>
                <a:tab pos="411480" algn="l"/>
              </a:tabLst>
            </a:pPr>
            <a:r>
              <a:rPr sz="2000" dirty="0">
                <a:solidFill>
                  <a:srgbClr val="4F81BD"/>
                </a:solidFill>
                <a:latin typeface="Arial MT"/>
                <a:cs typeface="Arial MT"/>
              </a:rPr>
              <a:t>-	</a:t>
            </a:r>
            <a:r>
              <a:rPr sz="2000" b="1" spc="-5" dirty="0">
                <a:solidFill>
                  <a:srgbClr val="4F81BD"/>
                </a:solidFill>
                <a:latin typeface="Arial"/>
                <a:cs typeface="Arial"/>
              </a:rPr>
              <a:t>the same loss function </a:t>
            </a:r>
            <a:r>
              <a:rPr sz="2000" b="1" dirty="0">
                <a:solidFill>
                  <a:srgbClr val="4F81BD"/>
                </a:solidFill>
                <a:latin typeface="Arial"/>
                <a:cs typeface="Arial"/>
              </a:rPr>
              <a:t>and </a:t>
            </a:r>
            <a:r>
              <a:rPr sz="2000" b="1" spc="-5" dirty="0">
                <a:solidFill>
                  <a:srgbClr val="4F81BD"/>
                </a:solidFill>
                <a:latin typeface="Arial"/>
                <a:cs typeface="Arial"/>
              </a:rPr>
              <a:t>output unit types that </a:t>
            </a:r>
            <a:r>
              <a:rPr sz="2000" b="1" dirty="0">
                <a:solidFill>
                  <a:srgbClr val="4F81BD"/>
                </a:solidFill>
                <a:latin typeface="Arial"/>
                <a:cs typeface="Arial"/>
              </a:rPr>
              <a:t>used </a:t>
            </a:r>
            <a:r>
              <a:rPr sz="2000" b="1" spc="-5" dirty="0">
                <a:solidFill>
                  <a:srgbClr val="4F81BD"/>
                </a:solidFill>
                <a:latin typeface="Arial"/>
                <a:cs typeface="Arial"/>
              </a:rPr>
              <a:t>for </a:t>
            </a:r>
            <a:r>
              <a:rPr sz="2000" b="1" spc="-545" dirty="0">
                <a:solidFill>
                  <a:srgbClr val="4F81BD"/>
                </a:solidFill>
                <a:latin typeface="Arial"/>
                <a:cs typeface="Arial"/>
              </a:rPr>
              <a:t> </a:t>
            </a:r>
            <a:r>
              <a:rPr sz="2000" b="1" spc="-5" dirty="0">
                <a:solidFill>
                  <a:srgbClr val="4F81BD"/>
                </a:solidFill>
                <a:latin typeface="Arial"/>
                <a:cs typeface="Arial"/>
              </a:rPr>
              <a:t>feedforward neural</a:t>
            </a:r>
            <a:r>
              <a:rPr sz="2000" b="1" spc="-15" dirty="0">
                <a:solidFill>
                  <a:srgbClr val="4F81BD"/>
                </a:solidFill>
                <a:latin typeface="Arial"/>
                <a:cs typeface="Arial"/>
              </a:rPr>
              <a:t> </a:t>
            </a:r>
            <a:r>
              <a:rPr sz="2000" b="1" dirty="0">
                <a:solidFill>
                  <a:srgbClr val="4F81BD"/>
                </a:solidFill>
                <a:latin typeface="Arial"/>
                <a:cs typeface="Arial"/>
              </a:rPr>
              <a:t>net</a:t>
            </a:r>
            <a:r>
              <a:rPr sz="2000" b="1" spc="-10" dirty="0">
                <a:solidFill>
                  <a:srgbClr val="4F81BD"/>
                </a:solidFill>
                <a:latin typeface="Arial"/>
                <a:cs typeface="Arial"/>
              </a:rPr>
              <a:t> </a:t>
            </a:r>
            <a:r>
              <a:rPr sz="2000" b="1" dirty="0">
                <a:solidFill>
                  <a:srgbClr val="4F81BD"/>
                </a:solidFill>
                <a:latin typeface="Arial"/>
                <a:cs typeface="Arial"/>
              </a:rPr>
              <a:t>can</a:t>
            </a:r>
            <a:r>
              <a:rPr sz="2000" b="1" spc="-5" dirty="0">
                <a:solidFill>
                  <a:srgbClr val="4F81BD"/>
                </a:solidFill>
                <a:latin typeface="Arial"/>
                <a:cs typeface="Arial"/>
              </a:rPr>
              <a:t> </a:t>
            </a:r>
            <a:r>
              <a:rPr sz="2000" b="1" dirty="0">
                <a:solidFill>
                  <a:srgbClr val="4F81BD"/>
                </a:solidFill>
                <a:latin typeface="Arial"/>
                <a:cs typeface="Arial"/>
              </a:rPr>
              <a:t>be</a:t>
            </a:r>
            <a:r>
              <a:rPr sz="2000" b="1" spc="-10" dirty="0">
                <a:solidFill>
                  <a:srgbClr val="4F81BD"/>
                </a:solidFill>
                <a:latin typeface="Arial"/>
                <a:cs typeface="Arial"/>
              </a:rPr>
              <a:t> </a:t>
            </a:r>
            <a:r>
              <a:rPr sz="2000" b="1" dirty="0">
                <a:solidFill>
                  <a:srgbClr val="4F81BD"/>
                </a:solidFill>
                <a:latin typeface="Arial"/>
                <a:cs typeface="Arial"/>
              </a:rPr>
              <a:t>used</a:t>
            </a:r>
            <a:r>
              <a:rPr sz="2000" b="1" spc="-5" dirty="0">
                <a:solidFill>
                  <a:srgbClr val="4F81BD"/>
                </a:solidFill>
                <a:latin typeface="Arial"/>
                <a:cs typeface="Arial"/>
              </a:rPr>
              <a:t> for autoencoder</a:t>
            </a:r>
            <a:endParaRPr sz="2000" dirty="0">
              <a:solidFill>
                <a:prstClr val="black"/>
              </a:solidFill>
              <a:latin typeface="Arial"/>
              <a:cs typeface="Arial"/>
            </a:endParaRPr>
          </a:p>
        </p:txBody>
      </p:sp>
      <p:grpSp>
        <p:nvGrpSpPr>
          <p:cNvPr id="4" name="object 4"/>
          <p:cNvGrpSpPr/>
          <p:nvPr/>
        </p:nvGrpSpPr>
        <p:grpSpPr>
          <a:xfrm>
            <a:off x="1536701" y="67733"/>
            <a:ext cx="5694045" cy="918844"/>
            <a:chOff x="12700" y="67733"/>
            <a:chExt cx="5694045" cy="918844"/>
          </a:xfrm>
        </p:grpSpPr>
        <p:pic>
          <p:nvPicPr>
            <p:cNvPr id="5" name="object 5"/>
            <p:cNvPicPr/>
            <p:nvPr/>
          </p:nvPicPr>
          <p:blipFill>
            <a:blip r:embed="rId3" cstate="print"/>
            <a:stretch>
              <a:fillRect/>
            </a:stretch>
          </p:blipFill>
          <p:spPr>
            <a:xfrm>
              <a:off x="12700" y="67733"/>
              <a:ext cx="3259667" cy="918633"/>
            </a:xfrm>
            <a:prstGeom prst="rect">
              <a:avLst/>
            </a:prstGeom>
          </p:spPr>
        </p:pic>
        <p:pic>
          <p:nvPicPr>
            <p:cNvPr id="6" name="object 6"/>
            <p:cNvPicPr/>
            <p:nvPr/>
          </p:nvPicPr>
          <p:blipFill>
            <a:blip r:embed="rId4" cstate="print"/>
            <a:stretch>
              <a:fillRect/>
            </a:stretch>
          </p:blipFill>
          <p:spPr>
            <a:xfrm>
              <a:off x="2717800" y="67733"/>
              <a:ext cx="2988732" cy="918633"/>
            </a:xfrm>
            <a:prstGeom prst="rect">
              <a:avLst/>
            </a:prstGeom>
          </p:spPr>
        </p:pic>
      </p:grpSp>
      <p:sp>
        <p:nvSpPr>
          <p:cNvPr id="7" name="object 7"/>
          <p:cNvSpPr txBox="1">
            <a:spLocks noGrp="1"/>
          </p:cNvSpPr>
          <p:nvPr>
            <p:ph type="title"/>
          </p:nvPr>
        </p:nvSpPr>
        <p:spPr>
          <a:xfrm>
            <a:off x="1785621" y="183388"/>
            <a:ext cx="5163185"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Probability</a:t>
            </a:r>
            <a:r>
              <a:rPr sz="3200" spc="-55" dirty="0">
                <a:solidFill>
                  <a:srgbClr val="004990"/>
                </a:solidFill>
              </a:rPr>
              <a:t> </a:t>
            </a:r>
            <a:r>
              <a:rPr sz="3200" spc="-5" dirty="0">
                <a:solidFill>
                  <a:srgbClr val="004990"/>
                </a:solidFill>
              </a:rPr>
              <a:t>of</a:t>
            </a:r>
            <a:r>
              <a:rPr sz="3200" spc="-45" dirty="0">
                <a:solidFill>
                  <a:srgbClr val="004990"/>
                </a:solidFill>
              </a:rPr>
              <a:t> </a:t>
            </a:r>
            <a:r>
              <a:rPr sz="3200" spc="-5" dirty="0">
                <a:solidFill>
                  <a:srgbClr val="004990"/>
                </a:solidFill>
              </a:rPr>
              <a:t>autoencoder</a:t>
            </a:r>
            <a:endParaRPr sz="3200"/>
          </a:p>
        </p:txBody>
      </p:sp>
      <p:sp>
        <p:nvSpPr>
          <p:cNvPr id="8" name="object 8"/>
          <p:cNvSpPr/>
          <p:nvPr/>
        </p:nvSpPr>
        <p:spPr>
          <a:xfrm>
            <a:off x="8085281" y="2874650"/>
            <a:ext cx="607695" cy="212090"/>
          </a:xfrm>
          <a:custGeom>
            <a:avLst/>
            <a:gdLst/>
            <a:ahLst/>
            <a:cxnLst/>
            <a:rect l="l" t="t" r="r" b="b"/>
            <a:pathLst>
              <a:path w="607695" h="212089">
                <a:moveTo>
                  <a:pt x="360773" y="2006"/>
                </a:moveTo>
                <a:lnTo>
                  <a:pt x="343584" y="2006"/>
                </a:lnTo>
                <a:lnTo>
                  <a:pt x="343584" y="209734"/>
                </a:lnTo>
                <a:lnTo>
                  <a:pt x="360773" y="209734"/>
                </a:lnTo>
                <a:lnTo>
                  <a:pt x="360773" y="2006"/>
                </a:lnTo>
                <a:close/>
              </a:path>
              <a:path w="607695" h="212089">
                <a:moveTo>
                  <a:pt x="67530" y="0"/>
                </a:moveTo>
                <a:lnTo>
                  <a:pt x="27148" y="24099"/>
                </a:lnTo>
                <a:lnTo>
                  <a:pt x="4367" y="68576"/>
                </a:lnTo>
                <a:lnTo>
                  <a:pt x="0" y="105928"/>
                </a:lnTo>
                <a:lnTo>
                  <a:pt x="1088" y="125381"/>
                </a:lnTo>
                <a:lnTo>
                  <a:pt x="17412" y="174741"/>
                </a:lnTo>
                <a:lnTo>
                  <a:pt x="52134" y="206208"/>
                </a:lnTo>
                <a:lnTo>
                  <a:pt x="67530" y="211744"/>
                </a:lnTo>
                <a:lnTo>
                  <a:pt x="70209" y="203150"/>
                </a:lnTo>
                <a:lnTo>
                  <a:pt x="58144" y="197806"/>
                </a:lnTo>
                <a:lnTo>
                  <a:pt x="47732" y="190369"/>
                </a:lnTo>
                <a:lnTo>
                  <a:pt x="26374" y="155690"/>
                </a:lnTo>
                <a:lnTo>
                  <a:pt x="19310" y="104811"/>
                </a:lnTo>
                <a:lnTo>
                  <a:pt x="20095" y="86746"/>
                </a:lnTo>
                <a:lnTo>
                  <a:pt x="31868" y="42136"/>
                </a:lnTo>
                <a:lnTo>
                  <a:pt x="58332" y="13913"/>
                </a:lnTo>
                <a:lnTo>
                  <a:pt x="70544" y="8594"/>
                </a:lnTo>
                <a:lnTo>
                  <a:pt x="67530" y="0"/>
                </a:lnTo>
                <a:close/>
              </a:path>
              <a:path w="607695" h="212089">
                <a:moveTo>
                  <a:pt x="540058" y="0"/>
                </a:moveTo>
                <a:lnTo>
                  <a:pt x="537043" y="8594"/>
                </a:lnTo>
                <a:lnTo>
                  <a:pt x="549301" y="13913"/>
                </a:lnTo>
                <a:lnTo>
                  <a:pt x="559842" y="21277"/>
                </a:lnTo>
                <a:lnTo>
                  <a:pt x="581246" y="55408"/>
                </a:lnTo>
                <a:lnTo>
                  <a:pt x="588277" y="104811"/>
                </a:lnTo>
                <a:lnTo>
                  <a:pt x="587493" y="123487"/>
                </a:lnTo>
                <a:lnTo>
                  <a:pt x="575721" y="169217"/>
                </a:lnTo>
                <a:lnTo>
                  <a:pt x="549444" y="197806"/>
                </a:lnTo>
                <a:lnTo>
                  <a:pt x="537378" y="203150"/>
                </a:lnTo>
                <a:lnTo>
                  <a:pt x="540058" y="211744"/>
                </a:lnTo>
                <a:lnTo>
                  <a:pt x="580513" y="187707"/>
                </a:lnTo>
                <a:lnTo>
                  <a:pt x="603235" y="143334"/>
                </a:lnTo>
                <a:lnTo>
                  <a:pt x="607588" y="105928"/>
                </a:lnTo>
                <a:lnTo>
                  <a:pt x="606496" y="86516"/>
                </a:lnTo>
                <a:lnTo>
                  <a:pt x="590119" y="37113"/>
                </a:lnTo>
                <a:lnTo>
                  <a:pt x="555409" y="5542"/>
                </a:lnTo>
                <a:lnTo>
                  <a:pt x="540058"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9" name="object 9"/>
          <p:cNvSpPr txBox="1"/>
          <p:nvPr/>
        </p:nvSpPr>
        <p:spPr>
          <a:xfrm>
            <a:off x="7885800" y="2804485"/>
            <a:ext cx="770890" cy="299720"/>
          </a:xfrm>
          <a:prstGeom prst="rect">
            <a:avLst/>
          </a:prstGeom>
        </p:spPr>
        <p:txBody>
          <a:bodyPr vert="horz" wrap="square" lIns="0" tIns="12700" rIns="0" bIns="0" rtlCol="0">
            <a:spAutoFit/>
          </a:bodyPr>
          <a:lstStyle/>
          <a:p>
            <a:pPr marL="38100">
              <a:spcBef>
                <a:spcPts val="100"/>
              </a:spcBef>
            </a:pPr>
            <a:r>
              <a:rPr dirty="0">
                <a:solidFill>
                  <a:prstClr val="black"/>
                </a:solidFill>
                <a:latin typeface="Cambria Math"/>
                <a:cs typeface="Cambria Math"/>
              </a:rPr>
              <a:t>𝒑</a:t>
            </a:r>
            <a:r>
              <a:rPr spc="300" dirty="0">
                <a:solidFill>
                  <a:prstClr val="black"/>
                </a:solidFill>
                <a:latin typeface="Cambria Math"/>
                <a:cs typeface="Cambria Math"/>
              </a:rPr>
              <a:t> </a:t>
            </a: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r>
              <a:rPr sz="1950" spc="494" baseline="-14957" dirty="0">
                <a:solidFill>
                  <a:prstClr val="black"/>
                </a:solidFill>
                <a:latin typeface="Cambria Math"/>
                <a:cs typeface="Cambria Math"/>
              </a:rPr>
              <a:t> </a:t>
            </a:r>
            <a:r>
              <a:rPr dirty="0">
                <a:solidFill>
                  <a:prstClr val="black"/>
                </a:solidFill>
                <a:latin typeface="Cambria Math"/>
                <a:cs typeface="Cambria Math"/>
              </a:rPr>
              <a:t>𝒉</a:t>
            </a:r>
          </a:p>
        </p:txBody>
      </p:sp>
      <p:sp>
        <p:nvSpPr>
          <p:cNvPr id="10" name="object 10"/>
          <p:cNvSpPr/>
          <p:nvPr/>
        </p:nvSpPr>
        <p:spPr>
          <a:xfrm>
            <a:off x="8085281" y="3978771"/>
            <a:ext cx="607695" cy="212090"/>
          </a:xfrm>
          <a:custGeom>
            <a:avLst/>
            <a:gdLst/>
            <a:ahLst/>
            <a:cxnLst/>
            <a:rect l="l" t="t" r="r" b="b"/>
            <a:pathLst>
              <a:path w="607695" h="212089">
                <a:moveTo>
                  <a:pt x="360773" y="2007"/>
                </a:moveTo>
                <a:lnTo>
                  <a:pt x="343584" y="2007"/>
                </a:lnTo>
                <a:lnTo>
                  <a:pt x="343584" y="209734"/>
                </a:lnTo>
                <a:lnTo>
                  <a:pt x="360773" y="209734"/>
                </a:lnTo>
                <a:lnTo>
                  <a:pt x="360773" y="2007"/>
                </a:lnTo>
                <a:close/>
              </a:path>
              <a:path w="607695" h="212089">
                <a:moveTo>
                  <a:pt x="67530" y="0"/>
                </a:moveTo>
                <a:lnTo>
                  <a:pt x="27148" y="24099"/>
                </a:lnTo>
                <a:lnTo>
                  <a:pt x="4367" y="68577"/>
                </a:lnTo>
                <a:lnTo>
                  <a:pt x="0" y="105928"/>
                </a:lnTo>
                <a:lnTo>
                  <a:pt x="1088" y="125381"/>
                </a:lnTo>
                <a:lnTo>
                  <a:pt x="17412" y="174743"/>
                </a:lnTo>
                <a:lnTo>
                  <a:pt x="52134" y="206209"/>
                </a:lnTo>
                <a:lnTo>
                  <a:pt x="67530" y="211745"/>
                </a:lnTo>
                <a:lnTo>
                  <a:pt x="70209" y="203150"/>
                </a:lnTo>
                <a:lnTo>
                  <a:pt x="58144" y="197806"/>
                </a:lnTo>
                <a:lnTo>
                  <a:pt x="47732" y="190369"/>
                </a:lnTo>
                <a:lnTo>
                  <a:pt x="26374" y="155690"/>
                </a:lnTo>
                <a:lnTo>
                  <a:pt x="19310" y="104811"/>
                </a:lnTo>
                <a:lnTo>
                  <a:pt x="20095" y="86747"/>
                </a:lnTo>
                <a:lnTo>
                  <a:pt x="31868" y="42137"/>
                </a:lnTo>
                <a:lnTo>
                  <a:pt x="58332" y="13914"/>
                </a:lnTo>
                <a:lnTo>
                  <a:pt x="70544" y="8595"/>
                </a:lnTo>
                <a:lnTo>
                  <a:pt x="67530" y="0"/>
                </a:lnTo>
                <a:close/>
              </a:path>
              <a:path w="607695" h="212089">
                <a:moveTo>
                  <a:pt x="540058" y="0"/>
                </a:moveTo>
                <a:lnTo>
                  <a:pt x="537043" y="8595"/>
                </a:lnTo>
                <a:lnTo>
                  <a:pt x="549301" y="13914"/>
                </a:lnTo>
                <a:lnTo>
                  <a:pt x="559842" y="21277"/>
                </a:lnTo>
                <a:lnTo>
                  <a:pt x="581246" y="55409"/>
                </a:lnTo>
                <a:lnTo>
                  <a:pt x="588277" y="104811"/>
                </a:lnTo>
                <a:lnTo>
                  <a:pt x="587493" y="123487"/>
                </a:lnTo>
                <a:lnTo>
                  <a:pt x="575721" y="169217"/>
                </a:lnTo>
                <a:lnTo>
                  <a:pt x="549444" y="197806"/>
                </a:lnTo>
                <a:lnTo>
                  <a:pt x="537378" y="203150"/>
                </a:lnTo>
                <a:lnTo>
                  <a:pt x="540058" y="211745"/>
                </a:lnTo>
                <a:lnTo>
                  <a:pt x="580513" y="187708"/>
                </a:lnTo>
                <a:lnTo>
                  <a:pt x="603235" y="143335"/>
                </a:lnTo>
                <a:lnTo>
                  <a:pt x="607588" y="105928"/>
                </a:lnTo>
                <a:lnTo>
                  <a:pt x="606496" y="86516"/>
                </a:lnTo>
                <a:lnTo>
                  <a:pt x="590119" y="37114"/>
                </a:lnTo>
                <a:lnTo>
                  <a:pt x="555409" y="5542"/>
                </a:lnTo>
                <a:lnTo>
                  <a:pt x="540058"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1" name="object 11"/>
          <p:cNvSpPr txBox="1"/>
          <p:nvPr/>
        </p:nvSpPr>
        <p:spPr>
          <a:xfrm>
            <a:off x="7885800" y="3908606"/>
            <a:ext cx="770890" cy="299720"/>
          </a:xfrm>
          <a:prstGeom prst="rect">
            <a:avLst/>
          </a:prstGeom>
        </p:spPr>
        <p:txBody>
          <a:bodyPr vert="horz" wrap="square" lIns="0" tIns="12700" rIns="0" bIns="0" rtlCol="0">
            <a:spAutoFit/>
          </a:bodyPr>
          <a:lstStyle/>
          <a:p>
            <a:pPr marL="38100">
              <a:spcBef>
                <a:spcPts val="100"/>
              </a:spcBef>
            </a:pPr>
            <a:r>
              <a:rPr dirty="0">
                <a:solidFill>
                  <a:prstClr val="black"/>
                </a:solidFill>
                <a:latin typeface="Cambria Math"/>
                <a:cs typeface="Cambria Math"/>
              </a:rPr>
              <a:t>𝒑</a:t>
            </a:r>
            <a:r>
              <a:rPr spc="300" dirty="0">
                <a:solidFill>
                  <a:prstClr val="black"/>
                </a:solidFill>
                <a:latin typeface="Cambria Math"/>
                <a:cs typeface="Cambria Math"/>
              </a:rPr>
              <a:t> </a:t>
            </a: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r>
              <a:rPr sz="1950" spc="494" baseline="-14957" dirty="0">
                <a:solidFill>
                  <a:prstClr val="black"/>
                </a:solidFill>
                <a:latin typeface="Cambria Math"/>
                <a:cs typeface="Cambria Math"/>
              </a:rPr>
              <a:t> </a:t>
            </a:r>
            <a:r>
              <a:rPr dirty="0">
                <a:solidFill>
                  <a:prstClr val="black"/>
                </a:solidFill>
                <a:latin typeface="Cambria Math"/>
                <a:cs typeface="Cambria Math"/>
              </a:rPr>
              <a:t>𝒉</a:t>
            </a:r>
            <a:endParaRPr>
              <a:solidFill>
                <a:prstClr val="black"/>
              </a:solidFill>
              <a:latin typeface="Cambria Math"/>
              <a:cs typeface="Cambria Math"/>
            </a:endParaRPr>
          </a:p>
        </p:txBody>
      </p:sp>
      <p:sp>
        <p:nvSpPr>
          <p:cNvPr id="12" name="object 12"/>
          <p:cNvSpPr/>
          <p:nvPr/>
        </p:nvSpPr>
        <p:spPr>
          <a:xfrm>
            <a:off x="8085281" y="5082893"/>
            <a:ext cx="607695" cy="212090"/>
          </a:xfrm>
          <a:custGeom>
            <a:avLst/>
            <a:gdLst/>
            <a:ahLst/>
            <a:cxnLst/>
            <a:rect l="l" t="t" r="r" b="b"/>
            <a:pathLst>
              <a:path w="607695" h="212089">
                <a:moveTo>
                  <a:pt x="360773" y="2007"/>
                </a:moveTo>
                <a:lnTo>
                  <a:pt x="343584" y="2007"/>
                </a:lnTo>
                <a:lnTo>
                  <a:pt x="343584" y="209734"/>
                </a:lnTo>
                <a:lnTo>
                  <a:pt x="360773" y="209734"/>
                </a:lnTo>
                <a:lnTo>
                  <a:pt x="360773" y="2007"/>
                </a:lnTo>
                <a:close/>
              </a:path>
              <a:path w="607695" h="212089">
                <a:moveTo>
                  <a:pt x="67530" y="0"/>
                </a:moveTo>
                <a:lnTo>
                  <a:pt x="27148" y="24099"/>
                </a:lnTo>
                <a:lnTo>
                  <a:pt x="4367" y="68577"/>
                </a:lnTo>
                <a:lnTo>
                  <a:pt x="0" y="105929"/>
                </a:lnTo>
                <a:lnTo>
                  <a:pt x="1088" y="125382"/>
                </a:lnTo>
                <a:lnTo>
                  <a:pt x="17412" y="174743"/>
                </a:lnTo>
                <a:lnTo>
                  <a:pt x="52134" y="206209"/>
                </a:lnTo>
                <a:lnTo>
                  <a:pt x="67530" y="211745"/>
                </a:lnTo>
                <a:lnTo>
                  <a:pt x="70209" y="203150"/>
                </a:lnTo>
                <a:lnTo>
                  <a:pt x="58144" y="197807"/>
                </a:lnTo>
                <a:lnTo>
                  <a:pt x="47732" y="190370"/>
                </a:lnTo>
                <a:lnTo>
                  <a:pt x="26374" y="155691"/>
                </a:lnTo>
                <a:lnTo>
                  <a:pt x="19310" y="104813"/>
                </a:lnTo>
                <a:lnTo>
                  <a:pt x="20095" y="86747"/>
                </a:lnTo>
                <a:lnTo>
                  <a:pt x="31868" y="42137"/>
                </a:lnTo>
                <a:lnTo>
                  <a:pt x="58332" y="13914"/>
                </a:lnTo>
                <a:lnTo>
                  <a:pt x="70544" y="8595"/>
                </a:lnTo>
                <a:lnTo>
                  <a:pt x="67530" y="0"/>
                </a:lnTo>
                <a:close/>
              </a:path>
              <a:path w="607695" h="212089">
                <a:moveTo>
                  <a:pt x="540058" y="0"/>
                </a:moveTo>
                <a:lnTo>
                  <a:pt x="537043" y="8595"/>
                </a:lnTo>
                <a:lnTo>
                  <a:pt x="549301" y="13914"/>
                </a:lnTo>
                <a:lnTo>
                  <a:pt x="559842" y="21278"/>
                </a:lnTo>
                <a:lnTo>
                  <a:pt x="581246" y="55409"/>
                </a:lnTo>
                <a:lnTo>
                  <a:pt x="588277" y="104813"/>
                </a:lnTo>
                <a:lnTo>
                  <a:pt x="587493" y="123488"/>
                </a:lnTo>
                <a:lnTo>
                  <a:pt x="575721" y="169218"/>
                </a:lnTo>
                <a:lnTo>
                  <a:pt x="549444" y="197807"/>
                </a:lnTo>
                <a:lnTo>
                  <a:pt x="537378" y="203150"/>
                </a:lnTo>
                <a:lnTo>
                  <a:pt x="540058" y="211745"/>
                </a:lnTo>
                <a:lnTo>
                  <a:pt x="580513" y="187708"/>
                </a:lnTo>
                <a:lnTo>
                  <a:pt x="603235" y="143336"/>
                </a:lnTo>
                <a:lnTo>
                  <a:pt x="607588" y="105929"/>
                </a:lnTo>
                <a:lnTo>
                  <a:pt x="606496" y="86517"/>
                </a:lnTo>
                <a:lnTo>
                  <a:pt x="590119" y="37114"/>
                </a:lnTo>
                <a:lnTo>
                  <a:pt x="555409" y="5542"/>
                </a:lnTo>
                <a:lnTo>
                  <a:pt x="540058"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3" name="object 13"/>
          <p:cNvSpPr txBox="1"/>
          <p:nvPr/>
        </p:nvSpPr>
        <p:spPr>
          <a:xfrm>
            <a:off x="7885800" y="5012728"/>
            <a:ext cx="770890" cy="299720"/>
          </a:xfrm>
          <a:prstGeom prst="rect">
            <a:avLst/>
          </a:prstGeom>
        </p:spPr>
        <p:txBody>
          <a:bodyPr vert="horz" wrap="square" lIns="0" tIns="12700" rIns="0" bIns="0" rtlCol="0">
            <a:spAutoFit/>
          </a:bodyPr>
          <a:lstStyle/>
          <a:p>
            <a:pPr marL="38100">
              <a:spcBef>
                <a:spcPts val="100"/>
              </a:spcBef>
            </a:pPr>
            <a:r>
              <a:rPr dirty="0">
                <a:solidFill>
                  <a:prstClr val="black"/>
                </a:solidFill>
                <a:latin typeface="Cambria Math"/>
                <a:cs typeface="Cambria Math"/>
              </a:rPr>
              <a:t>𝒑</a:t>
            </a:r>
            <a:r>
              <a:rPr spc="300" dirty="0">
                <a:solidFill>
                  <a:prstClr val="black"/>
                </a:solidFill>
                <a:latin typeface="Cambria Math"/>
                <a:cs typeface="Cambria Math"/>
              </a:rPr>
              <a:t> </a:t>
            </a: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r>
              <a:rPr sz="1950" spc="494" baseline="-14957" dirty="0">
                <a:solidFill>
                  <a:prstClr val="black"/>
                </a:solidFill>
                <a:latin typeface="Cambria Math"/>
                <a:cs typeface="Cambria Math"/>
              </a:rPr>
              <a:t> </a:t>
            </a:r>
            <a:r>
              <a:rPr dirty="0">
                <a:solidFill>
                  <a:prstClr val="black"/>
                </a:solidFill>
                <a:latin typeface="Cambria Math"/>
                <a:cs typeface="Cambria Math"/>
              </a:rPr>
              <a:t>𝒉</a:t>
            </a:r>
            <a:endParaRPr>
              <a:solidFill>
                <a:prstClr val="black"/>
              </a:solidFill>
              <a:latin typeface="Cambria Math"/>
              <a:cs typeface="Cambria Math"/>
            </a:endParaRPr>
          </a:p>
        </p:txBody>
      </p:sp>
      <p:pic>
        <p:nvPicPr>
          <p:cNvPr id="14" name="object 14"/>
          <p:cNvPicPr/>
          <p:nvPr/>
        </p:nvPicPr>
        <p:blipFill>
          <a:blip r:embed="rId5" cstate="print"/>
          <a:stretch>
            <a:fillRect/>
          </a:stretch>
        </p:blipFill>
        <p:spPr>
          <a:xfrm>
            <a:off x="3575768" y="2627469"/>
            <a:ext cx="4220243" cy="2882459"/>
          </a:xfrm>
          <a:prstGeom prst="rect">
            <a:avLst/>
          </a:prstGeom>
        </p:spPr>
      </p:pic>
      <p:sp>
        <p:nvSpPr>
          <p:cNvPr id="15" name="object 15"/>
          <p:cNvSpPr txBox="1"/>
          <p:nvPr/>
        </p:nvSpPr>
        <p:spPr>
          <a:xfrm>
            <a:off x="3753525" y="2806270"/>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25" name="object 25"/>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41</a:t>
            </a:fld>
            <a:endParaRPr dirty="0">
              <a:solidFill>
                <a:prstClr val="white"/>
              </a:solidFill>
            </a:endParaRPr>
          </a:p>
        </p:txBody>
      </p:sp>
      <p:sp>
        <p:nvSpPr>
          <p:cNvPr id="16" name="object 16"/>
          <p:cNvSpPr txBox="1"/>
          <p:nvPr/>
        </p:nvSpPr>
        <p:spPr>
          <a:xfrm>
            <a:off x="3722406" y="3910392"/>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17" name="object 17"/>
          <p:cNvSpPr txBox="1"/>
          <p:nvPr/>
        </p:nvSpPr>
        <p:spPr>
          <a:xfrm>
            <a:off x="3722406" y="5014516"/>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8" name="object 18"/>
          <p:cNvSpPr txBox="1"/>
          <p:nvPr/>
        </p:nvSpPr>
        <p:spPr>
          <a:xfrm>
            <a:off x="5150276" y="3265773"/>
            <a:ext cx="320040" cy="299720"/>
          </a:xfrm>
          <a:prstGeom prst="rect">
            <a:avLst/>
          </a:prstGeom>
        </p:spPr>
        <p:txBody>
          <a:bodyPr vert="horz" wrap="square" lIns="0" tIns="12700" rIns="0" bIns="0" rtlCol="0">
            <a:spAutoFit/>
          </a:bodyPr>
          <a:lstStyle/>
          <a:p>
            <a:pPr marL="38100">
              <a:spcBef>
                <a:spcPts val="100"/>
              </a:spcBef>
            </a:pPr>
            <a:r>
              <a:rPr dirty="0">
                <a:solidFill>
                  <a:prstClr val="black"/>
                </a:solidFill>
                <a:latin typeface="Cambria Math"/>
                <a:cs typeface="Cambria Math"/>
              </a:rPr>
              <a:t>𝒉</a:t>
            </a:r>
            <a:r>
              <a:rPr sz="1950"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19" name="object 19"/>
          <p:cNvSpPr txBox="1"/>
          <p:nvPr/>
        </p:nvSpPr>
        <p:spPr>
          <a:xfrm>
            <a:off x="5150276" y="4559207"/>
            <a:ext cx="320040" cy="299720"/>
          </a:xfrm>
          <a:prstGeom prst="rect">
            <a:avLst/>
          </a:prstGeom>
        </p:spPr>
        <p:txBody>
          <a:bodyPr vert="horz" wrap="square" lIns="0" tIns="12700" rIns="0" bIns="0" rtlCol="0">
            <a:spAutoFit/>
          </a:bodyPr>
          <a:lstStyle/>
          <a:p>
            <a:pPr marL="38100">
              <a:spcBef>
                <a:spcPts val="100"/>
              </a:spcBef>
            </a:pPr>
            <a:r>
              <a:rPr dirty="0">
                <a:solidFill>
                  <a:prstClr val="black"/>
                </a:solidFill>
                <a:latin typeface="Cambria Math"/>
                <a:cs typeface="Cambria Math"/>
              </a:rPr>
              <a:t>𝒉</a:t>
            </a:r>
            <a:r>
              <a:rPr sz="1950"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20" name="object 20"/>
          <p:cNvSpPr txBox="1"/>
          <p:nvPr/>
        </p:nvSpPr>
        <p:spPr>
          <a:xfrm>
            <a:off x="6590847" y="2806270"/>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21" name="object 21"/>
          <p:cNvSpPr txBox="1"/>
          <p:nvPr/>
        </p:nvSpPr>
        <p:spPr>
          <a:xfrm>
            <a:off x="6590847" y="3910392"/>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22" name="object 22"/>
          <p:cNvSpPr txBox="1"/>
          <p:nvPr/>
        </p:nvSpPr>
        <p:spPr>
          <a:xfrm>
            <a:off x="6590847" y="5014516"/>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23" name="object 23"/>
          <p:cNvSpPr txBox="1"/>
          <p:nvPr/>
        </p:nvSpPr>
        <p:spPr>
          <a:xfrm>
            <a:off x="3558296" y="5676503"/>
            <a:ext cx="77978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Input</a:t>
            </a:r>
            <a:r>
              <a:rPr b="1" spc="-80" dirty="0">
                <a:solidFill>
                  <a:prstClr val="black"/>
                </a:solidFill>
                <a:latin typeface="Arial"/>
                <a:cs typeface="Arial"/>
              </a:rPr>
              <a:t> </a:t>
            </a:r>
            <a:r>
              <a:rPr dirty="0">
                <a:solidFill>
                  <a:prstClr val="black"/>
                </a:solidFill>
                <a:latin typeface="Cambria Math"/>
                <a:cs typeface="Cambria Math"/>
              </a:rPr>
              <a:t>𝒙</a:t>
            </a:r>
            <a:endParaRPr>
              <a:solidFill>
                <a:prstClr val="black"/>
              </a:solidFill>
              <a:latin typeface="Cambria Math"/>
              <a:cs typeface="Cambria Math"/>
            </a:endParaRPr>
          </a:p>
        </p:txBody>
      </p:sp>
      <p:sp>
        <p:nvSpPr>
          <p:cNvPr id="24" name="object 24"/>
          <p:cNvSpPr txBox="1"/>
          <p:nvPr/>
        </p:nvSpPr>
        <p:spPr>
          <a:xfrm>
            <a:off x="6349871" y="5676503"/>
            <a:ext cx="96901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Output</a:t>
            </a:r>
            <a:r>
              <a:rPr b="1" spc="-75" dirty="0">
                <a:solidFill>
                  <a:prstClr val="black"/>
                </a:solidFill>
                <a:latin typeface="Arial"/>
                <a:cs typeface="Arial"/>
              </a:rPr>
              <a:t> </a:t>
            </a:r>
            <a:r>
              <a:rPr spc="-190" dirty="0">
                <a:solidFill>
                  <a:prstClr val="black"/>
                </a:solidFill>
                <a:latin typeface="Cambria Math"/>
                <a:cs typeface="Cambria Math"/>
              </a:rPr>
              <a:t>𝒙</a:t>
            </a:r>
            <a:r>
              <a:rPr sz="2700" spc="-284" baseline="1543" dirty="0">
                <a:solidFill>
                  <a:prstClr val="black"/>
                </a:solidFill>
                <a:latin typeface="Cambria Math"/>
                <a:cs typeface="Cambria Math"/>
              </a:rPr>
              <a:t>.</a:t>
            </a:r>
            <a:endParaRPr sz="2700" baseline="1543">
              <a:solidFill>
                <a:prstClr val="black"/>
              </a:solidFill>
              <a:latin typeface="Cambria Math"/>
              <a:cs typeface="Cambria Math"/>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1" y="1109979"/>
            <a:ext cx="1245235" cy="391160"/>
          </a:xfrm>
          <a:prstGeom prst="rect">
            <a:avLst/>
          </a:prstGeom>
        </p:spPr>
        <p:txBody>
          <a:bodyPr vert="horz" wrap="square" lIns="0" tIns="12700" rIns="0" bIns="0" rtlCol="0">
            <a:spAutoFit/>
          </a:bodyPr>
          <a:lstStyle/>
          <a:p>
            <a:pPr marL="12700">
              <a:spcBef>
                <a:spcPts val="100"/>
              </a:spcBef>
            </a:pPr>
            <a:r>
              <a:rPr sz="2400" b="1" spc="-5" dirty="0">
                <a:solidFill>
                  <a:prstClr val="black"/>
                </a:solidFill>
                <a:latin typeface="Arial"/>
                <a:cs typeface="Arial"/>
              </a:rPr>
              <a:t>En</a:t>
            </a:r>
            <a:r>
              <a:rPr sz="2400" b="1" dirty="0">
                <a:solidFill>
                  <a:prstClr val="black"/>
                </a:solidFill>
                <a:latin typeface="Arial"/>
                <a:cs typeface="Arial"/>
              </a:rPr>
              <a:t>c</a:t>
            </a:r>
            <a:r>
              <a:rPr sz="2400" b="1" spc="-5" dirty="0">
                <a:solidFill>
                  <a:prstClr val="black"/>
                </a:solidFill>
                <a:latin typeface="Arial"/>
                <a:cs typeface="Arial"/>
              </a:rPr>
              <a:t>od</a:t>
            </a:r>
            <a:r>
              <a:rPr sz="2400" b="1" dirty="0">
                <a:solidFill>
                  <a:prstClr val="black"/>
                </a:solidFill>
                <a:latin typeface="Arial"/>
                <a:cs typeface="Arial"/>
              </a:rPr>
              <a:t>er</a:t>
            </a:r>
            <a:endParaRPr sz="2400">
              <a:solidFill>
                <a:prstClr val="black"/>
              </a:solidFill>
              <a:latin typeface="Arial"/>
              <a:cs typeface="Arial"/>
            </a:endParaRPr>
          </a:p>
        </p:txBody>
      </p:sp>
      <p:grpSp>
        <p:nvGrpSpPr>
          <p:cNvPr id="4" name="object 4"/>
          <p:cNvGrpSpPr/>
          <p:nvPr/>
        </p:nvGrpSpPr>
        <p:grpSpPr>
          <a:xfrm>
            <a:off x="1536701" y="67733"/>
            <a:ext cx="5694045" cy="918844"/>
            <a:chOff x="12700" y="67733"/>
            <a:chExt cx="5694045" cy="918844"/>
          </a:xfrm>
        </p:grpSpPr>
        <p:pic>
          <p:nvPicPr>
            <p:cNvPr id="5" name="object 5"/>
            <p:cNvPicPr/>
            <p:nvPr/>
          </p:nvPicPr>
          <p:blipFill>
            <a:blip r:embed="rId3" cstate="print"/>
            <a:stretch>
              <a:fillRect/>
            </a:stretch>
          </p:blipFill>
          <p:spPr>
            <a:xfrm>
              <a:off x="12700" y="67733"/>
              <a:ext cx="3259667" cy="918633"/>
            </a:xfrm>
            <a:prstGeom prst="rect">
              <a:avLst/>
            </a:prstGeom>
          </p:spPr>
        </p:pic>
        <p:pic>
          <p:nvPicPr>
            <p:cNvPr id="6" name="object 6"/>
            <p:cNvPicPr/>
            <p:nvPr/>
          </p:nvPicPr>
          <p:blipFill>
            <a:blip r:embed="rId4" cstate="print"/>
            <a:stretch>
              <a:fillRect/>
            </a:stretch>
          </p:blipFill>
          <p:spPr>
            <a:xfrm>
              <a:off x="2717800" y="67733"/>
              <a:ext cx="2988732" cy="918633"/>
            </a:xfrm>
            <a:prstGeom prst="rect">
              <a:avLst/>
            </a:prstGeom>
          </p:spPr>
        </p:pic>
      </p:grpSp>
      <p:sp>
        <p:nvSpPr>
          <p:cNvPr id="7" name="object 7"/>
          <p:cNvSpPr txBox="1">
            <a:spLocks noGrp="1"/>
          </p:cNvSpPr>
          <p:nvPr>
            <p:ph type="title"/>
          </p:nvPr>
        </p:nvSpPr>
        <p:spPr>
          <a:xfrm>
            <a:off x="1785621" y="183388"/>
            <a:ext cx="5163185"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Probability</a:t>
            </a:r>
            <a:r>
              <a:rPr sz="3200" spc="-55" dirty="0">
                <a:solidFill>
                  <a:srgbClr val="004990"/>
                </a:solidFill>
              </a:rPr>
              <a:t> </a:t>
            </a:r>
            <a:r>
              <a:rPr sz="3200" spc="-5" dirty="0">
                <a:solidFill>
                  <a:srgbClr val="004990"/>
                </a:solidFill>
              </a:rPr>
              <a:t>of</a:t>
            </a:r>
            <a:r>
              <a:rPr sz="3200" spc="-45" dirty="0">
                <a:solidFill>
                  <a:srgbClr val="004990"/>
                </a:solidFill>
              </a:rPr>
              <a:t> </a:t>
            </a:r>
            <a:r>
              <a:rPr sz="3200" spc="-5" dirty="0">
                <a:solidFill>
                  <a:srgbClr val="004990"/>
                </a:solidFill>
              </a:rPr>
              <a:t>autoencoder</a:t>
            </a:r>
            <a:endParaRPr sz="3200"/>
          </a:p>
        </p:txBody>
      </p:sp>
      <p:pic>
        <p:nvPicPr>
          <p:cNvPr id="8" name="object 8"/>
          <p:cNvPicPr/>
          <p:nvPr/>
        </p:nvPicPr>
        <p:blipFill>
          <a:blip r:embed="rId5" cstate="print"/>
          <a:stretch>
            <a:fillRect/>
          </a:stretch>
        </p:blipFill>
        <p:spPr>
          <a:xfrm>
            <a:off x="5986110" y="3382055"/>
            <a:ext cx="4140199" cy="330200"/>
          </a:xfrm>
          <a:prstGeom prst="rect">
            <a:avLst/>
          </a:prstGeom>
        </p:spPr>
      </p:pic>
      <p:pic>
        <p:nvPicPr>
          <p:cNvPr id="9" name="object 9"/>
          <p:cNvPicPr/>
          <p:nvPr/>
        </p:nvPicPr>
        <p:blipFill>
          <a:blip r:embed="rId6" cstate="print"/>
          <a:stretch>
            <a:fillRect/>
          </a:stretch>
        </p:blipFill>
        <p:spPr>
          <a:xfrm>
            <a:off x="3118792" y="2239510"/>
            <a:ext cx="2603720" cy="2716893"/>
          </a:xfrm>
          <a:prstGeom prst="rect">
            <a:avLst/>
          </a:prstGeom>
        </p:spPr>
      </p:pic>
      <p:sp>
        <p:nvSpPr>
          <p:cNvPr id="10" name="object 10"/>
          <p:cNvSpPr txBox="1"/>
          <p:nvPr/>
        </p:nvSpPr>
        <p:spPr>
          <a:xfrm>
            <a:off x="3208532" y="2240955"/>
            <a:ext cx="1753235" cy="2538730"/>
          </a:xfrm>
          <a:prstGeom prst="rect">
            <a:avLst/>
          </a:prstGeom>
        </p:spPr>
        <p:txBody>
          <a:bodyPr vert="horz" wrap="square" lIns="0" tIns="170815" rIns="0" bIns="0" rtlCol="0">
            <a:spAutoFit/>
          </a:bodyPr>
          <a:lstStyle/>
          <a:p>
            <a:pPr marL="107314">
              <a:spcBef>
                <a:spcPts val="1345"/>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a:p>
            <a:pPr marL="1420495">
              <a:spcBef>
                <a:spcPts val="1250"/>
              </a:spcBef>
            </a:pPr>
            <a:r>
              <a:rPr dirty="0">
                <a:solidFill>
                  <a:prstClr val="black"/>
                </a:solidFill>
                <a:latin typeface="Cambria Math"/>
                <a:cs typeface="Cambria Math"/>
              </a:rPr>
              <a:t>𝒉</a:t>
            </a:r>
            <a:r>
              <a:rPr sz="1950" baseline="-14957" dirty="0">
                <a:solidFill>
                  <a:prstClr val="black"/>
                </a:solidFill>
                <a:latin typeface="Cambria Math"/>
                <a:cs typeface="Cambria Math"/>
              </a:rPr>
              <a:t>𝟏</a:t>
            </a:r>
            <a:endParaRPr sz="1950" baseline="-14957">
              <a:solidFill>
                <a:prstClr val="black"/>
              </a:solidFill>
              <a:latin typeface="Cambria Math"/>
              <a:cs typeface="Cambria Math"/>
            </a:endParaRPr>
          </a:p>
          <a:p>
            <a:pPr>
              <a:spcBef>
                <a:spcPts val="40"/>
              </a:spcBef>
            </a:pPr>
            <a:endParaRPr sz="2200">
              <a:solidFill>
                <a:prstClr val="black"/>
              </a:solidFill>
              <a:latin typeface="Cambria Math"/>
              <a:cs typeface="Cambria Math"/>
            </a:endParaRPr>
          </a:p>
          <a:p>
            <a:pPr marL="76200">
              <a:spcBef>
                <a:spcPts val="5"/>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a:p>
            <a:pPr>
              <a:spcBef>
                <a:spcPts val="10"/>
              </a:spcBef>
            </a:pPr>
            <a:endParaRPr sz="2250">
              <a:solidFill>
                <a:prstClr val="black"/>
              </a:solidFill>
              <a:latin typeface="Cambria Math"/>
              <a:cs typeface="Cambria Math"/>
            </a:endParaRPr>
          </a:p>
          <a:p>
            <a:pPr marL="1420495">
              <a:spcBef>
                <a:spcPts val="5"/>
              </a:spcBef>
            </a:pPr>
            <a:r>
              <a:rPr dirty="0">
                <a:solidFill>
                  <a:prstClr val="black"/>
                </a:solidFill>
                <a:latin typeface="Cambria Math"/>
                <a:cs typeface="Cambria Math"/>
              </a:rPr>
              <a:t>𝒉</a:t>
            </a:r>
            <a:r>
              <a:rPr sz="1950" baseline="-14957" dirty="0">
                <a:solidFill>
                  <a:prstClr val="black"/>
                </a:solidFill>
                <a:latin typeface="Cambria Math"/>
                <a:cs typeface="Cambria Math"/>
              </a:rPr>
              <a:t>𝟐</a:t>
            </a:r>
            <a:endParaRPr sz="1950" baseline="-14957">
              <a:solidFill>
                <a:prstClr val="black"/>
              </a:solidFill>
              <a:latin typeface="Cambria Math"/>
              <a:cs typeface="Cambria Math"/>
            </a:endParaRPr>
          </a:p>
          <a:p>
            <a:pPr marL="76200">
              <a:spcBef>
                <a:spcPts val="1215"/>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42</a:t>
            </a:fld>
            <a:endParaRPr dirty="0">
              <a:solidFill>
                <a:prstClr val="white"/>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2"/>
            <a:ext cx="170687" cy="177800"/>
          </a:xfrm>
          <a:prstGeom prst="rect">
            <a:avLst/>
          </a:prstGeom>
        </p:spPr>
      </p:pic>
      <p:sp>
        <p:nvSpPr>
          <p:cNvPr id="3" name="object 3"/>
          <p:cNvSpPr txBox="1"/>
          <p:nvPr/>
        </p:nvSpPr>
        <p:spPr>
          <a:xfrm>
            <a:off x="2210180" y="1109979"/>
            <a:ext cx="1245870" cy="391160"/>
          </a:xfrm>
          <a:prstGeom prst="rect">
            <a:avLst/>
          </a:prstGeom>
        </p:spPr>
        <p:txBody>
          <a:bodyPr vert="horz" wrap="square" lIns="0" tIns="12700" rIns="0" bIns="0" rtlCol="0">
            <a:spAutoFit/>
          </a:bodyPr>
          <a:lstStyle/>
          <a:p>
            <a:pPr marL="12700">
              <a:spcBef>
                <a:spcPts val="100"/>
              </a:spcBef>
            </a:pPr>
            <a:r>
              <a:rPr sz="2400" b="1" spc="-5" dirty="0">
                <a:solidFill>
                  <a:prstClr val="black"/>
                </a:solidFill>
                <a:latin typeface="Arial"/>
                <a:cs typeface="Arial"/>
              </a:rPr>
              <a:t>Decoder</a:t>
            </a:r>
            <a:endParaRPr sz="2400">
              <a:solidFill>
                <a:prstClr val="black"/>
              </a:solidFill>
              <a:latin typeface="Arial"/>
              <a:cs typeface="Arial"/>
            </a:endParaRPr>
          </a:p>
        </p:txBody>
      </p:sp>
      <p:grpSp>
        <p:nvGrpSpPr>
          <p:cNvPr id="4" name="object 4"/>
          <p:cNvGrpSpPr/>
          <p:nvPr/>
        </p:nvGrpSpPr>
        <p:grpSpPr>
          <a:xfrm>
            <a:off x="1536701" y="67733"/>
            <a:ext cx="5694045" cy="918844"/>
            <a:chOff x="12700" y="67733"/>
            <a:chExt cx="5694045" cy="918844"/>
          </a:xfrm>
        </p:grpSpPr>
        <p:pic>
          <p:nvPicPr>
            <p:cNvPr id="5" name="object 5"/>
            <p:cNvPicPr/>
            <p:nvPr/>
          </p:nvPicPr>
          <p:blipFill>
            <a:blip r:embed="rId3" cstate="print"/>
            <a:stretch>
              <a:fillRect/>
            </a:stretch>
          </p:blipFill>
          <p:spPr>
            <a:xfrm>
              <a:off x="12700" y="67733"/>
              <a:ext cx="3259667" cy="918633"/>
            </a:xfrm>
            <a:prstGeom prst="rect">
              <a:avLst/>
            </a:prstGeom>
          </p:spPr>
        </p:pic>
        <p:pic>
          <p:nvPicPr>
            <p:cNvPr id="6" name="object 6"/>
            <p:cNvPicPr/>
            <p:nvPr/>
          </p:nvPicPr>
          <p:blipFill>
            <a:blip r:embed="rId4" cstate="print"/>
            <a:stretch>
              <a:fillRect/>
            </a:stretch>
          </p:blipFill>
          <p:spPr>
            <a:xfrm>
              <a:off x="2717800" y="67733"/>
              <a:ext cx="2988732" cy="918633"/>
            </a:xfrm>
            <a:prstGeom prst="rect">
              <a:avLst/>
            </a:prstGeom>
          </p:spPr>
        </p:pic>
      </p:grpSp>
      <p:sp>
        <p:nvSpPr>
          <p:cNvPr id="7" name="object 7"/>
          <p:cNvSpPr txBox="1">
            <a:spLocks noGrp="1"/>
          </p:cNvSpPr>
          <p:nvPr>
            <p:ph type="title"/>
          </p:nvPr>
        </p:nvSpPr>
        <p:spPr>
          <a:xfrm>
            <a:off x="1785621" y="183388"/>
            <a:ext cx="5163185"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Probability</a:t>
            </a:r>
            <a:r>
              <a:rPr sz="3200" spc="-55" dirty="0">
                <a:solidFill>
                  <a:srgbClr val="004990"/>
                </a:solidFill>
              </a:rPr>
              <a:t> </a:t>
            </a:r>
            <a:r>
              <a:rPr sz="3200" spc="-5" dirty="0">
                <a:solidFill>
                  <a:srgbClr val="004990"/>
                </a:solidFill>
              </a:rPr>
              <a:t>of</a:t>
            </a:r>
            <a:r>
              <a:rPr sz="3200" spc="-45" dirty="0">
                <a:solidFill>
                  <a:srgbClr val="004990"/>
                </a:solidFill>
              </a:rPr>
              <a:t> </a:t>
            </a:r>
            <a:r>
              <a:rPr sz="3200" spc="-5" dirty="0">
                <a:solidFill>
                  <a:srgbClr val="004990"/>
                </a:solidFill>
              </a:rPr>
              <a:t>autoencoder</a:t>
            </a:r>
            <a:endParaRPr sz="3200"/>
          </a:p>
        </p:txBody>
      </p:sp>
      <p:pic>
        <p:nvPicPr>
          <p:cNvPr id="8" name="object 8"/>
          <p:cNvPicPr/>
          <p:nvPr/>
        </p:nvPicPr>
        <p:blipFill>
          <a:blip r:embed="rId5" cstate="print"/>
          <a:stretch>
            <a:fillRect/>
          </a:stretch>
        </p:blipFill>
        <p:spPr>
          <a:xfrm>
            <a:off x="2204391" y="2096436"/>
            <a:ext cx="2668116" cy="2716893"/>
          </a:xfrm>
          <a:prstGeom prst="rect">
            <a:avLst/>
          </a:prstGeom>
        </p:spPr>
      </p:pic>
      <p:sp>
        <p:nvSpPr>
          <p:cNvPr id="9" name="object 9"/>
          <p:cNvSpPr txBox="1"/>
          <p:nvPr/>
        </p:nvSpPr>
        <p:spPr>
          <a:xfrm>
            <a:off x="2275081" y="2097882"/>
            <a:ext cx="1765935" cy="2538730"/>
          </a:xfrm>
          <a:prstGeom prst="rect">
            <a:avLst/>
          </a:prstGeom>
        </p:spPr>
        <p:txBody>
          <a:bodyPr vert="horz" wrap="square" lIns="0" tIns="170815" rIns="0" bIns="0" rtlCol="0">
            <a:spAutoFit/>
          </a:bodyPr>
          <a:lstStyle/>
          <a:p>
            <a:pPr marR="81280" algn="r">
              <a:spcBef>
                <a:spcPts val="1345"/>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a:p>
            <a:pPr marL="88900">
              <a:spcBef>
                <a:spcPts val="1250"/>
              </a:spcBef>
            </a:pPr>
            <a:r>
              <a:rPr dirty="0">
                <a:solidFill>
                  <a:prstClr val="black"/>
                </a:solidFill>
                <a:latin typeface="Cambria Math"/>
                <a:cs typeface="Cambria Math"/>
              </a:rPr>
              <a:t>𝒉</a:t>
            </a:r>
            <a:r>
              <a:rPr sz="1950" baseline="-14957" dirty="0">
                <a:solidFill>
                  <a:prstClr val="black"/>
                </a:solidFill>
                <a:latin typeface="Cambria Math"/>
                <a:cs typeface="Cambria Math"/>
              </a:rPr>
              <a:t>𝟏</a:t>
            </a:r>
            <a:endParaRPr sz="1950" baseline="-14957">
              <a:solidFill>
                <a:prstClr val="black"/>
              </a:solidFill>
              <a:latin typeface="Cambria Math"/>
              <a:cs typeface="Cambria Math"/>
            </a:endParaRPr>
          </a:p>
          <a:p>
            <a:pPr>
              <a:spcBef>
                <a:spcPts val="40"/>
              </a:spcBef>
            </a:pPr>
            <a:endParaRPr sz="2200">
              <a:solidFill>
                <a:prstClr val="black"/>
              </a:solidFill>
              <a:latin typeface="Cambria Math"/>
              <a:cs typeface="Cambria Math"/>
            </a:endParaRPr>
          </a:p>
          <a:p>
            <a:pPr marR="81280" algn="r">
              <a:spcBef>
                <a:spcPts val="5"/>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a:p>
            <a:pPr>
              <a:spcBef>
                <a:spcPts val="10"/>
              </a:spcBef>
            </a:pPr>
            <a:endParaRPr sz="2250">
              <a:solidFill>
                <a:prstClr val="black"/>
              </a:solidFill>
              <a:latin typeface="Cambria Math"/>
              <a:cs typeface="Cambria Math"/>
            </a:endParaRPr>
          </a:p>
          <a:p>
            <a:pPr marL="88900">
              <a:spcBef>
                <a:spcPts val="5"/>
              </a:spcBef>
            </a:pPr>
            <a:r>
              <a:rPr dirty="0">
                <a:solidFill>
                  <a:prstClr val="black"/>
                </a:solidFill>
                <a:latin typeface="Cambria Math"/>
                <a:cs typeface="Cambria Math"/>
              </a:rPr>
              <a:t>𝒉</a:t>
            </a:r>
            <a:r>
              <a:rPr sz="1950" baseline="-14957" dirty="0">
                <a:solidFill>
                  <a:prstClr val="black"/>
                </a:solidFill>
                <a:latin typeface="Cambria Math"/>
                <a:cs typeface="Cambria Math"/>
              </a:rPr>
              <a:t>𝟐</a:t>
            </a:r>
            <a:endParaRPr sz="1950" baseline="-14957">
              <a:solidFill>
                <a:prstClr val="black"/>
              </a:solidFill>
              <a:latin typeface="Cambria Math"/>
              <a:cs typeface="Cambria Math"/>
            </a:endParaRPr>
          </a:p>
          <a:p>
            <a:pPr marR="81280" algn="r">
              <a:spcBef>
                <a:spcPts val="1215"/>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pic>
        <p:nvPicPr>
          <p:cNvPr id="10" name="object 10"/>
          <p:cNvPicPr/>
          <p:nvPr/>
        </p:nvPicPr>
        <p:blipFill>
          <a:blip r:embed="rId6" cstate="print"/>
          <a:stretch>
            <a:fillRect/>
          </a:stretch>
        </p:blipFill>
        <p:spPr>
          <a:xfrm>
            <a:off x="5861254" y="3277082"/>
            <a:ext cx="4241800" cy="330200"/>
          </a:xfrm>
          <a:prstGeom prst="rect">
            <a:avLst/>
          </a:prstGeom>
        </p:spPr>
      </p:pic>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43</a:t>
            </a:fld>
            <a:endParaRPr dirty="0">
              <a:solidFill>
                <a:prstClr val="white"/>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536700" y="67733"/>
            <a:ext cx="5533390" cy="918844"/>
            <a:chOff x="12700" y="67733"/>
            <a:chExt cx="5533390" cy="918844"/>
          </a:xfrm>
        </p:grpSpPr>
        <p:pic>
          <p:nvPicPr>
            <p:cNvPr id="5" name="object 5"/>
            <p:cNvPicPr/>
            <p:nvPr/>
          </p:nvPicPr>
          <p:blipFill>
            <a:blip r:embed="rId2" cstate="print"/>
            <a:stretch>
              <a:fillRect/>
            </a:stretch>
          </p:blipFill>
          <p:spPr>
            <a:xfrm>
              <a:off x="12700" y="67733"/>
              <a:ext cx="2379132" cy="918633"/>
            </a:xfrm>
            <a:prstGeom prst="rect">
              <a:avLst/>
            </a:prstGeom>
          </p:spPr>
        </p:pic>
        <p:pic>
          <p:nvPicPr>
            <p:cNvPr id="6" name="object 6"/>
            <p:cNvPicPr/>
            <p:nvPr/>
          </p:nvPicPr>
          <p:blipFill>
            <a:blip r:embed="rId3" cstate="print"/>
            <a:stretch>
              <a:fillRect/>
            </a:stretch>
          </p:blipFill>
          <p:spPr>
            <a:xfrm>
              <a:off x="1837267" y="67733"/>
              <a:ext cx="1049866" cy="918633"/>
            </a:xfrm>
            <a:prstGeom prst="rect">
              <a:avLst/>
            </a:prstGeom>
          </p:spPr>
        </p:pic>
        <p:pic>
          <p:nvPicPr>
            <p:cNvPr id="7" name="object 7"/>
            <p:cNvPicPr/>
            <p:nvPr/>
          </p:nvPicPr>
          <p:blipFill>
            <a:blip r:embed="rId4" cstate="print"/>
            <a:stretch>
              <a:fillRect/>
            </a:stretch>
          </p:blipFill>
          <p:spPr>
            <a:xfrm>
              <a:off x="2332567" y="67733"/>
              <a:ext cx="3213100" cy="918633"/>
            </a:xfrm>
            <a:prstGeom prst="rect">
              <a:avLst/>
            </a:prstGeom>
          </p:spPr>
        </p:pic>
      </p:grpSp>
      <p:sp>
        <p:nvSpPr>
          <p:cNvPr id="8" name="object 8"/>
          <p:cNvSpPr txBox="1">
            <a:spLocks noGrp="1"/>
          </p:cNvSpPr>
          <p:nvPr>
            <p:ph type="title"/>
          </p:nvPr>
        </p:nvSpPr>
        <p:spPr>
          <a:xfrm>
            <a:off x="1785620" y="183388"/>
            <a:ext cx="5006340"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Learning</a:t>
            </a:r>
            <a:r>
              <a:rPr sz="3200" spc="-45" dirty="0">
                <a:solidFill>
                  <a:srgbClr val="004990"/>
                </a:solidFill>
              </a:rPr>
              <a:t> </a:t>
            </a:r>
            <a:r>
              <a:rPr sz="3200" spc="-5" dirty="0">
                <a:solidFill>
                  <a:srgbClr val="004990"/>
                </a:solidFill>
              </a:rPr>
              <a:t>of</a:t>
            </a:r>
            <a:r>
              <a:rPr sz="3200" spc="-35" dirty="0">
                <a:solidFill>
                  <a:srgbClr val="004990"/>
                </a:solidFill>
              </a:rPr>
              <a:t> </a:t>
            </a:r>
            <a:r>
              <a:rPr sz="3200" spc="-5" dirty="0">
                <a:solidFill>
                  <a:srgbClr val="004990"/>
                </a:solidFill>
              </a:rPr>
              <a:t>autoencoders</a:t>
            </a:r>
            <a:endParaRPr sz="3200"/>
          </a:p>
        </p:txBody>
      </p:sp>
      <p:pic>
        <p:nvPicPr>
          <p:cNvPr id="9" name="object 9"/>
          <p:cNvPicPr/>
          <p:nvPr/>
        </p:nvPicPr>
        <p:blipFill>
          <a:blip r:embed="rId5" cstate="print"/>
          <a:stretch>
            <a:fillRect/>
          </a:stretch>
        </p:blipFill>
        <p:spPr>
          <a:xfrm>
            <a:off x="3545762" y="2900820"/>
            <a:ext cx="4956573" cy="2892113"/>
          </a:xfrm>
          <a:prstGeom prst="rect">
            <a:avLst/>
          </a:prstGeom>
        </p:spPr>
      </p:pic>
      <p:sp>
        <p:nvSpPr>
          <p:cNvPr id="10" name="object 10"/>
          <p:cNvSpPr txBox="1"/>
          <p:nvPr/>
        </p:nvSpPr>
        <p:spPr>
          <a:xfrm>
            <a:off x="4337309" y="3080717"/>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11" name="object 11"/>
          <p:cNvSpPr txBox="1"/>
          <p:nvPr/>
        </p:nvSpPr>
        <p:spPr>
          <a:xfrm>
            <a:off x="4306203" y="4188571"/>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12" name="object 12"/>
          <p:cNvSpPr txBox="1"/>
          <p:nvPr/>
        </p:nvSpPr>
        <p:spPr>
          <a:xfrm>
            <a:off x="4306203" y="5296424"/>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3" name="object 13"/>
          <p:cNvSpPr txBox="1"/>
          <p:nvPr/>
        </p:nvSpPr>
        <p:spPr>
          <a:xfrm>
            <a:off x="7184337" y="3080717"/>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14" name="object 14"/>
          <p:cNvSpPr txBox="1"/>
          <p:nvPr/>
        </p:nvSpPr>
        <p:spPr>
          <a:xfrm>
            <a:off x="7184337" y="4188571"/>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15" name="object 15"/>
          <p:cNvSpPr txBox="1"/>
          <p:nvPr/>
        </p:nvSpPr>
        <p:spPr>
          <a:xfrm>
            <a:off x="7184337" y="5296424"/>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6" name="object 16"/>
          <p:cNvSpPr txBox="1"/>
          <p:nvPr/>
        </p:nvSpPr>
        <p:spPr>
          <a:xfrm>
            <a:off x="4140628" y="5960031"/>
            <a:ext cx="77978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Input</a:t>
            </a:r>
            <a:r>
              <a:rPr b="1" spc="-80" dirty="0">
                <a:solidFill>
                  <a:prstClr val="black"/>
                </a:solidFill>
                <a:latin typeface="Arial"/>
                <a:cs typeface="Arial"/>
              </a:rPr>
              <a:t> </a:t>
            </a:r>
            <a:r>
              <a:rPr dirty="0">
                <a:solidFill>
                  <a:prstClr val="black"/>
                </a:solidFill>
                <a:latin typeface="Cambria Math"/>
                <a:cs typeface="Cambria Math"/>
              </a:rPr>
              <a:t>𝒙</a:t>
            </a:r>
            <a:endParaRPr>
              <a:solidFill>
                <a:prstClr val="black"/>
              </a:solidFill>
              <a:latin typeface="Cambria Math"/>
              <a:cs typeface="Cambria Math"/>
            </a:endParaRPr>
          </a:p>
        </p:txBody>
      </p:sp>
      <p:sp>
        <p:nvSpPr>
          <p:cNvPr id="17" name="object 17"/>
          <p:cNvSpPr txBox="1"/>
          <p:nvPr/>
        </p:nvSpPr>
        <p:spPr>
          <a:xfrm>
            <a:off x="7030297" y="5960031"/>
            <a:ext cx="96901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Output</a:t>
            </a:r>
            <a:r>
              <a:rPr b="1" spc="-75" dirty="0">
                <a:solidFill>
                  <a:prstClr val="black"/>
                </a:solidFill>
                <a:latin typeface="Arial"/>
                <a:cs typeface="Arial"/>
              </a:rPr>
              <a:t> </a:t>
            </a:r>
            <a:r>
              <a:rPr spc="-190" dirty="0">
                <a:solidFill>
                  <a:prstClr val="black"/>
                </a:solidFill>
                <a:latin typeface="Cambria Math"/>
                <a:cs typeface="Cambria Math"/>
              </a:rPr>
              <a:t>𝒙</a:t>
            </a:r>
            <a:r>
              <a:rPr sz="2700" spc="-284" baseline="1543" dirty="0">
                <a:solidFill>
                  <a:prstClr val="black"/>
                </a:solidFill>
                <a:latin typeface="Cambria Math"/>
                <a:cs typeface="Cambria Math"/>
              </a:rPr>
              <a:t>.</a:t>
            </a:r>
            <a:endParaRPr sz="2700" baseline="1543">
              <a:solidFill>
                <a:prstClr val="black"/>
              </a:solidFill>
              <a:latin typeface="Cambria Math"/>
              <a:cs typeface="Cambria Math"/>
            </a:endParaRPr>
          </a:p>
        </p:txBody>
      </p:sp>
      <p:sp>
        <p:nvSpPr>
          <p:cNvPr id="18" name="object 18"/>
          <p:cNvSpPr txBox="1"/>
          <p:nvPr/>
        </p:nvSpPr>
        <p:spPr>
          <a:xfrm>
            <a:off x="3033707" y="3094811"/>
            <a:ext cx="543560" cy="2606483"/>
          </a:xfrm>
          <a:prstGeom prst="rect">
            <a:avLst/>
          </a:prstGeom>
          <a:ln w="25400">
            <a:solidFill>
              <a:srgbClr val="000000"/>
            </a:solidFill>
          </a:ln>
        </p:spPr>
        <p:txBody>
          <a:bodyPr vert="horz" wrap="square" lIns="0" tIns="41275" rIns="0" bIns="0" rtlCol="0">
            <a:spAutoFit/>
          </a:bodyPr>
          <a:lstStyle/>
          <a:p>
            <a:pPr marL="31115">
              <a:spcBef>
                <a:spcPts val="325"/>
              </a:spcBef>
            </a:pPr>
            <a:r>
              <a:rPr sz="1600" b="1" spc="-5" dirty="0">
                <a:solidFill>
                  <a:prstClr val="black"/>
                </a:solidFill>
                <a:latin typeface="Arial"/>
                <a:cs typeface="Arial"/>
              </a:rPr>
              <a:t>0</a:t>
            </a:r>
            <a:r>
              <a:rPr sz="1600" b="1" spc="5" dirty="0">
                <a:solidFill>
                  <a:prstClr val="black"/>
                </a:solidFill>
                <a:latin typeface="Arial"/>
                <a:cs typeface="Arial"/>
              </a:rPr>
              <a:t>.</a:t>
            </a:r>
            <a:r>
              <a:rPr sz="1600" b="1" spc="-5" dirty="0">
                <a:solidFill>
                  <a:prstClr val="black"/>
                </a:solidFill>
                <a:latin typeface="Arial"/>
                <a:cs typeface="Arial"/>
              </a:rPr>
              <a:t>321</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L="78105">
              <a:spcBef>
                <a:spcPts val="1110"/>
              </a:spcBef>
            </a:pPr>
            <a:r>
              <a:rPr sz="1600" b="1" spc="-5" dirty="0">
                <a:solidFill>
                  <a:prstClr val="black"/>
                </a:solidFill>
                <a:latin typeface="Arial"/>
                <a:cs typeface="Arial"/>
              </a:rPr>
              <a:t>12.8</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a:spcBef>
                <a:spcPts val="5"/>
              </a:spcBef>
            </a:pPr>
            <a:endParaRPr sz="1350">
              <a:solidFill>
                <a:prstClr val="black"/>
              </a:solidFill>
              <a:latin typeface="Arial"/>
              <a:cs typeface="Arial"/>
            </a:endParaRPr>
          </a:p>
          <a:p>
            <a:pPr marL="46990"/>
            <a:r>
              <a:rPr sz="1600" b="1" spc="-5" dirty="0">
                <a:solidFill>
                  <a:prstClr val="black"/>
                </a:solidFill>
                <a:latin typeface="Arial"/>
                <a:cs typeface="Arial"/>
              </a:rPr>
              <a:t>-2.12</a:t>
            </a:r>
            <a:endParaRPr sz="1600">
              <a:solidFill>
                <a:prstClr val="black"/>
              </a:solidFill>
              <a:latin typeface="Arial"/>
              <a:cs typeface="Arial"/>
            </a:endParaRPr>
          </a:p>
        </p:txBody>
      </p:sp>
      <p:sp>
        <p:nvSpPr>
          <p:cNvPr id="19" name="object 19"/>
          <p:cNvSpPr txBox="1"/>
          <p:nvPr/>
        </p:nvSpPr>
        <p:spPr>
          <a:xfrm>
            <a:off x="2460126" y="3127409"/>
            <a:ext cx="421005" cy="269240"/>
          </a:xfrm>
          <a:prstGeom prst="rect">
            <a:avLst/>
          </a:prstGeom>
        </p:spPr>
        <p:txBody>
          <a:bodyPr vert="horz" wrap="square" lIns="0" tIns="12700" rIns="0" bIns="0" rtlCol="0">
            <a:spAutoFit/>
          </a:bodyPr>
          <a:lstStyle/>
          <a:p>
            <a:pPr marL="12700">
              <a:spcBef>
                <a:spcPts val="100"/>
              </a:spcBef>
            </a:pPr>
            <a:r>
              <a:rPr sz="1600" b="1" spc="-5" dirty="0">
                <a:solidFill>
                  <a:prstClr val="black"/>
                </a:solidFill>
                <a:latin typeface="Arial"/>
                <a:cs typeface="Arial"/>
              </a:rPr>
              <a:t>0</a:t>
            </a:r>
            <a:r>
              <a:rPr sz="1600" b="1" spc="5" dirty="0">
                <a:solidFill>
                  <a:prstClr val="black"/>
                </a:solidFill>
                <a:latin typeface="Arial"/>
                <a:cs typeface="Arial"/>
              </a:rPr>
              <a:t>.</a:t>
            </a:r>
            <a:r>
              <a:rPr sz="1600" b="1" spc="-5" dirty="0">
                <a:solidFill>
                  <a:prstClr val="black"/>
                </a:solidFill>
                <a:latin typeface="Arial"/>
                <a:cs typeface="Arial"/>
              </a:rPr>
              <a:t>12</a:t>
            </a:r>
            <a:endParaRPr sz="1600">
              <a:solidFill>
                <a:prstClr val="black"/>
              </a:solidFill>
              <a:latin typeface="Arial"/>
              <a:cs typeface="Arial"/>
            </a:endParaRPr>
          </a:p>
        </p:txBody>
      </p:sp>
      <p:sp>
        <p:nvSpPr>
          <p:cNvPr id="20" name="object 20"/>
          <p:cNvSpPr txBox="1"/>
          <p:nvPr/>
        </p:nvSpPr>
        <p:spPr>
          <a:xfrm>
            <a:off x="2428023" y="4245323"/>
            <a:ext cx="523240" cy="269240"/>
          </a:xfrm>
          <a:prstGeom prst="rect">
            <a:avLst/>
          </a:prstGeom>
        </p:spPr>
        <p:txBody>
          <a:bodyPr vert="horz" wrap="square" lIns="0" tIns="12700" rIns="0" bIns="0" rtlCol="0">
            <a:spAutoFit/>
          </a:bodyPr>
          <a:lstStyle/>
          <a:p>
            <a:pPr marL="12700">
              <a:spcBef>
                <a:spcPts val="100"/>
              </a:spcBef>
            </a:pPr>
            <a:r>
              <a:rPr sz="1600" b="1" spc="-5" dirty="0">
                <a:solidFill>
                  <a:prstClr val="black"/>
                </a:solidFill>
                <a:latin typeface="Arial"/>
                <a:cs typeface="Arial"/>
              </a:rPr>
              <a:t>10</a:t>
            </a:r>
            <a:r>
              <a:rPr sz="1600" b="1" spc="5" dirty="0">
                <a:solidFill>
                  <a:prstClr val="black"/>
                </a:solidFill>
                <a:latin typeface="Arial"/>
                <a:cs typeface="Arial"/>
              </a:rPr>
              <a:t>.</a:t>
            </a:r>
            <a:r>
              <a:rPr sz="1600" b="1" spc="-90" dirty="0">
                <a:solidFill>
                  <a:prstClr val="black"/>
                </a:solidFill>
                <a:latin typeface="Arial"/>
                <a:cs typeface="Arial"/>
              </a:rPr>
              <a:t>1</a:t>
            </a:r>
            <a:r>
              <a:rPr sz="1600" b="1" dirty="0">
                <a:solidFill>
                  <a:prstClr val="black"/>
                </a:solidFill>
                <a:latin typeface="Arial"/>
                <a:cs typeface="Arial"/>
              </a:rPr>
              <a:t>1</a:t>
            </a:r>
            <a:endParaRPr sz="1600">
              <a:solidFill>
                <a:prstClr val="black"/>
              </a:solidFill>
              <a:latin typeface="Arial"/>
              <a:cs typeface="Arial"/>
            </a:endParaRPr>
          </a:p>
        </p:txBody>
      </p:sp>
      <p:sp>
        <p:nvSpPr>
          <p:cNvPr id="21" name="object 21"/>
          <p:cNvSpPr txBox="1"/>
          <p:nvPr/>
        </p:nvSpPr>
        <p:spPr>
          <a:xfrm>
            <a:off x="2443220" y="5352153"/>
            <a:ext cx="489584" cy="269240"/>
          </a:xfrm>
          <a:prstGeom prst="rect">
            <a:avLst/>
          </a:prstGeom>
        </p:spPr>
        <p:txBody>
          <a:bodyPr vert="horz" wrap="square" lIns="0" tIns="12700" rIns="0" bIns="0" rtlCol="0">
            <a:spAutoFit/>
          </a:bodyPr>
          <a:lstStyle/>
          <a:p>
            <a:pPr marL="12700">
              <a:spcBef>
                <a:spcPts val="100"/>
              </a:spcBef>
            </a:pPr>
            <a:r>
              <a:rPr sz="1600" b="1" dirty="0">
                <a:solidFill>
                  <a:prstClr val="black"/>
                </a:solidFill>
                <a:latin typeface="Arial"/>
                <a:cs typeface="Arial"/>
              </a:rPr>
              <a:t>-</a:t>
            </a:r>
            <a:r>
              <a:rPr sz="1600" b="1" spc="-5" dirty="0">
                <a:solidFill>
                  <a:prstClr val="black"/>
                </a:solidFill>
                <a:latin typeface="Arial"/>
                <a:cs typeface="Arial"/>
              </a:rPr>
              <a:t>1</a:t>
            </a:r>
            <a:r>
              <a:rPr sz="1600" b="1" spc="5" dirty="0">
                <a:solidFill>
                  <a:prstClr val="black"/>
                </a:solidFill>
                <a:latin typeface="Arial"/>
                <a:cs typeface="Arial"/>
              </a:rPr>
              <a:t>.</a:t>
            </a:r>
            <a:r>
              <a:rPr sz="1600" b="1" spc="-5" dirty="0">
                <a:solidFill>
                  <a:prstClr val="black"/>
                </a:solidFill>
                <a:latin typeface="Arial"/>
                <a:cs typeface="Arial"/>
              </a:rPr>
              <a:t>03</a:t>
            </a:r>
            <a:endParaRPr sz="1600">
              <a:solidFill>
                <a:prstClr val="black"/>
              </a:solidFill>
              <a:latin typeface="Arial"/>
              <a:cs typeface="Arial"/>
            </a:endParaRPr>
          </a:p>
        </p:txBody>
      </p:sp>
      <p:sp>
        <p:nvSpPr>
          <p:cNvPr id="22" name="object 22"/>
          <p:cNvSpPr/>
          <p:nvPr/>
        </p:nvSpPr>
        <p:spPr>
          <a:xfrm>
            <a:off x="2376349" y="3094810"/>
            <a:ext cx="543560" cy="2533650"/>
          </a:xfrm>
          <a:custGeom>
            <a:avLst/>
            <a:gdLst/>
            <a:ahLst/>
            <a:cxnLst/>
            <a:rect l="l" t="t" r="r" b="b"/>
            <a:pathLst>
              <a:path w="543560" h="2533650">
                <a:moveTo>
                  <a:pt x="0" y="0"/>
                </a:moveTo>
                <a:lnTo>
                  <a:pt x="543157" y="0"/>
                </a:lnTo>
                <a:lnTo>
                  <a:pt x="543157" y="2533039"/>
                </a:lnTo>
                <a:lnTo>
                  <a:pt x="0" y="2533039"/>
                </a:lnTo>
                <a:lnTo>
                  <a:pt x="0" y="0"/>
                </a:lnTo>
                <a:close/>
              </a:path>
            </a:pathLst>
          </a:custGeom>
          <a:ln w="25400">
            <a:solidFill>
              <a:srgbClr val="000000"/>
            </a:solidFill>
          </a:ln>
        </p:spPr>
        <p:txBody>
          <a:bodyPr wrap="square" lIns="0" tIns="0" rIns="0" bIns="0" rtlCol="0"/>
          <a:lstStyle/>
          <a:p>
            <a:endParaRPr>
              <a:solidFill>
                <a:prstClr val="black"/>
              </a:solidFill>
              <a:latin typeface="Calibri"/>
            </a:endParaRPr>
          </a:p>
        </p:txBody>
      </p:sp>
      <p:sp>
        <p:nvSpPr>
          <p:cNvPr id="23" name="object 23"/>
          <p:cNvSpPr txBox="1"/>
          <p:nvPr/>
        </p:nvSpPr>
        <p:spPr>
          <a:xfrm>
            <a:off x="2407387" y="2566496"/>
            <a:ext cx="446405" cy="299720"/>
          </a:xfrm>
          <a:prstGeom prst="rect">
            <a:avLst/>
          </a:prstGeom>
        </p:spPr>
        <p:txBody>
          <a:bodyPr vert="horz" wrap="square" lIns="0" tIns="12700" rIns="0" bIns="0" rtlCol="0">
            <a:spAutoFit/>
          </a:bodyPr>
          <a:lstStyle/>
          <a:p>
            <a:pPr marL="38100">
              <a:spcBef>
                <a:spcPts val="100"/>
              </a:spcBef>
            </a:pPr>
            <a:r>
              <a:rPr sz="2700" baseline="-20061" dirty="0">
                <a:solidFill>
                  <a:prstClr val="black"/>
                </a:solidFill>
                <a:latin typeface="Cambria Math"/>
                <a:cs typeface="Cambria Math"/>
              </a:rPr>
              <a:t>𝒙</a:t>
            </a:r>
            <a:r>
              <a:rPr sz="1300" dirty="0">
                <a:solidFill>
                  <a:prstClr val="black"/>
                </a:solidFill>
                <a:latin typeface="Cambria Math"/>
                <a:cs typeface="Cambria Math"/>
              </a:rPr>
              <a:t>(𝟏)</a:t>
            </a:r>
            <a:endParaRPr sz="1300">
              <a:solidFill>
                <a:prstClr val="black"/>
              </a:solidFill>
              <a:latin typeface="Cambria Math"/>
              <a:cs typeface="Cambria Math"/>
            </a:endParaRPr>
          </a:p>
        </p:txBody>
      </p:sp>
      <p:sp>
        <p:nvSpPr>
          <p:cNvPr id="24" name="object 24"/>
          <p:cNvSpPr txBox="1"/>
          <p:nvPr/>
        </p:nvSpPr>
        <p:spPr>
          <a:xfrm>
            <a:off x="3086089" y="2566496"/>
            <a:ext cx="446405" cy="299720"/>
          </a:xfrm>
          <a:prstGeom prst="rect">
            <a:avLst/>
          </a:prstGeom>
        </p:spPr>
        <p:txBody>
          <a:bodyPr vert="horz" wrap="square" lIns="0" tIns="12700" rIns="0" bIns="0" rtlCol="0">
            <a:spAutoFit/>
          </a:bodyPr>
          <a:lstStyle/>
          <a:p>
            <a:pPr marL="38100">
              <a:spcBef>
                <a:spcPts val="100"/>
              </a:spcBef>
            </a:pPr>
            <a:r>
              <a:rPr sz="2700" baseline="-20061" dirty="0">
                <a:solidFill>
                  <a:prstClr val="black"/>
                </a:solidFill>
                <a:latin typeface="Cambria Math"/>
                <a:cs typeface="Cambria Math"/>
              </a:rPr>
              <a:t>𝒙</a:t>
            </a:r>
            <a:r>
              <a:rPr sz="1300" dirty="0">
                <a:solidFill>
                  <a:prstClr val="black"/>
                </a:solidFill>
                <a:latin typeface="Cambria Math"/>
                <a:cs typeface="Cambria Math"/>
              </a:rPr>
              <a:t>(𝟐)</a:t>
            </a:r>
            <a:endParaRPr sz="1300">
              <a:solidFill>
                <a:prstClr val="black"/>
              </a:solidFill>
              <a:latin typeface="Cambria Math"/>
              <a:cs typeface="Cambria Math"/>
            </a:endParaRPr>
          </a:p>
        </p:txBody>
      </p:sp>
      <p:sp>
        <p:nvSpPr>
          <p:cNvPr id="25" name="object 25"/>
          <p:cNvSpPr txBox="1"/>
          <p:nvPr/>
        </p:nvSpPr>
        <p:spPr>
          <a:xfrm>
            <a:off x="9276431" y="3094811"/>
            <a:ext cx="543560" cy="2606483"/>
          </a:xfrm>
          <a:prstGeom prst="rect">
            <a:avLst/>
          </a:prstGeom>
          <a:ln w="25400">
            <a:solidFill>
              <a:srgbClr val="000000"/>
            </a:solidFill>
          </a:ln>
        </p:spPr>
        <p:txBody>
          <a:bodyPr vert="horz" wrap="square" lIns="0" tIns="41275" rIns="0" bIns="0" rtlCol="0">
            <a:spAutoFit/>
          </a:bodyPr>
          <a:lstStyle/>
          <a:p>
            <a:pPr marL="31115">
              <a:spcBef>
                <a:spcPts val="325"/>
              </a:spcBef>
            </a:pPr>
            <a:r>
              <a:rPr sz="1600" b="1" spc="-5" dirty="0">
                <a:solidFill>
                  <a:prstClr val="black"/>
                </a:solidFill>
                <a:latin typeface="Arial"/>
                <a:cs typeface="Arial"/>
              </a:rPr>
              <a:t>0.37</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L="78105">
              <a:spcBef>
                <a:spcPts val="1110"/>
              </a:spcBef>
            </a:pPr>
            <a:r>
              <a:rPr sz="1600" b="1" dirty="0">
                <a:solidFill>
                  <a:prstClr val="black"/>
                </a:solidFill>
                <a:latin typeface="Arial"/>
                <a:cs typeface="Arial"/>
              </a:rPr>
              <a:t>2.8</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a:spcBef>
                <a:spcPts val="5"/>
              </a:spcBef>
            </a:pPr>
            <a:endParaRPr sz="1350">
              <a:solidFill>
                <a:prstClr val="black"/>
              </a:solidFill>
              <a:latin typeface="Arial"/>
              <a:cs typeface="Arial"/>
            </a:endParaRPr>
          </a:p>
          <a:p>
            <a:pPr marL="46990"/>
            <a:r>
              <a:rPr sz="1600" b="1" spc="-5" dirty="0">
                <a:solidFill>
                  <a:prstClr val="black"/>
                </a:solidFill>
                <a:latin typeface="Arial"/>
                <a:cs typeface="Arial"/>
              </a:rPr>
              <a:t>2.12</a:t>
            </a:r>
            <a:endParaRPr sz="1600">
              <a:solidFill>
                <a:prstClr val="black"/>
              </a:solidFill>
              <a:latin typeface="Arial"/>
              <a:cs typeface="Arial"/>
            </a:endParaRPr>
          </a:p>
        </p:txBody>
      </p:sp>
      <p:sp>
        <p:nvSpPr>
          <p:cNvPr id="26" name="object 26"/>
          <p:cNvSpPr txBox="1"/>
          <p:nvPr/>
        </p:nvSpPr>
        <p:spPr>
          <a:xfrm>
            <a:off x="8619073" y="3094811"/>
            <a:ext cx="543560" cy="2607765"/>
          </a:xfrm>
          <a:prstGeom prst="rect">
            <a:avLst/>
          </a:prstGeom>
          <a:ln w="25400">
            <a:solidFill>
              <a:srgbClr val="000000"/>
            </a:solidFill>
          </a:ln>
        </p:spPr>
        <p:txBody>
          <a:bodyPr vert="horz" wrap="square" lIns="0" tIns="45085" rIns="0" bIns="0" rtlCol="0">
            <a:spAutoFit/>
          </a:bodyPr>
          <a:lstStyle/>
          <a:p>
            <a:pPr marL="95885">
              <a:spcBef>
                <a:spcPts val="355"/>
              </a:spcBef>
            </a:pPr>
            <a:r>
              <a:rPr sz="1600" b="1" spc="-5" dirty="0">
                <a:solidFill>
                  <a:prstClr val="black"/>
                </a:solidFill>
                <a:latin typeface="Arial"/>
                <a:cs typeface="Arial"/>
              </a:rPr>
              <a:t>0.23</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L="64135">
              <a:spcBef>
                <a:spcPts val="1365"/>
              </a:spcBef>
            </a:pPr>
            <a:r>
              <a:rPr sz="1600" b="1" spc="-5" dirty="0">
                <a:solidFill>
                  <a:prstClr val="black"/>
                </a:solidFill>
                <a:latin typeface="Arial"/>
                <a:cs typeface="Arial"/>
              </a:rPr>
              <a:t>9.13</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L="79375">
              <a:spcBef>
                <a:spcPts val="1275"/>
              </a:spcBef>
            </a:pPr>
            <a:r>
              <a:rPr sz="1600" b="1" spc="-5" dirty="0">
                <a:solidFill>
                  <a:prstClr val="black"/>
                </a:solidFill>
                <a:latin typeface="Arial"/>
                <a:cs typeface="Arial"/>
              </a:rPr>
              <a:t>0.33</a:t>
            </a:r>
            <a:endParaRPr sz="1600">
              <a:solidFill>
                <a:prstClr val="black"/>
              </a:solidFill>
              <a:latin typeface="Arial"/>
              <a:cs typeface="Arial"/>
            </a:endParaRPr>
          </a:p>
        </p:txBody>
      </p:sp>
      <p:sp>
        <p:nvSpPr>
          <p:cNvPr id="27" name="object 27"/>
          <p:cNvSpPr txBox="1"/>
          <p:nvPr/>
        </p:nvSpPr>
        <p:spPr>
          <a:xfrm>
            <a:off x="8647762" y="2566496"/>
            <a:ext cx="446405" cy="299720"/>
          </a:xfrm>
          <a:prstGeom prst="rect">
            <a:avLst/>
          </a:prstGeom>
        </p:spPr>
        <p:txBody>
          <a:bodyPr vert="horz" wrap="square" lIns="0" tIns="12700" rIns="0" bIns="0" rtlCol="0">
            <a:spAutoFit/>
          </a:bodyPr>
          <a:lstStyle/>
          <a:p>
            <a:pPr marL="38100">
              <a:spcBef>
                <a:spcPts val="100"/>
              </a:spcBef>
            </a:pPr>
            <a:r>
              <a:rPr sz="2700" spc="-112" baseline="-20061" dirty="0">
                <a:solidFill>
                  <a:prstClr val="black"/>
                </a:solidFill>
                <a:latin typeface="Cambria Math"/>
                <a:cs typeface="Cambria Math"/>
              </a:rPr>
              <a:t>𝒙.</a:t>
            </a:r>
            <a:r>
              <a:rPr sz="1300" spc="-75" dirty="0">
                <a:solidFill>
                  <a:prstClr val="black"/>
                </a:solidFill>
                <a:latin typeface="Cambria Math"/>
                <a:cs typeface="Cambria Math"/>
              </a:rPr>
              <a:t>(𝟏)</a:t>
            </a:r>
            <a:endParaRPr sz="1300">
              <a:solidFill>
                <a:prstClr val="black"/>
              </a:solidFill>
              <a:latin typeface="Cambria Math"/>
              <a:cs typeface="Cambria Math"/>
            </a:endParaRPr>
          </a:p>
        </p:txBody>
      </p:sp>
      <p:sp>
        <p:nvSpPr>
          <p:cNvPr id="28" name="object 28"/>
          <p:cNvSpPr txBox="1"/>
          <p:nvPr/>
        </p:nvSpPr>
        <p:spPr>
          <a:xfrm>
            <a:off x="9328813" y="2566496"/>
            <a:ext cx="446405" cy="299720"/>
          </a:xfrm>
          <a:prstGeom prst="rect">
            <a:avLst/>
          </a:prstGeom>
        </p:spPr>
        <p:txBody>
          <a:bodyPr vert="horz" wrap="square" lIns="0" tIns="12700" rIns="0" bIns="0" rtlCol="0">
            <a:spAutoFit/>
          </a:bodyPr>
          <a:lstStyle/>
          <a:p>
            <a:pPr marL="38100">
              <a:spcBef>
                <a:spcPts val="100"/>
              </a:spcBef>
            </a:pPr>
            <a:r>
              <a:rPr sz="2700" spc="-112" baseline="-20061" dirty="0">
                <a:solidFill>
                  <a:prstClr val="black"/>
                </a:solidFill>
                <a:latin typeface="Cambria Math"/>
                <a:cs typeface="Cambria Math"/>
              </a:rPr>
              <a:t>𝒙.</a:t>
            </a:r>
            <a:r>
              <a:rPr sz="1300" spc="-75" dirty="0">
                <a:solidFill>
                  <a:prstClr val="black"/>
                </a:solidFill>
                <a:latin typeface="Cambria Math"/>
                <a:cs typeface="Cambria Math"/>
              </a:rPr>
              <a:t>(𝟐)</a:t>
            </a:r>
            <a:endParaRPr sz="1300">
              <a:solidFill>
                <a:prstClr val="black"/>
              </a:solidFill>
              <a:latin typeface="Cambria Math"/>
              <a:cs typeface="Cambria Math"/>
            </a:endParaRPr>
          </a:p>
        </p:txBody>
      </p:sp>
      <p:sp>
        <p:nvSpPr>
          <p:cNvPr id="29" name="object 29"/>
          <p:cNvSpPr/>
          <p:nvPr/>
        </p:nvSpPr>
        <p:spPr>
          <a:xfrm>
            <a:off x="6096000" y="746978"/>
            <a:ext cx="4519930" cy="1138555"/>
          </a:xfrm>
          <a:custGeom>
            <a:avLst/>
            <a:gdLst/>
            <a:ahLst/>
            <a:cxnLst/>
            <a:rect l="l" t="t" r="r" b="b"/>
            <a:pathLst>
              <a:path w="4519930" h="1138555">
                <a:moveTo>
                  <a:pt x="4519827" y="0"/>
                </a:moveTo>
                <a:lnTo>
                  <a:pt x="0" y="0"/>
                </a:lnTo>
                <a:lnTo>
                  <a:pt x="0" y="1138003"/>
                </a:lnTo>
                <a:lnTo>
                  <a:pt x="4519827" y="1138003"/>
                </a:lnTo>
                <a:lnTo>
                  <a:pt x="4519827" y="0"/>
                </a:lnTo>
                <a:close/>
              </a:path>
            </a:pathLst>
          </a:custGeom>
          <a:solidFill>
            <a:srgbClr val="FFFFFF"/>
          </a:solidFill>
        </p:spPr>
        <p:txBody>
          <a:bodyPr wrap="square" lIns="0" tIns="0" rIns="0" bIns="0" rtlCol="0"/>
          <a:lstStyle/>
          <a:p>
            <a:endParaRPr lang="en-IN" dirty="0">
              <a:solidFill>
                <a:prstClr val="black"/>
              </a:solidFill>
              <a:latin typeface="Calibri"/>
            </a:endParaRPr>
          </a:p>
          <a:p>
            <a:endParaRPr lang="en-IN" dirty="0">
              <a:solidFill>
                <a:prstClr val="black"/>
              </a:solidFill>
              <a:latin typeface="Calibri"/>
            </a:endParaRPr>
          </a:p>
          <a:p>
            <a:r>
              <a:rPr lang="en-IN" dirty="0">
                <a:solidFill>
                  <a:prstClr val="black"/>
                </a:solidFill>
                <a:latin typeface="Calibri"/>
              </a:rPr>
              <a:t>𝑴𝑺𝑬 =</a:t>
            </a:r>
          </a:p>
        </p:txBody>
      </p:sp>
      <p:sp>
        <p:nvSpPr>
          <p:cNvPr id="30" name="object 30"/>
          <p:cNvSpPr txBox="1"/>
          <p:nvPr/>
        </p:nvSpPr>
        <p:spPr>
          <a:xfrm>
            <a:off x="278590" y="876365"/>
            <a:ext cx="5788009" cy="1243930"/>
          </a:xfrm>
          <a:prstGeom prst="rect">
            <a:avLst/>
          </a:prstGeom>
        </p:spPr>
        <p:txBody>
          <a:bodyPr vert="horz" wrap="square" lIns="0" tIns="127000" rIns="0" bIns="0" rtlCol="0">
            <a:spAutoFit/>
          </a:bodyPr>
          <a:lstStyle/>
          <a:p>
            <a:pPr marL="0" marR="0" lvl="0" indent="0" algn="l" defTabSz="914400" rtl="0" eaLnBrk="1" fontAlgn="auto" latinLnBrk="0" hangingPunct="1">
              <a:lnSpc>
                <a:spcPts val="2330"/>
              </a:lnSpc>
              <a:spcBef>
                <a:spcPts val="0"/>
              </a:spcBef>
              <a:spcAft>
                <a:spcPts val="0"/>
              </a:spcAft>
              <a:buClrTx/>
              <a:buSzTx/>
              <a:buFontTx/>
              <a:buNone/>
              <a:tabLst/>
              <a:defRPr/>
            </a:pPr>
            <a:r>
              <a:rPr lang="en-US" sz="3600" b="1" spc="-7" baseline="1157" dirty="0">
                <a:solidFill>
                  <a:prstClr val="black"/>
                </a:solidFill>
                <a:latin typeface="Arial"/>
                <a:cs typeface="Arial"/>
              </a:rPr>
              <a:t>Autoencoder</a:t>
            </a:r>
            <a:r>
              <a:rPr lang="en-US" sz="3600" b="1" spc="15" baseline="1157" dirty="0">
                <a:solidFill>
                  <a:prstClr val="black"/>
                </a:solidFill>
                <a:latin typeface="Arial"/>
                <a:cs typeface="Arial"/>
              </a:rPr>
              <a:t> </a:t>
            </a:r>
            <a:r>
              <a:rPr lang="en-US" sz="3600" b="1" spc="-7" baseline="1157" dirty="0">
                <a:solidFill>
                  <a:prstClr val="black"/>
                </a:solidFill>
                <a:latin typeface="Arial"/>
                <a:cs typeface="Arial"/>
              </a:rPr>
              <a:t>with </a:t>
            </a:r>
            <a:r>
              <a:rPr lang="en-US" sz="3600" b="1" baseline="1157" dirty="0">
                <a:solidFill>
                  <a:prstClr val="black"/>
                </a:solidFill>
                <a:latin typeface="Arial"/>
                <a:cs typeface="Arial"/>
              </a:rPr>
              <a:t>real </a:t>
            </a:r>
            <a:r>
              <a:rPr lang="en-US" sz="3600" b="1" spc="-7" baseline="1157" dirty="0">
                <a:solidFill>
                  <a:prstClr val="black"/>
                </a:solidFill>
                <a:latin typeface="Arial"/>
                <a:cs typeface="Arial"/>
              </a:rPr>
              <a:t>nu</a:t>
            </a:r>
            <a:r>
              <a:rPr kumimoji="0" lang="en-US" sz="2400" b="1" i="0" u="none" strike="noStrike" kern="1200" cap="none" spc="0" normalizeH="0" baseline="0" noProof="0" dirty="0" err="1">
                <a:ln>
                  <a:noFill/>
                </a:ln>
                <a:solidFill>
                  <a:prstClr val="black"/>
                </a:solidFill>
                <a:effectLst/>
                <a:uLnTx/>
                <a:uFillTx/>
                <a:latin typeface="Arial"/>
                <a:ea typeface="+mn-ea"/>
                <a:cs typeface="Arial"/>
              </a:rPr>
              <a:t>mber</a:t>
            </a:r>
            <a:r>
              <a:rPr kumimoji="0" lang="en-US" sz="2400" b="1" i="0" u="none" strike="noStrike" kern="1200" cap="none" spc="-35" normalizeH="0" baseline="0" noProof="0" dirty="0">
                <a:ln>
                  <a:noFill/>
                </a:ln>
                <a:solidFill>
                  <a:prstClr val="black"/>
                </a:solidFill>
                <a:effectLst/>
                <a:uLnTx/>
                <a:uFillTx/>
                <a:latin typeface="Arial"/>
                <a:ea typeface="+mn-ea"/>
                <a:cs typeface="Arial"/>
              </a:rPr>
              <a:t> </a:t>
            </a:r>
            <a:r>
              <a:rPr kumimoji="0" lang="en-US" sz="2400" b="1" i="0" u="none" strike="noStrike" kern="1200" cap="none" spc="0" normalizeH="0" baseline="0" noProof="0" dirty="0">
                <a:ln>
                  <a:noFill/>
                </a:ln>
                <a:solidFill>
                  <a:prstClr val="black"/>
                </a:solidFill>
                <a:effectLst/>
                <a:uLnTx/>
                <a:uFillTx/>
                <a:latin typeface="Arial"/>
                <a:ea typeface="+mn-ea"/>
                <a:cs typeface="Arial"/>
              </a:rPr>
              <a:t>as</a:t>
            </a:r>
            <a:r>
              <a:rPr kumimoji="0" lang="en-US" sz="2400" b="1" i="0" u="none" strike="noStrike" kern="1200" cap="none" spc="-35" normalizeH="0" baseline="0" noProof="0" dirty="0">
                <a:ln>
                  <a:noFill/>
                </a:ln>
                <a:solidFill>
                  <a:prstClr val="black"/>
                </a:solidFill>
                <a:effectLst/>
                <a:uLnTx/>
                <a:uFillTx/>
                <a:latin typeface="Arial"/>
                <a:ea typeface="+mn-ea"/>
                <a:cs typeface="Arial"/>
              </a:rPr>
              <a:t> </a:t>
            </a:r>
            <a:r>
              <a:rPr kumimoji="0" lang="en-US" sz="2400" b="1" i="0" u="none" strike="noStrike" kern="1200" cap="none" spc="-5" normalizeH="0" baseline="0" noProof="0" dirty="0">
                <a:ln>
                  <a:noFill/>
                </a:ln>
                <a:solidFill>
                  <a:prstClr val="black"/>
                </a:solidFill>
                <a:effectLst/>
                <a:uLnTx/>
                <a:uFillTx/>
                <a:latin typeface="Arial"/>
                <a:ea typeface="+mn-ea"/>
                <a:cs typeface="Arial"/>
              </a:rPr>
              <a:t>input</a:t>
            </a:r>
            <a:endParaRPr lang="en-US" sz="2400" dirty="0">
              <a:solidFill>
                <a:prstClr val="black"/>
              </a:solidFill>
              <a:latin typeface="Cambria Math"/>
              <a:cs typeface="Cambria Math"/>
            </a:endParaRPr>
          </a:p>
          <a:p>
            <a:pPr marL="127000">
              <a:spcBef>
                <a:spcPts val="755"/>
              </a:spcBef>
              <a:tabLst>
                <a:tab pos="411480" algn="l"/>
              </a:tabLst>
            </a:pPr>
            <a:r>
              <a:rPr sz="2000" dirty="0">
                <a:solidFill>
                  <a:srgbClr val="4F81BD"/>
                </a:solidFill>
                <a:latin typeface="Arial MT"/>
                <a:cs typeface="Arial MT"/>
              </a:rPr>
              <a:t>-</a:t>
            </a:r>
            <a:r>
              <a:rPr sz="2000" b="1" dirty="0">
                <a:solidFill>
                  <a:srgbClr val="4F81BD"/>
                </a:solidFill>
                <a:latin typeface="Arial"/>
                <a:cs typeface="Arial"/>
              </a:rPr>
              <a:t>use</a:t>
            </a:r>
            <a:r>
              <a:rPr sz="2000" b="1" spc="-20" dirty="0">
                <a:solidFill>
                  <a:srgbClr val="4F81BD"/>
                </a:solidFill>
                <a:latin typeface="Arial"/>
                <a:cs typeface="Arial"/>
              </a:rPr>
              <a:t> </a:t>
            </a:r>
            <a:r>
              <a:rPr sz="2000" b="1" spc="-5" dirty="0">
                <a:solidFill>
                  <a:srgbClr val="4F81BD"/>
                </a:solidFill>
                <a:latin typeface="Arial"/>
                <a:cs typeface="Arial"/>
              </a:rPr>
              <a:t>Mean</a:t>
            </a:r>
            <a:r>
              <a:rPr sz="2000" b="1" spc="-15" dirty="0">
                <a:solidFill>
                  <a:srgbClr val="4F81BD"/>
                </a:solidFill>
                <a:latin typeface="Arial"/>
                <a:cs typeface="Arial"/>
              </a:rPr>
              <a:t> </a:t>
            </a:r>
            <a:r>
              <a:rPr sz="2000" b="1" spc="-5" dirty="0">
                <a:solidFill>
                  <a:srgbClr val="4F81BD"/>
                </a:solidFill>
                <a:latin typeface="Arial"/>
                <a:cs typeface="Arial"/>
              </a:rPr>
              <a:t>Square</a:t>
            </a:r>
            <a:r>
              <a:rPr sz="2000" b="1" spc="-15" dirty="0">
                <a:solidFill>
                  <a:srgbClr val="4F81BD"/>
                </a:solidFill>
                <a:latin typeface="Arial"/>
                <a:cs typeface="Arial"/>
              </a:rPr>
              <a:t> </a:t>
            </a:r>
            <a:r>
              <a:rPr sz="2000" b="1" spc="-5" dirty="0">
                <a:solidFill>
                  <a:srgbClr val="4F81BD"/>
                </a:solidFill>
                <a:latin typeface="Arial"/>
                <a:cs typeface="Arial"/>
              </a:rPr>
              <a:t>Error</a:t>
            </a:r>
            <a:r>
              <a:rPr sz="2000" b="1" spc="-20" dirty="0">
                <a:solidFill>
                  <a:srgbClr val="4F81BD"/>
                </a:solidFill>
                <a:latin typeface="Arial"/>
                <a:cs typeface="Arial"/>
              </a:rPr>
              <a:t> </a:t>
            </a:r>
            <a:r>
              <a:rPr sz="2000" b="1" spc="-5" dirty="0">
                <a:solidFill>
                  <a:srgbClr val="4F81BD"/>
                </a:solidFill>
                <a:latin typeface="Arial"/>
                <a:cs typeface="Arial"/>
              </a:rPr>
              <a:t>(MS</a:t>
            </a:r>
            <a:r>
              <a:rPr lang="en-IN" sz="2000" b="1" spc="-5" dirty="0">
                <a:solidFill>
                  <a:srgbClr val="4F81BD"/>
                </a:solidFill>
                <a:latin typeface="Arial"/>
                <a:cs typeface="Arial"/>
              </a:rPr>
              <a:t>E) as loss function</a:t>
            </a:r>
          </a:p>
          <a:p>
            <a:pPr marL="127000">
              <a:spcBef>
                <a:spcPts val="755"/>
              </a:spcBef>
              <a:tabLst>
                <a:tab pos="411480" algn="l"/>
              </a:tabLst>
            </a:pPr>
            <a:endParaRPr lang="en-IN" sz="2000" dirty="0">
              <a:solidFill>
                <a:prstClr val="black"/>
              </a:solidFill>
              <a:latin typeface="Arial"/>
              <a:cs typeface="Arial"/>
            </a:endParaRPr>
          </a:p>
        </p:txBody>
      </p:sp>
      <p:sp>
        <p:nvSpPr>
          <p:cNvPr id="31" name="object 31"/>
          <p:cNvSpPr/>
          <p:nvPr/>
        </p:nvSpPr>
        <p:spPr>
          <a:xfrm>
            <a:off x="7347375" y="1340913"/>
            <a:ext cx="233045" cy="21590"/>
          </a:xfrm>
          <a:custGeom>
            <a:avLst/>
            <a:gdLst/>
            <a:ahLst/>
            <a:cxnLst/>
            <a:rect l="l" t="t" r="r" b="b"/>
            <a:pathLst>
              <a:path w="233045" h="21590">
                <a:moveTo>
                  <a:pt x="232833" y="0"/>
                </a:moveTo>
                <a:lnTo>
                  <a:pt x="0" y="0"/>
                </a:lnTo>
                <a:lnTo>
                  <a:pt x="0" y="21166"/>
                </a:lnTo>
                <a:lnTo>
                  <a:pt x="232833" y="21166"/>
                </a:lnTo>
                <a:lnTo>
                  <a:pt x="232833"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32" name="object 32"/>
          <p:cNvSpPr txBox="1"/>
          <p:nvPr/>
        </p:nvSpPr>
        <p:spPr>
          <a:xfrm>
            <a:off x="7336663" y="819114"/>
            <a:ext cx="586740" cy="894715"/>
          </a:xfrm>
          <a:prstGeom prst="rect">
            <a:avLst/>
          </a:prstGeom>
        </p:spPr>
        <p:txBody>
          <a:bodyPr vert="horz" wrap="square" lIns="0" tIns="81280" rIns="0" bIns="0" rtlCol="0">
            <a:spAutoFit/>
          </a:bodyPr>
          <a:lstStyle/>
          <a:p>
            <a:pPr marL="36830">
              <a:spcBef>
                <a:spcPts val="640"/>
              </a:spcBef>
            </a:pPr>
            <a:r>
              <a:rPr sz="2400" dirty="0">
                <a:solidFill>
                  <a:prstClr val="black"/>
                </a:solidFill>
                <a:latin typeface="Cambria Math"/>
                <a:cs typeface="Cambria Math"/>
              </a:rPr>
              <a:t>𝟏</a:t>
            </a:r>
            <a:r>
              <a:rPr sz="2400" spc="370" dirty="0">
                <a:solidFill>
                  <a:prstClr val="black"/>
                </a:solidFill>
                <a:latin typeface="Cambria Math"/>
                <a:cs typeface="Cambria Math"/>
              </a:rPr>
              <a:t> </a:t>
            </a:r>
            <a:r>
              <a:rPr sz="2400" dirty="0">
                <a:solidFill>
                  <a:prstClr val="black"/>
                </a:solidFill>
                <a:latin typeface="Cambria Math"/>
                <a:cs typeface="Cambria Math"/>
              </a:rPr>
              <a:t>𝟏</a:t>
            </a:r>
          </a:p>
          <a:p>
            <a:pPr marL="12700">
              <a:spcBef>
                <a:spcPts val="540"/>
              </a:spcBef>
            </a:pPr>
            <a:r>
              <a:rPr sz="2400" dirty="0">
                <a:solidFill>
                  <a:prstClr val="black"/>
                </a:solidFill>
                <a:latin typeface="Cambria Math"/>
                <a:cs typeface="Cambria Math"/>
              </a:rPr>
              <a:t>𝑵</a:t>
            </a:r>
            <a:r>
              <a:rPr sz="2400" spc="-130" dirty="0">
                <a:solidFill>
                  <a:prstClr val="black"/>
                </a:solidFill>
                <a:latin typeface="Cambria Math"/>
                <a:cs typeface="Cambria Math"/>
              </a:rPr>
              <a:t> </a:t>
            </a:r>
            <a:r>
              <a:rPr sz="2400" dirty="0">
                <a:solidFill>
                  <a:prstClr val="black"/>
                </a:solidFill>
                <a:latin typeface="Cambria Math"/>
                <a:cs typeface="Cambria Math"/>
              </a:rPr>
              <a:t>𝑴</a:t>
            </a:r>
          </a:p>
        </p:txBody>
      </p:sp>
      <p:sp>
        <p:nvSpPr>
          <p:cNvPr id="33" name="object 33"/>
          <p:cNvSpPr/>
          <p:nvPr/>
        </p:nvSpPr>
        <p:spPr>
          <a:xfrm>
            <a:off x="7631007" y="1340913"/>
            <a:ext cx="279400" cy="21590"/>
          </a:xfrm>
          <a:custGeom>
            <a:avLst/>
            <a:gdLst/>
            <a:ahLst/>
            <a:cxnLst/>
            <a:rect l="l" t="t" r="r" b="b"/>
            <a:pathLst>
              <a:path w="279400" h="21590">
                <a:moveTo>
                  <a:pt x="279400" y="0"/>
                </a:moveTo>
                <a:lnTo>
                  <a:pt x="0" y="0"/>
                </a:lnTo>
                <a:lnTo>
                  <a:pt x="0" y="21166"/>
                </a:lnTo>
                <a:lnTo>
                  <a:pt x="279400" y="21166"/>
                </a:lnTo>
                <a:lnTo>
                  <a:pt x="279400" y="0"/>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34" name="object 34"/>
          <p:cNvSpPr txBox="1"/>
          <p:nvPr/>
        </p:nvSpPr>
        <p:spPr>
          <a:xfrm>
            <a:off x="9145652" y="1261305"/>
            <a:ext cx="233679" cy="294640"/>
          </a:xfrm>
          <a:prstGeom prst="rect">
            <a:avLst/>
          </a:prstGeom>
        </p:spPr>
        <p:txBody>
          <a:bodyPr vert="horz" wrap="square" lIns="0" tIns="14604" rIns="0" bIns="0" rtlCol="0">
            <a:spAutoFit/>
          </a:bodyPr>
          <a:lstStyle/>
          <a:p>
            <a:pPr marL="12700">
              <a:spcBef>
                <a:spcPts val="114"/>
              </a:spcBef>
            </a:pPr>
            <a:r>
              <a:rPr sz="1750" spc="15" dirty="0">
                <a:solidFill>
                  <a:prstClr val="black"/>
                </a:solidFill>
                <a:latin typeface="Cambria Math"/>
                <a:cs typeface="Cambria Math"/>
              </a:rPr>
              <a:t>𝒎</a:t>
            </a:r>
            <a:endParaRPr sz="1750">
              <a:solidFill>
                <a:prstClr val="black"/>
              </a:solidFill>
              <a:latin typeface="Cambria Math"/>
              <a:cs typeface="Cambria Math"/>
            </a:endParaRPr>
          </a:p>
        </p:txBody>
      </p:sp>
      <p:sp>
        <p:nvSpPr>
          <p:cNvPr id="41" name="object 41"/>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42" name="object 42"/>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44</a:t>
            </a:fld>
            <a:endParaRPr dirty="0">
              <a:solidFill>
                <a:prstClr val="white"/>
              </a:solidFill>
            </a:endParaRPr>
          </a:p>
        </p:txBody>
      </p:sp>
      <p:sp>
        <p:nvSpPr>
          <p:cNvPr id="35" name="object 35"/>
          <p:cNvSpPr txBox="1"/>
          <p:nvPr/>
        </p:nvSpPr>
        <p:spPr>
          <a:xfrm>
            <a:off x="9145652" y="1087443"/>
            <a:ext cx="170815" cy="294640"/>
          </a:xfrm>
          <a:prstGeom prst="rect">
            <a:avLst/>
          </a:prstGeom>
        </p:spPr>
        <p:txBody>
          <a:bodyPr vert="horz" wrap="square" lIns="0" tIns="14604" rIns="0" bIns="0" rtlCol="0">
            <a:spAutoFit/>
          </a:bodyPr>
          <a:lstStyle/>
          <a:p>
            <a:pPr marL="12700">
              <a:spcBef>
                <a:spcPts val="114"/>
              </a:spcBef>
            </a:pPr>
            <a:r>
              <a:rPr sz="1750" spc="15" dirty="0">
                <a:solidFill>
                  <a:prstClr val="black"/>
                </a:solidFill>
                <a:latin typeface="Cambria Math"/>
                <a:cs typeface="Cambria Math"/>
              </a:rPr>
              <a:t>𝒏</a:t>
            </a:r>
            <a:endParaRPr sz="1750">
              <a:solidFill>
                <a:prstClr val="black"/>
              </a:solidFill>
              <a:latin typeface="Cambria Math"/>
              <a:cs typeface="Cambria Math"/>
            </a:endParaRPr>
          </a:p>
        </p:txBody>
      </p:sp>
      <p:sp>
        <p:nvSpPr>
          <p:cNvPr id="36" name="object 36"/>
          <p:cNvSpPr txBox="1"/>
          <p:nvPr/>
        </p:nvSpPr>
        <p:spPr>
          <a:xfrm>
            <a:off x="9903397" y="1261305"/>
            <a:ext cx="233679" cy="294640"/>
          </a:xfrm>
          <a:prstGeom prst="rect">
            <a:avLst/>
          </a:prstGeom>
        </p:spPr>
        <p:txBody>
          <a:bodyPr vert="horz" wrap="square" lIns="0" tIns="14604" rIns="0" bIns="0" rtlCol="0">
            <a:spAutoFit/>
          </a:bodyPr>
          <a:lstStyle/>
          <a:p>
            <a:pPr marL="12700">
              <a:spcBef>
                <a:spcPts val="114"/>
              </a:spcBef>
            </a:pPr>
            <a:r>
              <a:rPr sz="1750" spc="15" dirty="0">
                <a:solidFill>
                  <a:prstClr val="black"/>
                </a:solidFill>
                <a:latin typeface="Cambria Math"/>
                <a:cs typeface="Cambria Math"/>
              </a:rPr>
              <a:t>𝒎</a:t>
            </a:r>
            <a:endParaRPr sz="1750">
              <a:solidFill>
                <a:prstClr val="black"/>
              </a:solidFill>
              <a:latin typeface="Cambria Math"/>
              <a:cs typeface="Cambria Math"/>
            </a:endParaRPr>
          </a:p>
        </p:txBody>
      </p:sp>
      <p:sp>
        <p:nvSpPr>
          <p:cNvPr id="37" name="object 37"/>
          <p:cNvSpPr txBox="1"/>
          <p:nvPr/>
        </p:nvSpPr>
        <p:spPr>
          <a:xfrm>
            <a:off x="7947850" y="1118642"/>
            <a:ext cx="2326640" cy="391160"/>
          </a:xfrm>
          <a:prstGeom prst="rect">
            <a:avLst/>
          </a:prstGeom>
        </p:spPr>
        <p:txBody>
          <a:bodyPr vert="horz" wrap="square" lIns="0" tIns="12700" rIns="0" bIns="0" rtlCol="0">
            <a:spAutoFit/>
          </a:bodyPr>
          <a:lstStyle/>
          <a:p>
            <a:pPr marL="12700">
              <a:spcBef>
                <a:spcPts val="100"/>
              </a:spcBef>
              <a:tabLst>
                <a:tab pos="1496695" algn="l"/>
                <a:tab pos="2186940" algn="l"/>
              </a:tabLst>
            </a:pPr>
            <a:r>
              <a:rPr sz="2400" spc="1055" dirty="0">
                <a:solidFill>
                  <a:prstClr val="black"/>
                </a:solidFill>
                <a:latin typeface="Cambria Math"/>
                <a:cs typeface="Cambria Math"/>
              </a:rPr>
              <a:t>@</a:t>
            </a:r>
            <a:r>
              <a:rPr sz="2400" spc="10" dirty="0">
                <a:solidFill>
                  <a:prstClr val="black"/>
                </a:solidFill>
                <a:latin typeface="Cambria Math"/>
                <a:cs typeface="Cambria Math"/>
              </a:rPr>
              <a:t> </a:t>
            </a:r>
            <a:r>
              <a:rPr sz="2400" spc="1195" dirty="0">
                <a:solidFill>
                  <a:prstClr val="black"/>
                </a:solidFill>
                <a:latin typeface="Cambria Math"/>
                <a:cs typeface="Cambria Math"/>
              </a:rPr>
              <a:t>@</a:t>
            </a:r>
            <a:r>
              <a:rPr sz="2400" dirty="0">
                <a:solidFill>
                  <a:prstClr val="black"/>
                </a:solidFill>
                <a:latin typeface="Cambria Math"/>
                <a:cs typeface="Cambria Math"/>
              </a:rPr>
              <a:t>(𝒙	−</a:t>
            </a:r>
            <a:r>
              <a:rPr sz="2400" spc="-5" dirty="0">
                <a:solidFill>
                  <a:prstClr val="black"/>
                </a:solidFill>
                <a:latin typeface="Cambria Math"/>
                <a:cs typeface="Cambria Math"/>
              </a:rPr>
              <a:t> </a:t>
            </a:r>
            <a:r>
              <a:rPr sz="2400" spc="-1375" dirty="0">
                <a:solidFill>
                  <a:prstClr val="black"/>
                </a:solidFill>
                <a:latin typeface="Cambria Math"/>
                <a:cs typeface="Cambria Math"/>
              </a:rPr>
              <a:t>𝒙</a:t>
            </a:r>
            <a:r>
              <a:rPr sz="3600" spc="1297" baseline="1157" dirty="0">
                <a:solidFill>
                  <a:prstClr val="black"/>
                </a:solidFill>
                <a:latin typeface="Cambria Math"/>
                <a:cs typeface="Cambria Math"/>
              </a:rPr>
              <a:t>.</a:t>
            </a:r>
            <a:r>
              <a:rPr sz="3600" baseline="1157" dirty="0">
                <a:solidFill>
                  <a:prstClr val="black"/>
                </a:solidFill>
                <a:latin typeface="Cambria Math"/>
                <a:cs typeface="Cambria Math"/>
              </a:rPr>
              <a:t>	</a:t>
            </a:r>
            <a:r>
              <a:rPr sz="2400" dirty="0">
                <a:solidFill>
                  <a:prstClr val="black"/>
                </a:solidFill>
                <a:latin typeface="Cambria Math"/>
                <a:cs typeface="Cambria Math"/>
              </a:rPr>
              <a:t>)</a:t>
            </a:r>
          </a:p>
        </p:txBody>
      </p:sp>
      <p:sp>
        <p:nvSpPr>
          <p:cNvPr id="38" name="object 38"/>
          <p:cNvSpPr txBox="1"/>
          <p:nvPr/>
        </p:nvSpPr>
        <p:spPr>
          <a:xfrm>
            <a:off x="9903397" y="1087443"/>
            <a:ext cx="506095" cy="294640"/>
          </a:xfrm>
          <a:prstGeom prst="rect">
            <a:avLst/>
          </a:prstGeom>
        </p:spPr>
        <p:txBody>
          <a:bodyPr vert="horz" wrap="square" lIns="0" tIns="14604" rIns="0" bIns="0" rtlCol="0">
            <a:spAutoFit/>
          </a:bodyPr>
          <a:lstStyle/>
          <a:p>
            <a:pPr marL="12700">
              <a:spcBef>
                <a:spcPts val="114"/>
              </a:spcBef>
              <a:tabLst>
                <a:tab pos="358140" algn="l"/>
              </a:tabLst>
            </a:pPr>
            <a:r>
              <a:rPr sz="1750" spc="15" dirty="0">
                <a:solidFill>
                  <a:prstClr val="black"/>
                </a:solidFill>
                <a:latin typeface="Cambria Math"/>
                <a:cs typeface="Cambria Math"/>
              </a:rPr>
              <a:t>𝒏	𝟐</a:t>
            </a:r>
            <a:endParaRPr sz="1750">
              <a:solidFill>
                <a:prstClr val="black"/>
              </a:solidFill>
              <a:latin typeface="Cambria Math"/>
              <a:cs typeface="Cambria Math"/>
            </a:endParaRPr>
          </a:p>
        </p:txBody>
      </p:sp>
      <p:sp>
        <p:nvSpPr>
          <p:cNvPr id="39" name="object 39"/>
          <p:cNvSpPr txBox="1"/>
          <p:nvPr/>
        </p:nvSpPr>
        <p:spPr>
          <a:xfrm>
            <a:off x="8048244" y="746574"/>
            <a:ext cx="686435" cy="294640"/>
          </a:xfrm>
          <a:prstGeom prst="rect">
            <a:avLst/>
          </a:prstGeom>
        </p:spPr>
        <p:txBody>
          <a:bodyPr vert="horz" wrap="square" lIns="0" tIns="14604" rIns="0" bIns="0" rtlCol="0">
            <a:spAutoFit/>
          </a:bodyPr>
          <a:lstStyle/>
          <a:p>
            <a:pPr marL="12700">
              <a:spcBef>
                <a:spcPts val="114"/>
              </a:spcBef>
              <a:tabLst>
                <a:tab pos="502284" algn="l"/>
              </a:tabLst>
            </a:pPr>
            <a:r>
              <a:rPr sz="1750" spc="15" dirty="0">
                <a:solidFill>
                  <a:prstClr val="black"/>
                </a:solidFill>
                <a:latin typeface="Cambria Math"/>
                <a:cs typeface="Cambria Math"/>
              </a:rPr>
              <a:t>𝑴	𝑵</a:t>
            </a:r>
            <a:endParaRPr sz="1750">
              <a:solidFill>
                <a:prstClr val="black"/>
              </a:solidFill>
              <a:latin typeface="Cambria Math"/>
              <a:cs typeface="Cambria Math"/>
            </a:endParaRPr>
          </a:p>
        </p:txBody>
      </p:sp>
      <p:sp>
        <p:nvSpPr>
          <p:cNvPr id="40" name="object 40"/>
          <p:cNvSpPr txBox="1"/>
          <p:nvPr/>
        </p:nvSpPr>
        <p:spPr>
          <a:xfrm>
            <a:off x="8046657" y="1587505"/>
            <a:ext cx="822325" cy="294640"/>
          </a:xfrm>
          <a:prstGeom prst="rect">
            <a:avLst/>
          </a:prstGeom>
        </p:spPr>
        <p:txBody>
          <a:bodyPr vert="horz" wrap="square" lIns="0" tIns="14604" rIns="0" bIns="0" rtlCol="0">
            <a:spAutoFit/>
          </a:bodyPr>
          <a:lstStyle/>
          <a:p>
            <a:pPr marL="12700">
              <a:spcBef>
                <a:spcPts val="114"/>
              </a:spcBef>
              <a:tabLst>
                <a:tab pos="368300" algn="l"/>
              </a:tabLst>
            </a:pPr>
            <a:r>
              <a:rPr sz="1750" spc="15" dirty="0">
                <a:solidFill>
                  <a:prstClr val="black"/>
                </a:solidFill>
                <a:latin typeface="Cambria Math"/>
                <a:cs typeface="Cambria Math"/>
              </a:rPr>
              <a:t>𝒎	</a:t>
            </a:r>
            <a:r>
              <a:rPr sz="1750" spc="5" dirty="0">
                <a:solidFill>
                  <a:prstClr val="black"/>
                </a:solidFill>
                <a:latin typeface="Cambria Math"/>
                <a:cs typeface="Cambria Math"/>
              </a:rPr>
              <a:t>𝒏</a:t>
            </a:r>
            <a:r>
              <a:rPr sz="1750" spc="285" dirty="0">
                <a:solidFill>
                  <a:prstClr val="black"/>
                </a:solidFill>
                <a:latin typeface="Cambria Math"/>
                <a:cs typeface="Cambria Math"/>
              </a:rPr>
              <a:t>C</a:t>
            </a:r>
            <a:r>
              <a:rPr sz="1750" spc="15" dirty="0">
                <a:solidFill>
                  <a:prstClr val="black"/>
                </a:solidFill>
                <a:latin typeface="Cambria Math"/>
                <a:cs typeface="Cambria Math"/>
              </a:rPr>
              <a:t>𝟏</a:t>
            </a:r>
            <a:endParaRPr sz="1750">
              <a:solidFill>
                <a:prstClr val="black"/>
              </a:solidFill>
              <a:latin typeface="Cambria Math"/>
              <a:cs typeface="Cambria Math"/>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064" y="1241214"/>
            <a:ext cx="170687" cy="177800"/>
          </a:xfrm>
          <a:prstGeom prst="rect">
            <a:avLst/>
          </a:prstGeom>
        </p:spPr>
      </p:pic>
      <p:sp>
        <p:nvSpPr>
          <p:cNvPr id="3" name="object 3"/>
          <p:cNvSpPr txBox="1"/>
          <p:nvPr/>
        </p:nvSpPr>
        <p:spPr>
          <a:xfrm>
            <a:off x="2210181" y="984987"/>
            <a:ext cx="7837805" cy="925194"/>
          </a:xfrm>
          <a:prstGeom prst="rect">
            <a:avLst/>
          </a:prstGeom>
        </p:spPr>
        <p:txBody>
          <a:bodyPr vert="horz" wrap="square" lIns="0" tIns="137795" rIns="0" bIns="0" rtlCol="0">
            <a:spAutoFit/>
          </a:bodyPr>
          <a:lstStyle/>
          <a:p>
            <a:pPr marL="12700">
              <a:spcBef>
                <a:spcPts val="1085"/>
              </a:spcBef>
            </a:pPr>
            <a:r>
              <a:rPr sz="2400" b="1" spc="-5" dirty="0">
                <a:solidFill>
                  <a:prstClr val="black"/>
                </a:solidFill>
                <a:latin typeface="Arial"/>
                <a:cs typeface="Arial"/>
              </a:rPr>
              <a:t>Autoencoder</a:t>
            </a:r>
            <a:r>
              <a:rPr sz="2400" b="1" spc="5" dirty="0">
                <a:solidFill>
                  <a:prstClr val="black"/>
                </a:solidFill>
                <a:latin typeface="Arial"/>
                <a:cs typeface="Arial"/>
              </a:rPr>
              <a:t> </a:t>
            </a:r>
            <a:r>
              <a:rPr sz="2400" b="1" spc="-5" dirty="0">
                <a:solidFill>
                  <a:prstClr val="black"/>
                </a:solidFill>
                <a:latin typeface="Arial"/>
                <a:cs typeface="Arial"/>
              </a:rPr>
              <a:t>with</a:t>
            </a:r>
            <a:r>
              <a:rPr sz="2400" b="1" spc="-10" dirty="0">
                <a:solidFill>
                  <a:prstClr val="black"/>
                </a:solidFill>
                <a:latin typeface="Arial"/>
                <a:cs typeface="Arial"/>
              </a:rPr>
              <a:t> </a:t>
            </a:r>
            <a:r>
              <a:rPr sz="2400" b="1" spc="-5" dirty="0">
                <a:solidFill>
                  <a:prstClr val="black"/>
                </a:solidFill>
                <a:latin typeface="Arial"/>
                <a:cs typeface="Arial"/>
              </a:rPr>
              <a:t>binomial/multinomial</a:t>
            </a:r>
            <a:r>
              <a:rPr sz="2400" b="1" spc="-10" dirty="0">
                <a:solidFill>
                  <a:prstClr val="black"/>
                </a:solidFill>
                <a:latin typeface="Arial"/>
                <a:cs typeface="Arial"/>
              </a:rPr>
              <a:t> </a:t>
            </a:r>
            <a:r>
              <a:rPr sz="2400" b="1" spc="-5" dirty="0">
                <a:solidFill>
                  <a:prstClr val="black"/>
                </a:solidFill>
                <a:latin typeface="Arial"/>
                <a:cs typeface="Arial"/>
              </a:rPr>
              <a:t>value </a:t>
            </a:r>
            <a:r>
              <a:rPr sz="2400" b="1" dirty="0">
                <a:solidFill>
                  <a:prstClr val="black"/>
                </a:solidFill>
                <a:latin typeface="Arial"/>
                <a:cs typeface="Arial"/>
              </a:rPr>
              <a:t>as</a:t>
            </a:r>
            <a:r>
              <a:rPr sz="2400" b="1" spc="-5" dirty="0">
                <a:solidFill>
                  <a:prstClr val="black"/>
                </a:solidFill>
                <a:latin typeface="Arial"/>
                <a:cs typeface="Arial"/>
              </a:rPr>
              <a:t> input</a:t>
            </a:r>
            <a:endParaRPr sz="2400">
              <a:solidFill>
                <a:prstClr val="black"/>
              </a:solidFill>
              <a:latin typeface="Arial"/>
              <a:cs typeface="Arial"/>
            </a:endParaRPr>
          </a:p>
          <a:p>
            <a:pPr marL="127000">
              <a:spcBef>
                <a:spcPts val="820"/>
              </a:spcBef>
              <a:tabLst>
                <a:tab pos="411480" algn="l"/>
              </a:tabLst>
            </a:pPr>
            <a:r>
              <a:rPr sz="2000" dirty="0">
                <a:solidFill>
                  <a:srgbClr val="4F81BD"/>
                </a:solidFill>
                <a:latin typeface="Arial MT"/>
                <a:cs typeface="Arial MT"/>
              </a:rPr>
              <a:t>-	</a:t>
            </a:r>
            <a:r>
              <a:rPr sz="2000" b="1" dirty="0">
                <a:solidFill>
                  <a:srgbClr val="4F81BD"/>
                </a:solidFill>
                <a:latin typeface="Arial"/>
                <a:cs typeface="Arial"/>
              </a:rPr>
              <a:t>use</a:t>
            </a:r>
            <a:r>
              <a:rPr sz="2000" b="1" spc="-25" dirty="0">
                <a:solidFill>
                  <a:srgbClr val="4F81BD"/>
                </a:solidFill>
                <a:latin typeface="Arial"/>
                <a:cs typeface="Arial"/>
              </a:rPr>
              <a:t> </a:t>
            </a:r>
            <a:r>
              <a:rPr sz="2000" b="1" spc="-5" dirty="0">
                <a:solidFill>
                  <a:srgbClr val="4F81BD"/>
                </a:solidFill>
                <a:latin typeface="Arial"/>
                <a:cs typeface="Arial"/>
              </a:rPr>
              <a:t>softmax</a:t>
            </a:r>
            <a:r>
              <a:rPr sz="2000" b="1" spc="-20" dirty="0">
                <a:solidFill>
                  <a:srgbClr val="4F81BD"/>
                </a:solidFill>
                <a:latin typeface="Arial"/>
                <a:cs typeface="Arial"/>
              </a:rPr>
              <a:t> </a:t>
            </a:r>
            <a:r>
              <a:rPr sz="2000" b="1" dirty="0">
                <a:solidFill>
                  <a:srgbClr val="4F81BD"/>
                </a:solidFill>
                <a:latin typeface="Arial"/>
                <a:cs typeface="Arial"/>
              </a:rPr>
              <a:t>as</a:t>
            </a:r>
            <a:r>
              <a:rPr sz="2000" b="1" spc="-20" dirty="0">
                <a:solidFill>
                  <a:srgbClr val="4F81BD"/>
                </a:solidFill>
                <a:latin typeface="Arial"/>
                <a:cs typeface="Arial"/>
              </a:rPr>
              <a:t> </a:t>
            </a:r>
            <a:r>
              <a:rPr sz="2000" b="1" spc="-5" dirty="0">
                <a:solidFill>
                  <a:srgbClr val="4F81BD"/>
                </a:solidFill>
                <a:latin typeface="Arial"/>
                <a:cs typeface="Arial"/>
              </a:rPr>
              <a:t>output</a:t>
            </a:r>
            <a:endParaRPr sz="2000">
              <a:solidFill>
                <a:prstClr val="black"/>
              </a:solidFill>
              <a:latin typeface="Arial"/>
              <a:cs typeface="Arial"/>
            </a:endParaRPr>
          </a:p>
        </p:txBody>
      </p:sp>
      <p:grpSp>
        <p:nvGrpSpPr>
          <p:cNvPr id="4" name="object 4"/>
          <p:cNvGrpSpPr/>
          <p:nvPr/>
        </p:nvGrpSpPr>
        <p:grpSpPr>
          <a:xfrm>
            <a:off x="1536700" y="67733"/>
            <a:ext cx="5533390" cy="918844"/>
            <a:chOff x="12700" y="67733"/>
            <a:chExt cx="5533390" cy="918844"/>
          </a:xfrm>
        </p:grpSpPr>
        <p:pic>
          <p:nvPicPr>
            <p:cNvPr id="5" name="object 5"/>
            <p:cNvPicPr/>
            <p:nvPr/>
          </p:nvPicPr>
          <p:blipFill>
            <a:blip r:embed="rId3" cstate="print"/>
            <a:stretch>
              <a:fillRect/>
            </a:stretch>
          </p:blipFill>
          <p:spPr>
            <a:xfrm>
              <a:off x="12700" y="67733"/>
              <a:ext cx="2379132" cy="918633"/>
            </a:xfrm>
            <a:prstGeom prst="rect">
              <a:avLst/>
            </a:prstGeom>
          </p:spPr>
        </p:pic>
        <p:pic>
          <p:nvPicPr>
            <p:cNvPr id="6" name="object 6"/>
            <p:cNvPicPr/>
            <p:nvPr/>
          </p:nvPicPr>
          <p:blipFill>
            <a:blip r:embed="rId4" cstate="print"/>
            <a:stretch>
              <a:fillRect/>
            </a:stretch>
          </p:blipFill>
          <p:spPr>
            <a:xfrm>
              <a:off x="1837267" y="67733"/>
              <a:ext cx="1049866" cy="918633"/>
            </a:xfrm>
            <a:prstGeom prst="rect">
              <a:avLst/>
            </a:prstGeom>
          </p:spPr>
        </p:pic>
        <p:pic>
          <p:nvPicPr>
            <p:cNvPr id="7" name="object 7"/>
            <p:cNvPicPr/>
            <p:nvPr/>
          </p:nvPicPr>
          <p:blipFill>
            <a:blip r:embed="rId5" cstate="print"/>
            <a:stretch>
              <a:fillRect/>
            </a:stretch>
          </p:blipFill>
          <p:spPr>
            <a:xfrm>
              <a:off x="2332567" y="67733"/>
              <a:ext cx="3213100" cy="918633"/>
            </a:xfrm>
            <a:prstGeom prst="rect">
              <a:avLst/>
            </a:prstGeom>
          </p:spPr>
        </p:pic>
      </p:grpSp>
      <p:sp>
        <p:nvSpPr>
          <p:cNvPr id="8" name="object 8"/>
          <p:cNvSpPr txBox="1">
            <a:spLocks noGrp="1"/>
          </p:cNvSpPr>
          <p:nvPr>
            <p:ph type="title"/>
          </p:nvPr>
        </p:nvSpPr>
        <p:spPr>
          <a:xfrm>
            <a:off x="1785620" y="183388"/>
            <a:ext cx="5006340" cy="513080"/>
          </a:xfrm>
          <a:prstGeom prst="rect">
            <a:avLst/>
          </a:prstGeom>
        </p:spPr>
        <p:txBody>
          <a:bodyPr vert="horz" wrap="square" lIns="0" tIns="12700" rIns="0" bIns="0" rtlCol="0">
            <a:spAutoFit/>
          </a:bodyPr>
          <a:lstStyle/>
          <a:p>
            <a:pPr marL="12700">
              <a:spcBef>
                <a:spcPts val="100"/>
              </a:spcBef>
            </a:pPr>
            <a:r>
              <a:rPr sz="3200" spc="-5" dirty="0">
                <a:solidFill>
                  <a:srgbClr val="004990"/>
                </a:solidFill>
              </a:rPr>
              <a:t>Learning</a:t>
            </a:r>
            <a:r>
              <a:rPr sz="3200" spc="-45" dirty="0">
                <a:solidFill>
                  <a:srgbClr val="004990"/>
                </a:solidFill>
              </a:rPr>
              <a:t> </a:t>
            </a:r>
            <a:r>
              <a:rPr sz="3200" spc="-5" dirty="0">
                <a:solidFill>
                  <a:srgbClr val="004990"/>
                </a:solidFill>
              </a:rPr>
              <a:t>of</a:t>
            </a:r>
            <a:r>
              <a:rPr sz="3200" spc="-35" dirty="0">
                <a:solidFill>
                  <a:srgbClr val="004990"/>
                </a:solidFill>
              </a:rPr>
              <a:t> </a:t>
            </a:r>
            <a:r>
              <a:rPr sz="3200" spc="-5" dirty="0">
                <a:solidFill>
                  <a:srgbClr val="004990"/>
                </a:solidFill>
              </a:rPr>
              <a:t>autoencoders</a:t>
            </a:r>
            <a:endParaRPr sz="3200"/>
          </a:p>
        </p:txBody>
      </p:sp>
      <p:pic>
        <p:nvPicPr>
          <p:cNvPr id="9" name="object 9"/>
          <p:cNvPicPr/>
          <p:nvPr/>
        </p:nvPicPr>
        <p:blipFill>
          <a:blip r:embed="rId6" cstate="print"/>
          <a:stretch>
            <a:fillRect/>
          </a:stretch>
        </p:blipFill>
        <p:spPr>
          <a:xfrm>
            <a:off x="3428694" y="2753163"/>
            <a:ext cx="5073642" cy="2892112"/>
          </a:xfrm>
          <a:prstGeom prst="rect">
            <a:avLst/>
          </a:prstGeom>
        </p:spPr>
      </p:pic>
      <p:sp>
        <p:nvSpPr>
          <p:cNvPr id="10" name="object 10"/>
          <p:cNvSpPr txBox="1"/>
          <p:nvPr/>
        </p:nvSpPr>
        <p:spPr>
          <a:xfrm>
            <a:off x="4337310" y="2933062"/>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26" name="object 26"/>
          <p:cNvSpPr txBox="1">
            <a:spLocks noGrp="1"/>
          </p:cNvSpPr>
          <p:nvPr>
            <p:ph type="ftr" sz="quarter" idx="5"/>
          </p:nvPr>
        </p:nvSpPr>
        <p:spPr>
          <a:prstGeom prst="rect">
            <a:avLst/>
          </a:prstGeom>
        </p:spPr>
        <p:txBody>
          <a:bodyPr vert="horz" wrap="square" lIns="0" tIns="0" rIns="0" bIns="0" rtlCol="0">
            <a:spAutoFit/>
          </a:bodyPr>
          <a:lstStyle/>
          <a:p>
            <a:pPr marL="12700">
              <a:lnSpc>
                <a:spcPts val="1885"/>
              </a:lnSpc>
            </a:pPr>
            <a:r>
              <a:rPr spc="-5" dirty="0">
                <a:solidFill>
                  <a:prstClr val="white"/>
                </a:solidFill>
              </a:rPr>
              <a:t>InfoLab</a:t>
            </a:r>
          </a:p>
        </p:txBody>
      </p:sp>
      <p:sp>
        <p:nvSpPr>
          <p:cNvPr id="27" name="object 27"/>
          <p:cNvSpPr txBox="1">
            <a:spLocks noGrp="1"/>
          </p:cNvSpPr>
          <p:nvPr>
            <p:ph type="sldNum" sz="quarter" idx="7"/>
          </p:nvPr>
        </p:nvSpPr>
        <p:spPr>
          <a:prstGeom prst="rect">
            <a:avLst/>
          </a:prstGeom>
        </p:spPr>
        <p:txBody>
          <a:bodyPr vert="horz" wrap="square" lIns="0" tIns="0" rIns="0" bIns="0" rtlCol="0">
            <a:spAutoFit/>
          </a:bodyPr>
          <a:lstStyle/>
          <a:p>
            <a:pPr marL="38100">
              <a:lnSpc>
                <a:spcPts val="1460"/>
              </a:lnSpc>
            </a:pPr>
            <a:fld id="{81D60167-4931-47E6-BA6A-407CBD079E47}" type="slidenum">
              <a:rPr dirty="0">
                <a:solidFill>
                  <a:prstClr val="white"/>
                </a:solidFill>
              </a:rPr>
              <a:pPr marL="38100">
                <a:lnSpc>
                  <a:spcPts val="1460"/>
                </a:lnSpc>
              </a:pPr>
              <a:t>45</a:t>
            </a:fld>
            <a:endParaRPr dirty="0">
              <a:solidFill>
                <a:prstClr val="white"/>
              </a:solidFill>
            </a:endParaRPr>
          </a:p>
        </p:txBody>
      </p:sp>
      <p:sp>
        <p:nvSpPr>
          <p:cNvPr id="11" name="object 11"/>
          <p:cNvSpPr txBox="1"/>
          <p:nvPr/>
        </p:nvSpPr>
        <p:spPr>
          <a:xfrm>
            <a:off x="4306205" y="4040914"/>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12" name="object 12"/>
          <p:cNvSpPr txBox="1"/>
          <p:nvPr/>
        </p:nvSpPr>
        <p:spPr>
          <a:xfrm>
            <a:off x="4306204" y="5148767"/>
            <a:ext cx="307340" cy="299720"/>
          </a:xfrm>
          <a:prstGeom prst="rect">
            <a:avLst/>
          </a:prstGeom>
        </p:spPr>
        <p:txBody>
          <a:bodyPr vert="horz" wrap="square" lIns="0" tIns="12700" rIns="0" bIns="0" rtlCol="0">
            <a:spAutoFit/>
          </a:bodyPr>
          <a:lstStyle/>
          <a:p>
            <a:pPr marL="38100">
              <a:spcBef>
                <a:spcPts val="100"/>
              </a:spcBef>
            </a:pPr>
            <a:r>
              <a:rPr spc="-5" dirty="0">
                <a:solidFill>
                  <a:prstClr val="black"/>
                </a:solidFill>
                <a:latin typeface="Cambria Math"/>
                <a:cs typeface="Cambria Math"/>
              </a:rPr>
              <a:t>𝒙</a:t>
            </a:r>
            <a:r>
              <a:rPr sz="1950" spc="-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3" name="object 13"/>
          <p:cNvSpPr txBox="1"/>
          <p:nvPr/>
        </p:nvSpPr>
        <p:spPr>
          <a:xfrm>
            <a:off x="7184340" y="2933061"/>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𝟏</a:t>
            </a:r>
            <a:endParaRPr sz="1950" baseline="-14957">
              <a:solidFill>
                <a:prstClr val="black"/>
              </a:solidFill>
              <a:latin typeface="Cambria Math"/>
              <a:cs typeface="Cambria Math"/>
            </a:endParaRPr>
          </a:p>
        </p:txBody>
      </p:sp>
      <p:sp>
        <p:nvSpPr>
          <p:cNvPr id="14" name="object 14"/>
          <p:cNvSpPr txBox="1"/>
          <p:nvPr/>
        </p:nvSpPr>
        <p:spPr>
          <a:xfrm>
            <a:off x="7184340" y="4040914"/>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𝟐</a:t>
            </a:r>
            <a:endParaRPr sz="1950" baseline="-14957">
              <a:solidFill>
                <a:prstClr val="black"/>
              </a:solidFill>
              <a:latin typeface="Cambria Math"/>
              <a:cs typeface="Cambria Math"/>
            </a:endParaRPr>
          </a:p>
        </p:txBody>
      </p:sp>
      <p:sp>
        <p:nvSpPr>
          <p:cNvPr id="15" name="object 15"/>
          <p:cNvSpPr txBox="1"/>
          <p:nvPr/>
        </p:nvSpPr>
        <p:spPr>
          <a:xfrm>
            <a:off x="7184340" y="5148766"/>
            <a:ext cx="307340" cy="299720"/>
          </a:xfrm>
          <a:prstGeom prst="rect">
            <a:avLst/>
          </a:prstGeom>
        </p:spPr>
        <p:txBody>
          <a:bodyPr vert="horz" wrap="square" lIns="0" tIns="12700" rIns="0" bIns="0" rtlCol="0">
            <a:spAutoFit/>
          </a:bodyPr>
          <a:lstStyle/>
          <a:p>
            <a:pPr marL="38100">
              <a:spcBef>
                <a:spcPts val="100"/>
              </a:spcBef>
            </a:pPr>
            <a:r>
              <a:rPr spc="-125" dirty="0">
                <a:solidFill>
                  <a:prstClr val="black"/>
                </a:solidFill>
                <a:latin typeface="Cambria Math"/>
                <a:cs typeface="Cambria Math"/>
              </a:rPr>
              <a:t>𝒙</a:t>
            </a:r>
            <a:r>
              <a:rPr sz="2700" spc="-187" baseline="1543" dirty="0">
                <a:solidFill>
                  <a:prstClr val="black"/>
                </a:solidFill>
                <a:latin typeface="Cambria Math"/>
                <a:cs typeface="Cambria Math"/>
              </a:rPr>
              <a:t>.</a:t>
            </a:r>
            <a:r>
              <a:rPr sz="1950" spc="-187" baseline="-14957" dirty="0">
                <a:solidFill>
                  <a:prstClr val="black"/>
                </a:solidFill>
                <a:latin typeface="Cambria Math"/>
                <a:cs typeface="Cambria Math"/>
              </a:rPr>
              <a:t>𝟑</a:t>
            </a:r>
            <a:endParaRPr sz="1950" baseline="-14957">
              <a:solidFill>
                <a:prstClr val="black"/>
              </a:solidFill>
              <a:latin typeface="Cambria Math"/>
              <a:cs typeface="Cambria Math"/>
            </a:endParaRPr>
          </a:p>
        </p:txBody>
      </p:sp>
      <p:sp>
        <p:nvSpPr>
          <p:cNvPr id="16" name="object 16"/>
          <p:cNvSpPr txBox="1"/>
          <p:nvPr/>
        </p:nvSpPr>
        <p:spPr>
          <a:xfrm>
            <a:off x="4140629" y="5812375"/>
            <a:ext cx="77978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Input</a:t>
            </a:r>
            <a:r>
              <a:rPr b="1" spc="-80" dirty="0">
                <a:solidFill>
                  <a:prstClr val="black"/>
                </a:solidFill>
                <a:latin typeface="Arial"/>
                <a:cs typeface="Arial"/>
              </a:rPr>
              <a:t> </a:t>
            </a:r>
            <a:r>
              <a:rPr dirty="0">
                <a:solidFill>
                  <a:prstClr val="black"/>
                </a:solidFill>
                <a:latin typeface="Cambria Math"/>
                <a:cs typeface="Cambria Math"/>
              </a:rPr>
              <a:t>𝒙</a:t>
            </a:r>
            <a:endParaRPr>
              <a:solidFill>
                <a:prstClr val="black"/>
              </a:solidFill>
              <a:latin typeface="Cambria Math"/>
              <a:cs typeface="Cambria Math"/>
            </a:endParaRPr>
          </a:p>
        </p:txBody>
      </p:sp>
      <p:sp>
        <p:nvSpPr>
          <p:cNvPr id="17" name="object 17"/>
          <p:cNvSpPr txBox="1"/>
          <p:nvPr/>
        </p:nvSpPr>
        <p:spPr>
          <a:xfrm>
            <a:off x="7030297" y="5812375"/>
            <a:ext cx="969010" cy="299720"/>
          </a:xfrm>
          <a:prstGeom prst="rect">
            <a:avLst/>
          </a:prstGeom>
        </p:spPr>
        <p:txBody>
          <a:bodyPr vert="horz" wrap="square" lIns="0" tIns="12700" rIns="0" bIns="0" rtlCol="0">
            <a:spAutoFit/>
          </a:bodyPr>
          <a:lstStyle/>
          <a:p>
            <a:pPr marL="12700">
              <a:spcBef>
                <a:spcPts val="100"/>
              </a:spcBef>
            </a:pPr>
            <a:r>
              <a:rPr b="1" spc="-5" dirty="0">
                <a:solidFill>
                  <a:prstClr val="black"/>
                </a:solidFill>
                <a:latin typeface="Arial"/>
                <a:cs typeface="Arial"/>
              </a:rPr>
              <a:t>Output</a:t>
            </a:r>
            <a:r>
              <a:rPr b="1" spc="-75" dirty="0">
                <a:solidFill>
                  <a:prstClr val="black"/>
                </a:solidFill>
                <a:latin typeface="Arial"/>
                <a:cs typeface="Arial"/>
              </a:rPr>
              <a:t> </a:t>
            </a:r>
            <a:r>
              <a:rPr spc="-190" dirty="0">
                <a:solidFill>
                  <a:prstClr val="black"/>
                </a:solidFill>
                <a:latin typeface="Cambria Math"/>
                <a:cs typeface="Cambria Math"/>
              </a:rPr>
              <a:t>𝒙</a:t>
            </a:r>
            <a:r>
              <a:rPr sz="2700" spc="-284" baseline="1543" dirty="0">
                <a:solidFill>
                  <a:prstClr val="black"/>
                </a:solidFill>
                <a:latin typeface="Cambria Math"/>
                <a:cs typeface="Cambria Math"/>
              </a:rPr>
              <a:t>.</a:t>
            </a:r>
            <a:endParaRPr sz="2700" baseline="1543">
              <a:solidFill>
                <a:prstClr val="black"/>
              </a:solidFill>
              <a:latin typeface="Cambria Math"/>
              <a:cs typeface="Cambria Math"/>
            </a:endParaRPr>
          </a:p>
        </p:txBody>
      </p:sp>
      <p:sp>
        <p:nvSpPr>
          <p:cNvPr id="18" name="object 18"/>
          <p:cNvSpPr txBox="1"/>
          <p:nvPr/>
        </p:nvSpPr>
        <p:spPr>
          <a:xfrm>
            <a:off x="3033707" y="2947154"/>
            <a:ext cx="543560" cy="2565446"/>
          </a:xfrm>
          <a:prstGeom prst="rect">
            <a:avLst/>
          </a:prstGeom>
          <a:ln w="25400">
            <a:solidFill>
              <a:srgbClr val="000000"/>
            </a:solidFill>
          </a:ln>
        </p:spPr>
        <p:txBody>
          <a:bodyPr vert="horz" wrap="square" lIns="0" tIns="15875" rIns="0" bIns="0" rtlCol="0">
            <a:spAutoFit/>
          </a:bodyPr>
          <a:lstStyle/>
          <a:p>
            <a:pPr marR="635" algn="ctr">
              <a:spcBef>
                <a:spcPts val="125"/>
              </a:spcBef>
            </a:pPr>
            <a:r>
              <a:rPr sz="1600" b="1" dirty="0">
                <a:solidFill>
                  <a:prstClr val="black"/>
                </a:solidFill>
                <a:latin typeface="Arial"/>
                <a:cs typeface="Arial"/>
              </a:rPr>
              <a:t>1</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R="46355" algn="ctr">
              <a:spcBef>
                <a:spcPts val="1310"/>
              </a:spcBef>
            </a:pPr>
            <a:r>
              <a:rPr sz="1600" b="1" dirty="0">
                <a:solidFill>
                  <a:prstClr val="black"/>
                </a:solidFill>
                <a:latin typeface="Arial"/>
                <a:cs typeface="Arial"/>
              </a:rPr>
              <a:t>0</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R="46355" algn="ctr">
              <a:spcBef>
                <a:spcPts val="1260"/>
              </a:spcBef>
            </a:pPr>
            <a:r>
              <a:rPr sz="1600" b="1" dirty="0">
                <a:solidFill>
                  <a:prstClr val="black"/>
                </a:solidFill>
                <a:latin typeface="Arial"/>
                <a:cs typeface="Arial"/>
              </a:rPr>
              <a:t>0</a:t>
            </a:r>
            <a:endParaRPr sz="1600">
              <a:solidFill>
                <a:prstClr val="black"/>
              </a:solidFill>
              <a:latin typeface="Arial"/>
              <a:cs typeface="Arial"/>
            </a:endParaRPr>
          </a:p>
        </p:txBody>
      </p:sp>
      <p:sp>
        <p:nvSpPr>
          <p:cNvPr id="19" name="object 19"/>
          <p:cNvSpPr txBox="1"/>
          <p:nvPr/>
        </p:nvSpPr>
        <p:spPr>
          <a:xfrm>
            <a:off x="2376349" y="2947155"/>
            <a:ext cx="543560" cy="2561599"/>
          </a:xfrm>
          <a:prstGeom prst="rect">
            <a:avLst/>
          </a:prstGeom>
          <a:ln w="25400">
            <a:solidFill>
              <a:srgbClr val="000000"/>
            </a:solidFill>
          </a:ln>
        </p:spPr>
        <p:txBody>
          <a:bodyPr vert="horz" wrap="square" lIns="0" tIns="88265" rIns="0" bIns="0" rtlCol="0">
            <a:spAutoFit/>
          </a:bodyPr>
          <a:lstStyle/>
          <a:p>
            <a:pPr marR="20320" algn="ctr">
              <a:spcBef>
                <a:spcPts val="695"/>
              </a:spcBef>
            </a:pPr>
            <a:r>
              <a:rPr sz="1600" b="1" dirty="0">
                <a:solidFill>
                  <a:prstClr val="black"/>
                </a:solidFill>
                <a:latin typeface="Arial"/>
                <a:cs typeface="Arial"/>
              </a:rPr>
              <a:t>0</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R="6985" algn="ctr">
              <a:spcBef>
                <a:spcPts val="1025"/>
              </a:spcBef>
            </a:pPr>
            <a:r>
              <a:rPr sz="1600" b="1" dirty="0">
                <a:solidFill>
                  <a:prstClr val="black"/>
                </a:solidFill>
                <a:latin typeface="Arial"/>
                <a:cs typeface="Arial"/>
              </a:rPr>
              <a:t>1</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R="6985" algn="ctr">
              <a:spcBef>
                <a:spcPts val="975"/>
              </a:spcBef>
            </a:pPr>
            <a:r>
              <a:rPr sz="1600" b="1" dirty="0">
                <a:solidFill>
                  <a:prstClr val="black"/>
                </a:solidFill>
                <a:latin typeface="Arial"/>
                <a:cs typeface="Arial"/>
              </a:rPr>
              <a:t>0</a:t>
            </a:r>
            <a:endParaRPr sz="1600">
              <a:solidFill>
                <a:prstClr val="black"/>
              </a:solidFill>
              <a:latin typeface="Arial"/>
              <a:cs typeface="Arial"/>
            </a:endParaRPr>
          </a:p>
        </p:txBody>
      </p:sp>
      <p:sp>
        <p:nvSpPr>
          <p:cNvPr id="20" name="object 20"/>
          <p:cNvSpPr txBox="1"/>
          <p:nvPr/>
        </p:nvSpPr>
        <p:spPr>
          <a:xfrm>
            <a:off x="2407388" y="2418839"/>
            <a:ext cx="446405" cy="299720"/>
          </a:xfrm>
          <a:prstGeom prst="rect">
            <a:avLst/>
          </a:prstGeom>
        </p:spPr>
        <p:txBody>
          <a:bodyPr vert="horz" wrap="square" lIns="0" tIns="12700" rIns="0" bIns="0" rtlCol="0">
            <a:spAutoFit/>
          </a:bodyPr>
          <a:lstStyle/>
          <a:p>
            <a:pPr marL="38100">
              <a:spcBef>
                <a:spcPts val="100"/>
              </a:spcBef>
            </a:pPr>
            <a:r>
              <a:rPr sz="2700" baseline="-20061" dirty="0">
                <a:solidFill>
                  <a:prstClr val="black"/>
                </a:solidFill>
                <a:latin typeface="Cambria Math"/>
                <a:cs typeface="Cambria Math"/>
              </a:rPr>
              <a:t>𝒙</a:t>
            </a:r>
            <a:r>
              <a:rPr sz="1300" dirty="0">
                <a:solidFill>
                  <a:prstClr val="black"/>
                </a:solidFill>
                <a:latin typeface="Cambria Math"/>
                <a:cs typeface="Cambria Math"/>
              </a:rPr>
              <a:t>(𝟏)</a:t>
            </a:r>
            <a:endParaRPr sz="1300">
              <a:solidFill>
                <a:prstClr val="black"/>
              </a:solidFill>
              <a:latin typeface="Cambria Math"/>
              <a:cs typeface="Cambria Math"/>
            </a:endParaRPr>
          </a:p>
        </p:txBody>
      </p:sp>
      <p:sp>
        <p:nvSpPr>
          <p:cNvPr id="21" name="object 21"/>
          <p:cNvSpPr txBox="1"/>
          <p:nvPr/>
        </p:nvSpPr>
        <p:spPr>
          <a:xfrm>
            <a:off x="3086089" y="2418839"/>
            <a:ext cx="446405" cy="299720"/>
          </a:xfrm>
          <a:prstGeom prst="rect">
            <a:avLst/>
          </a:prstGeom>
        </p:spPr>
        <p:txBody>
          <a:bodyPr vert="horz" wrap="square" lIns="0" tIns="12700" rIns="0" bIns="0" rtlCol="0">
            <a:spAutoFit/>
          </a:bodyPr>
          <a:lstStyle/>
          <a:p>
            <a:pPr marL="38100">
              <a:spcBef>
                <a:spcPts val="100"/>
              </a:spcBef>
            </a:pPr>
            <a:r>
              <a:rPr sz="2700" baseline="-20061" dirty="0">
                <a:solidFill>
                  <a:prstClr val="black"/>
                </a:solidFill>
                <a:latin typeface="Cambria Math"/>
                <a:cs typeface="Cambria Math"/>
              </a:rPr>
              <a:t>𝒙</a:t>
            </a:r>
            <a:r>
              <a:rPr sz="1300" dirty="0">
                <a:solidFill>
                  <a:prstClr val="black"/>
                </a:solidFill>
                <a:latin typeface="Cambria Math"/>
                <a:cs typeface="Cambria Math"/>
              </a:rPr>
              <a:t>(𝟐)</a:t>
            </a:r>
            <a:endParaRPr sz="1300">
              <a:solidFill>
                <a:prstClr val="black"/>
              </a:solidFill>
              <a:latin typeface="Cambria Math"/>
              <a:cs typeface="Cambria Math"/>
            </a:endParaRPr>
          </a:p>
        </p:txBody>
      </p:sp>
      <p:sp>
        <p:nvSpPr>
          <p:cNvPr id="22" name="object 22"/>
          <p:cNvSpPr txBox="1"/>
          <p:nvPr/>
        </p:nvSpPr>
        <p:spPr>
          <a:xfrm>
            <a:off x="9276433" y="2947155"/>
            <a:ext cx="543560" cy="2606483"/>
          </a:xfrm>
          <a:prstGeom prst="rect">
            <a:avLst/>
          </a:prstGeom>
          <a:ln w="25400">
            <a:solidFill>
              <a:srgbClr val="000000"/>
            </a:solidFill>
          </a:ln>
        </p:spPr>
        <p:txBody>
          <a:bodyPr vert="horz" wrap="square" lIns="0" tIns="41275" rIns="0" bIns="0" rtlCol="0">
            <a:spAutoFit/>
          </a:bodyPr>
          <a:lstStyle/>
          <a:p>
            <a:pPr marL="31115">
              <a:spcBef>
                <a:spcPts val="325"/>
              </a:spcBef>
            </a:pPr>
            <a:r>
              <a:rPr sz="1600" b="1" dirty="0">
                <a:solidFill>
                  <a:prstClr val="black"/>
                </a:solidFill>
                <a:latin typeface="Arial"/>
                <a:cs typeface="Arial"/>
              </a:rPr>
              <a:t>0.3</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L="78105">
              <a:spcBef>
                <a:spcPts val="1110"/>
              </a:spcBef>
            </a:pPr>
            <a:r>
              <a:rPr sz="1600" b="1" dirty="0">
                <a:solidFill>
                  <a:prstClr val="black"/>
                </a:solidFill>
                <a:latin typeface="Arial"/>
                <a:cs typeface="Arial"/>
              </a:rPr>
              <a:t>0.4</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a:spcBef>
                <a:spcPts val="5"/>
              </a:spcBef>
            </a:pPr>
            <a:endParaRPr sz="1350">
              <a:solidFill>
                <a:prstClr val="black"/>
              </a:solidFill>
              <a:latin typeface="Arial"/>
              <a:cs typeface="Arial"/>
            </a:endParaRPr>
          </a:p>
          <a:p>
            <a:pPr marL="46990"/>
            <a:r>
              <a:rPr sz="1600" b="1" dirty="0">
                <a:solidFill>
                  <a:prstClr val="black"/>
                </a:solidFill>
                <a:latin typeface="Arial"/>
                <a:cs typeface="Arial"/>
              </a:rPr>
              <a:t>0.3</a:t>
            </a:r>
            <a:endParaRPr sz="1600">
              <a:solidFill>
                <a:prstClr val="black"/>
              </a:solidFill>
              <a:latin typeface="Arial"/>
              <a:cs typeface="Arial"/>
            </a:endParaRPr>
          </a:p>
        </p:txBody>
      </p:sp>
      <p:sp>
        <p:nvSpPr>
          <p:cNvPr id="23" name="object 23"/>
          <p:cNvSpPr txBox="1"/>
          <p:nvPr/>
        </p:nvSpPr>
        <p:spPr>
          <a:xfrm>
            <a:off x="8619074" y="2947155"/>
            <a:ext cx="543560" cy="2607765"/>
          </a:xfrm>
          <a:prstGeom prst="rect">
            <a:avLst/>
          </a:prstGeom>
          <a:ln w="25400">
            <a:solidFill>
              <a:srgbClr val="000000"/>
            </a:solidFill>
          </a:ln>
        </p:spPr>
        <p:txBody>
          <a:bodyPr vert="horz" wrap="square" lIns="0" tIns="45085" rIns="0" bIns="0" rtlCol="0">
            <a:spAutoFit/>
          </a:bodyPr>
          <a:lstStyle/>
          <a:p>
            <a:pPr marL="95885">
              <a:spcBef>
                <a:spcPts val="355"/>
              </a:spcBef>
            </a:pPr>
            <a:r>
              <a:rPr sz="1600" b="1" dirty="0">
                <a:solidFill>
                  <a:prstClr val="black"/>
                </a:solidFill>
                <a:latin typeface="Arial"/>
                <a:cs typeface="Arial"/>
              </a:rPr>
              <a:t>0.1</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L="64135">
              <a:spcBef>
                <a:spcPts val="1365"/>
              </a:spcBef>
            </a:pPr>
            <a:r>
              <a:rPr sz="1600" b="1" dirty="0">
                <a:solidFill>
                  <a:prstClr val="black"/>
                </a:solidFill>
                <a:latin typeface="Arial"/>
                <a:cs typeface="Arial"/>
              </a:rPr>
              <a:t>0.8</a:t>
            </a:r>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endParaRPr sz="1600">
              <a:solidFill>
                <a:prstClr val="black"/>
              </a:solidFill>
              <a:latin typeface="Arial"/>
              <a:cs typeface="Arial"/>
            </a:endParaRPr>
          </a:p>
          <a:p>
            <a:pPr marL="79375">
              <a:spcBef>
                <a:spcPts val="1275"/>
              </a:spcBef>
            </a:pPr>
            <a:r>
              <a:rPr sz="1600" b="1" dirty="0">
                <a:solidFill>
                  <a:prstClr val="black"/>
                </a:solidFill>
                <a:latin typeface="Arial"/>
                <a:cs typeface="Arial"/>
              </a:rPr>
              <a:t>0.1</a:t>
            </a:r>
            <a:endParaRPr sz="1600">
              <a:solidFill>
                <a:prstClr val="black"/>
              </a:solidFill>
              <a:latin typeface="Arial"/>
              <a:cs typeface="Arial"/>
            </a:endParaRPr>
          </a:p>
        </p:txBody>
      </p:sp>
      <p:sp>
        <p:nvSpPr>
          <p:cNvPr id="24" name="object 24"/>
          <p:cNvSpPr txBox="1"/>
          <p:nvPr/>
        </p:nvSpPr>
        <p:spPr>
          <a:xfrm>
            <a:off x="8647766" y="2418840"/>
            <a:ext cx="446405" cy="299720"/>
          </a:xfrm>
          <a:prstGeom prst="rect">
            <a:avLst/>
          </a:prstGeom>
        </p:spPr>
        <p:txBody>
          <a:bodyPr vert="horz" wrap="square" lIns="0" tIns="12700" rIns="0" bIns="0" rtlCol="0">
            <a:spAutoFit/>
          </a:bodyPr>
          <a:lstStyle/>
          <a:p>
            <a:pPr marL="38100">
              <a:spcBef>
                <a:spcPts val="100"/>
              </a:spcBef>
            </a:pPr>
            <a:r>
              <a:rPr sz="2700" spc="-112" baseline="-20061" dirty="0">
                <a:solidFill>
                  <a:prstClr val="black"/>
                </a:solidFill>
                <a:latin typeface="Cambria Math"/>
                <a:cs typeface="Cambria Math"/>
              </a:rPr>
              <a:t>𝒙.</a:t>
            </a:r>
            <a:r>
              <a:rPr sz="1300" spc="-75" dirty="0">
                <a:solidFill>
                  <a:prstClr val="black"/>
                </a:solidFill>
                <a:latin typeface="Cambria Math"/>
                <a:cs typeface="Cambria Math"/>
              </a:rPr>
              <a:t>(𝟏)</a:t>
            </a:r>
            <a:endParaRPr sz="1300">
              <a:solidFill>
                <a:prstClr val="black"/>
              </a:solidFill>
              <a:latin typeface="Cambria Math"/>
              <a:cs typeface="Cambria Math"/>
            </a:endParaRPr>
          </a:p>
        </p:txBody>
      </p:sp>
      <p:sp>
        <p:nvSpPr>
          <p:cNvPr id="25" name="object 25"/>
          <p:cNvSpPr txBox="1"/>
          <p:nvPr/>
        </p:nvSpPr>
        <p:spPr>
          <a:xfrm>
            <a:off x="9328812" y="2418839"/>
            <a:ext cx="446405" cy="299720"/>
          </a:xfrm>
          <a:prstGeom prst="rect">
            <a:avLst/>
          </a:prstGeom>
        </p:spPr>
        <p:txBody>
          <a:bodyPr vert="horz" wrap="square" lIns="0" tIns="12700" rIns="0" bIns="0" rtlCol="0">
            <a:spAutoFit/>
          </a:bodyPr>
          <a:lstStyle/>
          <a:p>
            <a:pPr marL="38100">
              <a:spcBef>
                <a:spcPts val="100"/>
              </a:spcBef>
            </a:pPr>
            <a:r>
              <a:rPr sz="2700" spc="-112" baseline="-20061" dirty="0">
                <a:solidFill>
                  <a:prstClr val="black"/>
                </a:solidFill>
                <a:latin typeface="Cambria Math"/>
                <a:cs typeface="Cambria Math"/>
              </a:rPr>
              <a:t>𝒙.</a:t>
            </a:r>
            <a:r>
              <a:rPr sz="1300" spc="-75" dirty="0">
                <a:solidFill>
                  <a:prstClr val="black"/>
                </a:solidFill>
                <a:latin typeface="Cambria Math"/>
                <a:cs typeface="Cambria Math"/>
              </a:rPr>
              <a:t>(𝟐)</a:t>
            </a:r>
            <a:endParaRPr sz="1300">
              <a:solidFill>
                <a:prstClr val="black"/>
              </a:solidFill>
              <a:latin typeface="Cambria Math"/>
              <a:cs typeface="Cambria Math"/>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1FE5-1511-41F5-9658-9D8CCD7E2BA6}"/>
              </a:ext>
            </a:extLst>
          </p:cNvPr>
          <p:cNvSpPr>
            <a:spLocks noGrp="1"/>
          </p:cNvSpPr>
          <p:nvPr>
            <p:ph type="title"/>
          </p:nvPr>
        </p:nvSpPr>
        <p:spPr/>
        <p:txBody>
          <a:bodyPr/>
          <a:lstStyle/>
          <a:p>
            <a:r>
              <a:rPr lang="en-US" dirty="0"/>
              <a:t>Undercomplete Autoencoders</a:t>
            </a:r>
            <a:endParaRPr lang="en-IN" dirty="0"/>
          </a:p>
        </p:txBody>
      </p:sp>
      <p:sp>
        <p:nvSpPr>
          <p:cNvPr id="4" name="Slide Number Placeholder 3">
            <a:extLst>
              <a:ext uri="{FF2B5EF4-FFF2-40B4-BE49-F238E27FC236}">
                <a16:creationId xmlns:a16="http://schemas.microsoft.com/office/drawing/2014/main" id="{9879B36A-7211-4B16-98FC-27AA7146A3A9}"/>
              </a:ext>
            </a:extLst>
          </p:cNvPr>
          <p:cNvSpPr>
            <a:spLocks noGrp="1"/>
          </p:cNvSpPr>
          <p:nvPr>
            <p:ph type="sldNum" sz="quarter" idx="12"/>
          </p:nvPr>
        </p:nvSpPr>
        <p:spPr/>
        <p:txBody>
          <a:bodyPr/>
          <a:lstStyle/>
          <a:p>
            <a:pPr>
              <a:defRPr/>
            </a:pPr>
            <a:fld id="{9AD681D7-8A59-4380-9311-10B86FF921AA}" type="slidenum">
              <a:rPr lang="en-US" altLang="zh-TW" smtClean="0"/>
              <a:pPr>
                <a:defRPr/>
              </a:pPr>
              <a:t>46</a:t>
            </a:fld>
            <a:endParaRPr lang="en-US" altLang="zh-TW"/>
          </a:p>
        </p:txBody>
      </p:sp>
      <p:sp>
        <p:nvSpPr>
          <p:cNvPr id="12" name="TextBox 11">
            <a:extLst>
              <a:ext uri="{FF2B5EF4-FFF2-40B4-BE49-F238E27FC236}">
                <a16:creationId xmlns:a16="http://schemas.microsoft.com/office/drawing/2014/main" id="{C2AB0D46-2760-4ED4-A1C4-638BF8639E24}"/>
              </a:ext>
            </a:extLst>
          </p:cNvPr>
          <p:cNvSpPr txBox="1"/>
          <p:nvPr/>
        </p:nvSpPr>
        <p:spPr>
          <a:xfrm>
            <a:off x="1146007" y="2557580"/>
            <a:ext cx="6093994" cy="4196020"/>
          </a:xfrm>
          <a:prstGeom prst="rect">
            <a:avLst/>
          </a:prstGeom>
          <a:noFill/>
          <a:ln>
            <a:solidFill>
              <a:srgbClr val="000000"/>
            </a:solidFill>
          </a:ln>
        </p:spPr>
        <p:txBody>
          <a:bodyPr wrap="square">
            <a:spAutoFit/>
          </a:bodyPr>
          <a:lstStyle/>
          <a:p>
            <a:pPr>
              <a:lnSpc>
                <a:spcPct val="150000"/>
              </a:lnSpc>
            </a:pPr>
            <a:r>
              <a:rPr lang="en-US" sz="1800" b="0" i="1" dirty="0">
                <a:solidFill>
                  <a:srgbClr val="23373B"/>
                </a:solidFill>
                <a:effectLst/>
                <a:latin typeface="CMSY10"/>
              </a:rPr>
              <a:t>• </a:t>
            </a:r>
            <a:r>
              <a:rPr lang="en-US" sz="1800" b="1" i="0" dirty="0">
                <a:solidFill>
                  <a:srgbClr val="002060"/>
                </a:solidFill>
                <a:effectLst/>
              </a:rPr>
              <a:t>Undercomplete Autoencoders </a:t>
            </a:r>
            <a:r>
              <a:rPr lang="en-US" sz="1800" b="0" i="0" dirty="0">
                <a:solidFill>
                  <a:srgbClr val="002060"/>
                </a:solidFill>
                <a:effectLst/>
              </a:rPr>
              <a:t>are designed to have a hidden layer </a:t>
            </a:r>
            <a:r>
              <a:rPr lang="en-US" sz="1800" b="1" i="0" dirty="0">
                <a:solidFill>
                  <a:srgbClr val="002060"/>
                </a:solidFill>
                <a:effectLst/>
              </a:rPr>
              <a:t>h</a:t>
            </a:r>
            <a:r>
              <a:rPr lang="en-US" sz="1800" b="0" i="0" dirty="0">
                <a:solidFill>
                  <a:srgbClr val="002060"/>
                </a:solidFill>
                <a:effectLst/>
              </a:rPr>
              <a:t>, with smaller dimension than input layer x.</a:t>
            </a:r>
          </a:p>
          <a:p>
            <a:pPr>
              <a:lnSpc>
                <a:spcPct val="150000"/>
              </a:lnSpc>
            </a:pPr>
            <a:r>
              <a:rPr lang="en-US" sz="1800" b="0" i="0" dirty="0">
                <a:solidFill>
                  <a:srgbClr val="002060"/>
                </a:solidFill>
                <a:effectLst/>
              </a:rPr>
              <a:t> </a:t>
            </a:r>
            <a:r>
              <a:rPr lang="en-US" sz="1800" b="0" i="1" dirty="0">
                <a:solidFill>
                  <a:srgbClr val="002060"/>
                </a:solidFill>
                <a:effectLst/>
              </a:rPr>
              <a:t>• </a:t>
            </a:r>
            <a:r>
              <a:rPr lang="en-US" dirty="0">
                <a:solidFill>
                  <a:srgbClr val="002060"/>
                </a:solidFill>
              </a:rPr>
              <a:t>Its designed to extract useful features from data rather than simply copying input to output. </a:t>
            </a:r>
          </a:p>
          <a:p>
            <a:pPr>
              <a:lnSpc>
                <a:spcPct val="150000"/>
              </a:lnSpc>
            </a:pPr>
            <a:r>
              <a:rPr lang="en-US" sz="1800" b="0" i="1" dirty="0">
                <a:solidFill>
                  <a:srgbClr val="002060"/>
                </a:solidFill>
                <a:effectLst/>
              </a:rPr>
              <a:t>•</a:t>
            </a:r>
            <a:r>
              <a:rPr lang="en-US" dirty="0">
                <a:solidFill>
                  <a:srgbClr val="002060"/>
                </a:solidFill>
              </a:rPr>
              <a:t>Training of Undercomplete autoencoder forces it to capture silent features of training data. </a:t>
            </a:r>
            <a:br>
              <a:rPr lang="en-US" sz="1800" b="0" i="0" dirty="0">
                <a:solidFill>
                  <a:srgbClr val="002060"/>
                </a:solidFill>
                <a:effectLst/>
              </a:rPr>
            </a:br>
            <a:r>
              <a:rPr lang="en-US" sz="1800" b="0" i="1" dirty="0">
                <a:solidFill>
                  <a:srgbClr val="002060"/>
                </a:solidFill>
                <a:effectLst/>
              </a:rPr>
              <a:t>• </a:t>
            </a:r>
            <a:r>
              <a:rPr lang="en-US" sz="1800" b="0" i="0" dirty="0">
                <a:solidFill>
                  <a:srgbClr val="002060"/>
                </a:solidFill>
                <a:effectLst/>
              </a:rPr>
              <a:t>Network must model </a:t>
            </a:r>
            <a:r>
              <a:rPr lang="en-US" sz="1800" b="1" i="0" dirty="0">
                <a:solidFill>
                  <a:srgbClr val="002060"/>
                </a:solidFill>
                <a:effectLst/>
              </a:rPr>
              <a:t>x </a:t>
            </a:r>
            <a:r>
              <a:rPr lang="en-US" sz="1800" b="0" i="0" dirty="0">
                <a:solidFill>
                  <a:srgbClr val="002060"/>
                </a:solidFill>
                <a:effectLst/>
              </a:rPr>
              <a:t>in lower dim. space + map latent</a:t>
            </a:r>
            <a:br>
              <a:rPr lang="en-US" sz="1800" b="0" i="0" dirty="0">
                <a:solidFill>
                  <a:srgbClr val="002060"/>
                </a:solidFill>
                <a:effectLst/>
              </a:rPr>
            </a:br>
            <a:r>
              <a:rPr lang="en-US" sz="1800" b="0" i="0" dirty="0">
                <a:solidFill>
                  <a:srgbClr val="002060"/>
                </a:solidFill>
                <a:effectLst/>
              </a:rPr>
              <a:t>space accurately back to input space.</a:t>
            </a:r>
            <a:br>
              <a:rPr lang="en-US" sz="1800" b="0" i="0" dirty="0">
                <a:solidFill>
                  <a:srgbClr val="002060"/>
                </a:solidFill>
                <a:effectLst/>
              </a:rPr>
            </a:br>
            <a:r>
              <a:rPr lang="en-US" sz="1800" b="0" i="1" dirty="0">
                <a:solidFill>
                  <a:srgbClr val="002060"/>
                </a:solidFill>
                <a:effectLst/>
              </a:rPr>
              <a:t>• </a:t>
            </a:r>
            <a:r>
              <a:rPr lang="en-US" sz="1800" b="0" i="0" dirty="0">
                <a:solidFill>
                  <a:srgbClr val="002060"/>
                </a:solidFill>
                <a:effectLst/>
              </a:rPr>
              <a:t>Encoder network: function that returns a useful, compressed representation of input.</a:t>
            </a:r>
            <a:endParaRPr lang="en-IN" dirty="0">
              <a:solidFill>
                <a:srgbClr val="002060"/>
              </a:solidFill>
            </a:endParaRPr>
          </a:p>
        </p:txBody>
      </p:sp>
      <p:pic>
        <p:nvPicPr>
          <p:cNvPr id="6" name="Picture 5">
            <a:extLst>
              <a:ext uri="{FF2B5EF4-FFF2-40B4-BE49-F238E27FC236}">
                <a16:creationId xmlns:a16="http://schemas.microsoft.com/office/drawing/2014/main" id="{9A2F7CE1-3C4D-4869-AE2A-F6AEF04C5B2F}"/>
              </a:ext>
            </a:extLst>
          </p:cNvPr>
          <p:cNvPicPr>
            <a:picLocks noChangeAspect="1"/>
          </p:cNvPicPr>
          <p:nvPr/>
        </p:nvPicPr>
        <p:blipFill>
          <a:blip r:embed="rId2"/>
          <a:stretch>
            <a:fillRect/>
          </a:stretch>
        </p:blipFill>
        <p:spPr>
          <a:xfrm>
            <a:off x="7490656" y="2401169"/>
            <a:ext cx="4404575" cy="2464719"/>
          </a:xfrm>
          <a:prstGeom prst="rect">
            <a:avLst/>
          </a:prstGeom>
          <a:ln>
            <a:solidFill>
              <a:srgbClr val="000000"/>
            </a:solidFill>
          </a:ln>
        </p:spPr>
      </p:pic>
      <p:pic>
        <p:nvPicPr>
          <p:cNvPr id="8" name="Content Placeholder 5">
            <a:extLst>
              <a:ext uri="{FF2B5EF4-FFF2-40B4-BE49-F238E27FC236}">
                <a16:creationId xmlns:a16="http://schemas.microsoft.com/office/drawing/2014/main" id="{7652D8EB-976D-40B8-BC9D-37EE3F7D88B9}"/>
              </a:ext>
            </a:extLst>
          </p:cNvPr>
          <p:cNvPicPr>
            <a:picLocks noGrp="1" noChangeAspect="1"/>
          </p:cNvPicPr>
          <p:nvPr>
            <p:ph idx="1"/>
          </p:nvPr>
        </p:nvPicPr>
        <p:blipFill>
          <a:blip r:embed="rId3"/>
          <a:stretch>
            <a:fillRect/>
          </a:stretch>
        </p:blipFill>
        <p:spPr>
          <a:xfrm>
            <a:off x="7490656" y="4865889"/>
            <a:ext cx="4404575" cy="1992112"/>
          </a:xfrm>
          <a:ln>
            <a:solidFill>
              <a:srgbClr val="000000"/>
            </a:solidFill>
          </a:ln>
        </p:spPr>
      </p:pic>
    </p:spTree>
    <p:extLst>
      <p:ext uri="{BB962C8B-B14F-4D97-AF65-F5344CB8AC3E}">
        <p14:creationId xmlns:p14="http://schemas.microsoft.com/office/powerpoint/2010/main" val="42310993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24C19-6522-4456-BD81-CF2ECB94201A}"/>
              </a:ext>
            </a:extLst>
          </p:cNvPr>
          <p:cNvSpPr>
            <a:spLocks noGrp="1"/>
          </p:cNvSpPr>
          <p:nvPr>
            <p:ph type="title"/>
          </p:nvPr>
        </p:nvSpPr>
        <p:spPr/>
        <p:txBody>
          <a:bodyPr/>
          <a:lstStyle/>
          <a:p>
            <a:r>
              <a:rPr lang="en-US" dirty="0"/>
              <a:t>Undercomplete Autoencoders (Other way)</a:t>
            </a:r>
            <a:endParaRPr lang="en-IN" dirty="0"/>
          </a:p>
        </p:txBody>
      </p:sp>
      <p:sp>
        <p:nvSpPr>
          <p:cNvPr id="3" name="Content Placeholder 2">
            <a:extLst>
              <a:ext uri="{FF2B5EF4-FFF2-40B4-BE49-F238E27FC236}">
                <a16:creationId xmlns:a16="http://schemas.microsoft.com/office/drawing/2014/main" id="{D6C52640-CA4B-4DAB-B9D4-61128B9DAFB7}"/>
              </a:ext>
            </a:extLst>
          </p:cNvPr>
          <p:cNvSpPr>
            <a:spLocks noGrp="1"/>
          </p:cNvSpPr>
          <p:nvPr>
            <p:ph idx="1"/>
          </p:nvPr>
        </p:nvSpPr>
        <p:spPr>
          <a:xfrm>
            <a:off x="1016000" y="2689057"/>
            <a:ext cx="10257367" cy="3087129"/>
          </a:xfrm>
          <a:ln>
            <a:solidFill>
              <a:srgbClr val="000000"/>
            </a:solidFill>
          </a:ln>
        </p:spPr>
        <p:txBody>
          <a:bodyPr/>
          <a:lstStyle/>
          <a:p>
            <a:pPr marL="185738" indent="-185738">
              <a:lnSpc>
                <a:spcPct val="150000"/>
              </a:lnSpc>
              <a:buClr>
                <a:srgbClr val="003366"/>
              </a:buClr>
              <a:defRPr/>
            </a:pPr>
            <a:r>
              <a:rPr lang="en-US" sz="1400" dirty="0">
                <a:solidFill>
                  <a:schemeClr val="tx1">
                    <a:lumMod val="75000"/>
                  </a:schemeClr>
                </a:solidFill>
                <a:latin typeface="Arial"/>
              </a:rPr>
              <a:t>An undercomplete autoencoder is one of the </a:t>
            </a:r>
            <a:r>
              <a:rPr lang="en-US" sz="1400" b="1" dirty="0">
                <a:solidFill>
                  <a:schemeClr val="tx1">
                    <a:lumMod val="75000"/>
                  </a:schemeClr>
                </a:solidFill>
                <a:latin typeface="Arial"/>
              </a:rPr>
              <a:t>simplest</a:t>
            </a:r>
            <a:r>
              <a:rPr lang="en-US" sz="1400" dirty="0">
                <a:solidFill>
                  <a:schemeClr val="tx1">
                    <a:lumMod val="75000"/>
                  </a:schemeClr>
                </a:solidFill>
                <a:latin typeface="Arial"/>
              </a:rPr>
              <a:t> types of autoencoders.</a:t>
            </a:r>
          </a:p>
          <a:p>
            <a:pPr marL="185738" indent="-185738">
              <a:lnSpc>
                <a:spcPct val="150000"/>
              </a:lnSpc>
              <a:buClr>
                <a:srgbClr val="003366"/>
              </a:buClr>
              <a:defRPr/>
            </a:pPr>
            <a:r>
              <a:rPr lang="en-US" sz="1400" dirty="0">
                <a:solidFill>
                  <a:schemeClr val="tx1">
                    <a:lumMod val="75000"/>
                  </a:schemeClr>
                </a:solidFill>
                <a:latin typeface="Arial"/>
              </a:rPr>
              <a:t>The way it works is very straightforward—</a:t>
            </a:r>
          </a:p>
          <a:p>
            <a:pPr marL="185738" indent="-185738">
              <a:lnSpc>
                <a:spcPct val="150000"/>
              </a:lnSpc>
              <a:buClr>
                <a:srgbClr val="003366"/>
              </a:buClr>
              <a:defRPr/>
            </a:pPr>
            <a:r>
              <a:rPr lang="en-US" sz="1400" dirty="0">
                <a:solidFill>
                  <a:schemeClr val="tx1">
                    <a:lumMod val="75000"/>
                  </a:schemeClr>
                </a:solidFill>
                <a:latin typeface="Arial"/>
              </a:rPr>
              <a:t>Undercomplete autoencoder takes in an image and tries to predict the same image as output, thus reconstructing the image from the compressed bottleneck region.</a:t>
            </a:r>
          </a:p>
          <a:p>
            <a:pPr marL="185738" indent="-185738">
              <a:lnSpc>
                <a:spcPct val="150000"/>
              </a:lnSpc>
              <a:buClr>
                <a:srgbClr val="003366"/>
              </a:buClr>
              <a:defRPr/>
            </a:pPr>
            <a:r>
              <a:rPr lang="en-US" sz="1400" dirty="0">
                <a:solidFill>
                  <a:schemeClr val="tx1">
                    <a:lumMod val="75000"/>
                  </a:schemeClr>
                </a:solidFill>
                <a:latin typeface="Arial"/>
              </a:rPr>
              <a:t>Undercomplete autoencoders are truly </a:t>
            </a:r>
            <a:r>
              <a:rPr lang="en-US" sz="1400" b="1" dirty="0">
                <a:solidFill>
                  <a:schemeClr val="tx1">
                    <a:lumMod val="75000"/>
                  </a:schemeClr>
                </a:solidFill>
                <a:latin typeface="Arial"/>
              </a:rPr>
              <a:t>unsupervised </a:t>
            </a:r>
            <a:r>
              <a:rPr lang="en-US" sz="1400" dirty="0">
                <a:solidFill>
                  <a:schemeClr val="tx1">
                    <a:lumMod val="75000"/>
                  </a:schemeClr>
                </a:solidFill>
                <a:latin typeface="Arial"/>
              </a:rPr>
              <a:t>as they do not take any form of label, the target being the same as the input.</a:t>
            </a:r>
          </a:p>
          <a:p>
            <a:pPr marL="185738" indent="-185738">
              <a:lnSpc>
                <a:spcPct val="150000"/>
              </a:lnSpc>
              <a:buClr>
                <a:srgbClr val="003366"/>
              </a:buClr>
              <a:defRPr/>
            </a:pPr>
            <a:r>
              <a:rPr lang="en-US" sz="1400" dirty="0">
                <a:solidFill>
                  <a:schemeClr val="tx1">
                    <a:lumMod val="75000"/>
                  </a:schemeClr>
                </a:solidFill>
                <a:latin typeface="Arial"/>
              </a:rPr>
              <a:t>The </a:t>
            </a:r>
            <a:r>
              <a:rPr lang="en-US" sz="1400" b="1" dirty="0">
                <a:solidFill>
                  <a:schemeClr val="tx1">
                    <a:lumMod val="75000"/>
                  </a:schemeClr>
                </a:solidFill>
                <a:latin typeface="Arial"/>
              </a:rPr>
              <a:t>primary use </a:t>
            </a:r>
            <a:r>
              <a:rPr lang="en-US" sz="1400" dirty="0">
                <a:solidFill>
                  <a:schemeClr val="tx1">
                    <a:lumMod val="75000"/>
                  </a:schemeClr>
                </a:solidFill>
                <a:latin typeface="Arial"/>
              </a:rPr>
              <a:t>of autoencoders like such is the generation of the latent space or the bottleneck, which forms a </a:t>
            </a:r>
            <a:r>
              <a:rPr lang="en-US" sz="1400" b="1" dirty="0">
                <a:solidFill>
                  <a:schemeClr val="tx1">
                    <a:lumMod val="75000"/>
                  </a:schemeClr>
                </a:solidFill>
                <a:latin typeface="Arial"/>
              </a:rPr>
              <a:t>compressed </a:t>
            </a:r>
            <a:r>
              <a:rPr lang="en-US" sz="1400" dirty="0">
                <a:solidFill>
                  <a:schemeClr val="tx1">
                    <a:lumMod val="75000"/>
                  </a:schemeClr>
                </a:solidFill>
                <a:latin typeface="Arial"/>
              </a:rPr>
              <a:t>substitute of the input data and can be easily decompressed back with the help of the network when needed.</a:t>
            </a:r>
          </a:p>
          <a:p>
            <a:endParaRPr lang="en-IN" dirty="0"/>
          </a:p>
        </p:txBody>
      </p:sp>
      <p:sp>
        <p:nvSpPr>
          <p:cNvPr id="4" name="Slide Number Placeholder 3">
            <a:extLst>
              <a:ext uri="{FF2B5EF4-FFF2-40B4-BE49-F238E27FC236}">
                <a16:creationId xmlns:a16="http://schemas.microsoft.com/office/drawing/2014/main" id="{0B88A8E0-E18F-4FAA-9484-C29AD85DCE71}"/>
              </a:ext>
            </a:extLst>
          </p:cNvPr>
          <p:cNvSpPr>
            <a:spLocks noGrp="1"/>
          </p:cNvSpPr>
          <p:nvPr>
            <p:ph type="sldNum" sz="quarter" idx="12"/>
          </p:nvPr>
        </p:nvSpPr>
        <p:spPr/>
        <p:txBody>
          <a:bodyPr/>
          <a:lstStyle/>
          <a:p>
            <a:pPr>
              <a:defRPr/>
            </a:pPr>
            <a:fld id="{9AD681D7-8A59-4380-9311-10B86FF921AA}" type="slidenum">
              <a:rPr lang="en-US" altLang="zh-TW" smtClean="0"/>
              <a:pPr>
                <a:defRPr/>
              </a:pPr>
              <a:t>47</a:t>
            </a:fld>
            <a:endParaRPr lang="en-US" altLang="zh-TW"/>
          </a:p>
        </p:txBody>
      </p:sp>
    </p:spTree>
    <p:extLst>
      <p:ext uri="{BB962C8B-B14F-4D97-AF65-F5344CB8AC3E}">
        <p14:creationId xmlns:p14="http://schemas.microsoft.com/office/powerpoint/2010/main" val="42006183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1748" y="1199009"/>
            <a:ext cx="170687" cy="177800"/>
          </a:xfrm>
          <a:prstGeom prst="rect">
            <a:avLst/>
          </a:prstGeom>
        </p:spPr>
      </p:pic>
      <p:sp>
        <p:nvSpPr>
          <p:cNvPr id="3" name="object 3"/>
          <p:cNvSpPr txBox="1"/>
          <p:nvPr/>
        </p:nvSpPr>
        <p:spPr>
          <a:xfrm>
            <a:off x="801858" y="984985"/>
            <a:ext cx="11254154" cy="1165063"/>
          </a:xfrm>
          <a:prstGeom prst="rect">
            <a:avLst/>
          </a:prstGeom>
        </p:spPr>
        <p:txBody>
          <a:bodyPr vert="horz" wrap="square" lIns="0" tIns="137795" rIns="0" bIns="0" rtlCol="0">
            <a:spAutoFit/>
          </a:bodyPr>
          <a:lstStyle/>
          <a:p>
            <a:pPr marL="12700" marR="0" lvl="0" indent="0" algn="l" defTabSz="914400" rtl="0" eaLnBrk="1" fontAlgn="auto" latinLnBrk="0" hangingPunct="1">
              <a:lnSpc>
                <a:spcPct val="100000"/>
              </a:lnSpc>
              <a:spcBef>
                <a:spcPts val="1085"/>
              </a:spcBef>
              <a:spcAft>
                <a:spcPts val="0"/>
              </a:spcAft>
              <a:buClrTx/>
              <a:buSzTx/>
              <a:buFontTx/>
              <a:buNone/>
              <a:tabLst/>
              <a:defRPr/>
            </a:pPr>
            <a:r>
              <a:rPr kumimoji="0" sz="2400" b="1" i="0" u="none" strike="noStrike" kern="1200" cap="none" spc="-5" normalizeH="0" baseline="0" noProof="0" dirty="0">
                <a:ln>
                  <a:noFill/>
                </a:ln>
                <a:solidFill>
                  <a:prstClr val="black"/>
                </a:solidFill>
                <a:effectLst/>
                <a:uLnTx/>
                <a:uFillTx/>
                <a:latin typeface="Arial"/>
                <a:ea typeface="+mn-ea"/>
                <a:cs typeface="Arial"/>
              </a:rPr>
              <a:t>Undercomplete</a:t>
            </a:r>
            <a:r>
              <a:rPr kumimoji="0" sz="2400" b="1" i="0" u="none" strike="noStrike" kern="1200" cap="none" spc="-20" normalizeH="0" baseline="0" noProof="0" dirty="0">
                <a:ln>
                  <a:noFill/>
                </a:ln>
                <a:solidFill>
                  <a:prstClr val="black"/>
                </a:solidFill>
                <a:effectLst/>
                <a:uLnTx/>
                <a:uFillTx/>
                <a:latin typeface="Arial"/>
                <a:ea typeface="+mn-ea"/>
                <a:cs typeface="Arial"/>
              </a:rPr>
              <a:t> </a:t>
            </a:r>
            <a:r>
              <a:rPr kumimoji="0" sz="2400" b="1" i="0" u="none" strike="noStrike" kern="1200" cap="none" spc="-5" normalizeH="0" baseline="0" noProof="0" dirty="0">
                <a:ln>
                  <a:noFill/>
                </a:ln>
                <a:solidFill>
                  <a:prstClr val="black"/>
                </a:solidFill>
                <a:effectLst/>
                <a:uLnTx/>
                <a:uFillTx/>
                <a:latin typeface="Arial"/>
                <a:ea typeface="+mn-ea"/>
                <a:cs typeface="Arial"/>
              </a:rPr>
              <a:t>autoencoder</a:t>
            </a:r>
            <a:r>
              <a:rPr kumimoji="0" lang="en-IN" sz="2400" b="1" i="0" u="none" strike="noStrike" kern="1200" cap="none" spc="-5" normalizeH="0" baseline="0" noProof="0" dirty="0">
                <a:ln>
                  <a:noFill/>
                </a:ln>
                <a:solidFill>
                  <a:prstClr val="black"/>
                </a:solidFill>
                <a:effectLst/>
                <a:uLnTx/>
                <a:uFillTx/>
                <a:latin typeface="Arial"/>
                <a:ea typeface="+mn-ea"/>
                <a:cs typeface="Arial"/>
              </a:rPr>
              <a:t> and Overcomplete Autoencoder</a:t>
            </a:r>
            <a:endParaRPr kumimoji="0" sz="2400" b="0" i="0" u="none" strike="noStrike" kern="1200" cap="none" spc="0" normalizeH="0" baseline="0" noProof="0" dirty="0">
              <a:ln>
                <a:noFill/>
              </a:ln>
              <a:solidFill>
                <a:prstClr val="black"/>
              </a:solidFill>
              <a:effectLst/>
              <a:uLnTx/>
              <a:uFillTx/>
              <a:latin typeface="Arial"/>
              <a:ea typeface="+mn-ea"/>
              <a:cs typeface="Arial"/>
            </a:endParaRPr>
          </a:p>
          <a:p>
            <a:pPr marL="127000" marR="0" lvl="0" indent="0" algn="l" defTabSz="914400" rtl="0" eaLnBrk="1" fontAlgn="auto" latinLnBrk="0" hangingPunct="1">
              <a:lnSpc>
                <a:spcPct val="100000"/>
              </a:lnSpc>
              <a:spcBef>
                <a:spcPts val="820"/>
              </a:spcBef>
              <a:spcAft>
                <a:spcPts val="0"/>
              </a:spcAft>
              <a:buClrTx/>
              <a:buSzTx/>
              <a:buFontTx/>
              <a:buNone/>
              <a:tabLst>
                <a:tab pos="411480" algn="l"/>
              </a:tabLst>
              <a:defRPr/>
            </a:pPr>
            <a:r>
              <a:rPr kumimoji="0" lang="en-IN" sz="1800" b="1" i="0" u="none" strike="noStrike" kern="1200" cap="none" spc="-5" normalizeH="0" baseline="0" noProof="0" dirty="0">
                <a:ln>
                  <a:noFill/>
                </a:ln>
                <a:solidFill>
                  <a:srgbClr val="4F81BD"/>
                </a:solidFill>
                <a:effectLst/>
                <a:uLnTx/>
                <a:uFillTx/>
                <a:latin typeface="Arial"/>
                <a:ea typeface="+mn-ea"/>
                <a:cs typeface="Arial"/>
              </a:rPr>
              <a:t>For Undercomplete autoencoder - </a:t>
            </a:r>
            <a:r>
              <a:rPr kumimoji="0" sz="1800" b="1" i="0" u="none" strike="noStrike" kern="1200" cap="none" spc="-5" normalizeH="0" baseline="0" noProof="0" dirty="0">
                <a:ln>
                  <a:noFill/>
                </a:ln>
                <a:solidFill>
                  <a:srgbClr val="4F81BD"/>
                </a:solidFill>
                <a:effectLst/>
                <a:uLnTx/>
                <a:uFillTx/>
                <a:latin typeface="Arial"/>
                <a:ea typeface="+mn-ea"/>
                <a:cs typeface="Arial"/>
              </a:rPr>
              <a:t>output</a:t>
            </a:r>
            <a:r>
              <a:rPr kumimoji="0" sz="1800" b="1" i="0" u="none" strike="noStrike" kern="1200" cap="none" spc="-10" normalizeH="0" baseline="0" noProof="0" dirty="0">
                <a:ln>
                  <a:noFill/>
                </a:ln>
                <a:solidFill>
                  <a:srgbClr val="4F81BD"/>
                </a:solidFill>
                <a:effectLst/>
                <a:uLnTx/>
                <a:uFillTx/>
                <a:latin typeface="Arial"/>
                <a:ea typeface="+mn-ea"/>
                <a:cs typeface="Arial"/>
              </a:rPr>
              <a:t> </a:t>
            </a:r>
            <a:r>
              <a:rPr kumimoji="0" sz="1800" b="1" i="0" u="none" strike="noStrike" kern="1200" cap="none" spc="-5" normalizeH="0" baseline="0" noProof="0" dirty="0">
                <a:ln>
                  <a:noFill/>
                </a:ln>
                <a:solidFill>
                  <a:srgbClr val="4F81BD"/>
                </a:solidFill>
                <a:effectLst/>
                <a:uLnTx/>
                <a:uFillTx/>
                <a:latin typeface="Arial"/>
                <a:ea typeface="+mn-ea"/>
                <a:cs typeface="Arial"/>
              </a:rPr>
              <a:t>dimension </a:t>
            </a:r>
            <a:r>
              <a:rPr kumimoji="0" sz="1800" b="1" i="0" u="none" strike="noStrike" kern="1200" cap="none" spc="0" normalizeH="0" baseline="0" noProof="0" dirty="0">
                <a:ln>
                  <a:noFill/>
                </a:ln>
                <a:solidFill>
                  <a:srgbClr val="4F81BD"/>
                </a:solidFill>
                <a:effectLst/>
                <a:uLnTx/>
                <a:uFillTx/>
                <a:latin typeface="Arial"/>
                <a:ea typeface="+mn-ea"/>
                <a:cs typeface="Arial"/>
              </a:rPr>
              <a:t>of</a:t>
            </a:r>
            <a:r>
              <a:rPr kumimoji="0" sz="1800" b="1" i="0" u="none" strike="noStrike" kern="1200" cap="none" spc="-10" normalizeH="0" baseline="0" noProof="0" dirty="0">
                <a:ln>
                  <a:noFill/>
                </a:ln>
                <a:solidFill>
                  <a:srgbClr val="4F81BD"/>
                </a:solidFill>
                <a:effectLst/>
                <a:uLnTx/>
                <a:uFillTx/>
                <a:latin typeface="Arial"/>
                <a:ea typeface="+mn-ea"/>
                <a:cs typeface="Arial"/>
              </a:rPr>
              <a:t> </a:t>
            </a:r>
            <a:r>
              <a:rPr kumimoji="0" sz="1800" b="1" i="0" u="none" strike="noStrike" kern="1200" cap="none" spc="0" normalizeH="0" baseline="0" noProof="0" dirty="0">
                <a:ln>
                  <a:noFill/>
                </a:ln>
                <a:solidFill>
                  <a:srgbClr val="4F81BD"/>
                </a:solidFill>
                <a:effectLst/>
                <a:uLnTx/>
                <a:uFillTx/>
                <a:latin typeface="Arial"/>
                <a:ea typeface="+mn-ea"/>
                <a:cs typeface="Arial"/>
              </a:rPr>
              <a:t>encoder</a:t>
            </a:r>
            <a:r>
              <a:rPr kumimoji="0" sz="1800" b="1" i="0" u="none" strike="noStrike" kern="1200" cap="none" spc="-10" normalizeH="0" baseline="0" noProof="0" dirty="0">
                <a:ln>
                  <a:noFill/>
                </a:ln>
                <a:solidFill>
                  <a:srgbClr val="4F81BD"/>
                </a:solidFill>
                <a:effectLst/>
                <a:uLnTx/>
                <a:uFillTx/>
                <a:latin typeface="Arial"/>
                <a:ea typeface="+mn-ea"/>
                <a:cs typeface="Arial"/>
              </a:rPr>
              <a:t> </a:t>
            </a:r>
            <a:r>
              <a:rPr kumimoji="0" sz="1800" b="1" i="0" u="none" strike="noStrike" kern="1200" cap="none" spc="-5" normalizeH="0" baseline="0" noProof="0" dirty="0">
                <a:ln>
                  <a:noFill/>
                </a:ln>
                <a:solidFill>
                  <a:srgbClr val="4F81BD"/>
                </a:solidFill>
                <a:effectLst/>
                <a:uLnTx/>
                <a:uFillTx/>
                <a:latin typeface="Arial"/>
                <a:ea typeface="+mn-ea"/>
                <a:cs typeface="Arial"/>
              </a:rPr>
              <a:t>is</a:t>
            </a:r>
            <a:r>
              <a:rPr kumimoji="0" sz="1800" b="1" i="0" u="none" strike="noStrike" kern="1200" cap="none" spc="-10" normalizeH="0" baseline="0" noProof="0" dirty="0">
                <a:ln>
                  <a:noFill/>
                </a:ln>
                <a:solidFill>
                  <a:srgbClr val="4F81BD"/>
                </a:solidFill>
                <a:effectLst/>
                <a:uLnTx/>
                <a:uFillTx/>
                <a:latin typeface="Arial"/>
                <a:ea typeface="+mn-ea"/>
                <a:cs typeface="Arial"/>
              </a:rPr>
              <a:t> </a:t>
            </a:r>
            <a:r>
              <a:rPr kumimoji="0" sz="1800" b="1" i="0" u="none" strike="noStrike" kern="1200" cap="none" spc="-5" normalizeH="0" baseline="0" noProof="0" dirty="0">
                <a:ln>
                  <a:noFill/>
                </a:ln>
                <a:solidFill>
                  <a:srgbClr val="4F81BD"/>
                </a:solidFill>
                <a:effectLst/>
                <a:uLnTx/>
                <a:uFillTx/>
                <a:latin typeface="Arial"/>
                <a:ea typeface="+mn-ea"/>
                <a:cs typeface="Arial"/>
              </a:rPr>
              <a:t>smaller</a:t>
            </a:r>
            <a:r>
              <a:rPr kumimoji="0" sz="1800" b="1" i="0" u="none" strike="noStrike" kern="1200" cap="none" spc="-10" normalizeH="0" baseline="0" noProof="0" dirty="0">
                <a:ln>
                  <a:noFill/>
                </a:ln>
                <a:solidFill>
                  <a:srgbClr val="4F81BD"/>
                </a:solidFill>
                <a:effectLst/>
                <a:uLnTx/>
                <a:uFillTx/>
                <a:latin typeface="Arial"/>
                <a:ea typeface="+mn-ea"/>
                <a:cs typeface="Arial"/>
              </a:rPr>
              <a:t> </a:t>
            </a:r>
            <a:r>
              <a:rPr kumimoji="0" sz="1800" b="1" i="0" u="none" strike="noStrike" kern="1200" cap="none" spc="-5" normalizeH="0" baseline="0" noProof="0" dirty="0">
                <a:ln>
                  <a:noFill/>
                </a:ln>
                <a:solidFill>
                  <a:srgbClr val="4F81BD"/>
                </a:solidFill>
                <a:effectLst/>
                <a:uLnTx/>
                <a:uFillTx/>
                <a:latin typeface="Arial"/>
                <a:ea typeface="+mn-ea"/>
                <a:cs typeface="Arial"/>
              </a:rPr>
              <a:t>than input</a:t>
            </a:r>
            <a:r>
              <a:rPr kumimoji="0" sz="1800" b="1" i="0" u="none" strike="noStrike" kern="1200" cap="none" spc="-10" normalizeH="0" baseline="0" noProof="0" dirty="0">
                <a:ln>
                  <a:noFill/>
                </a:ln>
                <a:solidFill>
                  <a:srgbClr val="4F81BD"/>
                </a:solidFill>
                <a:effectLst/>
                <a:uLnTx/>
                <a:uFillTx/>
                <a:latin typeface="Arial"/>
                <a:ea typeface="+mn-ea"/>
                <a:cs typeface="Arial"/>
              </a:rPr>
              <a:t> </a:t>
            </a:r>
            <a:r>
              <a:rPr kumimoji="0" sz="1800" b="1" i="0" u="none" strike="noStrike" kern="1200" cap="none" spc="-5" normalizeH="0" baseline="0" noProof="0" dirty="0">
                <a:ln>
                  <a:noFill/>
                </a:ln>
                <a:solidFill>
                  <a:srgbClr val="4F81BD"/>
                </a:solidFill>
                <a:effectLst/>
                <a:uLnTx/>
                <a:uFillTx/>
                <a:latin typeface="Arial"/>
                <a:ea typeface="+mn-ea"/>
                <a:cs typeface="Arial"/>
              </a:rPr>
              <a:t>dimension</a:t>
            </a:r>
            <a:r>
              <a:rPr kumimoji="0" lang="en-IN" sz="1800" b="1" i="0" u="none" strike="noStrike" kern="1200" cap="none" spc="-5" normalizeH="0" baseline="0" noProof="0" dirty="0">
                <a:ln>
                  <a:noFill/>
                </a:ln>
                <a:solidFill>
                  <a:srgbClr val="4F81BD"/>
                </a:solidFill>
                <a:effectLst/>
                <a:uLnTx/>
                <a:uFillTx/>
                <a:latin typeface="Arial"/>
                <a:ea typeface="+mn-ea"/>
                <a:cs typeface="Arial"/>
              </a:rPr>
              <a:t> and vice versa for Overcomplete autoencoder</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pic>
        <p:nvPicPr>
          <p:cNvPr id="8" name="object 8"/>
          <p:cNvPicPr/>
          <p:nvPr/>
        </p:nvPicPr>
        <p:blipFill>
          <a:blip r:embed="rId3" cstate="print"/>
          <a:stretch>
            <a:fillRect/>
          </a:stretch>
        </p:blipFill>
        <p:spPr>
          <a:xfrm>
            <a:off x="2449223" y="2662935"/>
            <a:ext cx="2705239" cy="2202227"/>
          </a:xfrm>
          <a:prstGeom prst="rect">
            <a:avLst/>
          </a:prstGeom>
        </p:spPr>
      </p:pic>
      <p:sp>
        <p:nvSpPr>
          <p:cNvPr id="9" name="object 9"/>
          <p:cNvSpPr txBox="1"/>
          <p:nvPr/>
        </p:nvSpPr>
        <p:spPr>
          <a:xfrm>
            <a:off x="2600356" y="2764497"/>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𝒙</a:t>
            </a:r>
            <a:r>
              <a:rPr kumimoji="0" sz="1950" b="0" i="0" u="none" strike="noStrike" kern="1200" cap="none" spc="-7" normalizeH="0" baseline="-14957" noProof="0" dirty="0">
                <a:ln>
                  <a:noFill/>
                </a:ln>
                <a:solidFill>
                  <a:prstClr val="black"/>
                </a:solidFill>
                <a:effectLst/>
                <a:uLnTx/>
                <a:uFillTx/>
                <a:latin typeface="Cambria Math"/>
                <a:ea typeface="+mn-ea"/>
                <a:cs typeface="Cambria Math"/>
              </a:rPr>
              <a:t>𝟏</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10" name="object 10"/>
          <p:cNvSpPr txBox="1"/>
          <p:nvPr/>
        </p:nvSpPr>
        <p:spPr>
          <a:xfrm>
            <a:off x="2531323" y="3605742"/>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𝒙</a:t>
            </a:r>
            <a:r>
              <a:rPr kumimoji="0" sz="1950" b="0" i="0" u="none" strike="noStrike" kern="1200" cap="none" spc="-7" normalizeH="0" baseline="-14957" noProof="0" dirty="0">
                <a:ln>
                  <a:noFill/>
                </a:ln>
                <a:solidFill>
                  <a:prstClr val="black"/>
                </a:solidFill>
                <a:effectLst/>
                <a:uLnTx/>
                <a:uFillTx/>
                <a:latin typeface="Cambria Math"/>
                <a:ea typeface="+mn-ea"/>
                <a:cs typeface="Cambria Math"/>
              </a:rPr>
              <a:t>𝟐</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11" name="object 11"/>
          <p:cNvSpPr txBox="1"/>
          <p:nvPr/>
        </p:nvSpPr>
        <p:spPr>
          <a:xfrm>
            <a:off x="2531323" y="4446987"/>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𝒙</a:t>
            </a:r>
            <a:r>
              <a:rPr kumimoji="0" sz="1950" b="0" i="0" u="none" strike="noStrike" kern="1200" cap="none" spc="-7" normalizeH="0" baseline="-14957" noProof="0" dirty="0">
                <a:ln>
                  <a:noFill/>
                </a:ln>
                <a:solidFill>
                  <a:prstClr val="black"/>
                </a:solidFill>
                <a:effectLst/>
                <a:uLnTx/>
                <a:uFillTx/>
                <a:latin typeface="Cambria Math"/>
                <a:ea typeface="+mn-ea"/>
                <a:cs typeface="Cambria Math"/>
              </a:rPr>
              <a:t>𝟑</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12" name="object 12"/>
          <p:cNvSpPr txBox="1"/>
          <p:nvPr/>
        </p:nvSpPr>
        <p:spPr>
          <a:xfrm>
            <a:off x="4716824" y="2764497"/>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25" normalizeH="0" baseline="0" noProof="0" dirty="0">
                <a:ln>
                  <a:noFill/>
                </a:ln>
                <a:solidFill>
                  <a:prstClr val="black"/>
                </a:solidFill>
                <a:effectLst/>
                <a:uLnTx/>
                <a:uFillTx/>
                <a:latin typeface="Cambria Math"/>
                <a:ea typeface="+mn-ea"/>
                <a:cs typeface="Cambria Math"/>
              </a:rPr>
              <a:t>𝒙</a:t>
            </a:r>
            <a:r>
              <a:rPr kumimoji="0" sz="2700" b="0" i="0" u="none" strike="noStrike" kern="1200" cap="none" spc="-187" normalizeH="0" baseline="1543" noProof="0" dirty="0">
                <a:ln>
                  <a:noFill/>
                </a:ln>
                <a:solidFill>
                  <a:prstClr val="black"/>
                </a:solidFill>
                <a:effectLst/>
                <a:uLnTx/>
                <a:uFillTx/>
                <a:latin typeface="Cambria Math"/>
                <a:ea typeface="+mn-ea"/>
                <a:cs typeface="Cambria Math"/>
              </a:rPr>
              <a:t>.</a:t>
            </a:r>
            <a:r>
              <a:rPr kumimoji="0" sz="1950" b="0" i="0" u="none" strike="noStrike" kern="1200" cap="none" spc="-187" normalizeH="0" baseline="-14957" noProof="0" dirty="0">
                <a:ln>
                  <a:noFill/>
                </a:ln>
                <a:solidFill>
                  <a:prstClr val="black"/>
                </a:solidFill>
                <a:effectLst/>
                <a:uLnTx/>
                <a:uFillTx/>
                <a:latin typeface="Cambria Math"/>
                <a:ea typeface="+mn-ea"/>
                <a:cs typeface="Cambria Math"/>
              </a:rPr>
              <a:t>𝟏</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13" name="object 13"/>
          <p:cNvSpPr txBox="1"/>
          <p:nvPr/>
        </p:nvSpPr>
        <p:spPr>
          <a:xfrm>
            <a:off x="4716824" y="3605742"/>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25" normalizeH="0" baseline="0" noProof="0" dirty="0">
                <a:ln>
                  <a:noFill/>
                </a:ln>
                <a:solidFill>
                  <a:prstClr val="black"/>
                </a:solidFill>
                <a:effectLst/>
                <a:uLnTx/>
                <a:uFillTx/>
                <a:latin typeface="Cambria Math"/>
                <a:ea typeface="+mn-ea"/>
                <a:cs typeface="Cambria Math"/>
              </a:rPr>
              <a:t>𝒙</a:t>
            </a:r>
            <a:r>
              <a:rPr kumimoji="0" sz="2700" b="0" i="0" u="none" strike="noStrike" kern="1200" cap="none" spc="-187" normalizeH="0" baseline="1543" noProof="0" dirty="0">
                <a:ln>
                  <a:noFill/>
                </a:ln>
                <a:solidFill>
                  <a:prstClr val="black"/>
                </a:solidFill>
                <a:effectLst/>
                <a:uLnTx/>
                <a:uFillTx/>
                <a:latin typeface="Cambria Math"/>
                <a:ea typeface="+mn-ea"/>
                <a:cs typeface="Cambria Math"/>
              </a:rPr>
              <a:t>.</a:t>
            </a:r>
            <a:r>
              <a:rPr kumimoji="0" sz="1950" b="0" i="0" u="none" strike="noStrike" kern="1200" cap="none" spc="-187" normalizeH="0" baseline="-14957" noProof="0" dirty="0">
                <a:ln>
                  <a:noFill/>
                </a:ln>
                <a:solidFill>
                  <a:prstClr val="black"/>
                </a:solidFill>
                <a:effectLst/>
                <a:uLnTx/>
                <a:uFillTx/>
                <a:latin typeface="Cambria Math"/>
                <a:ea typeface="+mn-ea"/>
                <a:cs typeface="Cambria Math"/>
              </a:rPr>
              <a:t>𝟐</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14" name="object 14"/>
          <p:cNvSpPr txBox="1"/>
          <p:nvPr/>
        </p:nvSpPr>
        <p:spPr>
          <a:xfrm>
            <a:off x="4716824" y="4446987"/>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25" normalizeH="0" baseline="0" noProof="0" dirty="0">
                <a:ln>
                  <a:noFill/>
                </a:ln>
                <a:solidFill>
                  <a:prstClr val="black"/>
                </a:solidFill>
                <a:effectLst/>
                <a:uLnTx/>
                <a:uFillTx/>
                <a:latin typeface="Cambria Math"/>
                <a:ea typeface="+mn-ea"/>
                <a:cs typeface="Cambria Math"/>
              </a:rPr>
              <a:t>𝒙</a:t>
            </a:r>
            <a:r>
              <a:rPr kumimoji="0" sz="2700" b="0" i="0" u="none" strike="noStrike" kern="1200" cap="none" spc="-187" normalizeH="0" baseline="1543" noProof="0" dirty="0">
                <a:ln>
                  <a:noFill/>
                </a:ln>
                <a:solidFill>
                  <a:prstClr val="black"/>
                </a:solidFill>
                <a:effectLst/>
                <a:uLnTx/>
                <a:uFillTx/>
                <a:latin typeface="Cambria Math"/>
                <a:ea typeface="+mn-ea"/>
                <a:cs typeface="Cambria Math"/>
              </a:rPr>
              <a:t>.</a:t>
            </a:r>
            <a:r>
              <a:rPr kumimoji="0" sz="1950" b="0" i="0" u="none" strike="noStrike" kern="1200" cap="none" spc="-187" normalizeH="0" baseline="-14957" noProof="0" dirty="0">
                <a:ln>
                  <a:noFill/>
                </a:ln>
                <a:solidFill>
                  <a:prstClr val="black"/>
                </a:solidFill>
                <a:effectLst/>
                <a:uLnTx/>
                <a:uFillTx/>
                <a:latin typeface="Cambria Math"/>
                <a:ea typeface="+mn-ea"/>
                <a:cs typeface="Cambria Math"/>
              </a:rPr>
              <a:t>𝟑</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15" name="object 15"/>
          <p:cNvSpPr/>
          <p:nvPr/>
        </p:nvSpPr>
        <p:spPr>
          <a:xfrm>
            <a:off x="2361049" y="2545544"/>
            <a:ext cx="2876550" cy="2413000"/>
          </a:xfrm>
          <a:custGeom>
            <a:avLst/>
            <a:gdLst/>
            <a:ahLst/>
            <a:cxnLst/>
            <a:rect l="l" t="t" r="r" b="b"/>
            <a:pathLst>
              <a:path w="2876550" h="2413000">
                <a:moveTo>
                  <a:pt x="0" y="0"/>
                </a:moveTo>
                <a:lnTo>
                  <a:pt x="2875944" y="0"/>
                </a:lnTo>
                <a:lnTo>
                  <a:pt x="2875944" y="2412821"/>
                </a:lnTo>
                <a:lnTo>
                  <a:pt x="0" y="2412821"/>
                </a:lnTo>
                <a:lnTo>
                  <a:pt x="0" y="0"/>
                </a:lnTo>
                <a:close/>
              </a:path>
            </a:pathLst>
          </a:custGeom>
          <a:ln w="25400">
            <a:solidFill>
              <a:srgbClr val="F7964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txBox="1"/>
          <p:nvPr/>
        </p:nvSpPr>
        <p:spPr>
          <a:xfrm>
            <a:off x="2851679" y="5762757"/>
            <a:ext cx="1873885" cy="33020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000" b="1" i="0" u="none" strike="noStrike" kern="1200" cap="none" spc="-5" normalizeH="0" baseline="0" noProof="0" dirty="0">
                <a:ln>
                  <a:noFill/>
                </a:ln>
                <a:solidFill>
                  <a:prstClr val="black"/>
                </a:solidFill>
                <a:effectLst/>
                <a:uLnTx/>
                <a:uFillTx/>
                <a:latin typeface="Arial"/>
                <a:ea typeface="+mn-ea"/>
                <a:cs typeface="Arial"/>
              </a:rPr>
              <a:t>Undercomplete</a:t>
            </a:r>
            <a:endParaRPr kumimoji="0" sz="2000" b="0" i="0" u="none" strike="noStrike" kern="1200" cap="none" spc="0" normalizeH="0" baseline="0" noProof="0">
              <a:ln>
                <a:noFill/>
              </a:ln>
              <a:solidFill>
                <a:prstClr val="black"/>
              </a:solidFill>
              <a:effectLst/>
              <a:uLnTx/>
              <a:uFillTx/>
              <a:latin typeface="Arial"/>
              <a:ea typeface="+mn-ea"/>
              <a:cs typeface="Arial"/>
            </a:endParaRPr>
          </a:p>
        </p:txBody>
      </p:sp>
      <p:grpSp>
        <p:nvGrpSpPr>
          <p:cNvPr id="17" name="object 17"/>
          <p:cNvGrpSpPr/>
          <p:nvPr/>
        </p:nvGrpSpPr>
        <p:grpSpPr>
          <a:xfrm>
            <a:off x="6725513" y="2417626"/>
            <a:ext cx="2901950" cy="2856230"/>
            <a:chOff x="5201513" y="2417626"/>
            <a:chExt cx="2901950" cy="2856230"/>
          </a:xfrm>
        </p:grpSpPr>
        <p:sp>
          <p:nvSpPr>
            <p:cNvPr id="18" name="object 18"/>
            <p:cNvSpPr/>
            <p:nvPr/>
          </p:nvSpPr>
          <p:spPr>
            <a:xfrm>
              <a:off x="5214213" y="2430326"/>
              <a:ext cx="2876550" cy="2830830"/>
            </a:xfrm>
            <a:custGeom>
              <a:avLst/>
              <a:gdLst/>
              <a:ahLst/>
              <a:cxnLst/>
              <a:rect l="l" t="t" r="r" b="b"/>
              <a:pathLst>
                <a:path w="2876550" h="2830829">
                  <a:moveTo>
                    <a:pt x="0" y="0"/>
                  </a:moveTo>
                  <a:lnTo>
                    <a:pt x="2875944" y="0"/>
                  </a:lnTo>
                  <a:lnTo>
                    <a:pt x="2875944" y="2830383"/>
                  </a:lnTo>
                  <a:lnTo>
                    <a:pt x="0" y="2830383"/>
                  </a:lnTo>
                  <a:lnTo>
                    <a:pt x="0" y="0"/>
                  </a:lnTo>
                  <a:close/>
                </a:path>
              </a:pathLst>
            </a:custGeom>
            <a:ln w="25400">
              <a:solidFill>
                <a:srgbClr val="F7964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object 19"/>
            <p:cNvPicPr/>
            <p:nvPr/>
          </p:nvPicPr>
          <p:blipFill>
            <a:blip r:embed="rId4" cstate="print"/>
            <a:stretch>
              <a:fillRect/>
            </a:stretch>
          </p:blipFill>
          <p:spPr>
            <a:xfrm>
              <a:off x="5296223" y="2475052"/>
              <a:ext cx="2705240" cy="2798357"/>
            </a:xfrm>
            <a:prstGeom prst="rect">
              <a:avLst/>
            </a:prstGeom>
          </p:spPr>
        </p:pic>
      </p:grpSp>
      <p:sp>
        <p:nvSpPr>
          <p:cNvPr id="20" name="object 20"/>
          <p:cNvSpPr txBox="1"/>
          <p:nvPr/>
        </p:nvSpPr>
        <p:spPr>
          <a:xfrm>
            <a:off x="6971358" y="2772144"/>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𝒙</a:t>
            </a:r>
            <a:r>
              <a:rPr kumimoji="0" sz="1950" b="0" i="0" u="none" strike="noStrike" kern="1200" cap="none" spc="-7" normalizeH="0" baseline="-14957" noProof="0" dirty="0">
                <a:ln>
                  <a:noFill/>
                </a:ln>
                <a:solidFill>
                  <a:prstClr val="black"/>
                </a:solidFill>
                <a:effectLst/>
                <a:uLnTx/>
                <a:uFillTx/>
                <a:latin typeface="Cambria Math"/>
                <a:ea typeface="+mn-ea"/>
                <a:cs typeface="Cambria Math"/>
              </a:rPr>
              <a:t>𝟏</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21" name="object 21"/>
          <p:cNvSpPr txBox="1"/>
          <p:nvPr/>
        </p:nvSpPr>
        <p:spPr>
          <a:xfrm>
            <a:off x="6902325" y="3613388"/>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𝒙</a:t>
            </a:r>
            <a:r>
              <a:rPr kumimoji="0" sz="1950" b="0" i="0" u="none" strike="noStrike" kern="1200" cap="none" spc="-7" normalizeH="0" baseline="-14957" noProof="0" dirty="0">
                <a:ln>
                  <a:noFill/>
                </a:ln>
                <a:solidFill>
                  <a:prstClr val="black"/>
                </a:solidFill>
                <a:effectLst/>
                <a:uLnTx/>
                <a:uFillTx/>
                <a:latin typeface="Cambria Math"/>
                <a:ea typeface="+mn-ea"/>
                <a:cs typeface="Cambria Math"/>
              </a:rPr>
              <a:t>𝟐</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22" name="object 22"/>
          <p:cNvSpPr txBox="1"/>
          <p:nvPr/>
        </p:nvSpPr>
        <p:spPr>
          <a:xfrm>
            <a:off x="6902325" y="4454633"/>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𝒙</a:t>
            </a:r>
            <a:r>
              <a:rPr kumimoji="0" sz="1950" b="0" i="0" u="none" strike="noStrike" kern="1200" cap="none" spc="-7" normalizeH="0" baseline="-14957" noProof="0" dirty="0">
                <a:ln>
                  <a:noFill/>
                </a:ln>
                <a:solidFill>
                  <a:prstClr val="black"/>
                </a:solidFill>
                <a:effectLst/>
                <a:uLnTx/>
                <a:uFillTx/>
                <a:latin typeface="Cambria Math"/>
                <a:ea typeface="+mn-ea"/>
                <a:cs typeface="Cambria Math"/>
              </a:rPr>
              <a:t>𝟑</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23" name="object 23"/>
          <p:cNvSpPr txBox="1"/>
          <p:nvPr/>
        </p:nvSpPr>
        <p:spPr>
          <a:xfrm>
            <a:off x="9087826" y="2772144"/>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25" normalizeH="0" baseline="0" noProof="0" dirty="0">
                <a:ln>
                  <a:noFill/>
                </a:ln>
                <a:solidFill>
                  <a:prstClr val="black"/>
                </a:solidFill>
                <a:effectLst/>
                <a:uLnTx/>
                <a:uFillTx/>
                <a:latin typeface="Cambria Math"/>
                <a:ea typeface="+mn-ea"/>
                <a:cs typeface="Cambria Math"/>
              </a:rPr>
              <a:t>𝒙</a:t>
            </a:r>
            <a:r>
              <a:rPr kumimoji="0" sz="2700" b="0" i="0" u="none" strike="noStrike" kern="1200" cap="none" spc="-187" normalizeH="0" baseline="1543" noProof="0" dirty="0">
                <a:ln>
                  <a:noFill/>
                </a:ln>
                <a:solidFill>
                  <a:prstClr val="black"/>
                </a:solidFill>
                <a:effectLst/>
                <a:uLnTx/>
                <a:uFillTx/>
                <a:latin typeface="Cambria Math"/>
                <a:ea typeface="+mn-ea"/>
                <a:cs typeface="Cambria Math"/>
              </a:rPr>
              <a:t>.</a:t>
            </a:r>
            <a:r>
              <a:rPr kumimoji="0" sz="1950" b="0" i="0" u="none" strike="noStrike" kern="1200" cap="none" spc="-187" normalizeH="0" baseline="-14957" noProof="0" dirty="0">
                <a:ln>
                  <a:noFill/>
                </a:ln>
                <a:solidFill>
                  <a:prstClr val="black"/>
                </a:solidFill>
                <a:effectLst/>
                <a:uLnTx/>
                <a:uFillTx/>
                <a:latin typeface="Cambria Math"/>
                <a:ea typeface="+mn-ea"/>
                <a:cs typeface="Cambria Math"/>
              </a:rPr>
              <a:t>𝟏</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24" name="object 24"/>
          <p:cNvSpPr txBox="1"/>
          <p:nvPr/>
        </p:nvSpPr>
        <p:spPr>
          <a:xfrm>
            <a:off x="9087826" y="3613388"/>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25" normalizeH="0" baseline="0" noProof="0" dirty="0">
                <a:ln>
                  <a:noFill/>
                </a:ln>
                <a:solidFill>
                  <a:prstClr val="black"/>
                </a:solidFill>
                <a:effectLst/>
                <a:uLnTx/>
                <a:uFillTx/>
                <a:latin typeface="Cambria Math"/>
                <a:ea typeface="+mn-ea"/>
                <a:cs typeface="Cambria Math"/>
              </a:rPr>
              <a:t>𝒙</a:t>
            </a:r>
            <a:r>
              <a:rPr kumimoji="0" sz="2700" b="0" i="0" u="none" strike="noStrike" kern="1200" cap="none" spc="-187" normalizeH="0" baseline="1543" noProof="0" dirty="0">
                <a:ln>
                  <a:noFill/>
                </a:ln>
                <a:solidFill>
                  <a:prstClr val="black"/>
                </a:solidFill>
                <a:effectLst/>
                <a:uLnTx/>
                <a:uFillTx/>
                <a:latin typeface="Cambria Math"/>
                <a:ea typeface="+mn-ea"/>
                <a:cs typeface="Cambria Math"/>
              </a:rPr>
              <a:t>.</a:t>
            </a:r>
            <a:r>
              <a:rPr kumimoji="0" sz="1950" b="0" i="0" u="none" strike="noStrike" kern="1200" cap="none" spc="-187" normalizeH="0" baseline="-14957" noProof="0" dirty="0">
                <a:ln>
                  <a:noFill/>
                </a:ln>
                <a:solidFill>
                  <a:prstClr val="black"/>
                </a:solidFill>
                <a:effectLst/>
                <a:uLnTx/>
                <a:uFillTx/>
                <a:latin typeface="Cambria Math"/>
                <a:ea typeface="+mn-ea"/>
                <a:cs typeface="Cambria Math"/>
              </a:rPr>
              <a:t>𝟐</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25" name="object 25"/>
          <p:cNvSpPr txBox="1"/>
          <p:nvPr/>
        </p:nvSpPr>
        <p:spPr>
          <a:xfrm>
            <a:off x="9087826" y="4454633"/>
            <a:ext cx="294640" cy="299720"/>
          </a:xfrm>
          <a:prstGeom prst="rect">
            <a:avLst/>
          </a:prstGeom>
        </p:spPr>
        <p:txBody>
          <a:bodyPr vert="horz" wrap="square" lIns="0" tIns="12700" rIns="0" bIns="0" rtlCol="0">
            <a:spAutoFit/>
          </a:bodyPr>
          <a:lstStyle/>
          <a:p>
            <a:pPr marL="254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125" normalizeH="0" baseline="0" noProof="0" dirty="0">
                <a:ln>
                  <a:noFill/>
                </a:ln>
                <a:solidFill>
                  <a:prstClr val="black"/>
                </a:solidFill>
                <a:effectLst/>
                <a:uLnTx/>
                <a:uFillTx/>
                <a:latin typeface="Cambria Math"/>
                <a:ea typeface="+mn-ea"/>
                <a:cs typeface="Cambria Math"/>
              </a:rPr>
              <a:t>𝒙</a:t>
            </a:r>
            <a:r>
              <a:rPr kumimoji="0" sz="2700" b="0" i="0" u="none" strike="noStrike" kern="1200" cap="none" spc="-187" normalizeH="0" baseline="1543" noProof="0" dirty="0">
                <a:ln>
                  <a:noFill/>
                </a:ln>
                <a:solidFill>
                  <a:prstClr val="black"/>
                </a:solidFill>
                <a:effectLst/>
                <a:uLnTx/>
                <a:uFillTx/>
                <a:latin typeface="Cambria Math"/>
                <a:ea typeface="+mn-ea"/>
                <a:cs typeface="Cambria Math"/>
              </a:rPr>
              <a:t>.</a:t>
            </a:r>
            <a:r>
              <a:rPr kumimoji="0" sz="1950" b="0" i="0" u="none" strike="noStrike" kern="1200" cap="none" spc="-187" normalizeH="0" baseline="-14957" noProof="0" dirty="0">
                <a:ln>
                  <a:noFill/>
                </a:ln>
                <a:solidFill>
                  <a:prstClr val="black"/>
                </a:solidFill>
                <a:effectLst/>
                <a:uLnTx/>
                <a:uFillTx/>
                <a:latin typeface="Cambria Math"/>
                <a:ea typeface="+mn-ea"/>
                <a:cs typeface="Cambria Math"/>
              </a:rPr>
              <a:t>𝟑</a:t>
            </a:r>
            <a:endParaRPr kumimoji="0" sz="1950" b="0" i="0" u="none" strike="noStrike" kern="1200" cap="none" spc="0" normalizeH="0" baseline="-14957" noProof="0">
              <a:ln>
                <a:noFill/>
              </a:ln>
              <a:solidFill>
                <a:prstClr val="black"/>
              </a:solidFill>
              <a:effectLst/>
              <a:uLnTx/>
              <a:uFillTx/>
              <a:latin typeface="Cambria Math"/>
              <a:ea typeface="+mn-ea"/>
              <a:cs typeface="Cambria Math"/>
            </a:endParaRPr>
          </a:p>
        </p:txBody>
      </p:sp>
      <p:sp>
        <p:nvSpPr>
          <p:cNvPr id="26" name="object 26"/>
          <p:cNvSpPr/>
          <p:nvPr/>
        </p:nvSpPr>
        <p:spPr>
          <a:xfrm>
            <a:off x="7322681" y="2734933"/>
            <a:ext cx="1711325" cy="2282825"/>
          </a:xfrm>
          <a:custGeom>
            <a:avLst/>
            <a:gdLst/>
            <a:ahLst/>
            <a:cxnLst/>
            <a:rect l="l" t="t" r="r" b="b"/>
            <a:pathLst>
              <a:path w="1711325" h="2282825">
                <a:moveTo>
                  <a:pt x="19558" y="230873"/>
                </a:moveTo>
                <a:lnTo>
                  <a:pt x="9156" y="194221"/>
                </a:lnTo>
                <a:lnTo>
                  <a:pt x="0" y="196824"/>
                </a:lnTo>
                <a:lnTo>
                  <a:pt x="10388" y="233476"/>
                </a:lnTo>
                <a:lnTo>
                  <a:pt x="19558" y="230873"/>
                </a:lnTo>
                <a:close/>
              </a:path>
              <a:path w="1711325" h="2282825">
                <a:moveTo>
                  <a:pt x="37744" y="295021"/>
                </a:moveTo>
                <a:lnTo>
                  <a:pt x="27343" y="258368"/>
                </a:lnTo>
                <a:lnTo>
                  <a:pt x="18186" y="260972"/>
                </a:lnTo>
                <a:lnTo>
                  <a:pt x="28575" y="297624"/>
                </a:lnTo>
                <a:lnTo>
                  <a:pt x="37744" y="295021"/>
                </a:lnTo>
                <a:close/>
              </a:path>
              <a:path w="1711325" h="2282825">
                <a:moveTo>
                  <a:pt x="38785" y="1895462"/>
                </a:moveTo>
                <a:lnTo>
                  <a:pt x="10807" y="1876501"/>
                </a:lnTo>
                <a:lnTo>
                  <a:pt x="26911" y="1846783"/>
                </a:lnTo>
                <a:lnTo>
                  <a:pt x="20739" y="1843443"/>
                </a:lnTo>
                <a:lnTo>
                  <a:pt x="20815" y="1843214"/>
                </a:lnTo>
                <a:lnTo>
                  <a:pt x="19621" y="1842833"/>
                </a:lnTo>
                <a:lnTo>
                  <a:pt x="18529" y="1842236"/>
                </a:lnTo>
                <a:lnTo>
                  <a:pt x="18415" y="1842452"/>
                </a:lnTo>
                <a:lnTo>
                  <a:pt x="11747" y="1840293"/>
                </a:lnTo>
                <a:lnTo>
                  <a:pt x="50" y="1876552"/>
                </a:lnTo>
                <a:lnTo>
                  <a:pt x="4572" y="1878012"/>
                </a:lnTo>
                <a:lnTo>
                  <a:pt x="1905" y="1881949"/>
                </a:lnTo>
                <a:lnTo>
                  <a:pt x="33439" y="1903336"/>
                </a:lnTo>
                <a:lnTo>
                  <a:pt x="38785" y="1895462"/>
                </a:lnTo>
                <a:close/>
              </a:path>
              <a:path w="1711325" h="2282825">
                <a:moveTo>
                  <a:pt x="41287" y="1779765"/>
                </a:moveTo>
                <a:lnTo>
                  <a:pt x="32232" y="1776844"/>
                </a:lnTo>
                <a:lnTo>
                  <a:pt x="20523" y="1813102"/>
                </a:lnTo>
                <a:lnTo>
                  <a:pt x="29591" y="1816023"/>
                </a:lnTo>
                <a:lnTo>
                  <a:pt x="41287" y="1779765"/>
                </a:lnTo>
                <a:close/>
              </a:path>
              <a:path w="1711325" h="2282825">
                <a:moveTo>
                  <a:pt x="41287" y="1025525"/>
                </a:moveTo>
                <a:lnTo>
                  <a:pt x="37388" y="1016825"/>
                </a:lnTo>
                <a:lnTo>
                  <a:pt x="2628" y="1032421"/>
                </a:lnTo>
                <a:lnTo>
                  <a:pt x="4572" y="1036764"/>
                </a:lnTo>
                <a:lnTo>
                  <a:pt x="279" y="1038809"/>
                </a:lnTo>
                <a:lnTo>
                  <a:pt x="16637" y="1073213"/>
                </a:lnTo>
                <a:lnTo>
                  <a:pt x="25247" y="1069124"/>
                </a:lnTo>
                <a:lnTo>
                  <a:pt x="18097" y="1054112"/>
                </a:lnTo>
                <a:lnTo>
                  <a:pt x="30924" y="1064691"/>
                </a:lnTo>
                <a:lnTo>
                  <a:pt x="36995" y="1057351"/>
                </a:lnTo>
                <a:lnTo>
                  <a:pt x="13512" y="1037983"/>
                </a:lnTo>
                <a:lnTo>
                  <a:pt x="41287" y="1025525"/>
                </a:lnTo>
                <a:close/>
              </a:path>
              <a:path w="1711325" h="2282825">
                <a:moveTo>
                  <a:pt x="53886" y="1129334"/>
                </a:moveTo>
                <a:lnTo>
                  <a:pt x="37515" y="1094930"/>
                </a:lnTo>
                <a:lnTo>
                  <a:pt x="28917" y="1099019"/>
                </a:lnTo>
                <a:lnTo>
                  <a:pt x="45275" y="1133424"/>
                </a:lnTo>
                <a:lnTo>
                  <a:pt x="53886" y="1129334"/>
                </a:lnTo>
                <a:close/>
              </a:path>
              <a:path w="1711325" h="2282825">
                <a:moveTo>
                  <a:pt x="55930" y="359168"/>
                </a:moveTo>
                <a:lnTo>
                  <a:pt x="45542" y="322516"/>
                </a:lnTo>
                <a:lnTo>
                  <a:pt x="36372" y="325120"/>
                </a:lnTo>
                <a:lnTo>
                  <a:pt x="46761" y="361772"/>
                </a:lnTo>
                <a:lnTo>
                  <a:pt x="55930" y="359168"/>
                </a:lnTo>
                <a:close/>
              </a:path>
              <a:path w="1711325" h="2282825">
                <a:moveTo>
                  <a:pt x="58661" y="1788147"/>
                </a:moveTo>
                <a:lnTo>
                  <a:pt x="50279" y="1783613"/>
                </a:lnTo>
                <a:lnTo>
                  <a:pt x="32143" y="1817116"/>
                </a:lnTo>
                <a:lnTo>
                  <a:pt x="40513" y="1821649"/>
                </a:lnTo>
                <a:lnTo>
                  <a:pt x="58661" y="1788147"/>
                </a:lnTo>
                <a:close/>
              </a:path>
              <a:path w="1711325" h="2282825">
                <a:moveTo>
                  <a:pt x="61772" y="1716316"/>
                </a:moveTo>
                <a:lnTo>
                  <a:pt x="52705" y="1713382"/>
                </a:lnTo>
                <a:lnTo>
                  <a:pt x="41008" y="1749640"/>
                </a:lnTo>
                <a:lnTo>
                  <a:pt x="50063" y="1752574"/>
                </a:lnTo>
                <a:lnTo>
                  <a:pt x="61772" y="1716316"/>
                </a:lnTo>
                <a:close/>
              </a:path>
              <a:path w="1711325" h="2282825">
                <a:moveTo>
                  <a:pt x="74117" y="423316"/>
                </a:moveTo>
                <a:lnTo>
                  <a:pt x="63728" y="386664"/>
                </a:lnTo>
                <a:lnTo>
                  <a:pt x="54559" y="389255"/>
                </a:lnTo>
                <a:lnTo>
                  <a:pt x="64960" y="425919"/>
                </a:lnTo>
                <a:lnTo>
                  <a:pt x="74117" y="423316"/>
                </a:lnTo>
                <a:close/>
              </a:path>
              <a:path w="1711325" h="2282825">
                <a:moveTo>
                  <a:pt x="82245" y="1652866"/>
                </a:moveTo>
                <a:lnTo>
                  <a:pt x="73190" y="1649933"/>
                </a:lnTo>
                <a:lnTo>
                  <a:pt x="61480" y="1686191"/>
                </a:lnTo>
                <a:lnTo>
                  <a:pt x="70548" y="1689125"/>
                </a:lnTo>
                <a:lnTo>
                  <a:pt x="82245" y="1652866"/>
                </a:lnTo>
                <a:close/>
              </a:path>
              <a:path w="1711325" h="2282825">
                <a:moveTo>
                  <a:pt x="82524" y="1189545"/>
                </a:moveTo>
                <a:lnTo>
                  <a:pt x="66154" y="1155141"/>
                </a:lnTo>
                <a:lnTo>
                  <a:pt x="57556" y="1159230"/>
                </a:lnTo>
                <a:lnTo>
                  <a:pt x="73914" y="1193647"/>
                </a:lnTo>
                <a:lnTo>
                  <a:pt x="82524" y="1189545"/>
                </a:lnTo>
                <a:close/>
              </a:path>
              <a:path w="1711325" h="2282825">
                <a:moveTo>
                  <a:pt x="88417" y="1099794"/>
                </a:moveTo>
                <a:lnTo>
                  <a:pt x="59029" y="1075537"/>
                </a:lnTo>
                <a:lnTo>
                  <a:pt x="52959" y="1082890"/>
                </a:lnTo>
                <a:lnTo>
                  <a:pt x="82346" y="1107135"/>
                </a:lnTo>
                <a:lnTo>
                  <a:pt x="88417" y="1099794"/>
                </a:lnTo>
                <a:close/>
              </a:path>
              <a:path w="1711325" h="2282825">
                <a:moveTo>
                  <a:pt x="90411" y="1729524"/>
                </a:moveTo>
                <a:lnTo>
                  <a:pt x="82029" y="1724977"/>
                </a:lnTo>
                <a:lnTo>
                  <a:pt x="63893" y="1758480"/>
                </a:lnTo>
                <a:lnTo>
                  <a:pt x="72263" y="1763026"/>
                </a:lnTo>
                <a:lnTo>
                  <a:pt x="90411" y="1729524"/>
                </a:lnTo>
                <a:close/>
              </a:path>
              <a:path w="1711325" h="2282825">
                <a:moveTo>
                  <a:pt x="92303" y="487464"/>
                </a:moveTo>
                <a:lnTo>
                  <a:pt x="81915" y="450811"/>
                </a:lnTo>
                <a:lnTo>
                  <a:pt x="72745" y="453402"/>
                </a:lnTo>
                <a:lnTo>
                  <a:pt x="83146" y="490067"/>
                </a:lnTo>
                <a:lnTo>
                  <a:pt x="92303" y="487464"/>
                </a:lnTo>
                <a:close/>
              </a:path>
              <a:path w="1711325" h="2282825">
                <a:moveTo>
                  <a:pt x="93967" y="1932876"/>
                </a:moveTo>
                <a:lnTo>
                  <a:pt x="62433" y="1911489"/>
                </a:lnTo>
                <a:lnTo>
                  <a:pt x="57086" y="1919376"/>
                </a:lnTo>
                <a:lnTo>
                  <a:pt x="88620" y="1940763"/>
                </a:lnTo>
                <a:lnTo>
                  <a:pt x="93967" y="1932876"/>
                </a:lnTo>
                <a:close/>
              </a:path>
              <a:path w="1711325" h="2282825">
                <a:moveTo>
                  <a:pt x="102120" y="998232"/>
                </a:moveTo>
                <a:lnTo>
                  <a:pt x="98221" y="989545"/>
                </a:lnTo>
                <a:lnTo>
                  <a:pt x="63461" y="1005128"/>
                </a:lnTo>
                <a:lnTo>
                  <a:pt x="67360" y="1013828"/>
                </a:lnTo>
                <a:lnTo>
                  <a:pt x="102120" y="998232"/>
                </a:lnTo>
                <a:close/>
              </a:path>
              <a:path w="1711325" h="2282825">
                <a:moveTo>
                  <a:pt x="102730" y="1589405"/>
                </a:moveTo>
                <a:lnTo>
                  <a:pt x="93662" y="1586484"/>
                </a:lnTo>
                <a:lnTo>
                  <a:pt x="81965" y="1622742"/>
                </a:lnTo>
                <a:lnTo>
                  <a:pt x="91033" y="1625663"/>
                </a:lnTo>
                <a:lnTo>
                  <a:pt x="102730" y="1589405"/>
                </a:lnTo>
                <a:close/>
              </a:path>
              <a:path w="1711325" h="2282825">
                <a:moveTo>
                  <a:pt x="110502" y="551611"/>
                </a:moveTo>
                <a:lnTo>
                  <a:pt x="100101" y="514959"/>
                </a:lnTo>
                <a:lnTo>
                  <a:pt x="90944" y="517550"/>
                </a:lnTo>
                <a:lnTo>
                  <a:pt x="101333" y="554202"/>
                </a:lnTo>
                <a:lnTo>
                  <a:pt x="110502" y="551611"/>
                </a:lnTo>
                <a:close/>
              </a:path>
              <a:path w="1711325" h="2282825">
                <a:moveTo>
                  <a:pt x="111163" y="1249756"/>
                </a:moveTo>
                <a:lnTo>
                  <a:pt x="94792" y="1215351"/>
                </a:lnTo>
                <a:lnTo>
                  <a:pt x="86194" y="1219441"/>
                </a:lnTo>
                <a:lnTo>
                  <a:pt x="102552" y="1253858"/>
                </a:lnTo>
                <a:lnTo>
                  <a:pt x="111163" y="1249756"/>
                </a:lnTo>
                <a:close/>
              </a:path>
              <a:path w="1711325" h="2282825">
                <a:moveTo>
                  <a:pt x="122161" y="1670888"/>
                </a:moveTo>
                <a:lnTo>
                  <a:pt x="113792" y="1666354"/>
                </a:lnTo>
                <a:lnTo>
                  <a:pt x="95643" y="1699856"/>
                </a:lnTo>
                <a:lnTo>
                  <a:pt x="104013" y="1704390"/>
                </a:lnTo>
                <a:lnTo>
                  <a:pt x="122161" y="1670888"/>
                </a:lnTo>
                <a:close/>
              </a:path>
              <a:path w="1711325" h="2282825">
                <a:moveTo>
                  <a:pt x="123215" y="1525955"/>
                </a:moveTo>
                <a:lnTo>
                  <a:pt x="114147" y="1523034"/>
                </a:lnTo>
                <a:lnTo>
                  <a:pt x="102438" y="1559293"/>
                </a:lnTo>
                <a:lnTo>
                  <a:pt x="111506" y="1562214"/>
                </a:lnTo>
                <a:lnTo>
                  <a:pt x="123215" y="1525955"/>
                </a:lnTo>
                <a:close/>
              </a:path>
              <a:path w="1711325" h="2282825">
                <a:moveTo>
                  <a:pt x="128689" y="615759"/>
                </a:moveTo>
                <a:lnTo>
                  <a:pt x="118287" y="579094"/>
                </a:lnTo>
                <a:lnTo>
                  <a:pt x="109131" y="581698"/>
                </a:lnTo>
                <a:lnTo>
                  <a:pt x="119519" y="618350"/>
                </a:lnTo>
                <a:lnTo>
                  <a:pt x="128689" y="615759"/>
                </a:lnTo>
                <a:close/>
              </a:path>
              <a:path w="1711325" h="2282825">
                <a:moveTo>
                  <a:pt x="139801" y="1309966"/>
                </a:moveTo>
                <a:lnTo>
                  <a:pt x="123431" y="1275562"/>
                </a:lnTo>
                <a:lnTo>
                  <a:pt x="114833" y="1279652"/>
                </a:lnTo>
                <a:lnTo>
                  <a:pt x="131203" y="1314069"/>
                </a:lnTo>
                <a:lnTo>
                  <a:pt x="139801" y="1309966"/>
                </a:lnTo>
                <a:close/>
              </a:path>
              <a:path w="1711325" h="2282825">
                <a:moveTo>
                  <a:pt x="139827" y="1142238"/>
                </a:moveTo>
                <a:lnTo>
                  <a:pt x="110451" y="1117981"/>
                </a:lnTo>
                <a:lnTo>
                  <a:pt x="104381" y="1125334"/>
                </a:lnTo>
                <a:lnTo>
                  <a:pt x="133769" y="1149578"/>
                </a:lnTo>
                <a:lnTo>
                  <a:pt x="139827" y="1142238"/>
                </a:lnTo>
                <a:close/>
              </a:path>
              <a:path w="1711325" h="2282825">
                <a:moveTo>
                  <a:pt x="143687" y="1462506"/>
                </a:moveTo>
                <a:lnTo>
                  <a:pt x="134620" y="1459585"/>
                </a:lnTo>
                <a:lnTo>
                  <a:pt x="122923" y="1495844"/>
                </a:lnTo>
                <a:lnTo>
                  <a:pt x="131991" y="1498765"/>
                </a:lnTo>
                <a:lnTo>
                  <a:pt x="143687" y="1462506"/>
                </a:lnTo>
                <a:close/>
              </a:path>
              <a:path w="1711325" h="2282825">
                <a:moveTo>
                  <a:pt x="146875" y="679907"/>
                </a:moveTo>
                <a:lnTo>
                  <a:pt x="136486" y="643242"/>
                </a:lnTo>
                <a:lnTo>
                  <a:pt x="127317" y="645845"/>
                </a:lnTo>
                <a:lnTo>
                  <a:pt x="137718" y="682498"/>
                </a:lnTo>
                <a:lnTo>
                  <a:pt x="146875" y="679907"/>
                </a:lnTo>
                <a:close/>
              </a:path>
              <a:path w="1711325" h="2282825">
                <a:moveTo>
                  <a:pt x="149148" y="1970303"/>
                </a:moveTo>
                <a:lnTo>
                  <a:pt x="117614" y="1948916"/>
                </a:lnTo>
                <a:lnTo>
                  <a:pt x="112268" y="1956803"/>
                </a:lnTo>
                <a:lnTo>
                  <a:pt x="143802" y="1978190"/>
                </a:lnTo>
                <a:lnTo>
                  <a:pt x="149148" y="1970303"/>
                </a:lnTo>
                <a:close/>
              </a:path>
              <a:path w="1711325" h="2282825">
                <a:moveTo>
                  <a:pt x="153911" y="1612265"/>
                </a:moveTo>
                <a:lnTo>
                  <a:pt x="145542" y="1607718"/>
                </a:lnTo>
                <a:lnTo>
                  <a:pt x="127393" y="1641221"/>
                </a:lnTo>
                <a:lnTo>
                  <a:pt x="135763" y="1645767"/>
                </a:lnTo>
                <a:lnTo>
                  <a:pt x="153911" y="1612265"/>
                </a:lnTo>
                <a:close/>
              </a:path>
              <a:path w="1711325" h="2282825">
                <a:moveTo>
                  <a:pt x="162953" y="970940"/>
                </a:moveTo>
                <a:lnTo>
                  <a:pt x="159067" y="962253"/>
                </a:lnTo>
                <a:lnTo>
                  <a:pt x="124294" y="977849"/>
                </a:lnTo>
                <a:lnTo>
                  <a:pt x="128193" y="986536"/>
                </a:lnTo>
                <a:lnTo>
                  <a:pt x="162953" y="970940"/>
                </a:lnTo>
                <a:close/>
              </a:path>
              <a:path w="1711325" h="2282825">
                <a:moveTo>
                  <a:pt x="164172" y="1399057"/>
                </a:moveTo>
                <a:lnTo>
                  <a:pt x="155105" y="1396123"/>
                </a:lnTo>
                <a:lnTo>
                  <a:pt x="143395" y="1432382"/>
                </a:lnTo>
                <a:lnTo>
                  <a:pt x="152463" y="1435315"/>
                </a:lnTo>
                <a:lnTo>
                  <a:pt x="164172" y="1399057"/>
                </a:lnTo>
                <a:close/>
              </a:path>
              <a:path w="1711325" h="2282825">
                <a:moveTo>
                  <a:pt x="165061" y="744042"/>
                </a:moveTo>
                <a:lnTo>
                  <a:pt x="154673" y="707390"/>
                </a:lnTo>
                <a:lnTo>
                  <a:pt x="145503" y="709993"/>
                </a:lnTo>
                <a:lnTo>
                  <a:pt x="155905" y="746645"/>
                </a:lnTo>
                <a:lnTo>
                  <a:pt x="165061" y="744042"/>
                </a:lnTo>
                <a:close/>
              </a:path>
              <a:path w="1711325" h="2282825">
                <a:moveTo>
                  <a:pt x="183261" y="808189"/>
                </a:moveTo>
                <a:lnTo>
                  <a:pt x="172859" y="771537"/>
                </a:lnTo>
                <a:lnTo>
                  <a:pt x="163703" y="774141"/>
                </a:lnTo>
                <a:lnTo>
                  <a:pt x="174091" y="810793"/>
                </a:lnTo>
                <a:lnTo>
                  <a:pt x="183261" y="808189"/>
                </a:lnTo>
                <a:close/>
              </a:path>
              <a:path w="1711325" h="2282825">
                <a:moveTo>
                  <a:pt x="184645" y="1335595"/>
                </a:moveTo>
                <a:lnTo>
                  <a:pt x="175577" y="1332674"/>
                </a:lnTo>
                <a:lnTo>
                  <a:pt x="165481" y="1363967"/>
                </a:lnTo>
                <a:lnTo>
                  <a:pt x="152069" y="1335773"/>
                </a:lnTo>
                <a:lnTo>
                  <a:pt x="143471" y="1339862"/>
                </a:lnTo>
                <a:lnTo>
                  <a:pt x="159842" y="1374279"/>
                </a:lnTo>
                <a:lnTo>
                  <a:pt x="168148" y="1370317"/>
                </a:lnTo>
                <a:lnTo>
                  <a:pt x="172948" y="1371854"/>
                </a:lnTo>
                <a:lnTo>
                  <a:pt x="184645" y="1335595"/>
                </a:lnTo>
                <a:close/>
              </a:path>
              <a:path w="1711325" h="2282825">
                <a:moveTo>
                  <a:pt x="185661" y="1553629"/>
                </a:moveTo>
                <a:lnTo>
                  <a:pt x="177292" y="1549095"/>
                </a:lnTo>
                <a:lnTo>
                  <a:pt x="159143" y="1582597"/>
                </a:lnTo>
                <a:lnTo>
                  <a:pt x="167525" y="1587131"/>
                </a:lnTo>
                <a:lnTo>
                  <a:pt x="185661" y="1553629"/>
                </a:lnTo>
                <a:close/>
              </a:path>
              <a:path w="1711325" h="2282825">
                <a:moveTo>
                  <a:pt x="191249" y="1184681"/>
                </a:moveTo>
                <a:lnTo>
                  <a:pt x="161874" y="1160424"/>
                </a:lnTo>
                <a:lnTo>
                  <a:pt x="155803" y="1167777"/>
                </a:lnTo>
                <a:lnTo>
                  <a:pt x="185191" y="1192022"/>
                </a:lnTo>
                <a:lnTo>
                  <a:pt x="191249" y="1184681"/>
                </a:lnTo>
                <a:close/>
              </a:path>
              <a:path w="1711325" h="2282825">
                <a:moveTo>
                  <a:pt x="197078" y="1430388"/>
                </a:moveTo>
                <a:lnTo>
                  <a:pt x="180708" y="1395984"/>
                </a:lnTo>
                <a:lnTo>
                  <a:pt x="172110" y="1400073"/>
                </a:lnTo>
                <a:lnTo>
                  <a:pt x="188480" y="1434490"/>
                </a:lnTo>
                <a:lnTo>
                  <a:pt x="197078" y="1430388"/>
                </a:lnTo>
                <a:close/>
              </a:path>
              <a:path w="1711325" h="2282825">
                <a:moveTo>
                  <a:pt x="201447" y="872337"/>
                </a:moveTo>
                <a:lnTo>
                  <a:pt x="191046" y="835685"/>
                </a:lnTo>
                <a:lnTo>
                  <a:pt x="181889" y="838288"/>
                </a:lnTo>
                <a:lnTo>
                  <a:pt x="192278" y="874941"/>
                </a:lnTo>
                <a:lnTo>
                  <a:pt x="201447" y="872337"/>
                </a:lnTo>
                <a:close/>
              </a:path>
              <a:path w="1711325" h="2282825">
                <a:moveTo>
                  <a:pt x="204330" y="2007730"/>
                </a:moveTo>
                <a:lnTo>
                  <a:pt x="172796" y="1986343"/>
                </a:lnTo>
                <a:lnTo>
                  <a:pt x="167449" y="1994230"/>
                </a:lnTo>
                <a:lnTo>
                  <a:pt x="198983" y="2015617"/>
                </a:lnTo>
                <a:lnTo>
                  <a:pt x="204330" y="2007730"/>
                </a:lnTo>
                <a:close/>
              </a:path>
              <a:path w="1711325" h="2282825">
                <a:moveTo>
                  <a:pt x="205130" y="1272146"/>
                </a:moveTo>
                <a:lnTo>
                  <a:pt x="196062" y="1269225"/>
                </a:lnTo>
                <a:lnTo>
                  <a:pt x="184365" y="1305483"/>
                </a:lnTo>
                <a:lnTo>
                  <a:pt x="193421" y="1308404"/>
                </a:lnTo>
                <a:lnTo>
                  <a:pt x="205130" y="1272146"/>
                </a:lnTo>
                <a:close/>
              </a:path>
              <a:path w="1711325" h="2282825">
                <a:moveTo>
                  <a:pt x="217411" y="1495005"/>
                </a:moveTo>
                <a:lnTo>
                  <a:pt x="209042" y="1490459"/>
                </a:lnTo>
                <a:lnTo>
                  <a:pt x="190893" y="1523961"/>
                </a:lnTo>
                <a:lnTo>
                  <a:pt x="199275" y="1528508"/>
                </a:lnTo>
                <a:lnTo>
                  <a:pt x="217411" y="1495005"/>
                </a:lnTo>
                <a:close/>
              </a:path>
              <a:path w="1711325" h="2282825">
                <a:moveTo>
                  <a:pt x="223799" y="943660"/>
                </a:moveTo>
                <a:lnTo>
                  <a:pt x="219900" y="934961"/>
                </a:lnTo>
                <a:lnTo>
                  <a:pt x="219278" y="935240"/>
                </a:lnTo>
                <a:lnTo>
                  <a:pt x="209245" y="899833"/>
                </a:lnTo>
                <a:lnTo>
                  <a:pt x="200075" y="902423"/>
                </a:lnTo>
                <a:lnTo>
                  <a:pt x="210464" y="939088"/>
                </a:lnTo>
                <a:lnTo>
                  <a:pt x="211099" y="938911"/>
                </a:lnTo>
                <a:lnTo>
                  <a:pt x="185127" y="950556"/>
                </a:lnTo>
                <a:lnTo>
                  <a:pt x="189026" y="959256"/>
                </a:lnTo>
                <a:lnTo>
                  <a:pt x="223799" y="943660"/>
                </a:lnTo>
                <a:close/>
              </a:path>
              <a:path w="1711325" h="2282825">
                <a:moveTo>
                  <a:pt x="225717" y="1490599"/>
                </a:moveTo>
                <a:lnTo>
                  <a:pt x="209346" y="1456194"/>
                </a:lnTo>
                <a:lnTo>
                  <a:pt x="200748" y="1460284"/>
                </a:lnTo>
                <a:lnTo>
                  <a:pt x="217119" y="1494701"/>
                </a:lnTo>
                <a:lnTo>
                  <a:pt x="225717" y="1490599"/>
                </a:lnTo>
                <a:close/>
              </a:path>
              <a:path w="1711325" h="2282825">
                <a:moveTo>
                  <a:pt x="237820" y="1000633"/>
                </a:moveTo>
                <a:lnTo>
                  <a:pt x="227431" y="963980"/>
                </a:lnTo>
                <a:lnTo>
                  <a:pt x="218262" y="966571"/>
                </a:lnTo>
                <a:lnTo>
                  <a:pt x="228663" y="1003223"/>
                </a:lnTo>
                <a:lnTo>
                  <a:pt x="237820" y="1000633"/>
                </a:lnTo>
                <a:close/>
              </a:path>
              <a:path w="1711325" h="2282825">
                <a:moveTo>
                  <a:pt x="242671" y="1227124"/>
                </a:moveTo>
                <a:lnTo>
                  <a:pt x="224485" y="1212126"/>
                </a:lnTo>
                <a:lnTo>
                  <a:pt x="225602" y="1208697"/>
                </a:lnTo>
                <a:lnTo>
                  <a:pt x="216966" y="1205915"/>
                </a:lnTo>
                <a:lnTo>
                  <a:pt x="213283" y="1202867"/>
                </a:lnTo>
                <a:lnTo>
                  <a:pt x="207225" y="1210221"/>
                </a:lnTo>
                <a:lnTo>
                  <a:pt x="213448" y="1215364"/>
                </a:lnTo>
                <a:lnTo>
                  <a:pt x="204838" y="1242034"/>
                </a:lnTo>
                <a:lnTo>
                  <a:pt x="213906" y="1244955"/>
                </a:lnTo>
                <a:lnTo>
                  <a:pt x="221348" y="1221879"/>
                </a:lnTo>
                <a:lnTo>
                  <a:pt x="236613" y="1234478"/>
                </a:lnTo>
                <a:lnTo>
                  <a:pt x="242671" y="1227124"/>
                </a:lnTo>
                <a:close/>
              </a:path>
              <a:path w="1711325" h="2282825">
                <a:moveTo>
                  <a:pt x="246087" y="1145247"/>
                </a:moveTo>
                <a:lnTo>
                  <a:pt x="237020" y="1142314"/>
                </a:lnTo>
                <a:lnTo>
                  <a:pt x="225323" y="1178572"/>
                </a:lnTo>
                <a:lnTo>
                  <a:pt x="234378" y="1181506"/>
                </a:lnTo>
                <a:lnTo>
                  <a:pt x="246087" y="1145247"/>
                </a:lnTo>
                <a:close/>
              </a:path>
              <a:path w="1711325" h="2282825">
                <a:moveTo>
                  <a:pt x="249161" y="1436370"/>
                </a:moveTo>
                <a:lnTo>
                  <a:pt x="240792" y="1431836"/>
                </a:lnTo>
                <a:lnTo>
                  <a:pt x="222643" y="1465338"/>
                </a:lnTo>
                <a:lnTo>
                  <a:pt x="231025" y="1469872"/>
                </a:lnTo>
                <a:lnTo>
                  <a:pt x="249161" y="1436370"/>
                </a:lnTo>
                <a:close/>
              </a:path>
              <a:path w="1711325" h="2282825">
                <a:moveTo>
                  <a:pt x="254355" y="1550809"/>
                </a:moveTo>
                <a:lnTo>
                  <a:pt x="237985" y="1516405"/>
                </a:lnTo>
                <a:lnTo>
                  <a:pt x="229387" y="1520494"/>
                </a:lnTo>
                <a:lnTo>
                  <a:pt x="245757" y="1554911"/>
                </a:lnTo>
                <a:lnTo>
                  <a:pt x="254355" y="1550809"/>
                </a:lnTo>
                <a:close/>
              </a:path>
              <a:path w="1711325" h="2282825">
                <a:moveTo>
                  <a:pt x="256006" y="1064780"/>
                </a:moveTo>
                <a:lnTo>
                  <a:pt x="245618" y="1028128"/>
                </a:lnTo>
                <a:lnTo>
                  <a:pt x="236448" y="1030719"/>
                </a:lnTo>
                <a:lnTo>
                  <a:pt x="246849" y="1067371"/>
                </a:lnTo>
                <a:lnTo>
                  <a:pt x="256006" y="1064780"/>
                </a:lnTo>
                <a:close/>
              </a:path>
              <a:path w="1711325" h="2282825">
                <a:moveTo>
                  <a:pt x="259511" y="2045157"/>
                </a:moveTo>
                <a:lnTo>
                  <a:pt x="227977" y="2023770"/>
                </a:lnTo>
                <a:lnTo>
                  <a:pt x="222631" y="2031657"/>
                </a:lnTo>
                <a:lnTo>
                  <a:pt x="254165" y="2053031"/>
                </a:lnTo>
                <a:lnTo>
                  <a:pt x="259511" y="2045157"/>
                </a:lnTo>
                <a:close/>
              </a:path>
              <a:path w="1711325" h="2282825">
                <a:moveTo>
                  <a:pt x="274205" y="1128928"/>
                </a:moveTo>
                <a:lnTo>
                  <a:pt x="263804" y="1092263"/>
                </a:lnTo>
                <a:lnTo>
                  <a:pt x="263118" y="1092466"/>
                </a:lnTo>
                <a:lnTo>
                  <a:pt x="266560" y="1081798"/>
                </a:lnTo>
                <a:lnTo>
                  <a:pt x="257505" y="1078865"/>
                </a:lnTo>
                <a:lnTo>
                  <a:pt x="245795" y="1115123"/>
                </a:lnTo>
                <a:lnTo>
                  <a:pt x="254863" y="1118057"/>
                </a:lnTo>
                <a:lnTo>
                  <a:pt x="258241" y="1107579"/>
                </a:lnTo>
                <a:lnTo>
                  <a:pt x="265036" y="1131519"/>
                </a:lnTo>
                <a:lnTo>
                  <a:pt x="274205" y="1128928"/>
                </a:lnTo>
                <a:close/>
              </a:path>
              <a:path w="1711325" h="2282825">
                <a:moveTo>
                  <a:pt x="280911" y="1377746"/>
                </a:moveTo>
                <a:lnTo>
                  <a:pt x="272542" y="1373200"/>
                </a:lnTo>
                <a:lnTo>
                  <a:pt x="254393" y="1406702"/>
                </a:lnTo>
                <a:lnTo>
                  <a:pt x="262775" y="1411249"/>
                </a:lnTo>
                <a:lnTo>
                  <a:pt x="280911" y="1377746"/>
                </a:lnTo>
                <a:close/>
              </a:path>
              <a:path w="1711325" h="2282825">
                <a:moveTo>
                  <a:pt x="282994" y="1611020"/>
                </a:moveTo>
                <a:lnTo>
                  <a:pt x="266623" y="1576616"/>
                </a:lnTo>
                <a:lnTo>
                  <a:pt x="258025" y="1580705"/>
                </a:lnTo>
                <a:lnTo>
                  <a:pt x="274396" y="1615122"/>
                </a:lnTo>
                <a:lnTo>
                  <a:pt x="282994" y="1611020"/>
                </a:lnTo>
                <a:close/>
              </a:path>
              <a:path w="1711325" h="2282825">
                <a:moveTo>
                  <a:pt x="284632" y="916368"/>
                </a:moveTo>
                <a:lnTo>
                  <a:pt x="280733" y="907681"/>
                </a:lnTo>
                <a:lnTo>
                  <a:pt x="245973" y="923277"/>
                </a:lnTo>
                <a:lnTo>
                  <a:pt x="249872" y="931964"/>
                </a:lnTo>
                <a:lnTo>
                  <a:pt x="284632" y="916368"/>
                </a:lnTo>
                <a:close/>
              </a:path>
              <a:path w="1711325" h="2282825">
                <a:moveTo>
                  <a:pt x="287045" y="1018336"/>
                </a:moveTo>
                <a:lnTo>
                  <a:pt x="277977" y="1015415"/>
                </a:lnTo>
                <a:lnTo>
                  <a:pt x="266280" y="1051674"/>
                </a:lnTo>
                <a:lnTo>
                  <a:pt x="275348" y="1054595"/>
                </a:lnTo>
                <a:lnTo>
                  <a:pt x="287045" y="1018336"/>
                </a:lnTo>
                <a:close/>
              </a:path>
              <a:path w="1711325" h="2282825">
                <a:moveTo>
                  <a:pt x="292392" y="1193063"/>
                </a:moveTo>
                <a:lnTo>
                  <a:pt x="281990" y="1156411"/>
                </a:lnTo>
                <a:lnTo>
                  <a:pt x="272834" y="1159014"/>
                </a:lnTo>
                <a:lnTo>
                  <a:pt x="283222" y="1195666"/>
                </a:lnTo>
                <a:lnTo>
                  <a:pt x="292392" y="1193063"/>
                </a:lnTo>
                <a:close/>
              </a:path>
              <a:path w="1711325" h="2282825">
                <a:moveTo>
                  <a:pt x="294093" y="1269568"/>
                </a:moveTo>
                <a:lnTo>
                  <a:pt x="264706" y="1245311"/>
                </a:lnTo>
                <a:lnTo>
                  <a:pt x="258648" y="1252664"/>
                </a:lnTo>
                <a:lnTo>
                  <a:pt x="288023" y="1276921"/>
                </a:lnTo>
                <a:lnTo>
                  <a:pt x="294093" y="1269568"/>
                </a:lnTo>
                <a:close/>
              </a:path>
              <a:path w="1711325" h="2282825">
                <a:moveTo>
                  <a:pt x="307530" y="954887"/>
                </a:moveTo>
                <a:lnTo>
                  <a:pt x="298462" y="951966"/>
                </a:lnTo>
                <a:lnTo>
                  <a:pt x="286753" y="988225"/>
                </a:lnTo>
                <a:lnTo>
                  <a:pt x="295821" y="991146"/>
                </a:lnTo>
                <a:lnTo>
                  <a:pt x="307530" y="954887"/>
                </a:lnTo>
                <a:close/>
              </a:path>
              <a:path w="1711325" h="2282825">
                <a:moveTo>
                  <a:pt x="310578" y="1257211"/>
                </a:moveTo>
                <a:lnTo>
                  <a:pt x="300189" y="1220558"/>
                </a:lnTo>
                <a:lnTo>
                  <a:pt x="291020" y="1223162"/>
                </a:lnTo>
                <a:lnTo>
                  <a:pt x="301421" y="1259814"/>
                </a:lnTo>
                <a:lnTo>
                  <a:pt x="310578" y="1257211"/>
                </a:lnTo>
                <a:close/>
              </a:path>
              <a:path w="1711325" h="2282825">
                <a:moveTo>
                  <a:pt x="311632" y="1671243"/>
                </a:moveTo>
                <a:lnTo>
                  <a:pt x="295275" y="1636826"/>
                </a:lnTo>
                <a:lnTo>
                  <a:pt x="286664" y="1640916"/>
                </a:lnTo>
                <a:lnTo>
                  <a:pt x="303034" y="1675333"/>
                </a:lnTo>
                <a:lnTo>
                  <a:pt x="311632" y="1671243"/>
                </a:lnTo>
                <a:close/>
              </a:path>
              <a:path w="1711325" h="2282825">
                <a:moveTo>
                  <a:pt x="312674" y="1319110"/>
                </a:moveTo>
                <a:lnTo>
                  <a:pt x="304292" y="1314577"/>
                </a:lnTo>
                <a:lnTo>
                  <a:pt x="286143" y="1348079"/>
                </a:lnTo>
                <a:lnTo>
                  <a:pt x="294525" y="1352613"/>
                </a:lnTo>
                <a:lnTo>
                  <a:pt x="312674" y="1319110"/>
                </a:lnTo>
                <a:close/>
              </a:path>
              <a:path w="1711325" h="2282825">
                <a:moveTo>
                  <a:pt x="314693" y="2082571"/>
                </a:moveTo>
                <a:lnTo>
                  <a:pt x="283159" y="2061197"/>
                </a:lnTo>
                <a:lnTo>
                  <a:pt x="277812" y="2069071"/>
                </a:lnTo>
                <a:lnTo>
                  <a:pt x="309346" y="2090458"/>
                </a:lnTo>
                <a:lnTo>
                  <a:pt x="314693" y="2082571"/>
                </a:lnTo>
                <a:close/>
              </a:path>
              <a:path w="1711325" h="2282825">
                <a:moveTo>
                  <a:pt x="340271" y="1731454"/>
                </a:moveTo>
                <a:lnTo>
                  <a:pt x="323913" y="1697037"/>
                </a:lnTo>
                <a:lnTo>
                  <a:pt x="315302" y="1701139"/>
                </a:lnTo>
                <a:lnTo>
                  <a:pt x="331673" y="1735543"/>
                </a:lnTo>
                <a:lnTo>
                  <a:pt x="340271" y="1731454"/>
                </a:lnTo>
                <a:close/>
              </a:path>
              <a:path w="1711325" h="2282825">
                <a:moveTo>
                  <a:pt x="345465" y="889088"/>
                </a:moveTo>
                <a:lnTo>
                  <a:pt x="341566" y="880389"/>
                </a:lnTo>
                <a:lnTo>
                  <a:pt x="321551" y="889368"/>
                </a:lnTo>
                <a:lnTo>
                  <a:pt x="318935" y="888517"/>
                </a:lnTo>
                <a:lnTo>
                  <a:pt x="318160" y="890892"/>
                </a:lnTo>
                <a:lnTo>
                  <a:pt x="306806" y="895985"/>
                </a:lnTo>
                <a:lnTo>
                  <a:pt x="310705" y="904671"/>
                </a:lnTo>
                <a:lnTo>
                  <a:pt x="314223" y="903097"/>
                </a:lnTo>
                <a:lnTo>
                  <a:pt x="307238" y="924775"/>
                </a:lnTo>
                <a:lnTo>
                  <a:pt x="316306" y="927696"/>
                </a:lnTo>
                <a:lnTo>
                  <a:pt x="325932" y="897851"/>
                </a:lnTo>
                <a:lnTo>
                  <a:pt x="345465" y="889088"/>
                </a:lnTo>
                <a:close/>
              </a:path>
              <a:path w="1711325" h="2282825">
                <a:moveTo>
                  <a:pt x="345516" y="1312011"/>
                </a:moveTo>
                <a:lnTo>
                  <a:pt x="320192" y="1291132"/>
                </a:lnTo>
                <a:lnTo>
                  <a:pt x="320040" y="1290612"/>
                </a:lnTo>
                <a:lnTo>
                  <a:pt x="326275" y="1293990"/>
                </a:lnTo>
                <a:lnTo>
                  <a:pt x="344424" y="1260487"/>
                </a:lnTo>
                <a:lnTo>
                  <a:pt x="336042" y="1255941"/>
                </a:lnTo>
                <a:lnTo>
                  <a:pt x="319087" y="1287259"/>
                </a:lnTo>
                <a:lnTo>
                  <a:pt x="318376" y="1284706"/>
                </a:lnTo>
                <a:lnTo>
                  <a:pt x="309206" y="1287310"/>
                </a:lnTo>
                <a:lnTo>
                  <a:pt x="311073" y="1293901"/>
                </a:lnTo>
                <a:lnTo>
                  <a:pt x="310070" y="1295107"/>
                </a:lnTo>
                <a:lnTo>
                  <a:pt x="311823" y="1296568"/>
                </a:lnTo>
                <a:lnTo>
                  <a:pt x="319608" y="1323962"/>
                </a:lnTo>
                <a:lnTo>
                  <a:pt x="328764" y="1321358"/>
                </a:lnTo>
                <a:lnTo>
                  <a:pt x="324751" y="1307249"/>
                </a:lnTo>
                <a:lnTo>
                  <a:pt x="339445" y="1319364"/>
                </a:lnTo>
                <a:lnTo>
                  <a:pt x="345516" y="1312011"/>
                </a:lnTo>
                <a:close/>
              </a:path>
              <a:path w="1711325" h="2282825">
                <a:moveTo>
                  <a:pt x="346964" y="1385506"/>
                </a:moveTo>
                <a:lnTo>
                  <a:pt x="336562" y="1348854"/>
                </a:lnTo>
                <a:lnTo>
                  <a:pt x="327406" y="1351445"/>
                </a:lnTo>
                <a:lnTo>
                  <a:pt x="337794" y="1388110"/>
                </a:lnTo>
                <a:lnTo>
                  <a:pt x="346964" y="1385506"/>
                </a:lnTo>
                <a:close/>
              </a:path>
              <a:path w="1711325" h="2282825">
                <a:moveTo>
                  <a:pt x="348488" y="827989"/>
                </a:moveTo>
                <a:lnTo>
                  <a:pt x="339420" y="825068"/>
                </a:lnTo>
                <a:lnTo>
                  <a:pt x="327723" y="861314"/>
                </a:lnTo>
                <a:lnTo>
                  <a:pt x="336778" y="864247"/>
                </a:lnTo>
                <a:lnTo>
                  <a:pt x="348488" y="827989"/>
                </a:lnTo>
                <a:close/>
              </a:path>
              <a:path w="1711325" h="2282825">
                <a:moveTo>
                  <a:pt x="365150" y="1449654"/>
                </a:moveTo>
                <a:lnTo>
                  <a:pt x="354749" y="1413002"/>
                </a:lnTo>
                <a:lnTo>
                  <a:pt x="345592" y="1415592"/>
                </a:lnTo>
                <a:lnTo>
                  <a:pt x="355981" y="1452257"/>
                </a:lnTo>
                <a:lnTo>
                  <a:pt x="365150" y="1449654"/>
                </a:lnTo>
                <a:close/>
              </a:path>
              <a:path w="1711325" h="2282825">
                <a:moveTo>
                  <a:pt x="368909" y="1791665"/>
                </a:moveTo>
                <a:lnTo>
                  <a:pt x="352552" y="1757248"/>
                </a:lnTo>
                <a:lnTo>
                  <a:pt x="343941" y="1761350"/>
                </a:lnTo>
                <a:lnTo>
                  <a:pt x="360311" y="1795754"/>
                </a:lnTo>
                <a:lnTo>
                  <a:pt x="368909" y="1791665"/>
                </a:lnTo>
                <a:close/>
              </a:path>
              <a:path w="1711325" h="2282825">
                <a:moveTo>
                  <a:pt x="368960" y="764540"/>
                </a:moveTo>
                <a:lnTo>
                  <a:pt x="359905" y="761606"/>
                </a:lnTo>
                <a:lnTo>
                  <a:pt x="348195" y="797864"/>
                </a:lnTo>
                <a:lnTo>
                  <a:pt x="357263" y="800798"/>
                </a:lnTo>
                <a:lnTo>
                  <a:pt x="368960" y="764540"/>
                </a:lnTo>
                <a:close/>
              </a:path>
              <a:path w="1711325" h="2282825">
                <a:moveTo>
                  <a:pt x="369874" y="2119998"/>
                </a:moveTo>
                <a:lnTo>
                  <a:pt x="338340" y="2098611"/>
                </a:lnTo>
                <a:lnTo>
                  <a:pt x="332994" y="2106498"/>
                </a:lnTo>
                <a:lnTo>
                  <a:pt x="364528" y="2127885"/>
                </a:lnTo>
                <a:lnTo>
                  <a:pt x="369874" y="2119998"/>
                </a:lnTo>
                <a:close/>
              </a:path>
              <a:path w="1711325" h="2282825">
                <a:moveTo>
                  <a:pt x="376174" y="1201851"/>
                </a:moveTo>
                <a:lnTo>
                  <a:pt x="367792" y="1197317"/>
                </a:lnTo>
                <a:lnTo>
                  <a:pt x="349656" y="1230820"/>
                </a:lnTo>
                <a:lnTo>
                  <a:pt x="358025" y="1235354"/>
                </a:lnTo>
                <a:lnTo>
                  <a:pt x="376174" y="1201851"/>
                </a:lnTo>
                <a:close/>
              </a:path>
              <a:path w="1711325" h="2282825">
                <a:moveTo>
                  <a:pt x="383336" y="1513801"/>
                </a:moveTo>
                <a:lnTo>
                  <a:pt x="372948" y="1477149"/>
                </a:lnTo>
                <a:lnTo>
                  <a:pt x="363778" y="1479740"/>
                </a:lnTo>
                <a:lnTo>
                  <a:pt x="374167" y="1516392"/>
                </a:lnTo>
                <a:lnTo>
                  <a:pt x="383336" y="1513801"/>
                </a:lnTo>
                <a:close/>
              </a:path>
              <a:path w="1711325" h="2282825">
                <a:moveTo>
                  <a:pt x="389445" y="701078"/>
                </a:moveTo>
                <a:lnTo>
                  <a:pt x="380377" y="698157"/>
                </a:lnTo>
                <a:lnTo>
                  <a:pt x="368681" y="734415"/>
                </a:lnTo>
                <a:lnTo>
                  <a:pt x="377736" y="737336"/>
                </a:lnTo>
                <a:lnTo>
                  <a:pt x="389445" y="701078"/>
                </a:lnTo>
                <a:close/>
              </a:path>
              <a:path w="1711325" h="2282825">
                <a:moveTo>
                  <a:pt x="396925" y="1354455"/>
                </a:moveTo>
                <a:lnTo>
                  <a:pt x="367550" y="1330210"/>
                </a:lnTo>
                <a:lnTo>
                  <a:pt x="361480" y="1337551"/>
                </a:lnTo>
                <a:lnTo>
                  <a:pt x="390867" y="1361808"/>
                </a:lnTo>
                <a:lnTo>
                  <a:pt x="396925" y="1354455"/>
                </a:lnTo>
                <a:close/>
              </a:path>
              <a:path w="1711325" h="2282825">
                <a:moveTo>
                  <a:pt x="397548" y="1851875"/>
                </a:moveTo>
                <a:lnTo>
                  <a:pt x="381190" y="1817458"/>
                </a:lnTo>
                <a:lnTo>
                  <a:pt x="372579" y="1821561"/>
                </a:lnTo>
                <a:lnTo>
                  <a:pt x="388950" y="1855965"/>
                </a:lnTo>
                <a:lnTo>
                  <a:pt x="397548" y="1851875"/>
                </a:lnTo>
                <a:close/>
              </a:path>
              <a:path w="1711325" h="2282825">
                <a:moveTo>
                  <a:pt x="401523" y="1577949"/>
                </a:moveTo>
                <a:lnTo>
                  <a:pt x="391134" y="1541284"/>
                </a:lnTo>
                <a:lnTo>
                  <a:pt x="381965" y="1543888"/>
                </a:lnTo>
                <a:lnTo>
                  <a:pt x="392366" y="1580540"/>
                </a:lnTo>
                <a:lnTo>
                  <a:pt x="401523" y="1577949"/>
                </a:lnTo>
                <a:close/>
              </a:path>
              <a:path w="1711325" h="2282825">
                <a:moveTo>
                  <a:pt x="406298" y="861796"/>
                </a:moveTo>
                <a:lnTo>
                  <a:pt x="402399" y="853109"/>
                </a:lnTo>
                <a:lnTo>
                  <a:pt x="367639" y="868692"/>
                </a:lnTo>
                <a:lnTo>
                  <a:pt x="371538" y="877392"/>
                </a:lnTo>
                <a:lnTo>
                  <a:pt x="406298" y="861796"/>
                </a:lnTo>
                <a:close/>
              </a:path>
              <a:path w="1711325" h="2282825">
                <a:moveTo>
                  <a:pt x="407924" y="1143228"/>
                </a:moveTo>
                <a:lnTo>
                  <a:pt x="399542" y="1138682"/>
                </a:lnTo>
                <a:lnTo>
                  <a:pt x="381406" y="1172184"/>
                </a:lnTo>
                <a:lnTo>
                  <a:pt x="389775" y="1176731"/>
                </a:lnTo>
                <a:lnTo>
                  <a:pt x="407924" y="1143228"/>
                </a:lnTo>
                <a:close/>
              </a:path>
              <a:path w="1711325" h="2282825">
                <a:moveTo>
                  <a:pt x="409917" y="637628"/>
                </a:moveTo>
                <a:lnTo>
                  <a:pt x="400862" y="634707"/>
                </a:lnTo>
                <a:lnTo>
                  <a:pt x="389153" y="670966"/>
                </a:lnTo>
                <a:lnTo>
                  <a:pt x="398221" y="673887"/>
                </a:lnTo>
                <a:lnTo>
                  <a:pt x="409917" y="637628"/>
                </a:lnTo>
                <a:close/>
              </a:path>
              <a:path w="1711325" h="2282825">
                <a:moveTo>
                  <a:pt x="419709" y="1642097"/>
                </a:moveTo>
                <a:lnTo>
                  <a:pt x="409321" y="1605432"/>
                </a:lnTo>
                <a:lnTo>
                  <a:pt x="400151" y="1608035"/>
                </a:lnTo>
                <a:lnTo>
                  <a:pt x="410552" y="1644688"/>
                </a:lnTo>
                <a:lnTo>
                  <a:pt x="419709" y="1642097"/>
                </a:lnTo>
                <a:close/>
              </a:path>
              <a:path w="1711325" h="2282825">
                <a:moveTo>
                  <a:pt x="425056" y="2157425"/>
                </a:moveTo>
                <a:lnTo>
                  <a:pt x="393522" y="2136038"/>
                </a:lnTo>
                <a:lnTo>
                  <a:pt x="388175" y="2143925"/>
                </a:lnTo>
                <a:lnTo>
                  <a:pt x="419709" y="2165312"/>
                </a:lnTo>
                <a:lnTo>
                  <a:pt x="425056" y="2157425"/>
                </a:lnTo>
                <a:close/>
              </a:path>
              <a:path w="1711325" h="2282825">
                <a:moveTo>
                  <a:pt x="426186" y="1912086"/>
                </a:moveTo>
                <a:lnTo>
                  <a:pt x="409829" y="1877669"/>
                </a:lnTo>
                <a:lnTo>
                  <a:pt x="401218" y="1881771"/>
                </a:lnTo>
                <a:lnTo>
                  <a:pt x="417588" y="1916176"/>
                </a:lnTo>
                <a:lnTo>
                  <a:pt x="426186" y="1912086"/>
                </a:lnTo>
                <a:close/>
              </a:path>
              <a:path w="1711325" h="2282825">
                <a:moveTo>
                  <a:pt x="430403" y="574179"/>
                </a:moveTo>
                <a:lnTo>
                  <a:pt x="421335" y="571258"/>
                </a:lnTo>
                <a:lnTo>
                  <a:pt x="409638" y="607517"/>
                </a:lnTo>
                <a:lnTo>
                  <a:pt x="418693" y="610438"/>
                </a:lnTo>
                <a:lnTo>
                  <a:pt x="430403" y="574179"/>
                </a:lnTo>
                <a:close/>
              </a:path>
              <a:path w="1711325" h="2282825">
                <a:moveTo>
                  <a:pt x="437908" y="1706232"/>
                </a:moveTo>
                <a:lnTo>
                  <a:pt x="427507" y="1669580"/>
                </a:lnTo>
                <a:lnTo>
                  <a:pt x="418350" y="1672183"/>
                </a:lnTo>
                <a:lnTo>
                  <a:pt x="428739" y="1708835"/>
                </a:lnTo>
                <a:lnTo>
                  <a:pt x="437908" y="1706232"/>
                </a:lnTo>
                <a:close/>
              </a:path>
              <a:path w="1711325" h="2282825">
                <a:moveTo>
                  <a:pt x="439674" y="1084592"/>
                </a:moveTo>
                <a:lnTo>
                  <a:pt x="431292" y="1080058"/>
                </a:lnTo>
                <a:lnTo>
                  <a:pt x="413156" y="1113561"/>
                </a:lnTo>
                <a:lnTo>
                  <a:pt x="421525" y="1118095"/>
                </a:lnTo>
                <a:lnTo>
                  <a:pt x="439674" y="1084592"/>
                </a:lnTo>
                <a:close/>
              </a:path>
              <a:path w="1711325" h="2282825">
                <a:moveTo>
                  <a:pt x="448348" y="1396898"/>
                </a:moveTo>
                <a:lnTo>
                  <a:pt x="418973" y="1372654"/>
                </a:lnTo>
                <a:lnTo>
                  <a:pt x="412902" y="1379994"/>
                </a:lnTo>
                <a:lnTo>
                  <a:pt x="442290" y="1404251"/>
                </a:lnTo>
                <a:lnTo>
                  <a:pt x="448348" y="1396898"/>
                </a:lnTo>
                <a:close/>
              </a:path>
              <a:path w="1711325" h="2282825">
                <a:moveTo>
                  <a:pt x="450888" y="510730"/>
                </a:moveTo>
                <a:lnTo>
                  <a:pt x="441820" y="507796"/>
                </a:lnTo>
                <a:lnTo>
                  <a:pt x="430110" y="544055"/>
                </a:lnTo>
                <a:lnTo>
                  <a:pt x="439178" y="546989"/>
                </a:lnTo>
                <a:lnTo>
                  <a:pt x="450888" y="510730"/>
                </a:lnTo>
                <a:close/>
              </a:path>
              <a:path w="1711325" h="2282825">
                <a:moveTo>
                  <a:pt x="454825" y="1972297"/>
                </a:moveTo>
                <a:lnTo>
                  <a:pt x="438467" y="1937880"/>
                </a:lnTo>
                <a:lnTo>
                  <a:pt x="429856" y="1941982"/>
                </a:lnTo>
                <a:lnTo>
                  <a:pt x="446227" y="1976386"/>
                </a:lnTo>
                <a:lnTo>
                  <a:pt x="454825" y="1972297"/>
                </a:lnTo>
                <a:close/>
              </a:path>
              <a:path w="1711325" h="2282825">
                <a:moveTo>
                  <a:pt x="456095" y="1770380"/>
                </a:moveTo>
                <a:lnTo>
                  <a:pt x="445693" y="1733727"/>
                </a:lnTo>
                <a:lnTo>
                  <a:pt x="436537" y="1736331"/>
                </a:lnTo>
                <a:lnTo>
                  <a:pt x="446925" y="1772983"/>
                </a:lnTo>
                <a:lnTo>
                  <a:pt x="456095" y="1770380"/>
                </a:lnTo>
                <a:close/>
              </a:path>
              <a:path w="1711325" h="2282825">
                <a:moveTo>
                  <a:pt x="467131" y="834504"/>
                </a:moveTo>
                <a:lnTo>
                  <a:pt x="463245" y="825817"/>
                </a:lnTo>
                <a:lnTo>
                  <a:pt x="428472" y="841413"/>
                </a:lnTo>
                <a:lnTo>
                  <a:pt x="432371" y="850099"/>
                </a:lnTo>
                <a:lnTo>
                  <a:pt x="467131" y="834504"/>
                </a:lnTo>
                <a:close/>
              </a:path>
              <a:path w="1711325" h="2282825">
                <a:moveTo>
                  <a:pt x="471360" y="447281"/>
                </a:moveTo>
                <a:lnTo>
                  <a:pt x="462292" y="444347"/>
                </a:lnTo>
                <a:lnTo>
                  <a:pt x="450596" y="480606"/>
                </a:lnTo>
                <a:lnTo>
                  <a:pt x="459663" y="483539"/>
                </a:lnTo>
                <a:lnTo>
                  <a:pt x="471360" y="447281"/>
                </a:lnTo>
                <a:close/>
              </a:path>
              <a:path w="1711325" h="2282825">
                <a:moveTo>
                  <a:pt x="471424" y="1025969"/>
                </a:moveTo>
                <a:lnTo>
                  <a:pt x="463042" y="1021422"/>
                </a:lnTo>
                <a:lnTo>
                  <a:pt x="444906" y="1054925"/>
                </a:lnTo>
                <a:lnTo>
                  <a:pt x="453275" y="1059472"/>
                </a:lnTo>
                <a:lnTo>
                  <a:pt x="471424" y="1025969"/>
                </a:lnTo>
                <a:close/>
              </a:path>
              <a:path w="1711325" h="2282825">
                <a:moveTo>
                  <a:pt x="474281" y="1834527"/>
                </a:moveTo>
                <a:lnTo>
                  <a:pt x="463892" y="1797875"/>
                </a:lnTo>
                <a:lnTo>
                  <a:pt x="454723" y="1800466"/>
                </a:lnTo>
                <a:lnTo>
                  <a:pt x="465124" y="1837131"/>
                </a:lnTo>
                <a:lnTo>
                  <a:pt x="474281" y="1834527"/>
                </a:lnTo>
                <a:close/>
              </a:path>
              <a:path w="1711325" h="2282825">
                <a:moveTo>
                  <a:pt x="480237" y="2194852"/>
                </a:moveTo>
                <a:lnTo>
                  <a:pt x="448703" y="2173465"/>
                </a:lnTo>
                <a:lnTo>
                  <a:pt x="443357" y="2181352"/>
                </a:lnTo>
                <a:lnTo>
                  <a:pt x="474891" y="2202738"/>
                </a:lnTo>
                <a:lnTo>
                  <a:pt x="480237" y="2194852"/>
                </a:lnTo>
                <a:close/>
              </a:path>
              <a:path w="1711325" h="2282825">
                <a:moveTo>
                  <a:pt x="483463" y="2032508"/>
                </a:moveTo>
                <a:lnTo>
                  <a:pt x="467106" y="1998091"/>
                </a:lnTo>
                <a:lnTo>
                  <a:pt x="458508" y="2002193"/>
                </a:lnTo>
                <a:lnTo>
                  <a:pt x="474865" y="2036597"/>
                </a:lnTo>
                <a:lnTo>
                  <a:pt x="483463" y="2032508"/>
                </a:lnTo>
                <a:close/>
              </a:path>
              <a:path w="1711325" h="2282825">
                <a:moveTo>
                  <a:pt x="491845" y="383819"/>
                </a:moveTo>
                <a:lnTo>
                  <a:pt x="482777" y="380898"/>
                </a:lnTo>
                <a:lnTo>
                  <a:pt x="471068" y="417156"/>
                </a:lnTo>
                <a:lnTo>
                  <a:pt x="480136" y="420077"/>
                </a:lnTo>
                <a:lnTo>
                  <a:pt x="491845" y="383819"/>
                </a:lnTo>
                <a:close/>
              </a:path>
              <a:path w="1711325" h="2282825">
                <a:moveTo>
                  <a:pt x="492467" y="1898675"/>
                </a:moveTo>
                <a:lnTo>
                  <a:pt x="482079" y="1862023"/>
                </a:lnTo>
                <a:lnTo>
                  <a:pt x="472909" y="1864614"/>
                </a:lnTo>
                <a:lnTo>
                  <a:pt x="483311" y="1901278"/>
                </a:lnTo>
                <a:lnTo>
                  <a:pt x="492467" y="1898675"/>
                </a:lnTo>
                <a:close/>
              </a:path>
              <a:path w="1711325" h="2282825">
                <a:moveTo>
                  <a:pt x="499770" y="1439354"/>
                </a:moveTo>
                <a:lnTo>
                  <a:pt x="470382" y="1415097"/>
                </a:lnTo>
                <a:lnTo>
                  <a:pt x="464324" y="1422438"/>
                </a:lnTo>
                <a:lnTo>
                  <a:pt x="493712" y="1446695"/>
                </a:lnTo>
                <a:lnTo>
                  <a:pt x="499770" y="1439354"/>
                </a:lnTo>
                <a:close/>
              </a:path>
              <a:path w="1711325" h="2282825">
                <a:moveTo>
                  <a:pt x="503174" y="967333"/>
                </a:moveTo>
                <a:lnTo>
                  <a:pt x="494804" y="962799"/>
                </a:lnTo>
                <a:lnTo>
                  <a:pt x="476656" y="996302"/>
                </a:lnTo>
                <a:lnTo>
                  <a:pt x="485025" y="1000836"/>
                </a:lnTo>
                <a:lnTo>
                  <a:pt x="503174" y="967333"/>
                </a:lnTo>
                <a:close/>
              </a:path>
              <a:path w="1711325" h="2282825">
                <a:moveTo>
                  <a:pt x="510667" y="1962823"/>
                </a:moveTo>
                <a:lnTo>
                  <a:pt x="500265" y="1926170"/>
                </a:lnTo>
                <a:lnTo>
                  <a:pt x="491109" y="1928761"/>
                </a:lnTo>
                <a:lnTo>
                  <a:pt x="501497" y="1965413"/>
                </a:lnTo>
                <a:lnTo>
                  <a:pt x="510667" y="1962823"/>
                </a:lnTo>
                <a:close/>
              </a:path>
              <a:path w="1711325" h="2282825">
                <a:moveTo>
                  <a:pt x="512102" y="2092718"/>
                </a:moveTo>
                <a:lnTo>
                  <a:pt x="495744" y="2058301"/>
                </a:lnTo>
                <a:lnTo>
                  <a:pt x="487146" y="2062403"/>
                </a:lnTo>
                <a:lnTo>
                  <a:pt x="503504" y="2096808"/>
                </a:lnTo>
                <a:lnTo>
                  <a:pt x="512102" y="2092718"/>
                </a:lnTo>
                <a:close/>
              </a:path>
              <a:path w="1711325" h="2282825">
                <a:moveTo>
                  <a:pt x="512318" y="320370"/>
                </a:moveTo>
                <a:lnTo>
                  <a:pt x="503250" y="317449"/>
                </a:lnTo>
                <a:lnTo>
                  <a:pt x="491553" y="353707"/>
                </a:lnTo>
                <a:lnTo>
                  <a:pt x="500621" y="356628"/>
                </a:lnTo>
                <a:lnTo>
                  <a:pt x="512318" y="320370"/>
                </a:lnTo>
                <a:close/>
              </a:path>
              <a:path w="1711325" h="2282825">
                <a:moveTo>
                  <a:pt x="527977" y="807224"/>
                </a:moveTo>
                <a:lnTo>
                  <a:pt x="524078" y="798525"/>
                </a:lnTo>
                <a:lnTo>
                  <a:pt x="489305" y="814120"/>
                </a:lnTo>
                <a:lnTo>
                  <a:pt x="493204" y="822807"/>
                </a:lnTo>
                <a:lnTo>
                  <a:pt x="527977" y="807224"/>
                </a:lnTo>
                <a:close/>
              </a:path>
              <a:path w="1711325" h="2282825">
                <a:moveTo>
                  <a:pt x="528853" y="2026970"/>
                </a:moveTo>
                <a:lnTo>
                  <a:pt x="518452" y="1990305"/>
                </a:lnTo>
                <a:lnTo>
                  <a:pt x="509295" y="1992909"/>
                </a:lnTo>
                <a:lnTo>
                  <a:pt x="519684" y="2029561"/>
                </a:lnTo>
                <a:lnTo>
                  <a:pt x="528853" y="2026970"/>
                </a:lnTo>
                <a:close/>
              </a:path>
              <a:path w="1711325" h="2282825">
                <a:moveTo>
                  <a:pt x="532803" y="256921"/>
                </a:moveTo>
                <a:lnTo>
                  <a:pt x="523735" y="254000"/>
                </a:lnTo>
                <a:lnTo>
                  <a:pt x="512038" y="290258"/>
                </a:lnTo>
                <a:lnTo>
                  <a:pt x="521093" y="293179"/>
                </a:lnTo>
                <a:lnTo>
                  <a:pt x="532803" y="256921"/>
                </a:lnTo>
                <a:close/>
              </a:path>
              <a:path w="1711325" h="2282825">
                <a:moveTo>
                  <a:pt x="534924" y="908710"/>
                </a:moveTo>
                <a:lnTo>
                  <a:pt x="526554" y="904163"/>
                </a:lnTo>
                <a:lnTo>
                  <a:pt x="508406" y="937666"/>
                </a:lnTo>
                <a:lnTo>
                  <a:pt x="516788" y="942213"/>
                </a:lnTo>
                <a:lnTo>
                  <a:pt x="534924" y="908710"/>
                </a:lnTo>
                <a:close/>
              </a:path>
              <a:path w="1711325" h="2282825">
                <a:moveTo>
                  <a:pt x="540740" y="2152929"/>
                </a:moveTo>
                <a:lnTo>
                  <a:pt x="524383" y="2118512"/>
                </a:lnTo>
                <a:lnTo>
                  <a:pt x="515785" y="2122614"/>
                </a:lnTo>
                <a:lnTo>
                  <a:pt x="532142" y="2157018"/>
                </a:lnTo>
                <a:lnTo>
                  <a:pt x="540740" y="2152929"/>
                </a:lnTo>
                <a:close/>
              </a:path>
              <a:path w="1711325" h="2282825">
                <a:moveTo>
                  <a:pt x="547039" y="2091118"/>
                </a:moveTo>
                <a:lnTo>
                  <a:pt x="536651" y="2054453"/>
                </a:lnTo>
                <a:lnTo>
                  <a:pt x="527481" y="2057057"/>
                </a:lnTo>
                <a:lnTo>
                  <a:pt x="537870" y="2093709"/>
                </a:lnTo>
                <a:lnTo>
                  <a:pt x="547039" y="2091118"/>
                </a:lnTo>
                <a:close/>
              </a:path>
              <a:path w="1711325" h="2282825">
                <a:moveTo>
                  <a:pt x="551192" y="1481797"/>
                </a:moveTo>
                <a:lnTo>
                  <a:pt x="521804" y="1457540"/>
                </a:lnTo>
                <a:lnTo>
                  <a:pt x="515747" y="1464881"/>
                </a:lnTo>
                <a:lnTo>
                  <a:pt x="545122" y="1489138"/>
                </a:lnTo>
                <a:lnTo>
                  <a:pt x="551192" y="1481797"/>
                </a:lnTo>
                <a:close/>
              </a:path>
              <a:path w="1711325" h="2282825">
                <a:moveTo>
                  <a:pt x="553275" y="193471"/>
                </a:moveTo>
                <a:lnTo>
                  <a:pt x="544220" y="190538"/>
                </a:lnTo>
                <a:lnTo>
                  <a:pt x="532511" y="226796"/>
                </a:lnTo>
                <a:lnTo>
                  <a:pt x="541578" y="229730"/>
                </a:lnTo>
                <a:lnTo>
                  <a:pt x="553275" y="193471"/>
                </a:lnTo>
                <a:close/>
              </a:path>
              <a:path w="1711325" h="2282825">
                <a:moveTo>
                  <a:pt x="565226" y="2155253"/>
                </a:moveTo>
                <a:lnTo>
                  <a:pt x="554837" y="2118601"/>
                </a:lnTo>
                <a:lnTo>
                  <a:pt x="545668" y="2121204"/>
                </a:lnTo>
                <a:lnTo>
                  <a:pt x="556069" y="2157857"/>
                </a:lnTo>
                <a:lnTo>
                  <a:pt x="565226" y="2155253"/>
                </a:lnTo>
                <a:close/>
              </a:path>
              <a:path w="1711325" h="2282825">
                <a:moveTo>
                  <a:pt x="566674" y="850074"/>
                </a:moveTo>
                <a:lnTo>
                  <a:pt x="558304" y="845540"/>
                </a:lnTo>
                <a:lnTo>
                  <a:pt x="540156" y="879043"/>
                </a:lnTo>
                <a:lnTo>
                  <a:pt x="548538" y="883577"/>
                </a:lnTo>
                <a:lnTo>
                  <a:pt x="566674" y="850074"/>
                </a:lnTo>
                <a:close/>
              </a:path>
              <a:path w="1711325" h="2282825">
                <a:moveTo>
                  <a:pt x="573760" y="130009"/>
                </a:moveTo>
                <a:lnTo>
                  <a:pt x="564692" y="127088"/>
                </a:lnTo>
                <a:lnTo>
                  <a:pt x="552996" y="163347"/>
                </a:lnTo>
                <a:lnTo>
                  <a:pt x="562051" y="166268"/>
                </a:lnTo>
                <a:lnTo>
                  <a:pt x="573760" y="130009"/>
                </a:lnTo>
                <a:close/>
              </a:path>
              <a:path w="1711325" h="2282825">
                <a:moveTo>
                  <a:pt x="606336" y="766851"/>
                </a:moveTo>
                <a:lnTo>
                  <a:pt x="521208" y="763282"/>
                </a:lnTo>
                <a:lnTo>
                  <a:pt x="542772" y="811364"/>
                </a:lnTo>
                <a:lnTo>
                  <a:pt x="536536" y="815721"/>
                </a:lnTo>
                <a:lnTo>
                  <a:pt x="547357" y="821588"/>
                </a:lnTo>
                <a:lnTo>
                  <a:pt x="552399" y="832802"/>
                </a:lnTo>
                <a:lnTo>
                  <a:pt x="557212" y="826922"/>
                </a:lnTo>
                <a:lnTo>
                  <a:pt x="603542" y="852004"/>
                </a:lnTo>
                <a:lnTo>
                  <a:pt x="606336" y="766851"/>
                </a:lnTo>
                <a:close/>
              </a:path>
              <a:path w="1711325" h="2282825">
                <a:moveTo>
                  <a:pt x="610717" y="1537106"/>
                </a:moveTo>
                <a:lnTo>
                  <a:pt x="576211" y="1459217"/>
                </a:lnTo>
                <a:lnTo>
                  <a:pt x="527697" y="1517980"/>
                </a:lnTo>
                <a:lnTo>
                  <a:pt x="610717" y="1537106"/>
                </a:lnTo>
                <a:close/>
              </a:path>
              <a:path w="1711325" h="2282825">
                <a:moveTo>
                  <a:pt x="611124" y="2194915"/>
                </a:moveTo>
                <a:lnTo>
                  <a:pt x="596823" y="2198979"/>
                </a:lnTo>
                <a:lnTo>
                  <a:pt x="596938" y="2193442"/>
                </a:lnTo>
                <a:lnTo>
                  <a:pt x="578535" y="2202192"/>
                </a:lnTo>
                <a:lnTo>
                  <a:pt x="573024" y="2182749"/>
                </a:lnTo>
                <a:lnTo>
                  <a:pt x="563854" y="2185352"/>
                </a:lnTo>
                <a:lnTo>
                  <a:pt x="569810" y="2206345"/>
                </a:lnTo>
                <a:lnTo>
                  <a:pt x="568325" y="2207044"/>
                </a:lnTo>
                <a:lnTo>
                  <a:pt x="566699" y="2207514"/>
                </a:lnTo>
                <a:lnTo>
                  <a:pt x="553021" y="2178735"/>
                </a:lnTo>
                <a:lnTo>
                  <a:pt x="544423" y="2182825"/>
                </a:lnTo>
                <a:lnTo>
                  <a:pt x="557403" y="2210143"/>
                </a:lnTo>
                <a:lnTo>
                  <a:pt x="556920" y="2210282"/>
                </a:lnTo>
                <a:lnTo>
                  <a:pt x="553580" y="2204313"/>
                </a:lnTo>
                <a:lnTo>
                  <a:pt x="547763" y="2212873"/>
                </a:lnTo>
                <a:lnTo>
                  <a:pt x="537819" y="2215692"/>
                </a:lnTo>
                <a:lnTo>
                  <a:pt x="541540" y="2219782"/>
                </a:lnTo>
                <a:lnTo>
                  <a:pt x="528116" y="2226170"/>
                </a:lnTo>
                <a:lnTo>
                  <a:pt x="535063" y="2231606"/>
                </a:lnTo>
                <a:lnTo>
                  <a:pt x="534860" y="2231898"/>
                </a:lnTo>
                <a:lnTo>
                  <a:pt x="503885" y="2210892"/>
                </a:lnTo>
                <a:lnTo>
                  <a:pt x="498538" y="2218766"/>
                </a:lnTo>
                <a:lnTo>
                  <a:pt x="529513" y="2239784"/>
                </a:lnTo>
                <a:lnTo>
                  <a:pt x="510806" y="2267381"/>
                </a:lnTo>
                <a:lnTo>
                  <a:pt x="595261" y="2278608"/>
                </a:lnTo>
                <a:lnTo>
                  <a:pt x="609396" y="2204008"/>
                </a:lnTo>
                <a:lnTo>
                  <a:pt x="611124" y="2194915"/>
                </a:lnTo>
                <a:close/>
              </a:path>
              <a:path w="1711325" h="2282825">
                <a:moveTo>
                  <a:pt x="623570" y="84213"/>
                </a:moveTo>
                <a:lnTo>
                  <a:pt x="622007" y="73977"/>
                </a:lnTo>
                <a:lnTo>
                  <a:pt x="610717" y="0"/>
                </a:lnTo>
                <a:lnTo>
                  <a:pt x="551053" y="60807"/>
                </a:lnTo>
                <a:lnTo>
                  <a:pt x="582777" y="71043"/>
                </a:lnTo>
                <a:lnTo>
                  <a:pt x="573468" y="99898"/>
                </a:lnTo>
                <a:lnTo>
                  <a:pt x="582536" y="102819"/>
                </a:lnTo>
                <a:lnTo>
                  <a:pt x="591845" y="73977"/>
                </a:lnTo>
                <a:lnTo>
                  <a:pt x="623570" y="84213"/>
                </a:lnTo>
                <a:close/>
              </a:path>
              <a:path w="1711325" h="2282825">
                <a:moveTo>
                  <a:pt x="1123442" y="2179345"/>
                </a:moveTo>
                <a:lnTo>
                  <a:pt x="1114298" y="2176678"/>
                </a:lnTo>
                <a:lnTo>
                  <a:pt x="1103655" y="2213267"/>
                </a:lnTo>
                <a:lnTo>
                  <a:pt x="1112799" y="2215921"/>
                </a:lnTo>
                <a:lnTo>
                  <a:pt x="1123442" y="2179345"/>
                </a:lnTo>
                <a:close/>
              </a:path>
              <a:path w="1711325" h="2282825">
                <a:moveTo>
                  <a:pt x="1124013" y="2261578"/>
                </a:moveTo>
                <a:lnTo>
                  <a:pt x="1118755" y="2253640"/>
                </a:lnTo>
                <a:lnTo>
                  <a:pt x="1101521" y="2265032"/>
                </a:lnTo>
                <a:lnTo>
                  <a:pt x="1110589" y="2246465"/>
                </a:lnTo>
                <a:lnTo>
                  <a:pt x="1104734" y="2243620"/>
                </a:lnTo>
                <a:lnTo>
                  <a:pt x="1104811" y="2243366"/>
                </a:lnTo>
                <a:lnTo>
                  <a:pt x="1103388" y="2242959"/>
                </a:lnTo>
                <a:lnTo>
                  <a:pt x="1102029" y="2242286"/>
                </a:lnTo>
                <a:lnTo>
                  <a:pt x="1101902" y="2242528"/>
                </a:lnTo>
                <a:lnTo>
                  <a:pt x="1095667" y="2240699"/>
                </a:lnTo>
                <a:lnTo>
                  <a:pt x="1085024" y="2277287"/>
                </a:lnTo>
                <a:lnTo>
                  <a:pt x="1089596" y="2278621"/>
                </a:lnTo>
                <a:lnTo>
                  <a:pt x="1092225" y="2282583"/>
                </a:lnTo>
                <a:lnTo>
                  <a:pt x="1124013" y="2261578"/>
                </a:lnTo>
                <a:close/>
              </a:path>
              <a:path w="1711325" h="2282825">
                <a:moveTo>
                  <a:pt x="1139837" y="2186546"/>
                </a:moveTo>
                <a:lnTo>
                  <a:pt x="1131277" y="2182368"/>
                </a:lnTo>
                <a:lnTo>
                  <a:pt x="1114564" y="2216607"/>
                </a:lnTo>
                <a:lnTo>
                  <a:pt x="1123124" y="2220785"/>
                </a:lnTo>
                <a:lnTo>
                  <a:pt x="1139837" y="2186546"/>
                </a:lnTo>
                <a:close/>
              </a:path>
              <a:path w="1711325" h="2282825">
                <a:moveTo>
                  <a:pt x="1140434" y="1552028"/>
                </a:moveTo>
                <a:lnTo>
                  <a:pt x="1113294" y="1536369"/>
                </a:lnTo>
                <a:lnTo>
                  <a:pt x="1137208" y="1516113"/>
                </a:lnTo>
                <a:lnTo>
                  <a:pt x="1131049" y="1508848"/>
                </a:lnTo>
                <a:lnTo>
                  <a:pt x="1101979" y="1533474"/>
                </a:lnTo>
                <a:lnTo>
                  <a:pt x="1105052" y="1537106"/>
                </a:lnTo>
                <a:lnTo>
                  <a:pt x="1102677" y="1541233"/>
                </a:lnTo>
                <a:lnTo>
                  <a:pt x="1135672" y="1560271"/>
                </a:lnTo>
                <a:lnTo>
                  <a:pt x="1140434" y="1552028"/>
                </a:lnTo>
                <a:close/>
              </a:path>
              <a:path w="1711325" h="2282825">
                <a:moveTo>
                  <a:pt x="1142072" y="2115324"/>
                </a:moveTo>
                <a:lnTo>
                  <a:pt x="1132928" y="2112657"/>
                </a:lnTo>
                <a:lnTo>
                  <a:pt x="1122286" y="2149246"/>
                </a:lnTo>
                <a:lnTo>
                  <a:pt x="1131430" y="2151900"/>
                </a:lnTo>
                <a:lnTo>
                  <a:pt x="1142072" y="2115324"/>
                </a:lnTo>
                <a:close/>
              </a:path>
              <a:path w="1711325" h="2282825">
                <a:moveTo>
                  <a:pt x="1160703" y="2051304"/>
                </a:moveTo>
                <a:lnTo>
                  <a:pt x="1151559" y="2048637"/>
                </a:lnTo>
                <a:lnTo>
                  <a:pt x="1140904" y="2085225"/>
                </a:lnTo>
                <a:lnTo>
                  <a:pt x="1150048" y="2087880"/>
                </a:lnTo>
                <a:lnTo>
                  <a:pt x="1160703" y="2051304"/>
                </a:lnTo>
                <a:close/>
              </a:path>
              <a:path w="1711325" h="2282825">
                <a:moveTo>
                  <a:pt x="1169085" y="2126627"/>
                </a:moveTo>
                <a:lnTo>
                  <a:pt x="1160526" y="2122449"/>
                </a:lnTo>
                <a:lnTo>
                  <a:pt x="1143812" y="2156688"/>
                </a:lnTo>
                <a:lnTo>
                  <a:pt x="1152372" y="2160867"/>
                </a:lnTo>
                <a:lnTo>
                  <a:pt x="1169085" y="2126627"/>
                </a:lnTo>
                <a:close/>
              </a:path>
              <a:path w="1711325" h="2282825">
                <a:moveTo>
                  <a:pt x="1179322" y="1987283"/>
                </a:moveTo>
                <a:lnTo>
                  <a:pt x="1170178" y="1984616"/>
                </a:lnTo>
                <a:lnTo>
                  <a:pt x="1159535" y="2021205"/>
                </a:lnTo>
                <a:lnTo>
                  <a:pt x="1168679" y="2023872"/>
                </a:lnTo>
                <a:lnTo>
                  <a:pt x="1179322" y="1987283"/>
                </a:lnTo>
                <a:close/>
              </a:path>
              <a:path w="1711325" h="2282825">
                <a:moveTo>
                  <a:pt x="1179626" y="2224824"/>
                </a:moveTo>
                <a:lnTo>
                  <a:pt x="1174381" y="2216874"/>
                </a:lnTo>
                <a:lnTo>
                  <a:pt x="1142593" y="2237879"/>
                </a:lnTo>
                <a:lnTo>
                  <a:pt x="1147851" y="2245830"/>
                </a:lnTo>
                <a:lnTo>
                  <a:pt x="1179626" y="2224824"/>
                </a:lnTo>
                <a:close/>
              </a:path>
              <a:path w="1711325" h="2282825">
                <a:moveTo>
                  <a:pt x="1188085" y="1473022"/>
                </a:moveTo>
                <a:lnTo>
                  <a:pt x="1181925" y="1465757"/>
                </a:lnTo>
                <a:lnTo>
                  <a:pt x="1152855" y="1490383"/>
                </a:lnTo>
                <a:lnTo>
                  <a:pt x="1159014" y="1497647"/>
                </a:lnTo>
                <a:lnTo>
                  <a:pt x="1188085" y="1473022"/>
                </a:lnTo>
                <a:close/>
              </a:path>
              <a:path w="1711325" h="2282825">
                <a:moveTo>
                  <a:pt x="1197952" y="1923262"/>
                </a:moveTo>
                <a:lnTo>
                  <a:pt x="1188808" y="1920608"/>
                </a:lnTo>
                <a:lnTo>
                  <a:pt x="1178166" y="1957184"/>
                </a:lnTo>
                <a:lnTo>
                  <a:pt x="1187310" y="1959851"/>
                </a:lnTo>
                <a:lnTo>
                  <a:pt x="1197952" y="1923262"/>
                </a:lnTo>
                <a:close/>
              </a:path>
              <a:path w="1711325" h="2282825">
                <a:moveTo>
                  <a:pt x="1198181" y="1585353"/>
                </a:moveTo>
                <a:lnTo>
                  <a:pt x="1165186" y="1566316"/>
                </a:lnTo>
                <a:lnTo>
                  <a:pt x="1160424" y="1574558"/>
                </a:lnTo>
                <a:lnTo>
                  <a:pt x="1193419" y="1593608"/>
                </a:lnTo>
                <a:lnTo>
                  <a:pt x="1198181" y="1585353"/>
                </a:lnTo>
                <a:close/>
              </a:path>
              <a:path w="1711325" h="2282825">
                <a:moveTo>
                  <a:pt x="1198321" y="2066709"/>
                </a:moveTo>
                <a:lnTo>
                  <a:pt x="1189761" y="2062530"/>
                </a:lnTo>
                <a:lnTo>
                  <a:pt x="1173048" y="2096770"/>
                </a:lnTo>
                <a:lnTo>
                  <a:pt x="1181608" y="2100948"/>
                </a:lnTo>
                <a:lnTo>
                  <a:pt x="1198321" y="2066709"/>
                </a:lnTo>
                <a:close/>
              </a:path>
              <a:path w="1711325" h="2282825">
                <a:moveTo>
                  <a:pt x="1216583" y="1859241"/>
                </a:moveTo>
                <a:lnTo>
                  <a:pt x="1207439" y="1856587"/>
                </a:lnTo>
                <a:lnTo>
                  <a:pt x="1196797" y="1893163"/>
                </a:lnTo>
                <a:lnTo>
                  <a:pt x="1205941" y="1895830"/>
                </a:lnTo>
                <a:lnTo>
                  <a:pt x="1216583" y="1859241"/>
                </a:lnTo>
                <a:close/>
              </a:path>
              <a:path w="1711325" h="2282825">
                <a:moveTo>
                  <a:pt x="1227569" y="2006790"/>
                </a:moveTo>
                <a:lnTo>
                  <a:pt x="1219009" y="2002612"/>
                </a:lnTo>
                <a:lnTo>
                  <a:pt x="1202296" y="2036851"/>
                </a:lnTo>
                <a:lnTo>
                  <a:pt x="1210856" y="2041029"/>
                </a:lnTo>
                <a:lnTo>
                  <a:pt x="1227569" y="2006790"/>
                </a:lnTo>
                <a:close/>
              </a:path>
              <a:path w="1711325" h="2282825">
                <a:moveTo>
                  <a:pt x="1235214" y="1795221"/>
                </a:moveTo>
                <a:lnTo>
                  <a:pt x="1226070" y="1792566"/>
                </a:lnTo>
                <a:lnTo>
                  <a:pt x="1215428" y="1829142"/>
                </a:lnTo>
                <a:lnTo>
                  <a:pt x="1224572" y="1831809"/>
                </a:lnTo>
                <a:lnTo>
                  <a:pt x="1235214" y="1795221"/>
                </a:lnTo>
                <a:close/>
              </a:path>
              <a:path w="1711325" h="2282825">
                <a:moveTo>
                  <a:pt x="1235252" y="2188057"/>
                </a:moveTo>
                <a:lnTo>
                  <a:pt x="1230007" y="2180107"/>
                </a:lnTo>
                <a:lnTo>
                  <a:pt x="1198219" y="2201113"/>
                </a:lnTo>
                <a:lnTo>
                  <a:pt x="1203464" y="2209063"/>
                </a:lnTo>
                <a:lnTo>
                  <a:pt x="1235252" y="2188057"/>
                </a:lnTo>
                <a:close/>
              </a:path>
              <a:path w="1711325" h="2282825">
                <a:moveTo>
                  <a:pt x="1238961" y="1429931"/>
                </a:moveTo>
                <a:lnTo>
                  <a:pt x="1232801" y="1422654"/>
                </a:lnTo>
                <a:lnTo>
                  <a:pt x="1203731" y="1447279"/>
                </a:lnTo>
                <a:lnTo>
                  <a:pt x="1209890" y="1454556"/>
                </a:lnTo>
                <a:lnTo>
                  <a:pt x="1238961" y="1429931"/>
                </a:lnTo>
                <a:close/>
              </a:path>
              <a:path w="1711325" h="2282825">
                <a:moveTo>
                  <a:pt x="1253845" y="1731200"/>
                </a:moveTo>
                <a:lnTo>
                  <a:pt x="1244701" y="1728546"/>
                </a:lnTo>
                <a:lnTo>
                  <a:pt x="1234046" y="1765122"/>
                </a:lnTo>
                <a:lnTo>
                  <a:pt x="1243203" y="1767789"/>
                </a:lnTo>
                <a:lnTo>
                  <a:pt x="1253845" y="1731200"/>
                </a:lnTo>
                <a:close/>
              </a:path>
              <a:path w="1711325" h="2282825">
                <a:moveTo>
                  <a:pt x="1255928" y="1618678"/>
                </a:moveTo>
                <a:lnTo>
                  <a:pt x="1222933" y="1599641"/>
                </a:lnTo>
                <a:lnTo>
                  <a:pt x="1218171" y="1607883"/>
                </a:lnTo>
                <a:lnTo>
                  <a:pt x="1251165" y="1626933"/>
                </a:lnTo>
                <a:lnTo>
                  <a:pt x="1255928" y="1618678"/>
                </a:lnTo>
                <a:close/>
              </a:path>
              <a:path w="1711325" h="2282825">
                <a:moveTo>
                  <a:pt x="1256817" y="1946871"/>
                </a:moveTo>
                <a:lnTo>
                  <a:pt x="1248257" y="1942693"/>
                </a:lnTo>
                <a:lnTo>
                  <a:pt x="1231544" y="1976932"/>
                </a:lnTo>
                <a:lnTo>
                  <a:pt x="1240104" y="1981111"/>
                </a:lnTo>
                <a:lnTo>
                  <a:pt x="1256817" y="1946871"/>
                </a:lnTo>
                <a:close/>
              </a:path>
              <a:path w="1711325" h="2282825">
                <a:moveTo>
                  <a:pt x="1272476" y="1667179"/>
                </a:moveTo>
                <a:lnTo>
                  <a:pt x="1263319" y="1664525"/>
                </a:lnTo>
                <a:lnTo>
                  <a:pt x="1252677" y="1701101"/>
                </a:lnTo>
                <a:lnTo>
                  <a:pt x="1261821" y="1703768"/>
                </a:lnTo>
                <a:lnTo>
                  <a:pt x="1272476" y="1667179"/>
                </a:lnTo>
                <a:close/>
              </a:path>
              <a:path w="1711325" h="2282825">
                <a:moveTo>
                  <a:pt x="1286065" y="1886953"/>
                </a:moveTo>
                <a:lnTo>
                  <a:pt x="1277505" y="1882775"/>
                </a:lnTo>
                <a:lnTo>
                  <a:pt x="1260792" y="1917014"/>
                </a:lnTo>
                <a:lnTo>
                  <a:pt x="1269352" y="1921192"/>
                </a:lnTo>
                <a:lnTo>
                  <a:pt x="1286065" y="1886953"/>
                </a:lnTo>
                <a:close/>
              </a:path>
              <a:path w="1711325" h="2282825">
                <a:moveTo>
                  <a:pt x="1289837" y="1386827"/>
                </a:moveTo>
                <a:lnTo>
                  <a:pt x="1283677" y="1379562"/>
                </a:lnTo>
                <a:lnTo>
                  <a:pt x="1254607" y="1404188"/>
                </a:lnTo>
                <a:lnTo>
                  <a:pt x="1260767" y="1411452"/>
                </a:lnTo>
                <a:lnTo>
                  <a:pt x="1289837" y="1386827"/>
                </a:lnTo>
                <a:close/>
              </a:path>
              <a:path w="1711325" h="2282825">
                <a:moveTo>
                  <a:pt x="1290878" y="2151291"/>
                </a:moveTo>
                <a:lnTo>
                  <a:pt x="1285633" y="2143341"/>
                </a:lnTo>
                <a:lnTo>
                  <a:pt x="1253845" y="2164359"/>
                </a:lnTo>
                <a:lnTo>
                  <a:pt x="1259090" y="2172297"/>
                </a:lnTo>
                <a:lnTo>
                  <a:pt x="1290878" y="2151291"/>
                </a:lnTo>
                <a:close/>
              </a:path>
              <a:path w="1711325" h="2282825">
                <a:moveTo>
                  <a:pt x="1309725" y="1539151"/>
                </a:moveTo>
                <a:lnTo>
                  <a:pt x="1300581" y="1536484"/>
                </a:lnTo>
                <a:lnTo>
                  <a:pt x="1289939" y="1573060"/>
                </a:lnTo>
                <a:lnTo>
                  <a:pt x="1299083" y="1575727"/>
                </a:lnTo>
                <a:lnTo>
                  <a:pt x="1309725" y="1539151"/>
                </a:lnTo>
                <a:close/>
              </a:path>
              <a:path w="1711325" h="2282825">
                <a:moveTo>
                  <a:pt x="1313675" y="1652016"/>
                </a:moveTo>
                <a:lnTo>
                  <a:pt x="1282166" y="1633829"/>
                </a:lnTo>
                <a:lnTo>
                  <a:pt x="1291094" y="1603159"/>
                </a:lnTo>
                <a:lnTo>
                  <a:pt x="1281950" y="1600504"/>
                </a:lnTo>
                <a:lnTo>
                  <a:pt x="1271308" y="1637080"/>
                </a:lnTo>
                <a:lnTo>
                  <a:pt x="1277289" y="1638833"/>
                </a:lnTo>
                <a:lnTo>
                  <a:pt x="1275918" y="1641221"/>
                </a:lnTo>
                <a:lnTo>
                  <a:pt x="1308925" y="1660258"/>
                </a:lnTo>
                <a:lnTo>
                  <a:pt x="1313675" y="1652016"/>
                </a:lnTo>
                <a:close/>
              </a:path>
              <a:path w="1711325" h="2282825">
                <a:moveTo>
                  <a:pt x="1315313" y="1827034"/>
                </a:moveTo>
                <a:lnTo>
                  <a:pt x="1306753" y="1822856"/>
                </a:lnTo>
                <a:lnTo>
                  <a:pt x="1290040" y="1857095"/>
                </a:lnTo>
                <a:lnTo>
                  <a:pt x="1298600" y="1861273"/>
                </a:lnTo>
                <a:lnTo>
                  <a:pt x="1315313" y="1827034"/>
                </a:lnTo>
                <a:close/>
              </a:path>
              <a:path w="1711325" h="2282825">
                <a:moveTo>
                  <a:pt x="1328356" y="1475130"/>
                </a:moveTo>
                <a:lnTo>
                  <a:pt x="1319212" y="1472463"/>
                </a:lnTo>
                <a:lnTo>
                  <a:pt x="1308569" y="1509052"/>
                </a:lnTo>
                <a:lnTo>
                  <a:pt x="1317713" y="1511706"/>
                </a:lnTo>
                <a:lnTo>
                  <a:pt x="1328356" y="1475130"/>
                </a:lnTo>
                <a:close/>
              </a:path>
              <a:path w="1711325" h="2282825">
                <a:moveTo>
                  <a:pt x="1340713" y="1343736"/>
                </a:moveTo>
                <a:lnTo>
                  <a:pt x="1334554" y="1336471"/>
                </a:lnTo>
                <a:lnTo>
                  <a:pt x="1305483" y="1361097"/>
                </a:lnTo>
                <a:lnTo>
                  <a:pt x="1311643" y="1368361"/>
                </a:lnTo>
                <a:lnTo>
                  <a:pt x="1340713" y="1343736"/>
                </a:lnTo>
                <a:close/>
              </a:path>
              <a:path w="1711325" h="2282825">
                <a:moveTo>
                  <a:pt x="1344561" y="1767116"/>
                </a:moveTo>
                <a:lnTo>
                  <a:pt x="1336001" y="1762937"/>
                </a:lnTo>
                <a:lnTo>
                  <a:pt x="1319288" y="1797177"/>
                </a:lnTo>
                <a:lnTo>
                  <a:pt x="1327848" y="1801355"/>
                </a:lnTo>
                <a:lnTo>
                  <a:pt x="1344561" y="1767116"/>
                </a:lnTo>
                <a:close/>
              </a:path>
              <a:path w="1711325" h="2282825">
                <a:moveTo>
                  <a:pt x="1346504" y="2114524"/>
                </a:moveTo>
                <a:lnTo>
                  <a:pt x="1341247" y="2106587"/>
                </a:lnTo>
                <a:lnTo>
                  <a:pt x="1309471" y="2127593"/>
                </a:lnTo>
                <a:lnTo>
                  <a:pt x="1314716" y="2135543"/>
                </a:lnTo>
                <a:lnTo>
                  <a:pt x="1346504" y="2114524"/>
                </a:lnTo>
                <a:close/>
              </a:path>
              <a:path w="1711325" h="2282825">
                <a:moveTo>
                  <a:pt x="1346987" y="1411109"/>
                </a:moveTo>
                <a:lnTo>
                  <a:pt x="1337843" y="1408442"/>
                </a:lnTo>
                <a:lnTo>
                  <a:pt x="1327200" y="1445031"/>
                </a:lnTo>
                <a:lnTo>
                  <a:pt x="1336344" y="1447685"/>
                </a:lnTo>
                <a:lnTo>
                  <a:pt x="1346987" y="1411109"/>
                </a:lnTo>
                <a:close/>
              </a:path>
              <a:path w="1711325" h="2282825">
                <a:moveTo>
                  <a:pt x="1365618" y="1347089"/>
                </a:moveTo>
                <a:lnTo>
                  <a:pt x="1356474" y="1344422"/>
                </a:lnTo>
                <a:lnTo>
                  <a:pt x="1345819" y="1381010"/>
                </a:lnTo>
                <a:lnTo>
                  <a:pt x="1354975" y="1383665"/>
                </a:lnTo>
                <a:lnTo>
                  <a:pt x="1365618" y="1347089"/>
                </a:lnTo>
                <a:close/>
              </a:path>
              <a:path w="1711325" h="2282825">
                <a:moveTo>
                  <a:pt x="1371422" y="1685340"/>
                </a:moveTo>
                <a:lnTo>
                  <a:pt x="1338427" y="1666290"/>
                </a:lnTo>
                <a:lnTo>
                  <a:pt x="1333665" y="1674545"/>
                </a:lnTo>
                <a:lnTo>
                  <a:pt x="1366672" y="1693595"/>
                </a:lnTo>
                <a:lnTo>
                  <a:pt x="1371422" y="1685340"/>
                </a:lnTo>
                <a:close/>
              </a:path>
              <a:path w="1711325" h="2282825">
                <a:moveTo>
                  <a:pt x="1373797" y="1707197"/>
                </a:moveTo>
                <a:lnTo>
                  <a:pt x="1365237" y="1703019"/>
                </a:lnTo>
                <a:lnTo>
                  <a:pt x="1348536" y="1737258"/>
                </a:lnTo>
                <a:lnTo>
                  <a:pt x="1357096" y="1741436"/>
                </a:lnTo>
                <a:lnTo>
                  <a:pt x="1373797" y="1707197"/>
                </a:lnTo>
                <a:close/>
              </a:path>
              <a:path w="1711325" h="2282825">
                <a:moveTo>
                  <a:pt x="1391589" y="1300645"/>
                </a:moveTo>
                <a:lnTo>
                  <a:pt x="1385430" y="1293368"/>
                </a:lnTo>
                <a:lnTo>
                  <a:pt x="1379867" y="1298079"/>
                </a:lnTo>
                <a:lnTo>
                  <a:pt x="1384249" y="1283068"/>
                </a:lnTo>
                <a:lnTo>
                  <a:pt x="1375092" y="1280401"/>
                </a:lnTo>
                <a:lnTo>
                  <a:pt x="1366697" y="1309230"/>
                </a:lnTo>
                <a:lnTo>
                  <a:pt x="1356360" y="1317993"/>
                </a:lnTo>
                <a:lnTo>
                  <a:pt x="1362519" y="1325270"/>
                </a:lnTo>
                <a:lnTo>
                  <a:pt x="1370291" y="1318691"/>
                </a:lnTo>
                <a:lnTo>
                  <a:pt x="1373593" y="1319644"/>
                </a:lnTo>
                <a:lnTo>
                  <a:pt x="1375041" y="1314665"/>
                </a:lnTo>
                <a:lnTo>
                  <a:pt x="1391589" y="1300645"/>
                </a:lnTo>
                <a:close/>
              </a:path>
              <a:path w="1711325" h="2282825">
                <a:moveTo>
                  <a:pt x="1402130" y="2077770"/>
                </a:moveTo>
                <a:lnTo>
                  <a:pt x="1396873" y="2069820"/>
                </a:lnTo>
                <a:lnTo>
                  <a:pt x="1365097" y="2090826"/>
                </a:lnTo>
                <a:lnTo>
                  <a:pt x="1370342" y="2098776"/>
                </a:lnTo>
                <a:lnTo>
                  <a:pt x="1402130" y="2077770"/>
                </a:lnTo>
                <a:close/>
              </a:path>
              <a:path w="1711325" h="2282825">
                <a:moveTo>
                  <a:pt x="1402867" y="1219047"/>
                </a:moveTo>
                <a:lnTo>
                  <a:pt x="1393723" y="1216380"/>
                </a:lnTo>
                <a:lnTo>
                  <a:pt x="1383080" y="1252969"/>
                </a:lnTo>
                <a:lnTo>
                  <a:pt x="1392224" y="1255623"/>
                </a:lnTo>
                <a:lnTo>
                  <a:pt x="1402867" y="1219047"/>
                </a:lnTo>
                <a:close/>
              </a:path>
              <a:path w="1711325" h="2282825">
                <a:moveTo>
                  <a:pt x="1403045" y="1647278"/>
                </a:moveTo>
                <a:lnTo>
                  <a:pt x="1394485" y="1643100"/>
                </a:lnTo>
                <a:lnTo>
                  <a:pt x="1377772" y="1677339"/>
                </a:lnTo>
                <a:lnTo>
                  <a:pt x="1386332" y="1681518"/>
                </a:lnTo>
                <a:lnTo>
                  <a:pt x="1403045" y="1647278"/>
                </a:lnTo>
                <a:close/>
              </a:path>
              <a:path w="1711325" h="2282825">
                <a:moveTo>
                  <a:pt x="1421498" y="1155026"/>
                </a:moveTo>
                <a:lnTo>
                  <a:pt x="1412354" y="1152359"/>
                </a:lnTo>
                <a:lnTo>
                  <a:pt x="1401711" y="1188948"/>
                </a:lnTo>
                <a:lnTo>
                  <a:pt x="1410855" y="1191602"/>
                </a:lnTo>
                <a:lnTo>
                  <a:pt x="1421498" y="1155026"/>
                </a:lnTo>
                <a:close/>
              </a:path>
              <a:path w="1711325" h="2282825">
                <a:moveTo>
                  <a:pt x="1429169" y="1718665"/>
                </a:moveTo>
                <a:lnTo>
                  <a:pt x="1396174" y="1699628"/>
                </a:lnTo>
                <a:lnTo>
                  <a:pt x="1391412" y="1707870"/>
                </a:lnTo>
                <a:lnTo>
                  <a:pt x="1424419" y="1726920"/>
                </a:lnTo>
                <a:lnTo>
                  <a:pt x="1429169" y="1718665"/>
                </a:lnTo>
                <a:close/>
              </a:path>
              <a:path w="1711325" h="2282825">
                <a:moveTo>
                  <a:pt x="1432293" y="1587360"/>
                </a:moveTo>
                <a:lnTo>
                  <a:pt x="1423733" y="1583182"/>
                </a:lnTo>
                <a:lnTo>
                  <a:pt x="1407020" y="1617421"/>
                </a:lnTo>
                <a:lnTo>
                  <a:pt x="1415580" y="1621599"/>
                </a:lnTo>
                <a:lnTo>
                  <a:pt x="1432293" y="1587360"/>
                </a:lnTo>
                <a:close/>
              </a:path>
              <a:path w="1711325" h="2282825">
                <a:moveTo>
                  <a:pt x="1440129" y="1091006"/>
                </a:moveTo>
                <a:lnTo>
                  <a:pt x="1430985" y="1088339"/>
                </a:lnTo>
                <a:lnTo>
                  <a:pt x="1420342" y="1124927"/>
                </a:lnTo>
                <a:lnTo>
                  <a:pt x="1429486" y="1127594"/>
                </a:lnTo>
                <a:lnTo>
                  <a:pt x="1440129" y="1091006"/>
                </a:lnTo>
                <a:close/>
              </a:path>
              <a:path w="1711325" h="2282825">
                <a:moveTo>
                  <a:pt x="1442466" y="1257541"/>
                </a:moveTo>
                <a:lnTo>
                  <a:pt x="1436306" y="1250276"/>
                </a:lnTo>
                <a:lnTo>
                  <a:pt x="1407236" y="1274902"/>
                </a:lnTo>
                <a:lnTo>
                  <a:pt x="1413395" y="1282166"/>
                </a:lnTo>
                <a:lnTo>
                  <a:pt x="1442466" y="1257541"/>
                </a:lnTo>
                <a:close/>
              </a:path>
              <a:path w="1711325" h="2282825">
                <a:moveTo>
                  <a:pt x="1457756" y="2041004"/>
                </a:moveTo>
                <a:lnTo>
                  <a:pt x="1452499" y="2033054"/>
                </a:lnTo>
                <a:lnTo>
                  <a:pt x="1420710" y="2054072"/>
                </a:lnTo>
                <a:lnTo>
                  <a:pt x="1425968" y="2062010"/>
                </a:lnTo>
                <a:lnTo>
                  <a:pt x="1457756" y="2041004"/>
                </a:lnTo>
                <a:close/>
              </a:path>
              <a:path w="1711325" h="2282825">
                <a:moveTo>
                  <a:pt x="1458760" y="1026985"/>
                </a:moveTo>
                <a:lnTo>
                  <a:pt x="1449616" y="1024331"/>
                </a:lnTo>
                <a:lnTo>
                  <a:pt x="1438960" y="1060907"/>
                </a:lnTo>
                <a:lnTo>
                  <a:pt x="1448117" y="1063574"/>
                </a:lnTo>
                <a:lnTo>
                  <a:pt x="1458760" y="1026985"/>
                </a:lnTo>
                <a:close/>
              </a:path>
              <a:path w="1711325" h="2282825">
                <a:moveTo>
                  <a:pt x="1461541" y="1527441"/>
                </a:moveTo>
                <a:lnTo>
                  <a:pt x="1452981" y="1523263"/>
                </a:lnTo>
                <a:lnTo>
                  <a:pt x="1436268" y="1557502"/>
                </a:lnTo>
                <a:lnTo>
                  <a:pt x="1444828" y="1561680"/>
                </a:lnTo>
                <a:lnTo>
                  <a:pt x="1461541" y="1527441"/>
                </a:lnTo>
                <a:close/>
              </a:path>
              <a:path w="1711325" h="2282825">
                <a:moveTo>
                  <a:pt x="1477391" y="962964"/>
                </a:moveTo>
                <a:lnTo>
                  <a:pt x="1468234" y="960310"/>
                </a:lnTo>
                <a:lnTo>
                  <a:pt x="1457591" y="996886"/>
                </a:lnTo>
                <a:lnTo>
                  <a:pt x="1466735" y="999553"/>
                </a:lnTo>
                <a:lnTo>
                  <a:pt x="1477391" y="962964"/>
                </a:lnTo>
                <a:close/>
              </a:path>
              <a:path w="1711325" h="2282825">
                <a:moveTo>
                  <a:pt x="1486928" y="1752003"/>
                </a:moveTo>
                <a:lnTo>
                  <a:pt x="1453921" y="1732953"/>
                </a:lnTo>
                <a:lnTo>
                  <a:pt x="1449158" y="1741208"/>
                </a:lnTo>
                <a:lnTo>
                  <a:pt x="1482166" y="1760245"/>
                </a:lnTo>
                <a:lnTo>
                  <a:pt x="1486928" y="1752003"/>
                </a:lnTo>
                <a:close/>
              </a:path>
              <a:path w="1711325" h="2282825">
                <a:moveTo>
                  <a:pt x="1490789" y="1467523"/>
                </a:moveTo>
                <a:lnTo>
                  <a:pt x="1482229" y="1463344"/>
                </a:lnTo>
                <a:lnTo>
                  <a:pt x="1465516" y="1497584"/>
                </a:lnTo>
                <a:lnTo>
                  <a:pt x="1474076" y="1501762"/>
                </a:lnTo>
                <a:lnTo>
                  <a:pt x="1490789" y="1467523"/>
                </a:lnTo>
                <a:close/>
              </a:path>
              <a:path w="1711325" h="2282825">
                <a:moveTo>
                  <a:pt x="1493342" y="1214450"/>
                </a:moveTo>
                <a:lnTo>
                  <a:pt x="1487182" y="1207185"/>
                </a:lnTo>
                <a:lnTo>
                  <a:pt x="1458112" y="1231811"/>
                </a:lnTo>
                <a:lnTo>
                  <a:pt x="1464271" y="1239075"/>
                </a:lnTo>
                <a:lnTo>
                  <a:pt x="1493342" y="1214450"/>
                </a:lnTo>
                <a:close/>
              </a:path>
              <a:path w="1711325" h="2282825">
                <a:moveTo>
                  <a:pt x="1496009" y="898944"/>
                </a:moveTo>
                <a:lnTo>
                  <a:pt x="1486865" y="896289"/>
                </a:lnTo>
                <a:lnTo>
                  <a:pt x="1476222" y="932865"/>
                </a:lnTo>
                <a:lnTo>
                  <a:pt x="1485366" y="935532"/>
                </a:lnTo>
                <a:lnTo>
                  <a:pt x="1496009" y="898944"/>
                </a:lnTo>
                <a:close/>
              </a:path>
              <a:path w="1711325" h="2282825">
                <a:moveTo>
                  <a:pt x="1513382" y="2004237"/>
                </a:moveTo>
                <a:lnTo>
                  <a:pt x="1508125" y="1996300"/>
                </a:lnTo>
                <a:lnTo>
                  <a:pt x="1476336" y="2017306"/>
                </a:lnTo>
                <a:lnTo>
                  <a:pt x="1481594" y="2025256"/>
                </a:lnTo>
                <a:lnTo>
                  <a:pt x="1513382" y="2004237"/>
                </a:lnTo>
                <a:close/>
              </a:path>
              <a:path w="1711325" h="2282825">
                <a:moveTo>
                  <a:pt x="1514640" y="834923"/>
                </a:moveTo>
                <a:lnTo>
                  <a:pt x="1505496" y="832269"/>
                </a:lnTo>
                <a:lnTo>
                  <a:pt x="1494853" y="868845"/>
                </a:lnTo>
                <a:lnTo>
                  <a:pt x="1503997" y="871512"/>
                </a:lnTo>
                <a:lnTo>
                  <a:pt x="1514640" y="834923"/>
                </a:lnTo>
                <a:close/>
              </a:path>
              <a:path w="1711325" h="2282825">
                <a:moveTo>
                  <a:pt x="1520037" y="1407604"/>
                </a:moveTo>
                <a:lnTo>
                  <a:pt x="1511477" y="1403426"/>
                </a:lnTo>
                <a:lnTo>
                  <a:pt x="1494764" y="1437665"/>
                </a:lnTo>
                <a:lnTo>
                  <a:pt x="1503324" y="1441843"/>
                </a:lnTo>
                <a:lnTo>
                  <a:pt x="1520037" y="1407604"/>
                </a:lnTo>
                <a:close/>
              </a:path>
              <a:path w="1711325" h="2282825">
                <a:moveTo>
                  <a:pt x="1533271" y="770902"/>
                </a:moveTo>
                <a:lnTo>
                  <a:pt x="1524127" y="768248"/>
                </a:lnTo>
                <a:lnTo>
                  <a:pt x="1513484" y="804824"/>
                </a:lnTo>
                <a:lnTo>
                  <a:pt x="1522628" y="807491"/>
                </a:lnTo>
                <a:lnTo>
                  <a:pt x="1533271" y="770902"/>
                </a:lnTo>
                <a:close/>
              </a:path>
              <a:path w="1711325" h="2282825">
                <a:moveTo>
                  <a:pt x="1544218" y="1171359"/>
                </a:moveTo>
                <a:lnTo>
                  <a:pt x="1538058" y="1164082"/>
                </a:lnTo>
                <a:lnTo>
                  <a:pt x="1508988" y="1188707"/>
                </a:lnTo>
                <a:lnTo>
                  <a:pt x="1515148" y="1195984"/>
                </a:lnTo>
                <a:lnTo>
                  <a:pt x="1544218" y="1171359"/>
                </a:lnTo>
                <a:close/>
              </a:path>
              <a:path w="1711325" h="2282825">
                <a:moveTo>
                  <a:pt x="1544675" y="1785327"/>
                </a:moveTo>
                <a:lnTo>
                  <a:pt x="1511668" y="1766277"/>
                </a:lnTo>
                <a:lnTo>
                  <a:pt x="1506905" y="1774532"/>
                </a:lnTo>
                <a:lnTo>
                  <a:pt x="1539913" y="1793570"/>
                </a:lnTo>
                <a:lnTo>
                  <a:pt x="1544675" y="1785327"/>
                </a:lnTo>
                <a:close/>
              </a:path>
              <a:path w="1711325" h="2282825">
                <a:moveTo>
                  <a:pt x="1549273" y="1347685"/>
                </a:moveTo>
                <a:lnTo>
                  <a:pt x="1540713" y="1343507"/>
                </a:lnTo>
                <a:lnTo>
                  <a:pt x="1524012" y="1377746"/>
                </a:lnTo>
                <a:lnTo>
                  <a:pt x="1532572" y="1381925"/>
                </a:lnTo>
                <a:lnTo>
                  <a:pt x="1549273" y="1347685"/>
                </a:lnTo>
                <a:close/>
              </a:path>
              <a:path w="1711325" h="2282825">
                <a:moveTo>
                  <a:pt x="1551901" y="706882"/>
                </a:moveTo>
                <a:lnTo>
                  <a:pt x="1542757" y="704227"/>
                </a:lnTo>
                <a:lnTo>
                  <a:pt x="1532115" y="740803"/>
                </a:lnTo>
                <a:lnTo>
                  <a:pt x="1541259" y="743470"/>
                </a:lnTo>
                <a:lnTo>
                  <a:pt x="1551901" y="706882"/>
                </a:lnTo>
                <a:close/>
              </a:path>
              <a:path w="1711325" h="2282825">
                <a:moveTo>
                  <a:pt x="1569008" y="1967484"/>
                </a:moveTo>
                <a:lnTo>
                  <a:pt x="1563751" y="1959533"/>
                </a:lnTo>
                <a:lnTo>
                  <a:pt x="1531962" y="1980539"/>
                </a:lnTo>
                <a:lnTo>
                  <a:pt x="1537220" y="1988489"/>
                </a:lnTo>
                <a:lnTo>
                  <a:pt x="1569008" y="1967484"/>
                </a:lnTo>
                <a:close/>
              </a:path>
              <a:path w="1711325" h="2282825">
                <a:moveTo>
                  <a:pt x="1570532" y="642874"/>
                </a:moveTo>
                <a:lnTo>
                  <a:pt x="1561388" y="640207"/>
                </a:lnTo>
                <a:lnTo>
                  <a:pt x="1550733" y="676795"/>
                </a:lnTo>
                <a:lnTo>
                  <a:pt x="1559890" y="679450"/>
                </a:lnTo>
                <a:lnTo>
                  <a:pt x="1570532" y="642874"/>
                </a:lnTo>
                <a:close/>
              </a:path>
              <a:path w="1711325" h="2282825">
                <a:moveTo>
                  <a:pt x="1578521" y="1287767"/>
                </a:moveTo>
                <a:lnTo>
                  <a:pt x="1569961" y="1283589"/>
                </a:lnTo>
                <a:lnTo>
                  <a:pt x="1553248" y="1317828"/>
                </a:lnTo>
                <a:lnTo>
                  <a:pt x="1561807" y="1322006"/>
                </a:lnTo>
                <a:lnTo>
                  <a:pt x="1578521" y="1287767"/>
                </a:lnTo>
                <a:close/>
              </a:path>
              <a:path w="1711325" h="2282825">
                <a:moveTo>
                  <a:pt x="1589163" y="578853"/>
                </a:moveTo>
                <a:lnTo>
                  <a:pt x="1580007" y="576186"/>
                </a:lnTo>
                <a:lnTo>
                  <a:pt x="1569364" y="612775"/>
                </a:lnTo>
                <a:lnTo>
                  <a:pt x="1578508" y="615429"/>
                </a:lnTo>
                <a:lnTo>
                  <a:pt x="1589163" y="578853"/>
                </a:lnTo>
                <a:close/>
              </a:path>
              <a:path w="1711325" h="2282825">
                <a:moveTo>
                  <a:pt x="1595094" y="1128255"/>
                </a:moveTo>
                <a:lnTo>
                  <a:pt x="1588935" y="1120990"/>
                </a:lnTo>
                <a:lnTo>
                  <a:pt x="1559864" y="1145616"/>
                </a:lnTo>
                <a:lnTo>
                  <a:pt x="1566024" y="1152880"/>
                </a:lnTo>
                <a:lnTo>
                  <a:pt x="1595094" y="1128255"/>
                </a:lnTo>
                <a:close/>
              </a:path>
              <a:path w="1711325" h="2282825">
                <a:moveTo>
                  <a:pt x="1602422" y="1818652"/>
                </a:moveTo>
                <a:lnTo>
                  <a:pt x="1569415" y="1799615"/>
                </a:lnTo>
                <a:lnTo>
                  <a:pt x="1564652" y="1807857"/>
                </a:lnTo>
                <a:lnTo>
                  <a:pt x="1597660" y="1826907"/>
                </a:lnTo>
                <a:lnTo>
                  <a:pt x="1602422" y="1818652"/>
                </a:lnTo>
                <a:close/>
              </a:path>
              <a:path w="1711325" h="2282825">
                <a:moveTo>
                  <a:pt x="1607769" y="1227848"/>
                </a:moveTo>
                <a:lnTo>
                  <a:pt x="1599209" y="1223670"/>
                </a:lnTo>
                <a:lnTo>
                  <a:pt x="1582496" y="1257909"/>
                </a:lnTo>
                <a:lnTo>
                  <a:pt x="1591056" y="1262087"/>
                </a:lnTo>
                <a:lnTo>
                  <a:pt x="1607769" y="1227848"/>
                </a:lnTo>
                <a:close/>
              </a:path>
              <a:path w="1711325" h="2282825">
                <a:moveTo>
                  <a:pt x="1607781" y="514832"/>
                </a:moveTo>
                <a:lnTo>
                  <a:pt x="1598637" y="512165"/>
                </a:lnTo>
                <a:lnTo>
                  <a:pt x="1587995" y="548754"/>
                </a:lnTo>
                <a:lnTo>
                  <a:pt x="1597139" y="551408"/>
                </a:lnTo>
                <a:lnTo>
                  <a:pt x="1607781" y="514832"/>
                </a:lnTo>
                <a:close/>
              </a:path>
              <a:path w="1711325" h="2282825">
                <a:moveTo>
                  <a:pt x="1624622" y="1930717"/>
                </a:moveTo>
                <a:lnTo>
                  <a:pt x="1619377" y="1922767"/>
                </a:lnTo>
                <a:lnTo>
                  <a:pt x="1587588" y="1943785"/>
                </a:lnTo>
                <a:lnTo>
                  <a:pt x="1592846" y="1951723"/>
                </a:lnTo>
                <a:lnTo>
                  <a:pt x="1624622" y="1930717"/>
                </a:lnTo>
                <a:close/>
              </a:path>
              <a:path w="1711325" h="2282825">
                <a:moveTo>
                  <a:pt x="1626412" y="450811"/>
                </a:moveTo>
                <a:lnTo>
                  <a:pt x="1617268" y="448144"/>
                </a:lnTo>
                <a:lnTo>
                  <a:pt x="1606626" y="484733"/>
                </a:lnTo>
                <a:lnTo>
                  <a:pt x="1615770" y="487387"/>
                </a:lnTo>
                <a:lnTo>
                  <a:pt x="1626412" y="450811"/>
                </a:lnTo>
                <a:close/>
              </a:path>
              <a:path w="1711325" h="2282825">
                <a:moveTo>
                  <a:pt x="1637017" y="1167930"/>
                </a:moveTo>
                <a:lnTo>
                  <a:pt x="1628457" y="1163751"/>
                </a:lnTo>
                <a:lnTo>
                  <a:pt x="1611744" y="1197991"/>
                </a:lnTo>
                <a:lnTo>
                  <a:pt x="1620304" y="1202169"/>
                </a:lnTo>
                <a:lnTo>
                  <a:pt x="1637017" y="1167930"/>
                </a:lnTo>
                <a:close/>
              </a:path>
              <a:path w="1711325" h="2282825">
                <a:moveTo>
                  <a:pt x="1645043" y="386791"/>
                </a:moveTo>
                <a:lnTo>
                  <a:pt x="1635899" y="384124"/>
                </a:lnTo>
                <a:lnTo>
                  <a:pt x="1625257" y="420712"/>
                </a:lnTo>
                <a:lnTo>
                  <a:pt x="1634401" y="423367"/>
                </a:lnTo>
                <a:lnTo>
                  <a:pt x="1645043" y="386791"/>
                </a:lnTo>
                <a:close/>
              </a:path>
              <a:path w="1711325" h="2282825">
                <a:moveTo>
                  <a:pt x="1663674" y="322770"/>
                </a:moveTo>
                <a:lnTo>
                  <a:pt x="1654530" y="320103"/>
                </a:lnTo>
                <a:lnTo>
                  <a:pt x="1643888" y="356692"/>
                </a:lnTo>
                <a:lnTo>
                  <a:pt x="1653032" y="359346"/>
                </a:lnTo>
                <a:lnTo>
                  <a:pt x="1663674" y="322770"/>
                </a:lnTo>
                <a:close/>
              </a:path>
              <a:path w="1711325" h="2282825">
                <a:moveTo>
                  <a:pt x="1695742" y="1878012"/>
                </a:moveTo>
                <a:lnTo>
                  <a:pt x="1667852" y="1835797"/>
                </a:lnTo>
                <a:lnTo>
                  <a:pt x="1648790" y="1806917"/>
                </a:lnTo>
                <a:lnTo>
                  <a:pt x="1632127" y="1835797"/>
                </a:lnTo>
                <a:lnTo>
                  <a:pt x="1627162" y="1832940"/>
                </a:lnTo>
                <a:lnTo>
                  <a:pt x="1622399" y="1841182"/>
                </a:lnTo>
                <a:lnTo>
                  <a:pt x="1627365" y="1844052"/>
                </a:lnTo>
                <a:lnTo>
                  <a:pt x="1610702" y="1872919"/>
                </a:lnTo>
                <a:lnTo>
                  <a:pt x="1695742" y="1878012"/>
                </a:lnTo>
                <a:close/>
              </a:path>
              <a:path w="1711325" h="2282825">
                <a:moveTo>
                  <a:pt x="1695742" y="1878012"/>
                </a:moveTo>
                <a:lnTo>
                  <a:pt x="1611160" y="1888236"/>
                </a:lnTo>
                <a:lnTo>
                  <a:pt x="1653171" y="1951812"/>
                </a:lnTo>
                <a:lnTo>
                  <a:pt x="1695742" y="1878012"/>
                </a:lnTo>
                <a:close/>
              </a:path>
              <a:path w="1711325" h="2282825">
                <a:moveTo>
                  <a:pt x="1696554" y="1121956"/>
                </a:moveTo>
                <a:lnTo>
                  <a:pt x="1695742" y="1036764"/>
                </a:lnTo>
                <a:lnTo>
                  <a:pt x="1612963" y="1056944"/>
                </a:lnTo>
                <a:lnTo>
                  <a:pt x="1634515" y="1082382"/>
                </a:lnTo>
                <a:lnTo>
                  <a:pt x="1610741" y="1102525"/>
                </a:lnTo>
                <a:lnTo>
                  <a:pt x="1616900" y="1109789"/>
                </a:lnTo>
                <a:lnTo>
                  <a:pt x="1636903" y="1092847"/>
                </a:lnTo>
                <a:lnTo>
                  <a:pt x="1647939" y="1098232"/>
                </a:lnTo>
                <a:lnTo>
                  <a:pt x="1655864" y="1107592"/>
                </a:lnTo>
                <a:lnTo>
                  <a:pt x="1640992" y="1138072"/>
                </a:lnTo>
                <a:lnTo>
                  <a:pt x="1649552" y="1142250"/>
                </a:lnTo>
                <a:lnTo>
                  <a:pt x="1666265" y="1108011"/>
                </a:lnTo>
                <a:lnTo>
                  <a:pt x="1665427" y="1107605"/>
                </a:lnTo>
                <a:lnTo>
                  <a:pt x="1665719" y="1106919"/>
                </a:lnTo>
                <a:lnTo>
                  <a:pt x="1696554" y="1121956"/>
                </a:lnTo>
                <a:close/>
              </a:path>
              <a:path w="1711325" h="2282825">
                <a:moveTo>
                  <a:pt x="1711032" y="279336"/>
                </a:moveTo>
                <a:lnTo>
                  <a:pt x="1709331" y="270014"/>
                </a:lnTo>
                <a:lnTo>
                  <a:pt x="1695742" y="195529"/>
                </a:lnTo>
                <a:lnTo>
                  <a:pt x="1637868" y="258038"/>
                </a:lnTo>
                <a:lnTo>
                  <a:pt x="1669872" y="267360"/>
                </a:lnTo>
                <a:lnTo>
                  <a:pt x="1662506" y="292671"/>
                </a:lnTo>
                <a:lnTo>
                  <a:pt x="1671650" y="295338"/>
                </a:lnTo>
                <a:lnTo>
                  <a:pt x="1679016" y="270014"/>
                </a:lnTo>
                <a:lnTo>
                  <a:pt x="1711032" y="27933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txBox="1"/>
          <p:nvPr/>
        </p:nvSpPr>
        <p:spPr>
          <a:xfrm>
            <a:off x="7297118" y="5779623"/>
            <a:ext cx="1718310" cy="33020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000" b="1" i="0" u="none" strike="noStrike" kern="1200" cap="none" spc="-5" normalizeH="0" baseline="0" noProof="0" dirty="0">
                <a:ln>
                  <a:noFill/>
                </a:ln>
                <a:solidFill>
                  <a:prstClr val="black"/>
                </a:solidFill>
                <a:effectLst/>
                <a:uLnTx/>
                <a:uFillTx/>
                <a:latin typeface="Arial"/>
                <a:ea typeface="+mn-ea"/>
                <a:cs typeface="Arial"/>
              </a:rPr>
              <a:t>Overcomplete</a:t>
            </a:r>
            <a:endParaRPr kumimoji="0" sz="2000" b="0" i="0" u="none" strike="noStrike" kern="1200" cap="none" spc="0" normalizeH="0" baseline="0" noProof="0" dirty="0">
              <a:ln>
                <a:noFill/>
              </a:ln>
              <a:solidFill>
                <a:prstClr val="black"/>
              </a:solidFill>
              <a:effectLst/>
              <a:uLnTx/>
              <a:uFillTx/>
              <a:latin typeface="Arial"/>
              <a:ea typeface="+mn-ea"/>
              <a:cs typeface="Arial"/>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ts val="1885"/>
              </a:lnSpc>
              <a:spcBef>
                <a:spcPts val="0"/>
              </a:spcBef>
              <a:spcAft>
                <a:spcPts val="0"/>
              </a:spcAft>
              <a:buClrTx/>
              <a:buSzTx/>
              <a:buFontTx/>
              <a:buNone/>
              <a:tabLst/>
              <a:defRPr/>
            </a:pPr>
            <a:r>
              <a:rPr kumimoji="0" sz="1600" b="1" i="1" u="none" strike="noStrike" kern="1200" cap="none" spc="-5" normalizeH="0" baseline="0" noProof="0" dirty="0">
                <a:ln>
                  <a:noFill/>
                </a:ln>
                <a:solidFill>
                  <a:prstClr val="white"/>
                </a:solidFill>
                <a:effectLst/>
                <a:uLnTx/>
                <a:uFillTx/>
                <a:latin typeface="Georgia"/>
                <a:ea typeface="+mn-ea"/>
              </a:rPr>
              <a:t>InfoLab</a:t>
            </a: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38100" marR="0" lvl="0" indent="0" algn="l" defTabSz="914400" rtl="0" eaLnBrk="1" fontAlgn="auto" latinLnBrk="0" hangingPunct="1">
              <a:lnSpc>
                <a:spcPts val="1460"/>
              </a:lnSpc>
              <a:spcBef>
                <a:spcPts val="0"/>
              </a:spcBef>
              <a:spcAft>
                <a:spcPts val="0"/>
              </a:spcAft>
              <a:buClrTx/>
              <a:buSzTx/>
              <a:buFontTx/>
              <a:buNone/>
              <a:tabLst/>
              <a:defRPr/>
            </a:pPr>
            <a:fld id="{81D60167-4931-47E6-BA6A-407CBD079E47}" type="slidenum">
              <a:rPr kumimoji="0" sz="1400" b="1" i="0" u="none" strike="noStrike" kern="1200" cap="none" spc="0" normalizeH="0" baseline="0" noProof="0" dirty="0">
                <a:ln>
                  <a:noFill/>
                </a:ln>
                <a:solidFill>
                  <a:prstClr val="white"/>
                </a:solidFill>
                <a:effectLst/>
                <a:uLnTx/>
                <a:uFillTx/>
                <a:latin typeface="Arial"/>
                <a:ea typeface="+mn-ea"/>
                <a:cs typeface="Arial"/>
              </a:rPr>
              <a:pPr marL="38100" marR="0" lvl="0" indent="0" algn="l" defTabSz="914400" rtl="0" eaLnBrk="1" fontAlgn="auto" latinLnBrk="0" hangingPunct="1">
                <a:lnSpc>
                  <a:spcPts val="1460"/>
                </a:lnSpc>
                <a:spcBef>
                  <a:spcPts val="0"/>
                </a:spcBef>
                <a:spcAft>
                  <a:spcPts val="0"/>
                </a:spcAft>
                <a:buClrTx/>
                <a:buSzTx/>
                <a:buFontTx/>
                <a:buNone/>
                <a:tabLst/>
                <a:defRPr/>
              </a:pPr>
              <a:t>48</a:t>
            </a:fld>
            <a:endParaRPr kumimoji="0" sz="1400" b="1" i="0" u="none" strike="noStrike" kern="1200" cap="none" spc="0" normalizeH="0" baseline="0" noProof="0" dirty="0">
              <a:ln>
                <a:noFill/>
              </a:ln>
              <a:solidFill>
                <a:prstClr val="white"/>
              </a:solidFill>
              <a:effectLst/>
              <a:uLnTx/>
              <a:uFillTx/>
              <a:latin typeface="Arial"/>
              <a:ea typeface="+mn-ea"/>
              <a:cs typeface="Arial"/>
            </a:endParaRPr>
          </a:p>
        </p:txBody>
      </p:sp>
    </p:spTree>
    <p:extLst>
      <p:ext uri="{BB962C8B-B14F-4D97-AF65-F5344CB8AC3E}">
        <p14:creationId xmlns:p14="http://schemas.microsoft.com/office/powerpoint/2010/main" val="2030038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0B80-A261-4601-A54C-7936720428EF}"/>
              </a:ext>
            </a:extLst>
          </p:cNvPr>
          <p:cNvSpPr>
            <a:spLocks noGrp="1"/>
          </p:cNvSpPr>
          <p:nvPr>
            <p:ph type="title"/>
          </p:nvPr>
        </p:nvSpPr>
        <p:spPr/>
        <p:txBody>
          <a:bodyPr/>
          <a:lstStyle/>
          <a:p>
            <a:r>
              <a:rPr lang="en-US" dirty="0"/>
              <a:t>Regularized Autoencoder</a:t>
            </a:r>
            <a:endParaRPr lang="en-IN" dirty="0"/>
          </a:p>
        </p:txBody>
      </p:sp>
      <p:sp>
        <p:nvSpPr>
          <p:cNvPr id="3" name="Content Placeholder 2">
            <a:extLst>
              <a:ext uri="{FF2B5EF4-FFF2-40B4-BE49-F238E27FC236}">
                <a16:creationId xmlns:a16="http://schemas.microsoft.com/office/drawing/2014/main" id="{F7E07910-F4F7-46A8-B675-BB3403176A48}"/>
              </a:ext>
            </a:extLst>
          </p:cNvPr>
          <p:cNvSpPr>
            <a:spLocks noGrp="1"/>
          </p:cNvSpPr>
          <p:nvPr>
            <p:ph idx="1"/>
          </p:nvPr>
        </p:nvSpPr>
        <p:spPr>
          <a:xfrm>
            <a:off x="1117601" y="2362201"/>
            <a:ext cx="10962215" cy="3879849"/>
          </a:xfrm>
          <a:ln>
            <a:solidFill>
              <a:srgbClr val="000000"/>
            </a:solidFill>
          </a:ln>
        </p:spPr>
        <p:txBody>
          <a:bodyPr/>
          <a:lstStyle/>
          <a:p>
            <a:pPr algn="just">
              <a:lnSpc>
                <a:spcPct val="150000"/>
              </a:lnSpc>
            </a:pPr>
            <a:r>
              <a:rPr lang="en-US" sz="1600" b="1" dirty="0">
                <a:solidFill>
                  <a:schemeClr val="tx1">
                    <a:lumMod val="75000"/>
                  </a:schemeClr>
                </a:solidFill>
                <a:ea typeface="+mn-ea"/>
              </a:rPr>
              <a:t>Overcomplete autoencoder</a:t>
            </a:r>
            <a:r>
              <a:rPr lang="en-US" sz="1600" dirty="0">
                <a:solidFill>
                  <a:schemeClr val="tx1">
                    <a:lumMod val="75000"/>
                  </a:schemeClr>
                </a:solidFill>
                <a:ea typeface="+mn-ea"/>
              </a:rPr>
              <a:t>: coding dimension is </a:t>
            </a:r>
            <a:r>
              <a:rPr lang="en-US" sz="1600" b="1" dirty="0">
                <a:solidFill>
                  <a:srgbClr val="FF0000"/>
                </a:solidFill>
                <a:ea typeface="+mn-ea"/>
              </a:rPr>
              <a:t>equal to</a:t>
            </a:r>
            <a:r>
              <a:rPr lang="en-US" sz="1600" dirty="0">
                <a:solidFill>
                  <a:srgbClr val="FF0000"/>
                </a:solidFill>
                <a:ea typeface="+mn-ea"/>
              </a:rPr>
              <a:t> or </a:t>
            </a:r>
            <a:r>
              <a:rPr lang="en-US" sz="1600" b="1" dirty="0">
                <a:solidFill>
                  <a:srgbClr val="FF0000"/>
                </a:solidFill>
                <a:ea typeface="+mn-ea"/>
              </a:rPr>
              <a:t>higher than </a:t>
            </a:r>
            <a:r>
              <a:rPr lang="en-US" sz="1600" dirty="0">
                <a:solidFill>
                  <a:srgbClr val="FF0000"/>
                </a:solidFill>
                <a:ea typeface="+mn-ea"/>
              </a:rPr>
              <a:t>the </a:t>
            </a:r>
            <a:r>
              <a:rPr lang="en-US" sz="1600" b="1" dirty="0">
                <a:solidFill>
                  <a:srgbClr val="FF0000"/>
                </a:solidFill>
                <a:ea typeface="+mn-ea"/>
              </a:rPr>
              <a:t>input dimension</a:t>
            </a:r>
            <a:r>
              <a:rPr lang="en-US" sz="1600" dirty="0">
                <a:solidFill>
                  <a:srgbClr val="FF0000"/>
                </a:solidFill>
                <a:ea typeface="+mn-ea"/>
              </a:rPr>
              <a:t>. But this again raises the </a:t>
            </a:r>
            <a:r>
              <a:rPr lang="en-US" sz="1600" b="1" dirty="0">
                <a:solidFill>
                  <a:srgbClr val="FF0000"/>
                </a:solidFill>
                <a:ea typeface="+mn-ea"/>
              </a:rPr>
              <a:t>issue of the model not learning any useful features and simply copying the input.</a:t>
            </a:r>
          </a:p>
          <a:p>
            <a:pPr algn="just">
              <a:lnSpc>
                <a:spcPct val="150000"/>
              </a:lnSpc>
            </a:pPr>
            <a:r>
              <a:rPr lang="en-US" sz="1600" dirty="0">
                <a:solidFill>
                  <a:srgbClr val="FF0000"/>
                </a:solidFill>
                <a:ea typeface="+mn-ea"/>
              </a:rPr>
              <a:t>One </a:t>
            </a:r>
            <a:r>
              <a:rPr lang="en-US" sz="1600" b="1" dirty="0">
                <a:solidFill>
                  <a:srgbClr val="FF0000"/>
                </a:solidFill>
                <a:ea typeface="+mn-ea"/>
              </a:rPr>
              <a:t>solution</a:t>
            </a:r>
            <a:r>
              <a:rPr lang="en-US" sz="1600" dirty="0">
                <a:solidFill>
                  <a:srgbClr val="FF0000"/>
                </a:solidFill>
                <a:ea typeface="+mn-ea"/>
              </a:rPr>
              <a:t> to the above problem is the use of </a:t>
            </a:r>
            <a:r>
              <a:rPr lang="en-US" sz="1600" b="1" dirty="0">
                <a:solidFill>
                  <a:srgbClr val="FF0000"/>
                </a:solidFill>
                <a:ea typeface="+mn-ea"/>
              </a:rPr>
              <a:t>Regularized autoencoder</a:t>
            </a:r>
            <a:r>
              <a:rPr lang="en-US" sz="1600" dirty="0">
                <a:solidFill>
                  <a:schemeClr val="tx1">
                    <a:lumMod val="75000"/>
                  </a:schemeClr>
                </a:solidFill>
                <a:ea typeface="+mn-ea"/>
              </a:rPr>
              <a:t>. </a:t>
            </a:r>
          </a:p>
          <a:p>
            <a:pPr marL="342900" marR="0" lvl="0" indent="-342900" algn="just"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r>
              <a:rPr kumimoji="1" lang="en-US" sz="1600" b="1" i="0" u="none" strike="noStrike" kern="1200" cap="none" spc="0" normalizeH="0" baseline="0" noProof="0" dirty="0">
                <a:ln>
                  <a:noFill/>
                </a:ln>
                <a:solidFill>
                  <a:schemeClr val="tx1">
                    <a:lumMod val="75000"/>
                  </a:schemeClr>
                </a:solidFill>
                <a:effectLst/>
                <a:uLnTx/>
                <a:uFillTx/>
                <a:latin typeface="Arial"/>
                <a:ea typeface="新細明體"/>
                <a:cs typeface="+mn-cs"/>
              </a:rPr>
              <a:t>When training a regularized autoencoder we need not make it undercomplete. We can choose the coding dimension and the capacity for the encoder and decoder according to the task at hand.</a:t>
            </a:r>
          </a:p>
          <a:p>
            <a:pPr algn="just">
              <a:lnSpc>
                <a:spcPct val="150000"/>
              </a:lnSpc>
            </a:pPr>
            <a:r>
              <a:rPr kumimoji="1" lang="en-US" sz="1800" b="0" i="0" u="none" strike="noStrike" kern="1200" cap="none" spc="0" normalizeH="0" baseline="0" noProof="0" dirty="0">
                <a:ln>
                  <a:noFill/>
                </a:ln>
                <a:solidFill>
                  <a:schemeClr val="tx1">
                    <a:lumMod val="75000"/>
                  </a:schemeClr>
                </a:solidFill>
                <a:effectLst/>
                <a:uLnTx/>
                <a:uFillTx/>
                <a:latin typeface="SFRM1095"/>
                <a:ea typeface="PMingLiU" panose="02020500000000000000" pitchFamily="18" charset="-120"/>
                <a:cs typeface="+mn-cs"/>
              </a:rPr>
              <a:t>A </a:t>
            </a:r>
            <a:r>
              <a:rPr kumimoji="1" lang="en-US" sz="1800" b="1" i="0" u="none" strike="noStrike" kern="1200" cap="none" spc="0" normalizeH="0" baseline="0" noProof="0" dirty="0">
                <a:ln>
                  <a:noFill/>
                </a:ln>
                <a:solidFill>
                  <a:schemeClr val="tx1">
                    <a:lumMod val="75000"/>
                  </a:schemeClr>
                </a:solidFill>
                <a:effectLst/>
                <a:uLnTx/>
                <a:uFillTx/>
                <a:latin typeface="SFRM1095"/>
                <a:ea typeface="PMingLiU" panose="02020500000000000000" pitchFamily="18" charset="-120"/>
                <a:cs typeface="+mn-cs"/>
              </a:rPr>
              <a:t>regularized autoencoder can be nonlinear and overcomplete but still learn something useful about the data distribution.</a:t>
            </a:r>
            <a:endParaRPr lang="en-US" sz="1600" b="1" dirty="0">
              <a:solidFill>
                <a:schemeClr val="tx1">
                  <a:lumMod val="75000"/>
                </a:schemeClr>
              </a:solidFill>
              <a:ea typeface="+mn-ea"/>
            </a:endParaRPr>
          </a:p>
          <a:p>
            <a:pPr algn="just">
              <a:lnSpc>
                <a:spcPct val="150000"/>
              </a:lnSpc>
            </a:pPr>
            <a:r>
              <a:rPr lang="en-US" sz="1600" b="1" dirty="0">
                <a:solidFill>
                  <a:srgbClr val="FF0000"/>
                </a:solidFill>
                <a:ea typeface="+mn-ea"/>
              </a:rPr>
              <a:t>To properly train</a:t>
            </a:r>
            <a:r>
              <a:rPr lang="en-US" sz="1600" dirty="0">
                <a:solidFill>
                  <a:srgbClr val="FF0000"/>
                </a:solidFill>
                <a:ea typeface="+mn-ea"/>
              </a:rPr>
              <a:t> </a:t>
            </a:r>
            <a:r>
              <a:rPr lang="en-US" sz="1600" dirty="0">
                <a:solidFill>
                  <a:schemeClr val="tx1">
                    <a:lumMod val="75000"/>
                  </a:schemeClr>
                </a:solidFill>
                <a:ea typeface="+mn-ea"/>
              </a:rPr>
              <a:t>a Regularized autoencoder, we </a:t>
            </a:r>
            <a:r>
              <a:rPr lang="en-US" sz="1600" b="1" dirty="0">
                <a:solidFill>
                  <a:srgbClr val="FF0000"/>
                </a:solidFill>
                <a:ea typeface="+mn-ea"/>
              </a:rPr>
              <a:t>choose loss functions </a:t>
            </a:r>
            <a:r>
              <a:rPr lang="en-US" sz="1600" dirty="0">
                <a:solidFill>
                  <a:schemeClr val="tx1">
                    <a:lumMod val="75000"/>
                  </a:schemeClr>
                </a:solidFill>
                <a:ea typeface="+mn-ea"/>
              </a:rPr>
              <a:t>that </a:t>
            </a:r>
            <a:r>
              <a:rPr lang="en-US" sz="1600" b="1" dirty="0">
                <a:solidFill>
                  <a:srgbClr val="FF0000"/>
                </a:solidFill>
                <a:ea typeface="+mn-ea"/>
              </a:rPr>
              <a:t>help the model to learn better and capture all the essential features of the input data. </a:t>
            </a:r>
          </a:p>
          <a:p>
            <a:pPr algn="just">
              <a:lnSpc>
                <a:spcPct val="150000"/>
              </a:lnSpc>
            </a:pPr>
            <a:endParaRPr lang="en-US" sz="1600" dirty="0">
              <a:solidFill>
                <a:srgbClr val="23373B"/>
              </a:solidFill>
              <a:ea typeface="+mn-ea"/>
            </a:endParaRPr>
          </a:p>
          <a:p>
            <a:pPr algn="just">
              <a:lnSpc>
                <a:spcPct val="150000"/>
              </a:lnSpc>
            </a:pPr>
            <a:endParaRPr lang="en-US" sz="1600" dirty="0">
              <a:solidFill>
                <a:srgbClr val="23373B"/>
              </a:solidFill>
              <a:ea typeface="+mn-ea"/>
            </a:endParaRPr>
          </a:p>
          <a:p>
            <a:pPr marL="0" indent="0" algn="just">
              <a:lnSpc>
                <a:spcPct val="150000"/>
              </a:lnSpc>
              <a:buNone/>
            </a:pPr>
            <a:endParaRPr lang="en-US" sz="1600" b="1" dirty="0">
              <a:solidFill>
                <a:srgbClr val="23373B"/>
              </a:solidFill>
              <a:ea typeface="+mn-ea"/>
            </a:endParaRPr>
          </a:p>
          <a:p>
            <a:pPr marL="0" indent="0" algn="just">
              <a:lnSpc>
                <a:spcPct val="150000"/>
              </a:lnSpc>
              <a:buNone/>
            </a:pPr>
            <a:r>
              <a:rPr lang="en-US" sz="1600" b="1" dirty="0">
                <a:solidFill>
                  <a:srgbClr val="23373B"/>
                </a:solidFill>
                <a:ea typeface="+mn-ea"/>
              </a:rPr>
              <a:t>                                                             </a:t>
            </a:r>
            <a:endParaRPr lang="en-US" sz="1600" dirty="0">
              <a:solidFill>
                <a:srgbClr val="23373B"/>
              </a:solidFill>
              <a:ea typeface="+mn-ea"/>
            </a:endParaRPr>
          </a:p>
        </p:txBody>
      </p:sp>
      <p:sp>
        <p:nvSpPr>
          <p:cNvPr id="4" name="Slide Number Placeholder 3">
            <a:extLst>
              <a:ext uri="{FF2B5EF4-FFF2-40B4-BE49-F238E27FC236}">
                <a16:creationId xmlns:a16="http://schemas.microsoft.com/office/drawing/2014/main" id="{A552107F-5E24-4F2E-A351-94DF0AC23A5B}"/>
              </a:ext>
            </a:extLst>
          </p:cNvPr>
          <p:cNvSpPr>
            <a:spLocks noGrp="1"/>
          </p:cNvSpPr>
          <p:nvPr>
            <p:ph type="sldNum" sz="quarter" idx="12"/>
          </p:nvPr>
        </p:nvSpPr>
        <p:spPr/>
        <p:txBody>
          <a:bodyPr/>
          <a:lstStyle/>
          <a:p>
            <a:pPr>
              <a:defRPr/>
            </a:pPr>
            <a:fld id="{9AD681D7-8A59-4380-9311-10B86FF921AA}" type="slidenum">
              <a:rPr lang="en-US" altLang="zh-TW" smtClean="0"/>
              <a:pPr>
                <a:defRPr/>
              </a:pPr>
              <a:t>49</a:t>
            </a:fld>
            <a:endParaRPr lang="en-US" altLang="zh-TW"/>
          </a:p>
        </p:txBody>
      </p:sp>
    </p:spTree>
    <p:extLst>
      <p:ext uri="{BB962C8B-B14F-4D97-AF65-F5344CB8AC3E}">
        <p14:creationId xmlns:p14="http://schemas.microsoft.com/office/powerpoint/2010/main" val="822719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8A58F-13DB-465E-B0AE-313E2E1F0700}"/>
              </a:ext>
            </a:extLst>
          </p:cNvPr>
          <p:cNvSpPr>
            <a:spLocks noGrp="1"/>
          </p:cNvSpPr>
          <p:nvPr>
            <p:ph type="title"/>
          </p:nvPr>
        </p:nvSpPr>
        <p:spPr/>
        <p:txBody>
          <a:bodyPr/>
          <a:lstStyle/>
          <a:p>
            <a:r>
              <a:rPr lang="en-IN" dirty="0"/>
              <a:t>Regularised Autoencoder</a:t>
            </a:r>
          </a:p>
        </p:txBody>
      </p:sp>
      <p:sp>
        <p:nvSpPr>
          <p:cNvPr id="3" name="Content Placeholder 2">
            <a:extLst>
              <a:ext uri="{FF2B5EF4-FFF2-40B4-BE49-F238E27FC236}">
                <a16:creationId xmlns:a16="http://schemas.microsoft.com/office/drawing/2014/main" id="{A5EC7924-BFF1-40DF-8588-41B61310AC4D}"/>
              </a:ext>
            </a:extLst>
          </p:cNvPr>
          <p:cNvSpPr>
            <a:spLocks noGrp="1"/>
          </p:cNvSpPr>
          <p:nvPr>
            <p:ph idx="1"/>
          </p:nvPr>
        </p:nvSpPr>
        <p:spPr>
          <a:xfrm>
            <a:off x="1117602" y="2362201"/>
            <a:ext cx="10685192" cy="2679355"/>
          </a:xfrm>
          <a:ln>
            <a:solidFill>
              <a:srgbClr val="000000"/>
            </a:solidFill>
          </a:ln>
        </p:spPr>
        <p:txBody>
          <a:bodyPr/>
          <a:lstStyle/>
          <a:p>
            <a:pPr marL="342900" marR="0" lvl="0" indent="-342900"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r>
              <a:rPr lang="en-US" sz="1600" b="1" dirty="0">
                <a:solidFill>
                  <a:srgbClr val="002060"/>
                </a:solidFill>
                <a:latin typeface="Arial"/>
                <a:ea typeface="新細明體"/>
              </a:rPr>
              <a:t>Regularized autoencoders</a:t>
            </a:r>
            <a:r>
              <a:rPr lang="en-US" sz="1600" dirty="0">
                <a:solidFill>
                  <a:srgbClr val="002060"/>
                </a:solidFill>
                <a:latin typeface="Arial"/>
                <a:ea typeface="新細明體"/>
              </a:rPr>
              <a:t>: </a:t>
            </a:r>
            <a:r>
              <a:rPr lang="en-US" sz="1600" b="1" dirty="0">
                <a:solidFill>
                  <a:srgbClr val="002060"/>
                </a:solidFill>
                <a:latin typeface="Arial"/>
                <a:ea typeface="新細明體"/>
              </a:rPr>
              <a:t>add regularization term t</a:t>
            </a:r>
            <a:r>
              <a:rPr lang="en-US" sz="1600" dirty="0">
                <a:solidFill>
                  <a:srgbClr val="002060"/>
                </a:solidFill>
                <a:latin typeface="Arial"/>
                <a:ea typeface="新細明體"/>
              </a:rPr>
              <a:t>hat encourages the </a:t>
            </a:r>
            <a:r>
              <a:rPr lang="en-US" sz="1600" b="1" dirty="0">
                <a:solidFill>
                  <a:srgbClr val="002060"/>
                </a:solidFill>
                <a:latin typeface="Arial"/>
                <a:ea typeface="新細明體"/>
              </a:rPr>
              <a:t>model to have other properties</a:t>
            </a:r>
            <a:br>
              <a:rPr lang="en-US" sz="1600" dirty="0">
                <a:solidFill>
                  <a:srgbClr val="002060"/>
                </a:solidFill>
                <a:latin typeface="Arial"/>
                <a:ea typeface="新細明體"/>
              </a:rPr>
            </a:br>
            <a:r>
              <a:rPr lang="en-US" sz="1600" dirty="0">
                <a:solidFill>
                  <a:srgbClr val="002060"/>
                </a:solidFill>
                <a:latin typeface="Arial"/>
                <a:ea typeface="新細明體"/>
              </a:rPr>
              <a:t>• </a:t>
            </a:r>
            <a:r>
              <a:rPr lang="en-US" sz="1600" b="1" dirty="0">
                <a:solidFill>
                  <a:srgbClr val="002060"/>
                </a:solidFill>
                <a:latin typeface="Arial"/>
                <a:ea typeface="新細明體"/>
              </a:rPr>
              <a:t>Sparsity of the representation (sparse autoencoder)</a:t>
            </a:r>
            <a:br>
              <a:rPr lang="en-US" sz="1600" b="1" dirty="0">
                <a:solidFill>
                  <a:srgbClr val="002060"/>
                </a:solidFill>
                <a:latin typeface="Arial"/>
                <a:ea typeface="新細明體"/>
              </a:rPr>
            </a:br>
            <a:r>
              <a:rPr lang="en-US" sz="1600" dirty="0">
                <a:solidFill>
                  <a:srgbClr val="002060"/>
                </a:solidFill>
                <a:latin typeface="Arial"/>
                <a:ea typeface="新細明體"/>
              </a:rPr>
              <a:t>• </a:t>
            </a:r>
            <a:r>
              <a:rPr lang="en-US" sz="1600" b="1" dirty="0">
                <a:solidFill>
                  <a:srgbClr val="002060"/>
                </a:solidFill>
                <a:latin typeface="Arial"/>
                <a:ea typeface="新細明體"/>
              </a:rPr>
              <a:t>Robustness to noise or to missing inputs (denoising autoencoder)</a:t>
            </a:r>
          </a:p>
          <a:p>
            <a:pPr marL="342900" marR="0" lvl="0" indent="-342900"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tab pos="5289550" algn="l"/>
                <a:tab pos="5387975" algn="l"/>
              </a:tabLst>
              <a:defRPr/>
            </a:pPr>
            <a:r>
              <a:rPr lang="en-US" sz="1600" dirty="0">
                <a:solidFill>
                  <a:srgbClr val="002060"/>
                </a:solidFill>
                <a:latin typeface="Arial"/>
                <a:ea typeface="新細明體"/>
              </a:rPr>
              <a:t>Therefore </a:t>
            </a:r>
            <a:r>
              <a:rPr lang="en-US" sz="1600" b="1" dirty="0">
                <a:solidFill>
                  <a:srgbClr val="002060"/>
                </a:solidFill>
                <a:latin typeface="Arial"/>
                <a:ea typeface="新細明體"/>
              </a:rPr>
              <a:t>Three types </a:t>
            </a:r>
            <a:r>
              <a:rPr lang="en-US" sz="1600" dirty="0">
                <a:solidFill>
                  <a:srgbClr val="002060"/>
                </a:solidFill>
                <a:latin typeface="Arial"/>
                <a:ea typeface="新細明體"/>
              </a:rPr>
              <a:t>of </a:t>
            </a:r>
            <a:r>
              <a:rPr kumimoji="1" lang="en-US" sz="1600" b="1" i="0" u="none" strike="noStrike" kern="1200" cap="none" spc="0" normalizeH="0" baseline="0" noProof="0" dirty="0">
                <a:ln>
                  <a:noFill/>
                </a:ln>
                <a:solidFill>
                  <a:srgbClr val="002060"/>
                </a:solidFill>
                <a:effectLst/>
                <a:uLnTx/>
                <a:uFillTx/>
                <a:latin typeface="Arial"/>
                <a:ea typeface="新細明體"/>
                <a:cs typeface="+mn-cs"/>
              </a:rPr>
              <a:t>Regularized autoencoder:   1. </a:t>
            </a:r>
            <a:r>
              <a:rPr kumimoji="1" lang="en-US" sz="1600" b="1" i="0" u="none" strike="noStrike" kern="1200" cap="none" spc="0" normalizeH="0" baseline="0" noProof="0" dirty="0">
                <a:ln>
                  <a:noFill/>
                </a:ln>
                <a:solidFill>
                  <a:srgbClr val="FF0000"/>
                </a:solidFill>
                <a:effectLst/>
                <a:uLnTx/>
                <a:uFillTx/>
                <a:latin typeface="Arial"/>
                <a:ea typeface="新細明體"/>
                <a:cs typeface="+mn-cs"/>
              </a:rPr>
              <a:t>Sparse Autoencoder</a:t>
            </a:r>
          </a:p>
          <a:p>
            <a:pPr marL="0" marR="0" lvl="0" indent="0" algn="just"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None/>
              <a:tabLst>
                <a:tab pos="5289550" algn="l"/>
                <a:tab pos="5387975" algn="l"/>
              </a:tabLst>
              <a:defRPr/>
            </a:pPr>
            <a:r>
              <a:rPr kumimoji="1" lang="en-US" sz="1600" b="1" i="0" u="none" strike="noStrike" kern="1200" cap="none" spc="0" normalizeH="0" baseline="0" noProof="0" dirty="0">
                <a:ln>
                  <a:noFill/>
                </a:ln>
                <a:solidFill>
                  <a:srgbClr val="002060"/>
                </a:solidFill>
                <a:effectLst/>
                <a:uLnTx/>
                <a:uFillTx/>
                <a:latin typeface="Arial"/>
                <a:ea typeface="新細明體"/>
                <a:cs typeface="+mn-cs"/>
              </a:rPr>
              <a:t>                                                                                               2. </a:t>
            </a:r>
            <a:r>
              <a:rPr kumimoji="1" lang="en-US" sz="1600" b="1" i="0" u="none" strike="noStrike" kern="1200" cap="none" spc="0" normalizeH="0" baseline="0" noProof="0" dirty="0">
                <a:ln>
                  <a:noFill/>
                </a:ln>
                <a:solidFill>
                  <a:srgbClr val="FF0000"/>
                </a:solidFill>
                <a:effectLst/>
                <a:uLnTx/>
                <a:uFillTx/>
                <a:latin typeface="Arial"/>
                <a:ea typeface="新細明體"/>
                <a:cs typeface="+mn-cs"/>
              </a:rPr>
              <a:t>Denoising Autoencoder</a:t>
            </a:r>
          </a:p>
          <a:p>
            <a:pPr marL="0" marR="0" lvl="0" indent="0" algn="just"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None/>
              <a:tabLst>
                <a:tab pos="5289550" algn="l"/>
                <a:tab pos="5387975" algn="l"/>
              </a:tabLst>
              <a:defRPr/>
            </a:pPr>
            <a:r>
              <a:rPr lang="en-US" sz="1600" b="1" dirty="0">
                <a:solidFill>
                  <a:srgbClr val="002060"/>
                </a:solidFill>
                <a:latin typeface="Arial"/>
                <a:ea typeface="新細明體"/>
              </a:rPr>
              <a:t>                                                                                               3. </a:t>
            </a:r>
            <a:r>
              <a:rPr lang="en-US" sz="1600" b="1" dirty="0">
                <a:solidFill>
                  <a:srgbClr val="FF0000"/>
                </a:solidFill>
                <a:latin typeface="Arial"/>
                <a:ea typeface="新細明體"/>
              </a:rPr>
              <a:t>Contractive Autoencoder</a:t>
            </a:r>
            <a:r>
              <a:rPr kumimoji="1" lang="en-US" sz="1600" b="1" i="0" u="none" strike="noStrike" kern="1200" cap="none" spc="0" normalizeH="0" baseline="0" noProof="0" dirty="0">
                <a:ln>
                  <a:noFill/>
                </a:ln>
                <a:solidFill>
                  <a:srgbClr val="FF0000"/>
                </a:solidFill>
                <a:effectLst/>
                <a:uLnTx/>
                <a:uFillTx/>
                <a:latin typeface="Arial"/>
                <a:ea typeface="新細明體"/>
                <a:cs typeface="+mn-cs"/>
              </a:rPr>
              <a:t>  </a:t>
            </a:r>
          </a:p>
          <a:p>
            <a:pPr marL="0" marR="0" lvl="0" indent="0" algn="just"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None/>
              <a:tabLst>
                <a:tab pos="5289550" algn="l"/>
                <a:tab pos="5387975" algn="l"/>
              </a:tabLst>
              <a:defRPr/>
            </a:pPr>
            <a:endParaRPr kumimoji="1" lang="en-US" sz="1600" b="1" i="0" u="none" strike="noStrike" kern="1200" cap="none" spc="0" normalizeH="0" baseline="0" noProof="0" dirty="0">
              <a:ln>
                <a:noFill/>
              </a:ln>
              <a:solidFill>
                <a:srgbClr val="002060"/>
              </a:solidFill>
              <a:effectLst/>
              <a:uLnTx/>
              <a:uFillTx/>
              <a:latin typeface="Arial"/>
              <a:ea typeface="新細明體"/>
              <a:cs typeface="+mn-cs"/>
            </a:endParaRPr>
          </a:p>
          <a:p>
            <a:endParaRPr lang="en-US" sz="1800" b="0" i="0" dirty="0">
              <a:solidFill>
                <a:srgbClr val="002060"/>
              </a:solidFill>
              <a:effectLst/>
              <a:latin typeface="SFRM1095"/>
            </a:endParaRPr>
          </a:p>
          <a:p>
            <a:endParaRPr lang="en-US" sz="1800" dirty="0">
              <a:solidFill>
                <a:srgbClr val="002060"/>
              </a:solidFill>
              <a:latin typeface="SFRM1095"/>
            </a:endParaRPr>
          </a:p>
          <a:p>
            <a:endParaRPr lang="en-US" sz="1800" b="0" i="0" dirty="0">
              <a:solidFill>
                <a:srgbClr val="002060"/>
              </a:solidFill>
              <a:effectLst/>
              <a:latin typeface="SFRM1095"/>
            </a:endParaRPr>
          </a:p>
        </p:txBody>
      </p:sp>
      <p:sp>
        <p:nvSpPr>
          <p:cNvPr id="4" name="Slide Number Placeholder 3">
            <a:extLst>
              <a:ext uri="{FF2B5EF4-FFF2-40B4-BE49-F238E27FC236}">
                <a16:creationId xmlns:a16="http://schemas.microsoft.com/office/drawing/2014/main" id="{827A456D-0437-4B46-9CA3-27940928D818}"/>
              </a:ext>
            </a:extLst>
          </p:cNvPr>
          <p:cNvSpPr>
            <a:spLocks noGrp="1"/>
          </p:cNvSpPr>
          <p:nvPr>
            <p:ph type="sldNum" sz="quarter" idx="12"/>
          </p:nvPr>
        </p:nvSpPr>
        <p:spPr/>
        <p:txBody>
          <a:bodyPr/>
          <a:lstStyle/>
          <a:p>
            <a:pPr>
              <a:defRPr/>
            </a:pPr>
            <a:fld id="{9AD681D7-8A59-4380-9311-10B86FF921AA}" type="slidenum">
              <a:rPr lang="en-US" altLang="zh-TW" smtClean="0"/>
              <a:pPr>
                <a:defRPr/>
              </a:pPr>
              <a:t>50</a:t>
            </a:fld>
            <a:endParaRPr lang="en-US" altLang="zh-TW"/>
          </a:p>
        </p:txBody>
      </p:sp>
    </p:spTree>
    <p:extLst>
      <p:ext uri="{BB962C8B-B14F-4D97-AF65-F5344CB8AC3E}">
        <p14:creationId xmlns:p14="http://schemas.microsoft.com/office/powerpoint/2010/main" val="38354359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3303E-992F-A266-7D29-87AE0CE9DDDA}"/>
              </a:ext>
            </a:extLst>
          </p:cNvPr>
          <p:cNvSpPr>
            <a:spLocks noGrp="1"/>
          </p:cNvSpPr>
          <p:nvPr>
            <p:ph idx="1"/>
          </p:nvPr>
        </p:nvSpPr>
        <p:spPr>
          <a:xfrm>
            <a:off x="1117602" y="2250832"/>
            <a:ext cx="10962214" cy="4599613"/>
          </a:xfrm>
          <a:ln>
            <a:solidFill>
              <a:srgbClr val="000000"/>
            </a:solidFill>
          </a:ln>
        </p:spPr>
        <p:txBody>
          <a:bodyPr/>
          <a:lstStyle/>
          <a:p>
            <a:pPr marL="182563" indent="-182563">
              <a:spcBef>
                <a:spcPts val="600"/>
              </a:spcBef>
              <a:spcAft>
                <a:spcPts val="600"/>
              </a:spcAft>
              <a:tabLst>
                <a:tab pos="182563" algn="l"/>
              </a:tabLst>
            </a:pPr>
            <a:r>
              <a:rPr lang="en-US" sz="1800" dirty="0"/>
              <a:t>Silent features of data can be learnt even if no of hidden nodes are more than or equal to no of inputs.</a:t>
            </a:r>
          </a:p>
          <a:p>
            <a:pPr marL="182563" indent="-182563">
              <a:spcBef>
                <a:spcPts val="600"/>
              </a:spcBef>
              <a:spcAft>
                <a:spcPts val="600"/>
              </a:spcAft>
              <a:tabLst>
                <a:tab pos="182563" algn="l"/>
              </a:tabLst>
            </a:pPr>
            <a:r>
              <a:rPr lang="en-US" sz="1800" dirty="0"/>
              <a:t>Its </a:t>
            </a:r>
            <a:r>
              <a:rPr lang="en-US" sz="1800" b="1" dirty="0"/>
              <a:t>do</a:t>
            </a:r>
            <a:r>
              <a:rPr lang="en-US" sz="1800" dirty="0"/>
              <a:t>ne by </a:t>
            </a:r>
            <a:r>
              <a:rPr lang="en-US" sz="1800" b="1" dirty="0"/>
              <a:t>imposing constraint </a:t>
            </a:r>
            <a:r>
              <a:rPr lang="en-US" sz="1800" dirty="0"/>
              <a:t>known as </a:t>
            </a:r>
            <a:r>
              <a:rPr lang="en-US" sz="1800" b="1" dirty="0"/>
              <a:t>sparsity constraint on hidden layer nodes </a:t>
            </a:r>
            <a:r>
              <a:rPr lang="en-US" sz="1800" dirty="0"/>
              <a:t>which will allow </a:t>
            </a:r>
            <a:r>
              <a:rPr lang="en-US" sz="1800" b="1" dirty="0"/>
              <a:t>only few nodes of network to be active at any given time.</a:t>
            </a:r>
          </a:p>
          <a:p>
            <a:pPr marL="182563" indent="-182563">
              <a:spcBef>
                <a:spcPts val="600"/>
              </a:spcBef>
              <a:spcAft>
                <a:spcPts val="600"/>
              </a:spcAft>
              <a:tabLst>
                <a:tab pos="182563" algn="l"/>
              </a:tabLst>
            </a:pPr>
            <a:r>
              <a:rPr lang="en-US" sz="1800" dirty="0"/>
              <a:t>Autoencoder </a:t>
            </a:r>
            <a:r>
              <a:rPr lang="en-US" sz="1800" b="1" dirty="0"/>
              <a:t>learns encoding and decoding </a:t>
            </a:r>
            <a:r>
              <a:rPr lang="en-US" sz="1800" dirty="0"/>
              <a:t>of data </a:t>
            </a:r>
            <a:r>
              <a:rPr lang="en-US" sz="1800" b="1" dirty="0"/>
              <a:t>using small no of hidden nodes</a:t>
            </a:r>
            <a:r>
              <a:rPr lang="en-US" sz="1800" dirty="0"/>
              <a:t>.</a:t>
            </a:r>
          </a:p>
          <a:p>
            <a:pPr marL="182563" indent="-182563">
              <a:spcBef>
                <a:spcPts val="600"/>
              </a:spcBef>
              <a:spcAft>
                <a:spcPts val="600"/>
              </a:spcAft>
              <a:tabLst>
                <a:tab pos="182563" algn="l"/>
              </a:tabLst>
            </a:pPr>
            <a:r>
              <a:rPr lang="en-US" sz="1800" b="1" dirty="0"/>
              <a:t>Activating few neurons </a:t>
            </a:r>
            <a:r>
              <a:rPr lang="en-US" sz="1800" dirty="0"/>
              <a:t>in hidden layer  </a:t>
            </a:r>
            <a:r>
              <a:rPr lang="en-US" sz="1800" dirty="0" err="1"/>
              <a:t>i.e</a:t>
            </a:r>
            <a:r>
              <a:rPr lang="en-US" sz="1800" dirty="0"/>
              <a:t> property of </a:t>
            </a:r>
            <a:r>
              <a:rPr lang="en-US" sz="1800" b="1" dirty="0"/>
              <a:t>sparsity of network </a:t>
            </a:r>
            <a:r>
              <a:rPr lang="en-US" sz="1800" dirty="0"/>
              <a:t>is </a:t>
            </a:r>
            <a:r>
              <a:rPr lang="en-US" sz="1800" b="1" dirty="0"/>
              <a:t>accomplished by </a:t>
            </a:r>
            <a:r>
              <a:rPr lang="en-US" sz="1800" dirty="0"/>
              <a:t>introducing </a:t>
            </a:r>
            <a:r>
              <a:rPr lang="en-US" sz="1800" b="1" dirty="0"/>
              <a:t>Regularization term in loss function</a:t>
            </a:r>
            <a:r>
              <a:rPr lang="en-US" sz="1800" dirty="0"/>
              <a:t>.</a:t>
            </a:r>
          </a:p>
          <a:p>
            <a:pPr marL="182563" indent="-182563">
              <a:spcBef>
                <a:spcPts val="600"/>
              </a:spcBef>
              <a:spcAft>
                <a:spcPts val="600"/>
              </a:spcAft>
              <a:tabLst>
                <a:tab pos="182563" algn="l"/>
              </a:tabLst>
            </a:pPr>
            <a:r>
              <a:rPr lang="en-US" sz="1800" dirty="0"/>
              <a:t>Assume </a:t>
            </a:r>
            <a:r>
              <a:rPr lang="en-US" sz="1800" b="1" dirty="0"/>
              <a:t>unipolar sigmoid (Nonlinear) activation </a:t>
            </a:r>
          </a:p>
          <a:p>
            <a:pPr marL="0" indent="0">
              <a:spcBef>
                <a:spcPts val="600"/>
              </a:spcBef>
              <a:spcAft>
                <a:spcPts val="600"/>
              </a:spcAft>
              <a:buNone/>
              <a:tabLst>
                <a:tab pos="182563" algn="l"/>
              </a:tabLst>
            </a:pPr>
            <a:r>
              <a:rPr lang="en-US" sz="1800" b="1" dirty="0"/>
              <a:t>   function.</a:t>
            </a:r>
          </a:p>
          <a:p>
            <a:pPr marL="0" indent="0">
              <a:spcBef>
                <a:spcPts val="600"/>
              </a:spcBef>
              <a:spcAft>
                <a:spcPts val="600"/>
              </a:spcAft>
              <a:buNone/>
            </a:pPr>
            <a:r>
              <a:rPr lang="en-US" sz="1600" dirty="0"/>
              <a:t>   If Xi= </a:t>
            </a:r>
            <a:r>
              <a:rPr lang="en-US" sz="1600" dirty="0" err="1"/>
              <a:t>ith</a:t>
            </a:r>
            <a:r>
              <a:rPr lang="en-US" sz="1600" dirty="0"/>
              <a:t> input vector and there are m no of such vectors</a:t>
            </a:r>
          </a:p>
          <a:p>
            <a:pPr marL="0" indent="0">
              <a:spcBef>
                <a:spcPts val="600"/>
              </a:spcBef>
              <a:spcAft>
                <a:spcPts val="600"/>
              </a:spcAft>
              <a:buNone/>
            </a:pPr>
            <a:r>
              <a:rPr lang="en-US" sz="1600" dirty="0"/>
              <a:t>   Then avg activation for node j is given as …….. </a:t>
            </a:r>
          </a:p>
          <a:p>
            <a:pPr marL="0" indent="0">
              <a:spcBef>
                <a:spcPts val="600"/>
              </a:spcBef>
              <a:spcAft>
                <a:spcPts val="600"/>
              </a:spcAft>
              <a:buNone/>
            </a:pPr>
            <a:r>
              <a:rPr lang="en-US" sz="1600" dirty="0"/>
              <a:t>   Using this constraint its possible to introduce a regularization</a:t>
            </a:r>
          </a:p>
          <a:p>
            <a:pPr marL="0" indent="0">
              <a:spcBef>
                <a:spcPts val="600"/>
              </a:spcBef>
              <a:spcAft>
                <a:spcPts val="600"/>
              </a:spcAft>
              <a:buNone/>
            </a:pPr>
            <a:r>
              <a:rPr lang="en-US" sz="1600" dirty="0"/>
              <a:t>     term. </a:t>
            </a:r>
            <a:r>
              <a:rPr lang="en-US" sz="1200" b="1" dirty="0"/>
              <a:t>Constraint: Avg activation function of node j = sparsity parameter</a:t>
            </a:r>
          </a:p>
          <a:p>
            <a:endParaRPr lang="en-US" sz="1800" dirty="0"/>
          </a:p>
          <a:p>
            <a:endParaRPr lang="en-US" sz="1800" dirty="0"/>
          </a:p>
        </p:txBody>
      </p:sp>
      <p:sp>
        <p:nvSpPr>
          <p:cNvPr id="4" name="Slide Number Placeholder 3">
            <a:extLst>
              <a:ext uri="{FF2B5EF4-FFF2-40B4-BE49-F238E27FC236}">
                <a16:creationId xmlns:a16="http://schemas.microsoft.com/office/drawing/2014/main" id="{C1F9CFDD-93F6-FF11-0BBE-4BD316DB6008}"/>
              </a:ext>
            </a:extLst>
          </p:cNvPr>
          <p:cNvSpPr>
            <a:spLocks noGrp="1"/>
          </p:cNvSpPr>
          <p:nvPr>
            <p:ph type="sldNum" sz="quarter" idx="12"/>
          </p:nvPr>
        </p:nvSpPr>
        <p:spPr/>
        <p:txBody>
          <a:bodyPr/>
          <a:lstStyle/>
          <a:p>
            <a:pPr>
              <a:defRPr/>
            </a:pPr>
            <a:fld id="{9AD681D7-8A59-4380-9311-10B86FF921AA}" type="slidenum">
              <a:rPr lang="en-US" altLang="zh-TW" smtClean="0"/>
              <a:pPr>
                <a:defRPr/>
              </a:pPr>
              <a:t>51</a:t>
            </a:fld>
            <a:endParaRPr lang="en-US" altLang="zh-TW"/>
          </a:p>
        </p:txBody>
      </p:sp>
      <p:sp>
        <p:nvSpPr>
          <p:cNvPr id="5" name="Title 1">
            <a:extLst>
              <a:ext uri="{FF2B5EF4-FFF2-40B4-BE49-F238E27FC236}">
                <a16:creationId xmlns:a16="http://schemas.microsoft.com/office/drawing/2014/main" id="{7B32578C-1216-5614-AFD7-F5FE5A0B39B6}"/>
              </a:ext>
            </a:extLst>
          </p:cNvPr>
          <p:cNvSpPr>
            <a:spLocks noGrp="1"/>
          </p:cNvSpPr>
          <p:nvPr>
            <p:ph type="title"/>
          </p:nvPr>
        </p:nvSpPr>
        <p:spPr>
          <a:xfrm>
            <a:off x="1016000" y="762000"/>
            <a:ext cx="10566400" cy="1143000"/>
          </a:xfrm>
        </p:spPr>
        <p:txBody>
          <a:bodyPr/>
          <a:lstStyle/>
          <a:p>
            <a:r>
              <a:rPr lang="en-IN" dirty="0"/>
              <a:t>Sparse Autoencoder </a:t>
            </a:r>
            <a:r>
              <a:rPr lang="en-IN" sz="2000" dirty="0"/>
              <a:t>(IIT Kharagpur.. Prof. Biswas)</a:t>
            </a:r>
          </a:p>
        </p:txBody>
      </p:sp>
      <p:pic>
        <p:nvPicPr>
          <p:cNvPr id="6" name="Picture 5">
            <a:extLst>
              <a:ext uri="{FF2B5EF4-FFF2-40B4-BE49-F238E27FC236}">
                <a16:creationId xmlns:a16="http://schemas.microsoft.com/office/drawing/2014/main" id="{9459B851-0F79-D742-0622-AFE7F85E172F}"/>
              </a:ext>
            </a:extLst>
          </p:cNvPr>
          <p:cNvPicPr>
            <a:picLocks noChangeAspect="1"/>
          </p:cNvPicPr>
          <p:nvPr/>
        </p:nvPicPr>
        <p:blipFill>
          <a:blip r:embed="rId2"/>
          <a:stretch>
            <a:fillRect/>
          </a:stretch>
        </p:blipFill>
        <p:spPr>
          <a:xfrm>
            <a:off x="6931880" y="4350496"/>
            <a:ext cx="5074105" cy="2497538"/>
          </a:xfrm>
          <a:prstGeom prst="rect">
            <a:avLst/>
          </a:prstGeom>
          <a:ln>
            <a:solidFill>
              <a:srgbClr val="000000"/>
            </a:solidFill>
          </a:ln>
        </p:spPr>
      </p:pic>
      <p:sp>
        <p:nvSpPr>
          <p:cNvPr id="7" name="TextBox 6">
            <a:extLst>
              <a:ext uri="{FF2B5EF4-FFF2-40B4-BE49-F238E27FC236}">
                <a16:creationId xmlns:a16="http://schemas.microsoft.com/office/drawing/2014/main" id="{6499DB37-D198-30EB-2503-AF8C0E3B8CC0}"/>
              </a:ext>
            </a:extLst>
          </p:cNvPr>
          <p:cNvSpPr txBox="1"/>
          <p:nvPr/>
        </p:nvSpPr>
        <p:spPr>
          <a:xfrm>
            <a:off x="9542763" y="4896914"/>
            <a:ext cx="1353623" cy="338554"/>
          </a:xfrm>
          <a:prstGeom prst="rect">
            <a:avLst/>
          </a:prstGeom>
          <a:noFill/>
        </p:spPr>
        <p:txBody>
          <a:bodyPr wrap="square" rtlCol="0">
            <a:spAutoFit/>
          </a:bodyPr>
          <a:lstStyle/>
          <a:p>
            <a:r>
              <a:rPr lang="en-IN" sz="1600" dirty="0">
                <a:solidFill>
                  <a:srgbClr val="000000"/>
                </a:solidFill>
              </a:rPr>
              <a:t>, Else 0 </a:t>
            </a:r>
          </a:p>
        </p:txBody>
      </p:sp>
      <p:sp>
        <p:nvSpPr>
          <p:cNvPr id="2" name="TextBox 1">
            <a:extLst>
              <a:ext uri="{FF2B5EF4-FFF2-40B4-BE49-F238E27FC236}">
                <a16:creationId xmlns:a16="http://schemas.microsoft.com/office/drawing/2014/main" id="{E1C83709-2E11-6C29-BC99-E8892FCE24C8}"/>
              </a:ext>
            </a:extLst>
          </p:cNvPr>
          <p:cNvSpPr txBox="1"/>
          <p:nvPr/>
        </p:nvSpPr>
        <p:spPr>
          <a:xfrm>
            <a:off x="7897211" y="4735334"/>
            <a:ext cx="377026" cy="369332"/>
          </a:xfrm>
          <a:prstGeom prst="rect">
            <a:avLst/>
          </a:prstGeom>
          <a:noFill/>
        </p:spPr>
        <p:txBody>
          <a:bodyPr wrap="none" rtlCol="0">
            <a:spAutoFit/>
          </a:bodyPr>
          <a:lstStyle/>
          <a:p>
            <a:r>
              <a:rPr lang="en-IN" dirty="0"/>
              <a:t>If </a:t>
            </a:r>
          </a:p>
        </p:txBody>
      </p:sp>
      <p:sp>
        <p:nvSpPr>
          <p:cNvPr id="8" name="TextBox 7">
            <a:extLst>
              <a:ext uri="{FF2B5EF4-FFF2-40B4-BE49-F238E27FC236}">
                <a16:creationId xmlns:a16="http://schemas.microsoft.com/office/drawing/2014/main" id="{763ADF45-8A1F-2748-FD1E-ADA8CE9FFCC3}"/>
              </a:ext>
            </a:extLst>
          </p:cNvPr>
          <p:cNvSpPr txBox="1"/>
          <p:nvPr/>
        </p:nvSpPr>
        <p:spPr>
          <a:xfrm>
            <a:off x="10519598" y="6332636"/>
            <a:ext cx="1109599" cy="307777"/>
          </a:xfrm>
          <a:prstGeom prst="rect">
            <a:avLst/>
          </a:prstGeom>
          <a:noFill/>
          <a:ln>
            <a:solidFill>
              <a:srgbClr val="000000"/>
            </a:solidFill>
          </a:ln>
        </p:spPr>
        <p:txBody>
          <a:bodyPr wrap="none" rtlCol="0">
            <a:spAutoFit/>
          </a:bodyPr>
          <a:lstStyle/>
          <a:p>
            <a:r>
              <a:rPr lang="en-IN" sz="1400" b="1" dirty="0"/>
              <a:t>0.2  or 0.02</a:t>
            </a:r>
          </a:p>
        </p:txBody>
      </p:sp>
      <p:sp>
        <p:nvSpPr>
          <p:cNvPr id="11" name="TextBox 10">
            <a:extLst>
              <a:ext uri="{FF2B5EF4-FFF2-40B4-BE49-F238E27FC236}">
                <a16:creationId xmlns:a16="http://schemas.microsoft.com/office/drawing/2014/main" id="{BB4C12FA-4636-D0EE-19D1-D1ECC3319D3B}"/>
              </a:ext>
            </a:extLst>
          </p:cNvPr>
          <p:cNvSpPr txBox="1"/>
          <p:nvPr/>
        </p:nvSpPr>
        <p:spPr>
          <a:xfrm>
            <a:off x="4238368" y="7555"/>
            <a:ext cx="7950995" cy="800219"/>
          </a:xfrm>
          <a:prstGeom prst="rect">
            <a:avLst/>
          </a:prstGeom>
          <a:noFill/>
          <a:ln>
            <a:solidFill>
              <a:schemeClr val="tx1"/>
            </a:solidFill>
          </a:ln>
        </p:spPr>
        <p:txBody>
          <a:bodyPr wrap="square" rtlCol="0">
            <a:spAutoFit/>
          </a:bodyPr>
          <a:lstStyle/>
          <a:p>
            <a:r>
              <a:rPr lang="en-IN" sz="1600" dirty="0"/>
              <a:t>Sparsity parameter can be chosen very small typically as 0.2 Or 0.002 based on degree of sparsity required</a:t>
            </a:r>
            <a:r>
              <a:rPr lang="en-IN" sz="1600" b="1" dirty="0"/>
              <a:t>. It controls no of active hidden layer nodes.</a:t>
            </a:r>
          </a:p>
          <a:p>
            <a:r>
              <a:rPr lang="en-IN" sz="1400" b="1" dirty="0">
                <a:solidFill>
                  <a:srgbClr val="FF0000"/>
                </a:solidFill>
              </a:rPr>
              <a:t>No of active nodes in the hidden layer </a:t>
            </a:r>
            <a:r>
              <a:rPr lang="el-GR" sz="1400" dirty="0">
                <a:solidFill>
                  <a:srgbClr val="FF0000"/>
                </a:solidFill>
              </a:rPr>
              <a:t>α</a:t>
            </a:r>
            <a:r>
              <a:rPr lang="en-IN" sz="1400" b="1" dirty="0">
                <a:solidFill>
                  <a:srgbClr val="FF0000"/>
                </a:solidFill>
              </a:rPr>
              <a:t> (directly proportional) sparsity constant.</a:t>
            </a:r>
          </a:p>
        </p:txBody>
      </p:sp>
    </p:spTree>
    <p:extLst>
      <p:ext uri="{BB962C8B-B14F-4D97-AF65-F5344CB8AC3E}">
        <p14:creationId xmlns:p14="http://schemas.microsoft.com/office/powerpoint/2010/main" val="1903587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40E94-504A-B279-D3A8-C2B4545CEDFB}"/>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Sparse Autoencoder </a:t>
            </a:r>
            <a:r>
              <a:rPr lang="en-IN" sz="2000" dirty="0"/>
              <a:t>(IIT Kharagpur.. Prof. Biswas)</a:t>
            </a:r>
          </a:p>
        </p:txBody>
      </p:sp>
      <p:pic>
        <p:nvPicPr>
          <p:cNvPr id="6" name="Content Placeholder 5">
            <a:extLst>
              <a:ext uri="{FF2B5EF4-FFF2-40B4-BE49-F238E27FC236}">
                <a16:creationId xmlns:a16="http://schemas.microsoft.com/office/drawing/2014/main" id="{D9BB93C6-DA46-1085-E28E-B2DE637424E7}"/>
              </a:ext>
            </a:extLst>
          </p:cNvPr>
          <p:cNvPicPr>
            <a:picLocks noGrp="1" noChangeAspect="1"/>
          </p:cNvPicPr>
          <p:nvPr>
            <p:ph idx="1"/>
          </p:nvPr>
        </p:nvPicPr>
        <p:blipFill>
          <a:blip r:embed="rId2"/>
          <a:stretch>
            <a:fillRect/>
          </a:stretch>
        </p:blipFill>
        <p:spPr>
          <a:xfrm>
            <a:off x="6256353" y="2413337"/>
            <a:ext cx="5833403" cy="2031325"/>
          </a:xfrm>
          <a:ln>
            <a:solidFill>
              <a:srgbClr val="000000"/>
            </a:solidFill>
          </a:ln>
        </p:spPr>
      </p:pic>
      <p:sp>
        <p:nvSpPr>
          <p:cNvPr id="4" name="Slide Number Placeholder 3">
            <a:extLst>
              <a:ext uri="{FF2B5EF4-FFF2-40B4-BE49-F238E27FC236}">
                <a16:creationId xmlns:a16="http://schemas.microsoft.com/office/drawing/2014/main" id="{103E72DB-00FB-4958-0B3D-1FB237ED9E17}"/>
              </a:ext>
            </a:extLst>
          </p:cNvPr>
          <p:cNvSpPr>
            <a:spLocks noGrp="1"/>
          </p:cNvSpPr>
          <p:nvPr>
            <p:ph type="sldNum" sz="quarter" idx="12"/>
          </p:nvPr>
        </p:nvSpPr>
        <p:spPr/>
        <p:txBody>
          <a:bodyPr/>
          <a:lstStyle/>
          <a:p>
            <a:pPr>
              <a:defRPr/>
            </a:pPr>
            <a:fld id="{9AD681D7-8A59-4380-9311-10B86FF921AA}" type="slidenum">
              <a:rPr lang="en-US" altLang="zh-TW" smtClean="0"/>
              <a:pPr>
                <a:defRPr/>
              </a:pPr>
              <a:t>52</a:t>
            </a:fld>
            <a:endParaRPr lang="en-US" altLang="zh-TW"/>
          </a:p>
        </p:txBody>
      </p:sp>
      <p:sp>
        <p:nvSpPr>
          <p:cNvPr id="7" name="TextBox 6">
            <a:extLst>
              <a:ext uri="{FF2B5EF4-FFF2-40B4-BE49-F238E27FC236}">
                <a16:creationId xmlns:a16="http://schemas.microsoft.com/office/drawing/2014/main" id="{74911A54-162F-C1ED-899F-6BF0A35BBA4A}"/>
              </a:ext>
            </a:extLst>
          </p:cNvPr>
          <p:cNvSpPr txBox="1"/>
          <p:nvPr/>
        </p:nvSpPr>
        <p:spPr>
          <a:xfrm>
            <a:off x="895351" y="2138902"/>
            <a:ext cx="11073756" cy="4611519"/>
          </a:xfrm>
          <a:prstGeom prst="rect">
            <a:avLst/>
          </a:prstGeom>
          <a:noFill/>
          <a:ln>
            <a:solidFill>
              <a:srgbClr val="000000"/>
            </a:solidFill>
          </a:ln>
        </p:spPr>
        <p:txBody>
          <a:bodyPr wrap="square" rtlCol="0">
            <a:spAutoFit/>
          </a:bodyPr>
          <a:lstStyle/>
          <a:p>
            <a:pPr>
              <a:lnSpc>
                <a:spcPct val="150000"/>
              </a:lnSpc>
            </a:pPr>
            <a:r>
              <a:rPr lang="en-IN" sz="1600" dirty="0"/>
              <a:t>Using the constraint Regularisation term can be introduced</a:t>
            </a:r>
          </a:p>
          <a:p>
            <a:pPr>
              <a:spcBef>
                <a:spcPts val="600"/>
              </a:spcBef>
            </a:pPr>
            <a:r>
              <a:rPr lang="en-IN" sz="1600" b="1" dirty="0"/>
              <a:t>Regularization term (on activation function) is KL </a:t>
            </a:r>
          </a:p>
          <a:p>
            <a:pPr>
              <a:spcBef>
                <a:spcPts val="600"/>
              </a:spcBef>
            </a:pPr>
            <a:r>
              <a:rPr lang="en-IN" sz="1600" b="1" dirty="0"/>
              <a:t>divergence between 2 distributions given by </a:t>
            </a:r>
            <a:r>
              <a:rPr lang="en-IN" sz="1600" b="1" dirty="0">
                <a:effectLst/>
                <a:latin typeface="Calibri" panose="020F0502020204030204" pitchFamily="34" charset="0"/>
                <a:ea typeface="Calibri" panose="020F0502020204030204" pitchFamily="34" charset="0"/>
              </a:rPr>
              <a:t>ρ</a:t>
            </a:r>
            <a:r>
              <a:rPr lang="en-IN" sz="1600" b="1" dirty="0">
                <a:effectLst/>
                <a:latin typeface="Calibri" panose="020F0502020204030204" pitchFamily="34" charset="0"/>
                <a:ea typeface="Calibri" panose="020F0502020204030204" pitchFamily="34" charset="0"/>
                <a:cs typeface="Times New Roman" panose="02020603050405020304" pitchFamily="18" charset="0"/>
              </a:rPr>
              <a:t> </a:t>
            </a:r>
            <a:r>
              <a:rPr lang="en-IN" sz="1600" b="1" dirty="0"/>
              <a:t>and </a:t>
            </a:r>
            <a:r>
              <a:rPr lang="en-IN" sz="1600" b="1" dirty="0">
                <a:effectLst/>
                <a:latin typeface="Calibri" panose="020F0502020204030204" pitchFamily="34" charset="0"/>
                <a:ea typeface="Calibri" panose="020F0502020204030204" pitchFamily="34" charset="0"/>
              </a:rPr>
              <a:t>^ρ.</a:t>
            </a:r>
            <a:endParaRPr lang="en-IN" sz="1600" b="1" dirty="0"/>
          </a:p>
          <a:p>
            <a:pPr>
              <a:spcBef>
                <a:spcPts val="600"/>
              </a:spcBef>
            </a:pPr>
            <a:r>
              <a:rPr lang="en-IN" sz="1600" b="1" dirty="0"/>
              <a:t>Nh = </a:t>
            </a:r>
            <a:r>
              <a:rPr lang="en-IN" sz="1600" dirty="0"/>
              <a:t>No of nodes in the hidden layer.</a:t>
            </a:r>
          </a:p>
          <a:p>
            <a:pPr>
              <a:spcBef>
                <a:spcPts val="600"/>
              </a:spcBef>
            </a:pPr>
            <a:r>
              <a:rPr lang="en-IN" sz="1600" b="1" dirty="0"/>
              <a:t>KL divergence gives distance between two distributions.</a:t>
            </a:r>
          </a:p>
          <a:p>
            <a:pPr>
              <a:lnSpc>
                <a:spcPct val="150000"/>
              </a:lnSpc>
            </a:pPr>
            <a:r>
              <a:rPr lang="en-IN" dirty="0"/>
              <a:t>Here,  </a:t>
            </a:r>
          </a:p>
          <a:p>
            <a:pPr>
              <a:lnSpc>
                <a:spcPct val="150000"/>
              </a:lnSpc>
            </a:pPr>
            <a:r>
              <a:rPr lang="en-IN" dirty="0"/>
              <a:t>     W = weight component.</a:t>
            </a:r>
          </a:p>
          <a:p>
            <a:pPr>
              <a:lnSpc>
                <a:spcPct val="150000"/>
              </a:lnSpc>
            </a:pPr>
            <a:r>
              <a:rPr lang="en-IN" dirty="0"/>
              <a:t>     X = Original input and X^ = output = Reconstructed input</a:t>
            </a:r>
          </a:p>
          <a:p>
            <a:pPr>
              <a:lnSpc>
                <a:spcPct val="150000"/>
              </a:lnSpc>
            </a:pPr>
            <a:r>
              <a:rPr lang="en-IN" dirty="0"/>
              <a:t>      Regularization loss = KL divergence between  </a:t>
            </a:r>
            <a:r>
              <a:rPr lang="en-IN" dirty="0">
                <a:effectLst/>
                <a:latin typeface="Calibri" panose="020F0502020204030204" pitchFamily="34" charset="0"/>
                <a:ea typeface="Calibri" panose="020F0502020204030204" pitchFamily="34" charset="0"/>
              </a:rPr>
              <a:t>ρ</a:t>
            </a:r>
            <a:r>
              <a:rPr lang="en-IN" dirty="0">
                <a:effectLst/>
                <a:latin typeface="Calibri" panose="020F0502020204030204" pitchFamily="34" charset="0"/>
                <a:ea typeface="Calibri" panose="020F0502020204030204" pitchFamily="34" charset="0"/>
                <a:cs typeface="Times New Roman" panose="02020603050405020304" pitchFamily="18" charset="0"/>
              </a:rPr>
              <a:t> </a:t>
            </a:r>
            <a:r>
              <a:rPr lang="en-IN" dirty="0"/>
              <a:t>and </a:t>
            </a:r>
            <a:r>
              <a:rPr lang="en-IN" dirty="0">
                <a:effectLst/>
                <a:latin typeface="Calibri" panose="020F0502020204030204" pitchFamily="34" charset="0"/>
                <a:ea typeface="Calibri" panose="020F0502020204030204" pitchFamily="34" charset="0"/>
              </a:rPr>
              <a:t>^ρ.</a:t>
            </a:r>
            <a:endParaRPr lang="en-IN" dirty="0"/>
          </a:p>
          <a:p>
            <a:pPr>
              <a:lnSpc>
                <a:spcPct val="150000"/>
              </a:lnSpc>
            </a:pPr>
            <a:r>
              <a:rPr lang="en-IN" dirty="0"/>
              <a:t>     </a:t>
            </a:r>
            <a:r>
              <a:rPr lang="en-IN" kern="100" dirty="0">
                <a:effectLst/>
                <a:latin typeface="Calibri" panose="020F0502020204030204" pitchFamily="34" charset="0"/>
                <a:ea typeface="Calibri" panose="020F0502020204030204" pitchFamily="34" charset="0"/>
                <a:cs typeface="Calibri" panose="020F0502020204030204" pitchFamily="34" charset="0"/>
              </a:rPr>
              <a:t>λ </a:t>
            </a:r>
            <a:r>
              <a:rPr lang="en-IN" dirty="0"/>
              <a:t> = Relative weight between data loss component and Regularization loss component.</a:t>
            </a:r>
          </a:p>
          <a:p>
            <a:pPr>
              <a:lnSpc>
                <a:spcPct val="150000"/>
              </a:lnSpc>
            </a:pPr>
            <a:r>
              <a:rPr lang="en-IN" dirty="0"/>
              <a:t>Now backpropagation algorithm can be applied to reduce overall loss function.</a:t>
            </a:r>
          </a:p>
          <a:p>
            <a:pPr>
              <a:lnSpc>
                <a:spcPct val="150000"/>
              </a:lnSpc>
            </a:pPr>
            <a:endParaRPr lang="en-IN" dirty="0"/>
          </a:p>
        </p:txBody>
      </p:sp>
      <p:sp>
        <p:nvSpPr>
          <p:cNvPr id="24" name="TextBox 23">
            <a:extLst>
              <a:ext uri="{FF2B5EF4-FFF2-40B4-BE49-F238E27FC236}">
                <a16:creationId xmlns:a16="http://schemas.microsoft.com/office/drawing/2014/main" id="{67062FC6-376F-1113-6AF8-CE3D6B177146}"/>
              </a:ext>
            </a:extLst>
          </p:cNvPr>
          <p:cNvSpPr txBox="1"/>
          <p:nvPr/>
        </p:nvSpPr>
        <p:spPr>
          <a:xfrm>
            <a:off x="6377002" y="3429000"/>
            <a:ext cx="5451236" cy="369332"/>
          </a:xfrm>
          <a:prstGeom prst="rect">
            <a:avLst/>
          </a:prstGeom>
          <a:noFill/>
        </p:spPr>
        <p:txBody>
          <a:bodyPr wrap="none" rtlCol="0">
            <a:spAutoFit/>
          </a:bodyPr>
          <a:lstStyle/>
          <a:p>
            <a:r>
              <a:rPr lang="en-IN" dirty="0"/>
              <a:t>  Total Loss Fun= Data Loss+    Regularization loss </a:t>
            </a:r>
          </a:p>
        </p:txBody>
      </p:sp>
      <p:pic>
        <p:nvPicPr>
          <p:cNvPr id="27" name="Picture 26">
            <a:extLst>
              <a:ext uri="{FF2B5EF4-FFF2-40B4-BE49-F238E27FC236}">
                <a16:creationId xmlns:a16="http://schemas.microsoft.com/office/drawing/2014/main" id="{E446DB98-721B-B915-16B1-6083D3858108}"/>
              </a:ext>
            </a:extLst>
          </p:cNvPr>
          <p:cNvPicPr>
            <a:picLocks noChangeAspect="1"/>
          </p:cNvPicPr>
          <p:nvPr/>
        </p:nvPicPr>
        <p:blipFill>
          <a:blip r:embed="rId3"/>
          <a:stretch>
            <a:fillRect/>
          </a:stretch>
        </p:blipFill>
        <p:spPr>
          <a:xfrm>
            <a:off x="9381273" y="3466008"/>
            <a:ext cx="181000" cy="295316"/>
          </a:xfrm>
          <a:prstGeom prst="rect">
            <a:avLst/>
          </a:prstGeom>
        </p:spPr>
      </p:pic>
    </p:spTree>
    <p:extLst>
      <p:ext uri="{BB962C8B-B14F-4D97-AF65-F5344CB8AC3E}">
        <p14:creationId xmlns:p14="http://schemas.microsoft.com/office/powerpoint/2010/main" val="723936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F73ABD-0E5B-1190-BCDE-A1455DE6596D}"/>
              </a:ext>
            </a:extLst>
          </p:cNvPr>
          <p:cNvSpPr>
            <a:spLocks noGrp="1"/>
          </p:cNvSpPr>
          <p:nvPr>
            <p:ph type="sldNum" sz="quarter" idx="12"/>
          </p:nvPr>
        </p:nvSpPr>
        <p:spPr/>
        <p:txBody>
          <a:bodyPr/>
          <a:lstStyle/>
          <a:p>
            <a:pPr>
              <a:defRPr/>
            </a:pPr>
            <a:fld id="{9AD681D7-8A59-4380-9311-10B86FF921AA}" type="slidenum">
              <a:rPr lang="en-US" altLang="zh-TW" smtClean="0"/>
              <a:pPr>
                <a:defRPr/>
              </a:pPr>
              <a:t>53</a:t>
            </a:fld>
            <a:endParaRPr lang="en-US" altLang="zh-TW"/>
          </a:p>
        </p:txBody>
      </p:sp>
      <p:pic>
        <p:nvPicPr>
          <p:cNvPr id="29" name="Content Placeholder 28">
            <a:extLst>
              <a:ext uri="{FF2B5EF4-FFF2-40B4-BE49-F238E27FC236}">
                <a16:creationId xmlns:a16="http://schemas.microsoft.com/office/drawing/2014/main" id="{AEC0D248-CE51-C69D-EC81-0B344EFC9485}"/>
              </a:ext>
            </a:extLst>
          </p:cNvPr>
          <p:cNvPicPr>
            <a:picLocks noGrp="1" noChangeAspect="1"/>
          </p:cNvPicPr>
          <p:nvPr>
            <p:ph idx="1"/>
          </p:nvPr>
        </p:nvPicPr>
        <p:blipFill rotWithShape="1">
          <a:blip r:embed="rId2"/>
          <a:srcRect l="3909" t="2790" r="6876"/>
          <a:stretch/>
        </p:blipFill>
        <p:spPr>
          <a:xfrm>
            <a:off x="576775" y="2371725"/>
            <a:ext cx="6033395" cy="4240090"/>
          </a:xfrm>
          <a:prstGeom prst="rect">
            <a:avLst/>
          </a:prstGeom>
          <a:ln>
            <a:solidFill>
              <a:srgbClr val="000000"/>
            </a:solidFill>
          </a:ln>
        </p:spPr>
      </p:pic>
      <p:sp>
        <p:nvSpPr>
          <p:cNvPr id="5" name="Title 1">
            <a:extLst>
              <a:ext uri="{FF2B5EF4-FFF2-40B4-BE49-F238E27FC236}">
                <a16:creationId xmlns:a16="http://schemas.microsoft.com/office/drawing/2014/main" id="{984D99FC-1CA4-CAC8-F656-A037BC6A258E}"/>
              </a:ext>
            </a:extLst>
          </p:cNvPr>
          <p:cNvSpPr>
            <a:spLocks noGrp="1"/>
          </p:cNvSpPr>
          <p:nvPr>
            <p:ph type="title"/>
          </p:nvPr>
        </p:nvSpPr>
        <p:spPr>
          <a:xfrm>
            <a:off x="1016000" y="762000"/>
            <a:ext cx="10566400" cy="1143000"/>
          </a:xfrm>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Sparse Autoencoder </a:t>
            </a:r>
            <a:r>
              <a:rPr kumimoji="1" lang="en-IN" sz="20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(IIT Kharagpur.. Prof. Biswas)</a:t>
            </a:r>
            <a:endParaRPr lang="en-IN" dirty="0"/>
          </a:p>
        </p:txBody>
      </p:sp>
      <p:sp>
        <p:nvSpPr>
          <p:cNvPr id="6" name="TextBox 5">
            <a:extLst>
              <a:ext uri="{FF2B5EF4-FFF2-40B4-BE49-F238E27FC236}">
                <a16:creationId xmlns:a16="http://schemas.microsoft.com/office/drawing/2014/main" id="{B32BDF19-C2DD-4E8A-0FF4-04DBEB693145}"/>
              </a:ext>
            </a:extLst>
          </p:cNvPr>
          <p:cNvSpPr txBox="1"/>
          <p:nvPr/>
        </p:nvSpPr>
        <p:spPr>
          <a:xfrm>
            <a:off x="6710289" y="2371725"/>
            <a:ext cx="5481711" cy="4278094"/>
          </a:xfrm>
          <a:prstGeom prst="rect">
            <a:avLst/>
          </a:prstGeom>
          <a:noFill/>
          <a:ln>
            <a:solidFill>
              <a:srgbClr val="000000"/>
            </a:solidFill>
          </a:ln>
        </p:spPr>
        <p:txBody>
          <a:bodyPr wrap="square" rtlCol="0">
            <a:spAutoFit/>
          </a:bodyPr>
          <a:lstStyle/>
          <a:p>
            <a:r>
              <a:rPr lang="en-IN" sz="1700" dirty="0"/>
              <a:t>Fig shows variation in KL divergence between two </a:t>
            </a:r>
          </a:p>
          <a:p>
            <a:r>
              <a:rPr lang="en-IN" sz="1700" dirty="0"/>
              <a:t>Distributions with average activation function of </a:t>
            </a:r>
          </a:p>
          <a:p>
            <a:r>
              <a:rPr lang="en-IN" sz="1700" dirty="0"/>
              <a:t>hidden unit </a:t>
            </a:r>
            <a:r>
              <a:rPr kumimoji="0" lang="en-IN" sz="1700" b="0" i="0" u="none" strike="noStrike" kern="1200" cap="none" spc="0" normalizeH="0" baseline="0" noProof="0" dirty="0">
                <a:ln>
                  <a:noFill/>
                </a:ln>
                <a:solidFill>
                  <a:srgbClr val="003366"/>
                </a:solidFill>
                <a:effectLst/>
                <a:uLnTx/>
                <a:uFillTx/>
                <a:latin typeface="Calibri" panose="020F0502020204030204" pitchFamily="34" charset="0"/>
                <a:ea typeface="Calibri" panose="020F0502020204030204" pitchFamily="34" charset="0"/>
                <a:cs typeface="+mn-cs"/>
              </a:rPr>
              <a:t>^ρ </a:t>
            </a:r>
            <a:endParaRPr lang="en-IN" sz="1700" dirty="0"/>
          </a:p>
          <a:p>
            <a:pPr marL="182563" marR="0" lvl="0" indent="-182563" algn="l" defTabSz="914400" rtl="0" eaLnBrk="1" fontAlgn="auto" latinLnBrk="0" hangingPunct="1">
              <a:spcBef>
                <a:spcPts val="0"/>
              </a:spcBef>
              <a:spcAft>
                <a:spcPts val="0"/>
              </a:spcAft>
              <a:buClrTx/>
              <a:buSzTx/>
              <a:buFont typeface="Arial" panose="020B0604020202020204" pitchFamily="34" charset="0"/>
              <a:buChar char="•"/>
              <a:tabLst/>
              <a:defRPr/>
            </a:pPr>
            <a:r>
              <a:rPr lang="en-IN" sz="1700" dirty="0"/>
              <a:t>If </a:t>
            </a:r>
            <a:r>
              <a:rPr kumimoji="0" lang="en-IN" sz="1700" b="1" i="0" u="none" strike="noStrike" kern="1200" cap="none" spc="0" normalizeH="0" baseline="0" noProof="0" dirty="0">
                <a:ln>
                  <a:noFill/>
                </a:ln>
                <a:solidFill>
                  <a:srgbClr val="003366"/>
                </a:solidFill>
                <a:effectLst/>
                <a:uLnTx/>
                <a:uFillTx/>
                <a:latin typeface="Calibri" panose="020F0502020204030204" pitchFamily="34" charset="0"/>
                <a:ea typeface="Calibri" panose="020F0502020204030204" pitchFamily="34" charset="0"/>
                <a:cs typeface="+mn-cs"/>
              </a:rPr>
              <a:t>ρ = 0.2 </a:t>
            </a:r>
            <a:r>
              <a:rPr kumimoji="0" lang="en-IN" sz="1700" b="1" i="0" u="none" strike="noStrike" kern="1200" cap="none" spc="0" normalizeH="0" baseline="0" noProof="0" dirty="0">
                <a:ln>
                  <a:noFill/>
                </a:ln>
                <a:solidFill>
                  <a:srgbClr val="003366"/>
                </a:solidFill>
                <a:effectLst/>
                <a:uLnTx/>
                <a:uFillTx/>
                <a:latin typeface="Arial"/>
                <a:ea typeface="新細明體"/>
                <a:cs typeface="+mn-cs"/>
              </a:rPr>
              <a:t>and </a:t>
            </a:r>
            <a:r>
              <a:rPr kumimoji="0" lang="en-IN" sz="1700" b="1" i="0" u="none" strike="noStrike" kern="1200" cap="none" spc="0" normalizeH="0" baseline="0" noProof="0" dirty="0">
                <a:ln>
                  <a:noFill/>
                </a:ln>
                <a:solidFill>
                  <a:srgbClr val="003366"/>
                </a:solidFill>
                <a:effectLst/>
                <a:uLnTx/>
                <a:uFillTx/>
                <a:latin typeface="Calibri" panose="020F0502020204030204" pitchFamily="34" charset="0"/>
                <a:ea typeface="Calibri" panose="020F0502020204030204" pitchFamily="34" charset="0"/>
                <a:cs typeface="+mn-cs"/>
              </a:rPr>
              <a:t>^ρ = 0.2 </a:t>
            </a:r>
            <a:r>
              <a:rPr lang="en-IN" sz="1700" b="1" dirty="0"/>
              <a:t>then KL divergence = 0.</a:t>
            </a:r>
          </a:p>
          <a:p>
            <a:pPr marL="182563" marR="0" lvl="0" indent="-182563" algn="l" defTabSz="914400" rtl="0" eaLnBrk="1" fontAlgn="auto" latinLnBrk="0" hangingPunct="1">
              <a:spcBef>
                <a:spcPts val="0"/>
              </a:spcBef>
              <a:spcAft>
                <a:spcPts val="0"/>
              </a:spcAft>
              <a:buClrTx/>
              <a:buSzTx/>
              <a:buFont typeface="Arial" panose="020B0604020202020204" pitchFamily="34" charset="0"/>
              <a:buChar char="•"/>
              <a:tabLst/>
              <a:defRPr/>
            </a:pPr>
            <a:r>
              <a:rPr lang="en-IN" sz="1700" b="1" dirty="0"/>
              <a:t>As difference between ρ and ^ρ increases divergence increases faster.</a:t>
            </a:r>
          </a:p>
          <a:p>
            <a:pPr marL="182563" marR="0" lvl="0" indent="-182563" algn="l" defTabSz="914400" rtl="0" eaLnBrk="1" fontAlgn="auto" latinLnBrk="0" hangingPunct="1">
              <a:spcBef>
                <a:spcPts val="0"/>
              </a:spcBef>
              <a:spcAft>
                <a:spcPts val="0"/>
              </a:spcAft>
              <a:buClrTx/>
              <a:buSzTx/>
              <a:buFont typeface="Arial" panose="020B0604020202020204" pitchFamily="34" charset="0"/>
              <a:buChar char="•"/>
              <a:tabLst/>
              <a:defRPr/>
            </a:pPr>
            <a:r>
              <a:rPr lang="en-IN" sz="1700" b="1" dirty="0"/>
              <a:t>KL divergence </a:t>
            </a:r>
            <a:r>
              <a:rPr lang="en-IN" sz="1700" dirty="0"/>
              <a:t>is </a:t>
            </a:r>
            <a:r>
              <a:rPr lang="en-IN" sz="1700" b="1" dirty="0"/>
              <a:t>basically measures distance between two different distributions</a:t>
            </a:r>
            <a:r>
              <a:rPr lang="en-IN" sz="1700" dirty="0"/>
              <a:t>.</a:t>
            </a:r>
          </a:p>
          <a:p>
            <a:pPr marL="182563" marR="0" lvl="0" indent="-182563" algn="l" defTabSz="914400" rtl="0" eaLnBrk="1" fontAlgn="auto" latinLnBrk="0" hangingPunct="1">
              <a:spcBef>
                <a:spcPts val="0"/>
              </a:spcBef>
              <a:spcAft>
                <a:spcPts val="0"/>
              </a:spcAft>
              <a:buClrTx/>
              <a:buSzTx/>
              <a:buFont typeface="Arial" panose="020B0604020202020204" pitchFamily="34" charset="0"/>
              <a:buChar char="•"/>
              <a:tabLst/>
              <a:defRPr/>
            </a:pPr>
            <a:r>
              <a:rPr lang="en-IN" sz="1700" b="1" dirty="0">
                <a:solidFill>
                  <a:srgbClr val="FF0000"/>
                </a:solidFill>
              </a:rPr>
              <a:t>Implications of Introducing KL divergence </a:t>
            </a:r>
            <a:r>
              <a:rPr lang="en-IN" sz="1700" dirty="0"/>
              <a:t>as regularisation term in overall loss function </a:t>
            </a:r>
          </a:p>
          <a:p>
            <a:pPr marL="539750" marR="0" lvl="0" indent="-176213" algn="l" defTabSz="914400" rtl="0" eaLnBrk="1" fontAlgn="auto" latinLnBrk="0" hangingPunct="1">
              <a:spcBef>
                <a:spcPts val="0"/>
              </a:spcBef>
              <a:spcAft>
                <a:spcPts val="0"/>
              </a:spcAft>
              <a:buClrTx/>
              <a:buSzTx/>
              <a:buFont typeface="Wingdings" panose="05000000000000000000" pitchFamily="2" charset="2"/>
              <a:buChar char="ü"/>
              <a:tabLst/>
              <a:defRPr/>
            </a:pPr>
            <a:r>
              <a:rPr lang="en-IN" sz="1700" dirty="0"/>
              <a:t>It </a:t>
            </a:r>
            <a:r>
              <a:rPr lang="en-IN" sz="1700" b="1" dirty="0">
                <a:solidFill>
                  <a:srgbClr val="FF0000"/>
                </a:solidFill>
              </a:rPr>
              <a:t>makes very few nodes in the hidden layer to be active for given input features.</a:t>
            </a:r>
          </a:p>
          <a:p>
            <a:pPr marL="539750" marR="0" lvl="0" indent="-176213" algn="l" defTabSz="914400" rtl="0" eaLnBrk="1" fontAlgn="auto" latinLnBrk="0" hangingPunct="1">
              <a:spcBef>
                <a:spcPts val="0"/>
              </a:spcBef>
              <a:spcAft>
                <a:spcPts val="0"/>
              </a:spcAft>
              <a:buClrTx/>
              <a:buSzTx/>
              <a:buFont typeface="Wingdings" panose="05000000000000000000" pitchFamily="2" charset="2"/>
              <a:buChar char="ü"/>
              <a:tabLst/>
              <a:defRPr/>
            </a:pPr>
            <a:r>
              <a:rPr lang="en-IN" sz="1700" dirty="0"/>
              <a:t>For different features some other set of few hidden nodes may be active.</a:t>
            </a:r>
          </a:p>
          <a:p>
            <a:pPr marL="539750" marR="0" lvl="0" indent="-176213" algn="l" defTabSz="914400" rtl="0" eaLnBrk="1" fontAlgn="auto" latinLnBrk="0" hangingPunct="1">
              <a:spcBef>
                <a:spcPts val="0"/>
              </a:spcBef>
              <a:spcAft>
                <a:spcPts val="0"/>
              </a:spcAft>
              <a:buClrTx/>
              <a:buSzTx/>
              <a:buFont typeface="Wingdings" panose="05000000000000000000" pitchFamily="2" charset="2"/>
              <a:buChar char="ü"/>
              <a:tabLst/>
              <a:defRPr/>
            </a:pPr>
            <a:r>
              <a:rPr lang="en-IN" sz="1700" dirty="0"/>
              <a:t>Thus different nodes are activated for different types of features in the input data.</a:t>
            </a:r>
          </a:p>
        </p:txBody>
      </p:sp>
    </p:spTree>
    <p:extLst>
      <p:ext uri="{BB962C8B-B14F-4D97-AF65-F5344CB8AC3E}">
        <p14:creationId xmlns:p14="http://schemas.microsoft.com/office/powerpoint/2010/main" val="9758200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CB56C5B-CAC5-74B2-5690-8163C960A0DB}"/>
              </a:ext>
            </a:extLst>
          </p:cNvPr>
          <p:cNvPicPr>
            <a:picLocks noGrp="1" noChangeAspect="1"/>
          </p:cNvPicPr>
          <p:nvPr>
            <p:ph idx="1"/>
          </p:nvPr>
        </p:nvPicPr>
        <p:blipFill>
          <a:blip r:embed="rId2"/>
          <a:stretch>
            <a:fillRect/>
          </a:stretch>
        </p:blipFill>
        <p:spPr>
          <a:xfrm>
            <a:off x="6764356" y="77676"/>
            <a:ext cx="5427644" cy="2215308"/>
          </a:xfrm>
        </p:spPr>
      </p:pic>
      <p:sp>
        <p:nvSpPr>
          <p:cNvPr id="4" name="Slide Number Placeholder 3">
            <a:extLst>
              <a:ext uri="{FF2B5EF4-FFF2-40B4-BE49-F238E27FC236}">
                <a16:creationId xmlns:a16="http://schemas.microsoft.com/office/drawing/2014/main" id="{B84ABD1E-C6BC-FA7F-017E-820333010762}"/>
              </a:ext>
            </a:extLst>
          </p:cNvPr>
          <p:cNvSpPr>
            <a:spLocks noGrp="1"/>
          </p:cNvSpPr>
          <p:nvPr>
            <p:ph type="sldNum" sz="quarter" idx="12"/>
          </p:nvPr>
        </p:nvSpPr>
        <p:spPr/>
        <p:txBody>
          <a:bodyPr/>
          <a:lstStyle/>
          <a:p>
            <a:pPr>
              <a:defRPr/>
            </a:pPr>
            <a:fld id="{9AD681D7-8A59-4380-9311-10B86FF921AA}" type="slidenum">
              <a:rPr lang="en-US" altLang="zh-TW" smtClean="0"/>
              <a:pPr>
                <a:defRPr/>
              </a:pPr>
              <a:t>54</a:t>
            </a:fld>
            <a:endParaRPr lang="en-US" altLang="zh-TW"/>
          </a:p>
        </p:txBody>
      </p:sp>
      <p:sp>
        <p:nvSpPr>
          <p:cNvPr id="5" name="Title 1">
            <a:extLst>
              <a:ext uri="{FF2B5EF4-FFF2-40B4-BE49-F238E27FC236}">
                <a16:creationId xmlns:a16="http://schemas.microsoft.com/office/drawing/2014/main" id="{8FD2D2B3-EBAD-EBE1-A5FC-A016B495E3BE}"/>
              </a:ext>
            </a:extLst>
          </p:cNvPr>
          <p:cNvSpPr>
            <a:spLocks noGrp="1"/>
          </p:cNvSpPr>
          <p:nvPr>
            <p:ph type="title"/>
          </p:nvPr>
        </p:nvSpPr>
        <p:spPr>
          <a:xfrm>
            <a:off x="1016000" y="762000"/>
            <a:ext cx="10566400" cy="1143000"/>
          </a:xfrm>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Sparse Autoencoder</a:t>
            </a:r>
            <a:b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br>
            <a:r>
              <a:rPr kumimoji="1" lang="en-IN" sz="20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 (IIT Kharagpur.. Prof. Biswas)</a:t>
            </a:r>
            <a:endParaRPr lang="en-IN" dirty="0"/>
          </a:p>
        </p:txBody>
      </p:sp>
      <p:sp>
        <p:nvSpPr>
          <p:cNvPr id="2" name="TextBox 1">
            <a:extLst>
              <a:ext uri="{FF2B5EF4-FFF2-40B4-BE49-F238E27FC236}">
                <a16:creationId xmlns:a16="http://schemas.microsoft.com/office/drawing/2014/main" id="{0A4F259B-AEA8-CC1F-E941-3BB247F4344C}"/>
              </a:ext>
            </a:extLst>
          </p:cNvPr>
          <p:cNvSpPr txBox="1"/>
          <p:nvPr/>
        </p:nvSpPr>
        <p:spPr>
          <a:xfrm>
            <a:off x="1027691" y="2292984"/>
            <a:ext cx="11164309" cy="4550798"/>
          </a:xfrm>
          <a:prstGeom prst="rect">
            <a:avLst/>
          </a:prstGeom>
          <a:noFill/>
          <a:ln>
            <a:solidFill>
              <a:srgbClr val="000000"/>
            </a:solidFill>
          </a:ln>
        </p:spPr>
        <p:txBody>
          <a:bodyPr wrap="square" rtlCol="0">
            <a:spAutoFit/>
          </a:bodyPr>
          <a:lstStyle/>
          <a:p>
            <a:pPr marL="176213" indent="-176213">
              <a:lnSpc>
                <a:spcPct val="150000"/>
              </a:lnSpc>
              <a:buFont typeface="Arial" panose="020B0604020202020204" pitchFamily="34" charset="0"/>
              <a:buChar char="•"/>
            </a:pPr>
            <a:r>
              <a:rPr lang="en-IN" sz="1500" b="1" dirty="0">
                <a:solidFill>
                  <a:srgbClr val="FF0000"/>
                </a:solidFill>
              </a:rPr>
              <a:t>First equation is </a:t>
            </a:r>
            <a:r>
              <a:rPr lang="en-IN" sz="1500" dirty="0">
                <a:solidFill>
                  <a:srgbClr val="FF0000"/>
                </a:solidFill>
              </a:rPr>
              <a:t>the </a:t>
            </a:r>
            <a:r>
              <a:rPr lang="en-IN" sz="1500" b="1" dirty="0">
                <a:solidFill>
                  <a:srgbClr val="FF0000"/>
                </a:solidFill>
              </a:rPr>
              <a:t>back propagation error term in the case of EBPA.</a:t>
            </a:r>
          </a:p>
          <a:p>
            <a:pPr marL="176213" indent="-176213">
              <a:lnSpc>
                <a:spcPct val="150000"/>
              </a:lnSpc>
              <a:buFont typeface="Arial" panose="020B0604020202020204" pitchFamily="34" charset="0"/>
              <a:buChar char="•"/>
            </a:pPr>
            <a:r>
              <a:rPr lang="en-IN" sz="1500" dirty="0"/>
              <a:t>With </a:t>
            </a:r>
            <a:r>
              <a:rPr lang="en-IN" sz="1500" b="1" dirty="0">
                <a:solidFill>
                  <a:srgbClr val="FF0000"/>
                </a:solidFill>
              </a:rPr>
              <a:t>introduction of KL Divergence this tern gets modified as given in second equation</a:t>
            </a:r>
            <a:r>
              <a:rPr lang="en-IN" sz="1500" b="1" dirty="0"/>
              <a:t>.</a:t>
            </a:r>
          </a:p>
          <a:p>
            <a:pPr marL="176213" indent="-176213">
              <a:lnSpc>
                <a:spcPct val="150000"/>
              </a:lnSpc>
              <a:buFont typeface="Arial" panose="020B0604020202020204" pitchFamily="34" charset="0"/>
              <a:buChar char="•"/>
            </a:pPr>
            <a:r>
              <a:rPr lang="en-IN" sz="1500" dirty="0"/>
              <a:t>The second term needs to be introduced in back propagation error term and remaining EBPA learning remains same.</a:t>
            </a:r>
          </a:p>
          <a:p>
            <a:pPr marL="176213" indent="-176213">
              <a:lnSpc>
                <a:spcPct val="150000"/>
              </a:lnSpc>
              <a:buFont typeface="Arial" panose="020B0604020202020204" pitchFamily="34" charset="0"/>
              <a:buChar char="•"/>
            </a:pPr>
            <a:r>
              <a:rPr lang="en-IN" sz="1500" b="1" dirty="0">
                <a:solidFill>
                  <a:srgbClr val="FF0000"/>
                </a:solidFill>
              </a:rPr>
              <a:t>With introduction of KL divergence, For given input data, he average activation in hidden layer is restricted and few of the nodes in the hidden layer will be active and most of the nodes will be inactive. </a:t>
            </a:r>
          </a:p>
          <a:p>
            <a:pPr marL="176213" indent="-176213">
              <a:lnSpc>
                <a:spcPct val="150000"/>
              </a:lnSpc>
              <a:buFont typeface="Arial" panose="020B0604020202020204" pitchFamily="34" charset="0"/>
              <a:buChar char="•"/>
            </a:pPr>
            <a:r>
              <a:rPr lang="en-IN" sz="1500" b="1" dirty="0">
                <a:solidFill>
                  <a:srgbClr val="FF0000"/>
                </a:solidFill>
              </a:rPr>
              <a:t>For different input features, different set of hidden layer nodes will be active.</a:t>
            </a:r>
          </a:p>
          <a:p>
            <a:pPr marL="176213" indent="-176213">
              <a:lnSpc>
                <a:spcPct val="150000"/>
              </a:lnSpc>
              <a:buFont typeface="Arial" panose="020B0604020202020204" pitchFamily="34" charset="0"/>
              <a:buChar char="•"/>
            </a:pPr>
            <a:r>
              <a:rPr lang="en-IN" sz="1500" dirty="0"/>
              <a:t>Based on silent features of input data particular hidden layer neurons will be activated. Different nodes in the hidden layer neurons will be activated for different types of features in the input. </a:t>
            </a:r>
            <a:r>
              <a:rPr lang="en-IN" sz="1500" dirty="0" err="1"/>
              <a:t>i.e</a:t>
            </a:r>
            <a:r>
              <a:rPr lang="en-IN" sz="1500" dirty="0"/>
              <a:t> different nodes learn different types of features in the input data. </a:t>
            </a:r>
            <a:r>
              <a:rPr lang="en-IN" sz="1500" dirty="0" err="1"/>
              <a:t>Eg</a:t>
            </a:r>
            <a:r>
              <a:rPr lang="en-IN" sz="1500" dirty="0"/>
              <a:t>: if a kind of feature k is present in the input data then kth node in the hidden layer will be activated. Same is true for different kind of features.</a:t>
            </a:r>
          </a:p>
          <a:p>
            <a:pPr marL="176213" indent="-176213">
              <a:lnSpc>
                <a:spcPct val="150000"/>
              </a:lnSpc>
              <a:buFont typeface="Arial" panose="020B0604020202020204" pitchFamily="34" charset="0"/>
              <a:buChar char="•"/>
            </a:pPr>
            <a:r>
              <a:rPr lang="en-IN" sz="1500" b="1" dirty="0"/>
              <a:t>Thus in Sparse Autoencoder, different nodes in the hidden layer learn different types of features in the input data.</a:t>
            </a:r>
          </a:p>
          <a:p>
            <a:pPr marL="176213" indent="-176213">
              <a:lnSpc>
                <a:spcPct val="150000"/>
              </a:lnSpc>
              <a:buFont typeface="Arial" panose="020B0604020202020204" pitchFamily="34" charset="0"/>
              <a:buChar char="•"/>
            </a:pPr>
            <a:r>
              <a:rPr lang="en-IN" sz="1500" b="1" dirty="0">
                <a:solidFill>
                  <a:srgbClr val="FF0000"/>
                </a:solidFill>
              </a:rPr>
              <a:t>Thus in Sparse Autoencoder, in spite of having more no of hidden nodes as compared to no of input nodes, its still able to learn compressed representation of input data (which is learned by introducing sparsity constraint).</a:t>
            </a:r>
          </a:p>
        </p:txBody>
      </p:sp>
      <p:pic>
        <p:nvPicPr>
          <p:cNvPr id="3" name="Picture 2">
            <a:extLst>
              <a:ext uri="{FF2B5EF4-FFF2-40B4-BE49-F238E27FC236}">
                <a16:creationId xmlns:a16="http://schemas.microsoft.com/office/drawing/2014/main" id="{91EA6292-D392-071E-356A-4038A3127B10}"/>
              </a:ext>
            </a:extLst>
          </p:cNvPr>
          <p:cNvPicPr>
            <a:picLocks noChangeAspect="1"/>
          </p:cNvPicPr>
          <p:nvPr/>
        </p:nvPicPr>
        <p:blipFill>
          <a:blip r:embed="rId3"/>
          <a:srcRect l="25817" t="68088" r="12858" b="9202"/>
          <a:stretch/>
        </p:blipFill>
        <p:spPr>
          <a:xfrm>
            <a:off x="112184" y="0"/>
            <a:ext cx="5983816" cy="970671"/>
          </a:xfrm>
          <a:prstGeom prst="rect">
            <a:avLst/>
          </a:prstGeom>
          <a:ln>
            <a:solidFill>
              <a:schemeClr val="tx1"/>
            </a:solidFill>
          </a:ln>
        </p:spPr>
      </p:pic>
    </p:spTree>
    <p:extLst>
      <p:ext uri="{BB962C8B-B14F-4D97-AF65-F5344CB8AC3E}">
        <p14:creationId xmlns:p14="http://schemas.microsoft.com/office/powerpoint/2010/main" val="24234284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7B266-AD4D-4CCC-9EE4-EC0BB868B344}"/>
              </a:ext>
            </a:extLst>
          </p:cNvPr>
          <p:cNvSpPr>
            <a:spLocks noGrp="1"/>
          </p:cNvSpPr>
          <p:nvPr>
            <p:ph type="title"/>
          </p:nvPr>
        </p:nvSpPr>
        <p:spPr/>
        <p:txBody>
          <a:bodyPr/>
          <a:lstStyle/>
          <a:p>
            <a:r>
              <a:rPr lang="en-IN" dirty="0"/>
              <a:t>Sparse Autoencoder </a:t>
            </a:r>
            <a:r>
              <a:rPr lang="en-IN" sz="2000" dirty="0"/>
              <a:t>(Good Fellow)</a:t>
            </a:r>
          </a:p>
        </p:txBody>
      </p:sp>
      <p:sp>
        <p:nvSpPr>
          <p:cNvPr id="3" name="Content Placeholder 2">
            <a:extLst>
              <a:ext uri="{FF2B5EF4-FFF2-40B4-BE49-F238E27FC236}">
                <a16:creationId xmlns:a16="http://schemas.microsoft.com/office/drawing/2014/main" id="{F57E1F1A-75A3-4629-90A7-42A6B2E3384C}"/>
              </a:ext>
            </a:extLst>
          </p:cNvPr>
          <p:cNvSpPr>
            <a:spLocks noGrp="1"/>
          </p:cNvSpPr>
          <p:nvPr>
            <p:ph idx="1"/>
          </p:nvPr>
        </p:nvSpPr>
        <p:spPr>
          <a:xfrm>
            <a:off x="1117602" y="2362201"/>
            <a:ext cx="10658388" cy="4495799"/>
          </a:xfrm>
          <a:ln>
            <a:solidFill>
              <a:srgbClr val="000000"/>
            </a:solidFill>
          </a:ln>
        </p:spPr>
        <p:txBody>
          <a:bodyPr/>
          <a:lstStyle/>
          <a:p>
            <a:r>
              <a:rPr lang="en-US" sz="1600" dirty="0">
                <a:solidFill>
                  <a:srgbClr val="002060"/>
                </a:solidFill>
                <a:latin typeface="Arial"/>
                <a:ea typeface="新細明體"/>
              </a:rPr>
              <a:t>Sparse autoencoders have hidden nodes greater than input nodes. They can still discover important features from the data.</a:t>
            </a:r>
          </a:p>
          <a:p>
            <a:r>
              <a:rPr lang="en-US" sz="1600" b="1" dirty="0">
                <a:solidFill>
                  <a:srgbClr val="002060"/>
                </a:solidFill>
                <a:latin typeface="Arial"/>
                <a:ea typeface="新細明體"/>
              </a:rPr>
              <a:t>Sparsity constraint is introduced on the hidden layer</a:t>
            </a:r>
            <a:r>
              <a:rPr lang="en-US" sz="1600" dirty="0">
                <a:solidFill>
                  <a:srgbClr val="002060"/>
                </a:solidFill>
                <a:latin typeface="Arial"/>
                <a:ea typeface="新細明體"/>
              </a:rPr>
              <a:t>. This is to prevent output layer copy input data.</a:t>
            </a:r>
            <a:r>
              <a:rPr kumimoji="1" lang="en-US" altLang="en-US" sz="1600" b="0" i="0" u="none" strike="noStrike" kern="1200" cap="none" spc="0" normalizeH="0" baseline="0" noProof="0" dirty="0">
                <a:ln>
                  <a:noFill/>
                </a:ln>
                <a:solidFill>
                  <a:srgbClr val="002060"/>
                </a:solidFill>
                <a:effectLst/>
                <a:uLnTx/>
                <a:uFillTx/>
                <a:latin typeface="Arial"/>
                <a:ea typeface="新細明體"/>
                <a:cs typeface="+mn-cs"/>
              </a:rPr>
              <a:t> </a:t>
            </a:r>
            <a:r>
              <a:rPr lang="en-US" sz="1600" dirty="0">
                <a:solidFill>
                  <a:srgbClr val="002060"/>
                </a:solidFill>
                <a:latin typeface="Arial"/>
                <a:ea typeface="新細明體"/>
              </a:rPr>
              <a:t>Sparse autoencoders have a sparsity penalty, Ω(h), a value close to zero but not zero. Sparsity penalty is applied on the hidden layer in addition to the reconstruction error. </a:t>
            </a:r>
          </a:p>
          <a:p>
            <a:r>
              <a:rPr lang="en-US" sz="1600" b="1" dirty="0">
                <a:solidFill>
                  <a:srgbClr val="002060"/>
                </a:solidFill>
                <a:latin typeface="Arial"/>
                <a:ea typeface="新細明體"/>
              </a:rPr>
              <a:t>L1 regularization……                                                   </a:t>
            </a:r>
          </a:p>
          <a:p>
            <a:endParaRPr lang="en-US" sz="1600" b="1" dirty="0">
              <a:solidFill>
                <a:srgbClr val="002060"/>
              </a:solidFill>
              <a:latin typeface="Arial"/>
              <a:ea typeface="新細明體"/>
            </a:endParaRPr>
          </a:p>
          <a:p>
            <a:r>
              <a:rPr lang="en-US" sz="1600" b="1" dirty="0">
                <a:solidFill>
                  <a:srgbClr val="002060"/>
                </a:solidFill>
                <a:latin typeface="Arial"/>
                <a:ea typeface="新細明體"/>
              </a:rPr>
              <a:t>KL Divergence</a:t>
            </a:r>
          </a:p>
          <a:p>
            <a:endParaRPr lang="en-US" sz="1600" dirty="0">
              <a:solidFill>
                <a:srgbClr val="002060"/>
              </a:solidFill>
              <a:latin typeface="Arial"/>
              <a:ea typeface="新細明體"/>
            </a:endParaRP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kumimoji="1" lang="en-US" altLang="en-US" sz="1600" b="0" i="0" u="none" strike="noStrike" kern="1200" cap="none" spc="0" normalizeH="0" baseline="0" noProof="0" dirty="0">
                <a:ln>
                  <a:noFill/>
                </a:ln>
                <a:solidFill>
                  <a:srgbClr val="002060"/>
                </a:solidFill>
                <a:effectLst/>
                <a:uLnTx/>
                <a:uFillTx/>
                <a:latin typeface="Arial"/>
                <a:ea typeface="新細明體"/>
                <a:cs typeface="+mn-cs"/>
              </a:rPr>
              <a:t>Adding a sparsity penalty helps the autoencoder to capture many of the useful features of data and not simply copy it.</a:t>
            </a:r>
          </a:p>
          <a:p>
            <a:r>
              <a:rPr lang="en-US" sz="1600" b="1" dirty="0">
                <a:solidFill>
                  <a:srgbClr val="002060"/>
                </a:solidFill>
                <a:latin typeface="Arial"/>
                <a:ea typeface="新細明體"/>
              </a:rPr>
              <a:t>Sparse autoencoders take the highest activation values in the hidden layer and zero out the rest of the hidden nodes. This prevents autoencoders to use all of the hidden nodes at a time and forcing only a reduced number of hidden nodes to be used.</a:t>
            </a:r>
          </a:p>
          <a:p>
            <a:r>
              <a:rPr lang="en-US" sz="1600" dirty="0">
                <a:solidFill>
                  <a:srgbClr val="002060"/>
                </a:solidFill>
                <a:latin typeface="Arial"/>
                <a:ea typeface="新細明體"/>
              </a:rPr>
              <a:t>As we activate and inactivate hidden nodes for each row in the dataset. Each hidden node extracts a feature from the data.</a:t>
            </a:r>
          </a:p>
          <a:p>
            <a:endParaRPr lang="en-US" sz="1600" dirty="0">
              <a:solidFill>
                <a:srgbClr val="23373B"/>
              </a:solidFill>
              <a:latin typeface="Arial"/>
              <a:ea typeface="新細明體"/>
            </a:endParaRPr>
          </a:p>
          <a:p>
            <a:endParaRPr lang="en-IN" sz="1600" dirty="0">
              <a:solidFill>
                <a:srgbClr val="23373B"/>
              </a:solidFill>
              <a:latin typeface="Arial"/>
              <a:ea typeface="新細明體"/>
            </a:endParaRPr>
          </a:p>
        </p:txBody>
      </p:sp>
      <p:sp>
        <p:nvSpPr>
          <p:cNvPr id="4" name="Slide Number Placeholder 3">
            <a:extLst>
              <a:ext uri="{FF2B5EF4-FFF2-40B4-BE49-F238E27FC236}">
                <a16:creationId xmlns:a16="http://schemas.microsoft.com/office/drawing/2014/main" id="{9607A12D-94DB-47F1-957F-23E67E794A90}"/>
              </a:ext>
            </a:extLst>
          </p:cNvPr>
          <p:cNvSpPr>
            <a:spLocks noGrp="1"/>
          </p:cNvSpPr>
          <p:nvPr>
            <p:ph type="sldNum" sz="quarter" idx="12"/>
          </p:nvPr>
        </p:nvSpPr>
        <p:spPr/>
        <p:txBody>
          <a:bodyPr/>
          <a:lstStyle/>
          <a:p>
            <a:pPr>
              <a:defRPr/>
            </a:pPr>
            <a:fld id="{9AD681D7-8A59-4380-9311-10B86FF921AA}" type="slidenum">
              <a:rPr lang="en-US" altLang="zh-TW" smtClean="0"/>
              <a:pPr>
                <a:defRPr/>
              </a:pPr>
              <a:t>55</a:t>
            </a:fld>
            <a:endParaRPr lang="en-US" altLang="zh-TW"/>
          </a:p>
        </p:txBody>
      </p:sp>
      <p:pic>
        <p:nvPicPr>
          <p:cNvPr id="3077" name="Picture 5">
            <a:extLst>
              <a:ext uri="{FF2B5EF4-FFF2-40B4-BE49-F238E27FC236}">
                <a16:creationId xmlns:a16="http://schemas.microsoft.com/office/drawing/2014/main" id="{78BFBFA8-32B1-4D3F-99E8-EA369001F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9350" y="3712678"/>
            <a:ext cx="2609850" cy="504825"/>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22">
            <a:extLst>
              <a:ext uri="{FF2B5EF4-FFF2-40B4-BE49-F238E27FC236}">
                <a16:creationId xmlns:a16="http://schemas.microsoft.com/office/drawing/2014/main" id="{5218DD1C-A82B-6738-46BC-F91CE4CC4410}"/>
              </a:ext>
            </a:extLst>
          </p:cNvPr>
          <p:cNvSpPr txBox="1"/>
          <p:nvPr/>
        </p:nvSpPr>
        <p:spPr>
          <a:xfrm>
            <a:off x="9278796" y="144262"/>
            <a:ext cx="2732390" cy="1760738"/>
          </a:xfrm>
          <a:prstGeom prst="rect">
            <a:avLst/>
          </a:prstGeom>
          <a:ln w="38100">
            <a:solidFill>
              <a:srgbClr val="00B050"/>
            </a:solidFill>
          </a:ln>
        </p:spPr>
        <p:txBody>
          <a:bodyPr vert="horz" wrap="square" lIns="0" tIns="36830" rIns="0" bIns="0" rtlCol="0">
            <a:spAutoFit/>
          </a:bodyPr>
          <a:lstStyle/>
          <a:p>
            <a:pPr marL="59055">
              <a:lnSpc>
                <a:spcPct val="100000"/>
              </a:lnSpc>
              <a:spcBef>
                <a:spcPts val="290"/>
              </a:spcBef>
            </a:pPr>
            <a:r>
              <a:rPr sz="1600" dirty="0">
                <a:cs typeface="Cambria Math"/>
              </a:rPr>
              <a:t>𝒙</a:t>
            </a:r>
            <a:r>
              <a:rPr sz="1600" spc="90" dirty="0">
                <a:cs typeface="Cambria Math"/>
              </a:rPr>
              <a:t> </a:t>
            </a:r>
            <a:r>
              <a:rPr sz="1600" dirty="0">
                <a:cs typeface="Cambria Math"/>
              </a:rPr>
              <a:t>∶</a:t>
            </a:r>
            <a:r>
              <a:rPr sz="1600" spc="90" dirty="0">
                <a:cs typeface="Cambria Math"/>
              </a:rPr>
              <a:t> </a:t>
            </a:r>
            <a:r>
              <a:rPr sz="1600" spc="-5" dirty="0">
                <a:cs typeface="Cambria Math"/>
              </a:rPr>
              <a:t>𝒊𝒏𝒑𝒖𝒕</a:t>
            </a:r>
            <a:r>
              <a:rPr sz="1600" spc="-20" dirty="0">
                <a:cs typeface="Cambria Math"/>
              </a:rPr>
              <a:t> </a:t>
            </a:r>
            <a:r>
              <a:rPr sz="1600" spc="-5" dirty="0">
                <a:cs typeface="Cambria Math"/>
              </a:rPr>
              <a:t>𝒅𝒂𝒕𝒂</a:t>
            </a:r>
            <a:endParaRPr sz="1600" dirty="0">
              <a:cs typeface="Cambria Math"/>
            </a:endParaRPr>
          </a:p>
          <a:p>
            <a:pPr marL="65405">
              <a:lnSpc>
                <a:spcPct val="100000"/>
              </a:lnSpc>
            </a:pPr>
            <a:r>
              <a:rPr sz="1600" dirty="0">
                <a:cs typeface="Cambria Math"/>
              </a:rPr>
              <a:t>𝒉</a:t>
            </a:r>
            <a:r>
              <a:rPr sz="1600" spc="90" dirty="0">
                <a:cs typeface="Cambria Math"/>
              </a:rPr>
              <a:t> </a:t>
            </a:r>
            <a:r>
              <a:rPr sz="1600" dirty="0">
                <a:cs typeface="Cambria Math"/>
              </a:rPr>
              <a:t>∶</a:t>
            </a:r>
            <a:r>
              <a:rPr sz="1600" spc="90" dirty="0">
                <a:cs typeface="Cambria Math"/>
              </a:rPr>
              <a:t> </a:t>
            </a:r>
            <a:r>
              <a:rPr sz="1600" spc="-5" dirty="0">
                <a:cs typeface="Cambria Math"/>
              </a:rPr>
              <a:t>𝒄𝒐𝒅𝒆𝒅</a:t>
            </a:r>
            <a:r>
              <a:rPr sz="1600" spc="-20" dirty="0">
                <a:cs typeface="Cambria Math"/>
              </a:rPr>
              <a:t> </a:t>
            </a:r>
            <a:r>
              <a:rPr sz="1600" spc="-5" dirty="0">
                <a:cs typeface="Cambria Math"/>
              </a:rPr>
              <a:t>𝒅𝒂𝒕𝒂</a:t>
            </a:r>
            <a:endParaRPr sz="1600" dirty="0">
              <a:cs typeface="Cambria Math"/>
            </a:endParaRPr>
          </a:p>
          <a:p>
            <a:pPr marL="65405">
              <a:lnSpc>
                <a:spcPct val="100000"/>
              </a:lnSpc>
            </a:pPr>
            <a:r>
              <a:rPr sz="1600" dirty="0">
                <a:cs typeface="Cambria Math"/>
              </a:rPr>
              <a:t>𝑳</a:t>
            </a:r>
            <a:r>
              <a:rPr sz="1600" spc="95" dirty="0">
                <a:cs typeface="Cambria Math"/>
              </a:rPr>
              <a:t> </a:t>
            </a:r>
            <a:r>
              <a:rPr sz="1600" dirty="0">
                <a:cs typeface="Cambria Math"/>
              </a:rPr>
              <a:t>∶</a:t>
            </a:r>
            <a:r>
              <a:rPr sz="1600" spc="90" dirty="0">
                <a:cs typeface="Cambria Math"/>
              </a:rPr>
              <a:t> </a:t>
            </a:r>
            <a:r>
              <a:rPr sz="1600" spc="-5" dirty="0">
                <a:cs typeface="Cambria Math"/>
              </a:rPr>
              <a:t>𝒍𝒐𝒔𝒔</a:t>
            </a:r>
            <a:r>
              <a:rPr sz="1600" spc="-20" dirty="0">
                <a:cs typeface="Cambria Math"/>
              </a:rPr>
              <a:t> </a:t>
            </a:r>
            <a:r>
              <a:rPr sz="1600" spc="-5" dirty="0">
                <a:cs typeface="Cambria Math"/>
              </a:rPr>
              <a:t>𝒇𝒖𝒏𝒄𝒕𝒐𝒊𝒏</a:t>
            </a:r>
            <a:endParaRPr sz="1600" dirty="0">
              <a:cs typeface="Cambria Math"/>
            </a:endParaRPr>
          </a:p>
          <a:p>
            <a:pPr marL="65405">
              <a:lnSpc>
                <a:spcPct val="100000"/>
              </a:lnSpc>
            </a:pPr>
            <a:r>
              <a:rPr sz="1600" dirty="0">
                <a:cs typeface="Cambria Math"/>
              </a:rPr>
              <a:t>𝒇</a:t>
            </a:r>
            <a:r>
              <a:rPr sz="1600" spc="60" dirty="0">
                <a:cs typeface="Cambria Math"/>
              </a:rPr>
              <a:t> </a:t>
            </a:r>
            <a:r>
              <a:rPr sz="1600" dirty="0">
                <a:cs typeface="Cambria Math"/>
              </a:rPr>
              <a:t>∶</a:t>
            </a:r>
            <a:r>
              <a:rPr sz="1600" spc="65" dirty="0">
                <a:cs typeface="Cambria Math"/>
              </a:rPr>
              <a:t> </a:t>
            </a:r>
            <a:r>
              <a:rPr sz="1600" dirty="0">
                <a:cs typeface="Cambria Math"/>
              </a:rPr>
              <a:t>𝒆𝒏𝒄𝒐𝒅𝒊𝒏𝒈</a:t>
            </a:r>
          </a:p>
          <a:p>
            <a:pPr marL="51435">
              <a:lnSpc>
                <a:spcPct val="100000"/>
              </a:lnSpc>
            </a:pPr>
            <a:r>
              <a:rPr sz="1600" dirty="0">
                <a:cs typeface="Cambria Math"/>
              </a:rPr>
              <a:t>𝒈</a:t>
            </a:r>
            <a:r>
              <a:rPr sz="1600" spc="75" dirty="0">
                <a:cs typeface="Cambria Math"/>
              </a:rPr>
              <a:t> </a:t>
            </a:r>
            <a:r>
              <a:rPr sz="1600" dirty="0">
                <a:cs typeface="Cambria Math"/>
              </a:rPr>
              <a:t>∶</a:t>
            </a:r>
            <a:r>
              <a:rPr sz="1600" spc="85" dirty="0">
                <a:cs typeface="Cambria Math"/>
              </a:rPr>
              <a:t> </a:t>
            </a:r>
            <a:r>
              <a:rPr sz="1600" spc="-5" dirty="0">
                <a:cs typeface="Cambria Math"/>
              </a:rPr>
              <a:t>𝒅𝒆𝒄𝒐𝒅𝒊𝒏𝒈</a:t>
            </a:r>
            <a:endParaRPr sz="1600" dirty="0">
              <a:cs typeface="Cambria Math"/>
            </a:endParaRPr>
          </a:p>
          <a:p>
            <a:pPr marL="65405">
              <a:lnSpc>
                <a:spcPct val="100000"/>
              </a:lnSpc>
            </a:pPr>
            <a:r>
              <a:rPr sz="1600" dirty="0">
                <a:cs typeface="Cambria Math"/>
              </a:rPr>
              <a:t>𝛀</a:t>
            </a:r>
            <a:r>
              <a:rPr sz="1600" spc="95" dirty="0">
                <a:cs typeface="Cambria Math"/>
              </a:rPr>
              <a:t> </a:t>
            </a:r>
            <a:r>
              <a:rPr sz="1600" dirty="0">
                <a:cs typeface="Cambria Math"/>
              </a:rPr>
              <a:t>∶</a:t>
            </a:r>
            <a:r>
              <a:rPr sz="1600" spc="100" dirty="0">
                <a:cs typeface="Cambria Math"/>
              </a:rPr>
              <a:t> </a:t>
            </a:r>
            <a:r>
              <a:rPr sz="1600" spc="-5" dirty="0">
                <a:cs typeface="Cambria Math"/>
              </a:rPr>
              <a:t>𝐩𝐞𝐧𝐚𝐥𝐭𝐲</a:t>
            </a:r>
            <a:r>
              <a:rPr sz="1600" spc="-20" dirty="0">
                <a:cs typeface="Cambria Math"/>
              </a:rPr>
              <a:t> </a:t>
            </a:r>
            <a:r>
              <a:rPr sz="1600" spc="-5" dirty="0">
                <a:cs typeface="Cambria Math"/>
              </a:rPr>
              <a:t>𝐭𝐞𝐫𝐦</a:t>
            </a:r>
            <a:endParaRPr sz="1600" dirty="0">
              <a:cs typeface="Cambria Math"/>
            </a:endParaRPr>
          </a:p>
          <a:p>
            <a:pPr marL="65405">
              <a:lnSpc>
                <a:spcPct val="100000"/>
              </a:lnSpc>
            </a:pPr>
            <a:r>
              <a:rPr sz="1600" dirty="0">
                <a:cs typeface="Cambria Math"/>
              </a:rPr>
              <a:t>𝝀</a:t>
            </a:r>
            <a:r>
              <a:rPr sz="1600" spc="95" dirty="0">
                <a:cs typeface="Cambria Math"/>
              </a:rPr>
              <a:t> </a:t>
            </a:r>
            <a:r>
              <a:rPr sz="1600" dirty="0">
                <a:cs typeface="Cambria Math"/>
              </a:rPr>
              <a:t>∶</a:t>
            </a:r>
            <a:r>
              <a:rPr sz="1600" spc="105" dirty="0">
                <a:cs typeface="Cambria Math"/>
              </a:rPr>
              <a:t> </a:t>
            </a:r>
            <a:r>
              <a:rPr sz="1600" spc="-5" dirty="0">
                <a:cs typeface="Cambria Math"/>
              </a:rPr>
              <a:t>𝐢𝐦𝐩𝐨𝐫𝐭𝐚𝐧𝐜𝐞</a:t>
            </a:r>
            <a:r>
              <a:rPr sz="1600" spc="-15" dirty="0">
                <a:cs typeface="Cambria Math"/>
              </a:rPr>
              <a:t> </a:t>
            </a:r>
            <a:r>
              <a:rPr sz="1600" spc="-5" dirty="0">
                <a:cs typeface="Cambria Math"/>
              </a:rPr>
              <a:t>𝐨𝐟</a:t>
            </a:r>
            <a:r>
              <a:rPr sz="1600" spc="-10" dirty="0">
                <a:cs typeface="Cambria Math"/>
              </a:rPr>
              <a:t> </a:t>
            </a:r>
            <a:r>
              <a:rPr sz="1600" spc="-5" dirty="0">
                <a:cs typeface="Cambria Math"/>
              </a:rPr>
              <a:t>𝐜𝐨𝐧𝐬𝐭𝐫𝐚𝐧𝐭</a:t>
            </a:r>
            <a:endParaRPr sz="1600" dirty="0">
              <a:cs typeface="Cambria Math"/>
            </a:endParaRPr>
          </a:p>
        </p:txBody>
      </p:sp>
      <p:pic>
        <p:nvPicPr>
          <p:cNvPr id="6" name="object 11">
            <a:extLst>
              <a:ext uri="{FF2B5EF4-FFF2-40B4-BE49-F238E27FC236}">
                <a16:creationId xmlns:a16="http://schemas.microsoft.com/office/drawing/2014/main" id="{2DDF0821-BC6F-8E43-1058-15E6DAC8AC2E}"/>
              </a:ext>
            </a:extLst>
          </p:cNvPr>
          <p:cNvPicPr/>
          <p:nvPr/>
        </p:nvPicPr>
        <p:blipFill>
          <a:blip r:embed="rId3" cstate="print"/>
          <a:stretch>
            <a:fillRect/>
          </a:stretch>
        </p:blipFill>
        <p:spPr>
          <a:xfrm>
            <a:off x="8174111" y="3712677"/>
            <a:ext cx="2209369" cy="504825"/>
          </a:xfrm>
          <a:prstGeom prst="rect">
            <a:avLst/>
          </a:prstGeom>
          <a:ln>
            <a:solidFill>
              <a:srgbClr val="000000"/>
            </a:solidFill>
          </a:ln>
        </p:spPr>
      </p:pic>
    </p:spTree>
    <p:extLst>
      <p:ext uri="{BB962C8B-B14F-4D97-AF65-F5344CB8AC3E}">
        <p14:creationId xmlns:p14="http://schemas.microsoft.com/office/powerpoint/2010/main" val="917766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4312-D38A-415F-8B13-DD9A9507B9D5}"/>
              </a:ext>
            </a:extLst>
          </p:cNvPr>
          <p:cNvSpPr>
            <a:spLocks noGrp="1"/>
          </p:cNvSpPr>
          <p:nvPr>
            <p:ph type="title"/>
          </p:nvPr>
        </p:nvSpPr>
        <p:spPr/>
        <p:txBody>
          <a:bodyPr/>
          <a:lstStyle/>
          <a:p>
            <a:r>
              <a:rPr lang="en-IN" dirty="0"/>
              <a:t>Sparse autoencoder </a:t>
            </a:r>
            <a:r>
              <a:rPr kumimoji="1" lang="en-IN" sz="20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(Good Fellow)</a:t>
            </a:r>
            <a:endParaRPr lang="en-IN" dirty="0"/>
          </a:p>
        </p:txBody>
      </p:sp>
      <p:sp>
        <p:nvSpPr>
          <p:cNvPr id="3" name="Content Placeholder 2">
            <a:extLst>
              <a:ext uri="{FF2B5EF4-FFF2-40B4-BE49-F238E27FC236}">
                <a16:creationId xmlns:a16="http://schemas.microsoft.com/office/drawing/2014/main" id="{9FD547CD-A26B-444F-8EF4-C8BE76F2D8F0}"/>
              </a:ext>
            </a:extLst>
          </p:cNvPr>
          <p:cNvSpPr>
            <a:spLocks noGrp="1"/>
          </p:cNvSpPr>
          <p:nvPr>
            <p:ph idx="1"/>
          </p:nvPr>
        </p:nvSpPr>
        <p:spPr>
          <a:xfrm>
            <a:off x="1117601" y="2362201"/>
            <a:ext cx="10865852" cy="4495799"/>
          </a:xfrm>
          <a:ln>
            <a:solidFill>
              <a:srgbClr val="000000"/>
            </a:solid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600" b="1" dirty="0">
                <a:solidFill>
                  <a:srgbClr val="002060"/>
                </a:solidFill>
                <a:latin typeface="Arial"/>
                <a:ea typeface="新細明體"/>
              </a:rPr>
              <a:t>The following is an image showing MNIST digits. The first row shows the original images and the second row shows the images reconstructed by a sparse autoencoder</a:t>
            </a:r>
            <a:endParaRPr lang="en-IN" b="1" dirty="0">
              <a:solidFill>
                <a:srgbClr val="002060"/>
              </a:solidFill>
            </a:endParaRPr>
          </a:p>
        </p:txBody>
      </p:sp>
      <p:sp>
        <p:nvSpPr>
          <p:cNvPr id="4" name="Slide Number Placeholder 3">
            <a:extLst>
              <a:ext uri="{FF2B5EF4-FFF2-40B4-BE49-F238E27FC236}">
                <a16:creationId xmlns:a16="http://schemas.microsoft.com/office/drawing/2014/main" id="{735B55DE-E1C1-469E-9CE0-2EAE27F12020}"/>
              </a:ext>
            </a:extLst>
          </p:cNvPr>
          <p:cNvSpPr>
            <a:spLocks noGrp="1"/>
          </p:cNvSpPr>
          <p:nvPr>
            <p:ph type="sldNum" sz="quarter" idx="12"/>
          </p:nvPr>
        </p:nvSpPr>
        <p:spPr/>
        <p:txBody>
          <a:bodyPr/>
          <a:lstStyle/>
          <a:p>
            <a:pPr>
              <a:defRPr/>
            </a:pPr>
            <a:fld id="{9AD681D7-8A59-4380-9311-10B86FF921AA}" type="slidenum">
              <a:rPr lang="en-US" altLang="zh-TW" smtClean="0"/>
              <a:pPr>
                <a:defRPr/>
              </a:pPr>
              <a:t>56</a:t>
            </a:fld>
            <a:endParaRPr lang="en-US" altLang="zh-TW"/>
          </a:p>
        </p:txBody>
      </p:sp>
      <p:sp>
        <p:nvSpPr>
          <p:cNvPr id="5" name="Rectangle 1">
            <a:extLst>
              <a:ext uri="{FF2B5EF4-FFF2-40B4-BE49-F238E27FC236}">
                <a16:creationId xmlns:a16="http://schemas.microsoft.com/office/drawing/2014/main" id="{172B68BC-7474-4684-A77D-D95D37D947A4}"/>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Working of Sparse Autoencoders">
            <a:extLst>
              <a:ext uri="{FF2B5EF4-FFF2-40B4-BE49-F238E27FC236}">
                <a16:creationId xmlns:a16="http://schemas.microsoft.com/office/drawing/2014/main" id="{FA880560-E5AB-42D8-A729-DF5365EFE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700" y="3034966"/>
            <a:ext cx="5715000" cy="14668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9E5913F-F669-3BF1-6187-34AD718DA408}"/>
              </a:ext>
            </a:extLst>
          </p:cNvPr>
          <p:cNvSpPr txBox="1"/>
          <p:nvPr/>
        </p:nvSpPr>
        <p:spPr>
          <a:xfrm>
            <a:off x="1190518" y="4257121"/>
            <a:ext cx="10865852" cy="2585323"/>
          </a:xfrm>
          <a:prstGeom prst="rect">
            <a:avLst/>
          </a:prstGeom>
          <a:noFill/>
        </p:spPr>
        <p:txBody>
          <a:bodyPr wrap="square">
            <a:spAutoFit/>
          </a:bodyPr>
          <a:lstStyle/>
          <a:p>
            <a:r>
              <a:rPr lang="en-US" b="1" dirty="0">
                <a:solidFill>
                  <a:srgbClr val="FF0000"/>
                </a:solidFill>
              </a:rPr>
              <a:t>Advantages</a:t>
            </a:r>
          </a:p>
          <a:p>
            <a:pPr marL="84138" indent="-84138">
              <a:buFont typeface="Arial" panose="020B0604020202020204" pitchFamily="34" charset="0"/>
              <a:buChar char="•"/>
            </a:pPr>
            <a:r>
              <a:rPr lang="en-US" dirty="0"/>
              <a:t>The sparsity constraint in sparse autoencoders </a:t>
            </a:r>
            <a:r>
              <a:rPr lang="en-US" b="1" dirty="0"/>
              <a:t>helps in filtering out noise and irrelevant features during the encoding process.</a:t>
            </a:r>
          </a:p>
          <a:p>
            <a:pPr marL="84138" indent="-84138">
              <a:buFont typeface="Arial" panose="020B0604020202020204" pitchFamily="34" charset="0"/>
              <a:buChar char="•"/>
            </a:pPr>
            <a:r>
              <a:rPr lang="en-US" dirty="0"/>
              <a:t>These autoencoders </a:t>
            </a:r>
            <a:r>
              <a:rPr lang="en-US" b="1" dirty="0"/>
              <a:t>often learn important and meaningful features</a:t>
            </a:r>
            <a:r>
              <a:rPr lang="en-US" dirty="0"/>
              <a:t> due to their emphasis on sparse activations.</a:t>
            </a:r>
          </a:p>
          <a:p>
            <a:r>
              <a:rPr lang="en-US" b="1" dirty="0">
                <a:solidFill>
                  <a:srgbClr val="FF0000"/>
                </a:solidFill>
              </a:rPr>
              <a:t>Disadvantages</a:t>
            </a:r>
          </a:p>
          <a:p>
            <a:pPr marL="84138" indent="-84138">
              <a:buFont typeface="Arial" panose="020B0604020202020204" pitchFamily="34" charset="0"/>
              <a:buChar char="•"/>
            </a:pPr>
            <a:r>
              <a:rPr lang="en-US" dirty="0"/>
              <a:t>The </a:t>
            </a:r>
            <a:r>
              <a:rPr lang="en-US" b="1" dirty="0">
                <a:solidFill>
                  <a:srgbClr val="FF0000"/>
                </a:solidFill>
              </a:rPr>
              <a:t>choice of hyperparameters play a significant role in the performance of this autoencoder</a:t>
            </a:r>
            <a:r>
              <a:rPr lang="en-US" dirty="0">
                <a:solidFill>
                  <a:srgbClr val="FF0000"/>
                </a:solidFill>
              </a:rPr>
              <a:t>. </a:t>
            </a:r>
            <a:r>
              <a:rPr lang="en-US" dirty="0"/>
              <a:t>Different inputs should result in the activation of different nodes of the network.</a:t>
            </a:r>
          </a:p>
          <a:p>
            <a:pPr marL="84138" indent="-84138">
              <a:buFont typeface="Arial" panose="020B0604020202020204" pitchFamily="34" charset="0"/>
              <a:buChar char="•"/>
            </a:pPr>
            <a:r>
              <a:rPr lang="en-US" dirty="0"/>
              <a:t>The application of sparsity constraint </a:t>
            </a:r>
            <a:r>
              <a:rPr lang="en-US" b="1" dirty="0">
                <a:solidFill>
                  <a:srgbClr val="FF0000"/>
                </a:solidFill>
              </a:rPr>
              <a:t>increases computational complexity</a:t>
            </a:r>
            <a:r>
              <a:rPr lang="en-US" dirty="0"/>
              <a:t>.</a:t>
            </a:r>
            <a:endParaRPr lang="en-IN" dirty="0"/>
          </a:p>
        </p:txBody>
      </p:sp>
    </p:spTree>
    <p:extLst>
      <p:ext uri="{BB962C8B-B14F-4D97-AF65-F5344CB8AC3E}">
        <p14:creationId xmlns:p14="http://schemas.microsoft.com/office/powerpoint/2010/main" val="33819831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5250C7-99E9-60A8-A694-DAC375F5734C}"/>
              </a:ext>
            </a:extLst>
          </p:cNvPr>
          <p:cNvSpPr>
            <a:spLocks noGrp="1"/>
          </p:cNvSpPr>
          <p:nvPr>
            <p:ph idx="1"/>
          </p:nvPr>
        </p:nvSpPr>
        <p:spPr>
          <a:xfrm>
            <a:off x="1117601" y="2362201"/>
            <a:ext cx="10967307" cy="4368799"/>
          </a:xfrm>
          <a:ln>
            <a:solidFill>
              <a:srgbClr val="000000"/>
            </a:solidFill>
          </a:ln>
        </p:spPr>
        <p:txBody>
          <a:bodyPr/>
          <a:lstStyle/>
          <a:p>
            <a:r>
              <a:rPr lang="en-IN" sz="1800" dirty="0">
                <a:solidFill>
                  <a:srgbClr val="FF0000"/>
                </a:solidFill>
              </a:rPr>
              <a:t>Here instead of feeding input data, </a:t>
            </a:r>
            <a:r>
              <a:rPr lang="en-IN" sz="1800" b="1" dirty="0">
                <a:solidFill>
                  <a:srgbClr val="FF0000"/>
                </a:solidFill>
              </a:rPr>
              <a:t>corrupted data is given at input </a:t>
            </a:r>
            <a:r>
              <a:rPr lang="en-IN" sz="1800" dirty="0">
                <a:solidFill>
                  <a:srgbClr val="FF0000"/>
                </a:solidFill>
              </a:rPr>
              <a:t>and </a:t>
            </a:r>
            <a:r>
              <a:rPr lang="en-IN" sz="1800" b="1" dirty="0">
                <a:solidFill>
                  <a:srgbClr val="FF0000"/>
                </a:solidFill>
              </a:rPr>
              <a:t>output will be uncorrupted original input data.</a:t>
            </a:r>
          </a:p>
          <a:p>
            <a:r>
              <a:rPr lang="en-IN" sz="1800" dirty="0"/>
              <a:t>The autoencoder should be sensitive enough to the input data so that </a:t>
            </a:r>
            <a:r>
              <a:rPr lang="en-IN" sz="1800" b="1" dirty="0"/>
              <a:t>its able to reproduce input data </a:t>
            </a:r>
            <a:r>
              <a:rPr lang="en-IN" sz="1800" dirty="0"/>
              <a:t>but it should be insensitive enough to the input data so that it does not remember the input data but is </a:t>
            </a:r>
            <a:r>
              <a:rPr lang="en-IN" sz="1800" b="1" dirty="0"/>
              <a:t>able to generate compressed domain representation of input data. </a:t>
            </a:r>
          </a:p>
          <a:p>
            <a:r>
              <a:rPr lang="en-IN" sz="1800" dirty="0">
                <a:solidFill>
                  <a:srgbClr val="FF0000"/>
                </a:solidFill>
              </a:rPr>
              <a:t>In other words the auto encoder </a:t>
            </a:r>
            <a:r>
              <a:rPr lang="en-IN" sz="1800" b="1" dirty="0">
                <a:solidFill>
                  <a:srgbClr val="FF0000"/>
                </a:solidFill>
              </a:rPr>
              <a:t>will learn and remember  the silent features of input data instead of remembering whole input data.</a:t>
            </a:r>
          </a:p>
          <a:p>
            <a:r>
              <a:rPr lang="en-IN" sz="1800" dirty="0"/>
              <a:t>That means encoding-decoding scheme learnt by auto encoder should be generalizable . It </a:t>
            </a:r>
            <a:r>
              <a:rPr lang="en-IN" sz="1800" b="1" dirty="0"/>
              <a:t>should not memorize input data.</a:t>
            </a:r>
          </a:p>
          <a:p>
            <a:r>
              <a:rPr lang="en-IN" sz="1800" dirty="0">
                <a:solidFill>
                  <a:srgbClr val="FF0000"/>
                </a:solidFill>
              </a:rPr>
              <a:t>In case of Denoising auto encoder, </a:t>
            </a:r>
            <a:r>
              <a:rPr lang="en-IN" sz="1800" b="1" dirty="0">
                <a:solidFill>
                  <a:srgbClr val="FF0000"/>
                </a:solidFill>
              </a:rPr>
              <a:t>its trained with corrupted version of input data </a:t>
            </a:r>
            <a:r>
              <a:rPr lang="en-IN" sz="1800" dirty="0">
                <a:solidFill>
                  <a:srgbClr val="FF0000"/>
                </a:solidFill>
              </a:rPr>
              <a:t>and </a:t>
            </a:r>
            <a:r>
              <a:rPr lang="en-IN" sz="1800" b="1" dirty="0">
                <a:solidFill>
                  <a:srgbClr val="FF0000"/>
                </a:solidFill>
              </a:rPr>
              <a:t>output is expected to be uncorrupted version of original data.  </a:t>
            </a:r>
          </a:p>
          <a:p>
            <a:r>
              <a:rPr lang="en-IN" sz="1800" dirty="0"/>
              <a:t>As input and output is different auto encoder can not memorize input data anymore. As a result it learns the vector field that maps input data to a point on a low dimensional manifold.  </a:t>
            </a:r>
          </a:p>
        </p:txBody>
      </p:sp>
      <p:sp>
        <p:nvSpPr>
          <p:cNvPr id="4" name="Slide Number Placeholder 3">
            <a:extLst>
              <a:ext uri="{FF2B5EF4-FFF2-40B4-BE49-F238E27FC236}">
                <a16:creationId xmlns:a16="http://schemas.microsoft.com/office/drawing/2014/main" id="{546F81BB-696A-9A9A-E24F-D8DB341AA94B}"/>
              </a:ext>
            </a:extLst>
          </p:cNvPr>
          <p:cNvSpPr>
            <a:spLocks noGrp="1"/>
          </p:cNvSpPr>
          <p:nvPr>
            <p:ph type="sldNum" sz="quarter" idx="12"/>
          </p:nvPr>
        </p:nvSpPr>
        <p:spPr/>
        <p:txBody>
          <a:bodyPr/>
          <a:lstStyle/>
          <a:p>
            <a:pPr>
              <a:defRPr/>
            </a:pPr>
            <a:fld id="{9AD681D7-8A59-4380-9311-10B86FF921AA}" type="slidenum">
              <a:rPr lang="en-US" altLang="zh-TW" smtClean="0"/>
              <a:pPr>
                <a:defRPr/>
              </a:pPr>
              <a:t>57</a:t>
            </a:fld>
            <a:endParaRPr lang="en-US" altLang="zh-TW"/>
          </a:p>
        </p:txBody>
      </p:sp>
      <p:sp>
        <p:nvSpPr>
          <p:cNvPr id="5" name="Title 1">
            <a:extLst>
              <a:ext uri="{FF2B5EF4-FFF2-40B4-BE49-F238E27FC236}">
                <a16:creationId xmlns:a16="http://schemas.microsoft.com/office/drawing/2014/main" id="{A8545FAB-C623-B68F-EB0B-66A992F4C59F}"/>
              </a:ext>
            </a:extLst>
          </p:cNvPr>
          <p:cNvSpPr>
            <a:spLocks noGrp="1"/>
          </p:cNvSpPr>
          <p:nvPr>
            <p:ph type="title"/>
          </p:nvPr>
        </p:nvSpPr>
        <p:spPr>
          <a:xfrm>
            <a:off x="1016000" y="762000"/>
            <a:ext cx="10566400" cy="1143000"/>
          </a:xfrm>
        </p:spPr>
        <p:txBody>
          <a:bodyPr/>
          <a:lstStyle/>
          <a:p>
            <a:r>
              <a:rPr lang="en-US" altLang="en-US" dirty="0"/>
              <a:t>Denoising autoencoder </a:t>
            </a:r>
            <a:r>
              <a:rPr kumimoji="1" lang="en-IN" sz="20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(IIT Kharagpur.. Prof. Biswas)</a:t>
            </a:r>
            <a:endParaRPr lang="en-IN" dirty="0"/>
          </a:p>
        </p:txBody>
      </p:sp>
    </p:spTree>
    <p:extLst>
      <p:ext uri="{BB962C8B-B14F-4D97-AF65-F5344CB8AC3E}">
        <p14:creationId xmlns:p14="http://schemas.microsoft.com/office/powerpoint/2010/main" val="14819193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AE72221-4BF2-EAF8-0BB5-AE4B15230936}"/>
              </a:ext>
            </a:extLst>
          </p:cNvPr>
          <p:cNvPicPr>
            <a:picLocks noGrp="1" noChangeAspect="1"/>
          </p:cNvPicPr>
          <p:nvPr>
            <p:ph idx="1"/>
          </p:nvPr>
        </p:nvPicPr>
        <p:blipFill>
          <a:blip r:embed="rId2"/>
          <a:stretch>
            <a:fillRect/>
          </a:stretch>
        </p:blipFill>
        <p:spPr>
          <a:xfrm>
            <a:off x="1111635" y="2362200"/>
            <a:ext cx="7117965" cy="2590801"/>
          </a:xfrm>
          <a:ln>
            <a:solidFill>
              <a:srgbClr val="000000"/>
            </a:solidFill>
          </a:ln>
        </p:spPr>
      </p:pic>
      <p:sp>
        <p:nvSpPr>
          <p:cNvPr id="4" name="Slide Number Placeholder 3">
            <a:extLst>
              <a:ext uri="{FF2B5EF4-FFF2-40B4-BE49-F238E27FC236}">
                <a16:creationId xmlns:a16="http://schemas.microsoft.com/office/drawing/2014/main" id="{1B3B4A2B-34EA-5900-65DF-D7F6F5E65466}"/>
              </a:ext>
            </a:extLst>
          </p:cNvPr>
          <p:cNvSpPr>
            <a:spLocks noGrp="1"/>
          </p:cNvSpPr>
          <p:nvPr>
            <p:ph type="sldNum" sz="quarter" idx="12"/>
          </p:nvPr>
        </p:nvSpPr>
        <p:spPr/>
        <p:txBody>
          <a:bodyPr/>
          <a:lstStyle/>
          <a:p>
            <a:pPr>
              <a:defRPr/>
            </a:pPr>
            <a:fld id="{9AD681D7-8A59-4380-9311-10B86FF921AA}" type="slidenum">
              <a:rPr lang="en-US" altLang="zh-TW" smtClean="0"/>
              <a:pPr>
                <a:defRPr/>
              </a:pPr>
              <a:t>58</a:t>
            </a:fld>
            <a:endParaRPr lang="en-US" altLang="zh-TW"/>
          </a:p>
        </p:txBody>
      </p:sp>
      <p:sp>
        <p:nvSpPr>
          <p:cNvPr id="9" name="Title 1">
            <a:extLst>
              <a:ext uri="{FF2B5EF4-FFF2-40B4-BE49-F238E27FC236}">
                <a16:creationId xmlns:a16="http://schemas.microsoft.com/office/drawing/2014/main" id="{15B594EA-1098-710E-78F0-EE0F3B680411}"/>
              </a:ext>
            </a:extLst>
          </p:cNvPr>
          <p:cNvSpPr>
            <a:spLocks noGrp="1"/>
          </p:cNvSpPr>
          <p:nvPr>
            <p:ph type="title"/>
          </p:nvPr>
        </p:nvSpPr>
        <p:spPr>
          <a:xfrm>
            <a:off x="1016000" y="762000"/>
            <a:ext cx="10566400" cy="1143000"/>
          </a:xfrm>
        </p:spPr>
        <p:txBody>
          <a:bodyPr/>
          <a:lstStyle/>
          <a:p>
            <a:r>
              <a:rPr lang="en-US" altLang="en-US" dirty="0"/>
              <a:t>Denoising autoencoder </a:t>
            </a:r>
            <a:r>
              <a:rPr kumimoji="1" lang="en-IN" sz="20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(IIT Kharagpur.. Prof. Biswas)</a:t>
            </a:r>
            <a:endParaRPr lang="en-IN" dirty="0"/>
          </a:p>
        </p:txBody>
      </p:sp>
      <p:sp>
        <p:nvSpPr>
          <p:cNvPr id="10" name="TextBox 9">
            <a:extLst>
              <a:ext uri="{FF2B5EF4-FFF2-40B4-BE49-F238E27FC236}">
                <a16:creationId xmlns:a16="http://schemas.microsoft.com/office/drawing/2014/main" id="{8CCF66DA-C2AF-1211-E161-92B1DB427308}"/>
              </a:ext>
            </a:extLst>
          </p:cNvPr>
          <p:cNvSpPr txBox="1"/>
          <p:nvPr/>
        </p:nvSpPr>
        <p:spPr>
          <a:xfrm>
            <a:off x="3759454" y="5040869"/>
            <a:ext cx="1951449" cy="369332"/>
          </a:xfrm>
          <a:prstGeom prst="rect">
            <a:avLst/>
          </a:prstGeom>
          <a:noFill/>
          <a:ln>
            <a:solidFill>
              <a:srgbClr val="000000"/>
            </a:solidFill>
          </a:ln>
        </p:spPr>
        <p:txBody>
          <a:bodyPr wrap="square" rtlCol="0">
            <a:spAutoFit/>
          </a:bodyPr>
          <a:lstStyle/>
          <a:p>
            <a:r>
              <a:rPr lang="en-IN" b="1" dirty="0"/>
              <a:t>Encoder</a:t>
            </a:r>
          </a:p>
        </p:txBody>
      </p:sp>
      <p:sp>
        <p:nvSpPr>
          <p:cNvPr id="11" name="TextBox 10">
            <a:extLst>
              <a:ext uri="{FF2B5EF4-FFF2-40B4-BE49-F238E27FC236}">
                <a16:creationId xmlns:a16="http://schemas.microsoft.com/office/drawing/2014/main" id="{821149FD-1553-F8E2-E862-1DFF7083180E}"/>
              </a:ext>
            </a:extLst>
          </p:cNvPr>
          <p:cNvSpPr txBox="1"/>
          <p:nvPr/>
        </p:nvSpPr>
        <p:spPr>
          <a:xfrm>
            <a:off x="5710903" y="5040869"/>
            <a:ext cx="1995902" cy="369332"/>
          </a:xfrm>
          <a:prstGeom prst="rect">
            <a:avLst/>
          </a:prstGeom>
          <a:noFill/>
          <a:ln>
            <a:solidFill>
              <a:srgbClr val="000000"/>
            </a:solidFill>
          </a:ln>
        </p:spPr>
        <p:txBody>
          <a:bodyPr wrap="square" rtlCol="0">
            <a:spAutoFit/>
          </a:bodyPr>
          <a:lstStyle/>
          <a:p>
            <a:r>
              <a:rPr lang="en-IN" b="1" dirty="0"/>
              <a:t>Decoder</a:t>
            </a:r>
          </a:p>
        </p:txBody>
      </p:sp>
      <p:sp>
        <p:nvSpPr>
          <p:cNvPr id="12" name="TextBox 11">
            <a:extLst>
              <a:ext uri="{FF2B5EF4-FFF2-40B4-BE49-F238E27FC236}">
                <a16:creationId xmlns:a16="http://schemas.microsoft.com/office/drawing/2014/main" id="{7AE9D606-7957-C24F-4FAD-8F0E060E9A04}"/>
              </a:ext>
            </a:extLst>
          </p:cNvPr>
          <p:cNvSpPr txBox="1"/>
          <p:nvPr/>
        </p:nvSpPr>
        <p:spPr>
          <a:xfrm>
            <a:off x="8229600" y="2165292"/>
            <a:ext cx="3962400" cy="2308324"/>
          </a:xfrm>
          <a:prstGeom prst="rect">
            <a:avLst/>
          </a:prstGeom>
          <a:noFill/>
        </p:spPr>
        <p:txBody>
          <a:bodyPr wrap="square" rtlCol="0">
            <a:spAutoFit/>
          </a:bodyPr>
          <a:lstStyle/>
          <a:p>
            <a:r>
              <a:rPr lang="en-IN" dirty="0"/>
              <a:t>                                                                                                    During back propagation training loss      </a:t>
            </a:r>
          </a:p>
          <a:p>
            <a:r>
              <a:rPr lang="en-IN" dirty="0"/>
              <a:t>function to be minimised is</a:t>
            </a:r>
          </a:p>
          <a:p>
            <a:r>
              <a:rPr lang="en-IN" dirty="0"/>
              <a:t>where </a:t>
            </a:r>
          </a:p>
          <a:p>
            <a:r>
              <a:rPr lang="en-IN" dirty="0"/>
              <a:t> X^ = reconstructed data and </a:t>
            </a:r>
          </a:p>
          <a:p>
            <a:r>
              <a:rPr lang="en-IN" dirty="0"/>
              <a:t> X = original data </a:t>
            </a:r>
          </a:p>
          <a:p>
            <a:r>
              <a:rPr lang="en-IN" dirty="0"/>
              <a:t>That means </a:t>
            </a:r>
          </a:p>
          <a:p>
            <a:endParaRPr lang="en-IN" dirty="0"/>
          </a:p>
        </p:txBody>
      </p:sp>
      <p:pic>
        <p:nvPicPr>
          <p:cNvPr id="14" name="Picture 13">
            <a:extLst>
              <a:ext uri="{FF2B5EF4-FFF2-40B4-BE49-F238E27FC236}">
                <a16:creationId xmlns:a16="http://schemas.microsoft.com/office/drawing/2014/main" id="{459B6F41-DDFC-397A-BFF2-E2DBD7AD55AC}"/>
              </a:ext>
            </a:extLst>
          </p:cNvPr>
          <p:cNvPicPr>
            <a:picLocks noChangeAspect="1"/>
          </p:cNvPicPr>
          <p:nvPr/>
        </p:nvPicPr>
        <p:blipFill>
          <a:blip r:embed="rId3"/>
          <a:stretch>
            <a:fillRect/>
          </a:stretch>
        </p:blipFill>
        <p:spPr>
          <a:xfrm>
            <a:off x="11075773" y="2768548"/>
            <a:ext cx="1013254" cy="273907"/>
          </a:xfrm>
          <a:prstGeom prst="rect">
            <a:avLst/>
          </a:prstGeom>
        </p:spPr>
      </p:pic>
      <p:pic>
        <p:nvPicPr>
          <p:cNvPr id="15" name="Picture 14">
            <a:extLst>
              <a:ext uri="{FF2B5EF4-FFF2-40B4-BE49-F238E27FC236}">
                <a16:creationId xmlns:a16="http://schemas.microsoft.com/office/drawing/2014/main" id="{38ABEAF6-02C6-5E6B-2C1F-3BE75C6D4424}"/>
              </a:ext>
            </a:extLst>
          </p:cNvPr>
          <p:cNvPicPr>
            <a:picLocks noChangeAspect="1"/>
          </p:cNvPicPr>
          <p:nvPr/>
        </p:nvPicPr>
        <p:blipFill rotWithShape="1">
          <a:blip r:embed="rId4"/>
          <a:srcRect t="8467" r="27772" b="50000"/>
          <a:stretch/>
        </p:blipFill>
        <p:spPr>
          <a:xfrm>
            <a:off x="8668634" y="4206350"/>
            <a:ext cx="1327983" cy="383225"/>
          </a:xfrm>
          <a:prstGeom prst="rect">
            <a:avLst/>
          </a:prstGeom>
          <a:ln>
            <a:noFill/>
          </a:ln>
        </p:spPr>
      </p:pic>
      <p:pic>
        <p:nvPicPr>
          <p:cNvPr id="16" name="Picture 15">
            <a:extLst>
              <a:ext uri="{FF2B5EF4-FFF2-40B4-BE49-F238E27FC236}">
                <a16:creationId xmlns:a16="http://schemas.microsoft.com/office/drawing/2014/main" id="{3D30DD55-0455-942E-6A1A-806369AA8E20}"/>
              </a:ext>
            </a:extLst>
          </p:cNvPr>
          <p:cNvPicPr>
            <a:picLocks noChangeAspect="1"/>
          </p:cNvPicPr>
          <p:nvPr/>
        </p:nvPicPr>
        <p:blipFill rotWithShape="1">
          <a:blip r:embed="rId4"/>
          <a:srcRect l="16222" t="66195"/>
          <a:stretch/>
        </p:blipFill>
        <p:spPr>
          <a:xfrm>
            <a:off x="9996617" y="4238201"/>
            <a:ext cx="1540330" cy="383226"/>
          </a:xfrm>
          <a:prstGeom prst="rect">
            <a:avLst/>
          </a:prstGeom>
          <a:ln>
            <a:noFill/>
          </a:ln>
        </p:spPr>
      </p:pic>
    </p:spTree>
    <p:extLst>
      <p:ext uri="{BB962C8B-B14F-4D97-AF65-F5344CB8AC3E}">
        <p14:creationId xmlns:p14="http://schemas.microsoft.com/office/powerpoint/2010/main" val="662322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1BE4-C3AF-4BE7-BBDB-8B36A4FF4C78}"/>
              </a:ext>
            </a:extLst>
          </p:cNvPr>
          <p:cNvSpPr>
            <a:spLocks noGrp="1"/>
          </p:cNvSpPr>
          <p:nvPr>
            <p:ph type="title"/>
          </p:nvPr>
        </p:nvSpPr>
        <p:spPr/>
        <p:txBody>
          <a:bodyPr/>
          <a:lstStyle/>
          <a:p>
            <a:r>
              <a:rPr lang="en-US" altLang="en-US" dirty="0"/>
              <a:t>Denoising autoencoder</a:t>
            </a:r>
            <a:endParaRPr lang="en-IN" dirty="0"/>
          </a:p>
        </p:txBody>
      </p:sp>
      <p:sp>
        <p:nvSpPr>
          <p:cNvPr id="3" name="Content Placeholder 2">
            <a:extLst>
              <a:ext uri="{FF2B5EF4-FFF2-40B4-BE49-F238E27FC236}">
                <a16:creationId xmlns:a16="http://schemas.microsoft.com/office/drawing/2014/main" id="{93928B1C-C38E-4FD7-B93C-4F56ED684738}"/>
              </a:ext>
            </a:extLst>
          </p:cNvPr>
          <p:cNvSpPr>
            <a:spLocks noGrp="1"/>
          </p:cNvSpPr>
          <p:nvPr>
            <p:ph idx="1"/>
          </p:nvPr>
        </p:nvSpPr>
        <p:spPr>
          <a:xfrm>
            <a:off x="1016001" y="2289174"/>
            <a:ext cx="10566400" cy="4441826"/>
          </a:xfrm>
          <a:ln>
            <a:solidFill>
              <a:srgbClr val="000000"/>
            </a:solidFill>
          </a:ln>
        </p:spPr>
        <p:txBody>
          <a:bodyPr/>
          <a:lstStyle/>
          <a:p>
            <a:pPr algn="l">
              <a:buFont typeface="Arial" panose="020B0604020202020204" pitchFamily="34" charset="0"/>
              <a:buChar char="•"/>
            </a:pPr>
            <a:r>
              <a:rPr lang="en-US" sz="1600" b="1" dirty="0">
                <a:solidFill>
                  <a:srgbClr val="FF0000"/>
                </a:solidFill>
                <a:latin typeface="Arial"/>
                <a:ea typeface="新細明體"/>
              </a:rPr>
              <a:t>Denoising refers to intentionally adding noise to the raw input before providing it to the network</a:t>
            </a:r>
            <a:r>
              <a:rPr lang="en-US" sz="1600" dirty="0">
                <a:solidFill>
                  <a:srgbClr val="FF0000"/>
                </a:solidFill>
                <a:latin typeface="Arial"/>
                <a:ea typeface="新細明體"/>
              </a:rPr>
              <a:t>. </a:t>
            </a:r>
          </a:p>
          <a:p>
            <a:pPr algn="l">
              <a:buFont typeface="Arial" panose="020B0604020202020204" pitchFamily="34" charset="0"/>
              <a:buChar char="•"/>
            </a:pPr>
            <a:r>
              <a:rPr lang="en-US" sz="1600" dirty="0">
                <a:solidFill>
                  <a:srgbClr val="002060"/>
                </a:solidFill>
                <a:latin typeface="Arial"/>
                <a:ea typeface="新細明體"/>
              </a:rPr>
              <a:t>Denoising autoencoders </a:t>
            </a:r>
            <a:r>
              <a:rPr lang="en-US" sz="1600" b="1" dirty="0">
                <a:solidFill>
                  <a:srgbClr val="FF0000"/>
                </a:solidFill>
                <a:latin typeface="Arial"/>
                <a:ea typeface="新細明體"/>
              </a:rPr>
              <a:t>create a corrupted copy of the input by introducing some noise</a:t>
            </a:r>
            <a:r>
              <a:rPr lang="en-US" sz="1600" dirty="0">
                <a:solidFill>
                  <a:srgbClr val="FF0000"/>
                </a:solidFill>
                <a:latin typeface="Arial"/>
                <a:ea typeface="新細明體"/>
              </a:rPr>
              <a:t>. This helps to </a:t>
            </a:r>
            <a:r>
              <a:rPr lang="en-US" sz="1600" b="1" dirty="0">
                <a:solidFill>
                  <a:srgbClr val="FF0000"/>
                </a:solidFill>
                <a:latin typeface="Arial"/>
                <a:ea typeface="新細明體"/>
              </a:rPr>
              <a:t>avoid the autoencoders to copy the input to the output without learning features about the data</a:t>
            </a:r>
            <a:r>
              <a:rPr lang="en-US" sz="1600" dirty="0">
                <a:solidFill>
                  <a:srgbClr val="FF0000"/>
                </a:solidFill>
                <a:latin typeface="Arial"/>
                <a:ea typeface="新細明體"/>
              </a:rPr>
              <a:t>.</a:t>
            </a:r>
          </a:p>
          <a:p>
            <a:pPr algn="l">
              <a:buFont typeface="Arial" panose="020B0604020202020204" pitchFamily="34" charset="0"/>
              <a:buChar char="•"/>
            </a:pPr>
            <a:r>
              <a:rPr lang="en-US" sz="1600" b="1" dirty="0">
                <a:solidFill>
                  <a:srgbClr val="FF0000"/>
                </a:solidFill>
                <a:latin typeface="Arial"/>
                <a:ea typeface="新細明體"/>
              </a:rPr>
              <a:t>Corruption of the input can be done randomly by making some of the input as zero. Remaining nodes copy the input to the noised input.</a:t>
            </a:r>
          </a:p>
          <a:p>
            <a:pPr algn="l">
              <a:buFont typeface="Arial" panose="020B0604020202020204" pitchFamily="34" charset="0"/>
              <a:buChar char="•"/>
            </a:pPr>
            <a:r>
              <a:rPr lang="en-US" sz="1600" b="1" dirty="0">
                <a:solidFill>
                  <a:srgbClr val="FF0000"/>
                </a:solidFill>
                <a:latin typeface="Arial"/>
                <a:ea typeface="新細明體"/>
              </a:rPr>
              <a:t>Denoising autoencoders must remove the corruption to generate an output that is similar to the input</a:t>
            </a:r>
            <a:r>
              <a:rPr lang="en-US" sz="1600" dirty="0">
                <a:solidFill>
                  <a:srgbClr val="FF0000"/>
                </a:solidFill>
                <a:latin typeface="Arial"/>
                <a:ea typeface="新細明體"/>
              </a:rPr>
              <a:t>. </a:t>
            </a:r>
            <a:r>
              <a:rPr lang="en-US" sz="1600" b="1" dirty="0">
                <a:solidFill>
                  <a:srgbClr val="FF0000"/>
                </a:solidFill>
                <a:latin typeface="Arial"/>
                <a:ea typeface="新細明體"/>
              </a:rPr>
              <a:t>Output is compared with input and not with noised input</a:t>
            </a:r>
            <a:r>
              <a:rPr lang="en-US" sz="1600" dirty="0">
                <a:solidFill>
                  <a:srgbClr val="FF0000"/>
                </a:solidFill>
                <a:latin typeface="Arial"/>
                <a:ea typeface="新細明體"/>
              </a:rPr>
              <a:t>. To minimize the loss function we continue until convergence</a:t>
            </a:r>
          </a:p>
          <a:p>
            <a:pPr algn="l">
              <a:buFont typeface="Arial" panose="020B0604020202020204" pitchFamily="34" charset="0"/>
              <a:buChar char="•"/>
            </a:pPr>
            <a:r>
              <a:rPr lang="en-US" sz="1600" b="1" dirty="0">
                <a:solidFill>
                  <a:srgbClr val="FF0000"/>
                </a:solidFill>
                <a:latin typeface="Arial"/>
                <a:ea typeface="新細明體"/>
              </a:rPr>
              <a:t>Denoising autoencoders minimizes the loss function between the output node and the corrupted input.</a:t>
            </a:r>
          </a:p>
          <a:p>
            <a:pPr algn="l">
              <a:buFont typeface="Arial" panose="020B0604020202020204" pitchFamily="34" charset="0"/>
              <a:buChar char="•"/>
            </a:pPr>
            <a:endParaRPr lang="en-US" sz="1600" b="1" dirty="0">
              <a:solidFill>
                <a:srgbClr val="FF0000"/>
              </a:solidFill>
              <a:latin typeface="Arial"/>
              <a:ea typeface="新細明體"/>
            </a:endParaRPr>
          </a:p>
          <a:p>
            <a:pPr algn="l">
              <a:buFont typeface="Arial" panose="020B0604020202020204" pitchFamily="34" charset="0"/>
              <a:buChar char="•"/>
            </a:pPr>
            <a:endParaRPr lang="en-US" sz="1600" dirty="0">
              <a:solidFill>
                <a:srgbClr val="002060"/>
              </a:solidFill>
              <a:latin typeface="Arial"/>
              <a:ea typeface="新細明體"/>
            </a:endParaRPr>
          </a:p>
          <a:p>
            <a:pPr algn="l">
              <a:buFont typeface="Arial" panose="020B0604020202020204" pitchFamily="34" charset="0"/>
              <a:buChar char="•"/>
            </a:pPr>
            <a:r>
              <a:rPr lang="en-US" sz="1600" dirty="0">
                <a:solidFill>
                  <a:srgbClr val="002060"/>
                </a:solidFill>
                <a:latin typeface="Arial"/>
                <a:ea typeface="新細明體"/>
              </a:rPr>
              <a:t>Denoising helps the autoencoders to learn the latent representation present in the data. Denoising autoencoders ensures a good representation is one that can be derived robustly from a corrupted input and that will be useful for recovering the corresponding clean input.</a:t>
            </a:r>
          </a:p>
          <a:p>
            <a:pPr algn="l">
              <a:buFont typeface="Arial" panose="020B0604020202020204" pitchFamily="34" charset="0"/>
              <a:buChar char="•"/>
            </a:pPr>
            <a:r>
              <a:rPr lang="en-US" sz="1600" dirty="0">
                <a:solidFill>
                  <a:srgbClr val="002060"/>
                </a:solidFill>
                <a:latin typeface="Arial"/>
                <a:ea typeface="新細明體"/>
              </a:rPr>
              <a:t>Denoising is a stochastic autoencoder as we use a stochastic corruption process to set some of the inputs to zero.</a:t>
            </a:r>
          </a:p>
          <a:p>
            <a:endParaRPr lang="en-IN" dirty="0"/>
          </a:p>
        </p:txBody>
      </p:sp>
      <p:sp>
        <p:nvSpPr>
          <p:cNvPr id="4" name="Slide Number Placeholder 3">
            <a:extLst>
              <a:ext uri="{FF2B5EF4-FFF2-40B4-BE49-F238E27FC236}">
                <a16:creationId xmlns:a16="http://schemas.microsoft.com/office/drawing/2014/main" id="{67FCCCEF-F0AB-441B-AD5C-0D90EEEFAC0B}"/>
              </a:ext>
            </a:extLst>
          </p:cNvPr>
          <p:cNvSpPr>
            <a:spLocks noGrp="1"/>
          </p:cNvSpPr>
          <p:nvPr>
            <p:ph type="sldNum" sz="quarter" idx="12"/>
          </p:nvPr>
        </p:nvSpPr>
        <p:spPr/>
        <p:txBody>
          <a:bodyPr/>
          <a:lstStyle/>
          <a:p>
            <a:pPr>
              <a:defRPr/>
            </a:pPr>
            <a:fld id="{9AD681D7-8A59-4380-9311-10B86FF921AA}" type="slidenum">
              <a:rPr lang="en-US" altLang="zh-TW" smtClean="0"/>
              <a:pPr>
                <a:defRPr/>
              </a:pPr>
              <a:t>59</a:t>
            </a:fld>
            <a:endParaRPr lang="en-US" altLang="zh-TW"/>
          </a:p>
        </p:txBody>
      </p:sp>
      <p:pic>
        <p:nvPicPr>
          <p:cNvPr id="5122" name="Picture 2">
            <a:extLst>
              <a:ext uri="{FF2B5EF4-FFF2-40B4-BE49-F238E27FC236}">
                <a16:creationId xmlns:a16="http://schemas.microsoft.com/office/drawing/2014/main" id="{4DDAC6B4-D30A-413B-9CB4-E71325659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0025" y="4801920"/>
            <a:ext cx="2038350" cy="40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54411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EC511-B54B-4B5F-998A-91F982A069AC}"/>
              </a:ext>
            </a:extLst>
          </p:cNvPr>
          <p:cNvSpPr>
            <a:spLocks noGrp="1"/>
          </p:cNvSpPr>
          <p:nvPr>
            <p:ph type="title"/>
          </p:nvPr>
        </p:nvSpPr>
        <p:spPr/>
        <p:txBody>
          <a:bodyPr/>
          <a:lstStyle/>
          <a:p>
            <a:r>
              <a:rPr lang="en-US" altLang="en-US" dirty="0"/>
              <a:t>Denoising autoencoder</a:t>
            </a:r>
            <a:endParaRPr lang="en-IN" dirty="0"/>
          </a:p>
        </p:txBody>
      </p:sp>
      <p:sp>
        <p:nvSpPr>
          <p:cNvPr id="4" name="Slide Number Placeholder 3">
            <a:extLst>
              <a:ext uri="{FF2B5EF4-FFF2-40B4-BE49-F238E27FC236}">
                <a16:creationId xmlns:a16="http://schemas.microsoft.com/office/drawing/2014/main" id="{2B3709E0-3069-4F97-B019-18732B06B1F9}"/>
              </a:ext>
            </a:extLst>
          </p:cNvPr>
          <p:cNvSpPr>
            <a:spLocks noGrp="1"/>
          </p:cNvSpPr>
          <p:nvPr>
            <p:ph type="sldNum" sz="quarter" idx="12"/>
          </p:nvPr>
        </p:nvSpPr>
        <p:spPr/>
        <p:txBody>
          <a:bodyPr/>
          <a:lstStyle/>
          <a:p>
            <a:pPr>
              <a:defRPr/>
            </a:pPr>
            <a:fld id="{9AD681D7-8A59-4380-9311-10B86FF921AA}" type="slidenum">
              <a:rPr lang="en-US" altLang="zh-TW" smtClean="0"/>
              <a:pPr>
                <a:defRPr/>
              </a:pPr>
              <a:t>60</a:t>
            </a:fld>
            <a:endParaRPr lang="en-US" altLang="zh-TW"/>
          </a:p>
        </p:txBody>
      </p:sp>
      <p:sp>
        <p:nvSpPr>
          <p:cNvPr id="7" name="TextBox 6">
            <a:extLst>
              <a:ext uri="{FF2B5EF4-FFF2-40B4-BE49-F238E27FC236}">
                <a16:creationId xmlns:a16="http://schemas.microsoft.com/office/drawing/2014/main" id="{0B0EF31C-BE90-48D5-98FF-B633B117BA34}"/>
              </a:ext>
            </a:extLst>
          </p:cNvPr>
          <p:cNvSpPr txBox="1"/>
          <p:nvPr/>
        </p:nvSpPr>
        <p:spPr>
          <a:xfrm>
            <a:off x="1191237" y="2256227"/>
            <a:ext cx="11000763" cy="4601773"/>
          </a:xfrm>
          <a:prstGeom prst="rect">
            <a:avLst/>
          </a:prstGeom>
          <a:noFill/>
          <a:ln>
            <a:solidFill>
              <a:srgbClr val="000000"/>
            </a:solidFill>
          </a:ln>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1" lang="en-US" altLang="en-US" sz="1600" dirty="0">
                <a:solidFill>
                  <a:srgbClr val="002060"/>
                </a:solidFill>
                <a:latin typeface="Arial"/>
                <a:ea typeface="新細明體"/>
              </a:rPr>
              <a:t>The following image shows how denoising autoencoder works. The second row shows the reconstructed images after the decoder has cleared out the noise.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1" lang="en-US" altLang="en-US" sz="1600" dirty="0">
              <a:solidFill>
                <a:srgbClr val="002060"/>
              </a:solidFill>
              <a:latin typeface="Arial"/>
              <a:ea typeface="新細明體"/>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1" lang="en-US" altLang="en-US" sz="1600" dirty="0">
              <a:solidFill>
                <a:srgbClr val="002060"/>
              </a:solidFill>
              <a:latin typeface="Arial"/>
              <a:ea typeface="新細明體"/>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1" lang="en-US" altLang="en-US" sz="1600" dirty="0">
              <a:solidFill>
                <a:srgbClr val="002060"/>
              </a:solidFill>
              <a:latin typeface="Arial"/>
              <a:ea typeface="新細明體"/>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600" dirty="0">
              <a:solidFill>
                <a:srgbClr val="002060"/>
              </a:solidFill>
              <a:latin typeface="Arial"/>
              <a:ea typeface="新細明體"/>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600" dirty="0">
              <a:solidFill>
                <a:srgbClr val="002060"/>
              </a:solidFill>
              <a:latin typeface="Arial"/>
              <a:ea typeface="新細明體"/>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1600" b="1" dirty="0">
                <a:solidFill>
                  <a:srgbClr val="002060"/>
                </a:solidFill>
                <a:latin typeface="Arial"/>
                <a:ea typeface="新細明體"/>
              </a:rPr>
              <a:t>Advantages</a:t>
            </a:r>
          </a:p>
          <a:p>
            <a:pPr marL="84138" marR="0" lvl="0" indent="-84138"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1" lang="en-US" sz="1600" dirty="0">
                <a:solidFill>
                  <a:srgbClr val="002060"/>
                </a:solidFill>
                <a:latin typeface="Arial"/>
                <a:ea typeface="新細明體"/>
              </a:rPr>
              <a:t>This type of autoencoder can </a:t>
            </a:r>
            <a:r>
              <a:rPr kumimoji="1" lang="en-US" sz="1600" b="1" dirty="0">
                <a:solidFill>
                  <a:srgbClr val="FF0000"/>
                </a:solidFill>
                <a:latin typeface="Arial"/>
                <a:ea typeface="新細明體"/>
              </a:rPr>
              <a:t>extract important features</a:t>
            </a:r>
            <a:r>
              <a:rPr kumimoji="1" lang="en-US" sz="1600" dirty="0">
                <a:solidFill>
                  <a:srgbClr val="002060"/>
                </a:solidFill>
                <a:latin typeface="Arial"/>
                <a:ea typeface="新細明體"/>
              </a:rPr>
              <a:t> </a:t>
            </a:r>
            <a:r>
              <a:rPr kumimoji="1" lang="en-US" sz="1600" dirty="0">
                <a:solidFill>
                  <a:srgbClr val="FF0000"/>
                </a:solidFill>
                <a:latin typeface="Arial"/>
                <a:ea typeface="新細明體"/>
              </a:rPr>
              <a:t>and </a:t>
            </a:r>
            <a:r>
              <a:rPr kumimoji="1" lang="en-US" sz="1600" b="1" dirty="0">
                <a:solidFill>
                  <a:srgbClr val="FF0000"/>
                </a:solidFill>
                <a:latin typeface="Arial"/>
                <a:ea typeface="新細明體"/>
              </a:rPr>
              <a:t>reduce the noise </a:t>
            </a:r>
            <a:r>
              <a:rPr kumimoji="1" lang="en-US" sz="1600" dirty="0">
                <a:solidFill>
                  <a:srgbClr val="FF0000"/>
                </a:solidFill>
                <a:latin typeface="Arial"/>
                <a:ea typeface="新細明體"/>
              </a:rPr>
              <a:t>or </a:t>
            </a:r>
            <a:r>
              <a:rPr kumimoji="1" lang="en-US" sz="1600" b="1" dirty="0">
                <a:solidFill>
                  <a:srgbClr val="FF0000"/>
                </a:solidFill>
                <a:latin typeface="Arial"/>
                <a:ea typeface="新細明體"/>
              </a:rPr>
              <a:t>the useless features</a:t>
            </a:r>
            <a:r>
              <a:rPr kumimoji="1" lang="en-US" sz="1600" dirty="0">
                <a:solidFill>
                  <a:srgbClr val="FF0000"/>
                </a:solidFill>
                <a:latin typeface="Arial"/>
                <a:ea typeface="新細明體"/>
              </a:rPr>
              <a:t>.</a:t>
            </a:r>
          </a:p>
          <a:p>
            <a:pPr marL="84138" marR="0" lvl="0" indent="-84138"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1" lang="en-US" sz="1600" dirty="0">
                <a:solidFill>
                  <a:srgbClr val="002060"/>
                </a:solidFill>
                <a:latin typeface="Arial"/>
                <a:ea typeface="新細明體"/>
              </a:rPr>
              <a:t>Denoising autoencoders can be </a:t>
            </a:r>
            <a:r>
              <a:rPr kumimoji="1" lang="en-US" sz="1600" b="1" dirty="0">
                <a:solidFill>
                  <a:srgbClr val="FF0000"/>
                </a:solidFill>
                <a:latin typeface="Arial"/>
                <a:ea typeface="新細明體"/>
              </a:rPr>
              <a:t>used as a form of data augmentation, the restored images can be used as augmented data thus generating additional training samples. </a:t>
            </a:r>
          </a:p>
          <a:p>
            <a:pPr marL="0" marR="0" lvl="0" indent="0" algn="l" defTabSz="914400" rtl="0" eaLnBrk="0" fontAlgn="base" latinLnBrk="0" hangingPunct="0">
              <a:lnSpc>
                <a:spcPct val="150000"/>
              </a:lnSpc>
              <a:spcBef>
                <a:spcPct val="0"/>
              </a:spcBef>
              <a:spcAft>
                <a:spcPct val="0"/>
              </a:spcAft>
              <a:buClrTx/>
              <a:buSzTx/>
              <a:buFontTx/>
              <a:buNone/>
              <a:tabLst/>
              <a:defRPr/>
            </a:pPr>
            <a:r>
              <a:rPr kumimoji="1" lang="en-US" sz="1600" b="1" dirty="0">
                <a:solidFill>
                  <a:srgbClr val="002060"/>
                </a:solidFill>
                <a:latin typeface="Arial"/>
                <a:ea typeface="新細明體"/>
              </a:rPr>
              <a:t>Disadvantages</a:t>
            </a:r>
          </a:p>
          <a:p>
            <a:pPr marL="84138" marR="0" lvl="0" indent="-84138"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1" lang="en-US" sz="1600" b="1" dirty="0">
                <a:solidFill>
                  <a:srgbClr val="FF0000"/>
                </a:solidFill>
                <a:latin typeface="Arial"/>
                <a:ea typeface="新細明體"/>
              </a:rPr>
              <a:t>Selecting the right type and level of noise to introduce can be challenging and may require domain knowledge</a:t>
            </a:r>
            <a:r>
              <a:rPr kumimoji="1" lang="en-US" sz="1600" b="1" dirty="0">
                <a:solidFill>
                  <a:srgbClr val="002060"/>
                </a:solidFill>
                <a:latin typeface="Arial"/>
                <a:ea typeface="新細明體"/>
              </a:rPr>
              <a:t>.</a:t>
            </a:r>
          </a:p>
          <a:p>
            <a:pPr marL="84138" marR="0" lvl="0" indent="-84138"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1" lang="en-US" sz="1600" b="1" dirty="0">
                <a:solidFill>
                  <a:srgbClr val="FF0000"/>
                </a:solidFill>
                <a:latin typeface="Arial"/>
                <a:ea typeface="新細明體"/>
              </a:rPr>
              <a:t>Denoising process can result into loss of some information that is needed from the original input. This loss can impact accuracy of the output</a:t>
            </a:r>
            <a:r>
              <a:rPr kumimoji="1" lang="en-US" sz="1600" b="1" dirty="0">
                <a:solidFill>
                  <a:srgbClr val="002060"/>
                </a:solidFill>
                <a:latin typeface="Arial"/>
                <a:ea typeface="新細明體"/>
              </a:rPr>
              <a:t>. </a:t>
            </a:r>
            <a:endParaRPr lang="en-IN" b="1" dirty="0">
              <a:solidFill>
                <a:srgbClr val="002060"/>
              </a:solidFill>
            </a:endParaRPr>
          </a:p>
        </p:txBody>
      </p:sp>
      <p:pic>
        <p:nvPicPr>
          <p:cNvPr id="2051" name="Picture 3" descr="Working of Denoising Autoencoder">
            <a:extLst>
              <a:ext uri="{FF2B5EF4-FFF2-40B4-BE49-F238E27FC236}">
                <a16:creationId xmlns:a16="http://schemas.microsoft.com/office/drawing/2014/main" id="{A7A8658E-126C-42ED-9753-EEAA912CA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700" y="3015302"/>
            <a:ext cx="5715000" cy="1121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694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6E994-48AC-3BE5-1E26-DF60997D27D6}"/>
              </a:ext>
            </a:extLst>
          </p:cNvPr>
          <p:cNvSpPr>
            <a:spLocks noGrp="1"/>
          </p:cNvSpPr>
          <p:nvPr>
            <p:ph type="title"/>
          </p:nvPr>
        </p:nvSpPr>
        <p:spPr/>
        <p:txBody>
          <a:bodyPr/>
          <a:lstStyle/>
          <a:p>
            <a:r>
              <a:rPr lang="en-IN" dirty="0"/>
              <a:t>Contractive Autoencoder</a:t>
            </a:r>
          </a:p>
        </p:txBody>
      </p:sp>
      <p:sp>
        <p:nvSpPr>
          <p:cNvPr id="3" name="Content Placeholder 2">
            <a:extLst>
              <a:ext uri="{FF2B5EF4-FFF2-40B4-BE49-F238E27FC236}">
                <a16:creationId xmlns:a16="http://schemas.microsoft.com/office/drawing/2014/main" id="{BAAB7DC1-D24D-CE0B-2B22-9E2B6AFAA976}"/>
              </a:ext>
            </a:extLst>
          </p:cNvPr>
          <p:cNvSpPr>
            <a:spLocks noGrp="1"/>
          </p:cNvSpPr>
          <p:nvPr>
            <p:ph idx="1"/>
          </p:nvPr>
        </p:nvSpPr>
        <p:spPr>
          <a:xfrm>
            <a:off x="1117600" y="2362201"/>
            <a:ext cx="10962215" cy="4495799"/>
          </a:xfrm>
          <a:ln>
            <a:solidFill>
              <a:srgbClr val="000000"/>
            </a:solidFill>
          </a:ln>
        </p:spPr>
        <p:txBody>
          <a:bodyPr/>
          <a:lstStyle/>
          <a:p>
            <a:pPr marL="182563" indent="-182563">
              <a:lnSpc>
                <a:spcPct val="150000"/>
              </a:lnSpc>
            </a:pPr>
            <a:r>
              <a:rPr lang="en-IN" sz="1700" b="1" dirty="0">
                <a:solidFill>
                  <a:srgbClr val="002060"/>
                </a:solidFill>
                <a:latin typeface="Arial"/>
                <a:ea typeface="新細明體"/>
              </a:rPr>
              <a:t>Working principle: For similar inputs the compressed domain representation should also be similar.</a:t>
            </a:r>
          </a:p>
          <a:p>
            <a:pPr marL="182563" indent="-182563">
              <a:lnSpc>
                <a:spcPct val="150000"/>
              </a:lnSpc>
            </a:pPr>
            <a:r>
              <a:rPr lang="en-IN" sz="1700" dirty="0">
                <a:solidFill>
                  <a:srgbClr val="002060"/>
                </a:solidFill>
                <a:latin typeface="Arial"/>
                <a:ea typeface="新細明體"/>
              </a:rPr>
              <a:t>To achieve this, </a:t>
            </a:r>
            <a:r>
              <a:rPr lang="en-IN" sz="1700" b="1" dirty="0">
                <a:solidFill>
                  <a:srgbClr val="002060"/>
                </a:solidFill>
                <a:latin typeface="Arial"/>
                <a:ea typeface="新細明體"/>
              </a:rPr>
              <a:t>its required to restrict the variation in hidden layer neuron activation w.r.t input data </a:t>
            </a:r>
            <a:r>
              <a:rPr lang="en-IN" sz="1700" dirty="0">
                <a:solidFill>
                  <a:srgbClr val="002060"/>
                </a:solidFill>
                <a:latin typeface="Arial"/>
                <a:ea typeface="新細明體"/>
              </a:rPr>
              <a:t>to be small.</a:t>
            </a:r>
          </a:p>
          <a:p>
            <a:pPr marL="182563" indent="-182563">
              <a:lnSpc>
                <a:spcPct val="150000"/>
              </a:lnSpc>
            </a:pPr>
            <a:r>
              <a:rPr lang="en-IN" sz="1700" dirty="0">
                <a:solidFill>
                  <a:srgbClr val="002060"/>
                </a:solidFill>
                <a:latin typeface="Arial"/>
                <a:ea typeface="新細明體"/>
              </a:rPr>
              <a:t>That </a:t>
            </a:r>
            <a:r>
              <a:rPr lang="en-IN" sz="1700" b="1" dirty="0">
                <a:solidFill>
                  <a:srgbClr val="002060"/>
                </a:solidFill>
                <a:latin typeface="Arial"/>
                <a:ea typeface="新細明體"/>
              </a:rPr>
              <a:t>means for similar inputs, similar neurons in the hidden layer should get activated.</a:t>
            </a:r>
          </a:p>
          <a:p>
            <a:pPr marL="182563" indent="-182563">
              <a:lnSpc>
                <a:spcPct val="150000"/>
              </a:lnSpc>
            </a:pPr>
            <a:r>
              <a:rPr lang="en-IN" sz="1700" dirty="0">
                <a:solidFill>
                  <a:srgbClr val="002060"/>
                </a:solidFill>
                <a:latin typeface="Arial"/>
                <a:ea typeface="新細明體"/>
              </a:rPr>
              <a:t>Thus auto encoder learns to contract the neighbourhood of inputs to small neighbourhood of outputs.</a:t>
            </a:r>
          </a:p>
          <a:p>
            <a:pPr marL="182563" indent="-182563">
              <a:lnSpc>
                <a:spcPct val="150000"/>
              </a:lnSpc>
            </a:pPr>
            <a:r>
              <a:rPr lang="en-IN" sz="1700" dirty="0">
                <a:solidFill>
                  <a:srgbClr val="002060"/>
                </a:solidFill>
                <a:latin typeface="Arial"/>
                <a:ea typeface="新細明體"/>
              </a:rPr>
              <a:t>Similar inputs are encoded in the similar way and also decoded outputs are very similar.</a:t>
            </a:r>
          </a:p>
          <a:p>
            <a:pPr marL="182563" indent="-182563">
              <a:lnSpc>
                <a:spcPct val="150000"/>
              </a:lnSpc>
            </a:pPr>
            <a:r>
              <a:rPr lang="en-IN" sz="1700" dirty="0">
                <a:solidFill>
                  <a:srgbClr val="002060"/>
                </a:solidFill>
                <a:latin typeface="Arial"/>
                <a:ea typeface="新細明體"/>
              </a:rPr>
              <a:t>It ensures that at the input or in a small neighbourhood at the input will get contracted to a very small neighbourhood at the output.</a:t>
            </a:r>
          </a:p>
          <a:p>
            <a:pPr marL="182563" indent="-182563">
              <a:lnSpc>
                <a:spcPct val="150000"/>
              </a:lnSpc>
            </a:pPr>
            <a:r>
              <a:rPr lang="en-IN" sz="1700" dirty="0">
                <a:solidFill>
                  <a:srgbClr val="002060"/>
                </a:solidFill>
                <a:latin typeface="Arial"/>
                <a:ea typeface="新細明體"/>
              </a:rPr>
              <a:t>Regularization on the activation to be imposed in contractive auto encoder is that </a:t>
            </a:r>
            <a:r>
              <a:rPr lang="en-IN" sz="1700" b="1" dirty="0">
                <a:solidFill>
                  <a:srgbClr val="002060"/>
                </a:solidFill>
                <a:latin typeface="Arial"/>
                <a:ea typeface="新細明體"/>
              </a:rPr>
              <a:t>variation of hidden layer activation should be small w.r.t the input data. </a:t>
            </a:r>
          </a:p>
        </p:txBody>
      </p:sp>
      <p:sp>
        <p:nvSpPr>
          <p:cNvPr id="4" name="Slide Number Placeholder 3">
            <a:extLst>
              <a:ext uri="{FF2B5EF4-FFF2-40B4-BE49-F238E27FC236}">
                <a16:creationId xmlns:a16="http://schemas.microsoft.com/office/drawing/2014/main" id="{B93890DC-4796-8464-2F6C-B396605CCC1D}"/>
              </a:ext>
            </a:extLst>
          </p:cNvPr>
          <p:cNvSpPr>
            <a:spLocks noGrp="1"/>
          </p:cNvSpPr>
          <p:nvPr>
            <p:ph type="sldNum" sz="quarter" idx="12"/>
          </p:nvPr>
        </p:nvSpPr>
        <p:spPr/>
        <p:txBody>
          <a:bodyPr/>
          <a:lstStyle/>
          <a:p>
            <a:pPr>
              <a:defRPr/>
            </a:pPr>
            <a:fld id="{9AD681D7-8A59-4380-9311-10B86FF921AA}" type="slidenum">
              <a:rPr lang="en-US" altLang="zh-TW" smtClean="0"/>
              <a:pPr>
                <a:defRPr/>
              </a:pPr>
              <a:t>61</a:t>
            </a:fld>
            <a:endParaRPr lang="en-US" altLang="zh-TW"/>
          </a:p>
        </p:txBody>
      </p:sp>
    </p:spTree>
    <p:extLst>
      <p:ext uri="{BB962C8B-B14F-4D97-AF65-F5344CB8AC3E}">
        <p14:creationId xmlns:p14="http://schemas.microsoft.com/office/powerpoint/2010/main" val="25605071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13376-796A-7CA8-45A4-7D38C6C7C0EC}"/>
              </a:ext>
            </a:extLst>
          </p:cNvPr>
          <p:cNvSpPr>
            <a:spLocks noGrp="1"/>
          </p:cNvSpPr>
          <p:nvPr>
            <p:ph type="title"/>
          </p:nvPr>
        </p:nvSpPr>
        <p:spPr/>
        <p:txBody>
          <a:bodyPr/>
          <a:lstStyle/>
          <a:p>
            <a:r>
              <a:rPr lang="en-IN" dirty="0"/>
              <a:t>Contractive Autoencoder</a:t>
            </a:r>
          </a:p>
        </p:txBody>
      </p:sp>
      <p:pic>
        <p:nvPicPr>
          <p:cNvPr id="6" name="Content Placeholder 5">
            <a:extLst>
              <a:ext uri="{FF2B5EF4-FFF2-40B4-BE49-F238E27FC236}">
                <a16:creationId xmlns:a16="http://schemas.microsoft.com/office/drawing/2014/main" id="{7012C8F2-D52D-E95F-44E8-F6522B78FCCD}"/>
              </a:ext>
            </a:extLst>
          </p:cNvPr>
          <p:cNvPicPr>
            <a:picLocks noGrp="1" noChangeAspect="1"/>
          </p:cNvPicPr>
          <p:nvPr>
            <p:ph idx="1"/>
          </p:nvPr>
        </p:nvPicPr>
        <p:blipFill rotWithShape="1">
          <a:blip r:embed="rId2"/>
          <a:srcRect l="4656" t="21910" r="70945" b="57519"/>
          <a:stretch/>
        </p:blipFill>
        <p:spPr>
          <a:xfrm>
            <a:off x="4624529" y="3596098"/>
            <a:ext cx="2533135" cy="875270"/>
          </a:xfrm>
          <a:ln>
            <a:solidFill>
              <a:schemeClr val="tx1"/>
            </a:solidFill>
          </a:ln>
        </p:spPr>
      </p:pic>
      <p:sp>
        <p:nvSpPr>
          <p:cNvPr id="4" name="Slide Number Placeholder 3">
            <a:extLst>
              <a:ext uri="{FF2B5EF4-FFF2-40B4-BE49-F238E27FC236}">
                <a16:creationId xmlns:a16="http://schemas.microsoft.com/office/drawing/2014/main" id="{37D37176-4ACF-93B5-4855-DD2F3850A171}"/>
              </a:ext>
            </a:extLst>
          </p:cNvPr>
          <p:cNvSpPr>
            <a:spLocks noGrp="1"/>
          </p:cNvSpPr>
          <p:nvPr>
            <p:ph type="sldNum" sz="quarter" idx="12"/>
          </p:nvPr>
        </p:nvSpPr>
        <p:spPr/>
        <p:txBody>
          <a:bodyPr/>
          <a:lstStyle/>
          <a:p>
            <a:pPr>
              <a:defRPr/>
            </a:pPr>
            <a:fld id="{9AD681D7-8A59-4380-9311-10B86FF921AA}" type="slidenum">
              <a:rPr lang="en-US" altLang="zh-TW" smtClean="0"/>
              <a:pPr>
                <a:defRPr/>
              </a:pPr>
              <a:t>62</a:t>
            </a:fld>
            <a:endParaRPr lang="en-US" altLang="zh-TW"/>
          </a:p>
        </p:txBody>
      </p:sp>
      <p:sp>
        <p:nvSpPr>
          <p:cNvPr id="11" name="TextBox 10">
            <a:extLst>
              <a:ext uri="{FF2B5EF4-FFF2-40B4-BE49-F238E27FC236}">
                <a16:creationId xmlns:a16="http://schemas.microsoft.com/office/drawing/2014/main" id="{DE83E41D-67B2-E443-376B-A17177F0E67D}"/>
              </a:ext>
            </a:extLst>
          </p:cNvPr>
          <p:cNvSpPr txBox="1"/>
          <p:nvPr/>
        </p:nvSpPr>
        <p:spPr>
          <a:xfrm>
            <a:off x="1016000" y="2239020"/>
            <a:ext cx="11063816" cy="4416594"/>
          </a:xfrm>
          <a:prstGeom prst="rect">
            <a:avLst/>
          </a:prstGeom>
          <a:noFill/>
          <a:ln>
            <a:solidFill>
              <a:schemeClr val="tx1"/>
            </a:solidFill>
          </a:ln>
        </p:spPr>
        <p:txBody>
          <a:bodyPr wrap="square" rtlCol="0">
            <a:spAutoFit/>
          </a:bodyPr>
          <a:lstStyle/>
          <a:p>
            <a:pPr marL="185738" indent="-185738">
              <a:spcBef>
                <a:spcPts val="600"/>
              </a:spcBef>
              <a:buFont typeface="Arial" panose="020B0604020202020204" pitchFamily="34" charset="0"/>
              <a:buChar char="•"/>
            </a:pPr>
            <a:r>
              <a:rPr lang="en-IN" sz="1700" b="1" dirty="0"/>
              <a:t>Regularisation </a:t>
            </a:r>
            <a:r>
              <a:rPr lang="en-IN" sz="1700" dirty="0"/>
              <a:t>can be </a:t>
            </a:r>
            <a:r>
              <a:rPr lang="en-IN" sz="1700" b="1" dirty="0"/>
              <a:t>minimisation of </a:t>
            </a:r>
            <a:r>
              <a:rPr lang="en-IN" sz="1700" b="1" dirty="0" err="1"/>
              <a:t>Frobenius</a:t>
            </a:r>
            <a:r>
              <a:rPr lang="en-IN" sz="1700" b="1" dirty="0"/>
              <a:t> norm of Jacobian matrix of the activation functions</a:t>
            </a:r>
            <a:r>
              <a:rPr lang="en-IN" sz="1700" dirty="0"/>
              <a:t> in the Detector. </a:t>
            </a:r>
          </a:p>
          <a:p>
            <a:pPr marL="185738" indent="-185738">
              <a:spcBef>
                <a:spcPts val="600"/>
              </a:spcBef>
              <a:buFont typeface="Arial" panose="020B0604020202020204" pitchFamily="34" charset="0"/>
              <a:buChar char="•"/>
            </a:pPr>
            <a:r>
              <a:rPr lang="en-IN" sz="1700" b="1" dirty="0" err="1"/>
              <a:t>Frobenius</a:t>
            </a:r>
            <a:r>
              <a:rPr lang="en-IN" sz="1700" b="1" dirty="0"/>
              <a:t> norm of a matrix: If matrix is A, then </a:t>
            </a:r>
            <a:r>
              <a:rPr lang="en-IN" sz="1700" b="1" dirty="0" err="1"/>
              <a:t>Frobenius</a:t>
            </a:r>
            <a:r>
              <a:rPr lang="en-IN" sz="1700" b="1" dirty="0"/>
              <a:t> norm is aij^2 </a:t>
            </a:r>
            <a:r>
              <a:rPr lang="en-IN" sz="1700" dirty="0"/>
              <a:t>where </a:t>
            </a:r>
            <a:r>
              <a:rPr lang="en-IN" sz="1700" dirty="0" err="1"/>
              <a:t>aij</a:t>
            </a:r>
            <a:r>
              <a:rPr lang="en-IN" sz="1700" dirty="0"/>
              <a:t> </a:t>
            </a:r>
            <a:r>
              <a:rPr lang="en-IN" sz="1700" dirty="0" err="1"/>
              <a:t>th</a:t>
            </a:r>
            <a:r>
              <a:rPr lang="en-IN" sz="1700" dirty="0"/>
              <a:t> element of the Matrix A. </a:t>
            </a:r>
          </a:p>
          <a:p>
            <a:pPr marL="185738" indent="-185738">
              <a:spcBef>
                <a:spcPts val="600"/>
              </a:spcBef>
              <a:buFont typeface="Arial" panose="020B0604020202020204" pitchFamily="34" charset="0"/>
              <a:buChar char="•"/>
            </a:pPr>
            <a:r>
              <a:rPr lang="en-IN" sz="1700" dirty="0"/>
              <a:t>       Square root of summation of all these elements is </a:t>
            </a:r>
            <a:r>
              <a:rPr lang="en-IN" sz="1700" dirty="0" err="1"/>
              <a:t>Frobenius</a:t>
            </a:r>
            <a:r>
              <a:rPr lang="en-IN" sz="1700" dirty="0"/>
              <a:t> norm.</a:t>
            </a:r>
          </a:p>
          <a:p>
            <a:pPr marL="185738" indent="-185738">
              <a:spcBef>
                <a:spcPts val="600"/>
              </a:spcBef>
              <a:buFont typeface="Arial" panose="020B0604020202020204" pitchFamily="34" charset="0"/>
              <a:buChar char="•"/>
            </a:pPr>
            <a:endParaRPr lang="en-IN" dirty="0"/>
          </a:p>
          <a:p>
            <a:pPr marL="185738" indent="-185738">
              <a:spcBef>
                <a:spcPts val="600"/>
              </a:spcBef>
              <a:buFont typeface="Arial" panose="020B0604020202020204" pitchFamily="34" charset="0"/>
              <a:buChar char="•"/>
            </a:pPr>
            <a:endParaRPr lang="en-IN" dirty="0"/>
          </a:p>
          <a:p>
            <a:pPr marL="185738" indent="-185738">
              <a:spcBef>
                <a:spcPts val="600"/>
              </a:spcBef>
              <a:buFont typeface="Arial" panose="020B0604020202020204" pitchFamily="34" charset="0"/>
              <a:buChar char="•"/>
            </a:pPr>
            <a:r>
              <a:rPr lang="en-IN" sz="1700" b="1" dirty="0"/>
              <a:t>Regularisation term </a:t>
            </a:r>
            <a:r>
              <a:rPr lang="en-IN" sz="1700" dirty="0"/>
              <a:t>can be </a:t>
            </a:r>
            <a:r>
              <a:rPr lang="en-IN" sz="1700" b="1" dirty="0"/>
              <a:t>squared </a:t>
            </a:r>
            <a:r>
              <a:rPr lang="en-IN" sz="1700" b="1" dirty="0" err="1"/>
              <a:t>Frobenius</a:t>
            </a:r>
            <a:r>
              <a:rPr lang="en-IN" sz="1700" b="1" dirty="0"/>
              <a:t> norm of the Jacobian matrix.</a:t>
            </a:r>
          </a:p>
          <a:p>
            <a:pPr marL="185738" indent="-185738">
              <a:spcBef>
                <a:spcPts val="600"/>
              </a:spcBef>
              <a:buFont typeface="Arial" panose="020B0604020202020204" pitchFamily="34" charset="0"/>
              <a:buChar char="•"/>
            </a:pPr>
            <a:r>
              <a:rPr lang="en-IN" sz="1700" b="1" dirty="0"/>
              <a:t>Jacobian matrix:</a:t>
            </a:r>
            <a:r>
              <a:rPr lang="en-IN" sz="1700" dirty="0"/>
              <a:t> It is </a:t>
            </a:r>
            <a:r>
              <a:rPr lang="en-IN" sz="1700" b="1" dirty="0"/>
              <a:t>gradient of loss function. </a:t>
            </a:r>
          </a:p>
          <a:p>
            <a:pPr marL="185738" indent="-185738">
              <a:spcBef>
                <a:spcPts val="600"/>
              </a:spcBef>
              <a:buFont typeface="Arial" panose="020B0604020202020204" pitchFamily="34" charset="0"/>
              <a:buChar char="•"/>
            </a:pPr>
            <a:r>
              <a:rPr lang="en-IN" sz="1700" b="1" dirty="0"/>
              <a:t>Loss function is scalar, weighs are vectors </a:t>
            </a:r>
            <a:r>
              <a:rPr lang="en-IN" sz="1700" dirty="0"/>
              <a:t>then </a:t>
            </a:r>
            <a:r>
              <a:rPr lang="en-IN" sz="1700" b="1" dirty="0"/>
              <a:t>gradient of scalar function w.r.t vector, the gradient becomes Vector.</a:t>
            </a:r>
          </a:p>
          <a:p>
            <a:pPr marL="185738" indent="-185738">
              <a:spcBef>
                <a:spcPts val="600"/>
              </a:spcBef>
              <a:buFont typeface="Arial" panose="020B0604020202020204" pitchFamily="34" charset="0"/>
              <a:buChar char="•"/>
            </a:pPr>
            <a:r>
              <a:rPr lang="en-IN" sz="1700" dirty="0"/>
              <a:t>Here, </a:t>
            </a:r>
            <a:r>
              <a:rPr lang="en-IN" sz="1700" b="1" dirty="0"/>
              <a:t>for every hidden layer node, input is a vector and for multiple nodes in the hidden layer, the activations taken together are also vectors.</a:t>
            </a:r>
            <a:r>
              <a:rPr lang="en-IN" sz="1700" dirty="0"/>
              <a:t> Gradient of these vectors w.r.t input vector is gradient of scalar </a:t>
            </a:r>
            <a:r>
              <a:rPr lang="en-IN" sz="1700" dirty="0" err="1"/>
              <a:t>w.r.t.</a:t>
            </a:r>
            <a:r>
              <a:rPr lang="en-IN" sz="1700" dirty="0"/>
              <a:t> vector  becomes vector and </a:t>
            </a:r>
            <a:r>
              <a:rPr lang="en-IN" sz="1700" b="1" dirty="0"/>
              <a:t>gradient of vector w.r.t vector becomes matrix.</a:t>
            </a:r>
            <a:r>
              <a:rPr lang="en-IN" b="1" dirty="0"/>
              <a:t> </a:t>
            </a:r>
          </a:p>
        </p:txBody>
      </p:sp>
    </p:spTree>
    <p:extLst>
      <p:ext uri="{BB962C8B-B14F-4D97-AF65-F5344CB8AC3E}">
        <p14:creationId xmlns:p14="http://schemas.microsoft.com/office/powerpoint/2010/main" val="37350427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9DE5F-F908-5045-F903-D02ED1EB0594}"/>
              </a:ext>
            </a:extLst>
          </p:cNvPr>
          <p:cNvSpPr>
            <a:spLocks noGrp="1"/>
          </p:cNvSpPr>
          <p:nvPr>
            <p:ph type="title"/>
          </p:nvPr>
        </p:nvSpPr>
        <p:spPr/>
        <p:txBody>
          <a:bodyPr/>
          <a:lstStyle/>
          <a:p>
            <a:r>
              <a:rPr lang="en-IN" dirty="0"/>
              <a:t>Contractive Autoencoder</a:t>
            </a:r>
          </a:p>
        </p:txBody>
      </p:sp>
      <p:sp>
        <p:nvSpPr>
          <p:cNvPr id="3" name="Content Placeholder 2">
            <a:extLst>
              <a:ext uri="{FF2B5EF4-FFF2-40B4-BE49-F238E27FC236}">
                <a16:creationId xmlns:a16="http://schemas.microsoft.com/office/drawing/2014/main" id="{3867CDEA-F2C5-7DB5-6B69-7A37686060FC}"/>
              </a:ext>
            </a:extLst>
          </p:cNvPr>
          <p:cNvSpPr>
            <a:spLocks noGrp="1"/>
          </p:cNvSpPr>
          <p:nvPr>
            <p:ph idx="1"/>
          </p:nvPr>
        </p:nvSpPr>
        <p:spPr>
          <a:xfrm>
            <a:off x="1117602" y="2362202"/>
            <a:ext cx="6753652" cy="4495798"/>
          </a:xfrm>
          <a:ln>
            <a:solidFill>
              <a:schemeClr val="tx1"/>
            </a:solidFill>
          </a:ln>
        </p:spPr>
        <p:txBody>
          <a:bodyPr/>
          <a:lstStyle/>
          <a:p>
            <a:pPr marL="185738" marR="0" lvl="0" indent="-1857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srgbClr val="003366"/>
                </a:solidFill>
                <a:effectLst/>
                <a:uLnTx/>
                <a:uFillTx/>
                <a:latin typeface="Arial"/>
                <a:ea typeface="新細明體"/>
                <a:cs typeface="+mn-cs"/>
              </a:rPr>
              <a:t>Jacobian matrix captures variation of different components of output vector w.r.t input vector.</a:t>
            </a:r>
          </a:p>
          <a:p>
            <a:pPr marL="185738" marR="0" lvl="0" indent="-1857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3366"/>
                </a:solidFill>
                <a:effectLst/>
                <a:uLnTx/>
                <a:uFillTx/>
                <a:latin typeface="Arial"/>
                <a:ea typeface="新細明體"/>
                <a:cs typeface="+mn-cs"/>
              </a:rPr>
              <a:t>In this case if there are </a:t>
            </a:r>
            <a:r>
              <a:rPr kumimoji="0" lang="en-IN" sz="1800" b="1" i="0" u="none" strike="noStrike" kern="1200" cap="none" spc="0" normalizeH="0" baseline="0" noProof="0" dirty="0">
                <a:ln>
                  <a:noFill/>
                </a:ln>
                <a:solidFill>
                  <a:srgbClr val="003366"/>
                </a:solidFill>
                <a:effectLst/>
                <a:uLnTx/>
                <a:uFillTx/>
                <a:latin typeface="Arial"/>
                <a:ea typeface="新細明體"/>
                <a:cs typeface="+mn-cs"/>
              </a:rPr>
              <a:t>N no. of nodes in the hidden layer</a:t>
            </a:r>
            <a:r>
              <a:rPr kumimoji="0" lang="en-IN" sz="1800" b="0" i="0" u="none" strike="noStrike" kern="1200" cap="none" spc="0" normalizeH="0" baseline="0" noProof="0" dirty="0">
                <a:ln>
                  <a:noFill/>
                </a:ln>
                <a:solidFill>
                  <a:srgbClr val="003366"/>
                </a:solidFill>
                <a:effectLst/>
                <a:uLnTx/>
                <a:uFillTx/>
                <a:latin typeface="Arial"/>
                <a:ea typeface="新細明體"/>
                <a:cs typeface="+mn-cs"/>
              </a:rPr>
              <a:t>, there will be N no of activation values, one activation value of every hidden layer node and </a:t>
            </a:r>
            <a:r>
              <a:rPr kumimoji="0" lang="en-IN" sz="1800" b="1" i="0" u="none" strike="noStrike" kern="1200" cap="none" spc="0" normalizeH="0" baseline="0" noProof="0" dirty="0">
                <a:ln>
                  <a:noFill/>
                </a:ln>
                <a:solidFill>
                  <a:srgbClr val="003366"/>
                </a:solidFill>
                <a:effectLst/>
                <a:uLnTx/>
                <a:uFillTx/>
                <a:latin typeface="Arial"/>
                <a:ea typeface="新細明體"/>
                <a:cs typeface="+mn-cs"/>
              </a:rPr>
              <a:t>if input data vector is of m dimensional then Jacobian matrix becomes as in Figure. </a:t>
            </a:r>
            <a:r>
              <a:rPr kumimoji="0" lang="en-IN" sz="1800" b="0" i="0" u="none" strike="noStrike" kern="1200" cap="none" spc="0" normalizeH="0" baseline="0" noProof="0" dirty="0">
                <a:ln>
                  <a:noFill/>
                </a:ln>
                <a:solidFill>
                  <a:srgbClr val="003366"/>
                </a:solidFill>
                <a:effectLst/>
                <a:uLnTx/>
                <a:uFillTx/>
                <a:latin typeface="Arial"/>
                <a:ea typeface="新細明體"/>
                <a:cs typeface="+mn-cs"/>
              </a:rPr>
              <a:t>Here </a:t>
            </a:r>
            <a:r>
              <a:rPr kumimoji="0" lang="en-IN" sz="1800" b="1" i="0" u="none" strike="noStrike" kern="1200" cap="none" spc="0" normalizeH="0" baseline="0" noProof="0" dirty="0">
                <a:ln>
                  <a:noFill/>
                </a:ln>
                <a:solidFill>
                  <a:srgbClr val="003366"/>
                </a:solidFill>
                <a:effectLst/>
                <a:uLnTx/>
                <a:uFillTx/>
                <a:latin typeface="Arial"/>
                <a:ea typeface="新細明體"/>
                <a:cs typeface="+mn-cs"/>
              </a:rPr>
              <a:t>a1 is the activation of first node in the hidden layer for input vector X.</a:t>
            </a:r>
          </a:p>
          <a:p>
            <a:pPr marL="185738" marR="0" lvl="0" indent="-1857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3366"/>
                </a:solidFill>
                <a:effectLst/>
                <a:uLnTx/>
                <a:uFillTx/>
                <a:latin typeface="Arial"/>
                <a:ea typeface="新細明體"/>
                <a:cs typeface="+mn-cs"/>
              </a:rPr>
              <a:t>Thus </a:t>
            </a:r>
            <a:r>
              <a:rPr kumimoji="0" lang="en-IN" sz="1800" b="1" i="0" u="none" strike="noStrike" kern="1200" cap="none" spc="0" normalizeH="0" baseline="0" noProof="0" dirty="0">
                <a:ln>
                  <a:noFill/>
                </a:ln>
                <a:solidFill>
                  <a:srgbClr val="003366"/>
                </a:solidFill>
                <a:effectLst/>
                <a:uLnTx/>
                <a:uFillTx/>
                <a:latin typeface="Arial"/>
                <a:ea typeface="新細明體"/>
                <a:cs typeface="+mn-cs"/>
              </a:rPr>
              <a:t>first row is gradient of output of the first node in the hidden layer w.r.t input vector and so on. </a:t>
            </a:r>
          </a:p>
          <a:p>
            <a:pPr marL="185738" marR="0" lvl="0" indent="-1857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srgbClr val="003366"/>
                </a:solidFill>
                <a:effectLst/>
                <a:uLnTx/>
                <a:uFillTx/>
                <a:latin typeface="Arial"/>
                <a:ea typeface="新細明體"/>
                <a:cs typeface="+mn-cs"/>
              </a:rPr>
              <a:t>Regularisation term becomes squared </a:t>
            </a:r>
            <a:r>
              <a:rPr lang="en-IN" sz="1800" b="1" dirty="0" err="1"/>
              <a:t>Frobenius</a:t>
            </a:r>
            <a:r>
              <a:rPr lang="en-IN" sz="1800" b="1" dirty="0"/>
              <a:t> norm of Jacobian matrix</a:t>
            </a:r>
            <a:r>
              <a:rPr lang="en-IN" sz="1800" dirty="0"/>
              <a:t>. </a:t>
            </a:r>
            <a:r>
              <a:rPr kumimoji="0" lang="en-IN" sz="1800" b="0" i="0" u="none" strike="noStrike" kern="1200" cap="none" spc="0" normalizeH="0" baseline="0" noProof="0" dirty="0">
                <a:ln>
                  <a:noFill/>
                </a:ln>
                <a:solidFill>
                  <a:srgbClr val="003366"/>
                </a:solidFill>
                <a:effectLst/>
                <a:uLnTx/>
                <a:uFillTx/>
                <a:latin typeface="Arial"/>
                <a:ea typeface="新細明體"/>
                <a:cs typeface="+mn-cs"/>
              </a:rPr>
              <a:t> </a:t>
            </a:r>
          </a:p>
          <a:p>
            <a:pPr marL="185738" marR="0" lvl="0" indent="-1857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3366"/>
                </a:solidFill>
                <a:effectLst/>
                <a:uLnTx/>
                <a:uFillTx/>
                <a:latin typeface="Arial"/>
                <a:ea typeface="新細明體"/>
                <a:cs typeface="+mn-cs"/>
              </a:rPr>
              <a:t>                       </a:t>
            </a:r>
            <a:r>
              <a:rPr kumimoji="0" lang="en-IN" sz="1800" b="1" i="0" u="none" strike="noStrike" kern="1200" cap="none" spc="0" normalizeH="0" baseline="0" noProof="0" dirty="0">
                <a:ln>
                  <a:noFill/>
                </a:ln>
                <a:solidFill>
                  <a:srgbClr val="003366"/>
                </a:solidFill>
                <a:effectLst/>
                <a:uLnTx/>
                <a:uFillTx/>
                <a:latin typeface="Arial"/>
                <a:ea typeface="新細明體"/>
                <a:cs typeface="+mn-cs"/>
              </a:rPr>
              <a:t>Represents components of Jacobian matrix.</a:t>
            </a:r>
          </a:p>
          <a:p>
            <a:pPr marL="185738" indent="-185738"/>
            <a:r>
              <a:rPr lang="en-IN" sz="1800" dirty="0"/>
              <a:t>Back propagation algorithm should try to minimize data and regularisation loss.</a:t>
            </a:r>
          </a:p>
        </p:txBody>
      </p:sp>
      <p:sp>
        <p:nvSpPr>
          <p:cNvPr id="4" name="Slide Number Placeholder 3">
            <a:extLst>
              <a:ext uri="{FF2B5EF4-FFF2-40B4-BE49-F238E27FC236}">
                <a16:creationId xmlns:a16="http://schemas.microsoft.com/office/drawing/2014/main" id="{B3C4EC7F-A43F-BCFD-A8EE-C2082E020CF6}"/>
              </a:ext>
            </a:extLst>
          </p:cNvPr>
          <p:cNvSpPr>
            <a:spLocks noGrp="1"/>
          </p:cNvSpPr>
          <p:nvPr>
            <p:ph type="sldNum" sz="quarter" idx="12"/>
          </p:nvPr>
        </p:nvSpPr>
        <p:spPr/>
        <p:txBody>
          <a:bodyPr/>
          <a:lstStyle/>
          <a:p>
            <a:pPr>
              <a:defRPr/>
            </a:pPr>
            <a:fld id="{9AD681D7-8A59-4380-9311-10B86FF921AA}" type="slidenum">
              <a:rPr lang="en-US" altLang="zh-TW" smtClean="0"/>
              <a:pPr>
                <a:defRPr/>
              </a:pPr>
              <a:t>63</a:t>
            </a:fld>
            <a:endParaRPr lang="en-US" altLang="zh-TW"/>
          </a:p>
        </p:txBody>
      </p:sp>
      <p:pic>
        <p:nvPicPr>
          <p:cNvPr id="5" name="Picture 4">
            <a:extLst>
              <a:ext uri="{FF2B5EF4-FFF2-40B4-BE49-F238E27FC236}">
                <a16:creationId xmlns:a16="http://schemas.microsoft.com/office/drawing/2014/main" id="{018C031A-B0F9-45FE-8B21-79A9DE5FADBC}"/>
              </a:ext>
            </a:extLst>
          </p:cNvPr>
          <p:cNvPicPr>
            <a:picLocks noChangeAspect="1"/>
          </p:cNvPicPr>
          <p:nvPr/>
        </p:nvPicPr>
        <p:blipFill>
          <a:blip r:embed="rId2"/>
          <a:stretch>
            <a:fillRect/>
          </a:stretch>
        </p:blipFill>
        <p:spPr>
          <a:xfrm>
            <a:off x="8023066" y="2388977"/>
            <a:ext cx="4054191" cy="2213040"/>
          </a:xfrm>
          <a:prstGeom prst="rect">
            <a:avLst/>
          </a:prstGeom>
          <a:ln>
            <a:solidFill>
              <a:schemeClr val="tx1"/>
            </a:solidFill>
          </a:ln>
        </p:spPr>
      </p:pic>
      <p:pic>
        <p:nvPicPr>
          <p:cNvPr id="6" name="Content Placeholder 5">
            <a:extLst>
              <a:ext uri="{FF2B5EF4-FFF2-40B4-BE49-F238E27FC236}">
                <a16:creationId xmlns:a16="http://schemas.microsoft.com/office/drawing/2014/main" id="{323DE7BD-FD12-59C9-21C5-8A1BDD063B43}"/>
              </a:ext>
            </a:extLst>
          </p:cNvPr>
          <p:cNvPicPr>
            <a:picLocks noChangeAspect="1"/>
          </p:cNvPicPr>
          <p:nvPr/>
        </p:nvPicPr>
        <p:blipFill rotWithShape="1">
          <a:blip r:embed="rId3"/>
          <a:srcRect l="12155" t="78137" r="40780"/>
          <a:stretch/>
        </p:blipFill>
        <p:spPr bwMode="auto">
          <a:xfrm>
            <a:off x="8023066" y="4841790"/>
            <a:ext cx="3694671" cy="6816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Content Placeholder 5">
            <a:extLst>
              <a:ext uri="{FF2B5EF4-FFF2-40B4-BE49-F238E27FC236}">
                <a16:creationId xmlns:a16="http://schemas.microsoft.com/office/drawing/2014/main" id="{E3EAEB32-CF90-DD9A-AD20-5133F129452A}"/>
              </a:ext>
            </a:extLst>
          </p:cNvPr>
          <p:cNvPicPr>
            <a:picLocks noChangeAspect="1"/>
          </p:cNvPicPr>
          <p:nvPr/>
        </p:nvPicPr>
        <p:blipFill rotWithShape="1">
          <a:blip r:embed="rId3"/>
          <a:srcRect l="38817" t="83447" r="44445" b="4888"/>
          <a:stretch/>
        </p:blipFill>
        <p:spPr bwMode="auto">
          <a:xfrm>
            <a:off x="1438975" y="5696465"/>
            <a:ext cx="1313935" cy="2965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22BED42B-F857-12CD-4D75-B14AF0611B0B}"/>
              </a:ext>
            </a:extLst>
          </p:cNvPr>
          <p:cNvSpPr txBox="1"/>
          <p:nvPr/>
        </p:nvSpPr>
        <p:spPr>
          <a:xfrm>
            <a:off x="7966572" y="5594624"/>
            <a:ext cx="4532010" cy="1200329"/>
          </a:xfrm>
          <a:prstGeom prst="rect">
            <a:avLst/>
          </a:prstGeom>
          <a:noFill/>
          <a:ln>
            <a:solidFill>
              <a:srgbClr val="000000"/>
            </a:solidFill>
          </a:ln>
        </p:spPr>
        <p:txBody>
          <a:bodyPr wrap="none" rtlCol="0">
            <a:spAutoFit/>
          </a:bodyPr>
          <a:lstStyle/>
          <a:p>
            <a:r>
              <a:rPr lang="en-IN" sz="1800" b="1" dirty="0"/>
              <a:t>Regularisation term ensures that upon</a:t>
            </a:r>
          </a:p>
          <a:p>
            <a:r>
              <a:rPr lang="en-IN" sz="1800" b="1" dirty="0"/>
              <a:t> completion of training, variation of </a:t>
            </a:r>
          </a:p>
          <a:p>
            <a:r>
              <a:rPr lang="en-IN" sz="1800" b="1" dirty="0"/>
              <a:t>activation functions in the hidden layer </a:t>
            </a:r>
          </a:p>
          <a:p>
            <a:r>
              <a:rPr lang="en-IN" sz="1800" b="1" dirty="0"/>
              <a:t>w.r.t input will be minimum. </a:t>
            </a:r>
            <a:endParaRPr lang="en-IN" b="1" dirty="0"/>
          </a:p>
        </p:txBody>
      </p:sp>
    </p:spTree>
    <p:extLst>
      <p:ext uri="{BB962C8B-B14F-4D97-AF65-F5344CB8AC3E}">
        <p14:creationId xmlns:p14="http://schemas.microsoft.com/office/powerpoint/2010/main" val="5837586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C5E62-884C-39CE-3059-B415BF5218E5}"/>
              </a:ext>
            </a:extLst>
          </p:cNvPr>
          <p:cNvSpPr>
            <a:spLocks noGrp="1"/>
          </p:cNvSpPr>
          <p:nvPr>
            <p:ph type="title"/>
          </p:nvPr>
        </p:nvSpPr>
        <p:spPr>
          <a:xfrm>
            <a:off x="962819" y="1182130"/>
            <a:ext cx="10566400" cy="1143000"/>
          </a:xfrm>
        </p:spPr>
        <p:txBody>
          <a:bodyPr/>
          <a:lstStyle/>
          <a:p>
            <a:r>
              <a:rPr lang="en-IN" dirty="0"/>
              <a:t>Applications : In painting</a:t>
            </a:r>
            <a:br>
              <a:rPr lang="en-IN" dirty="0"/>
            </a:br>
            <a:endParaRPr lang="en-IN" dirty="0"/>
          </a:p>
        </p:txBody>
      </p:sp>
      <p:pic>
        <p:nvPicPr>
          <p:cNvPr id="6" name="Content Placeholder 5">
            <a:extLst>
              <a:ext uri="{FF2B5EF4-FFF2-40B4-BE49-F238E27FC236}">
                <a16:creationId xmlns:a16="http://schemas.microsoft.com/office/drawing/2014/main" id="{08022A40-DD23-BFD6-54FE-FE5CC693A8E3}"/>
              </a:ext>
            </a:extLst>
          </p:cNvPr>
          <p:cNvPicPr>
            <a:picLocks noGrp="1" noChangeAspect="1"/>
          </p:cNvPicPr>
          <p:nvPr>
            <p:ph idx="1"/>
          </p:nvPr>
        </p:nvPicPr>
        <p:blipFill>
          <a:blip r:embed="rId2"/>
          <a:stretch>
            <a:fillRect/>
          </a:stretch>
        </p:blipFill>
        <p:spPr>
          <a:xfrm>
            <a:off x="1473328" y="2652493"/>
            <a:ext cx="9545382" cy="3143689"/>
          </a:xfrm>
          <a:ln>
            <a:solidFill>
              <a:schemeClr val="tx1"/>
            </a:solidFill>
          </a:ln>
        </p:spPr>
      </p:pic>
      <p:sp>
        <p:nvSpPr>
          <p:cNvPr id="4" name="Slide Number Placeholder 3">
            <a:extLst>
              <a:ext uri="{FF2B5EF4-FFF2-40B4-BE49-F238E27FC236}">
                <a16:creationId xmlns:a16="http://schemas.microsoft.com/office/drawing/2014/main" id="{E83466C6-5315-46D8-DD86-0867872EC5E0}"/>
              </a:ext>
            </a:extLst>
          </p:cNvPr>
          <p:cNvSpPr>
            <a:spLocks noGrp="1"/>
          </p:cNvSpPr>
          <p:nvPr>
            <p:ph type="sldNum" sz="quarter" idx="12"/>
          </p:nvPr>
        </p:nvSpPr>
        <p:spPr/>
        <p:txBody>
          <a:bodyPr/>
          <a:lstStyle/>
          <a:p>
            <a:pPr>
              <a:defRPr/>
            </a:pPr>
            <a:fld id="{9AD681D7-8A59-4380-9311-10B86FF921AA}" type="slidenum">
              <a:rPr lang="en-US" altLang="zh-TW" smtClean="0"/>
              <a:pPr>
                <a:defRPr/>
              </a:pPr>
              <a:t>64</a:t>
            </a:fld>
            <a:endParaRPr lang="en-US" altLang="zh-TW"/>
          </a:p>
        </p:txBody>
      </p:sp>
      <p:sp>
        <p:nvSpPr>
          <p:cNvPr id="7" name="TextBox 6">
            <a:extLst>
              <a:ext uri="{FF2B5EF4-FFF2-40B4-BE49-F238E27FC236}">
                <a16:creationId xmlns:a16="http://schemas.microsoft.com/office/drawing/2014/main" id="{9572EF4E-34AC-AC39-26DD-D5EE9782546F}"/>
              </a:ext>
            </a:extLst>
          </p:cNvPr>
          <p:cNvSpPr txBox="1"/>
          <p:nvPr/>
        </p:nvSpPr>
        <p:spPr>
          <a:xfrm>
            <a:off x="1537449" y="5918884"/>
            <a:ext cx="10123284" cy="646331"/>
          </a:xfrm>
          <a:prstGeom prst="rect">
            <a:avLst/>
          </a:prstGeom>
          <a:noFill/>
          <a:ln>
            <a:solidFill>
              <a:schemeClr val="tx1"/>
            </a:solidFill>
          </a:ln>
        </p:spPr>
        <p:txBody>
          <a:bodyPr wrap="none" rtlCol="0">
            <a:spAutoFit/>
          </a:bodyPr>
          <a:lstStyle/>
          <a:p>
            <a:pPr algn="ctr"/>
            <a:r>
              <a:rPr lang="en-IN" dirty="0"/>
              <a:t>For some parts of the image if information is missing or corrupt then with the help of autoencoder </a:t>
            </a:r>
          </a:p>
          <a:p>
            <a:pPr algn="ctr"/>
            <a:r>
              <a:rPr lang="en-IN" dirty="0"/>
              <a:t>it can be repaired ss shown in the figure.  </a:t>
            </a:r>
          </a:p>
        </p:txBody>
      </p:sp>
    </p:spTree>
    <p:extLst>
      <p:ext uri="{BB962C8B-B14F-4D97-AF65-F5344CB8AC3E}">
        <p14:creationId xmlns:p14="http://schemas.microsoft.com/office/powerpoint/2010/main" val="33628605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94AC64-7177-4BEF-328F-8DDED23D3B44}"/>
              </a:ext>
            </a:extLst>
          </p:cNvPr>
          <p:cNvSpPr>
            <a:spLocks noGrp="1"/>
          </p:cNvSpPr>
          <p:nvPr>
            <p:ph type="sldNum" sz="quarter" idx="12"/>
          </p:nvPr>
        </p:nvSpPr>
        <p:spPr/>
        <p:txBody>
          <a:bodyPr/>
          <a:lstStyle/>
          <a:p>
            <a:pPr>
              <a:defRPr/>
            </a:pPr>
            <a:fld id="{9AD681D7-8A59-4380-9311-10B86FF921AA}" type="slidenum">
              <a:rPr lang="en-US" altLang="zh-TW" smtClean="0"/>
              <a:pPr>
                <a:defRPr/>
              </a:pPr>
              <a:t>65</a:t>
            </a:fld>
            <a:endParaRPr lang="en-US" altLang="zh-TW"/>
          </a:p>
        </p:txBody>
      </p:sp>
      <p:sp>
        <p:nvSpPr>
          <p:cNvPr id="5" name="Content Placeholder 4">
            <a:extLst>
              <a:ext uri="{FF2B5EF4-FFF2-40B4-BE49-F238E27FC236}">
                <a16:creationId xmlns:a16="http://schemas.microsoft.com/office/drawing/2014/main" id="{36485B0F-8CA8-0569-33D4-4250D11C250C}"/>
              </a:ext>
            </a:extLst>
          </p:cNvPr>
          <p:cNvSpPr txBox="1">
            <a:spLocks noGrp="1"/>
          </p:cNvSpPr>
          <p:nvPr>
            <p:ph idx="1"/>
          </p:nvPr>
        </p:nvSpPr>
        <p:spPr>
          <a:xfrm>
            <a:off x="1117600" y="2362200"/>
            <a:ext cx="10566400" cy="3216778"/>
          </a:xfrm>
          <a:prstGeom prst="rect">
            <a:avLst/>
          </a:prstGeom>
          <a:noFill/>
          <a:ln>
            <a:solidFill>
              <a:srgbClr val="000000"/>
            </a:solidFill>
          </a:ln>
        </p:spPr>
        <p:txBody>
          <a:bodyPr wrap="square" rtlCol="0">
            <a:spAutoFit/>
          </a:bodyPr>
          <a:lstStyle/>
          <a:p>
            <a:pPr marL="185738" indent="-185738">
              <a:lnSpc>
                <a:spcPct val="200000"/>
              </a:lnSpc>
            </a:pPr>
            <a:r>
              <a:rPr lang="en-IN" sz="1600" dirty="0"/>
              <a:t>Many a times for security camera its required to detect an abnormal event.</a:t>
            </a:r>
          </a:p>
          <a:p>
            <a:pPr marL="185738" indent="-185738">
              <a:lnSpc>
                <a:spcPct val="200000"/>
              </a:lnSpc>
            </a:pPr>
            <a:r>
              <a:rPr lang="en-IN" sz="1600" dirty="0"/>
              <a:t>Suppose on the footpath of road only pedestrians should move and not the car.</a:t>
            </a:r>
          </a:p>
          <a:p>
            <a:pPr marL="185738" indent="-185738">
              <a:lnSpc>
                <a:spcPct val="200000"/>
              </a:lnSpc>
            </a:pPr>
            <a:r>
              <a:rPr lang="en-IN" sz="1600" dirty="0"/>
              <a:t>Train the autoencoder with images of only pedestrians can move. </a:t>
            </a:r>
          </a:p>
          <a:p>
            <a:pPr marL="185738" indent="-185738">
              <a:lnSpc>
                <a:spcPct val="200000"/>
              </a:lnSpc>
            </a:pPr>
            <a:r>
              <a:rPr lang="en-IN" sz="1600" dirty="0"/>
              <a:t>Now if car is captured in the image, autoencoder can not reconstruct the car properly. </a:t>
            </a:r>
          </a:p>
          <a:p>
            <a:pPr marL="185738" indent="-185738">
              <a:lnSpc>
                <a:spcPct val="200000"/>
              </a:lnSpc>
            </a:pPr>
            <a:r>
              <a:rPr lang="en-IN" sz="1600" dirty="0"/>
              <a:t>For region where car is there, reconstruction Error will be large.</a:t>
            </a:r>
          </a:p>
          <a:p>
            <a:pPr marL="185738" indent="-185738">
              <a:lnSpc>
                <a:spcPct val="200000"/>
              </a:lnSpc>
            </a:pPr>
            <a:r>
              <a:rPr lang="en-IN" sz="1600" dirty="0"/>
              <a:t>Thus in the output image wherever reconstruction error is large, in that region abnormal activity is taking place. </a:t>
            </a:r>
          </a:p>
        </p:txBody>
      </p:sp>
      <p:sp>
        <p:nvSpPr>
          <p:cNvPr id="6" name="Title 1">
            <a:extLst>
              <a:ext uri="{FF2B5EF4-FFF2-40B4-BE49-F238E27FC236}">
                <a16:creationId xmlns:a16="http://schemas.microsoft.com/office/drawing/2014/main" id="{B29CD992-3DC4-0237-54E6-95C470BD9F05}"/>
              </a:ext>
            </a:extLst>
          </p:cNvPr>
          <p:cNvSpPr>
            <a:spLocks noGrp="1"/>
          </p:cNvSpPr>
          <p:nvPr>
            <p:ph type="title"/>
          </p:nvPr>
        </p:nvSpPr>
        <p:spPr>
          <a:xfrm>
            <a:off x="895351" y="1058563"/>
            <a:ext cx="10566400" cy="1143000"/>
          </a:xfrm>
        </p:spPr>
        <p:txBody>
          <a:bodyPr/>
          <a:lstStyle/>
          <a:p>
            <a:r>
              <a:rPr lang="en-IN" dirty="0"/>
              <a:t>Applications :</a:t>
            </a:r>
            <a:r>
              <a:rPr lang="en-IN" sz="3600" b="1" dirty="0"/>
              <a:t> Abnormality detection</a:t>
            </a:r>
            <a:br>
              <a:rPr lang="en-IN" dirty="0"/>
            </a:br>
            <a:endParaRPr lang="en-IN" dirty="0"/>
          </a:p>
        </p:txBody>
      </p:sp>
    </p:spTree>
    <p:extLst>
      <p:ext uri="{BB962C8B-B14F-4D97-AF65-F5344CB8AC3E}">
        <p14:creationId xmlns:p14="http://schemas.microsoft.com/office/powerpoint/2010/main" val="10915612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F69B6-607A-423F-AF86-C115BF367B80}"/>
              </a:ext>
            </a:extLst>
          </p:cNvPr>
          <p:cNvSpPr>
            <a:spLocks noGrp="1"/>
          </p:cNvSpPr>
          <p:nvPr>
            <p:ph type="title"/>
          </p:nvPr>
        </p:nvSpPr>
        <p:spPr>
          <a:xfrm>
            <a:off x="1016000" y="1116683"/>
            <a:ext cx="10566400" cy="1143000"/>
          </a:xfrm>
        </p:spPr>
        <p:txBody>
          <a:bodyPr/>
          <a:lstStyle/>
          <a:p>
            <a:r>
              <a:rPr lang="en-IN" dirty="0"/>
              <a:t>Applications</a:t>
            </a:r>
            <a:br>
              <a:rPr lang="en-IN" dirty="0"/>
            </a:br>
            <a:endParaRPr lang="en-IN" dirty="0"/>
          </a:p>
        </p:txBody>
      </p:sp>
      <p:sp>
        <p:nvSpPr>
          <p:cNvPr id="4" name="Slide Number Placeholder 3">
            <a:extLst>
              <a:ext uri="{FF2B5EF4-FFF2-40B4-BE49-F238E27FC236}">
                <a16:creationId xmlns:a16="http://schemas.microsoft.com/office/drawing/2014/main" id="{A25A5812-E8A9-4F0C-8B2B-AAED3F713876}"/>
              </a:ext>
            </a:extLst>
          </p:cNvPr>
          <p:cNvSpPr>
            <a:spLocks noGrp="1"/>
          </p:cNvSpPr>
          <p:nvPr>
            <p:ph type="sldNum" sz="quarter" idx="12"/>
          </p:nvPr>
        </p:nvSpPr>
        <p:spPr/>
        <p:txBody>
          <a:bodyPr/>
          <a:lstStyle/>
          <a:p>
            <a:pPr>
              <a:defRPr/>
            </a:pPr>
            <a:fld id="{9AD681D7-8A59-4380-9311-10B86FF921AA}" type="slidenum">
              <a:rPr lang="en-US" altLang="zh-TW" smtClean="0"/>
              <a:pPr>
                <a:defRPr/>
              </a:pPr>
              <a:t>66</a:t>
            </a:fld>
            <a:endParaRPr lang="en-US" altLang="zh-TW"/>
          </a:p>
        </p:txBody>
      </p:sp>
      <p:sp>
        <p:nvSpPr>
          <p:cNvPr id="5" name="Content Placeholder 2">
            <a:extLst>
              <a:ext uri="{FF2B5EF4-FFF2-40B4-BE49-F238E27FC236}">
                <a16:creationId xmlns:a16="http://schemas.microsoft.com/office/drawing/2014/main" id="{768F6CAA-03F1-4D5B-9296-66A585A89CA8}"/>
              </a:ext>
            </a:extLst>
          </p:cNvPr>
          <p:cNvSpPr txBox="1">
            <a:spLocks/>
          </p:cNvSpPr>
          <p:nvPr/>
        </p:nvSpPr>
        <p:spPr>
          <a:xfrm>
            <a:off x="1164944" y="2422649"/>
            <a:ext cx="10914871" cy="4308351"/>
          </a:xfrm>
          <a:prstGeom prst="rect">
            <a:avLst/>
          </a:prstGeom>
          <a:ln>
            <a:solidFill>
              <a:srgbClr val="0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0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1" i="0" u="none" strike="noStrike" kern="1200" cap="none" spc="0" normalizeH="0" baseline="0" noProof="0" dirty="0">
                <a:ln>
                  <a:noFill/>
                </a:ln>
                <a:solidFill>
                  <a:srgbClr val="002060"/>
                </a:solidFill>
                <a:effectLst/>
                <a:uLnTx/>
                <a:uFillTx/>
                <a:latin typeface="Calibri" panose="020F0502020204030204"/>
                <a:ea typeface="+mn-ea"/>
                <a:cs typeface="+mn-cs"/>
              </a:rPr>
              <a:t>Denoising:</a:t>
            </a:r>
            <a:r>
              <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rPr>
              <a:t>  input clean image + noise and train to reproduce the clean image.</a:t>
            </a:r>
          </a:p>
        </p:txBody>
      </p:sp>
      <p:pic>
        <p:nvPicPr>
          <p:cNvPr id="6" name="Picture 2" descr="Autoencoders Tutorial - Denoising image">
            <a:extLst>
              <a:ext uri="{FF2B5EF4-FFF2-40B4-BE49-F238E27FC236}">
                <a16:creationId xmlns:a16="http://schemas.microsoft.com/office/drawing/2014/main" id="{AA89CE02-9415-475E-9615-0B6E9E6FE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100" y="3900227"/>
            <a:ext cx="6705600" cy="222717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3CF694E-5253-E021-5D24-99E0A7870561}"/>
              </a:ext>
            </a:extLst>
          </p:cNvPr>
          <p:cNvSpPr txBox="1"/>
          <p:nvPr/>
        </p:nvSpPr>
        <p:spPr>
          <a:xfrm>
            <a:off x="1164945" y="2422649"/>
            <a:ext cx="11027055" cy="338554"/>
          </a:xfrm>
          <a:prstGeom prst="rect">
            <a:avLst/>
          </a:prstGeom>
          <a:noFill/>
        </p:spPr>
        <p:txBody>
          <a:bodyPr wrap="square">
            <a:spAutoFit/>
          </a:bodyPr>
          <a:lstStyle/>
          <a:p>
            <a:r>
              <a:rPr lang="en-US" sz="1600" dirty="0"/>
              <a:t>Data denoising and dimensionality reduction for data visualization are tow major practical applications of Autoencoders.</a:t>
            </a:r>
          </a:p>
        </p:txBody>
      </p:sp>
      <p:sp>
        <p:nvSpPr>
          <p:cNvPr id="7" name="TextBox 6">
            <a:extLst>
              <a:ext uri="{FF2B5EF4-FFF2-40B4-BE49-F238E27FC236}">
                <a16:creationId xmlns:a16="http://schemas.microsoft.com/office/drawing/2014/main" id="{AEC8775A-4BFF-5F08-CA5C-B79C57345BA0}"/>
              </a:ext>
            </a:extLst>
          </p:cNvPr>
          <p:cNvSpPr txBox="1"/>
          <p:nvPr/>
        </p:nvSpPr>
        <p:spPr>
          <a:xfrm>
            <a:off x="1164943" y="6242050"/>
            <a:ext cx="11027057" cy="400110"/>
          </a:xfrm>
          <a:prstGeom prst="rect">
            <a:avLst/>
          </a:prstGeom>
          <a:noFill/>
        </p:spPr>
        <p:txBody>
          <a:bodyPr wrap="square">
            <a:spAutoFit/>
          </a:bodyPr>
          <a:lstStyle/>
          <a:p>
            <a:r>
              <a:rPr lang="en-US" sz="2000" b="1" dirty="0">
                <a:solidFill>
                  <a:srgbClr val="002060"/>
                </a:solidFill>
                <a:latin typeface="Calibri" panose="020F0502020204030204"/>
              </a:rPr>
              <a:t>Dimensionality Reduction/Data compression: </a:t>
            </a:r>
            <a:r>
              <a:rPr lang="en-US" sz="2000" dirty="0">
                <a:solidFill>
                  <a:srgbClr val="002060"/>
                </a:solidFill>
                <a:latin typeface="Calibri" panose="020F0502020204030204"/>
              </a:rPr>
              <a:t>Make high-quality, low-dimension representation of data.</a:t>
            </a:r>
          </a:p>
        </p:txBody>
      </p:sp>
    </p:spTree>
    <p:extLst>
      <p:ext uri="{BB962C8B-B14F-4D97-AF65-F5344CB8AC3E}">
        <p14:creationId xmlns:p14="http://schemas.microsoft.com/office/powerpoint/2010/main" val="22842766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44EA-8676-4ED0-9D0E-F439C962E2BE}"/>
              </a:ext>
            </a:extLst>
          </p:cNvPr>
          <p:cNvSpPr>
            <a:spLocks noGrp="1"/>
          </p:cNvSpPr>
          <p:nvPr>
            <p:ph type="title"/>
          </p:nvPr>
        </p:nvSpPr>
        <p:spPr>
          <a:xfrm>
            <a:off x="963084" y="1066585"/>
            <a:ext cx="10566400" cy="1143000"/>
          </a:xfrm>
        </p:spPr>
        <p:txBody>
          <a:bodyPr/>
          <a:lstStyle/>
          <a:p>
            <a:b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br>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Applications</a:t>
            </a:r>
            <a:b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br>
            <a:endParaRPr lang="en-IN" dirty="0"/>
          </a:p>
        </p:txBody>
      </p:sp>
      <p:sp>
        <p:nvSpPr>
          <p:cNvPr id="3" name="Content Placeholder 2">
            <a:extLst>
              <a:ext uri="{FF2B5EF4-FFF2-40B4-BE49-F238E27FC236}">
                <a16:creationId xmlns:a16="http://schemas.microsoft.com/office/drawing/2014/main" id="{E0BB8C34-EC80-47D7-9B86-1F3FCF09180A}"/>
              </a:ext>
            </a:extLst>
          </p:cNvPr>
          <p:cNvSpPr>
            <a:spLocks noGrp="1"/>
          </p:cNvSpPr>
          <p:nvPr>
            <p:ph idx="1"/>
          </p:nvPr>
        </p:nvSpPr>
        <p:spPr>
          <a:xfrm>
            <a:off x="1117601" y="2362201"/>
            <a:ext cx="10257367" cy="4368799"/>
          </a:xfrm>
          <a:ln>
            <a:solidFill>
              <a:srgbClr val="000000"/>
            </a:solidFill>
          </a:ln>
        </p:spPr>
        <p:txBody>
          <a:bodyPr/>
          <a:lstStyle/>
          <a:p>
            <a:pPr marL="185738" indent="-185738"/>
            <a:r>
              <a:rPr kumimoji="0" lang="en-IN" sz="2000" b="1" dirty="0">
                <a:solidFill>
                  <a:srgbClr val="002060"/>
                </a:solidFill>
                <a:latin typeface="Calibri" panose="020F0502020204030204"/>
                <a:ea typeface="+mn-ea"/>
              </a:rPr>
              <a:t>Water mark removal</a:t>
            </a:r>
          </a:p>
        </p:txBody>
      </p:sp>
      <p:sp>
        <p:nvSpPr>
          <p:cNvPr id="4" name="Slide Number Placeholder 3">
            <a:extLst>
              <a:ext uri="{FF2B5EF4-FFF2-40B4-BE49-F238E27FC236}">
                <a16:creationId xmlns:a16="http://schemas.microsoft.com/office/drawing/2014/main" id="{8B6A9A67-6D2D-420B-97AE-53FA8780AC59}"/>
              </a:ext>
            </a:extLst>
          </p:cNvPr>
          <p:cNvSpPr>
            <a:spLocks noGrp="1"/>
          </p:cNvSpPr>
          <p:nvPr>
            <p:ph type="sldNum" sz="quarter" idx="12"/>
          </p:nvPr>
        </p:nvSpPr>
        <p:spPr/>
        <p:txBody>
          <a:bodyPr/>
          <a:lstStyle/>
          <a:p>
            <a:pPr>
              <a:defRPr/>
            </a:pPr>
            <a:fld id="{9AD681D7-8A59-4380-9311-10B86FF921AA}" type="slidenum">
              <a:rPr lang="en-US" altLang="zh-TW" smtClean="0"/>
              <a:pPr>
                <a:defRPr/>
              </a:pPr>
              <a:t>67</a:t>
            </a:fld>
            <a:endParaRPr lang="en-US" altLang="zh-TW"/>
          </a:p>
        </p:txBody>
      </p:sp>
      <p:pic>
        <p:nvPicPr>
          <p:cNvPr id="5" name="Picture 2" descr="Autoencoders Tutorial - Watermark Removal">
            <a:extLst>
              <a:ext uri="{FF2B5EF4-FFF2-40B4-BE49-F238E27FC236}">
                <a16:creationId xmlns:a16="http://schemas.microsoft.com/office/drawing/2014/main" id="{BDACABB9-E3F0-4694-871E-66A434FE3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3680" y="2409640"/>
            <a:ext cx="6705600" cy="1524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91D66AB-DEDB-44E8-A4F9-6E5075064F4F}"/>
              </a:ext>
            </a:extLst>
          </p:cNvPr>
          <p:cNvSpPr txBox="1"/>
          <p:nvPr/>
        </p:nvSpPr>
        <p:spPr>
          <a:xfrm>
            <a:off x="1117602" y="4106230"/>
            <a:ext cx="10257366" cy="400110"/>
          </a:xfrm>
          <a:prstGeom prst="rect">
            <a:avLst/>
          </a:prstGeom>
          <a:noFill/>
        </p:spPr>
        <p:txBody>
          <a:bodyPr wrap="square">
            <a:spAutoFit/>
          </a:bodyPr>
          <a:lstStyle/>
          <a:p>
            <a:pPr marL="185738" marR="0" lvl="0" indent="-185738"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lang="en-US" sz="2000" b="1" dirty="0">
                <a:solidFill>
                  <a:srgbClr val="002060"/>
                </a:solidFill>
                <a:latin typeface="Calibri" panose="020F0502020204030204"/>
              </a:rPr>
              <a:t>Image colorization:  </a:t>
            </a:r>
            <a:r>
              <a:rPr lang="en-US" sz="2000" dirty="0">
                <a:solidFill>
                  <a:srgbClr val="002060"/>
                </a:solidFill>
                <a:latin typeface="Calibri" panose="020F0502020204030204"/>
              </a:rPr>
              <a:t>input black and white and train to produce color images</a:t>
            </a:r>
          </a:p>
        </p:txBody>
      </p:sp>
      <p:pic>
        <p:nvPicPr>
          <p:cNvPr id="8" name="Picture 2" descr="Autoencoders Tutorial - Image Coloring">
            <a:extLst>
              <a:ext uri="{FF2B5EF4-FFF2-40B4-BE49-F238E27FC236}">
                <a16:creationId xmlns:a16="http://schemas.microsoft.com/office/drawing/2014/main" id="{7A577CB5-E2CE-4B60-B046-E2A4F1278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9104" y="4506340"/>
            <a:ext cx="7575294" cy="1963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4223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4F8A02-EA00-461E-9A02-E394587DEC46}"/>
              </a:ext>
            </a:extLst>
          </p:cNvPr>
          <p:cNvSpPr txBox="1"/>
          <p:nvPr/>
        </p:nvSpPr>
        <p:spPr>
          <a:xfrm>
            <a:off x="1081793" y="1457236"/>
            <a:ext cx="10028413"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IN" sz="54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n-cs"/>
              </a:rPr>
              <a:t>Convolutional Neural Network</a:t>
            </a:r>
            <a:endParaRPr kumimoji="0" lang="en-IN" sz="5400" b="0" i="0" u="none" strike="noStrike" kern="1200" cap="none" spc="0" normalizeH="0" baseline="0" noProof="0" dirty="0">
              <a:ln>
                <a:noFill/>
              </a:ln>
              <a:solidFill>
                <a:srgbClr val="003366"/>
              </a:solidFill>
              <a:effectLst/>
              <a:uLnTx/>
              <a:uFillTx/>
              <a:latin typeface="Arial"/>
              <a:ea typeface="新細明體"/>
              <a:cs typeface="+mn-cs"/>
            </a:endParaRPr>
          </a:p>
        </p:txBody>
      </p:sp>
    </p:spTree>
    <p:extLst>
      <p:ext uri="{BB962C8B-B14F-4D97-AF65-F5344CB8AC3E}">
        <p14:creationId xmlns:p14="http://schemas.microsoft.com/office/powerpoint/2010/main" val="8037854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91A3A-5E71-7A98-0107-A49C4AF7B15C}"/>
              </a:ext>
            </a:extLst>
          </p:cNvPr>
          <p:cNvSpPr>
            <a:spLocks noGrp="1"/>
          </p:cNvSpPr>
          <p:nvPr>
            <p:ph type="title"/>
          </p:nvPr>
        </p:nvSpPr>
        <p:spPr/>
        <p:txBody>
          <a:bodyPr/>
          <a:lstStyle/>
          <a:p>
            <a:r>
              <a:rPr lang="en-IN" dirty="0"/>
              <a:t>Convolution In 2-D </a:t>
            </a:r>
          </a:p>
        </p:txBody>
      </p:sp>
      <p:pic>
        <p:nvPicPr>
          <p:cNvPr id="6" name="Content Placeholder 5">
            <a:extLst>
              <a:ext uri="{FF2B5EF4-FFF2-40B4-BE49-F238E27FC236}">
                <a16:creationId xmlns:a16="http://schemas.microsoft.com/office/drawing/2014/main" id="{395F8F45-9E13-BFC5-54EC-AFB0602D2A07}"/>
              </a:ext>
            </a:extLst>
          </p:cNvPr>
          <p:cNvPicPr>
            <a:picLocks noGrp="1" noChangeAspect="1"/>
          </p:cNvPicPr>
          <p:nvPr>
            <p:ph idx="1"/>
          </p:nvPr>
        </p:nvPicPr>
        <p:blipFill rotWithShape="1">
          <a:blip r:embed="rId2"/>
          <a:srcRect r="55499"/>
          <a:stretch/>
        </p:blipFill>
        <p:spPr>
          <a:xfrm>
            <a:off x="1016000" y="2271612"/>
            <a:ext cx="1840524" cy="1496743"/>
          </a:xfrm>
        </p:spPr>
      </p:pic>
      <p:sp>
        <p:nvSpPr>
          <p:cNvPr id="4" name="Slide Number Placeholder 3">
            <a:extLst>
              <a:ext uri="{FF2B5EF4-FFF2-40B4-BE49-F238E27FC236}">
                <a16:creationId xmlns:a16="http://schemas.microsoft.com/office/drawing/2014/main" id="{78222D90-2710-F153-68C7-B725CEC5B868}"/>
              </a:ext>
            </a:extLst>
          </p:cNvPr>
          <p:cNvSpPr>
            <a:spLocks noGrp="1"/>
          </p:cNvSpPr>
          <p:nvPr>
            <p:ph type="sldNum" sz="quarter" idx="12"/>
          </p:nvPr>
        </p:nvSpPr>
        <p:spPr/>
        <p:txBody>
          <a:bodyPr/>
          <a:lstStyle/>
          <a:p>
            <a:pPr>
              <a:defRPr/>
            </a:pPr>
            <a:fld id="{9AD681D7-8A59-4380-9311-10B86FF921AA}" type="slidenum">
              <a:rPr lang="en-US" altLang="zh-TW" smtClean="0"/>
              <a:pPr>
                <a:defRPr/>
              </a:pPr>
              <a:t>69</a:t>
            </a:fld>
            <a:endParaRPr lang="en-US" altLang="zh-TW"/>
          </a:p>
        </p:txBody>
      </p:sp>
      <p:pic>
        <p:nvPicPr>
          <p:cNvPr id="7" name="Content Placeholder 5">
            <a:extLst>
              <a:ext uri="{FF2B5EF4-FFF2-40B4-BE49-F238E27FC236}">
                <a16:creationId xmlns:a16="http://schemas.microsoft.com/office/drawing/2014/main" id="{A40E6560-4ED5-ECBC-A248-62C37CC29258}"/>
              </a:ext>
            </a:extLst>
          </p:cNvPr>
          <p:cNvPicPr>
            <a:picLocks noChangeAspect="1"/>
          </p:cNvPicPr>
          <p:nvPr/>
        </p:nvPicPr>
        <p:blipFill rotWithShape="1">
          <a:blip r:embed="rId2"/>
          <a:srcRect l="55499"/>
          <a:stretch/>
        </p:blipFill>
        <p:spPr bwMode="auto">
          <a:xfrm>
            <a:off x="2856524" y="2271612"/>
            <a:ext cx="1840524" cy="1496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478B847B-9957-7842-F1C1-B096F90A5CB3}"/>
              </a:ext>
            </a:extLst>
          </p:cNvPr>
          <p:cNvSpPr txBox="1"/>
          <p:nvPr/>
        </p:nvSpPr>
        <p:spPr>
          <a:xfrm>
            <a:off x="5203301" y="2419818"/>
            <a:ext cx="5579413" cy="1200329"/>
          </a:xfrm>
          <a:prstGeom prst="rect">
            <a:avLst/>
          </a:prstGeom>
          <a:noFill/>
          <a:ln>
            <a:solidFill>
              <a:srgbClr val="000000"/>
            </a:solidFill>
          </a:ln>
        </p:spPr>
        <p:txBody>
          <a:bodyPr wrap="none" rtlCol="0">
            <a:spAutoFit/>
          </a:bodyPr>
          <a:lstStyle/>
          <a:p>
            <a:r>
              <a:rPr lang="en-IN" dirty="0"/>
              <a:t>Kernal 1- It gives derivative in the vertical direction. </a:t>
            </a:r>
          </a:p>
          <a:p>
            <a:r>
              <a:rPr lang="en-IN" dirty="0"/>
              <a:t>Kernal 2- This gives derivative in horizontal direction.</a:t>
            </a:r>
          </a:p>
          <a:p>
            <a:r>
              <a:rPr lang="en-IN" dirty="0"/>
              <a:t>When input image is convolved with these </a:t>
            </a:r>
            <a:r>
              <a:rPr lang="en-IN" dirty="0" err="1"/>
              <a:t>Kernals</a:t>
            </a:r>
            <a:r>
              <a:rPr lang="en-IN" dirty="0"/>
              <a:t>, </a:t>
            </a:r>
          </a:p>
          <a:p>
            <a:r>
              <a:rPr lang="en-IN" dirty="0"/>
              <a:t>you get a particular type of output as shown below.</a:t>
            </a:r>
          </a:p>
        </p:txBody>
      </p:sp>
      <p:pic>
        <p:nvPicPr>
          <p:cNvPr id="11" name="Picture 10">
            <a:extLst>
              <a:ext uri="{FF2B5EF4-FFF2-40B4-BE49-F238E27FC236}">
                <a16:creationId xmlns:a16="http://schemas.microsoft.com/office/drawing/2014/main" id="{35B456C6-24FC-6BFE-F915-B5AD5723C087}"/>
              </a:ext>
            </a:extLst>
          </p:cNvPr>
          <p:cNvPicPr>
            <a:picLocks noChangeAspect="1"/>
          </p:cNvPicPr>
          <p:nvPr/>
        </p:nvPicPr>
        <p:blipFill>
          <a:blip r:embed="rId3"/>
          <a:stretch>
            <a:fillRect/>
          </a:stretch>
        </p:blipFill>
        <p:spPr>
          <a:xfrm>
            <a:off x="1118726" y="4265495"/>
            <a:ext cx="5760376" cy="1897864"/>
          </a:xfrm>
          <a:prstGeom prst="rect">
            <a:avLst/>
          </a:prstGeom>
        </p:spPr>
      </p:pic>
      <p:sp>
        <p:nvSpPr>
          <p:cNvPr id="12" name="TextBox 11">
            <a:extLst>
              <a:ext uri="{FF2B5EF4-FFF2-40B4-BE49-F238E27FC236}">
                <a16:creationId xmlns:a16="http://schemas.microsoft.com/office/drawing/2014/main" id="{09E932BE-2561-6DDB-F703-D3FB01043627}"/>
              </a:ext>
            </a:extLst>
          </p:cNvPr>
          <p:cNvSpPr txBox="1"/>
          <p:nvPr/>
        </p:nvSpPr>
        <p:spPr>
          <a:xfrm>
            <a:off x="992264" y="3885214"/>
            <a:ext cx="6537367" cy="338554"/>
          </a:xfrm>
          <a:prstGeom prst="rect">
            <a:avLst/>
          </a:prstGeom>
          <a:noFill/>
        </p:spPr>
        <p:txBody>
          <a:bodyPr wrap="none" rtlCol="0">
            <a:spAutoFit/>
          </a:bodyPr>
          <a:lstStyle/>
          <a:p>
            <a:r>
              <a:rPr lang="en-IN" sz="1600" b="1" dirty="0"/>
              <a:t>Original image,  Derivative in the vertical the horizontal direction </a:t>
            </a:r>
          </a:p>
        </p:txBody>
      </p:sp>
      <p:sp>
        <p:nvSpPr>
          <p:cNvPr id="13" name="TextBox 12">
            <a:extLst>
              <a:ext uri="{FF2B5EF4-FFF2-40B4-BE49-F238E27FC236}">
                <a16:creationId xmlns:a16="http://schemas.microsoft.com/office/drawing/2014/main" id="{C7888D3A-2C2A-0B5F-FBDF-FBA1CF68AF81}"/>
              </a:ext>
            </a:extLst>
          </p:cNvPr>
          <p:cNvSpPr txBox="1"/>
          <p:nvPr/>
        </p:nvSpPr>
        <p:spPr>
          <a:xfrm>
            <a:off x="1016000" y="6163359"/>
            <a:ext cx="6934412" cy="646331"/>
          </a:xfrm>
          <a:prstGeom prst="rect">
            <a:avLst/>
          </a:prstGeom>
          <a:noFill/>
          <a:ln>
            <a:solidFill>
              <a:srgbClr val="000000"/>
            </a:solidFill>
          </a:ln>
        </p:spPr>
        <p:txBody>
          <a:bodyPr wrap="square" rtlCol="0">
            <a:spAutoFit/>
          </a:bodyPr>
          <a:lstStyle/>
          <a:p>
            <a:r>
              <a:rPr lang="en-IN" dirty="0"/>
              <a:t>If the derivative is taken in the vertical direction All discontinuities in the horizontal direction will be visible  lines and vice-versa </a:t>
            </a:r>
          </a:p>
        </p:txBody>
      </p:sp>
      <p:pic>
        <p:nvPicPr>
          <p:cNvPr id="15" name="Picture 14">
            <a:extLst>
              <a:ext uri="{FF2B5EF4-FFF2-40B4-BE49-F238E27FC236}">
                <a16:creationId xmlns:a16="http://schemas.microsoft.com/office/drawing/2014/main" id="{3F11EE77-C230-3E39-45B0-DEB981DCD7D4}"/>
              </a:ext>
            </a:extLst>
          </p:cNvPr>
          <p:cNvPicPr>
            <a:picLocks noChangeAspect="1"/>
          </p:cNvPicPr>
          <p:nvPr/>
        </p:nvPicPr>
        <p:blipFill>
          <a:blip r:embed="rId4"/>
          <a:stretch>
            <a:fillRect/>
          </a:stretch>
        </p:blipFill>
        <p:spPr>
          <a:xfrm>
            <a:off x="8503110" y="4113583"/>
            <a:ext cx="2075793" cy="1797720"/>
          </a:xfrm>
          <a:prstGeom prst="rect">
            <a:avLst/>
          </a:prstGeom>
        </p:spPr>
      </p:pic>
      <p:sp>
        <p:nvSpPr>
          <p:cNvPr id="16" name="TextBox 15">
            <a:extLst>
              <a:ext uri="{FF2B5EF4-FFF2-40B4-BE49-F238E27FC236}">
                <a16:creationId xmlns:a16="http://schemas.microsoft.com/office/drawing/2014/main" id="{1E2EBF2A-2530-0427-6C83-393B09871DE7}"/>
              </a:ext>
            </a:extLst>
          </p:cNvPr>
          <p:cNvSpPr txBox="1"/>
          <p:nvPr/>
        </p:nvSpPr>
        <p:spPr>
          <a:xfrm>
            <a:off x="7950412" y="3768355"/>
            <a:ext cx="3379451" cy="338554"/>
          </a:xfrm>
          <a:prstGeom prst="rect">
            <a:avLst/>
          </a:prstGeom>
          <a:noFill/>
        </p:spPr>
        <p:txBody>
          <a:bodyPr wrap="none" rtlCol="0">
            <a:spAutoFit/>
          </a:bodyPr>
          <a:lstStyle/>
          <a:p>
            <a:r>
              <a:rPr lang="en-IN" sz="1600" b="1" dirty="0"/>
              <a:t>Output of convolution operation </a:t>
            </a:r>
          </a:p>
        </p:txBody>
      </p:sp>
      <p:sp>
        <p:nvSpPr>
          <p:cNvPr id="17" name="TextBox 16">
            <a:extLst>
              <a:ext uri="{FF2B5EF4-FFF2-40B4-BE49-F238E27FC236}">
                <a16:creationId xmlns:a16="http://schemas.microsoft.com/office/drawing/2014/main" id="{F33194DA-7BD4-93FE-3A36-693D14822E82}"/>
              </a:ext>
            </a:extLst>
          </p:cNvPr>
          <p:cNvSpPr txBox="1"/>
          <p:nvPr/>
        </p:nvSpPr>
        <p:spPr>
          <a:xfrm>
            <a:off x="8053138" y="5960963"/>
            <a:ext cx="3647327" cy="830997"/>
          </a:xfrm>
          <a:prstGeom prst="rect">
            <a:avLst/>
          </a:prstGeom>
          <a:noFill/>
          <a:ln>
            <a:solidFill>
              <a:srgbClr val="000000"/>
            </a:solidFill>
          </a:ln>
        </p:spPr>
        <p:txBody>
          <a:bodyPr wrap="square" rtlCol="0">
            <a:spAutoFit/>
          </a:bodyPr>
          <a:lstStyle/>
          <a:p>
            <a:r>
              <a:rPr lang="en-IN" sz="1600" dirty="0"/>
              <a:t>Output is combination of both vertical And horizontal derivatives which gives image features </a:t>
            </a:r>
          </a:p>
        </p:txBody>
      </p:sp>
      <p:sp>
        <p:nvSpPr>
          <p:cNvPr id="3" name="TextBox 2">
            <a:extLst>
              <a:ext uri="{FF2B5EF4-FFF2-40B4-BE49-F238E27FC236}">
                <a16:creationId xmlns:a16="http://schemas.microsoft.com/office/drawing/2014/main" id="{5ED03F14-456E-5471-011B-00106FEBFD2C}"/>
              </a:ext>
            </a:extLst>
          </p:cNvPr>
          <p:cNvSpPr txBox="1"/>
          <p:nvPr/>
        </p:nvSpPr>
        <p:spPr>
          <a:xfrm>
            <a:off x="4515738" y="73196"/>
            <a:ext cx="3689465" cy="923330"/>
          </a:xfrm>
          <a:prstGeom prst="rect">
            <a:avLst/>
          </a:prstGeom>
          <a:noFill/>
          <a:ln>
            <a:solidFill>
              <a:srgbClr val="000000"/>
            </a:solidFill>
          </a:ln>
        </p:spPr>
        <p:txBody>
          <a:bodyPr wrap="square" rtlCol="0">
            <a:spAutoFit/>
          </a:bodyPr>
          <a:lstStyle/>
          <a:p>
            <a:r>
              <a:rPr lang="en-IN" dirty="0"/>
              <a:t>CNN depends on the operation of convolution, Let us understand the convolution operation.</a:t>
            </a:r>
          </a:p>
        </p:txBody>
      </p:sp>
      <p:pic>
        <p:nvPicPr>
          <p:cNvPr id="5" name="Picture 4">
            <a:extLst>
              <a:ext uri="{FF2B5EF4-FFF2-40B4-BE49-F238E27FC236}">
                <a16:creationId xmlns:a16="http://schemas.microsoft.com/office/drawing/2014/main" id="{E48CA4DF-B1EC-3ECF-A1C9-E43AC82370F7}"/>
              </a:ext>
            </a:extLst>
          </p:cNvPr>
          <p:cNvPicPr>
            <a:picLocks noChangeAspect="1"/>
          </p:cNvPicPr>
          <p:nvPr/>
        </p:nvPicPr>
        <p:blipFill>
          <a:blip r:embed="rId5"/>
          <a:stretch>
            <a:fillRect/>
          </a:stretch>
        </p:blipFill>
        <p:spPr>
          <a:xfrm>
            <a:off x="8338888" y="97628"/>
            <a:ext cx="3758198" cy="1286510"/>
          </a:xfrm>
          <a:prstGeom prst="rect">
            <a:avLst/>
          </a:prstGeom>
          <a:ln>
            <a:solidFill>
              <a:schemeClr val="tx1"/>
            </a:solidFill>
          </a:ln>
        </p:spPr>
      </p:pic>
    </p:spTree>
    <p:extLst>
      <p:ext uri="{BB962C8B-B14F-4D97-AF65-F5344CB8AC3E}">
        <p14:creationId xmlns:p14="http://schemas.microsoft.com/office/powerpoint/2010/main" val="40903691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75612C-D7EC-E341-D610-C73D2B3D042E}"/>
              </a:ext>
            </a:extLst>
          </p:cNvPr>
          <p:cNvSpPr>
            <a:spLocks noGrp="1"/>
          </p:cNvSpPr>
          <p:nvPr>
            <p:ph type="sldNum" sz="quarter" idx="12"/>
          </p:nvPr>
        </p:nvSpPr>
        <p:spPr/>
        <p:txBody>
          <a:bodyPr/>
          <a:lstStyle/>
          <a:p>
            <a:pPr>
              <a:defRPr/>
            </a:pPr>
            <a:fld id="{9AD681D7-8A59-4380-9311-10B86FF921AA}" type="slidenum">
              <a:rPr lang="en-US" altLang="zh-TW" smtClean="0"/>
              <a:pPr>
                <a:defRPr/>
              </a:pPr>
              <a:t>70</a:t>
            </a:fld>
            <a:endParaRPr lang="en-US" altLang="zh-TW"/>
          </a:p>
        </p:txBody>
      </p:sp>
      <p:pic>
        <p:nvPicPr>
          <p:cNvPr id="5" name="Content Placeholder 5">
            <a:extLst>
              <a:ext uri="{FF2B5EF4-FFF2-40B4-BE49-F238E27FC236}">
                <a16:creationId xmlns:a16="http://schemas.microsoft.com/office/drawing/2014/main" id="{E37F6472-8FCC-3B3B-20F4-F8EF6DD9B7E9}"/>
              </a:ext>
            </a:extLst>
          </p:cNvPr>
          <p:cNvPicPr>
            <a:picLocks noChangeAspect="1"/>
          </p:cNvPicPr>
          <p:nvPr/>
        </p:nvPicPr>
        <p:blipFill rotWithShape="1">
          <a:blip r:embed="rId2"/>
          <a:srcRect r="55499"/>
          <a:stretch/>
        </p:blipFill>
        <p:spPr bwMode="auto">
          <a:xfrm>
            <a:off x="6071334" y="126270"/>
            <a:ext cx="1840524" cy="1496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BC5B0C92-AE44-9787-22A4-525EE9E7E932}"/>
              </a:ext>
            </a:extLst>
          </p:cNvPr>
          <p:cNvSpPr txBox="1"/>
          <p:nvPr/>
        </p:nvSpPr>
        <p:spPr>
          <a:xfrm>
            <a:off x="8033450" y="88502"/>
            <a:ext cx="3933824" cy="1754326"/>
          </a:xfrm>
          <a:prstGeom prst="rect">
            <a:avLst/>
          </a:prstGeom>
          <a:noFill/>
          <a:ln>
            <a:solidFill>
              <a:srgbClr val="000000"/>
            </a:solidFill>
          </a:ln>
        </p:spPr>
        <p:txBody>
          <a:bodyPr wrap="square" rtlCol="0">
            <a:spAutoFit/>
          </a:bodyPr>
          <a:lstStyle/>
          <a:p>
            <a:pPr algn="just"/>
            <a:r>
              <a:rPr lang="en-IN" dirty="0"/>
              <a:t>Difference between weighted sum of elements of first row and weighted sum of elements In the third row. It performs differential operation in vertical direction, Thus it helps in finding horizontal edges in an image.</a:t>
            </a:r>
          </a:p>
        </p:txBody>
      </p:sp>
      <p:sp>
        <p:nvSpPr>
          <p:cNvPr id="7" name="Title 1">
            <a:extLst>
              <a:ext uri="{FF2B5EF4-FFF2-40B4-BE49-F238E27FC236}">
                <a16:creationId xmlns:a16="http://schemas.microsoft.com/office/drawing/2014/main" id="{B82A5789-0F3C-CB84-C9B5-2AB845C2EF9C}"/>
              </a:ext>
            </a:extLst>
          </p:cNvPr>
          <p:cNvSpPr>
            <a:spLocks noGrp="1"/>
          </p:cNvSpPr>
          <p:nvPr>
            <p:ph type="title"/>
          </p:nvPr>
        </p:nvSpPr>
        <p:spPr>
          <a:xfrm>
            <a:off x="917704" y="599147"/>
            <a:ext cx="10566400" cy="1143000"/>
          </a:xfrm>
        </p:spPr>
        <p:txBody>
          <a:bodyPr/>
          <a:lstStyle/>
          <a:p>
            <a:r>
              <a:rPr lang="en-IN" dirty="0"/>
              <a:t>Convolution In 2-D </a:t>
            </a:r>
          </a:p>
        </p:txBody>
      </p:sp>
      <p:pic>
        <p:nvPicPr>
          <p:cNvPr id="8" name="Content Placeholder 5">
            <a:extLst>
              <a:ext uri="{FF2B5EF4-FFF2-40B4-BE49-F238E27FC236}">
                <a16:creationId xmlns:a16="http://schemas.microsoft.com/office/drawing/2014/main" id="{90BE1C73-8AB0-682F-255E-0F1151D3E149}"/>
              </a:ext>
            </a:extLst>
          </p:cNvPr>
          <p:cNvPicPr>
            <a:picLocks noChangeAspect="1"/>
          </p:cNvPicPr>
          <p:nvPr/>
        </p:nvPicPr>
        <p:blipFill rotWithShape="1">
          <a:blip r:embed="rId2"/>
          <a:srcRect l="55499"/>
          <a:stretch/>
        </p:blipFill>
        <p:spPr bwMode="auto">
          <a:xfrm>
            <a:off x="8849798" y="2537853"/>
            <a:ext cx="1840524" cy="1496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C8652F60-3ADB-4334-42CE-5EB1C9EFB83F}"/>
              </a:ext>
            </a:extLst>
          </p:cNvPr>
          <p:cNvSpPr txBox="1"/>
          <p:nvPr/>
        </p:nvSpPr>
        <p:spPr>
          <a:xfrm>
            <a:off x="7625487" y="4238691"/>
            <a:ext cx="4046366" cy="1754326"/>
          </a:xfrm>
          <a:prstGeom prst="rect">
            <a:avLst/>
          </a:prstGeom>
          <a:noFill/>
          <a:ln>
            <a:solidFill>
              <a:srgbClr val="000000"/>
            </a:solidFill>
          </a:ln>
        </p:spPr>
        <p:txBody>
          <a:bodyPr wrap="square" rtlCol="0">
            <a:spAutoFit/>
          </a:bodyPr>
          <a:lstStyle/>
          <a:p>
            <a:pPr algn="just"/>
            <a:r>
              <a:rPr lang="en-IN" dirty="0"/>
              <a:t>Difference between weighted sum of elements of first column and weighted sum of elements In the third column. It performs differential operation in horizontal direction, Thus it helps in finding vertical edges in an image</a:t>
            </a:r>
          </a:p>
        </p:txBody>
      </p:sp>
      <p:grpSp>
        <p:nvGrpSpPr>
          <p:cNvPr id="17" name="Group 16">
            <a:extLst>
              <a:ext uri="{FF2B5EF4-FFF2-40B4-BE49-F238E27FC236}">
                <a16:creationId xmlns:a16="http://schemas.microsoft.com/office/drawing/2014/main" id="{EC2E9224-BD6D-7B69-4FCB-64FC926ACCDA}"/>
              </a:ext>
            </a:extLst>
          </p:cNvPr>
          <p:cNvGrpSpPr/>
          <p:nvPr/>
        </p:nvGrpSpPr>
        <p:grpSpPr>
          <a:xfrm>
            <a:off x="112184" y="2252792"/>
            <a:ext cx="6968028" cy="4114617"/>
            <a:chOff x="112184" y="2127433"/>
            <a:chExt cx="6968028" cy="4114617"/>
          </a:xfrm>
        </p:grpSpPr>
        <p:sp>
          <p:nvSpPr>
            <p:cNvPr id="12" name="TextBox 11">
              <a:extLst>
                <a:ext uri="{FF2B5EF4-FFF2-40B4-BE49-F238E27FC236}">
                  <a16:creationId xmlns:a16="http://schemas.microsoft.com/office/drawing/2014/main" id="{D8B10D07-F256-5C72-DB8D-15DA4995FDFC}"/>
                </a:ext>
              </a:extLst>
            </p:cNvPr>
            <p:cNvSpPr txBox="1"/>
            <p:nvPr/>
          </p:nvSpPr>
          <p:spPr>
            <a:xfrm>
              <a:off x="375761" y="2782110"/>
              <a:ext cx="6118983" cy="323165"/>
            </a:xfrm>
            <a:prstGeom prst="rect">
              <a:avLst/>
            </a:prstGeom>
            <a:noFill/>
          </p:spPr>
          <p:txBody>
            <a:bodyPr wrap="none" rtlCol="0">
              <a:spAutoFit/>
            </a:bodyPr>
            <a:lstStyle/>
            <a:p>
              <a:r>
                <a:rPr lang="en-IN" sz="1500" b="1" dirty="0"/>
                <a:t>Original image,  Derivative in the vertical the horizontal direction </a:t>
              </a:r>
            </a:p>
          </p:txBody>
        </p:sp>
        <p:pic>
          <p:nvPicPr>
            <p:cNvPr id="14" name="Picture 13">
              <a:extLst>
                <a:ext uri="{FF2B5EF4-FFF2-40B4-BE49-F238E27FC236}">
                  <a16:creationId xmlns:a16="http://schemas.microsoft.com/office/drawing/2014/main" id="{E01BD1D7-FDFE-CB6E-95A9-0B9DBCE071C8}"/>
                </a:ext>
              </a:extLst>
            </p:cNvPr>
            <p:cNvPicPr>
              <a:picLocks noChangeAspect="1"/>
            </p:cNvPicPr>
            <p:nvPr/>
          </p:nvPicPr>
          <p:blipFill rotWithShape="1">
            <a:blip r:embed="rId3"/>
            <a:srcRect r="25481"/>
            <a:stretch/>
          </p:blipFill>
          <p:spPr>
            <a:xfrm>
              <a:off x="112184" y="2127433"/>
              <a:ext cx="5060303" cy="3990765"/>
            </a:xfrm>
            <a:prstGeom prst="rect">
              <a:avLst/>
            </a:prstGeom>
            <a:ln>
              <a:solidFill>
                <a:srgbClr val="000000"/>
              </a:solidFill>
            </a:ln>
          </p:spPr>
        </p:pic>
        <p:pic>
          <p:nvPicPr>
            <p:cNvPr id="15" name="Picture 14">
              <a:extLst>
                <a:ext uri="{FF2B5EF4-FFF2-40B4-BE49-F238E27FC236}">
                  <a16:creationId xmlns:a16="http://schemas.microsoft.com/office/drawing/2014/main" id="{F700B49C-4943-DF30-438D-7E68E5250E34}"/>
                </a:ext>
              </a:extLst>
            </p:cNvPr>
            <p:cNvPicPr>
              <a:picLocks noChangeAspect="1"/>
            </p:cNvPicPr>
            <p:nvPr/>
          </p:nvPicPr>
          <p:blipFill rotWithShape="1">
            <a:blip r:embed="rId4"/>
            <a:srcRect l="69032"/>
            <a:stretch/>
          </p:blipFill>
          <p:spPr>
            <a:xfrm>
              <a:off x="5158411" y="4039168"/>
              <a:ext cx="1921801" cy="2202882"/>
            </a:xfrm>
            <a:prstGeom prst="rect">
              <a:avLst/>
            </a:prstGeom>
            <a:ln>
              <a:solidFill>
                <a:srgbClr val="000000"/>
              </a:solidFill>
            </a:ln>
          </p:spPr>
        </p:pic>
        <p:pic>
          <p:nvPicPr>
            <p:cNvPr id="16" name="Picture 15">
              <a:extLst>
                <a:ext uri="{FF2B5EF4-FFF2-40B4-BE49-F238E27FC236}">
                  <a16:creationId xmlns:a16="http://schemas.microsoft.com/office/drawing/2014/main" id="{CD46DA19-E4B2-AAAB-C779-47A611D35134}"/>
                </a:ext>
              </a:extLst>
            </p:cNvPr>
            <p:cNvPicPr>
              <a:picLocks noChangeAspect="1"/>
            </p:cNvPicPr>
            <p:nvPr/>
          </p:nvPicPr>
          <p:blipFill rotWithShape="1">
            <a:blip r:embed="rId4"/>
            <a:srcRect l="33279" r="33335"/>
            <a:stretch/>
          </p:blipFill>
          <p:spPr>
            <a:xfrm>
              <a:off x="5111788" y="2127433"/>
              <a:ext cx="1968424" cy="1990550"/>
            </a:xfrm>
            <a:prstGeom prst="rect">
              <a:avLst/>
            </a:prstGeom>
            <a:ln>
              <a:solidFill>
                <a:srgbClr val="000000"/>
              </a:solidFill>
            </a:ln>
          </p:spPr>
        </p:pic>
      </p:grpSp>
      <p:sp>
        <p:nvSpPr>
          <p:cNvPr id="18" name="TextBox 17">
            <a:extLst>
              <a:ext uri="{FF2B5EF4-FFF2-40B4-BE49-F238E27FC236}">
                <a16:creationId xmlns:a16="http://schemas.microsoft.com/office/drawing/2014/main" id="{EB170FF1-C9F0-AD2B-63EF-A0D561175C87}"/>
              </a:ext>
            </a:extLst>
          </p:cNvPr>
          <p:cNvSpPr txBox="1"/>
          <p:nvPr/>
        </p:nvSpPr>
        <p:spPr>
          <a:xfrm>
            <a:off x="1109814" y="6447652"/>
            <a:ext cx="9580508" cy="369332"/>
          </a:xfrm>
          <a:prstGeom prst="rect">
            <a:avLst/>
          </a:prstGeom>
          <a:noFill/>
          <a:ln>
            <a:solidFill>
              <a:srgbClr val="000000"/>
            </a:solidFill>
          </a:ln>
        </p:spPr>
        <p:txBody>
          <a:bodyPr wrap="none" rtlCol="0">
            <a:spAutoFit/>
          </a:bodyPr>
          <a:lstStyle/>
          <a:p>
            <a:r>
              <a:rPr lang="en-IN" dirty="0"/>
              <a:t>The output images are called feature maps. They help in recognition of objects in an image. </a:t>
            </a:r>
          </a:p>
        </p:txBody>
      </p:sp>
    </p:spTree>
    <p:extLst>
      <p:ext uri="{BB962C8B-B14F-4D97-AF65-F5344CB8AC3E}">
        <p14:creationId xmlns:p14="http://schemas.microsoft.com/office/powerpoint/2010/main" val="42378980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4B8A2-3456-12E8-03D9-31FA3796D71C}"/>
              </a:ext>
            </a:extLst>
          </p:cNvPr>
          <p:cNvSpPr>
            <a:spLocks noGrp="1"/>
          </p:cNvSpPr>
          <p:nvPr>
            <p:ph type="title"/>
          </p:nvPr>
        </p:nvSpPr>
        <p:spPr/>
        <p:txBody>
          <a:bodyPr/>
          <a:lstStyle/>
          <a:p>
            <a:endParaRPr lang="en-IN" dirty="0"/>
          </a:p>
        </p:txBody>
      </p:sp>
      <p:pic>
        <p:nvPicPr>
          <p:cNvPr id="6" name="Content Placeholder 5">
            <a:extLst>
              <a:ext uri="{FF2B5EF4-FFF2-40B4-BE49-F238E27FC236}">
                <a16:creationId xmlns:a16="http://schemas.microsoft.com/office/drawing/2014/main" id="{CF7DF926-4DDB-DC17-7296-A7F92334DEE8}"/>
              </a:ext>
            </a:extLst>
          </p:cNvPr>
          <p:cNvPicPr>
            <a:picLocks noGrp="1" noChangeAspect="1"/>
          </p:cNvPicPr>
          <p:nvPr>
            <p:ph idx="1"/>
          </p:nvPr>
        </p:nvPicPr>
        <p:blipFill rotWithShape="1">
          <a:blip r:embed="rId2"/>
          <a:srcRect l="39316" t="9097" b="17624"/>
          <a:stretch/>
        </p:blipFill>
        <p:spPr>
          <a:xfrm>
            <a:off x="2858869" y="2300272"/>
            <a:ext cx="3752946" cy="3509685"/>
          </a:xfrm>
          <a:ln>
            <a:solidFill>
              <a:srgbClr val="000000"/>
            </a:solidFill>
          </a:ln>
        </p:spPr>
      </p:pic>
      <p:sp>
        <p:nvSpPr>
          <p:cNvPr id="4" name="Slide Number Placeholder 3">
            <a:extLst>
              <a:ext uri="{FF2B5EF4-FFF2-40B4-BE49-F238E27FC236}">
                <a16:creationId xmlns:a16="http://schemas.microsoft.com/office/drawing/2014/main" id="{4B6015AB-ADC1-7472-A590-9DB571FBAC7C}"/>
              </a:ext>
            </a:extLst>
          </p:cNvPr>
          <p:cNvSpPr>
            <a:spLocks noGrp="1"/>
          </p:cNvSpPr>
          <p:nvPr>
            <p:ph type="sldNum" sz="quarter" idx="12"/>
          </p:nvPr>
        </p:nvSpPr>
        <p:spPr/>
        <p:txBody>
          <a:bodyPr/>
          <a:lstStyle/>
          <a:p>
            <a:pPr>
              <a:defRPr/>
            </a:pPr>
            <a:fld id="{9AD681D7-8A59-4380-9311-10B86FF921AA}" type="slidenum">
              <a:rPr lang="en-US" altLang="zh-TW" smtClean="0"/>
              <a:pPr>
                <a:defRPr/>
              </a:pPr>
              <a:t>71</a:t>
            </a:fld>
            <a:endParaRPr lang="en-US" altLang="zh-TW"/>
          </a:p>
        </p:txBody>
      </p:sp>
      <p:pic>
        <p:nvPicPr>
          <p:cNvPr id="13" name="Picture 12">
            <a:extLst>
              <a:ext uri="{FF2B5EF4-FFF2-40B4-BE49-F238E27FC236}">
                <a16:creationId xmlns:a16="http://schemas.microsoft.com/office/drawing/2014/main" id="{35404117-BD99-CEDF-522C-9E110C11B657}"/>
              </a:ext>
            </a:extLst>
          </p:cNvPr>
          <p:cNvPicPr>
            <a:picLocks noChangeAspect="1"/>
          </p:cNvPicPr>
          <p:nvPr/>
        </p:nvPicPr>
        <p:blipFill rotWithShape="1">
          <a:blip r:embed="rId3"/>
          <a:srcRect l="69717"/>
          <a:stretch/>
        </p:blipFill>
        <p:spPr>
          <a:xfrm>
            <a:off x="1065237" y="4015256"/>
            <a:ext cx="1793632" cy="1897864"/>
          </a:xfrm>
          <a:prstGeom prst="rect">
            <a:avLst/>
          </a:prstGeom>
          <a:ln>
            <a:solidFill>
              <a:srgbClr val="000000"/>
            </a:solidFill>
          </a:ln>
        </p:spPr>
      </p:pic>
      <p:pic>
        <p:nvPicPr>
          <p:cNvPr id="14" name="Picture 13">
            <a:extLst>
              <a:ext uri="{FF2B5EF4-FFF2-40B4-BE49-F238E27FC236}">
                <a16:creationId xmlns:a16="http://schemas.microsoft.com/office/drawing/2014/main" id="{44B78E3A-8D9F-7AB8-1EAF-CA3783968ACD}"/>
              </a:ext>
            </a:extLst>
          </p:cNvPr>
          <p:cNvPicPr>
            <a:picLocks noChangeAspect="1"/>
          </p:cNvPicPr>
          <p:nvPr/>
        </p:nvPicPr>
        <p:blipFill rotWithShape="1">
          <a:blip r:embed="rId3"/>
          <a:srcRect l="34103" r="33905"/>
          <a:stretch/>
        </p:blipFill>
        <p:spPr>
          <a:xfrm>
            <a:off x="1016000" y="2300272"/>
            <a:ext cx="1842869" cy="1897864"/>
          </a:xfrm>
          <a:prstGeom prst="rect">
            <a:avLst/>
          </a:prstGeom>
          <a:ln>
            <a:solidFill>
              <a:srgbClr val="000000"/>
            </a:solidFill>
          </a:ln>
        </p:spPr>
      </p:pic>
      <p:sp>
        <p:nvSpPr>
          <p:cNvPr id="15" name="TextBox 14">
            <a:extLst>
              <a:ext uri="{FF2B5EF4-FFF2-40B4-BE49-F238E27FC236}">
                <a16:creationId xmlns:a16="http://schemas.microsoft.com/office/drawing/2014/main" id="{437FA1C5-1D7C-6DA4-16B3-B0A0F256D81C}"/>
              </a:ext>
            </a:extLst>
          </p:cNvPr>
          <p:cNvSpPr txBox="1"/>
          <p:nvPr/>
        </p:nvSpPr>
        <p:spPr>
          <a:xfrm>
            <a:off x="7093049" y="2787539"/>
            <a:ext cx="3865683" cy="923330"/>
          </a:xfrm>
          <a:prstGeom prst="rect">
            <a:avLst/>
          </a:prstGeom>
          <a:noFill/>
          <a:ln>
            <a:solidFill>
              <a:srgbClr val="000000"/>
            </a:solidFill>
          </a:ln>
        </p:spPr>
        <p:txBody>
          <a:bodyPr wrap="square" rtlCol="0">
            <a:spAutoFit/>
          </a:bodyPr>
          <a:lstStyle/>
          <a:p>
            <a:pPr algn="just"/>
            <a:r>
              <a:rPr lang="en-IN" dirty="0"/>
              <a:t>Combination of two images gives an image that contains vertical and horizontal edges in the image.</a:t>
            </a:r>
          </a:p>
        </p:txBody>
      </p:sp>
    </p:spTree>
    <p:extLst>
      <p:ext uri="{BB962C8B-B14F-4D97-AF65-F5344CB8AC3E}">
        <p14:creationId xmlns:p14="http://schemas.microsoft.com/office/powerpoint/2010/main" val="30287933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1261AC8-4894-6134-DAFE-3E26E004C75D}"/>
              </a:ext>
            </a:extLst>
          </p:cNvPr>
          <p:cNvPicPr>
            <a:picLocks noGrp="1" noChangeAspect="1"/>
          </p:cNvPicPr>
          <p:nvPr>
            <p:ph idx="1"/>
          </p:nvPr>
        </p:nvPicPr>
        <p:blipFill rotWithShape="1">
          <a:blip r:embed="rId2"/>
          <a:srcRect r="22803"/>
          <a:stretch/>
        </p:blipFill>
        <p:spPr>
          <a:xfrm>
            <a:off x="112185" y="2371725"/>
            <a:ext cx="6187014" cy="4359275"/>
          </a:xfrm>
          <a:ln>
            <a:solidFill>
              <a:srgbClr val="000000"/>
            </a:solidFill>
          </a:ln>
        </p:spPr>
      </p:pic>
      <p:sp>
        <p:nvSpPr>
          <p:cNvPr id="4" name="Slide Number Placeholder 3">
            <a:extLst>
              <a:ext uri="{FF2B5EF4-FFF2-40B4-BE49-F238E27FC236}">
                <a16:creationId xmlns:a16="http://schemas.microsoft.com/office/drawing/2014/main" id="{FCDD6FA8-AAE1-51B3-B190-2DAE622E393F}"/>
              </a:ext>
            </a:extLst>
          </p:cNvPr>
          <p:cNvSpPr>
            <a:spLocks noGrp="1"/>
          </p:cNvSpPr>
          <p:nvPr>
            <p:ph type="sldNum" sz="quarter" idx="12"/>
          </p:nvPr>
        </p:nvSpPr>
        <p:spPr/>
        <p:txBody>
          <a:bodyPr/>
          <a:lstStyle/>
          <a:p>
            <a:pPr>
              <a:defRPr/>
            </a:pPr>
            <a:fld id="{9AD681D7-8A59-4380-9311-10B86FF921AA}" type="slidenum">
              <a:rPr lang="en-US" altLang="zh-TW" smtClean="0"/>
              <a:pPr>
                <a:defRPr/>
              </a:pPr>
              <a:t>72</a:t>
            </a:fld>
            <a:endParaRPr lang="en-US" altLang="zh-TW"/>
          </a:p>
        </p:txBody>
      </p:sp>
      <p:sp>
        <p:nvSpPr>
          <p:cNvPr id="7" name="Title 1">
            <a:extLst>
              <a:ext uri="{FF2B5EF4-FFF2-40B4-BE49-F238E27FC236}">
                <a16:creationId xmlns:a16="http://schemas.microsoft.com/office/drawing/2014/main" id="{D681340F-AD83-F082-E145-5E3CB0D1647E}"/>
              </a:ext>
            </a:extLst>
          </p:cNvPr>
          <p:cNvSpPr>
            <a:spLocks noGrp="1"/>
          </p:cNvSpPr>
          <p:nvPr>
            <p:ph type="title"/>
          </p:nvPr>
        </p:nvSpPr>
        <p:spPr>
          <a:xfrm>
            <a:off x="1016000" y="762000"/>
            <a:ext cx="10566400" cy="1143000"/>
          </a:xfrm>
        </p:spPr>
        <p:txBody>
          <a:bodyPr/>
          <a:lstStyle/>
          <a:p>
            <a:r>
              <a:rPr lang="en-IN" dirty="0"/>
              <a:t>Convolution In 2-D </a:t>
            </a:r>
          </a:p>
        </p:txBody>
      </p:sp>
      <p:sp>
        <p:nvSpPr>
          <p:cNvPr id="10" name="TextBox 9">
            <a:extLst>
              <a:ext uri="{FF2B5EF4-FFF2-40B4-BE49-F238E27FC236}">
                <a16:creationId xmlns:a16="http://schemas.microsoft.com/office/drawing/2014/main" id="{DABF5C2D-ADD3-66AC-D06F-A50C4F2F66C4}"/>
              </a:ext>
            </a:extLst>
          </p:cNvPr>
          <p:cNvSpPr txBox="1"/>
          <p:nvPr/>
        </p:nvSpPr>
        <p:spPr>
          <a:xfrm>
            <a:off x="6299199" y="2475914"/>
            <a:ext cx="5780615" cy="3330399"/>
          </a:xfrm>
          <a:prstGeom prst="rect">
            <a:avLst/>
          </a:prstGeom>
          <a:noFill/>
          <a:ln>
            <a:solidFill>
              <a:srgbClr val="000000"/>
            </a:solidFill>
          </a:ln>
        </p:spPr>
        <p:txBody>
          <a:bodyPr wrap="square" rtlCol="0">
            <a:spAutoFit/>
          </a:bodyPr>
          <a:lstStyle/>
          <a:p>
            <a:pPr marL="182563" indent="-182563">
              <a:lnSpc>
                <a:spcPct val="200000"/>
              </a:lnSpc>
              <a:buFont typeface="Arial" panose="020B0604020202020204" pitchFamily="34" charset="0"/>
              <a:buChar char="•"/>
            </a:pPr>
            <a:r>
              <a:rPr lang="en-IN" dirty="0"/>
              <a:t>These two outputs give silent features of structural information in the image.</a:t>
            </a:r>
          </a:p>
          <a:p>
            <a:pPr marL="182563" indent="-182563">
              <a:lnSpc>
                <a:spcPct val="200000"/>
              </a:lnSpc>
              <a:buFont typeface="Arial" panose="020B0604020202020204" pitchFamily="34" charset="0"/>
              <a:buChar char="•"/>
            </a:pPr>
            <a:r>
              <a:rPr lang="en-IN" dirty="0"/>
              <a:t>In the uniform regions of an image, there is no structure and the, output will be zero </a:t>
            </a:r>
            <a:r>
              <a:rPr lang="en-IN" dirty="0" err="1"/>
              <a:t>i.e</a:t>
            </a:r>
            <a:r>
              <a:rPr lang="en-IN" dirty="0"/>
              <a:t> black part. </a:t>
            </a:r>
          </a:p>
          <a:p>
            <a:pPr marL="182563" indent="-182563">
              <a:lnSpc>
                <a:spcPct val="200000"/>
              </a:lnSpc>
              <a:buFont typeface="Arial" panose="020B0604020202020204" pitchFamily="34" charset="0"/>
              <a:buChar char="•"/>
            </a:pPr>
            <a:r>
              <a:rPr lang="en-IN" dirty="0"/>
              <a:t>In the areas of an image, where structural information is present,  the output will be features</a:t>
            </a:r>
          </a:p>
        </p:txBody>
      </p:sp>
    </p:spTree>
    <p:extLst>
      <p:ext uri="{BB962C8B-B14F-4D97-AF65-F5344CB8AC3E}">
        <p14:creationId xmlns:p14="http://schemas.microsoft.com/office/powerpoint/2010/main" val="14692237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6D145-75C9-4AF8-82A8-C23B0D661CE4}"/>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Convolutional Neural Network</a:t>
            </a:r>
            <a:endParaRPr lang="en-IN" dirty="0"/>
          </a:p>
        </p:txBody>
      </p:sp>
      <p:sp>
        <p:nvSpPr>
          <p:cNvPr id="3" name="Content Placeholder 2">
            <a:extLst>
              <a:ext uri="{FF2B5EF4-FFF2-40B4-BE49-F238E27FC236}">
                <a16:creationId xmlns:a16="http://schemas.microsoft.com/office/drawing/2014/main" id="{AB7F144F-0080-46C3-962F-C83FE263D209}"/>
              </a:ext>
            </a:extLst>
          </p:cNvPr>
          <p:cNvSpPr>
            <a:spLocks noGrp="1"/>
          </p:cNvSpPr>
          <p:nvPr>
            <p:ph idx="1"/>
          </p:nvPr>
        </p:nvSpPr>
        <p:spPr>
          <a:xfrm>
            <a:off x="1117601" y="2362201"/>
            <a:ext cx="10919501" cy="4368799"/>
          </a:xfrm>
          <a:ln>
            <a:solidFill>
              <a:srgbClr val="000000"/>
            </a:solidFill>
          </a:ln>
        </p:spPr>
        <p:txBody>
          <a:bodyPr/>
          <a:lstStyle/>
          <a:p>
            <a:r>
              <a:rPr lang="en-US" sz="1800" b="0" i="0" dirty="0">
                <a:solidFill>
                  <a:srgbClr val="000000"/>
                </a:solidFill>
                <a:effectLst/>
                <a:highlight>
                  <a:srgbClr val="FFFF00"/>
                </a:highlight>
                <a:latin typeface="Times New Roman" panose="02020603050405020304" pitchFamily="18" charset="0"/>
              </a:rPr>
              <a:t>Convolutional neural networks. Sounds like a weird combination of biology and </a:t>
            </a:r>
            <a:r>
              <a:rPr lang="en-US" sz="1800" b="0" i="0" dirty="0" err="1">
                <a:solidFill>
                  <a:srgbClr val="000000"/>
                </a:solidFill>
                <a:effectLst/>
                <a:highlight>
                  <a:srgbClr val="FFFF00"/>
                </a:highlight>
                <a:latin typeface="Times New Roman" panose="02020603050405020304" pitchFamily="18" charset="0"/>
              </a:rPr>
              <a:t>maths</a:t>
            </a:r>
            <a:r>
              <a:rPr lang="en-US" sz="1800" b="0" i="0" dirty="0">
                <a:solidFill>
                  <a:srgbClr val="000000"/>
                </a:solidFill>
                <a:effectLst/>
                <a:highlight>
                  <a:srgbClr val="FFFF00"/>
                </a:highlight>
                <a:latin typeface="Times New Roman" panose="02020603050405020304" pitchFamily="18" charset="0"/>
              </a:rPr>
              <a:t> with a little CS sprinkled in, but these networks have been some of the most influential innovations in the field of computer vision.</a:t>
            </a:r>
          </a:p>
          <a:p>
            <a:r>
              <a:rPr lang="en-US" sz="1800" dirty="0">
                <a:solidFill>
                  <a:srgbClr val="000000"/>
                </a:solidFill>
                <a:highlight>
                  <a:srgbClr val="FFFF00"/>
                </a:highlight>
                <a:latin typeface="Times New Roman" panose="02020603050405020304" pitchFamily="18" charset="0"/>
              </a:rPr>
              <a:t>In </a:t>
            </a:r>
            <a:r>
              <a:rPr lang="en-US" sz="1800" dirty="0">
                <a:solidFill>
                  <a:srgbClr val="000000"/>
                </a:solidFill>
                <a:highlight>
                  <a:srgbClr val="FFFF00"/>
                </a:highlight>
                <a:latin typeface="Times New Roman" panose="02020603050405020304" pitchFamily="18" charset="0"/>
                <a:hlinkClick r:id="rId2">
                  <a:extLst>
                    <a:ext uri="{A12FA001-AC4F-418D-AE19-62706E023703}">
                      <ahyp:hlinkClr xmlns:ahyp="http://schemas.microsoft.com/office/drawing/2018/hyperlinkcolor" val="tx"/>
                    </a:ext>
                  </a:extLst>
                </a:hlinkClick>
              </a:rPr>
              <a:t>deep learning</a:t>
            </a:r>
            <a:r>
              <a:rPr lang="en-US" sz="1800" dirty="0">
                <a:solidFill>
                  <a:srgbClr val="000000"/>
                </a:solidFill>
                <a:highlight>
                  <a:srgbClr val="FFFF00"/>
                </a:highlight>
                <a:latin typeface="Times New Roman" panose="02020603050405020304" pitchFamily="18" charset="0"/>
              </a:rPr>
              <a:t>, a </a:t>
            </a:r>
            <a:r>
              <a:rPr lang="en-US" sz="1800" b="1" dirty="0">
                <a:solidFill>
                  <a:srgbClr val="000000"/>
                </a:solidFill>
                <a:highlight>
                  <a:srgbClr val="FFFF00"/>
                </a:highlight>
                <a:latin typeface="Times New Roman" panose="02020603050405020304" pitchFamily="18" charset="0"/>
              </a:rPr>
              <a:t>convolutional neural network </a:t>
            </a:r>
            <a:r>
              <a:rPr lang="en-US" sz="1800" dirty="0">
                <a:solidFill>
                  <a:srgbClr val="000000"/>
                </a:solidFill>
                <a:highlight>
                  <a:srgbClr val="FFFF00"/>
                </a:highlight>
                <a:latin typeface="Times New Roman" panose="02020603050405020304" pitchFamily="18" charset="0"/>
              </a:rPr>
              <a:t>(CNN/</a:t>
            </a:r>
            <a:r>
              <a:rPr lang="en-US" sz="1800" dirty="0" err="1">
                <a:solidFill>
                  <a:srgbClr val="000000"/>
                </a:solidFill>
                <a:highlight>
                  <a:srgbClr val="FFFF00"/>
                </a:highlight>
                <a:latin typeface="Times New Roman" panose="02020603050405020304" pitchFamily="18" charset="0"/>
              </a:rPr>
              <a:t>ConvNet</a:t>
            </a:r>
            <a:r>
              <a:rPr lang="en-US" sz="1800" dirty="0">
                <a:solidFill>
                  <a:srgbClr val="000000"/>
                </a:solidFill>
                <a:highlight>
                  <a:srgbClr val="FFFF00"/>
                </a:highlight>
                <a:latin typeface="Times New Roman" panose="02020603050405020304" pitchFamily="18" charset="0"/>
              </a:rPr>
              <a:t>) is a class of </a:t>
            </a:r>
            <a:r>
              <a:rPr lang="en-US" sz="1800" b="1" dirty="0">
                <a:solidFill>
                  <a:srgbClr val="000000"/>
                </a:solidFill>
                <a:highlight>
                  <a:srgbClr val="FFFF00"/>
                </a:highlight>
                <a:latin typeface="Times New Roman" panose="02020603050405020304" pitchFamily="18" charset="0"/>
                <a:hlinkClick r:id="rId3">
                  <a:extLst>
                    <a:ext uri="{A12FA001-AC4F-418D-AE19-62706E023703}">
                      <ahyp:hlinkClr xmlns:ahyp="http://schemas.microsoft.com/office/drawing/2018/hyperlinkcolor" val="tx"/>
                    </a:ext>
                  </a:extLst>
                </a:hlinkClick>
              </a:rPr>
              <a:t>deep neural networks</a:t>
            </a:r>
            <a:r>
              <a:rPr lang="en-US" sz="1800" dirty="0">
                <a:solidFill>
                  <a:srgbClr val="000000"/>
                </a:solidFill>
                <a:highlight>
                  <a:srgbClr val="FFFF00"/>
                </a:highlight>
                <a:latin typeface="Times New Roman" panose="02020603050405020304" pitchFamily="18" charset="0"/>
              </a:rPr>
              <a:t>, most commonly applied to analyze visual imagery. </a:t>
            </a:r>
          </a:p>
          <a:p>
            <a:endParaRPr lang="en-IN" sz="1800" dirty="0"/>
          </a:p>
        </p:txBody>
      </p:sp>
      <p:sp>
        <p:nvSpPr>
          <p:cNvPr id="4" name="Slide Number Placeholder 3">
            <a:extLst>
              <a:ext uri="{FF2B5EF4-FFF2-40B4-BE49-F238E27FC236}">
                <a16:creationId xmlns:a16="http://schemas.microsoft.com/office/drawing/2014/main" id="{9D5CE2CC-5416-4354-8590-5AD7799A31C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6146" name="Picture 2" descr="What exactly is a CNN?">
            <a:extLst>
              <a:ext uri="{FF2B5EF4-FFF2-40B4-BE49-F238E27FC236}">
                <a16:creationId xmlns:a16="http://schemas.microsoft.com/office/drawing/2014/main" id="{634B5B5F-BEF0-4590-8330-417EFBC142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108" y="3717925"/>
            <a:ext cx="10223292" cy="2795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9842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BFE26-F78F-41AE-AB13-6D3E13D4B99C}"/>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Convolutional Neural Network</a:t>
            </a:r>
            <a:endParaRPr lang="en-IN" dirty="0"/>
          </a:p>
        </p:txBody>
      </p:sp>
      <p:sp>
        <p:nvSpPr>
          <p:cNvPr id="3" name="Content Placeholder 2">
            <a:extLst>
              <a:ext uri="{FF2B5EF4-FFF2-40B4-BE49-F238E27FC236}">
                <a16:creationId xmlns:a16="http://schemas.microsoft.com/office/drawing/2014/main" id="{A3846008-6ECD-4D43-80D1-FC24E2E7E6EA}"/>
              </a:ext>
            </a:extLst>
          </p:cNvPr>
          <p:cNvSpPr>
            <a:spLocks noGrp="1"/>
          </p:cNvSpPr>
          <p:nvPr>
            <p:ph idx="1"/>
          </p:nvPr>
        </p:nvSpPr>
        <p:spPr>
          <a:xfrm>
            <a:off x="1117601" y="2362201"/>
            <a:ext cx="11074399" cy="4495799"/>
          </a:xfrm>
          <a:ln>
            <a:solidFill>
              <a:srgbClr val="000000"/>
            </a:solidFill>
          </a:ln>
        </p:spPr>
        <p:txBody>
          <a:bodyPr/>
          <a:lstStyle/>
          <a:p>
            <a:pPr>
              <a:lnSpc>
                <a:spcPct val="150000"/>
              </a:lnSpc>
            </a:pPr>
            <a:r>
              <a:rPr lang="en-US" sz="1800" dirty="0">
                <a:solidFill>
                  <a:srgbClr val="000000"/>
                </a:solidFill>
                <a:highlight>
                  <a:srgbClr val="FFFF00"/>
                </a:highlight>
                <a:latin typeface="Times New Roman" panose="02020603050405020304" pitchFamily="18" charset="0"/>
              </a:rPr>
              <a:t>A fundamental </a:t>
            </a:r>
            <a:r>
              <a:rPr lang="en-US" sz="1800" b="1" dirty="0">
                <a:solidFill>
                  <a:srgbClr val="000000"/>
                </a:solidFill>
                <a:highlight>
                  <a:srgbClr val="FFFF00"/>
                </a:highlight>
                <a:latin typeface="Times New Roman" panose="02020603050405020304" pitchFamily="18" charset="0"/>
              </a:rPr>
              <a:t>goal</a:t>
            </a:r>
            <a:r>
              <a:rPr lang="en-US" sz="1800" dirty="0">
                <a:solidFill>
                  <a:srgbClr val="000000"/>
                </a:solidFill>
                <a:highlight>
                  <a:srgbClr val="FFFF00"/>
                </a:highlight>
                <a:latin typeface="Times New Roman" panose="02020603050405020304" pitchFamily="18" charset="0"/>
              </a:rPr>
              <a:t> of using CNN with images is to </a:t>
            </a:r>
            <a:r>
              <a:rPr lang="en-US" sz="1800" b="1" dirty="0">
                <a:solidFill>
                  <a:srgbClr val="000000"/>
                </a:solidFill>
                <a:highlight>
                  <a:srgbClr val="FFFF00"/>
                </a:highlight>
                <a:latin typeface="Times New Roman" panose="02020603050405020304" pitchFamily="18" charset="0"/>
              </a:rPr>
              <a:t>remove cumbersome and ultimately limiting feature selection process.</a:t>
            </a:r>
          </a:p>
          <a:p>
            <a:pPr>
              <a:lnSpc>
                <a:spcPct val="150000"/>
              </a:lnSpc>
            </a:pPr>
            <a:r>
              <a:rPr lang="en-US" sz="1800" dirty="0">
                <a:solidFill>
                  <a:srgbClr val="000000"/>
                </a:solidFill>
                <a:highlight>
                  <a:srgbClr val="FFFF00"/>
                </a:highlight>
                <a:latin typeface="Times New Roman" panose="02020603050405020304" pitchFamily="18" charset="0"/>
              </a:rPr>
              <a:t>A convolutional neural network is a </a:t>
            </a:r>
            <a:r>
              <a:rPr lang="en-US" sz="1800" b="1" dirty="0">
                <a:solidFill>
                  <a:srgbClr val="000000"/>
                </a:solidFill>
                <a:highlight>
                  <a:srgbClr val="FFFF00"/>
                </a:highlight>
                <a:latin typeface="Times New Roman" panose="02020603050405020304" pitchFamily="18" charset="0"/>
              </a:rPr>
              <a:t>feed-forward neural network </a:t>
            </a:r>
            <a:r>
              <a:rPr lang="en-US" sz="1800" dirty="0">
                <a:solidFill>
                  <a:srgbClr val="000000"/>
                </a:solidFill>
                <a:highlight>
                  <a:srgbClr val="FFFF00"/>
                </a:highlight>
                <a:latin typeface="Times New Roman" panose="02020603050405020304" pitchFamily="18" charset="0"/>
              </a:rPr>
              <a:t>that is generally used to analyze visual images by processing data with grid-like topology. It’s also known as a </a:t>
            </a:r>
            <a:r>
              <a:rPr lang="en-US" sz="1800" dirty="0" err="1">
                <a:solidFill>
                  <a:srgbClr val="000000"/>
                </a:solidFill>
                <a:highlight>
                  <a:srgbClr val="FFFF00"/>
                </a:highlight>
                <a:latin typeface="Times New Roman" panose="02020603050405020304" pitchFamily="18" charset="0"/>
              </a:rPr>
              <a:t>ConvNet</a:t>
            </a:r>
            <a:r>
              <a:rPr lang="en-US" sz="1800" dirty="0">
                <a:solidFill>
                  <a:srgbClr val="000000"/>
                </a:solidFill>
                <a:highlight>
                  <a:srgbClr val="FFFF00"/>
                </a:highlight>
                <a:latin typeface="Times New Roman" panose="02020603050405020304" pitchFamily="18" charset="0"/>
              </a:rPr>
              <a:t>. A convolutional neural network is used </a:t>
            </a:r>
            <a:r>
              <a:rPr lang="en-US" sz="1800" b="1" dirty="0">
                <a:solidFill>
                  <a:srgbClr val="000000"/>
                </a:solidFill>
                <a:highlight>
                  <a:srgbClr val="FFFF00"/>
                </a:highlight>
                <a:latin typeface="Times New Roman" panose="02020603050405020304" pitchFamily="18" charset="0"/>
              </a:rPr>
              <a:t>to detect and classify objects in an image</a:t>
            </a:r>
            <a:r>
              <a:rPr lang="en-US" sz="1800" dirty="0">
                <a:solidFill>
                  <a:srgbClr val="000000"/>
                </a:solidFill>
                <a:highlight>
                  <a:srgbClr val="FFFF00"/>
                </a:highlight>
                <a:latin typeface="Times New Roman" panose="02020603050405020304" pitchFamily="18" charset="0"/>
              </a:rPr>
              <a:t>.</a:t>
            </a:r>
          </a:p>
          <a:p>
            <a:pPr>
              <a:lnSpc>
                <a:spcPct val="150000"/>
              </a:lnSpc>
            </a:pPr>
            <a:r>
              <a:rPr lang="en-US" sz="1800" dirty="0">
                <a:solidFill>
                  <a:srgbClr val="000000"/>
                </a:solidFill>
                <a:highlight>
                  <a:srgbClr val="FFFF00"/>
                </a:highlight>
                <a:latin typeface="Times New Roman" panose="02020603050405020304" pitchFamily="18" charset="0"/>
              </a:rPr>
              <a:t>They can </a:t>
            </a:r>
            <a:r>
              <a:rPr lang="en-US" sz="1800" b="1" dirty="0">
                <a:solidFill>
                  <a:srgbClr val="000000"/>
                </a:solidFill>
                <a:highlight>
                  <a:srgbClr val="FFFF00"/>
                </a:highlight>
                <a:latin typeface="Times New Roman" panose="02020603050405020304" pitchFamily="18" charset="0"/>
              </a:rPr>
              <a:t>identify faces, individuals, street signs and many other aspects of visual data</a:t>
            </a:r>
            <a:r>
              <a:rPr lang="en-US" sz="1800" dirty="0">
                <a:solidFill>
                  <a:srgbClr val="000000"/>
                </a:solidFill>
                <a:highlight>
                  <a:srgbClr val="FFFF00"/>
                </a:highlight>
                <a:latin typeface="Times New Roman" panose="02020603050405020304" pitchFamily="18" charset="0"/>
              </a:rPr>
              <a:t>. They are good at </a:t>
            </a:r>
            <a:r>
              <a:rPr lang="en-US" sz="1800" b="1" dirty="0">
                <a:solidFill>
                  <a:srgbClr val="000000"/>
                </a:solidFill>
                <a:highlight>
                  <a:srgbClr val="FFFF00"/>
                </a:highlight>
                <a:latin typeface="Times New Roman" panose="02020603050405020304" pitchFamily="18" charset="0"/>
              </a:rPr>
              <a:t>text and sound analysis.</a:t>
            </a:r>
          </a:p>
          <a:p>
            <a:pPr>
              <a:lnSpc>
                <a:spcPct val="150000"/>
              </a:lnSpc>
            </a:pPr>
            <a:r>
              <a:rPr lang="en-US" sz="1800" dirty="0">
                <a:solidFill>
                  <a:srgbClr val="000000"/>
                </a:solidFill>
                <a:highlight>
                  <a:srgbClr val="FFFF00"/>
                </a:highlight>
                <a:latin typeface="Times New Roman" panose="02020603050405020304" pitchFamily="18" charset="0"/>
              </a:rPr>
              <a:t>CNN works well with </a:t>
            </a:r>
            <a:r>
              <a:rPr lang="en-US" sz="1800" b="1" dirty="0">
                <a:solidFill>
                  <a:srgbClr val="000000"/>
                </a:solidFill>
                <a:highlight>
                  <a:srgbClr val="FFFF00"/>
                </a:highlight>
                <a:latin typeface="Times New Roman" panose="02020603050405020304" pitchFamily="18" charset="0"/>
              </a:rPr>
              <a:t>self driving cars, drones, robotics and treatment for visually impaired</a:t>
            </a:r>
            <a:r>
              <a:rPr lang="en-US" sz="1800" dirty="0">
                <a:solidFill>
                  <a:srgbClr val="000000"/>
                </a:solidFill>
                <a:highlight>
                  <a:srgbClr val="FFFF00"/>
                </a:highlight>
                <a:latin typeface="Times New Roman" panose="02020603050405020304" pitchFamily="18" charset="0"/>
              </a:rPr>
              <a:t>.</a:t>
            </a:r>
          </a:p>
          <a:p>
            <a:pPr>
              <a:lnSpc>
                <a:spcPct val="150000"/>
              </a:lnSpc>
            </a:pPr>
            <a:r>
              <a:rPr lang="en-US" sz="1800" dirty="0">
                <a:solidFill>
                  <a:srgbClr val="000000"/>
                </a:solidFill>
                <a:highlight>
                  <a:srgbClr val="FFFF00"/>
                </a:highlight>
                <a:latin typeface="Times New Roman" panose="02020603050405020304" pitchFamily="18" charset="0"/>
              </a:rPr>
              <a:t>They are good at </a:t>
            </a:r>
            <a:r>
              <a:rPr lang="en-US" sz="1800" b="1" dirty="0">
                <a:solidFill>
                  <a:srgbClr val="000000"/>
                </a:solidFill>
                <a:highlight>
                  <a:srgbClr val="FFFF00"/>
                </a:highlight>
                <a:latin typeface="Times New Roman" panose="02020603050405020304" pitchFamily="18" charset="0"/>
              </a:rPr>
              <a:t>building positions and rotation invariant features from raw image data</a:t>
            </a:r>
            <a:r>
              <a:rPr lang="en-US" sz="1800" dirty="0">
                <a:solidFill>
                  <a:srgbClr val="000000"/>
                </a:solidFill>
                <a:highlight>
                  <a:srgbClr val="FFFF00"/>
                </a:highlight>
                <a:latin typeface="Times New Roman" panose="02020603050405020304" pitchFamily="18" charset="0"/>
              </a:rPr>
              <a:t>.</a:t>
            </a:r>
          </a:p>
          <a:p>
            <a:pPr>
              <a:lnSpc>
                <a:spcPct val="150000"/>
              </a:lnSpc>
            </a:pPr>
            <a:r>
              <a:rPr lang="en-US" sz="1800" dirty="0">
                <a:solidFill>
                  <a:srgbClr val="000000"/>
                </a:solidFill>
                <a:highlight>
                  <a:srgbClr val="FFFF00"/>
                </a:highlight>
                <a:latin typeface="Times New Roman" panose="02020603050405020304" pitchFamily="18" charset="0"/>
              </a:rPr>
              <a:t>They help in </a:t>
            </a:r>
            <a:r>
              <a:rPr lang="en-US" sz="1800" b="1" dirty="0">
                <a:solidFill>
                  <a:srgbClr val="000000"/>
                </a:solidFill>
                <a:highlight>
                  <a:srgbClr val="FFFF00"/>
                </a:highlight>
                <a:latin typeface="Times New Roman" panose="02020603050405020304" pitchFamily="18" charset="0"/>
              </a:rPr>
              <a:t>building  a more robust feature space based on signal</a:t>
            </a:r>
            <a:r>
              <a:rPr lang="en-US" sz="1800" dirty="0">
                <a:solidFill>
                  <a:srgbClr val="000000"/>
                </a:solidFill>
                <a:highlight>
                  <a:srgbClr val="FFFF00"/>
                </a:highlight>
                <a:latin typeface="Times New Roman" panose="02020603050405020304" pitchFamily="18" charset="0"/>
              </a:rPr>
              <a:t>. </a:t>
            </a:r>
          </a:p>
          <a:p>
            <a:endParaRPr lang="en-US" sz="1800" dirty="0">
              <a:solidFill>
                <a:srgbClr val="000000"/>
              </a:solidFill>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7A0D8A41-AC80-4E56-9A9B-873F3C475AA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Tree>
    <p:extLst>
      <p:ext uri="{BB962C8B-B14F-4D97-AF65-F5344CB8AC3E}">
        <p14:creationId xmlns:p14="http://schemas.microsoft.com/office/powerpoint/2010/main" val="13712042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8A7EE-CF04-47EE-A057-5193C3FC5B54}"/>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Neural Network</a:t>
            </a:r>
            <a:endParaRPr lang="en-IN" dirty="0"/>
          </a:p>
        </p:txBody>
      </p:sp>
      <p:sp>
        <p:nvSpPr>
          <p:cNvPr id="4" name="Slide Number Placeholder 3">
            <a:extLst>
              <a:ext uri="{FF2B5EF4-FFF2-40B4-BE49-F238E27FC236}">
                <a16:creationId xmlns:a16="http://schemas.microsoft.com/office/drawing/2014/main" id="{DCFA414F-4C9F-4011-BA2C-2FE3E0DE16F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 name="Picture 2">
            <a:extLst>
              <a:ext uri="{FF2B5EF4-FFF2-40B4-BE49-F238E27FC236}">
                <a16:creationId xmlns:a16="http://schemas.microsoft.com/office/drawing/2014/main" id="{3CD89552-F22A-4050-9019-02864C7166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8590" y="3038622"/>
            <a:ext cx="9101219" cy="351692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FE71658F-34FF-41FE-9C30-F12FB796AA0F}"/>
              </a:ext>
            </a:extLst>
          </p:cNvPr>
          <p:cNvSpPr txBox="1"/>
          <p:nvPr/>
        </p:nvSpPr>
        <p:spPr>
          <a:xfrm>
            <a:off x="2000249" y="2572593"/>
            <a:ext cx="9405688" cy="64633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kumimoji="1"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PMingLiU" panose="02020500000000000000" pitchFamily="18" charset="-120"/>
                <a:cs typeface="+mn-cs"/>
              </a:rPr>
              <a:t>Below is a neural network that identifies two types of flowers: Orchid and Rose.</a:t>
            </a:r>
            <a:br>
              <a:rPr kumimoji="1"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PMingLiU" panose="02020500000000000000" pitchFamily="18" charset="-120"/>
                <a:cs typeface="+mn-cs"/>
              </a:rPr>
            </a:br>
            <a:endParaRPr kumimoji="1" lang="en-IN" sz="1800" b="0" i="0" u="none" strike="noStrike" kern="1200" cap="none" spc="0" normalizeH="0" baseline="0" noProof="0" dirty="0">
              <a:ln>
                <a:noFill/>
              </a:ln>
              <a:solidFill>
                <a:srgbClr val="000000"/>
              </a:solidFill>
              <a:effectLst/>
              <a:uLnTx/>
              <a:uFillTx/>
              <a:latin typeface="Times New Roman" panose="02020603050405020304" pitchFamily="18" charset="0"/>
              <a:ea typeface="PMingLiU" panose="02020500000000000000" pitchFamily="18" charset="-120"/>
              <a:cs typeface="+mn-cs"/>
            </a:endParaRPr>
          </a:p>
        </p:txBody>
      </p:sp>
    </p:spTree>
    <p:extLst>
      <p:ext uri="{BB962C8B-B14F-4D97-AF65-F5344CB8AC3E}">
        <p14:creationId xmlns:p14="http://schemas.microsoft.com/office/powerpoint/2010/main" val="17483177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128CA-551F-4B91-87BD-4A102320E2B8}"/>
              </a:ext>
            </a:extLst>
          </p:cNvPr>
          <p:cNvSpPr>
            <a:spLocks noGrp="1"/>
          </p:cNvSpPr>
          <p:nvPr>
            <p:ph type="title"/>
          </p:nvPr>
        </p:nvSpPr>
        <p:spPr/>
        <p:txBody>
          <a:bodyPr/>
          <a:lstStyle/>
          <a:p>
            <a:r>
              <a:rPr lang="en-IN" dirty="0"/>
              <a:t>Convolutional Neural Network</a:t>
            </a:r>
          </a:p>
        </p:txBody>
      </p:sp>
      <p:sp>
        <p:nvSpPr>
          <p:cNvPr id="4" name="Slide Number Placeholder 3">
            <a:extLst>
              <a:ext uri="{FF2B5EF4-FFF2-40B4-BE49-F238E27FC236}">
                <a16:creationId xmlns:a16="http://schemas.microsoft.com/office/drawing/2014/main" id="{049A80D6-6A86-4544-819D-8DECF8ABB30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122" name="Picture 2">
            <a:extLst>
              <a:ext uri="{FF2B5EF4-FFF2-40B4-BE49-F238E27FC236}">
                <a16:creationId xmlns:a16="http://schemas.microsoft.com/office/drawing/2014/main" id="{3A4B5FC3-1F7E-430D-9CF7-5172EDCCEC9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39253" y="2248525"/>
            <a:ext cx="10940564" cy="4609475"/>
          </a:xfrm>
          <a:prstGeom prst="rect">
            <a:avLst/>
          </a:prstGeom>
          <a:noFill/>
          <a:ln>
            <a:solidFill>
              <a:srgbClr val="00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1459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E029-BE49-413E-9015-EA36D90AB6B2}"/>
              </a:ext>
            </a:extLst>
          </p:cNvPr>
          <p:cNvSpPr>
            <a:spLocks noGrp="1"/>
          </p:cNvSpPr>
          <p:nvPr>
            <p:ph type="title"/>
          </p:nvPr>
        </p:nvSpPr>
        <p:spPr/>
        <p:txBody>
          <a:bodyPr/>
          <a:lstStyle/>
          <a:p>
            <a:r>
              <a:rPr lang="en-IN" dirty="0"/>
              <a:t>Representation of image in CNN</a:t>
            </a:r>
          </a:p>
        </p:txBody>
      </p:sp>
      <p:sp>
        <p:nvSpPr>
          <p:cNvPr id="4" name="Slide Number Placeholder 3">
            <a:extLst>
              <a:ext uri="{FF2B5EF4-FFF2-40B4-BE49-F238E27FC236}">
                <a16:creationId xmlns:a16="http://schemas.microsoft.com/office/drawing/2014/main" id="{FF1B701D-0C31-4944-AC08-1C77A92D715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5" name="Content Placeholder 4">
            <a:extLst>
              <a:ext uri="{FF2B5EF4-FFF2-40B4-BE49-F238E27FC236}">
                <a16:creationId xmlns:a16="http://schemas.microsoft.com/office/drawing/2014/main" id="{19F143A8-95B3-4AC3-8879-CA374089CAB3}"/>
              </a:ext>
            </a:extLst>
          </p:cNvPr>
          <p:cNvSpPr>
            <a:spLocks noGrp="1"/>
          </p:cNvSpPr>
          <p:nvPr>
            <p:ph idx="1"/>
          </p:nvPr>
        </p:nvSpPr>
        <p:spPr/>
        <p:txBody>
          <a:bodyPr/>
          <a:lstStyle/>
          <a:p>
            <a:r>
              <a:rPr lang="en-US" sz="1800" dirty="0">
                <a:solidFill>
                  <a:srgbClr val="000000"/>
                </a:solidFill>
                <a:latin typeface="Times New Roman" panose="02020603050405020304" pitchFamily="18" charset="0"/>
              </a:rPr>
              <a:t>In CNN, every image is represented in the form of an array of pixel values.</a:t>
            </a:r>
          </a:p>
          <a:p>
            <a:endParaRPr lang="en-US" sz="1800" dirty="0">
              <a:solidFill>
                <a:srgbClr val="000000"/>
              </a:solidFill>
              <a:latin typeface="Times New Roman" panose="02020603050405020304" pitchFamily="18" charset="0"/>
            </a:endParaRPr>
          </a:p>
          <a:p>
            <a:endParaRPr lang="en-IN" sz="1800" dirty="0">
              <a:solidFill>
                <a:srgbClr val="000000"/>
              </a:solidFill>
              <a:latin typeface="Times New Roman" panose="02020603050405020304" pitchFamily="18" charset="0"/>
            </a:endParaRPr>
          </a:p>
        </p:txBody>
      </p:sp>
      <p:pic>
        <p:nvPicPr>
          <p:cNvPr id="9" name="Picture 2">
            <a:extLst>
              <a:ext uri="{FF2B5EF4-FFF2-40B4-BE49-F238E27FC236}">
                <a16:creationId xmlns:a16="http://schemas.microsoft.com/office/drawing/2014/main" id="{DD40FE2F-0B83-46C8-8429-5647C8347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121" y="2755983"/>
            <a:ext cx="10398668" cy="182403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a:extLst>
              <a:ext uri="{FF2B5EF4-FFF2-40B4-BE49-F238E27FC236}">
                <a16:creationId xmlns:a16="http://schemas.microsoft.com/office/drawing/2014/main" id="{CC6E3C8C-4D72-4F45-B5C0-63589DCCE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2121" y="4774282"/>
            <a:ext cx="9845215" cy="19567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95651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C1B6C-93C8-4893-936D-C1DA704B8E70}"/>
              </a:ext>
            </a:extLst>
          </p:cNvPr>
          <p:cNvSpPr>
            <a:spLocks noGrp="1"/>
          </p:cNvSpPr>
          <p:nvPr>
            <p:ph type="title"/>
          </p:nvPr>
        </p:nvSpPr>
        <p:spPr>
          <a:xfrm>
            <a:off x="963084" y="771524"/>
            <a:ext cx="10566400" cy="1143000"/>
          </a:xfrm>
        </p:spPr>
        <p:txBody>
          <a:bodyPr/>
          <a:lstStyle/>
          <a:p>
            <a:pPr marL="342900" marR="0" lvl="0" indent="-342900" defTabSz="914400" rtl="0" eaLnBrk="0" fontAlgn="base" latinLnBrk="0" hangingPunct="0">
              <a:lnSpc>
                <a:spcPct val="100000"/>
              </a:lnSpc>
              <a:spcBef>
                <a:spcPct val="20000"/>
              </a:spcBef>
              <a:spcAft>
                <a:spcPct val="0"/>
              </a:spcAft>
              <a:tabLst/>
              <a:defRPr/>
            </a:pPr>
            <a:r>
              <a:rPr lang="en-US" sz="4000" dirty="0"/>
              <a:t>Architecture of CNN</a:t>
            </a:r>
            <a:endParaRPr lang="en-IN" dirty="0"/>
          </a:p>
        </p:txBody>
      </p:sp>
      <p:sp>
        <p:nvSpPr>
          <p:cNvPr id="3" name="Content Placeholder 2">
            <a:extLst>
              <a:ext uri="{FF2B5EF4-FFF2-40B4-BE49-F238E27FC236}">
                <a16:creationId xmlns:a16="http://schemas.microsoft.com/office/drawing/2014/main" id="{416AFB92-ED05-4999-9B00-084D95573E55}"/>
              </a:ext>
            </a:extLst>
          </p:cNvPr>
          <p:cNvSpPr>
            <a:spLocks noGrp="1"/>
          </p:cNvSpPr>
          <p:nvPr>
            <p:ph idx="1"/>
          </p:nvPr>
        </p:nvSpPr>
        <p:spPr>
          <a:ln>
            <a:solidFill>
              <a:schemeClr val="tx1"/>
            </a:solidFill>
          </a:ln>
        </p:spPr>
        <p:txBody>
          <a:bodyPr/>
          <a:lstStyle/>
          <a:p>
            <a:pPr marL="0" indent="0" algn="l">
              <a:buNone/>
            </a:pPr>
            <a:r>
              <a:rPr lang="en-US" sz="1800" dirty="0">
                <a:solidFill>
                  <a:srgbClr val="000000"/>
                </a:solidFill>
                <a:highlight>
                  <a:srgbClr val="FFFF00"/>
                </a:highlight>
                <a:latin typeface="Times New Roman" panose="02020603050405020304" pitchFamily="18" charset="0"/>
              </a:rPr>
              <a:t>A convolution neural network has </a:t>
            </a:r>
            <a:r>
              <a:rPr lang="en-US" sz="1800" b="1" dirty="0">
                <a:solidFill>
                  <a:srgbClr val="000000"/>
                </a:solidFill>
                <a:highlight>
                  <a:srgbClr val="FFFF00"/>
                </a:highlight>
                <a:latin typeface="Times New Roman" panose="02020603050405020304" pitchFamily="18" charset="0"/>
              </a:rPr>
              <a:t>multiple hidden layers</a:t>
            </a:r>
            <a:r>
              <a:rPr lang="en-US" sz="1800" dirty="0">
                <a:solidFill>
                  <a:srgbClr val="000000"/>
                </a:solidFill>
                <a:highlight>
                  <a:srgbClr val="FFFF00"/>
                </a:highlight>
                <a:latin typeface="Times New Roman" panose="02020603050405020304" pitchFamily="18" charset="0"/>
              </a:rPr>
              <a:t> that help in </a:t>
            </a:r>
            <a:r>
              <a:rPr lang="en-US" sz="1800" b="1" dirty="0">
                <a:solidFill>
                  <a:srgbClr val="000000"/>
                </a:solidFill>
                <a:highlight>
                  <a:srgbClr val="FFFF00"/>
                </a:highlight>
                <a:latin typeface="Times New Roman" panose="02020603050405020304" pitchFamily="18" charset="0"/>
              </a:rPr>
              <a:t>extracting information </a:t>
            </a:r>
            <a:r>
              <a:rPr lang="en-US" sz="1800" dirty="0">
                <a:solidFill>
                  <a:srgbClr val="000000"/>
                </a:solidFill>
                <a:highlight>
                  <a:srgbClr val="FFFF00"/>
                </a:highlight>
                <a:latin typeface="Times New Roman" panose="02020603050405020304" pitchFamily="18" charset="0"/>
              </a:rPr>
              <a:t>from an image. The four important layers in CNN are:</a:t>
            </a:r>
          </a:p>
          <a:p>
            <a:pPr algn="l">
              <a:lnSpc>
                <a:spcPct val="250000"/>
              </a:lnSpc>
              <a:buClrTx/>
              <a:buSzPct val="100000"/>
              <a:buFont typeface="+mj-lt"/>
              <a:buAutoNum type="arabicPeriod"/>
            </a:pPr>
            <a:r>
              <a:rPr lang="en-US" sz="1800" b="1" dirty="0">
                <a:solidFill>
                  <a:srgbClr val="000000"/>
                </a:solidFill>
                <a:highlight>
                  <a:srgbClr val="FFFF00"/>
                </a:highlight>
                <a:latin typeface="Times New Roman" panose="02020603050405020304" pitchFamily="18" charset="0"/>
              </a:rPr>
              <a:t>Convolution layer</a:t>
            </a:r>
          </a:p>
          <a:p>
            <a:pPr algn="l">
              <a:lnSpc>
                <a:spcPct val="250000"/>
              </a:lnSpc>
              <a:buClrTx/>
              <a:buSzPct val="100000"/>
              <a:buFont typeface="+mj-lt"/>
              <a:buAutoNum type="arabicPeriod"/>
            </a:pPr>
            <a:r>
              <a:rPr lang="en-US" sz="1800" b="1" dirty="0" err="1">
                <a:solidFill>
                  <a:srgbClr val="000000"/>
                </a:solidFill>
                <a:highlight>
                  <a:srgbClr val="FFFF00"/>
                </a:highlight>
                <a:latin typeface="Times New Roman" panose="02020603050405020304" pitchFamily="18" charset="0"/>
              </a:rPr>
              <a:t>ReLU</a:t>
            </a:r>
            <a:r>
              <a:rPr lang="en-US" sz="1800" b="1" dirty="0">
                <a:solidFill>
                  <a:srgbClr val="000000"/>
                </a:solidFill>
                <a:highlight>
                  <a:srgbClr val="FFFF00"/>
                </a:highlight>
                <a:latin typeface="Times New Roman" panose="02020603050405020304" pitchFamily="18" charset="0"/>
              </a:rPr>
              <a:t> layer</a:t>
            </a:r>
          </a:p>
          <a:p>
            <a:pPr algn="l">
              <a:lnSpc>
                <a:spcPct val="250000"/>
              </a:lnSpc>
              <a:buClrTx/>
              <a:buSzPct val="100000"/>
              <a:buFont typeface="+mj-lt"/>
              <a:buAutoNum type="arabicPeriod"/>
            </a:pPr>
            <a:r>
              <a:rPr lang="en-US" sz="1800" b="1" dirty="0">
                <a:solidFill>
                  <a:srgbClr val="000000"/>
                </a:solidFill>
                <a:highlight>
                  <a:srgbClr val="FFFF00"/>
                </a:highlight>
                <a:latin typeface="Times New Roman" panose="02020603050405020304" pitchFamily="18" charset="0"/>
              </a:rPr>
              <a:t>Pooling layer</a:t>
            </a:r>
          </a:p>
          <a:p>
            <a:pPr algn="l">
              <a:lnSpc>
                <a:spcPct val="250000"/>
              </a:lnSpc>
              <a:buClrTx/>
              <a:buSzPct val="100000"/>
              <a:buFont typeface="+mj-lt"/>
              <a:buAutoNum type="arabicPeriod"/>
            </a:pPr>
            <a:r>
              <a:rPr lang="en-US" sz="1800" b="1" dirty="0">
                <a:solidFill>
                  <a:srgbClr val="000000"/>
                </a:solidFill>
                <a:highlight>
                  <a:srgbClr val="FFFF00"/>
                </a:highlight>
                <a:latin typeface="Times New Roman" panose="02020603050405020304" pitchFamily="18" charset="0"/>
              </a:rPr>
              <a:t>Fully connected layer</a:t>
            </a:r>
          </a:p>
          <a:p>
            <a:endParaRPr lang="en-IN" dirty="0"/>
          </a:p>
        </p:txBody>
      </p:sp>
      <p:sp>
        <p:nvSpPr>
          <p:cNvPr id="4" name="Slide Number Placeholder 3">
            <a:extLst>
              <a:ext uri="{FF2B5EF4-FFF2-40B4-BE49-F238E27FC236}">
                <a16:creationId xmlns:a16="http://schemas.microsoft.com/office/drawing/2014/main" id="{FE974AAB-FE80-45C4-9C21-6B279237EB0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Tree>
    <p:extLst>
      <p:ext uri="{BB962C8B-B14F-4D97-AF65-F5344CB8AC3E}">
        <p14:creationId xmlns:p14="http://schemas.microsoft.com/office/powerpoint/2010/main" val="32943517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536E-431E-4DFE-ADCB-25FA574FB4A7}"/>
              </a:ext>
            </a:extLst>
          </p:cNvPr>
          <p:cNvSpPr>
            <a:spLocks noGrp="1"/>
          </p:cNvSpPr>
          <p:nvPr>
            <p:ph type="title"/>
          </p:nvPr>
        </p:nvSpPr>
        <p:spPr>
          <a:xfrm>
            <a:off x="918078" y="1219201"/>
            <a:ext cx="10566400" cy="1143000"/>
          </a:xfrm>
          <a:prstGeom prst="roundRect">
            <a:avLst>
              <a:gd name="adj" fmla="val 17457"/>
            </a:avLst>
          </a:prstGeom>
        </p:spPr>
        <p:txBody>
          <a:bodyPr/>
          <a:lstStyle/>
          <a:p>
            <a:pPr marL="342900" marR="0" lvl="0" indent="-342900" defTabSz="914400" rtl="0" eaLnBrk="0" fontAlgn="base" latinLnBrk="0" hangingPunct="0">
              <a:lnSpc>
                <a:spcPct val="100000"/>
              </a:lnSpc>
              <a:spcBef>
                <a:spcPct val="20000"/>
              </a:spcBef>
              <a:spcAft>
                <a:spcPct val="0"/>
              </a:spcAft>
              <a:tabLst/>
              <a:defRPr/>
            </a:pPr>
            <a:r>
              <a:rPr lang="en-US" sz="4000" dirty="0"/>
              <a:t>Convolution Layer</a:t>
            </a:r>
            <a:br>
              <a:rPr kumimoji="1"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PMingLiU" panose="02020500000000000000" pitchFamily="18" charset="-120"/>
                <a:cs typeface="+mn-cs"/>
              </a:rPr>
            </a:br>
            <a:endParaRPr lang="en-IN" dirty="0"/>
          </a:p>
        </p:txBody>
      </p:sp>
      <p:sp>
        <p:nvSpPr>
          <p:cNvPr id="3" name="Content Placeholder 2">
            <a:extLst>
              <a:ext uri="{FF2B5EF4-FFF2-40B4-BE49-F238E27FC236}">
                <a16:creationId xmlns:a16="http://schemas.microsoft.com/office/drawing/2014/main" id="{6F418784-1E30-42C5-BCEB-9FF11AEC3530}"/>
              </a:ext>
            </a:extLst>
          </p:cNvPr>
          <p:cNvSpPr>
            <a:spLocks noGrp="1"/>
          </p:cNvSpPr>
          <p:nvPr>
            <p:ph idx="1"/>
          </p:nvPr>
        </p:nvSpPr>
        <p:spPr>
          <a:xfrm>
            <a:off x="1117601" y="2362201"/>
            <a:ext cx="10926010" cy="4495799"/>
          </a:xfrm>
          <a:ln>
            <a:solidFill>
              <a:srgbClr val="000000"/>
            </a:solidFill>
          </a:ln>
        </p:spPr>
        <p:txBody>
          <a:bodyPr/>
          <a:lstStyle/>
          <a:p>
            <a:pPr algn="l"/>
            <a:r>
              <a:rPr lang="en-US" sz="1800" dirty="0">
                <a:solidFill>
                  <a:srgbClr val="000000"/>
                </a:solidFill>
                <a:highlight>
                  <a:srgbClr val="FFFF00"/>
                </a:highlight>
                <a:latin typeface="Times New Roman" panose="02020603050405020304" pitchFamily="18" charset="0"/>
              </a:rPr>
              <a:t>The convolution layer is the core building block of the CNN. It carries the main portion of the network’s computational load.</a:t>
            </a:r>
          </a:p>
          <a:p>
            <a:pPr algn="l"/>
            <a:r>
              <a:rPr lang="en-US" sz="1800" dirty="0">
                <a:solidFill>
                  <a:srgbClr val="000000"/>
                </a:solidFill>
                <a:highlight>
                  <a:srgbClr val="FFFF00"/>
                </a:highlight>
                <a:latin typeface="Times New Roman" panose="02020603050405020304" pitchFamily="18" charset="0"/>
              </a:rPr>
              <a:t>This layer performs a dot product between two matrices, where one matrix is the set of learnable parameters otherwise known as a kernel, and the other matrix is the restricted portion of the receptive field. The kernel is spatially smaller than an image but is more in-depth. This means that, if the image is composed of three (RGB) channels, the kernel height and width will be spatially small, but the depth extends up to all three channels.</a:t>
            </a:r>
          </a:p>
          <a:p>
            <a:endParaRPr lang="en-IN" dirty="0"/>
          </a:p>
        </p:txBody>
      </p:sp>
      <p:sp>
        <p:nvSpPr>
          <p:cNvPr id="4" name="Slide Number Placeholder 3">
            <a:extLst>
              <a:ext uri="{FF2B5EF4-FFF2-40B4-BE49-F238E27FC236}">
                <a16:creationId xmlns:a16="http://schemas.microsoft.com/office/drawing/2014/main" id="{439FCF27-A263-42CC-B172-407A1A7524A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122" name="Picture 2">
            <a:extLst>
              <a:ext uri="{FF2B5EF4-FFF2-40B4-BE49-F238E27FC236}">
                <a16:creationId xmlns:a16="http://schemas.microsoft.com/office/drawing/2014/main" id="{D01AB998-1922-4EDE-9508-5C480B7DE19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585409" y="4331369"/>
            <a:ext cx="4095750" cy="231006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Multiple cubes representing input vector, filter, and output in a 3 channel 2 dimensional convolution operation">
            <a:extLst>
              <a:ext uri="{FF2B5EF4-FFF2-40B4-BE49-F238E27FC236}">
                <a16:creationId xmlns:a16="http://schemas.microsoft.com/office/drawing/2014/main" id="{AEBE7EB8-20AC-4693-82D1-8D8CCF44C3DD}"/>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065051" y="4251158"/>
            <a:ext cx="4572909" cy="23100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9063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4B05E-CD77-4D80-9F76-EB858756DA79}"/>
              </a:ext>
            </a:extLst>
          </p:cNvPr>
          <p:cNvSpPr>
            <a:spLocks noGrp="1"/>
          </p:cNvSpPr>
          <p:nvPr>
            <p:ph type="title"/>
          </p:nvPr>
        </p:nvSpPr>
        <p:spPr>
          <a:xfrm>
            <a:off x="1016000" y="762000"/>
            <a:ext cx="3527866" cy="1143000"/>
          </a:xfrm>
        </p:spPr>
        <p:txBody>
          <a:bodyPr/>
          <a:lstStyle/>
          <a:p>
            <a:r>
              <a:rPr lang="en-IN" dirty="0"/>
              <a:t>Convolution operation</a:t>
            </a:r>
          </a:p>
        </p:txBody>
      </p:sp>
      <p:sp>
        <p:nvSpPr>
          <p:cNvPr id="4" name="Slide Number Placeholder 3">
            <a:extLst>
              <a:ext uri="{FF2B5EF4-FFF2-40B4-BE49-F238E27FC236}">
                <a16:creationId xmlns:a16="http://schemas.microsoft.com/office/drawing/2014/main" id="{01A22F5B-BF53-4FF1-9DB5-D56316E1A8A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7170" name="Picture 2">
            <a:extLst>
              <a:ext uri="{FF2B5EF4-FFF2-40B4-BE49-F238E27FC236}">
                <a16:creationId xmlns:a16="http://schemas.microsoft.com/office/drawing/2014/main" id="{03CB9833-8CF9-4812-8B55-60AB699E78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42482" y="216976"/>
            <a:ext cx="7168782" cy="664102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D368DF0-EFC7-4308-B1E8-AE9B0668F214}"/>
              </a:ext>
            </a:extLst>
          </p:cNvPr>
          <p:cNvSpPr txBox="1"/>
          <p:nvPr/>
        </p:nvSpPr>
        <p:spPr>
          <a:xfrm>
            <a:off x="1271002" y="2432201"/>
            <a:ext cx="3272864" cy="646331"/>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2929"/>
                </a:solidFill>
                <a:effectLst/>
                <a:uLnTx/>
                <a:uFillTx/>
                <a:latin typeface="charter"/>
                <a:ea typeface="新細明體"/>
                <a:cs typeface="+mn-cs"/>
              </a:rPr>
              <a:t>This will yield an output volume of size </a:t>
            </a:r>
            <a:r>
              <a:rPr kumimoji="0" lang="en-US" sz="1800" b="0" i="1" u="none" strike="noStrike" kern="1200" cap="none" spc="0" normalizeH="0" baseline="0" noProof="0" dirty="0" err="1">
                <a:ln>
                  <a:noFill/>
                </a:ln>
                <a:solidFill>
                  <a:srgbClr val="292929"/>
                </a:solidFill>
                <a:effectLst/>
                <a:uLnTx/>
                <a:uFillTx/>
                <a:latin typeface="charter"/>
                <a:ea typeface="新細明體"/>
                <a:cs typeface="+mn-cs"/>
              </a:rPr>
              <a:t>Wout</a:t>
            </a:r>
            <a:r>
              <a:rPr kumimoji="0" lang="en-US" sz="1800" b="0" i="1" u="none" strike="noStrike" kern="1200" cap="none" spc="0" normalizeH="0" baseline="0" noProof="0" dirty="0">
                <a:ln>
                  <a:noFill/>
                </a:ln>
                <a:solidFill>
                  <a:srgbClr val="292929"/>
                </a:solidFill>
                <a:effectLst/>
                <a:uLnTx/>
                <a:uFillTx/>
                <a:latin typeface="charter"/>
                <a:ea typeface="新細明體"/>
                <a:cs typeface="+mn-cs"/>
              </a:rPr>
              <a:t> </a:t>
            </a:r>
            <a:r>
              <a:rPr kumimoji="0" lang="en-US" sz="1800" b="0" i="0" u="none" strike="noStrike" kern="1200" cap="none" spc="0" normalizeH="0" baseline="0" noProof="0" dirty="0">
                <a:ln>
                  <a:noFill/>
                </a:ln>
                <a:solidFill>
                  <a:srgbClr val="292929"/>
                </a:solidFill>
                <a:effectLst/>
                <a:uLnTx/>
                <a:uFillTx/>
                <a:latin typeface="charter"/>
                <a:ea typeface="新細明體"/>
                <a:cs typeface="+mn-cs"/>
              </a:rPr>
              <a:t>x </a:t>
            </a:r>
            <a:r>
              <a:rPr kumimoji="0" lang="en-US" sz="1800" b="0" i="1" u="none" strike="noStrike" kern="1200" cap="none" spc="0" normalizeH="0" baseline="0" noProof="0" dirty="0" err="1">
                <a:ln>
                  <a:noFill/>
                </a:ln>
                <a:solidFill>
                  <a:srgbClr val="292929"/>
                </a:solidFill>
                <a:effectLst/>
                <a:uLnTx/>
                <a:uFillTx/>
                <a:latin typeface="charter"/>
                <a:ea typeface="新細明體"/>
                <a:cs typeface="+mn-cs"/>
              </a:rPr>
              <a:t>Wou</a:t>
            </a:r>
            <a:r>
              <a:rPr kumimoji="0" lang="en-US" sz="1800" b="0" i="0" u="none" strike="noStrike" kern="1200" cap="none" spc="0" normalizeH="0" baseline="0" noProof="0" dirty="0" err="1">
                <a:ln>
                  <a:noFill/>
                </a:ln>
                <a:solidFill>
                  <a:srgbClr val="292929"/>
                </a:solidFill>
                <a:effectLst/>
                <a:uLnTx/>
                <a:uFillTx/>
                <a:latin typeface="charter"/>
                <a:ea typeface="新細明體"/>
                <a:cs typeface="+mn-cs"/>
              </a:rPr>
              <a:t>t</a:t>
            </a:r>
            <a:r>
              <a:rPr kumimoji="0" lang="en-US" sz="1800" b="0" i="0" u="none" strike="noStrike" kern="1200" cap="none" spc="0" normalizeH="0" baseline="0" noProof="0" dirty="0">
                <a:ln>
                  <a:noFill/>
                </a:ln>
                <a:solidFill>
                  <a:srgbClr val="292929"/>
                </a:solidFill>
                <a:effectLst/>
                <a:uLnTx/>
                <a:uFillTx/>
                <a:latin typeface="charter"/>
                <a:ea typeface="新細明體"/>
                <a:cs typeface="+mn-cs"/>
              </a:rPr>
              <a:t> x </a:t>
            </a:r>
            <a:r>
              <a:rPr kumimoji="0" lang="en-US" sz="1800" b="0" i="1" u="none" strike="noStrike" kern="1200" cap="none" spc="0" normalizeH="0" baseline="0" noProof="0" dirty="0" err="1">
                <a:ln>
                  <a:noFill/>
                </a:ln>
                <a:solidFill>
                  <a:srgbClr val="292929"/>
                </a:solidFill>
                <a:effectLst/>
                <a:uLnTx/>
                <a:uFillTx/>
                <a:latin typeface="charter"/>
                <a:ea typeface="新細明體"/>
                <a:cs typeface="+mn-cs"/>
              </a:rPr>
              <a:t>Dout</a:t>
            </a:r>
            <a:r>
              <a:rPr kumimoji="0" lang="en-US" sz="1800" b="0" i="0" u="none" strike="noStrike" kern="1200" cap="none" spc="0" normalizeH="0" baseline="0" noProof="0" dirty="0">
                <a:ln>
                  <a:noFill/>
                </a:ln>
                <a:solidFill>
                  <a:srgbClr val="292929"/>
                </a:solidFill>
                <a:effectLst/>
                <a:uLnTx/>
                <a:uFillTx/>
                <a:latin typeface="charter"/>
                <a:ea typeface="新細明體"/>
                <a:cs typeface="+mn-cs"/>
              </a:rPr>
              <a:t>.</a:t>
            </a:r>
            <a:endParaRPr kumimoji="0" lang="en-IN" sz="1800" b="0" i="0" u="none" strike="noStrike" kern="1200" cap="none" spc="0" normalizeH="0" baseline="0" noProof="0" dirty="0">
              <a:ln>
                <a:noFill/>
              </a:ln>
              <a:solidFill>
                <a:srgbClr val="003366"/>
              </a:solidFill>
              <a:effectLst/>
              <a:uLnTx/>
              <a:uFillTx/>
              <a:latin typeface="Arial"/>
              <a:ea typeface="新細明體"/>
              <a:cs typeface="+mn-cs"/>
            </a:endParaRPr>
          </a:p>
        </p:txBody>
      </p:sp>
    </p:spTree>
    <p:extLst>
      <p:ext uri="{BB962C8B-B14F-4D97-AF65-F5344CB8AC3E}">
        <p14:creationId xmlns:p14="http://schemas.microsoft.com/office/powerpoint/2010/main" val="3701535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A8231-F9C1-4538-8B4A-DDA9EF1F1DEF}"/>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992C964E-DEEE-45B9-AE89-F6988536916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 name="图片 5">
            <a:extLst>
              <a:ext uri="{FF2B5EF4-FFF2-40B4-BE49-F238E27FC236}">
                <a16:creationId xmlns:a16="http://schemas.microsoft.com/office/drawing/2014/main" id="{5D98A7F1-96D3-4464-9E4D-84D89AC1B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996" y="77490"/>
            <a:ext cx="11063816" cy="6731001"/>
          </a:xfrm>
          <a:prstGeom prst="rect">
            <a:avLst/>
          </a:prstGeom>
          <a:ln>
            <a:solidFill>
              <a:srgbClr val="000000"/>
            </a:solidFill>
          </a:ln>
        </p:spPr>
      </p:pic>
    </p:spTree>
    <p:extLst>
      <p:ext uri="{BB962C8B-B14F-4D97-AF65-F5344CB8AC3E}">
        <p14:creationId xmlns:p14="http://schemas.microsoft.com/office/powerpoint/2010/main" val="36455512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FE18A-0E87-4BD9-9727-67B219C74666}"/>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870271E6-FDD7-4B0E-9991-841AF4FF6C5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 name="Picture 2" descr="https://timgsa.baidu.com/timg?image&amp;quality=80&amp;size=b9999_10000&amp;sec=1512249322478&amp;di=69a4ec8266d1bbe18d8a175f759271e2&amp;imgtype=0&amp;src=http%3A%2F%2Fimgtec.eetrend.com%2Fsites%2Fimgtec.eetrend.com%2Ffiles%2F201610%2Fblog%2F8795-23429-1.png">
            <a:extLst>
              <a:ext uri="{FF2B5EF4-FFF2-40B4-BE49-F238E27FC236}">
                <a16:creationId xmlns:a16="http://schemas.microsoft.com/office/drawing/2014/main" id="{D853F1FD-1AED-479A-A38F-AF0A642D67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185"/>
            <a:ext cx="12192000" cy="6115373"/>
          </a:xfrm>
          <a:prstGeom prst="rect">
            <a:avLst/>
          </a:prstGeom>
          <a:noFill/>
          <a:ln>
            <a:solidFill>
              <a:srgbClr val="000000"/>
            </a:solidFill>
          </a:ln>
          <a:extLst>
            <a:ext uri="{909E8E84-426E-40dd-AFC4-6F175D3DCCD1}">
              <a14:hiddenFill xmlns:a14="http://schemas.microsoft.com/office/drawing/2010/main" xmlns="">
                <a:solidFill>
                  <a:srgbClr val="FFFFFF"/>
                </a:solidFill>
              </a14:hiddenFill>
            </a:ext>
          </a:extLst>
        </p:spPr>
      </p:pic>
      <p:sp>
        <p:nvSpPr>
          <p:cNvPr id="6" name="TextBox 5">
            <a:extLst>
              <a:ext uri="{FF2B5EF4-FFF2-40B4-BE49-F238E27FC236}">
                <a16:creationId xmlns:a16="http://schemas.microsoft.com/office/drawing/2014/main" id="{F7CE32E1-0C72-4D59-AA20-6123EA65A76C}"/>
              </a:ext>
            </a:extLst>
          </p:cNvPr>
          <p:cNvSpPr txBox="1"/>
          <p:nvPr/>
        </p:nvSpPr>
        <p:spPr>
          <a:xfrm>
            <a:off x="1016000" y="6156536"/>
            <a:ext cx="11299986" cy="707886"/>
          </a:xfrm>
          <a:prstGeom prst="rect">
            <a:avLst/>
          </a:prstGeom>
          <a:noFill/>
          <a:ln>
            <a:solidFill>
              <a:srgbClr val="000000"/>
            </a:solidFill>
          </a:ln>
        </p:spPr>
        <p:txBody>
          <a:bodyPr wrap="square">
            <a:sp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Arial"/>
                <a:ea typeface="新細明體"/>
                <a:cs typeface="+mn-cs"/>
                <a:sym typeface="Helvetica Neue"/>
              </a:rPr>
              <a:t>Padding on the input volume with zeros in such way that the conv layer does not alter the spatial dimensions of the input</a:t>
            </a:r>
            <a:endParaRPr kumimoji="0" lang="zh-CN" altLang="en-US" sz="2000" b="1" i="0" u="none" strike="noStrike" kern="0" cap="none" spc="0" normalizeH="0" baseline="0" noProof="0" dirty="0">
              <a:ln>
                <a:noFill/>
              </a:ln>
              <a:solidFill>
                <a:srgbClr val="000000"/>
              </a:solidFill>
              <a:effectLst/>
              <a:uLnTx/>
              <a:uFillTx/>
              <a:latin typeface="Arial"/>
              <a:ea typeface="Helvetica Neue"/>
              <a:cs typeface="Helvetica Neue"/>
              <a:sym typeface="Helvetica Neue"/>
            </a:endParaRPr>
          </a:p>
        </p:txBody>
      </p:sp>
    </p:spTree>
    <p:extLst>
      <p:ext uri="{BB962C8B-B14F-4D97-AF65-F5344CB8AC3E}">
        <p14:creationId xmlns:p14="http://schemas.microsoft.com/office/powerpoint/2010/main" val="24666228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2045B4-6847-4BC2-9479-1427CB6A670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83</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6" name="Content Placeholder 5">
            <a:extLst>
              <a:ext uri="{FF2B5EF4-FFF2-40B4-BE49-F238E27FC236}">
                <a16:creationId xmlns:a16="http://schemas.microsoft.com/office/drawing/2014/main" id="{32468EA8-879F-4906-90FD-3D309D7CDC40}"/>
              </a:ext>
            </a:extLst>
          </p:cNvPr>
          <p:cNvSpPr>
            <a:spLocks noGrp="1"/>
          </p:cNvSpPr>
          <p:nvPr>
            <p:ph idx="1"/>
          </p:nvPr>
        </p:nvSpPr>
        <p:spPr>
          <a:xfrm>
            <a:off x="1117601" y="2362201"/>
            <a:ext cx="10257367" cy="4495799"/>
          </a:xfrm>
          <a:ln>
            <a:solidFill>
              <a:schemeClr val="tx1"/>
            </a:solidFill>
          </a:ln>
        </p:spPr>
        <p:txBody>
          <a:bodyPr/>
          <a:lstStyle/>
          <a:p>
            <a:pPr algn="l"/>
            <a:r>
              <a:rPr lang="en-US" sz="1800" dirty="0">
                <a:solidFill>
                  <a:srgbClr val="000000"/>
                </a:solidFill>
                <a:highlight>
                  <a:srgbClr val="FFFF00"/>
                </a:highlight>
                <a:latin typeface="Times New Roman" panose="02020603050405020304" pitchFamily="18" charset="0"/>
              </a:rPr>
              <a:t>During the forward pass, the kernel slides across the height and width of the image-producing the image representation of that receptive region. This produces a two-dimensional representation of the image known as an activation map that gives the response of the kernel at each spatial position of the image. </a:t>
            </a:r>
            <a:r>
              <a:rPr lang="en-US" sz="1800" b="1" dirty="0">
                <a:solidFill>
                  <a:srgbClr val="000000"/>
                </a:solidFill>
                <a:highlight>
                  <a:srgbClr val="FFFF00"/>
                </a:highlight>
                <a:latin typeface="Times New Roman" panose="02020603050405020304" pitchFamily="18" charset="0"/>
              </a:rPr>
              <a:t>The sliding size of the kernel is called a stride.</a:t>
            </a:r>
          </a:p>
          <a:p>
            <a:pPr algn="l">
              <a:spcBef>
                <a:spcPts val="600"/>
              </a:spcBef>
              <a:spcAft>
                <a:spcPts val="600"/>
              </a:spcAft>
            </a:pPr>
            <a:r>
              <a:rPr lang="en-US" sz="1800" dirty="0">
                <a:solidFill>
                  <a:srgbClr val="000000"/>
                </a:solidFill>
                <a:latin typeface="Times New Roman" panose="02020603050405020304" pitchFamily="18" charset="0"/>
              </a:rPr>
              <a:t>If we have an input of size W x W x D and </a:t>
            </a:r>
            <a:r>
              <a:rPr lang="en-US" sz="1800" dirty="0" err="1">
                <a:solidFill>
                  <a:srgbClr val="000000"/>
                </a:solidFill>
                <a:latin typeface="Times New Roman" panose="02020603050405020304" pitchFamily="18" charset="0"/>
              </a:rPr>
              <a:t>Dout</a:t>
            </a:r>
            <a:r>
              <a:rPr lang="en-US" sz="1800" dirty="0">
                <a:solidFill>
                  <a:srgbClr val="000000"/>
                </a:solidFill>
                <a:latin typeface="Times New Roman" panose="02020603050405020304" pitchFamily="18" charset="0"/>
              </a:rPr>
              <a:t> number of kernels with a spatial size of F with stride S and amount of </a:t>
            </a:r>
            <a:r>
              <a:rPr lang="en-US" sz="1800" b="1" dirty="0">
                <a:solidFill>
                  <a:srgbClr val="000000"/>
                </a:solidFill>
                <a:latin typeface="Times New Roman" panose="02020603050405020304" pitchFamily="18" charset="0"/>
              </a:rPr>
              <a:t>padding P</a:t>
            </a:r>
            <a:r>
              <a:rPr lang="en-US" sz="1800" dirty="0">
                <a:solidFill>
                  <a:srgbClr val="000000"/>
                </a:solidFill>
                <a:latin typeface="Times New Roman" panose="02020603050405020304" pitchFamily="18" charset="0"/>
              </a:rPr>
              <a:t>, then the size of output volume can be determined by the following formula:</a:t>
            </a:r>
          </a:p>
          <a:p>
            <a:endParaRPr lang="en-IN" dirty="0"/>
          </a:p>
          <a:p>
            <a:endParaRPr lang="en-IN" sz="1800" dirty="0">
              <a:solidFill>
                <a:srgbClr val="000000"/>
              </a:solidFill>
              <a:latin typeface="Times New Roman" panose="02020603050405020304" pitchFamily="18" charset="0"/>
            </a:endParaRPr>
          </a:p>
          <a:p>
            <a:r>
              <a:rPr lang="en-IN" sz="1800" b="1" dirty="0">
                <a:solidFill>
                  <a:srgbClr val="000000"/>
                </a:solidFill>
                <a:highlight>
                  <a:srgbClr val="FFFF00"/>
                </a:highlight>
                <a:latin typeface="Times New Roman" panose="02020603050405020304" pitchFamily="18" charset="0"/>
              </a:rPr>
              <a:t>Filter size: </a:t>
            </a:r>
            <a:r>
              <a:rPr lang="en-IN" sz="1800" dirty="0">
                <a:solidFill>
                  <a:srgbClr val="000000"/>
                </a:solidFill>
                <a:highlight>
                  <a:srgbClr val="FFFF00"/>
                </a:highlight>
                <a:latin typeface="Times New Roman" panose="02020603050405020304" pitchFamily="18" charset="0"/>
              </a:rPr>
              <a:t>It can be 3*3, 5*5, 7*7. It is advisable to keep small size filter.</a:t>
            </a:r>
          </a:p>
          <a:p>
            <a:r>
              <a:rPr lang="en-IN" sz="1800" b="1" dirty="0">
                <a:solidFill>
                  <a:srgbClr val="000000"/>
                </a:solidFill>
                <a:highlight>
                  <a:srgbClr val="FFFF00"/>
                </a:highlight>
                <a:latin typeface="Times New Roman" panose="02020603050405020304" pitchFamily="18" charset="0"/>
              </a:rPr>
              <a:t>Stride: </a:t>
            </a:r>
            <a:r>
              <a:rPr lang="en-IN" sz="1800" dirty="0">
                <a:solidFill>
                  <a:srgbClr val="000000"/>
                </a:solidFill>
                <a:highlight>
                  <a:srgbClr val="FFFF00"/>
                </a:highlight>
                <a:latin typeface="Times New Roman" panose="02020603050405020304" pitchFamily="18" charset="0"/>
              </a:rPr>
              <a:t>The distance between consecutive application of filter on input image/data. </a:t>
            </a:r>
          </a:p>
          <a:p>
            <a:pPr marL="0" indent="0">
              <a:buNone/>
            </a:pPr>
            <a:r>
              <a:rPr lang="en-IN" sz="1800" dirty="0">
                <a:solidFill>
                  <a:srgbClr val="000000"/>
                </a:solidFill>
                <a:highlight>
                  <a:srgbClr val="FFFF00"/>
                </a:highlight>
                <a:latin typeface="Times New Roman" panose="02020603050405020304" pitchFamily="18" charset="0"/>
              </a:rPr>
              <a:t>                   It has suggested to keep stride one to capture all useful information in the feature map.</a:t>
            </a:r>
          </a:p>
          <a:p>
            <a:r>
              <a:rPr lang="en-IN" sz="1800" b="1" dirty="0">
                <a:solidFill>
                  <a:srgbClr val="000000"/>
                </a:solidFill>
                <a:highlight>
                  <a:srgbClr val="FFFF00"/>
                </a:highlight>
                <a:latin typeface="Times New Roman" panose="02020603050405020304" pitchFamily="18" charset="0"/>
              </a:rPr>
              <a:t>Zero padding: </a:t>
            </a:r>
            <a:r>
              <a:rPr lang="en-IN" sz="1800" dirty="0">
                <a:solidFill>
                  <a:srgbClr val="000000"/>
                </a:solidFill>
                <a:highlight>
                  <a:srgbClr val="FFFF00"/>
                </a:highlight>
                <a:latin typeface="Times New Roman" panose="02020603050405020304" pitchFamily="18" charset="0"/>
              </a:rPr>
              <a:t>It helps in keeping the volume of input and output same. </a:t>
            </a:r>
          </a:p>
          <a:p>
            <a:endParaRPr lang="en-IN" sz="1800" dirty="0">
              <a:solidFill>
                <a:srgbClr val="000000"/>
              </a:solidFill>
              <a:latin typeface="Times New Roman" panose="02020603050405020304" pitchFamily="18" charset="0"/>
            </a:endParaRPr>
          </a:p>
          <a:p>
            <a:endParaRPr lang="en-IN" dirty="0"/>
          </a:p>
        </p:txBody>
      </p:sp>
      <p:pic>
        <p:nvPicPr>
          <p:cNvPr id="4101" name="Picture 5">
            <a:extLst>
              <a:ext uri="{FF2B5EF4-FFF2-40B4-BE49-F238E27FC236}">
                <a16:creationId xmlns:a16="http://schemas.microsoft.com/office/drawing/2014/main" id="{C4D91FB5-B436-4790-8101-1F00BD56E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4727" y="4224338"/>
            <a:ext cx="2296641" cy="64853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3E40F2C-0F0C-ECBD-4D00-7E76B7ADCDA8}"/>
              </a:ext>
            </a:extLst>
          </p:cNvPr>
          <p:cNvSpPr txBox="1"/>
          <p:nvPr/>
        </p:nvSpPr>
        <p:spPr>
          <a:xfrm>
            <a:off x="1117601" y="970671"/>
            <a:ext cx="4854214" cy="707886"/>
          </a:xfrm>
          <a:prstGeom prst="rect">
            <a:avLst/>
          </a:prstGeom>
          <a:noFill/>
        </p:spPr>
        <p:txBody>
          <a:bodyPr wrap="none" rtlCol="0">
            <a:spAutoFit/>
          </a:bodyPr>
          <a:lstStyle/>
          <a:p>
            <a:r>
              <a:rPr kumimoji="1" lang="en-IN" sz="4000" b="1" dirty="0">
                <a:solidFill>
                  <a:schemeClr val="tx2"/>
                </a:solidFill>
                <a:latin typeface="+mj-lt"/>
                <a:ea typeface="PMingLiU" panose="02020500000000000000" pitchFamily="18" charset="-120"/>
                <a:cs typeface="+mj-cs"/>
              </a:rPr>
              <a:t>Stride and Padding</a:t>
            </a:r>
          </a:p>
        </p:txBody>
      </p:sp>
    </p:spTree>
    <p:extLst>
      <p:ext uri="{BB962C8B-B14F-4D97-AF65-F5344CB8AC3E}">
        <p14:creationId xmlns:p14="http://schemas.microsoft.com/office/powerpoint/2010/main" val="21025133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11E7A-40ED-48A1-818B-7DD89E384F37}"/>
              </a:ext>
            </a:extLst>
          </p:cNvPr>
          <p:cNvSpPr>
            <a:spLocks noGrp="1"/>
          </p:cNvSpPr>
          <p:nvPr>
            <p:ph type="title"/>
          </p:nvPr>
        </p:nvSpPr>
        <p:spPr>
          <a:xfrm>
            <a:off x="4180251" y="0"/>
            <a:ext cx="8771021" cy="685800"/>
          </a:xfrm>
        </p:spPr>
        <p:txBody>
          <a:bodyPr/>
          <a:lstStyle/>
          <a:p>
            <a:r>
              <a:rPr lang="en-IN" sz="3000" dirty="0"/>
              <a:t>Convolution example without zero padding</a:t>
            </a:r>
          </a:p>
        </p:txBody>
      </p:sp>
      <p:sp>
        <p:nvSpPr>
          <p:cNvPr id="4" name="Slide Number Placeholder 3">
            <a:extLst>
              <a:ext uri="{FF2B5EF4-FFF2-40B4-BE49-F238E27FC236}">
                <a16:creationId xmlns:a16="http://schemas.microsoft.com/office/drawing/2014/main" id="{D8539CDF-90DE-4C3A-9ED6-40DA3F125C5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1026" name="Picture 2" descr="Fig. 24">
            <a:extLst>
              <a:ext uri="{FF2B5EF4-FFF2-40B4-BE49-F238E27FC236}">
                <a16:creationId xmlns:a16="http://schemas.microsoft.com/office/drawing/2014/main" id="{8DA09324-C370-4D12-BE70-52B52FA1A6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74" y="685800"/>
            <a:ext cx="12192000" cy="617219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6019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E8B3A-2579-4428-8728-CC64EA9F6DD7}"/>
              </a:ext>
            </a:extLst>
          </p:cNvPr>
          <p:cNvSpPr>
            <a:spLocks noGrp="1"/>
          </p:cNvSpPr>
          <p:nvPr>
            <p:ph type="title"/>
          </p:nvPr>
        </p:nvSpPr>
        <p:spPr/>
        <p:txBody>
          <a:bodyPr/>
          <a:lstStyle/>
          <a:p>
            <a:r>
              <a:rPr lang="en-IN" dirty="0"/>
              <a:t>Convolution example without zero padding</a:t>
            </a:r>
          </a:p>
        </p:txBody>
      </p:sp>
      <p:pic>
        <p:nvPicPr>
          <p:cNvPr id="5" name="Content Placeholder 4">
            <a:extLst>
              <a:ext uri="{FF2B5EF4-FFF2-40B4-BE49-F238E27FC236}">
                <a16:creationId xmlns:a16="http://schemas.microsoft.com/office/drawing/2014/main" id="{A098ADDA-F737-4CAF-A764-08168BD5F300}"/>
              </a:ext>
            </a:extLst>
          </p:cNvPr>
          <p:cNvPicPr>
            <a:picLocks noGrp="1" noChangeAspect="1"/>
          </p:cNvPicPr>
          <p:nvPr>
            <p:ph idx="1"/>
          </p:nvPr>
        </p:nvPicPr>
        <p:blipFill>
          <a:blip r:embed="rId2"/>
          <a:stretch>
            <a:fillRect/>
          </a:stretch>
        </p:blipFill>
        <p:spPr>
          <a:xfrm>
            <a:off x="216568" y="2298033"/>
            <a:ext cx="11863247" cy="3284620"/>
          </a:xfrm>
          <a:prstGeom prst="rect">
            <a:avLst/>
          </a:prstGeom>
          <a:ln>
            <a:solidFill>
              <a:schemeClr val="tx1"/>
            </a:solidFill>
          </a:ln>
        </p:spPr>
      </p:pic>
      <p:sp>
        <p:nvSpPr>
          <p:cNvPr id="4" name="Slide Number Placeholder 3">
            <a:extLst>
              <a:ext uri="{FF2B5EF4-FFF2-40B4-BE49-F238E27FC236}">
                <a16:creationId xmlns:a16="http://schemas.microsoft.com/office/drawing/2014/main" id="{09564BCD-6593-423B-BDFF-8F69D4D9C19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85</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Tree>
    <p:extLst>
      <p:ext uri="{BB962C8B-B14F-4D97-AF65-F5344CB8AC3E}">
        <p14:creationId xmlns:p14="http://schemas.microsoft.com/office/powerpoint/2010/main" val="5915644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ACC86-ADB5-4612-B164-44D6D72697AE}"/>
              </a:ext>
            </a:extLst>
          </p:cNvPr>
          <p:cNvSpPr>
            <a:spLocks noGrp="1"/>
          </p:cNvSpPr>
          <p:nvPr>
            <p:ph type="title"/>
          </p:nvPr>
        </p:nvSpPr>
        <p:spPr/>
        <p:txBody>
          <a:bodyPr/>
          <a:lstStyle/>
          <a:p>
            <a:r>
              <a:rPr lang="en-IN" dirty="0"/>
              <a:t>Try with zero padding</a:t>
            </a:r>
          </a:p>
        </p:txBody>
      </p:sp>
      <p:sp>
        <p:nvSpPr>
          <p:cNvPr id="4" name="Slide Number Placeholder 3">
            <a:extLst>
              <a:ext uri="{FF2B5EF4-FFF2-40B4-BE49-F238E27FC236}">
                <a16:creationId xmlns:a16="http://schemas.microsoft.com/office/drawing/2014/main" id="{DF4F99B9-780C-461F-8981-5737763165D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86</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graphicFrame>
        <p:nvGraphicFramePr>
          <p:cNvPr id="5" name="Table 5">
            <a:extLst>
              <a:ext uri="{FF2B5EF4-FFF2-40B4-BE49-F238E27FC236}">
                <a16:creationId xmlns:a16="http://schemas.microsoft.com/office/drawing/2014/main" id="{DEEF54BF-F974-4802-80E2-19DDDF980B91}"/>
              </a:ext>
            </a:extLst>
          </p:cNvPr>
          <p:cNvGraphicFramePr>
            <a:graphicFrameLocks noGrp="1"/>
          </p:cNvGraphicFramePr>
          <p:nvPr/>
        </p:nvGraphicFramePr>
        <p:xfrm>
          <a:off x="1780674" y="2993635"/>
          <a:ext cx="2887420" cy="2595880"/>
        </p:xfrm>
        <a:graphic>
          <a:graphicData uri="http://schemas.openxmlformats.org/drawingml/2006/table">
            <a:tbl>
              <a:tblPr firstRow="1" bandRow="1">
                <a:tableStyleId>{5C22544A-7EE6-4342-B048-85BDC9FD1C3A}</a:tableStyleId>
              </a:tblPr>
              <a:tblGrid>
                <a:gridCol w="421105">
                  <a:extLst>
                    <a:ext uri="{9D8B030D-6E8A-4147-A177-3AD203B41FA5}">
                      <a16:colId xmlns:a16="http://schemas.microsoft.com/office/drawing/2014/main" val="1956561115"/>
                    </a:ext>
                  </a:extLst>
                </a:gridCol>
                <a:gridCol w="397042">
                  <a:extLst>
                    <a:ext uri="{9D8B030D-6E8A-4147-A177-3AD203B41FA5}">
                      <a16:colId xmlns:a16="http://schemas.microsoft.com/office/drawing/2014/main" val="493512994"/>
                    </a:ext>
                  </a:extLst>
                </a:gridCol>
                <a:gridCol w="397042">
                  <a:extLst>
                    <a:ext uri="{9D8B030D-6E8A-4147-A177-3AD203B41FA5}">
                      <a16:colId xmlns:a16="http://schemas.microsoft.com/office/drawing/2014/main" val="220573285"/>
                    </a:ext>
                  </a:extLst>
                </a:gridCol>
                <a:gridCol w="409074">
                  <a:extLst>
                    <a:ext uri="{9D8B030D-6E8A-4147-A177-3AD203B41FA5}">
                      <a16:colId xmlns:a16="http://schemas.microsoft.com/office/drawing/2014/main" val="1627631548"/>
                    </a:ext>
                  </a:extLst>
                </a:gridCol>
                <a:gridCol w="433137">
                  <a:extLst>
                    <a:ext uri="{9D8B030D-6E8A-4147-A177-3AD203B41FA5}">
                      <a16:colId xmlns:a16="http://schemas.microsoft.com/office/drawing/2014/main" val="4180468905"/>
                    </a:ext>
                  </a:extLst>
                </a:gridCol>
                <a:gridCol w="336884">
                  <a:extLst>
                    <a:ext uri="{9D8B030D-6E8A-4147-A177-3AD203B41FA5}">
                      <a16:colId xmlns:a16="http://schemas.microsoft.com/office/drawing/2014/main" val="4151028918"/>
                    </a:ext>
                  </a:extLst>
                </a:gridCol>
                <a:gridCol w="493136">
                  <a:extLst>
                    <a:ext uri="{9D8B030D-6E8A-4147-A177-3AD203B41FA5}">
                      <a16:colId xmlns:a16="http://schemas.microsoft.com/office/drawing/2014/main" val="3217144712"/>
                    </a:ext>
                  </a:extLst>
                </a:gridCol>
              </a:tblGrid>
              <a:tr h="370840">
                <a:tc>
                  <a:txBody>
                    <a:bodyPr/>
                    <a:lstStyle/>
                    <a:p>
                      <a:r>
                        <a:rPr lang="en-IN" b="0" dirty="0">
                          <a:solidFill>
                            <a:srgbClr val="000000"/>
                          </a:solidFill>
                        </a:rPr>
                        <a:t>0</a:t>
                      </a:r>
                    </a:p>
                  </a:txBody>
                  <a:tcPr/>
                </a:tc>
                <a:tc>
                  <a:txBody>
                    <a:bodyPr/>
                    <a:lstStyle/>
                    <a:p>
                      <a:r>
                        <a:rPr lang="en-IN" b="0" dirty="0">
                          <a:solidFill>
                            <a:srgbClr val="000000"/>
                          </a:solidFill>
                        </a:rPr>
                        <a:t>0</a:t>
                      </a:r>
                    </a:p>
                  </a:txBody>
                  <a:tcPr/>
                </a:tc>
                <a:tc>
                  <a:txBody>
                    <a:bodyPr/>
                    <a:lstStyle/>
                    <a:p>
                      <a:r>
                        <a:rPr lang="en-IN" b="0" dirty="0">
                          <a:solidFill>
                            <a:srgbClr val="000000"/>
                          </a:solidFill>
                        </a:rPr>
                        <a:t>0</a:t>
                      </a:r>
                    </a:p>
                  </a:txBody>
                  <a:tcPr/>
                </a:tc>
                <a:tc>
                  <a:txBody>
                    <a:bodyPr/>
                    <a:lstStyle/>
                    <a:p>
                      <a:r>
                        <a:rPr lang="en-IN" b="0" dirty="0">
                          <a:solidFill>
                            <a:srgbClr val="000000"/>
                          </a:solidFill>
                        </a:rPr>
                        <a:t>0</a:t>
                      </a:r>
                    </a:p>
                  </a:txBody>
                  <a:tcPr/>
                </a:tc>
                <a:tc>
                  <a:txBody>
                    <a:bodyPr/>
                    <a:lstStyle/>
                    <a:p>
                      <a:r>
                        <a:rPr lang="en-IN" b="0" dirty="0">
                          <a:solidFill>
                            <a:srgbClr val="000000"/>
                          </a:solidFill>
                        </a:rPr>
                        <a:t>0</a:t>
                      </a:r>
                    </a:p>
                  </a:txBody>
                  <a:tcPr/>
                </a:tc>
                <a:tc>
                  <a:txBody>
                    <a:bodyPr/>
                    <a:lstStyle/>
                    <a:p>
                      <a:r>
                        <a:rPr lang="en-IN" b="0" dirty="0">
                          <a:solidFill>
                            <a:srgbClr val="000000"/>
                          </a:solidFill>
                        </a:rPr>
                        <a:t>0</a:t>
                      </a:r>
                    </a:p>
                  </a:txBody>
                  <a:tcPr/>
                </a:tc>
                <a:tc>
                  <a:txBody>
                    <a:bodyPr/>
                    <a:lstStyle/>
                    <a:p>
                      <a:r>
                        <a:rPr lang="en-IN" b="0" dirty="0">
                          <a:solidFill>
                            <a:srgbClr val="000000"/>
                          </a:solidFill>
                        </a:rPr>
                        <a:t>0</a:t>
                      </a:r>
                    </a:p>
                  </a:txBody>
                  <a:tcPr/>
                </a:tc>
                <a:extLst>
                  <a:ext uri="{0D108BD9-81ED-4DB2-BD59-A6C34878D82A}">
                    <a16:rowId xmlns:a16="http://schemas.microsoft.com/office/drawing/2014/main" val="2206158920"/>
                  </a:ext>
                </a:extLst>
              </a:tr>
              <a:tr h="370840">
                <a:tc>
                  <a:txBody>
                    <a:bodyPr/>
                    <a:lstStyle/>
                    <a:p>
                      <a:r>
                        <a:rPr lang="en-IN" dirty="0"/>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864003959"/>
                  </a:ext>
                </a:extLst>
              </a:tr>
              <a:tr h="370840">
                <a:tc>
                  <a:txBody>
                    <a:bodyPr/>
                    <a:lstStyle/>
                    <a:p>
                      <a:r>
                        <a:rPr lang="en-IN" dirty="0"/>
                        <a:t>0</a:t>
                      </a:r>
                    </a:p>
                  </a:txBody>
                  <a:tcPr/>
                </a:tc>
                <a:tc>
                  <a:txBody>
                    <a:bodyPr/>
                    <a:lstStyle/>
                    <a:p>
                      <a:r>
                        <a:rPr lang="en-IN" dirty="0"/>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453344383"/>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1723654185"/>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1</a:t>
                      </a:r>
                    </a:p>
                  </a:txBody>
                  <a:tcPr/>
                </a:tc>
                <a:tc>
                  <a:txBody>
                    <a:bodyPr/>
                    <a:lstStyle/>
                    <a:p>
                      <a:r>
                        <a:rPr lang="en-IN" dirty="0"/>
                        <a:t>1</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790285434"/>
                  </a:ext>
                </a:extLst>
              </a:tr>
              <a:tr h="370840">
                <a:tc>
                  <a:txBody>
                    <a:bodyPr/>
                    <a:lstStyle/>
                    <a:p>
                      <a:r>
                        <a:rPr lang="en-IN" dirty="0"/>
                        <a:t>0</a:t>
                      </a:r>
                    </a:p>
                  </a:txBody>
                  <a:tcPr/>
                </a:tc>
                <a:tc>
                  <a:txBody>
                    <a:bodyPr/>
                    <a:lstStyle/>
                    <a:p>
                      <a:r>
                        <a:rPr lang="en-IN" dirty="0"/>
                        <a:t>0</a:t>
                      </a:r>
                    </a:p>
                  </a:txBody>
                  <a:tcPr/>
                </a:tc>
                <a:tc>
                  <a:txBody>
                    <a:bodyPr/>
                    <a:lstStyle/>
                    <a:p>
                      <a:r>
                        <a:rPr lang="en-IN" dirty="0"/>
                        <a:t>1</a:t>
                      </a:r>
                    </a:p>
                  </a:txBody>
                  <a:tcPr/>
                </a:tc>
                <a:tc>
                  <a:txBody>
                    <a:bodyPr/>
                    <a:lstStyle/>
                    <a:p>
                      <a:r>
                        <a:rPr lang="en-IN" dirty="0"/>
                        <a:t>1</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109214215"/>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321325833"/>
                  </a:ext>
                </a:extLst>
              </a:tr>
            </a:tbl>
          </a:graphicData>
        </a:graphic>
      </p:graphicFrame>
      <p:graphicFrame>
        <p:nvGraphicFramePr>
          <p:cNvPr id="6" name="Table 5">
            <a:extLst>
              <a:ext uri="{FF2B5EF4-FFF2-40B4-BE49-F238E27FC236}">
                <a16:creationId xmlns:a16="http://schemas.microsoft.com/office/drawing/2014/main" id="{11F718C6-D2B6-41D2-8098-3CF4BB65CDFF}"/>
              </a:ext>
            </a:extLst>
          </p:cNvPr>
          <p:cNvGraphicFramePr>
            <a:graphicFrameLocks noGrp="1"/>
          </p:cNvGraphicFramePr>
          <p:nvPr/>
        </p:nvGraphicFramePr>
        <p:xfrm>
          <a:off x="5582653" y="3429000"/>
          <a:ext cx="1157037" cy="1112520"/>
        </p:xfrm>
        <a:graphic>
          <a:graphicData uri="http://schemas.openxmlformats.org/drawingml/2006/table">
            <a:tbl>
              <a:tblPr firstRow="1" bandRow="1">
                <a:tableStyleId>{5C22544A-7EE6-4342-B048-85BDC9FD1C3A}</a:tableStyleId>
              </a:tblPr>
              <a:tblGrid>
                <a:gridCol w="372979">
                  <a:extLst>
                    <a:ext uri="{9D8B030D-6E8A-4147-A177-3AD203B41FA5}">
                      <a16:colId xmlns:a16="http://schemas.microsoft.com/office/drawing/2014/main" val="1590634223"/>
                    </a:ext>
                  </a:extLst>
                </a:gridCol>
                <a:gridCol w="324742">
                  <a:extLst>
                    <a:ext uri="{9D8B030D-6E8A-4147-A177-3AD203B41FA5}">
                      <a16:colId xmlns:a16="http://schemas.microsoft.com/office/drawing/2014/main" val="1460279604"/>
                    </a:ext>
                  </a:extLst>
                </a:gridCol>
                <a:gridCol w="459316">
                  <a:extLst>
                    <a:ext uri="{9D8B030D-6E8A-4147-A177-3AD203B41FA5}">
                      <a16:colId xmlns:a16="http://schemas.microsoft.com/office/drawing/2014/main" val="1924708403"/>
                    </a:ext>
                  </a:extLst>
                </a:gridCol>
              </a:tblGrid>
              <a:tr h="370840">
                <a:tc>
                  <a:txBody>
                    <a:bodyPr/>
                    <a:lstStyle/>
                    <a:p>
                      <a:r>
                        <a:rPr lang="en-IN" b="0" dirty="0">
                          <a:solidFill>
                            <a:srgbClr val="000000"/>
                          </a:solidFill>
                        </a:rPr>
                        <a:t>1</a:t>
                      </a:r>
                    </a:p>
                  </a:txBody>
                  <a:tcPr/>
                </a:tc>
                <a:tc>
                  <a:txBody>
                    <a:bodyPr/>
                    <a:lstStyle/>
                    <a:p>
                      <a:r>
                        <a:rPr lang="en-IN" b="0" dirty="0">
                          <a:solidFill>
                            <a:srgbClr val="000000"/>
                          </a:solidFill>
                        </a:rPr>
                        <a:t>0</a:t>
                      </a:r>
                    </a:p>
                  </a:txBody>
                  <a:tcPr/>
                </a:tc>
                <a:tc>
                  <a:txBody>
                    <a:bodyPr/>
                    <a:lstStyle/>
                    <a:p>
                      <a:r>
                        <a:rPr lang="en-IN" b="0" dirty="0">
                          <a:solidFill>
                            <a:srgbClr val="000000"/>
                          </a:solidFill>
                        </a:rPr>
                        <a:t>1</a:t>
                      </a:r>
                    </a:p>
                  </a:txBody>
                  <a:tcPr/>
                </a:tc>
                <a:extLst>
                  <a:ext uri="{0D108BD9-81ED-4DB2-BD59-A6C34878D82A}">
                    <a16:rowId xmlns:a16="http://schemas.microsoft.com/office/drawing/2014/main" val="2179037025"/>
                  </a:ext>
                </a:extLst>
              </a:tr>
              <a:tr h="370840">
                <a:tc>
                  <a:txBody>
                    <a:bodyPr/>
                    <a:lstStyle/>
                    <a:p>
                      <a:r>
                        <a:rPr lang="en-IN" dirty="0"/>
                        <a:t>0</a:t>
                      </a:r>
                    </a:p>
                  </a:txBody>
                  <a:tcPr/>
                </a:tc>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1866104305"/>
                  </a:ext>
                </a:extLst>
              </a:tr>
              <a:tr h="370840">
                <a:tc>
                  <a:txBody>
                    <a:bodyPr/>
                    <a:lstStyle/>
                    <a:p>
                      <a:r>
                        <a:rPr lang="en-IN" dirty="0"/>
                        <a:t>1</a:t>
                      </a:r>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653777588"/>
                  </a:ext>
                </a:extLst>
              </a:tr>
            </a:tbl>
          </a:graphicData>
        </a:graphic>
      </p:graphicFrame>
      <p:sp>
        <p:nvSpPr>
          <p:cNvPr id="7" name="TextBox 6">
            <a:extLst>
              <a:ext uri="{FF2B5EF4-FFF2-40B4-BE49-F238E27FC236}">
                <a16:creationId xmlns:a16="http://schemas.microsoft.com/office/drawing/2014/main" id="{EDA906CA-99AE-4605-90E5-4532DED82041}"/>
              </a:ext>
            </a:extLst>
          </p:cNvPr>
          <p:cNvSpPr txBox="1"/>
          <p:nvPr/>
        </p:nvSpPr>
        <p:spPr>
          <a:xfrm>
            <a:off x="4952891" y="3706800"/>
            <a:ext cx="34496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003366"/>
                </a:solidFill>
                <a:effectLst/>
                <a:uLnTx/>
                <a:uFillTx/>
                <a:latin typeface="Arial"/>
                <a:ea typeface="新細明體"/>
                <a:cs typeface="+mn-cs"/>
              </a:rPr>
              <a:t>*</a:t>
            </a:r>
          </a:p>
        </p:txBody>
      </p:sp>
      <p:sp>
        <p:nvSpPr>
          <p:cNvPr id="8" name="TextBox 7">
            <a:extLst>
              <a:ext uri="{FF2B5EF4-FFF2-40B4-BE49-F238E27FC236}">
                <a16:creationId xmlns:a16="http://schemas.microsoft.com/office/drawing/2014/main" id="{59BCBBC4-8B2E-40CD-B2BA-C2E15CD85E4B}"/>
              </a:ext>
            </a:extLst>
          </p:cNvPr>
          <p:cNvSpPr txBox="1"/>
          <p:nvPr/>
        </p:nvSpPr>
        <p:spPr>
          <a:xfrm>
            <a:off x="7255042" y="3706800"/>
            <a:ext cx="31931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3366"/>
                </a:solidFill>
                <a:effectLst/>
                <a:uLnTx/>
                <a:uFillTx/>
                <a:latin typeface="Arial"/>
                <a:ea typeface="新細明體"/>
                <a:cs typeface="+mn-cs"/>
              </a:rPr>
              <a:t>=</a:t>
            </a:r>
          </a:p>
        </p:txBody>
      </p:sp>
      <p:graphicFrame>
        <p:nvGraphicFramePr>
          <p:cNvPr id="9" name="Table 8">
            <a:extLst>
              <a:ext uri="{FF2B5EF4-FFF2-40B4-BE49-F238E27FC236}">
                <a16:creationId xmlns:a16="http://schemas.microsoft.com/office/drawing/2014/main" id="{8D30EB89-0712-475E-B1B1-5D4D36B37859}"/>
              </a:ext>
            </a:extLst>
          </p:cNvPr>
          <p:cNvGraphicFramePr>
            <a:graphicFrameLocks noGrp="1"/>
          </p:cNvGraphicFramePr>
          <p:nvPr/>
        </p:nvGraphicFramePr>
        <p:xfrm>
          <a:off x="7987632" y="3149032"/>
          <a:ext cx="1985210" cy="1854200"/>
        </p:xfrm>
        <a:graphic>
          <a:graphicData uri="http://schemas.openxmlformats.org/drawingml/2006/table">
            <a:tbl>
              <a:tblPr firstRow="1" bandRow="1">
                <a:tableStyleId>{5C22544A-7EE6-4342-B048-85BDC9FD1C3A}</a:tableStyleId>
              </a:tblPr>
              <a:tblGrid>
                <a:gridCol w="385010">
                  <a:extLst>
                    <a:ext uri="{9D8B030D-6E8A-4147-A177-3AD203B41FA5}">
                      <a16:colId xmlns:a16="http://schemas.microsoft.com/office/drawing/2014/main" val="418488406"/>
                    </a:ext>
                  </a:extLst>
                </a:gridCol>
                <a:gridCol w="421106">
                  <a:extLst>
                    <a:ext uri="{9D8B030D-6E8A-4147-A177-3AD203B41FA5}">
                      <a16:colId xmlns:a16="http://schemas.microsoft.com/office/drawing/2014/main" val="2609542171"/>
                    </a:ext>
                  </a:extLst>
                </a:gridCol>
                <a:gridCol w="385010">
                  <a:extLst>
                    <a:ext uri="{9D8B030D-6E8A-4147-A177-3AD203B41FA5}">
                      <a16:colId xmlns:a16="http://schemas.microsoft.com/office/drawing/2014/main" val="2174447851"/>
                    </a:ext>
                  </a:extLst>
                </a:gridCol>
                <a:gridCol w="409074">
                  <a:extLst>
                    <a:ext uri="{9D8B030D-6E8A-4147-A177-3AD203B41FA5}">
                      <a16:colId xmlns:a16="http://schemas.microsoft.com/office/drawing/2014/main" val="1702864638"/>
                    </a:ext>
                  </a:extLst>
                </a:gridCol>
                <a:gridCol w="385010">
                  <a:extLst>
                    <a:ext uri="{9D8B030D-6E8A-4147-A177-3AD203B41FA5}">
                      <a16:colId xmlns:a16="http://schemas.microsoft.com/office/drawing/2014/main" val="2106288924"/>
                    </a:ext>
                  </a:extLst>
                </a:gridCol>
              </a:tblGrid>
              <a:tr h="370840">
                <a:tc>
                  <a:txBody>
                    <a:bodyPr/>
                    <a:lstStyle/>
                    <a:p>
                      <a:r>
                        <a:rPr lang="en-IN" b="0" dirty="0">
                          <a:solidFill>
                            <a:srgbClr val="000000"/>
                          </a:solidFill>
                        </a:rPr>
                        <a:t>2</a:t>
                      </a:r>
                    </a:p>
                  </a:txBody>
                  <a:tcPr/>
                </a:tc>
                <a:tc>
                  <a:txBody>
                    <a:bodyPr/>
                    <a:lstStyle/>
                    <a:p>
                      <a:r>
                        <a:rPr lang="en-IN" b="0" dirty="0">
                          <a:solidFill>
                            <a:srgbClr val="000000"/>
                          </a:solidFill>
                        </a:rPr>
                        <a:t>3</a:t>
                      </a:r>
                    </a:p>
                  </a:txBody>
                  <a:tcPr/>
                </a:tc>
                <a:tc>
                  <a:txBody>
                    <a:bodyPr/>
                    <a:lstStyle/>
                    <a:p>
                      <a:r>
                        <a:rPr lang="en-IN" b="0" dirty="0">
                          <a:solidFill>
                            <a:srgbClr val="000000"/>
                          </a:solidFill>
                        </a:rPr>
                        <a:t>3</a:t>
                      </a:r>
                    </a:p>
                  </a:txBody>
                  <a:tcPr/>
                </a:tc>
                <a:tc>
                  <a:txBody>
                    <a:bodyPr/>
                    <a:lstStyle/>
                    <a:p>
                      <a:r>
                        <a:rPr lang="en-IN" b="0" dirty="0">
                          <a:solidFill>
                            <a:srgbClr val="000000"/>
                          </a:solidFill>
                        </a:rPr>
                        <a:t>1</a:t>
                      </a:r>
                    </a:p>
                  </a:txBody>
                  <a:tcPr/>
                </a:tc>
                <a:tc>
                  <a:txBody>
                    <a:bodyPr/>
                    <a:lstStyle/>
                    <a:p>
                      <a:r>
                        <a:rPr lang="en-IN" b="0" dirty="0">
                          <a:solidFill>
                            <a:srgbClr val="000000"/>
                          </a:solidFill>
                        </a:rPr>
                        <a:t>1</a:t>
                      </a:r>
                    </a:p>
                  </a:txBody>
                  <a:tcPr/>
                </a:tc>
                <a:extLst>
                  <a:ext uri="{0D108BD9-81ED-4DB2-BD59-A6C34878D82A}">
                    <a16:rowId xmlns:a16="http://schemas.microsoft.com/office/drawing/2014/main" val="174126217"/>
                  </a:ext>
                </a:extLst>
              </a:tr>
              <a:tr h="370840">
                <a:tc>
                  <a:txBody>
                    <a:bodyPr/>
                    <a:lstStyle/>
                    <a:p>
                      <a:r>
                        <a:rPr lang="en-IN" dirty="0"/>
                        <a:t>1</a:t>
                      </a:r>
                    </a:p>
                  </a:txBody>
                  <a:tcPr/>
                </a:tc>
                <a:tc>
                  <a:txBody>
                    <a:bodyPr/>
                    <a:lstStyle/>
                    <a:p>
                      <a:r>
                        <a:rPr lang="en-IN" dirty="0"/>
                        <a:t>4</a:t>
                      </a:r>
                    </a:p>
                  </a:txBody>
                  <a:tcPr/>
                </a:tc>
                <a:tc>
                  <a:txBody>
                    <a:bodyPr/>
                    <a:lstStyle/>
                    <a:p>
                      <a:r>
                        <a:rPr lang="en-IN" dirty="0"/>
                        <a:t>3</a:t>
                      </a:r>
                    </a:p>
                  </a:txBody>
                  <a:tcPr/>
                </a:tc>
                <a:tc>
                  <a:txBody>
                    <a:bodyPr/>
                    <a:lstStyle/>
                    <a:p>
                      <a:r>
                        <a:rPr lang="en-IN" dirty="0"/>
                        <a:t>4</a:t>
                      </a:r>
                    </a:p>
                  </a:txBody>
                  <a:tcPr/>
                </a:tc>
                <a:tc>
                  <a:txBody>
                    <a:bodyPr/>
                    <a:lstStyle/>
                    <a:p>
                      <a:r>
                        <a:rPr lang="en-IN" dirty="0"/>
                        <a:t>1</a:t>
                      </a:r>
                    </a:p>
                  </a:txBody>
                  <a:tcPr/>
                </a:tc>
                <a:extLst>
                  <a:ext uri="{0D108BD9-81ED-4DB2-BD59-A6C34878D82A}">
                    <a16:rowId xmlns:a16="http://schemas.microsoft.com/office/drawing/2014/main" val="204665812"/>
                  </a:ext>
                </a:extLst>
              </a:tr>
              <a:tr h="370840">
                <a:tc>
                  <a:txBody>
                    <a:bodyPr/>
                    <a:lstStyle/>
                    <a:p>
                      <a:r>
                        <a:rPr lang="en-IN" dirty="0"/>
                        <a:t>1</a:t>
                      </a:r>
                    </a:p>
                  </a:txBody>
                  <a:tcPr/>
                </a:tc>
                <a:tc>
                  <a:txBody>
                    <a:bodyPr/>
                    <a:lstStyle/>
                    <a:p>
                      <a:r>
                        <a:rPr lang="en-IN" dirty="0"/>
                        <a:t>2</a:t>
                      </a:r>
                    </a:p>
                  </a:txBody>
                  <a:tcPr/>
                </a:tc>
                <a:tc>
                  <a:txBody>
                    <a:bodyPr/>
                    <a:lstStyle/>
                    <a:p>
                      <a:r>
                        <a:rPr lang="en-IN" dirty="0"/>
                        <a:t>5</a:t>
                      </a:r>
                    </a:p>
                  </a:txBody>
                  <a:tcPr/>
                </a:tc>
                <a:tc>
                  <a:txBody>
                    <a:bodyPr/>
                    <a:lstStyle/>
                    <a:p>
                      <a:r>
                        <a:rPr lang="en-IN" dirty="0"/>
                        <a:t>3</a:t>
                      </a:r>
                    </a:p>
                  </a:txBody>
                  <a:tcPr/>
                </a:tc>
                <a:tc>
                  <a:txBody>
                    <a:bodyPr/>
                    <a:lstStyle/>
                    <a:p>
                      <a:r>
                        <a:rPr lang="en-IN" dirty="0"/>
                        <a:t>2</a:t>
                      </a:r>
                    </a:p>
                  </a:txBody>
                  <a:tcPr/>
                </a:tc>
                <a:extLst>
                  <a:ext uri="{0D108BD9-81ED-4DB2-BD59-A6C34878D82A}">
                    <a16:rowId xmlns:a16="http://schemas.microsoft.com/office/drawing/2014/main" val="1871306466"/>
                  </a:ext>
                </a:extLst>
              </a:tr>
              <a:tr h="370840">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1</a:t>
                      </a:r>
                    </a:p>
                  </a:txBody>
                  <a:tcPr/>
                </a:tc>
                <a:extLst>
                  <a:ext uri="{0D108BD9-81ED-4DB2-BD59-A6C34878D82A}">
                    <a16:rowId xmlns:a16="http://schemas.microsoft.com/office/drawing/2014/main" val="1648492258"/>
                  </a:ext>
                </a:extLst>
              </a:tr>
              <a:tr h="370840">
                <a:tc>
                  <a:txBody>
                    <a:bodyPr/>
                    <a:lstStyle/>
                    <a:p>
                      <a:r>
                        <a:rPr lang="en-IN" dirty="0"/>
                        <a:t>0</a:t>
                      </a:r>
                    </a:p>
                  </a:txBody>
                  <a:tcPr/>
                </a:tc>
                <a:tc>
                  <a:txBody>
                    <a:bodyPr/>
                    <a:lstStyle/>
                    <a:p>
                      <a:r>
                        <a:rPr lang="en-IN" dirty="0"/>
                        <a:t>2</a:t>
                      </a:r>
                    </a:p>
                  </a:txBody>
                  <a:tcPr/>
                </a:tc>
                <a:tc>
                  <a:txBody>
                    <a:bodyPr/>
                    <a:lstStyle/>
                    <a:p>
                      <a:r>
                        <a:rPr lang="en-IN" dirty="0"/>
                        <a:t>2</a:t>
                      </a:r>
                    </a:p>
                  </a:txBody>
                  <a:tcPr/>
                </a:tc>
                <a:tc>
                  <a:txBody>
                    <a:bodyPr/>
                    <a:lstStyle/>
                    <a:p>
                      <a:r>
                        <a:rPr lang="en-IN" dirty="0"/>
                        <a:t>2</a:t>
                      </a:r>
                    </a:p>
                  </a:txBody>
                  <a:tcPr/>
                </a:tc>
                <a:tc>
                  <a:txBody>
                    <a:bodyPr/>
                    <a:lstStyle/>
                    <a:p>
                      <a:r>
                        <a:rPr lang="en-IN" dirty="0"/>
                        <a:t>1</a:t>
                      </a:r>
                    </a:p>
                  </a:txBody>
                  <a:tcPr/>
                </a:tc>
                <a:extLst>
                  <a:ext uri="{0D108BD9-81ED-4DB2-BD59-A6C34878D82A}">
                    <a16:rowId xmlns:a16="http://schemas.microsoft.com/office/drawing/2014/main" val="615084371"/>
                  </a:ext>
                </a:extLst>
              </a:tr>
            </a:tbl>
          </a:graphicData>
        </a:graphic>
      </p:graphicFrame>
      <p:sp>
        <p:nvSpPr>
          <p:cNvPr id="11" name="TextBox 10">
            <a:extLst>
              <a:ext uri="{FF2B5EF4-FFF2-40B4-BE49-F238E27FC236}">
                <a16:creationId xmlns:a16="http://schemas.microsoft.com/office/drawing/2014/main" id="{9B21B64D-337B-490A-9D5F-B6BC56B032E4}"/>
              </a:ext>
            </a:extLst>
          </p:cNvPr>
          <p:cNvSpPr txBox="1"/>
          <p:nvPr/>
        </p:nvSpPr>
        <p:spPr>
          <a:xfrm>
            <a:off x="2081926" y="6070398"/>
            <a:ext cx="9315528" cy="369332"/>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kumimoji="1" lang="en-IN" sz="18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PMingLiU" panose="02020500000000000000" pitchFamily="18" charset="-120"/>
                <a:cs typeface="+mn-cs"/>
              </a:rPr>
              <a:t>Zero padding: It helps in keeping the volume of input and output same. </a:t>
            </a:r>
          </a:p>
        </p:txBody>
      </p:sp>
    </p:spTree>
    <p:extLst>
      <p:ext uri="{BB962C8B-B14F-4D97-AF65-F5344CB8AC3E}">
        <p14:creationId xmlns:p14="http://schemas.microsoft.com/office/powerpoint/2010/main" val="605516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4DEDD-36C0-4F2D-9659-DF1EB9CAE206}"/>
              </a:ext>
            </a:extLst>
          </p:cNvPr>
          <p:cNvSpPr>
            <a:spLocks noGrp="1"/>
          </p:cNvSpPr>
          <p:nvPr>
            <p:ph type="title"/>
          </p:nvPr>
        </p:nvSpPr>
        <p:spPr>
          <a:xfrm>
            <a:off x="903816" y="896353"/>
            <a:ext cx="10499558" cy="1447799"/>
          </a:xfrm>
        </p:spPr>
        <p:txBody>
          <a:bodyPr/>
          <a:lstStyle/>
          <a:p>
            <a:pPr marL="342900" marR="0" lvl="0" indent="-342900" defTabSz="914400" rtl="0" eaLnBrk="0" fontAlgn="base" latinLnBrk="0" hangingPunct="0">
              <a:lnSpc>
                <a:spcPct val="100000"/>
              </a:lnSpc>
              <a:spcBef>
                <a:spcPct val="20000"/>
              </a:spcBef>
              <a:spcAft>
                <a:spcPct val="0"/>
              </a:spcAft>
              <a:tabLst/>
              <a:defRPr/>
            </a:pPr>
            <a:r>
              <a:rPr lang="en-US" sz="4000" dirty="0"/>
              <a:t>Motivation behind Convolution</a:t>
            </a:r>
            <a:br>
              <a:rPr lang="en-US" sz="4000" dirty="0"/>
            </a:br>
            <a:endParaRPr lang="en-IN" sz="4000" dirty="0"/>
          </a:p>
        </p:txBody>
      </p:sp>
      <p:sp>
        <p:nvSpPr>
          <p:cNvPr id="3" name="Content Placeholder 2">
            <a:extLst>
              <a:ext uri="{FF2B5EF4-FFF2-40B4-BE49-F238E27FC236}">
                <a16:creationId xmlns:a16="http://schemas.microsoft.com/office/drawing/2014/main" id="{361499B1-8539-4536-AF27-4739B28A1795}"/>
              </a:ext>
            </a:extLst>
          </p:cNvPr>
          <p:cNvSpPr>
            <a:spLocks noGrp="1"/>
          </p:cNvSpPr>
          <p:nvPr>
            <p:ph idx="1"/>
          </p:nvPr>
        </p:nvSpPr>
        <p:spPr>
          <a:xfrm>
            <a:off x="903816" y="2344152"/>
            <a:ext cx="11176000" cy="4513848"/>
          </a:xfrm>
          <a:ln>
            <a:solidFill>
              <a:schemeClr val="tx1"/>
            </a:solidFill>
          </a:ln>
        </p:spPr>
        <p:txBody>
          <a:bodyPr/>
          <a:lstStyle/>
          <a:p>
            <a:r>
              <a:rPr lang="en-US" sz="1800" dirty="0">
                <a:solidFill>
                  <a:srgbClr val="000000"/>
                </a:solidFill>
                <a:latin typeface="Times New Roman" panose="02020603050405020304" pitchFamily="18" charset="0"/>
              </a:rPr>
              <a:t>Convolution leverages three important ideas that motivated computer vision researchers: sparse interaction, parameter sharing, and equivariant representation. Let’s describe each one of them in detail.</a:t>
            </a:r>
          </a:p>
          <a:p>
            <a:r>
              <a:rPr lang="en-US" sz="1800" dirty="0">
                <a:solidFill>
                  <a:srgbClr val="000000"/>
                </a:solidFill>
                <a:latin typeface="Times New Roman" panose="02020603050405020304" pitchFamily="18" charset="0"/>
              </a:rPr>
              <a:t>Trivial neural network layers use matrix multiplication by a matrix of parameters describing the interaction between the input and output unit. This means that every output unit interacts with every input unit. However, convolution neural networks have sparse interaction. This is achieved by making kernel smaller than the input e.g., an image can have millions or thousands of pixels, but while processing it using kernel we can detect meaningful information that is of tens or hundreds of pixels. This means that we need to store fewer parameters that not only reduces the memory requirement of the model but also improves the statistical efficiency of the model.</a:t>
            </a:r>
          </a:p>
          <a:p>
            <a:r>
              <a:rPr lang="en-US" sz="1800" dirty="0">
                <a:solidFill>
                  <a:srgbClr val="000000"/>
                </a:solidFill>
                <a:latin typeface="Times New Roman" panose="02020603050405020304" pitchFamily="18" charset="0"/>
              </a:rPr>
              <a:t>If computing one feature at a spatial point (x1, y1) is useful then it should also be useful at some other spatial point say (x2, y2). It means that for a single two-dimensional slice i.e., for creating one activation map, neurons are constrained to use the same set of weights. In a traditional neural network, each element of the weight matrix is used once and then never revisited, while convolution network has shared parameters i.e., for getting output, weights applied to one input are the same as the weight applied elsewhere.</a:t>
            </a:r>
          </a:p>
          <a:p>
            <a:r>
              <a:rPr lang="en-US" sz="1800" dirty="0">
                <a:solidFill>
                  <a:srgbClr val="000000"/>
                </a:solidFill>
                <a:latin typeface="Times New Roman" panose="02020603050405020304" pitchFamily="18" charset="0"/>
              </a:rPr>
              <a:t>Due to parameter sharing, the layers of convolution neural network will have a property of equivariance to translation. It says that if we changed the input in a way, the output will also get changed in the same way.</a:t>
            </a:r>
            <a:endParaRPr lang="en-IN" dirty="0"/>
          </a:p>
        </p:txBody>
      </p:sp>
      <p:sp>
        <p:nvSpPr>
          <p:cNvPr id="4" name="Slide Number Placeholder 3">
            <a:extLst>
              <a:ext uri="{FF2B5EF4-FFF2-40B4-BE49-F238E27FC236}">
                <a16:creationId xmlns:a16="http://schemas.microsoft.com/office/drawing/2014/main" id="{D27B7DA4-F404-4E92-81AF-B0B164CFA8C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87</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Tree>
    <p:extLst>
      <p:ext uri="{BB962C8B-B14F-4D97-AF65-F5344CB8AC3E}">
        <p14:creationId xmlns:p14="http://schemas.microsoft.com/office/powerpoint/2010/main" val="27355308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49D9F-205C-4D2E-A858-148EE451914E}"/>
              </a:ext>
            </a:extLst>
          </p:cNvPr>
          <p:cNvSpPr>
            <a:spLocks noGrp="1"/>
          </p:cNvSpPr>
          <p:nvPr>
            <p:ph type="title"/>
          </p:nvPr>
        </p:nvSpPr>
        <p:spPr>
          <a:xfrm>
            <a:off x="963084" y="1092201"/>
            <a:ext cx="10566400" cy="1143000"/>
          </a:xfrm>
        </p:spPr>
        <p:txBody>
          <a:bodyPr/>
          <a:lstStyle/>
          <a:p>
            <a:r>
              <a:rPr lang="en-US" dirty="0" err="1"/>
              <a:t>ReLU</a:t>
            </a:r>
            <a:r>
              <a:rPr lang="en-US" dirty="0"/>
              <a:t> Layer</a:t>
            </a:r>
            <a:br>
              <a:rPr lang="en-US" b="0" i="0" dirty="0">
                <a:solidFill>
                  <a:srgbClr val="292929"/>
                </a:solidFill>
                <a:effectLst/>
                <a:latin typeface="charter"/>
              </a:rPr>
            </a:br>
            <a:endParaRPr lang="en-IN" dirty="0"/>
          </a:p>
        </p:txBody>
      </p:sp>
      <p:sp>
        <p:nvSpPr>
          <p:cNvPr id="3" name="Content Placeholder 2">
            <a:extLst>
              <a:ext uri="{FF2B5EF4-FFF2-40B4-BE49-F238E27FC236}">
                <a16:creationId xmlns:a16="http://schemas.microsoft.com/office/drawing/2014/main" id="{FAA9EDE7-0F65-403A-9AF1-29F66D8893CC}"/>
              </a:ext>
            </a:extLst>
          </p:cNvPr>
          <p:cNvSpPr>
            <a:spLocks noGrp="1"/>
          </p:cNvSpPr>
          <p:nvPr>
            <p:ph idx="1"/>
          </p:nvPr>
        </p:nvSpPr>
        <p:spPr>
          <a:xfrm>
            <a:off x="1117601" y="2362201"/>
            <a:ext cx="10257367" cy="4368799"/>
          </a:xfrm>
          <a:ln>
            <a:solidFill>
              <a:schemeClr val="tx1"/>
            </a:solidFill>
          </a:ln>
        </p:spPr>
        <p:txBody>
          <a:bodyPr/>
          <a:lstStyle/>
          <a:p>
            <a:pPr algn="l"/>
            <a:r>
              <a:rPr lang="en-US" sz="1800" dirty="0">
                <a:solidFill>
                  <a:srgbClr val="000000"/>
                </a:solidFill>
                <a:highlight>
                  <a:srgbClr val="FFFF00"/>
                </a:highlight>
                <a:latin typeface="Times New Roman" panose="02020603050405020304" pitchFamily="18" charset="0"/>
              </a:rPr>
              <a:t>The Rectified Linear Unit (</a:t>
            </a:r>
            <a:r>
              <a:rPr lang="en-US" sz="1800" dirty="0" err="1">
                <a:solidFill>
                  <a:srgbClr val="000000"/>
                </a:solidFill>
                <a:highlight>
                  <a:srgbClr val="FFFF00"/>
                </a:highlight>
                <a:latin typeface="Times New Roman" panose="02020603050405020304" pitchFamily="18" charset="0"/>
              </a:rPr>
              <a:t>ReLU</a:t>
            </a:r>
            <a:r>
              <a:rPr lang="en-US" sz="1800" dirty="0">
                <a:solidFill>
                  <a:srgbClr val="000000"/>
                </a:solidFill>
                <a:highlight>
                  <a:srgbClr val="FFFF00"/>
                </a:highlight>
                <a:latin typeface="Times New Roman" panose="02020603050405020304" pitchFamily="18" charset="0"/>
              </a:rPr>
              <a:t>) has become very popular in the last few years. It is hard max function which </a:t>
            </a:r>
            <a:r>
              <a:rPr lang="en-US" sz="1800" b="1" dirty="0">
                <a:solidFill>
                  <a:srgbClr val="000000"/>
                </a:solidFill>
                <a:highlight>
                  <a:srgbClr val="FFFF00"/>
                </a:highlight>
                <a:latin typeface="Times New Roman" panose="02020603050405020304" pitchFamily="18" charset="0"/>
              </a:rPr>
              <a:t>serves to introduce non linearity </a:t>
            </a:r>
            <a:r>
              <a:rPr lang="en-US" sz="1800" dirty="0">
                <a:solidFill>
                  <a:srgbClr val="000000"/>
                </a:solidFill>
                <a:highlight>
                  <a:srgbClr val="FFFF00"/>
                </a:highlight>
                <a:latin typeface="Times New Roman" panose="02020603050405020304" pitchFamily="18" charset="0"/>
              </a:rPr>
              <a:t>in the network. It computes the function </a:t>
            </a:r>
            <a:r>
              <a:rPr lang="en-US" sz="1800" b="1" dirty="0">
                <a:solidFill>
                  <a:srgbClr val="000000"/>
                </a:solidFill>
                <a:highlight>
                  <a:srgbClr val="FFFF00"/>
                </a:highlight>
                <a:latin typeface="Times New Roman" panose="02020603050405020304" pitchFamily="18" charset="0"/>
              </a:rPr>
              <a:t>ƒ(κ)=max (0,κ). </a:t>
            </a:r>
            <a:r>
              <a:rPr lang="en-US" sz="1800" dirty="0">
                <a:solidFill>
                  <a:srgbClr val="000000"/>
                </a:solidFill>
                <a:highlight>
                  <a:srgbClr val="FFFF00"/>
                </a:highlight>
                <a:latin typeface="Times New Roman" panose="02020603050405020304" pitchFamily="18" charset="0"/>
              </a:rPr>
              <a:t>In other words, </a:t>
            </a:r>
            <a:r>
              <a:rPr lang="en-US" sz="1800" b="1" dirty="0">
                <a:solidFill>
                  <a:srgbClr val="000000"/>
                </a:solidFill>
                <a:highlight>
                  <a:srgbClr val="FFFF00"/>
                </a:highlight>
                <a:latin typeface="Times New Roman" panose="02020603050405020304" pitchFamily="18" charset="0"/>
              </a:rPr>
              <a:t>the activation is simply threshold at zero.</a:t>
            </a:r>
          </a:p>
          <a:p>
            <a:r>
              <a:rPr lang="en-IN" sz="1800" dirty="0">
                <a:solidFill>
                  <a:srgbClr val="000000"/>
                </a:solidFill>
                <a:highlight>
                  <a:srgbClr val="FFFF00"/>
                </a:highlight>
                <a:latin typeface="Times New Roman" panose="02020603050405020304" pitchFamily="18" charset="0"/>
              </a:rPr>
              <a:t>It replaces all  negative values in feature map to zero</a:t>
            </a:r>
          </a:p>
          <a:p>
            <a:pPr algn="l"/>
            <a:r>
              <a:rPr lang="en-US" sz="1800" dirty="0">
                <a:solidFill>
                  <a:srgbClr val="000000"/>
                </a:solidFill>
                <a:highlight>
                  <a:srgbClr val="FFFF00"/>
                </a:highlight>
                <a:latin typeface="Times New Roman" panose="02020603050405020304" pitchFamily="18" charset="0"/>
              </a:rPr>
              <a:t>In comparison to </a:t>
            </a:r>
            <a:r>
              <a:rPr lang="en-US" sz="1800" b="1" dirty="0">
                <a:solidFill>
                  <a:srgbClr val="000000"/>
                </a:solidFill>
                <a:highlight>
                  <a:srgbClr val="FFFF00"/>
                </a:highlight>
                <a:latin typeface="Times New Roman" panose="02020603050405020304" pitchFamily="18" charset="0"/>
              </a:rPr>
              <a:t>sigmoid and tanh, </a:t>
            </a:r>
            <a:r>
              <a:rPr lang="en-US" sz="1800" b="1" dirty="0" err="1">
                <a:solidFill>
                  <a:srgbClr val="000000"/>
                </a:solidFill>
                <a:highlight>
                  <a:srgbClr val="FFFF00"/>
                </a:highlight>
                <a:latin typeface="Times New Roman" panose="02020603050405020304" pitchFamily="18" charset="0"/>
              </a:rPr>
              <a:t>ReLU</a:t>
            </a:r>
            <a:r>
              <a:rPr lang="en-US" sz="1800" b="1" dirty="0">
                <a:solidFill>
                  <a:srgbClr val="000000"/>
                </a:solidFill>
                <a:highlight>
                  <a:srgbClr val="FFFF00"/>
                </a:highlight>
                <a:latin typeface="Times New Roman" panose="02020603050405020304" pitchFamily="18" charset="0"/>
              </a:rPr>
              <a:t> is more reliable and accelerates the convergence by six times.</a:t>
            </a:r>
          </a:p>
          <a:p>
            <a:pPr algn="l"/>
            <a:r>
              <a:rPr lang="en-US" sz="1800" dirty="0">
                <a:solidFill>
                  <a:srgbClr val="000000"/>
                </a:solidFill>
                <a:highlight>
                  <a:srgbClr val="FFFF00"/>
                </a:highlight>
                <a:latin typeface="Times New Roman" panose="02020603050405020304" pitchFamily="18" charset="0"/>
              </a:rPr>
              <a:t>Unfortunately, a </a:t>
            </a:r>
            <a:r>
              <a:rPr lang="en-US" sz="1800" b="1" dirty="0">
                <a:solidFill>
                  <a:srgbClr val="000000"/>
                </a:solidFill>
                <a:highlight>
                  <a:srgbClr val="FFFF00"/>
                </a:highlight>
                <a:latin typeface="Times New Roman" panose="02020603050405020304" pitchFamily="18" charset="0"/>
              </a:rPr>
              <a:t>con </a:t>
            </a:r>
            <a:r>
              <a:rPr lang="en-US" sz="1800" dirty="0">
                <a:solidFill>
                  <a:srgbClr val="000000"/>
                </a:solidFill>
                <a:highlight>
                  <a:srgbClr val="FFFF00"/>
                </a:highlight>
                <a:latin typeface="Times New Roman" panose="02020603050405020304" pitchFamily="18" charset="0"/>
              </a:rPr>
              <a:t>is that </a:t>
            </a:r>
            <a:r>
              <a:rPr lang="en-US" sz="1800" dirty="0" err="1">
                <a:solidFill>
                  <a:srgbClr val="000000"/>
                </a:solidFill>
                <a:highlight>
                  <a:srgbClr val="FFFF00"/>
                </a:highlight>
                <a:latin typeface="Times New Roman" panose="02020603050405020304" pitchFamily="18" charset="0"/>
              </a:rPr>
              <a:t>ReLU</a:t>
            </a:r>
            <a:r>
              <a:rPr lang="en-US" sz="1800" dirty="0">
                <a:solidFill>
                  <a:srgbClr val="000000"/>
                </a:solidFill>
                <a:highlight>
                  <a:srgbClr val="FFFF00"/>
                </a:highlight>
                <a:latin typeface="Times New Roman" panose="02020603050405020304" pitchFamily="18" charset="0"/>
              </a:rPr>
              <a:t> can be </a:t>
            </a:r>
            <a:r>
              <a:rPr lang="en-US" sz="1800" b="1" dirty="0">
                <a:solidFill>
                  <a:srgbClr val="000000"/>
                </a:solidFill>
                <a:highlight>
                  <a:srgbClr val="FFFF00"/>
                </a:highlight>
                <a:latin typeface="Times New Roman" panose="02020603050405020304" pitchFamily="18" charset="0"/>
              </a:rPr>
              <a:t>fragile during training</a:t>
            </a:r>
            <a:r>
              <a:rPr lang="en-US" sz="1800" dirty="0">
                <a:solidFill>
                  <a:srgbClr val="000000"/>
                </a:solidFill>
                <a:highlight>
                  <a:srgbClr val="FFFF00"/>
                </a:highlight>
                <a:latin typeface="Times New Roman" panose="02020603050405020304" pitchFamily="18" charset="0"/>
              </a:rPr>
              <a:t>. </a:t>
            </a:r>
            <a:r>
              <a:rPr lang="en-US" sz="1800" b="1" dirty="0">
                <a:solidFill>
                  <a:srgbClr val="000000"/>
                </a:solidFill>
                <a:highlight>
                  <a:srgbClr val="FFFF00"/>
                </a:highlight>
                <a:latin typeface="Times New Roman" panose="02020603050405020304" pitchFamily="18" charset="0"/>
              </a:rPr>
              <a:t>A large gradient flowing through it can update it in such a way that the neuron will never get further updated</a:t>
            </a:r>
            <a:r>
              <a:rPr lang="en-US" sz="1800" dirty="0">
                <a:solidFill>
                  <a:srgbClr val="000000"/>
                </a:solidFill>
                <a:highlight>
                  <a:srgbClr val="FFFF00"/>
                </a:highlight>
                <a:latin typeface="Times New Roman" panose="02020603050405020304" pitchFamily="18" charset="0"/>
              </a:rPr>
              <a:t>. However, we can work with this by </a:t>
            </a:r>
            <a:r>
              <a:rPr lang="en-US" sz="1800" b="1" dirty="0">
                <a:solidFill>
                  <a:srgbClr val="000000"/>
                </a:solidFill>
                <a:highlight>
                  <a:srgbClr val="FFFF00"/>
                </a:highlight>
                <a:latin typeface="Times New Roman" panose="02020603050405020304" pitchFamily="18" charset="0"/>
              </a:rPr>
              <a:t>setting a proper learning rate.</a:t>
            </a:r>
          </a:p>
          <a:p>
            <a:pPr algn="l"/>
            <a:endParaRPr lang="en-US" sz="1800" dirty="0">
              <a:solidFill>
                <a:srgbClr val="000000"/>
              </a:solidFill>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BBBD521F-9F69-4CCE-B037-248541376F5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88</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 name="图片 9">
            <a:extLst>
              <a:ext uri="{FF2B5EF4-FFF2-40B4-BE49-F238E27FC236}">
                <a16:creationId xmlns:a16="http://schemas.microsoft.com/office/drawing/2014/main" id="{46399478-ACD2-407B-B628-792605121D63}"/>
              </a:ext>
            </a:extLst>
          </p:cNvPr>
          <p:cNvPicPr>
            <a:picLocks noChangeAspect="1"/>
          </p:cNvPicPr>
          <p:nvPr/>
        </p:nvPicPr>
        <p:blipFill>
          <a:blip r:embed="rId2"/>
          <a:stretch>
            <a:fillRect/>
          </a:stretch>
        </p:blipFill>
        <p:spPr>
          <a:xfrm>
            <a:off x="8356438" y="127000"/>
            <a:ext cx="3487115" cy="2108201"/>
          </a:xfrm>
          <a:prstGeom prst="rect">
            <a:avLst/>
          </a:prstGeom>
          <a:ln>
            <a:solidFill>
              <a:schemeClr val="tx1"/>
            </a:solidFill>
          </a:ln>
        </p:spPr>
      </p:pic>
    </p:spTree>
    <p:extLst>
      <p:ext uri="{BB962C8B-B14F-4D97-AF65-F5344CB8AC3E}">
        <p14:creationId xmlns:p14="http://schemas.microsoft.com/office/powerpoint/2010/main" val="24716881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922BC-DCE5-4FCE-852D-58AD662A9921}"/>
              </a:ext>
            </a:extLst>
          </p:cNvPr>
          <p:cNvSpPr>
            <a:spLocks noGrp="1"/>
          </p:cNvSpPr>
          <p:nvPr>
            <p:ph type="title"/>
          </p:nvPr>
        </p:nvSpPr>
        <p:spPr>
          <a:xfrm>
            <a:off x="895351" y="1143000"/>
            <a:ext cx="10566400" cy="1143000"/>
          </a:xfrm>
        </p:spPr>
        <p:txBody>
          <a:bodyPr/>
          <a:lstStyle/>
          <a:p>
            <a:pPr marL="342900" marR="0" lvl="0" indent="-342900" defTabSz="914400" rtl="0" eaLnBrk="0" fontAlgn="base" latinLnBrk="0" hangingPunct="0">
              <a:lnSpc>
                <a:spcPct val="100000"/>
              </a:lnSpc>
              <a:spcBef>
                <a:spcPct val="20000"/>
              </a:spcBef>
              <a:spcAft>
                <a:spcPct val="0"/>
              </a:spcAft>
              <a:tabLst/>
              <a:defRPr/>
            </a:pPr>
            <a:r>
              <a:rPr lang="en-US" dirty="0"/>
              <a:t>Pooling Layer</a:t>
            </a:r>
            <a:br>
              <a:rPr lang="en-US" dirty="0">
                <a:solidFill>
                  <a:srgbClr val="292929"/>
                </a:solidFill>
                <a:latin typeface="charter"/>
              </a:rPr>
            </a:br>
            <a:endParaRPr lang="en-IN" dirty="0">
              <a:solidFill>
                <a:srgbClr val="292929"/>
              </a:solidFill>
              <a:latin typeface="charter"/>
            </a:endParaRPr>
          </a:p>
        </p:txBody>
      </p:sp>
      <p:sp>
        <p:nvSpPr>
          <p:cNvPr id="3" name="Content Placeholder 2">
            <a:extLst>
              <a:ext uri="{FF2B5EF4-FFF2-40B4-BE49-F238E27FC236}">
                <a16:creationId xmlns:a16="http://schemas.microsoft.com/office/drawing/2014/main" id="{CEBEFF9C-3C28-44A7-812C-D0279B4BF77F}"/>
              </a:ext>
            </a:extLst>
          </p:cNvPr>
          <p:cNvSpPr>
            <a:spLocks noGrp="1"/>
          </p:cNvSpPr>
          <p:nvPr>
            <p:ph idx="1"/>
          </p:nvPr>
        </p:nvSpPr>
        <p:spPr>
          <a:xfrm>
            <a:off x="1117601" y="2362201"/>
            <a:ext cx="11074399" cy="4368799"/>
          </a:xfrm>
          <a:ln>
            <a:solidFill>
              <a:schemeClr val="tx1"/>
            </a:solidFill>
          </a:ln>
        </p:spPr>
        <p:txBody>
          <a:bodyPr/>
          <a:lstStyle/>
          <a:p>
            <a:pPr algn="l"/>
            <a:r>
              <a:rPr lang="en-US" sz="1800" dirty="0">
                <a:solidFill>
                  <a:srgbClr val="000000"/>
                </a:solidFill>
                <a:highlight>
                  <a:srgbClr val="FFFF00"/>
                </a:highlight>
                <a:latin typeface="Times New Roman" panose="02020603050405020304" pitchFamily="18" charset="0"/>
              </a:rPr>
              <a:t>Pooling layer is introduced in order </a:t>
            </a:r>
            <a:r>
              <a:rPr lang="en-US" sz="1800" b="1" dirty="0">
                <a:solidFill>
                  <a:srgbClr val="000000"/>
                </a:solidFill>
                <a:highlight>
                  <a:srgbClr val="FFFF00"/>
                </a:highlight>
                <a:latin typeface="Times New Roman" panose="02020603050405020304" pitchFamily="18" charset="0"/>
              </a:rPr>
              <a:t>to speed up the computation in CNN architecture</a:t>
            </a:r>
            <a:r>
              <a:rPr lang="en-US" sz="1800" dirty="0">
                <a:solidFill>
                  <a:srgbClr val="000000"/>
                </a:solidFill>
                <a:highlight>
                  <a:srgbClr val="FFFF00"/>
                </a:highlight>
                <a:latin typeface="Times New Roman" panose="02020603050405020304" pitchFamily="18" charset="0"/>
              </a:rPr>
              <a:t>.</a:t>
            </a:r>
          </a:p>
          <a:p>
            <a:pPr algn="l"/>
            <a:r>
              <a:rPr lang="en-US" sz="1800" dirty="0">
                <a:solidFill>
                  <a:srgbClr val="000000"/>
                </a:solidFill>
                <a:highlight>
                  <a:srgbClr val="FFFF00"/>
                </a:highlight>
                <a:latin typeface="Times New Roman" panose="02020603050405020304" pitchFamily="18" charset="0"/>
              </a:rPr>
              <a:t>It </a:t>
            </a:r>
            <a:r>
              <a:rPr lang="en-US" sz="1800" b="1" dirty="0">
                <a:solidFill>
                  <a:srgbClr val="000000"/>
                </a:solidFill>
                <a:highlight>
                  <a:srgbClr val="FFFF00"/>
                </a:highlight>
                <a:latin typeface="Times New Roman" panose="02020603050405020304" pitchFamily="18" charset="0"/>
              </a:rPr>
              <a:t>reduces dimensionality </a:t>
            </a:r>
            <a:r>
              <a:rPr lang="en-US" sz="1800" dirty="0">
                <a:solidFill>
                  <a:srgbClr val="000000"/>
                </a:solidFill>
                <a:highlight>
                  <a:srgbClr val="FFFF00"/>
                </a:highlight>
                <a:latin typeface="Times New Roman" panose="02020603050405020304" pitchFamily="18" charset="0"/>
              </a:rPr>
              <a:t>of feature map, </a:t>
            </a:r>
            <a:r>
              <a:rPr lang="en-US" sz="1800" b="1" dirty="0">
                <a:solidFill>
                  <a:srgbClr val="000000"/>
                </a:solidFill>
                <a:highlight>
                  <a:srgbClr val="FFFF00"/>
                </a:highlight>
                <a:latin typeface="Times New Roman" panose="02020603050405020304" pitchFamily="18" charset="0"/>
              </a:rPr>
              <a:t>computations</a:t>
            </a:r>
            <a:r>
              <a:rPr lang="en-US" sz="1800" dirty="0">
                <a:solidFill>
                  <a:srgbClr val="000000"/>
                </a:solidFill>
                <a:highlight>
                  <a:srgbClr val="FFFF00"/>
                </a:highlight>
                <a:latin typeface="Times New Roman" panose="02020603050405020304" pitchFamily="18" charset="0"/>
              </a:rPr>
              <a:t> and hence </a:t>
            </a:r>
            <a:r>
              <a:rPr lang="en-US" sz="1800" b="1" dirty="0">
                <a:solidFill>
                  <a:srgbClr val="000000"/>
                </a:solidFill>
                <a:highlight>
                  <a:srgbClr val="FFFF00"/>
                </a:highlight>
                <a:latin typeface="Times New Roman" panose="02020603050405020304" pitchFamily="18" charset="0"/>
              </a:rPr>
              <a:t>increases speed of network</a:t>
            </a:r>
            <a:r>
              <a:rPr lang="en-US" sz="1800" dirty="0">
                <a:solidFill>
                  <a:srgbClr val="000000"/>
                </a:solidFill>
                <a:highlight>
                  <a:srgbClr val="FFFF00"/>
                </a:highlight>
                <a:latin typeface="Times New Roman" panose="02020603050405020304" pitchFamily="18" charset="0"/>
              </a:rPr>
              <a:t>.</a:t>
            </a:r>
          </a:p>
          <a:p>
            <a:pPr algn="l"/>
            <a:r>
              <a:rPr lang="en-US" sz="1800" dirty="0">
                <a:solidFill>
                  <a:srgbClr val="000000"/>
                </a:solidFill>
                <a:highlight>
                  <a:srgbClr val="FFFF00"/>
                </a:highlight>
                <a:latin typeface="Times New Roman" panose="02020603050405020304" pitchFamily="18" charset="0"/>
              </a:rPr>
              <a:t>The pooling layer replaces the output of the network at certain locations by deriving a summary statistic of the nearby outputs. This helps in reducing the spatial size of the representation, which decreases the required amount of computation and weights. The </a:t>
            </a:r>
            <a:r>
              <a:rPr lang="en-US" sz="1800" b="1" dirty="0">
                <a:solidFill>
                  <a:srgbClr val="000000"/>
                </a:solidFill>
                <a:highlight>
                  <a:srgbClr val="FFFF00"/>
                </a:highlight>
                <a:latin typeface="Times New Roman" panose="02020603050405020304" pitchFamily="18" charset="0"/>
              </a:rPr>
              <a:t>pooling operation is processed on every slice of the representation individually</a:t>
            </a:r>
            <a:r>
              <a:rPr lang="en-US" sz="1800" dirty="0">
                <a:solidFill>
                  <a:srgbClr val="000000"/>
                </a:solidFill>
                <a:highlight>
                  <a:srgbClr val="FFFF00"/>
                </a:highlight>
                <a:latin typeface="Times New Roman" panose="02020603050405020304" pitchFamily="18" charset="0"/>
              </a:rPr>
              <a:t>.</a:t>
            </a:r>
          </a:p>
          <a:p>
            <a:pPr algn="l"/>
            <a:r>
              <a:rPr lang="en-US" sz="1800" dirty="0">
                <a:solidFill>
                  <a:srgbClr val="000000"/>
                </a:solidFill>
                <a:latin typeface="Times New Roman" panose="02020603050405020304" pitchFamily="18" charset="0"/>
              </a:rPr>
              <a:t>There are several pooling functions such as the average of the rectangular neighborhood, L2 norm of the rectangular neighborhood, and a weighted average based on the distance from the central pixel. However, the most popular process is max pooling, which reports the maximum output from the neighborhood.</a:t>
            </a:r>
          </a:p>
          <a:p>
            <a:r>
              <a:rPr lang="en-US" sz="1800" dirty="0">
                <a:solidFill>
                  <a:srgbClr val="000000"/>
                </a:solidFill>
                <a:latin typeface="Times New Roman" panose="02020603050405020304" pitchFamily="18" charset="0"/>
              </a:rPr>
              <a:t>If we have an activation map of size W x W x D, a pooling kernel of spatial size F, and stride S, then the size of output volume can be determined by the following formula:</a:t>
            </a:r>
          </a:p>
          <a:p>
            <a:r>
              <a:rPr lang="en-US" sz="1800" dirty="0">
                <a:solidFill>
                  <a:srgbClr val="000000"/>
                </a:solidFill>
                <a:latin typeface="Times New Roman" panose="02020603050405020304" pitchFamily="18" charset="0"/>
              </a:rPr>
              <a:t>This will yield an output volume of size </a:t>
            </a:r>
            <a:r>
              <a:rPr lang="en-US" sz="1800" dirty="0" err="1">
                <a:solidFill>
                  <a:srgbClr val="000000"/>
                </a:solidFill>
                <a:latin typeface="Times New Roman" panose="02020603050405020304" pitchFamily="18" charset="0"/>
              </a:rPr>
              <a:t>Wout</a:t>
            </a:r>
            <a:r>
              <a:rPr lang="en-US" sz="1800" dirty="0">
                <a:solidFill>
                  <a:srgbClr val="000000"/>
                </a:solidFill>
                <a:latin typeface="Times New Roman" panose="02020603050405020304" pitchFamily="18" charset="0"/>
              </a:rPr>
              <a:t> x </a:t>
            </a:r>
            <a:r>
              <a:rPr lang="en-US" sz="1800" dirty="0" err="1">
                <a:solidFill>
                  <a:srgbClr val="000000"/>
                </a:solidFill>
                <a:latin typeface="Times New Roman" panose="02020603050405020304" pitchFamily="18" charset="0"/>
              </a:rPr>
              <a:t>Wout</a:t>
            </a:r>
            <a:r>
              <a:rPr lang="en-US" sz="1800" dirty="0">
                <a:solidFill>
                  <a:srgbClr val="000000"/>
                </a:solidFill>
                <a:latin typeface="Times New Roman" panose="02020603050405020304" pitchFamily="18" charset="0"/>
              </a:rPr>
              <a:t> x D.</a:t>
            </a:r>
          </a:p>
          <a:p>
            <a:r>
              <a:rPr lang="en-US" sz="1800" dirty="0">
                <a:solidFill>
                  <a:srgbClr val="000000"/>
                </a:solidFill>
                <a:latin typeface="Times New Roman" panose="02020603050405020304" pitchFamily="18" charset="0"/>
              </a:rPr>
              <a:t>In all cases, pooling provides some translation invariance which means that an object would be recognizable regardless of where it appears on the frame.</a:t>
            </a:r>
          </a:p>
          <a:p>
            <a:endParaRPr lang="en-IN" sz="1800" dirty="0">
              <a:solidFill>
                <a:srgbClr val="000000"/>
              </a:solidFill>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4390245A-B0D9-4870-968A-6F08682019C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89</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10" name="Picture 2">
            <a:extLst>
              <a:ext uri="{FF2B5EF4-FFF2-40B4-BE49-F238E27FC236}">
                <a16:creationId xmlns:a16="http://schemas.microsoft.com/office/drawing/2014/main" id="{C6807ED6-FEF9-4541-A0CC-0E1B35F40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0969" y="4972158"/>
            <a:ext cx="1722646" cy="5945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4F84B5CD-756E-C450-9A46-2093D23BE00A}"/>
              </a:ext>
            </a:extLst>
          </p:cNvPr>
          <p:cNvSpPr txBox="1"/>
          <p:nvPr/>
        </p:nvSpPr>
        <p:spPr>
          <a:xfrm>
            <a:off x="6654800" y="735568"/>
            <a:ext cx="5397631" cy="369332"/>
          </a:xfrm>
          <a:prstGeom prst="rect">
            <a:avLst/>
          </a:prstGeom>
          <a:noFill/>
          <a:ln>
            <a:solidFill>
              <a:srgbClr val="000000"/>
            </a:solidFill>
          </a:ln>
        </p:spPr>
        <p:txBody>
          <a:bodyPr wrap="none" rtlCol="0">
            <a:spAutoFit/>
          </a:bodyPr>
          <a:lstStyle/>
          <a:p>
            <a:r>
              <a:rPr kumimoji="1" lang="en-IN" dirty="0">
                <a:solidFill>
                  <a:srgbClr val="000000"/>
                </a:solidFill>
                <a:latin typeface="Times New Roman" panose="02020603050405020304" pitchFamily="18" charset="0"/>
                <a:ea typeface="PMingLiU" panose="02020500000000000000" pitchFamily="18" charset="-120"/>
              </a:rPr>
              <a:t>Pooling makes the output invariant to small translations</a:t>
            </a:r>
            <a:r>
              <a:rPr lang="en-IN" dirty="0"/>
              <a:t>.</a:t>
            </a:r>
          </a:p>
        </p:txBody>
      </p:sp>
    </p:spTree>
    <p:extLst>
      <p:ext uri="{BB962C8B-B14F-4D97-AF65-F5344CB8AC3E}">
        <p14:creationId xmlns:p14="http://schemas.microsoft.com/office/powerpoint/2010/main" val="16098180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C5B6F-458D-45AC-874C-4B39A69A2108}"/>
              </a:ext>
            </a:extLst>
          </p:cNvPr>
          <p:cNvSpPr>
            <a:spLocks noGrp="1"/>
          </p:cNvSpPr>
          <p:nvPr>
            <p:ph type="title"/>
          </p:nvPr>
        </p:nvSpPr>
        <p:spPr/>
        <p:txBody>
          <a:bodyPr/>
          <a:lstStyle/>
          <a:p>
            <a:r>
              <a:rPr lang="en-IN" dirty="0"/>
              <a:t>Pooling (Down Sampling)</a:t>
            </a:r>
          </a:p>
        </p:txBody>
      </p:sp>
      <p:sp>
        <p:nvSpPr>
          <p:cNvPr id="4" name="Slide Number Placeholder 3">
            <a:extLst>
              <a:ext uri="{FF2B5EF4-FFF2-40B4-BE49-F238E27FC236}">
                <a16:creationId xmlns:a16="http://schemas.microsoft.com/office/drawing/2014/main" id="{AEB8FF6F-48A7-4FDA-A7BE-366FA9D6E69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90</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 name="图片 3">
            <a:extLst>
              <a:ext uri="{FF2B5EF4-FFF2-40B4-BE49-F238E27FC236}">
                <a16:creationId xmlns:a16="http://schemas.microsoft.com/office/drawing/2014/main" id="{EAA8F0E1-D124-48EC-8F2C-46A2B75766BE}"/>
              </a:ext>
            </a:extLst>
          </p:cNvPr>
          <p:cNvPicPr>
            <a:picLocks noChangeAspect="1"/>
          </p:cNvPicPr>
          <p:nvPr/>
        </p:nvPicPr>
        <p:blipFill>
          <a:blip r:embed="rId2"/>
          <a:stretch>
            <a:fillRect/>
          </a:stretch>
        </p:blipFill>
        <p:spPr>
          <a:xfrm>
            <a:off x="1152535" y="2228742"/>
            <a:ext cx="10293330" cy="4502258"/>
          </a:xfrm>
          <a:prstGeom prst="rect">
            <a:avLst/>
          </a:prstGeom>
          <a:solidFill>
            <a:srgbClr val="FFFF00"/>
          </a:solidFill>
          <a:ln>
            <a:solidFill>
              <a:srgbClr val="000000"/>
            </a:solidFill>
          </a:ln>
        </p:spPr>
      </p:pic>
    </p:spTree>
    <p:extLst>
      <p:ext uri="{BB962C8B-B14F-4D97-AF65-F5344CB8AC3E}">
        <p14:creationId xmlns:p14="http://schemas.microsoft.com/office/powerpoint/2010/main" val="40144392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5D0F-034D-4A40-9D0F-967122086335}"/>
              </a:ext>
            </a:extLst>
          </p:cNvPr>
          <p:cNvSpPr>
            <a:spLocks noGrp="1"/>
          </p:cNvSpPr>
          <p:nvPr>
            <p:ph type="title"/>
          </p:nvPr>
        </p:nvSpPr>
        <p:spPr/>
        <p:txBody>
          <a:bodyPr/>
          <a:lstStyle/>
          <a:p>
            <a:r>
              <a:rPr lang="en-IN" dirty="0"/>
              <a:t>Types of Pooling</a:t>
            </a:r>
          </a:p>
        </p:txBody>
      </p:sp>
      <p:sp>
        <p:nvSpPr>
          <p:cNvPr id="4" name="Slide Number Placeholder 3">
            <a:extLst>
              <a:ext uri="{FF2B5EF4-FFF2-40B4-BE49-F238E27FC236}">
                <a16:creationId xmlns:a16="http://schemas.microsoft.com/office/drawing/2014/main" id="{7779BB2A-3F8D-4781-BFCC-E0A1115903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91</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 name="bhXRN.png" descr="bhXRN.png">
            <a:extLst>
              <a:ext uri="{FF2B5EF4-FFF2-40B4-BE49-F238E27FC236}">
                <a16:creationId xmlns:a16="http://schemas.microsoft.com/office/drawing/2014/main" id="{21DFE4AF-68F6-483C-A80E-884FF395F122}"/>
              </a:ext>
            </a:extLst>
          </p:cNvPr>
          <p:cNvPicPr>
            <a:picLocks noChangeAspect="1"/>
          </p:cNvPicPr>
          <p:nvPr/>
        </p:nvPicPr>
        <p:blipFill rotWithShape="1">
          <a:blip r:embed="rId2"/>
          <a:srcRect l="-694" t="-2188" r="-6473" b="-938"/>
          <a:stretch/>
        </p:blipFill>
        <p:spPr>
          <a:xfrm>
            <a:off x="3272589" y="2658978"/>
            <a:ext cx="5955632" cy="3437022"/>
          </a:xfrm>
          <a:prstGeom prst="rect">
            <a:avLst/>
          </a:prstGeom>
          <a:ln w="12700">
            <a:solidFill>
              <a:schemeClr val="tx1"/>
            </a:solidFill>
            <a:miter lim="400000"/>
          </a:ln>
        </p:spPr>
      </p:pic>
    </p:spTree>
    <p:extLst>
      <p:ext uri="{BB962C8B-B14F-4D97-AF65-F5344CB8AC3E}">
        <p14:creationId xmlns:p14="http://schemas.microsoft.com/office/powerpoint/2010/main" val="39774217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A0C59-C4A4-42DB-A6AB-7B66842A71B6}"/>
              </a:ext>
            </a:extLst>
          </p:cNvPr>
          <p:cNvSpPr>
            <a:spLocks noGrp="1"/>
          </p:cNvSpPr>
          <p:nvPr>
            <p:ph type="title"/>
          </p:nvPr>
        </p:nvSpPr>
        <p:spPr>
          <a:xfrm>
            <a:off x="963084" y="1280862"/>
            <a:ext cx="10566400" cy="1143000"/>
          </a:xfrm>
        </p:spPr>
        <p:txBody>
          <a:bodyPr/>
          <a:lstStyle/>
          <a:p>
            <a:pPr marL="342900" indent="-342900">
              <a:lnSpc>
                <a:spcPct val="100000"/>
              </a:lnSpc>
              <a:spcBef>
                <a:spcPct val="20000"/>
              </a:spcBef>
              <a:defRPr/>
            </a:pPr>
            <a:r>
              <a:rPr lang="en-US" sz="4000" dirty="0"/>
              <a:t>Fully Connected Layer</a:t>
            </a:r>
            <a:br>
              <a:rPr lang="en-US" sz="4000" dirty="0"/>
            </a:br>
            <a:endParaRPr lang="en-IN" sz="4000" dirty="0"/>
          </a:p>
        </p:txBody>
      </p:sp>
      <p:sp>
        <p:nvSpPr>
          <p:cNvPr id="4" name="Slide Number Placeholder 3">
            <a:extLst>
              <a:ext uri="{FF2B5EF4-FFF2-40B4-BE49-F238E27FC236}">
                <a16:creationId xmlns:a16="http://schemas.microsoft.com/office/drawing/2014/main" id="{D59E1B94-1605-4896-9348-2437585AEDF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92</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5" name="Content Placeholder 4">
            <a:extLst>
              <a:ext uri="{FF2B5EF4-FFF2-40B4-BE49-F238E27FC236}">
                <a16:creationId xmlns:a16="http://schemas.microsoft.com/office/drawing/2014/main" id="{28AC43C7-52C4-4F56-BFB7-931382A0BB9B}"/>
              </a:ext>
            </a:extLst>
          </p:cNvPr>
          <p:cNvSpPr>
            <a:spLocks noGrp="1"/>
          </p:cNvSpPr>
          <p:nvPr>
            <p:ph idx="1"/>
          </p:nvPr>
        </p:nvSpPr>
        <p:spPr>
          <a:xfrm>
            <a:off x="1117602" y="2362201"/>
            <a:ext cx="10910276" cy="3724275"/>
          </a:xfrm>
          <a:ln>
            <a:solidFill>
              <a:srgbClr val="000000"/>
            </a:solidFill>
          </a:ln>
        </p:spPr>
        <p:txBody>
          <a:bodyPr/>
          <a:lstStyle/>
          <a:p>
            <a:pPr>
              <a:lnSpc>
                <a:spcPct val="200000"/>
              </a:lnSpc>
            </a:pPr>
            <a:r>
              <a:rPr lang="en-US" sz="1800" dirty="0">
                <a:solidFill>
                  <a:srgbClr val="000000"/>
                </a:solidFill>
                <a:highlight>
                  <a:srgbClr val="FFFF00"/>
                </a:highlight>
                <a:latin typeface="Times New Roman" panose="02020603050405020304" pitchFamily="18" charset="0"/>
              </a:rPr>
              <a:t>Neurons in this layer have </a:t>
            </a:r>
            <a:r>
              <a:rPr lang="en-US" sz="1800" b="1" dirty="0">
                <a:solidFill>
                  <a:srgbClr val="000000"/>
                </a:solidFill>
                <a:highlight>
                  <a:srgbClr val="FFFF00"/>
                </a:highlight>
                <a:latin typeface="Times New Roman" panose="02020603050405020304" pitchFamily="18" charset="0"/>
              </a:rPr>
              <a:t>full connectivity with all neurons in the preceding and succeeding layer</a:t>
            </a:r>
            <a:r>
              <a:rPr lang="en-US" sz="1800" dirty="0">
                <a:solidFill>
                  <a:srgbClr val="000000"/>
                </a:solidFill>
                <a:highlight>
                  <a:srgbClr val="FFFF00"/>
                </a:highlight>
                <a:latin typeface="Times New Roman" panose="02020603050405020304" pitchFamily="18" charset="0"/>
              </a:rPr>
              <a:t> as seen in regular FCNN. This is why it can be computed as usual by a matrix multiplication followed by a bias effect.</a:t>
            </a:r>
          </a:p>
          <a:p>
            <a:pPr>
              <a:lnSpc>
                <a:spcPct val="200000"/>
              </a:lnSpc>
            </a:pPr>
            <a:r>
              <a:rPr lang="en-US" sz="1800" dirty="0">
                <a:solidFill>
                  <a:srgbClr val="000000"/>
                </a:solidFill>
                <a:highlight>
                  <a:srgbClr val="FFFF00"/>
                </a:highlight>
                <a:latin typeface="Times New Roman" panose="02020603050405020304" pitchFamily="18" charset="0"/>
              </a:rPr>
              <a:t>The FC layer helps </a:t>
            </a:r>
            <a:r>
              <a:rPr lang="en-US" sz="1800" b="1" dirty="0">
                <a:solidFill>
                  <a:srgbClr val="000000"/>
                </a:solidFill>
                <a:highlight>
                  <a:srgbClr val="FFFF00"/>
                </a:highlight>
                <a:latin typeface="Times New Roman" panose="02020603050405020304" pitchFamily="18" charset="0"/>
              </a:rPr>
              <a:t>to map the representation between the input and the output</a:t>
            </a:r>
            <a:r>
              <a:rPr lang="en-US" sz="1800" dirty="0">
                <a:solidFill>
                  <a:srgbClr val="000000"/>
                </a:solidFill>
                <a:highlight>
                  <a:srgbClr val="FFFF00"/>
                </a:highlight>
                <a:latin typeface="Times New Roman" panose="02020603050405020304" pitchFamily="18" charset="0"/>
              </a:rPr>
              <a:t>.</a:t>
            </a:r>
          </a:p>
          <a:p>
            <a:pPr>
              <a:lnSpc>
                <a:spcPct val="200000"/>
              </a:lnSpc>
            </a:pPr>
            <a:r>
              <a:rPr lang="en-US" sz="1800" dirty="0">
                <a:solidFill>
                  <a:srgbClr val="000000"/>
                </a:solidFill>
                <a:highlight>
                  <a:srgbClr val="FFFF00"/>
                </a:highlight>
                <a:latin typeface="Times New Roman" panose="02020603050405020304" pitchFamily="18" charset="0"/>
              </a:rPr>
              <a:t>It </a:t>
            </a:r>
            <a:r>
              <a:rPr lang="en-US" sz="1800" b="1" dirty="0">
                <a:solidFill>
                  <a:srgbClr val="000000"/>
                </a:solidFill>
                <a:highlight>
                  <a:srgbClr val="FFFF00"/>
                </a:highlight>
                <a:latin typeface="Times New Roman" panose="02020603050405020304" pitchFamily="18" charset="0"/>
              </a:rPr>
              <a:t>helps for decision and classification purpose</a:t>
            </a:r>
            <a:r>
              <a:rPr lang="en-US" sz="1800" dirty="0">
                <a:solidFill>
                  <a:srgbClr val="000000"/>
                </a:solidFill>
                <a:highlight>
                  <a:srgbClr val="FFFF00"/>
                </a:highlight>
                <a:latin typeface="Times New Roman" panose="02020603050405020304" pitchFamily="18" charset="0"/>
              </a:rPr>
              <a:t>. The </a:t>
            </a:r>
            <a:r>
              <a:rPr lang="en-US" sz="1800" b="1" dirty="0">
                <a:solidFill>
                  <a:srgbClr val="000000"/>
                </a:solidFill>
                <a:highlight>
                  <a:srgbClr val="FFFF00"/>
                </a:highlight>
                <a:latin typeface="Times New Roman" panose="02020603050405020304" pitchFamily="18" charset="0"/>
              </a:rPr>
              <a:t>weights undergo training using back propagation algorithm</a:t>
            </a:r>
            <a:r>
              <a:rPr lang="en-US" sz="1800" dirty="0">
                <a:solidFill>
                  <a:srgbClr val="000000"/>
                </a:solidFill>
                <a:highlight>
                  <a:srgbClr val="FFFF00"/>
                </a:highlight>
                <a:latin typeface="Times New Roman" panose="02020603050405020304" pitchFamily="18" charset="0"/>
              </a:rPr>
              <a:t>. Its </a:t>
            </a:r>
            <a:r>
              <a:rPr lang="en-US" sz="1800" b="1" dirty="0">
                <a:solidFill>
                  <a:srgbClr val="000000"/>
                </a:solidFill>
                <a:highlight>
                  <a:srgbClr val="FFFF00"/>
                </a:highlight>
                <a:latin typeface="Times New Roman" panose="02020603050405020304" pitchFamily="18" charset="0"/>
              </a:rPr>
              <a:t>output will be result of classification.</a:t>
            </a:r>
          </a:p>
          <a:p>
            <a:endParaRPr lang="en-IN" dirty="0"/>
          </a:p>
        </p:txBody>
      </p:sp>
    </p:spTree>
    <p:extLst>
      <p:ext uri="{BB962C8B-B14F-4D97-AF65-F5344CB8AC3E}">
        <p14:creationId xmlns:p14="http://schemas.microsoft.com/office/powerpoint/2010/main" val="26684500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AF584-689C-99EF-8F6E-324D865DC38F}"/>
              </a:ext>
            </a:extLst>
          </p:cNvPr>
          <p:cNvSpPr>
            <a:spLocks noGrp="1"/>
          </p:cNvSpPr>
          <p:nvPr>
            <p:ph type="title"/>
          </p:nvPr>
        </p:nvSpPr>
        <p:spPr/>
        <p:txBody>
          <a:bodyPr/>
          <a:lstStyle/>
          <a:p>
            <a:r>
              <a:rPr lang="en-IN" dirty="0"/>
              <a:t>ANN Vs CNN</a:t>
            </a:r>
          </a:p>
        </p:txBody>
      </p:sp>
      <p:sp>
        <p:nvSpPr>
          <p:cNvPr id="4" name="Slide Number Placeholder 3">
            <a:extLst>
              <a:ext uri="{FF2B5EF4-FFF2-40B4-BE49-F238E27FC236}">
                <a16:creationId xmlns:a16="http://schemas.microsoft.com/office/drawing/2014/main" id="{40E5D0CE-D5AD-293F-FCD3-BDEF216619E4}"/>
              </a:ext>
            </a:extLst>
          </p:cNvPr>
          <p:cNvSpPr>
            <a:spLocks noGrp="1"/>
          </p:cNvSpPr>
          <p:nvPr>
            <p:ph type="sldNum" sz="quarter" idx="12"/>
          </p:nvPr>
        </p:nvSpPr>
        <p:spPr/>
        <p:txBody>
          <a:bodyPr/>
          <a:lstStyle/>
          <a:p>
            <a:pPr>
              <a:defRPr/>
            </a:pPr>
            <a:fld id="{9AD681D7-8A59-4380-9311-10B86FF921AA}" type="slidenum">
              <a:rPr lang="en-US" altLang="zh-TW" smtClean="0"/>
              <a:pPr>
                <a:defRPr/>
              </a:pPr>
              <a:t>93</a:t>
            </a:fld>
            <a:endParaRPr lang="en-US" altLang="zh-TW"/>
          </a:p>
        </p:txBody>
      </p:sp>
      <p:graphicFrame>
        <p:nvGraphicFramePr>
          <p:cNvPr id="5" name="Table 4">
            <a:extLst>
              <a:ext uri="{FF2B5EF4-FFF2-40B4-BE49-F238E27FC236}">
                <a16:creationId xmlns:a16="http://schemas.microsoft.com/office/drawing/2014/main" id="{A02536E3-DBF7-E0DC-028D-B62309192F74}"/>
              </a:ext>
            </a:extLst>
          </p:cNvPr>
          <p:cNvGraphicFramePr>
            <a:graphicFrameLocks noGrp="1"/>
          </p:cNvGraphicFramePr>
          <p:nvPr>
            <p:extLst>
              <p:ext uri="{D42A27DB-BD31-4B8C-83A1-F6EECF244321}">
                <p14:modId xmlns:p14="http://schemas.microsoft.com/office/powerpoint/2010/main" val="958236693"/>
              </p:ext>
            </p:extLst>
          </p:nvPr>
        </p:nvGraphicFramePr>
        <p:xfrm>
          <a:off x="1341395" y="2857385"/>
          <a:ext cx="10626809" cy="1667659"/>
        </p:xfrm>
        <a:graphic>
          <a:graphicData uri="http://schemas.openxmlformats.org/drawingml/2006/table">
            <a:tbl>
              <a:tblPr firstRow="1" bandRow="1">
                <a:tableStyleId>{5C22544A-7EE6-4342-B048-85BDC9FD1C3A}</a:tableStyleId>
              </a:tblPr>
              <a:tblGrid>
                <a:gridCol w="5267379">
                  <a:extLst>
                    <a:ext uri="{9D8B030D-6E8A-4147-A177-3AD203B41FA5}">
                      <a16:colId xmlns:a16="http://schemas.microsoft.com/office/drawing/2014/main" val="1635853464"/>
                    </a:ext>
                  </a:extLst>
                </a:gridCol>
                <a:gridCol w="5359430">
                  <a:extLst>
                    <a:ext uri="{9D8B030D-6E8A-4147-A177-3AD203B41FA5}">
                      <a16:colId xmlns:a16="http://schemas.microsoft.com/office/drawing/2014/main" val="736604332"/>
                    </a:ext>
                  </a:extLst>
                </a:gridCol>
              </a:tblGrid>
              <a:tr h="478939">
                <a:tc>
                  <a:txBody>
                    <a:bodyPr/>
                    <a:lstStyle/>
                    <a:p>
                      <a:r>
                        <a:rPr lang="en-IN" dirty="0"/>
                        <a:t>ANN</a:t>
                      </a:r>
                    </a:p>
                  </a:txBody>
                  <a:tcPr/>
                </a:tc>
                <a:tc>
                  <a:txBody>
                    <a:bodyPr/>
                    <a:lstStyle/>
                    <a:p>
                      <a:r>
                        <a:rPr kumimoji="1" lang="en-IN" sz="1600" b="0" i="0" u="none" strike="noStrike" kern="1200" cap="none" spc="0" normalizeH="0" baseline="0" noProof="0" dirty="0">
                          <a:ln>
                            <a:noFill/>
                          </a:ln>
                          <a:solidFill>
                            <a:srgbClr val="000000"/>
                          </a:solidFill>
                          <a:effectLst/>
                          <a:uLnTx/>
                          <a:uFillTx/>
                          <a:latin typeface="Times New Roman" panose="02020603050405020304" pitchFamily="18" charset="0"/>
                          <a:ea typeface="PMingLiU" panose="02020500000000000000" pitchFamily="18" charset="-120"/>
                          <a:cs typeface="+mn-cs"/>
                        </a:rPr>
                        <a:t>CNN.</a:t>
                      </a:r>
                      <a:endParaRPr lang="en-IN" dirty="0"/>
                    </a:p>
                  </a:txBody>
                  <a:tcPr/>
                </a:tc>
                <a:extLst>
                  <a:ext uri="{0D108BD9-81ED-4DB2-BD59-A6C34878D82A}">
                    <a16:rowId xmlns:a16="http://schemas.microsoft.com/office/drawing/2014/main" val="3229741539"/>
                  </a:ext>
                </a:extLst>
              </a:tr>
              <a:tr h="370840">
                <a:tc>
                  <a:txBody>
                    <a:bodyPr/>
                    <a:lstStyle/>
                    <a:p>
                      <a:r>
                        <a:rPr lang="en-IN" sz="1800" dirty="0">
                          <a:solidFill>
                            <a:srgbClr val="000000"/>
                          </a:solidFill>
                          <a:latin typeface="Times New Roman" panose="02020603050405020304" pitchFamily="18" charset="0"/>
                        </a:rPr>
                        <a:t>Every neuron output in the previous layer is connected to every neuron n the next layer.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noProof="0" dirty="0">
                          <a:solidFill>
                            <a:srgbClr val="000000"/>
                          </a:solidFill>
                          <a:latin typeface="Times New Roman" panose="02020603050405020304" pitchFamily="18" charset="0"/>
                          <a:ea typeface="+mn-ea"/>
                          <a:cs typeface="+mn-cs"/>
                        </a:rPr>
                        <a:t>As a result connectivity is dense and no of parameters are more.</a:t>
                      </a:r>
                      <a:endParaRPr lang="en-IN" dirty="0"/>
                    </a:p>
                  </a:txBody>
                  <a:tcPr/>
                </a:tc>
                <a:tc>
                  <a:txBody>
                    <a:bodyPr/>
                    <a:lstStyle/>
                    <a:p>
                      <a:r>
                        <a:rPr lang="en-IN" sz="1800" kern="1200" noProof="0" dirty="0">
                          <a:solidFill>
                            <a:srgbClr val="000000"/>
                          </a:solidFill>
                          <a:latin typeface="Times New Roman" panose="02020603050405020304" pitchFamily="18" charset="0"/>
                          <a:ea typeface="+mn-ea"/>
                          <a:cs typeface="+mn-cs"/>
                        </a:rPr>
                        <a:t>Every node in convolution layer receives input from limited no of nodes in the previous layer. </a:t>
                      </a:r>
                    </a:p>
                    <a:p>
                      <a:r>
                        <a:rPr lang="en-IN" sz="1800" kern="1200" noProof="0" dirty="0">
                          <a:solidFill>
                            <a:srgbClr val="000000"/>
                          </a:solidFill>
                          <a:latin typeface="Times New Roman" panose="02020603050405020304" pitchFamily="18" charset="0"/>
                          <a:ea typeface="+mn-ea"/>
                          <a:cs typeface="+mn-cs"/>
                        </a:rPr>
                        <a:t>As a result connectivity is sparse and no of parameters are less.</a:t>
                      </a:r>
                      <a:endParaRPr lang="en-IN" sz="1800" kern="1200" dirty="0">
                        <a:solidFill>
                          <a:srgbClr val="000000"/>
                        </a:solidFill>
                        <a:latin typeface="Times New Roman" panose="02020603050405020304" pitchFamily="18" charset="0"/>
                        <a:ea typeface="+mn-ea"/>
                        <a:cs typeface="+mn-cs"/>
                      </a:endParaRPr>
                    </a:p>
                  </a:txBody>
                  <a:tcPr/>
                </a:tc>
                <a:extLst>
                  <a:ext uri="{0D108BD9-81ED-4DB2-BD59-A6C34878D82A}">
                    <a16:rowId xmlns:a16="http://schemas.microsoft.com/office/drawing/2014/main" val="2435530054"/>
                  </a:ext>
                </a:extLst>
              </a:tr>
            </a:tbl>
          </a:graphicData>
        </a:graphic>
      </p:graphicFrame>
    </p:spTree>
    <p:extLst>
      <p:ext uri="{BB962C8B-B14F-4D97-AF65-F5344CB8AC3E}">
        <p14:creationId xmlns:p14="http://schemas.microsoft.com/office/powerpoint/2010/main" val="7471173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9F014-C612-503A-F6E8-DE4A0A980442}"/>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B0A68C8F-7DD5-A6E1-B5C3-25289CD6A9D9}"/>
              </a:ext>
            </a:extLst>
          </p:cNvPr>
          <p:cNvSpPr>
            <a:spLocks noGrp="1"/>
          </p:cNvSpPr>
          <p:nvPr>
            <p:ph type="sldNum" sz="quarter" idx="12"/>
          </p:nvPr>
        </p:nvSpPr>
        <p:spPr/>
        <p:txBody>
          <a:bodyPr/>
          <a:lstStyle/>
          <a:p>
            <a:pPr>
              <a:defRPr/>
            </a:pPr>
            <a:fld id="{9AD681D7-8A59-4380-9311-10B86FF921AA}" type="slidenum">
              <a:rPr lang="en-US" altLang="zh-TW" smtClean="0"/>
              <a:pPr>
                <a:defRPr/>
              </a:pPr>
              <a:t>94</a:t>
            </a:fld>
            <a:endParaRPr lang="en-US" altLang="zh-TW"/>
          </a:p>
        </p:txBody>
      </p:sp>
      <p:pic>
        <p:nvPicPr>
          <p:cNvPr id="19" name="Picture 18">
            <a:extLst>
              <a:ext uri="{FF2B5EF4-FFF2-40B4-BE49-F238E27FC236}">
                <a16:creationId xmlns:a16="http://schemas.microsoft.com/office/drawing/2014/main" id="{9938E4D6-137A-C592-0994-E78B8B837583}"/>
              </a:ext>
            </a:extLst>
          </p:cNvPr>
          <p:cNvPicPr>
            <a:picLocks noChangeAspect="1"/>
          </p:cNvPicPr>
          <p:nvPr/>
        </p:nvPicPr>
        <p:blipFill>
          <a:blip r:embed="rId2"/>
          <a:stretch>
            <a:fillRect/>
          </a:stretch>
        </p:blipFill>
        <p:spPr>
          <a:xfrm>
            <a:off x="112184" y="127000"/>
            <a:ext cx="11967631" cy="6604001"/>
          </a:xfrm>
          <a:prstGeom prst="rect">
            <a:avLst/>
          </a:prstGeom>
        </p:spPr>
      </p:pic>
    </p:spTree>
    <p:extLst>
      <p:ext uri="{BB962C8B-B14F-4D97-AF65-F5344CB8AC3E}">
        <p14:creationId xmlns:p14="http://schemas.microsoft.com/office/powerpoint/2010/main" val="23231184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70F04-B282-493C-BB47-BE3430F4B2BA}"/>
              </a:ext>
            </a:extLst>
          </p:cNvPr>
          <p:cNvSpPr>
            <a:spLocks noGrp="1"/>
          </p:cNvSpPr>
          <p:nvPr>
            <p:ph type="title"/>
          </p:nvPr>
        </p:nvSpPr>
        <p:spPr>
          <a:xfrm>
            <a:off x="895351" y="1074821"/>
            <a:ext cx="10566400" cy="1143000"/>
          </a:xfrm>
        </p:spPr>
        <p:txBody>
          <a:bodyPr/>
          <a:lstStyle/>
          <a:p>
            <a:pPr marL="342900" marR="0" lvl="0" indent="-342900" defTabSz="914400" rtl="0" eaLnBrk="0" fontAlgn="base" latinLnBrk="0" hangingPunct="0">
              <a:lnSpc>
                <a:spcPct val="100000"/>
              </a:lnSpc>
              <a:spcBef>
                <a:spcPct val="20000"/>
              </a:spcBef>
              <a:spcAft>
                <a:spcPct val="0"/>
              </a:spcAft>
              <a:tabLst/>
              <a:defRPr/>
            </a:pPr>
            <a:r>
              <a:rPr lang="en-US" sz="3200" dirty="0">
                <a:solidFill>
                  <a:srgbClr val="006666"/>
                </a:solidFill>
                <a:latin typeface="Arial"/>
              </a:rPr>
              <a:t>Convolutional Neural Networks for Self-Driving Cars</a:t>
            </a:r>
            <a:br>
              <a:rPr lang="en-US" sz="3200" dirty="0">
                <a:solidFill>
                  <a:srgbClr val="006666"/>
                </a:solidFill>
                <a:latin typeface="Arial"/>
              </a:rPr>
            </a:br>
            <a:endParaRPr lang="en-IN" sz="3200" dirty="0">
              <a:solidFill>
                <a:srgbClr val="006666"/>
              </a:solidFill>
              <a:latin typeface="Arial"/>
            </a:endParaRPr>
          </a:p>
        </p:txBody>
      </p:sp>
      <p:sp>
        <p:nvSpPr>
          <p:cNvPr id="3" name="Content Placeholder 2">
            <a:extLst>
              <a:ext uri="{FF2B5EF4-FFF2-40B4-BE49-F238E27FC236}">
                <a16:creationId xmlns:a16="http://schemas.microsoft.com/office/drawing/2014/main" id="{BB372D54-064A-406E-9A71-F6722FFB3F9C}"/>
              </a:ext>
            </a:extLst>
          </p:cNvPr>
          <p:cNvSpPr>
            <a:spLocks noGrp="1"/>
          </p:cNvSpPr>
          <p:nvPr>
            <p:ph idx="1"/>
          </p:nvPr>
        </p:nvSpPr>
        <p:spPr>
          <a:xfrm>
            <a:off x="998621" y="2346159"/>
            <a:ext cx="11193379" cy="4511842"/>
          </a:xfrm>
          <a:ln>
            <a:solidFill>
              <a:schemeClr val="tx1"/>
            </a:solidFill>
          </a:ln>
        </p:spPr>
        <p:txBody>
          <a:bodyPr/>
          <a:lstStyle/>
          <a:p>
            <a:pPr marL="0" indent="-180975" algn="l"/>
            <a:r>
              <a:rPr lang="en-US" sz="1600" dirty="0">
                <a:solidFill>
                  <a:srgbClr val="000000"/>
                </a:solidFill>
                <a:latin typeface="Times New Roman" panose="02020603050405020304" pitchFamily="18" charset="0"/>
              </a:rPr>
              <a:t>Several companies, such as </a:t>
            </a:r>
            <a:r>
              <a:rPr lang="en-US" sz="1600" b="1" dirty="0">
                <a:solidFill>
                  <a:srgbClr val="000000"/>
                </a:solidFill>
                <a:latin typeface="Times New Roman" panose="02020603050405020304" pitchFamily="18" charset="0"/>
              </a:rPr>
              <a:t>Tesla and Uber</a:t>
            </a:r>
            <a:r>
              <a:rPr lang="en-US" sz="1600" dirty="0">
                <a:solidFill>
                  <a:srgbClr val="000000"/>
                </a:solidFill>
                <a:latin typeface="Times New Roman" panose="02020603050405020304" pitchFamily="18" charset="0"/>
              </a:rPr>
              <a:t>, are using convolutional neural networks as the computer vision component of a self-driving car.</a:t>
            </a:r>
          </a:p>
          <a:p>
            <a:pPr marL="0" indent="-180975" algn="l"/>
            <a:r>
              <a:rPr lang="en-US" sz="1600" dirty="0">
                <a:solidFill>
                  <a:srgbClr val="000000"/>
                </a:solidFill>
                <a:latin typeface="Times New Roman" panose="02020603050405020304" pitchFamily="18" charset="0"/>
              </a:rPr>
              <a:t>A self-driving car’s computer vision system must be capable of </a:t>
            </a:r>
            <a:r>
              <a:rPr lang="en-US" sz="1600" b="1" dirty="0">
                <a:solidFill>
                  <a:srgbClr val="000000"/>
                </a:solidFill>
                <a:highlight>
                  <a:srgbClr val="FFFF00"/>
                </a:highlight>
                <a:latin typeface="Times New Roman" panose="02020603050405020304" pitchFamily="18" charset="0"/>
              </a:rPr>
              <a:t>localization, obstacle avoidance, and path planning.</a:t>
            </a:r>
            <a:r>
              <a:rPr lang="en-US" sz="1600" dirty="0">
                <a:solidFill>
                  <a:srgbClr val="000000"/>
                </a:solidFill>
                <a:highlight>
                  <a:srgbClr val="FFFF00"/>
                </a:highlight>
                <a:latin typeface="Times New Roman" panose="02020603050405020304" pitchFamily="18" charset="0"/>
              </a:rPr>
              <a:t> </a:t>
            </a:r>
            <a:br>
              <a:rPr lang="en-US" sz="1600" dirty="0">
                <a:solidFill>
                  <a:srgbClr val="000000"/>
                </a:solidFill>
                <a:highlight>
                  <a:srgbClr val="FFFF00"/>
                </a:highlight>
                <a:latin typeface="Times New Roman" panose="02020603050405020304" pitchFamily="18" charset="0"/>
              </a:rPr>
            </a:br>
            <a:endParaRPr lang="en-US" sz="1600" dirty="0">
              <a:solidFill>
                <a:srgbClr val="000000"/>
              </a:solidFill>
              <a:highlight>
                <a:srgbClr val="FFFF00"/>
              </a:highlight>
              <a:latin typeface="Times New Roman" panose="02020603050405020304" pitchFamily="18" charset="0"/>
            </a:endParaRPr>
          </a:p>
          <a:p>
            <a:pPr marL="0" indent="-180975" algn="l"/>
            <a:r>
              <a:rPr lang="en-US" sz="1600" b="1" dirty="0">
                <a:solidFill>
                  <a:srgbClr val="000000"/>
                </a:solidFill>
                <a:highlight>
                  <a:srgbClr val="FFFF00"/>
                </a:highlight>
                <a:latin typeface="Times New Roman" panose="02020603050405020304" pitchFamily="18" charset="0"/>
              </a:rPr>
              <a:t>Let us consider the case of pedestrian detection. A pedestrian is a kind of obstacle which moves. A convolutional neural network must be able to identify the location of the pedestrian and extrapolate their current motion in order to calculate if a collision is imminent.</a:t>
            </a:r>
            <a:br>
              <a:rPr lang="en-US" sz="1600" b="1" dirty="0">
                <a:solidFill>
                  <a:srgbClr val="000000"/>
                </a:solidFill>
                <a:highlight>
                  <a:srgbClr val="FFFF00"/>
                </a:highlight>
                <a:latin typeface="Times New Roman" panose="02020603050405020304" pitchFamily="18" charset="0"/>
              </a:rPr>
            </a:br>
            <a:endParaRPr lang="en-US" sz="1600" b="1" dirty="0">
              <a:solidFill>
                <a:srgbClr val="000000"/>
              </a:solidFill>
              <a:highlight>
                <a:srgbClr val="FFFF00"/>
              </a:highlight>
              <a:latin typeface="Times New Roman" panose="02020603050405020304" pitchFamily="18" charset="0"/>
            </a:endParaRPr>
          </a:p>
          <a:p>
            <a:pPr marL="0" indent="-180975" algn="l"/>
            <a:r>
              <a:rPr lang="en-US" sz="1600" dirty="0">
                <a:solidFill>
                  <a:srgbClr val="000000"/>
                </a:solidFill>
                <a:latin typeface="Times New Roman" panose="02020603050405020304" pitchFamily="18" charset="0"/>
              </a:rPr>
              <a:t>A convolutional neural network for </a:t>
            </a:r>
            <a:r>
              <a:rPr lang="en-US" sz="1600" b="1" dirty="0">
                <a:solidFill>
                  <a:srgbClr val="000000"/>
                </a:solidFill>
                <a:latin typeface="Times New Roman" panose="02020603050405020304" pitchFamily="18" charset="0"/>
              </a:rPr>
              <a:t>object detection </a:t>
            </a:r>
            <a:r>
              <a:rPr lang="en-US" sz="1600" dirty="0">
                <a:solidFill>
                  <a:srgbClr val="000000"/>
                </a:solidFill>
                <a:latin typeface="Times New Roman" panose="02020603050405020304" pitchFamily="18" charset="0"/>
              </a:rPr>
              <a:t>is slightly more complex than a classification model, in that it </a:t>
            </a:r>
            <a:r>
              <a:rPr lang="en-US" sz="1600" b="1" dirty="0">
                <a:solidFill>
                  <a:srgbClr val="000000"/>
                </a:solidFill>
                <a:latin typeface="Times New Roman" panose="02020603050405020304" pitchFamily="18" charset="0"/>
              </a:rPr>
              <a:t>must not only classify an object, but also return the four coordinates of its bounding box.</a:t>
            </a:r>
            <a:br>
              <a:rPr lang="en-US" sz="1600" dirty="0">
                <a:solidFill>
                  <a:srgbClr val="000000"/>
                </a:solidFill>
                <a:latin typeface="Times New Roman" panose="02020603050405020304" pitchFamily="18" charset="0"/>
              </a:rPr>
            </a:br>
            <a:endParaRPr lang="en-US" sz="1600" dirty="0">
              <a:solidFill>
                <a:srgbClr val="000000"/>
              </a:solidFill>
              <a:latin typeface="Times New Roman" panose="02020603050405020304" pitchFamily="18" charset="0"/>
            </a:endParaRPr>
          </a:p>
          <a:p>
            <a:pPr marL="0" indent="-180975" algn="l"/>
            <a:r>
              <a:rPr lang="en-US" sz="1600" dirty="0">
                <a:solidFill>
                  <a:srgbClr val="000000"/>
                </a:solidFill>
                <a:latin typeface="Times New Roman" panose="02020603050405020304" pitchFamily="18" charset="0"/>
              </a:rPr>
              <a:t>Furthermore, the convolutional neural network </a:t>
            </a:r>
            <a:r>
              <a:rPr lang="en-US" sz="1600" b="1" dirty="0">
                <a:solidFill>
                  <a:srgbClr val="000000"/>
                </a:solidFill>
                <a:latin typeface="Times New Roman" panose="02020603050405020304" pitchFamily="18" charset="0"/>
              </a:rPr>
              <a:t>designer must avoid unnecessary false alarms for irrelevant objects</a:t>
            </a:r>
            <a:r>
              <a:rPr lang="en-US" sz="1600" dirty="0">
                <a:solidFill>
                  <a:srgbClr val="000000"/>
                </a:solidFill>
                <a:latin typeface="Times New Roman" panose="02020603050405020304" pitchFamily="18" charset="0"/>
              </a:rPr>
              <a:t>, such as </a:t>
            </a:r>
            <a:r>
              <a:rPr lang="en-US" sz="1600" b="1" dirty="0">
                <a:solidFill>
                  <a:srgbClr val="000000"/>
                </a:solidFill>
                <a:latin typeface="Times New Roman" panose="02020603050405020304" pitchFamily="18" charset="0"/>
              </a:rPr>
              <a:t>litter, </a:t>
            </a:r>
            <a:r>
              <a:rPr lang="en-US" sz="1600" dirty="0">
                <a:solidFill>
                  <a:srgbClr val="000000"/>
                </a:solidFill>
                <a:latin typeface="Times New Roman" panose="02020603050405020304" pitchFamily="18" charset="0"/>
              </a:rPr>
              <a:t>but also take into account the high cost of mis categorizing a true pedestrian and causing a fatal accident.</a:t>
            </a:r>
            <a:br>
              <a:rPr lang="en-US" sz="1600" dirty="0">
                <a:solidFill>
                  <a:srgbClr val="000000"/>
                </a:solidFill>
                <a:latin typeface="Times New Roman" panose="02020603050405020304" pitchFamily="18" charset="0"/>
              </a:rPr>
            </a:br>
            <a:endParaRPr lang="en-US" sz="1600" dirty="0">
              <a:solidFill>
                <a:srgbClr val="000000"/>
              </a:solidFill>
              <a:latin typeface="Times New Roman" panose="02020603050405020304" pitchFamily="18" charset="0"/>
            </a:endParaRPr>
          </a:p>
          <a:p>
            <a:pPr marL="0" indent="-180975" algn="l"/>
            <a:r>
              <a:rPr lang="en-US" sz="1600" dirty="0">
                <a:solidFill>
                  <a:srgbClr val="000000"/>
                </a:solidFill>
                <a:latin typeface="Times New Roman" panose="02020603050405020304" pitchFamily="18" charset="0"/>
              </a:rPr>
              <a:t>A major challenge for this kind of use is collecting labeled training data. Google’s Captcha system is used for authenticating on websites, where a user is asked to categorize images as fire hydrants, traffic lights, cars, etc. This is actually a useful way to collect labeled training images for purposes such as self-driving cars and Google Street View.</a:t>
            </a:r>
          </a:p>
          <a:p>
            <a:endParaRPr lang="en-IN" dirty="0"/>
          </a:p>
        </p:txBody>
      </p:sp>
      <p:sp>
        <p:nvSpPr>
          <p:cNvPr id="4" name="Slide Number Placeholder 3">
            <a:extLst>
              <a:ext uri="{FF2B5EF4-FFF2-40B4-BE49-F238E27FC236}">
                <a16:creationId xmlns:a16="http://schemas.microsoft.com/office/drawing/2014/main" id="{2AB03690-9E9C-4A19-ADA1-1D2F21779C2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95</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Tree>
    <p:extLst>
      <p:ext uri="{BB962C8B-B14F-4D97-AF65-F5344CB8AC3E}">
        <p14:creationId xmlns:p14="http://schemas.microsoft.com/office/powerpoint/2010/main" val="765165546"/>
      </p:ext>
    </p:extLst>
  </p:cSld>
  <p:clrMapOvr>
    <a:masterClrMapping/>
  </p:clrMapOvr>
</p:sld>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36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36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panose="020B0604020202020204" pitchFamily="34" charset="0"/>
            <a:ea typeface="新細明體" panose="02020500000000000000"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panose="020B0604020202020204" pitchFamily="34" charset="0"/>
            <a:ea typeface="新細明體" panose="02020500000000000000" pitchFamily="18" charset="-12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56564</TotalTime>
  <Words>8136</Words>
  <Application>Microsoft Office PowerPoint</Application>
  <PresentationFormat>Widescreen</PresentationFormat>
  <Paragraphs>1007</Paragraphs>
  <Slides>95</Slides>
  <Notes>0</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95</vt:i4>
      </vt:variant>
    </vt:vector>
  </HeadingPairs>
  <TitlesOfParts>
    <vt:vector size="112" baseType="lpstr">
      <vt:lpstr>PMingLiU</vt:lpstr>
      <vt:lpstr>PMingLiU</vt:lpstr>
      <vt:lpstr>Arial</vt:lpstr>
      <vt:lpstr>Arial MT</vt:lpstr>
      <vt:lpstr>Calibri</vt:lpstr>
      <vt:lpstr>Cambria Math</vt:lpstr>
      <vt:lpstr>charter</vt:lpstr>
      <vt:lpstr>CMSY10</vt:lpstr>
      <vt:lpstr>Georgia</vt:lpstr>
      <vt:lpstr>proxima_novaregular</vt:lpstr>
      <vt:lpstr>SFRM1095</vt:lpstr>
      <vt:lpstr>Symbol</vt:lpstr>
      <vt:lpstr>Times New Roman</vt:lpstr>
      <vt:lpstr>Wingdings</vt:lpstr>
      <vt:lpstr>Soaring</vt:lpstr>
      <vt:lpstr>Capsules</vt:lpstr>
      <vt:lpstr>Office Theme</vt:lpstr>
      <vt:lpstr>Autoencoders and CNN (UNIT-3)</vt:lpstr>
      <vt:lpstr>Introduction</vt:lpstr>
      <vt:lpstr>ANN and DNN</vt:lpstr>
      <vt:lpstr>Difference between ANN and DNN</vt:lpstr>
      <vt:lpstr>PowerPoint Presentation</vt:lpstr>
      <vt:lpstr>Difference between ANN and DNN</vt:lpstr>
      <vt:lpstr>Types of DNN</vt:lpstr>
      <vt:lpstr>Other most popular DNN algorithms</vt:lpstr>
      <vt:lpstr>Applications of Deep Neural Network</vt:lpstr>
      <vt:lpstr>PowerPoint Presentation</vt:lpstr>
      <vt:lpstr>Machine learning and feature</vt:lpstr>
      <vt:lpstr>Representation of information</vt:lpstr>
      <vt:lpstr>Feature</vt:lpstr>
      <vt:lpstr>PowerPoint Presentation</vt:lpstr>
      <vt:lpstr>PowerPoint Presentation</vt:lpstr>
      <vt:lpstr>Simple neural network model</vt:lpstr>
      <vt:lpstr>Autoencoders</vt:lpstr>
      <vt:lpstr>Autoencoders</vt:lpstr>
      <vt:lpstr>Autoencoders</vt:lpstr>
      <vt:lpstr>Parameter sharing</vt:lpstr>
      <vt:lpstr>Pre-training</vt:lpstr>
      <vt:lpstr>Pre-training (fine tuning)</vt:lpstr>
      <vt:lpstr>Dimensionality reduction</vt:lpstr>
      <vt:lpstr>Dimensionality reduction</vt:lpstr>
      <vt:lpstr>PowerPoint Presentation</vt:lpstr>
      <vt:lpstr>Autoencoder (Network that encodes data on its own) </vt:lpstr>
      <vt:lpstr>Autoencoder</vt:lpstr>
      <vt:lpstr>Autoencoder</vt:lpstr>
      <vt:lpstr>Autoencoder</vt:lpstr>
      <vt:lpstr>Autoencoder</vt:lpstr>
      <vt:lpstr>Bottleneck Layer </vt:lpstr>
      <vt:lpstr>PCA Vs. Autoencoder</vt:lpstr>
      <vt:lpstr>Comparison with PCA</vt:lpstr>
      <vt:lpstr>PowerPoint Presentation</vt:lpstr>
      <vt:lpstr>Stacked/Deep Autoencoder</vt:lpstr>
      <vt:lpstr>Training of Stacked/Deep Autoencoder</vt:lpstr>
      <vt:lpstr>PowerPoint Presentation</vt:lpstr>
      <vt:lpstr> Autoencoders: </vt:lpstr>
      <vt:lpstr>Autoencoder types</vt:lpstr>
      <vt:lpstr>Probability of neural network</vt:lpstr>
      <vt:lpstr>Probability of autoencoder</vt:lpstr>
      <vt:lpstr>Probability of autoencoder</vt:lpstr>
      <vt:lpstr>Probability of autoencoder</vt:lpstr>
      <vt:lpstr>Learning of autoencoders</vt:lpstr>
      <vt:lpstr>Learning of autoencoders</vt:lpstr>
      <vt:lpstr>Undercomplete Autoencoders</vt:lpstr>
      <vt:lpstr>Undercomplete Autoencoders (Other way)</vt:lpstr>
      <vt:lpstr>PowerPoint Presentation</vt:lpstr>
      <vt:lpstr>Regularized Autoencoder</vt:lpstr>
      <vt:lpstr>Regularised Autoencoder</vt:lpstr>
      <vt:lpstr>Sparse Autoencoder (IIT Kharagpur.. Prof. Biswas)</vt:lpstr>
      <vt:lpstr>Sparse Autoencoder (IIT Kharagpur.. Prof. Biswas)</vt:lpstr>
      <vt:lpstr>Sparse Autoencoder (IIT Kharagpur.. Prof. Biswas)</vt:lpstr>
      <vt:lpstr>Sparse Autoencoder  (IIT Kharagpur.. Prof. Biswas)</vt:lpstr>
      <vt:lpstr>Sparse Autoencoder (Good Fellow)</vt:lpstr>
      <vt:lpstr>Sparse autoencoder (Good Fellow)</vt:lpstr>
      <vt:lpstr>Denoising autoencoder (IIT Kharagpur.. Prof. Biswas)</vt:lpstr>
      <vt:lpstr>Denoising autoencoder (IIT Kharagpur.. Prof. Biswas)</vt:lpstr>
      <vt:lpstr>Denoising autoencoder</vt:lpstr>
      <vt:lpstr>Denoising autoencoder</vt:lpstr>
      <vt:lpstr>Contractive Autoencoder</vt:lpstr>
      <vt:lpstr>Contractive Autoencoder</vt:lpstr>
      <vt:lpstr>Contractive Autoencoder</vt:lpstr>
      <vt:lpstr>Applications : In painting </vt:lpstr>
      <vt:lpstr>Applications : Abnormality detection </vt:lpstr>
      <vt:lpstr>Applications </vt:lpstr>
      <vt:lpstr> Applications </vt:lpstr>
      <vt:lpstr>PowerPoint Presentation</vt:lpstr>
      <vt:lpstr>Convolution In 2-D </vt:lpstr>
      <vt:lpstr>Convolution In 2-D </vt:lpstr>
      <vt:lpstr>PowerPoint Presentation</vt:lpstr>
      <vt:lpstr>Convolution In 2-D </vt:lpstr>
      <vt:lpstr>Convolutional Neural Network</vt:lpstr>
      <vt:lpstr>Convolutional Neural Network</vt:lpstr>
      <vt:lpstr>Neural Network</vt:lpstr>
      <vt:lpstr>Convolutional Neural Network</vt:lpstr>
      <vt:lpstr>Representation of image in CNN</vt:lpstr>
      <vt:lpstr>Architecture of CNN</vt:lpstr>
      <vt:lpstr>Convolution Layer </vt:lpstr>
      <vt:lpstr>Convolution operation</vt:lpstr>
      <vt:lpstr>PowerPoint Presentation</vt:lpstr>
      <vt:lpstr>PowerPoint Presentation</vt:lpstr>
      <vt:lpstr>PowerPoint Presentation</vt:lpstr>
      <vt:lpstr>Convolution example without zero padding</vt:lpstr>
      <vt:lpstr>Convolution example without zero padding</vt:lpstr>
      <vt:lpstr>Try with zero padding</vt:lpstr>
      <vt:lpstr>Motivation behind Convolution </vt:lpstr>
      <vt:lpstr>ReLU Layer </vt:lpstr>
      <vt:lpstr>Pooling Layer </vt:lpstr>
      <vt:lpstr>Pooling (Down Sampling)</vt:lpstr>
      <vt:lpstr>Types of Pooling</vt:lpstr>
      <vt:lpstr>Fully Connected Layer </vt:lpstr>
      <vt:lpstr>ANN Vs CNN</vt:lpstr>
      <vt:lpstr>PowerPoint Presentation</vt:lpstr>
      <vt:lpstr>Convolutional Neural Networks for Self-Driving Cars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dc:title>
  <dc:creator>Supriya Patil</dc:creator>
  <cp:lastModifiedBy>SUPRIYA</cp:lastModifiedBy>
  <cp:revision>51</cp:revision>
  <dcterms:created xsi:type="dcterms:W3CDTF">2021-08-21T04:01:17Z</dcterms:created>
  <dcterms:modified xsi:type="dcterms:W3CDTF">2025-10-27T11:10:59Z</dcterms:modified>
</cp:coreProperties>
</file>