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72" r:id="rId5"/>
  </p:sldMasterIdLst>
  <p:notesMasterIdLst>
    <p:notesMasterId r:id="rId68"/>
  </p:notesMasterIdLst>
  <p:sldIdLst>
    <p:sldId id="568" r:id="rId6"/>
    <p:sldId id="587" r:id="rId7"/>
    <p:sldId id="570" r:id="rId8"/>
    <p:sldId id="581" r:id="rId9"/>
    <p:sldId id="580" r:id="rId10"/>
    <p:sldId id="582" r:id="rId11"/>
    <p:sldId id="584" r:id="rId12"/>
    <p:sldId id="588" r:id="rId13"/>
    <p:sldId id="589" r:id="rId14"/>
    <p:sldId id="598" r:id="rId15"/>
    <p:sldId id="583" r:id="rId16"/>
    <p:sldId id="590" r:id="rId17"/>
    <p:sldId id="586" r:id="rId18"/>
    <p:sldId id="591" r:id="rId19"/>
    <p:sldId id="592" r:id="rId20"/>
    <p:sldId id="596" r:id="rId21"/>
    <p:sldId id="595" r:id="rId22"/>
    <p:sldId id="593" r:id="rId23"/>
    <p:sldId id="594" r:id="rId24"/>
    <p:sldId id="597" r:id="rId25"/>
    <p:sldId id="601" r:id="rId26"/>
    <p:sldId id="620" r:id="rId27"/>
    <p:sldId id="621" r:id="rId28"/>
    <p:sldId id="622" r:id="rId29"/>
    <p:sldId id="623" r:id="rId30"/>
    <p:sldId id="624" r:id="rId31"/>
    <p:sldId id="625" r:id="rId32"/>
    <p:sldId id="600" r:id="rId33"/>
    <p:sldId id="619" r:id="rId34"/>
    <p:sldId id="602" r:id="rId35"/>
    <p:sldId id="603" r:id="rId36"/>
    <p:sldId id="607" r:id="rId37"/>
    <p:sldId id="604" r:id="rId38"/>
    <p:sldId id="605" r:id="rId39"/>
    <p:sldId id="614" r:id="rId40"/>
    <p:sldId id="609" r:id="rId41"/>
    <p:sldId id="610" r:id="rId42"/>
    <p:sldId id="611" r:id="rId43"/>
    <p:sldId id="612" r:id="rId44"/>
    <p:sldId id="613" r:id="rId45"/>
    <p:sldId id="618" r:id="rId46"/>
    <p:sldId id="615" r:id="rId47"/>
    <p:sldId id="616" r:id="rId48"/>
    <p:sldId id="617" r:id="rId49"/>
    <p:sldId id="635" r:id="rId50"/>
    <p:sldId id="634" r:id="rId51"/>
    <p:sldId id="632" r:id="rId52"/>
    <p:sldId id="636" r:id="rId53"/>
    <p:sldId id="642" r:id="rId54"/>
    <p:sldId id="637" r:id="rId55"/>
    <p:sldId id="638" r:id="rId56"/>
    <p:sldId id="639" r:id="rId57"/>
    <p:sldId id="640" r:id="rId58"/>
    <p:sldId id="641" r:id="rId59"/>
    <p:sldId id="643" r:id="rId60"/>
    <p:sldId id="633" r:id="rId61"/>
    <p:sldId id="608" r:id="rId62"/>
    <p:sldId id="606" r:id="rId63"/>
    <p:sldId id="569" r:id="rId64"/>
    <p:sldId id="577" r:id="rId65"/>
    <p:sldId id="578" r:id="rId66"/>
    <p:sldId id="579" r:id="rId6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1D1D1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26" autoAdjust="0"/>
    <p:restoredTop sz="94660"/>
  </p:normalViewPr>
  <p:slideViewPr>
    <p:cSldViewPr snapToGrid="0">
      <p:cViewPr varScale="1">
        <p:scale>
          <a:sx n="68" d="100"/>
          <a:sy n="68" d="100"/>
        </p:scale>
        <p:origin x="534" y="60"/>
      </p:cViewPr>
      <p:guideLst/>
    </p:cSldViewPr>
  </p:slideViewPr>
  <p:notesTextViewPr>
    <p:cViewPr>
      <p:scale>
        <a:sx n="1" d="1"/>
        <a:sy n="1" d="1"/>
      </p:scale>
      <p:origin x="0" y="0"/>
    </p:cViewPr>
  </p:notesTextViewPr>
  <p:sorterViewPr>
    <p:cViewPr>
      <p:scale>
        <a:sx n="100" d="100"/>
        <a:sy n="100" d="100"/>
      </p:scale>
      <p:origin x="0" y="-1650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notesMaster" Target="notesMasters/notesMaster1.xml"/><Relationship Id="rId7" Type="http://schemas.openxmlformats.org/officeDocument/2006/relationships/slide" Target="slides/slide2.xml"/><Relationship Id="rId71"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slide" Target="slides/slide61.xml"/><Relationship Id="rId5" Type="http://schemas.openxmlformats.org/officeDocument/2006/relationships/slideMaster" Target="slideMasters/slideMaster2.xml"/><Relationship Id="rId61" Type="http://schemas.openxmlformats.org/officeDocument/2006/relationships/slide" Target="slides/slide56.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presProps" Target="presProps.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F99F78-C16F-4C9D-BF69-368C105D0732}" type="datetimeFigureOut">
              <a:rPr lang="en-IN" smtClean="0"/>
              <a:t>03-09-2025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8B555F-A393-4FA7-972B-3420C62B25F4}" type="slidenum">
              <a:rPr lang="en-IN" smtClean="0"/>
              <a:t>‹#›</a:t>
            </a:fld>
            <a:endParaRPr lang="en-IN"/>
          </a:p>
        </p:txBody>
      </p:sp>
    </p:spTree>
    <p:extLst>
      <p:ext uri="{BB962C8B-B14F-4D97-AF65-F5344CB8AC3E}">
        <p14:creationId xmlns:p14="http://schemas.microsoft.com/office/powerpoint/2010/main" val="6366749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gradFill rotWithShape="0">
          <a:gsLst>
            <a:gs pos="0">
              <a:schemeClr val="bg1"/>
            </a:gs>
            <a:gs pos="100000">
              <a:schemeClr val="bg2"/>
            </a:gs>
          </a:gsLst>
          <a:lin ang="0" scaled="1"/>
        </a:gradFill>
        <a:effectLst/>
      </p:bgPr>
    </p:bg>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85CC396E-8C87-4A6E-B12D-BDB6C37870D5}"/>
              </a:ext>
            </a:extLst>
          </p:cNvPr>
          <p:cNvGrpSpPr>
            <a:grpSpLocks/>
          </p:cNvGrpSpPr>
          <p:nvPr/>
        </p:nvGrpSpPr>
        <p:grpSpPr bwMode="auto">
          <a:xfrm>
            <a:off x="-1380067" y="1552576"/>
            <a:ext cx="13572067" cy="5305425"/>
            <a:chOff x="-652" y="978"/>
            <a:chExt cx="6412" cy="3342"/>
          </a:xfrm>
        </p:grpSpPr>
        <p:sp>
          <p:nvSpPr>
            <p:cNvPr id="5" name="Freeform 3">
              <a:extLst>
                <a:ext uri="{FF2B5EF4-FFF2-40B4-BE49-F238E27FC236}">
                  <a16:creationId xmlns:a16="http://schemas.microsoft.com/office/drawing/2014/main" id="{1D315168-AC4A-4268-BFA5-EDC48CCDC55B}"/>
                </a:ext>
              </a:extLst>
            </p:cNvPr>
            <p:cNvSpPr>
              <a:spLocks/>
            </p:cNvSpPr>
            <p:nvPr/>
          </p:nvSpPr>
          <p:spPr bwMode="auto">
            <a:xfrm>
              <a:off x="2061" y="1707"/>
              <a:ext cx="3699" cy="2613"/>
            </a:xfrm>
            <a:custGeom>
              <a:avLst/>
              <a:gdLst>
                <a:gd name="T0" fmla="*/ 1523 w 3699"/>
                <a:gd name="T1" fmla="*/ 2611 h 2613"/>
                <a:gd name="T2" fmla="*/ 3698 w 3699"/>
                <a:gd name="T3" fmla="*/ 2612 h 2613"/>
                <a:gd name="T4" fmla="*/ 3698 w 3699"/>
                <a:gd name="T5" fmla="*/ 2228 h 2613"/>
                <a:gd name="T6" fmla="*/ 0 w 3699"/>
                <a:gd name="T7" fmla="*/ 0 h 2613"/>
                <a:gd name="T8" fmla="*/ 160 w 3699"/>
                <a:gd name="T9" fmla="*/ 118 h 2613"/>
                <a:gd name="T10" fmla="*/ 292 w 3699"/>
                <a:gd name="T11" fmla="*/ 219 h 2613"/>
                <a:gd name="T12" fmla="*/ 441 w 3699"/>
                <a:gd name="T13" fmla="*/ 347 h 2613"/>
                <a:gd name="T14" fmla="*/ 585 w 3699"/>
                <a:gd name="T15" fmla="*/ 482 h 2613"/>
                <a:gd name="T16" fmla="*/ 796 w 3699"/>
                <a:gd name="T17" fmla="*/ 711 h 2613"/>
                <a:gd name="T18" fmla="*/ 983 w 3699"/>
                <a:gd name="T19" fmla="*/ 955 h 2613"/>
                <a:gd name="T20" fmla="*/ 1119 w 3699"/>
                <a:gd name="T21" fmla="*/ 1168 h 2613"/>
                <a:gd name="T22" fmla="*/ 1238 w 3699"/>
                <a:gd name="T23" fmla="*/ 1388 h 2613"/>
                <a:gd name="T24" fmla="*/ 1331 w 3699"/>
                <a:gd name="T25" fmla="*/ 1608 h 2613"/>
                <a:gd name="T26" fmla="*/ 1400 w 3699"/>
                <a:gd name="T27" fmla="*/ 1809 h 2613"/>
                <a:gd name="T28" fmla="*/ 1447 w 3699"/>
                <a:gd name="T29" fmla="*/ 1979 h 2613"/>
                <a:gd name="T30" fmla="*/ 1490 w 3699"/>
                <a:gd name="T31" fmla="*/ 2190 h 2613"/>
                <a:gd name="T32" fmla="*/ 1511 w 3699"/>
                <a:gd name="T33" fmla="*/ 2374 h 2613"/>
                <a:gd name="T34" fmla="*/ 1523 w 3699"/>
                <a:gd name="T35" fmla="*/ 2611 h 26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699" h="2613">
                  <a:moveTo>
                    <a:pt x="1523" y="2611"/>
                  </a:moveTo>
                  <a:lnTo>
                    <a:pt x="3698" y="2612"/>
                  </a:lnTo>
                  <a:lnTo>
                    <a:pt x="3698" y="2228"/>
                  </a:lnTo>
                  <a:lnTo>
                    <a:pt x="0" y="0"/>
                  </a:lnTo>
                  <a:lnTo>
                    <a:pt x="160" y="118"/>
                  </a:lnTo>
                  <a:lnTo>
                    <a:pt x="292" y="219"/>
                  </a:lnTo>
                  <a:lnTo>
                    <a:pt x="441" y="347"/>
                  </a:lnTo>
                  <a:lnTo>
                    <a:pt x="585" y="482"/>
                  </a:lnTo>
                  <a:lnTo>
                    <a:pt x="796" y="711"/>
                  </a:lnTo>
                  <a:lnTo>
                    <a:pt x="983" y="955"/>
                  </a:lnTo>
                  <a:lnTo>
                    <a:pt x="1119" y="1168"/>
                  </a:lnTo>
                  <a:lnTo>
                    <a:pt x="1238" y="1388"/>
                  </a:lnTo>
                  <a:lnTo>
                    <a:pt x="1331" y="1608"/>
                  </a:lnTo>
                  <a:lnTo>
                    <a:pt x="1400" y="1809"/>
                  </a:lnTo>
                  <a:lnTo>
                    <a:pt x="1447" y="1979"/>
                  </a:lnTo>
                  <a:lnTo>
                    <a:pt x="1490" y="2190"/>
                  </a:lnTo>
                  <a:lnTo>
                    <a:pt x="1511" y="2374"/>
                  </a:lnTo>
                  <a:lnTo>
                    <a:pt x="1523" y="2611"/>
                  </a:lnTo>
                </a:path>
              </a:pathLst>
            </a:custGeom>
            <a:gradFill rotWithShape="0">
              <a:gsLst>
                <a:gs pos="0">
                  <a:schemeClr val="accent2">
                    <a:gamma/>
                    <a:shade val="46275"/>
                    <a:invGamma/>
                  </a:schemeClr>
                </a:gs>
                <a:gs pos="100000">
                  <a:schemeClr val="accent2"/>
                </a:gs>
              </a:gsLst>
              <a:lin ang="0" scaled="1"/>
            </a:gradFill>
            <a:ln>
              <a:noFill/>
            </a:ln>
            <a:effectLst/>
          </p:spPr>
          <p:txBody>
            <a:bodyPr/>
            <a:lstStyle/>
            <a:p>
              <a:pPr eaLnBrk="1" hangingPunct="1">
                <a:defRPr/>
              </a:pPr>
              <a:endParaRPr lang="en-IN" sz="1800"/>
            </a:p>
          </p:txBody>
        </p:sp>
        <p:sp>
          <p:nvSpPr>
            <p:cNvPr id="6" name="Arc 4">
              <a:extLst>
                <a:ext uri="{FF2B5EF4-FFF2-40B4-BE49-F238E27FC236}">
                  <a16:creationId xmlns:a16="http://schemas.microsoft.com/office/drawing/2014/main" id="{70D4BF1D-19E8-43E9-B657-34A3C74DAB07}"/>
                </a:ext>
              </a:extLst>
            </p:cNvPr>
            <p:cNvSpPr>
              <a:spLocks/>
            </p:cNvSpPr>
            <p:nvPr/>
          </p:nvSpPr>
          <p:spPr bwMode="auto">
            <a:xfrm>
              <a:off x="-652" y="978"/>
              <a:ext cx="4237" cy="3342"/>
            </a:xfrm>
            <a:custGeom>
              <a:avLst/>
              <a:gdLst>
                <a:gd name="T0" fmla="*/ 780 w 21600"/>
                <a:gd name="T1" fmla="*/ 0 h 21231"/>
                <a:gd name="T2" fmla="*/ 4237 w 21600"/>
                <a:gd name="T3" fmla="*/ 3342 h 21231"/>
                <a:gd name="T4" fmla="*/ 0 w 21600"/>
                <a:gd name="T5" fmla="*/ 3342 h 21231"/>
                <a:gd name="T6" fmla="*/ 0 60000 65536"/>
                <a:gd name="T7" fmla="*/ 0 60000 65536"/>
                <a:gd name="T8" fmla="*/ 0 60000 65536"/>
              </a:gdLst>
              <a:ahLst/>
              <a:cxnLst>
                <a:cxn ang="T6">
                  <a:pos x="T0" y="T1"/>
                </a:cxn>
                <a:cxn ang="T7">
                  <a:pos x="T2" y="T3"/>
                </a:cxn>
                <a:cxn ang="T8">
                  <a:pos x="T4" y="T5"/>
                </a:cxn>
              </a:cxnLst>
              <a:rect l="0" t="0" r="r" b="b"/>
              <a:pathLst>
                <a:path w="21600" h="21231" fill="none" extrusionOk="0">
                  <a:moveTo>
                    <a:pt x="3976" y="0"/>
                  </a:moveTo>
                  <a:cubicBezTo>
                    <a:pt x="14194" y="1914"/>
                    <a:pt x="21600" y="10835"/>
                    <a:pt x="21600" y="21231"/>
                  </a:cubicBezTo>
                </a:path>
                <a:path w="21600" h="21231" stroke="0" extrusionOk="0">
                  <a:moveTo>
                    <a:pt x="3976" y="0"/>
                  </a:moveTo>
                  <a:cubicBezTo>
                    <a:pt x="14194" y="1914"/>
                    <a:pt x="21600" y="10835"/>
                    <a:pt x="21600" y="21231"/>
                  </a:cubicBezTo>
                  <a:lnTo>
                    <a:pt x="0" y="21231"/>
                  </a:lnTo>
                  <a:lnTo>
                    <a:pt x="3976" y="0"/>
                  </a:lnTo>
                  <a:close/>
                </a:path>
              </a:pathLst>
            </a:custGeom>
            <a:noFill/>
            <a:ln w="12700" cap="rnd">
              <a:solidFill>
                <a:schemeClr val="accent2"/>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grpSp>
      <p:sp>
        <p:nvSpPr>
          <p:cNvPr id="78853" name="Rectangle 5"/>
          <p:cNvSpPr>
            <a:spLocks noGrp="1" noChangeArrowheads="1"/>
          </p:cNvSpPr>
          <p:nvPr>
            <p:ph type="ctrTitle" sz="quarter"/>
          </p:nvPr>
        </p:nvSpPr>
        <p:spPr>
          <a:xfrm>
            <a:off x="1725084" y="762000"/>
            <a:ext cx="10363200" cy="1143000"/>
          </a:xfrm>
        </p:spPr>
        <p:txBody>
          <a:bodyPr anchor="b"/>
          <a:lstStyle>
            <a:lvl1pPr>
              <a:defRPr/>
            </a:lvl1pPr>
          </a:lstStyle>
          <a:p>
            <a:pPr lvl="0"/>
            <a:r>
              <a:rPr lang="en-US" altLang="en-US" noProof="0"/>
              <a:t>Click to edit Master title style</a:t>
            </a:r>
          </a:p>
        </p:txBody>
      </p:sp>
      <p:sp>
        <p:nvSpPr>
          <p:cNvPr id="78854" name="Rectangle 6"/>
          <p:cNvSpPr>
            <a:spLocks noGrp="1" noChangeArrowheads="1"/>
          </p:cNvSpPr>
          <p:nvPr>
            <p:ph type="subTitle" sz="quarter" idx="1"/>
          </p:nvPr>
        </p:nvSpPr>
        <p:spPr>
          <a:xfrm>
            <a:off x="914400" y="3429000"/>
            <a:ext cx="8534400" cy="1752600"/>
          </a:xfrm>
        </p:spPr>
        <p:txBody>
          <a:bodyPr lIns="92075" tIns="46038" rIns="92075" bIns="46038" anchor="ctr"/>
          <a:lstStyle>
            <a:lvl1pPr marL="0" indent="0" algn="ctr">
              <a:buFont typeface="Wingdings" panose="05000000000000000000" pitchFamily="2" charset="2"/>
              <a:buNone/>
              <a:defRPr/>
            </a:lvl1pPr>
          </a:lstStyle>
          <a:p>
            <a:pPr lvl="0"/>
            <a:r>
              <a:rPr lang="en-US" altLang="en-US" noProof="0"/>
              <a:t>Click to edit Master subtitle style</a:t>
            </a:r>
          </a:p>
        </p:txBody>
      </p:sp>
      <p:sp>
        <p:nvSpPr>
          <p:cNvPr id="7" name="Rectangle 7">
            <a:extLst>
              <a:ext uri="{FF2B5EF4-FFF2-40B4-BE49-F238E27FC236}">
                <a16:creationId xmlns:a16="http://schemas.microsoft.com/office/drawing/2014/main" id="{816A9C31-6891-460D-ADFA-768B8E83ABC2}"/>
              </a:ext>
            </a:extLst>
          </p:cNvPr>
          <p:cNvSpPr>
            <a:spLocks noGrp="1" noChangeArrowheads="1"/>
          </p:cNvSpPr>
          <p:nvPr>
            <p:ph type="dt" sz="quarter" idx="10"/>
          </p:nvPr>
        </p:nvSpPr>
        <p:spPr/>
        <p:txBody>
          <a:bodyPr/>
          <a:lstStyle>
            <a:lvl1pPr>
              <a:defRPr/>
            </a:lvl1pPr>
          </a:lstStyle>
          <a:p>
            <a:pPr>
              <a:defRPr/>
            </a:pPr>
            <a:endParaRPr lang="en-US" altLang="en-US"/>
          </a:p>
        </p:txBody>
      </p:sp>
      <p:sp>
        <p:nvSpPr>
          <p:cNvPr id="8" name="Rectangle 8">
            <a:extLst>
              <a:ext uri="{FF2B5EF4-FFF2-40B4-BE49-F238E27FC236}">
                <a16:creationId xmlns:a16="http://schemas.microsoft.com/office/drawing/2014/main" id="{BAD98A39-BE1F-4137-A0C5-B833764F7E15}"/>
              </a:ext>
            </a:extLst>
          </p:cNvPr>
          <p:cNvSpPr>
            <a:spLocks noGrp="1" noChangeArrowheads="1"/>
          </p:cNvSpPr>
          <p:nvPr>
            <p:ph type="ftr" sz="quarter" idx="11"/>
          </p:nvPr>
        </p:nvSpPr>
        <p:spPr/>
        <p:txBody>
          <a:bodyPr/>
          <a:lstStyle>
            <a:lvl1pPr>
              <a:defRPr/>
            </a:lvl1pPr>
          </a:lstStyle>
          <a:p>
            <a:pPr>
              <a:defRPr/>
            </a:pPr>
            <a:r>
              <a:rPr lang="en-US" altLang="en-US"/>
              <a:t>History of ANN</a:t>
            </a:r>
          </a:p>
        </p:txBody>
      </p:sp>
      <p:sp>
        <p:nvSpPr>
          <p:cNvPr id="9" name="Rectangle 9">
            <a:extLst>
              <a:ext uri="{FF2B5EF4-FFF2-40B4-BE49-F238E27FC236}">
                <a16:creationId xmlns:a16="http://schemas.microsoft.com/office/drawing/2014/main" id="{87941331-4D8A-42E9-BC1B-61F183DED67D}"/>
              </a:ext>
            </a:extLst>
          </p:cNvPr>
          <p:cNvSpPr>
            <a:spLocks noGrp="1" noChangeArrowheads="1"/>
          </p:cNvSpPr>
          <p:nvPr>
            <p:ph type="sldNum" sz="quarter" idx="12"/>
          </p:nvPr>
        </p:nvSpPr>
        <p:spPr/>
        <p:txBody>
          <a:bodyPr/>
          <a:lstStyle>
            <a:lvl1pPr>
              <a:defRPr smtClean="0"/>
            </a:lvl1pPr>
          </a:lstStyle>
          <a:p>
            <a:pPr>
              <a:defRPr/>
            </a:pPr>
            <a:fld id="{D032CE62-142D-476C-ACA7-B9CB9615FDD6}" type="slidenum">
              <a:rPr lang="en-US" altLang="en-US"/>
              <a:pPr>
                <a:defRPr/>
              </a:pPr>
              <a:t>‹#›</a:t>
            </a:fld>
            <a:endParaRPr lang="en-US" altLang="en-US"/>
          </a:p>
        </p:txBody>
      </p:sp>
    </p:spTree>
    <p:extLst>
      <p:ext uri="{BB962C8B-B14F-4D97-AF65-F5344CB8AC3E}">
        <p14:creationId xmlns:p14="http://schemas.microsoft.com/office/powerpoint/2010/main" val="23635631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6">
            <a:extLst>
              <a:ext uri="{FF2B5EF4-FFF2-40B4-BE49-F238E27FC236}">
                <a16:creationId xmlns:a16="http://schemas.microsoft.com/office/drawing/2014/main" id="{B7002B01-0C5D-410D-B29F-90C66A477D6D}"/>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7">
            <a:extLst>
              <a:ext uri="{FF2B5EF4-FFF2-40B4-BE49-F238E27FC236}">
                <a16:creationId xmlns:a16="http://schemas.microsoft.com/office/drawing/2014/main" id="{3A90453F-A9D5-4CFC-8F9E-953BA3AC6535}"/>
              </a:ext>
            </a:extLst>
          </p:cNvPr>
          <p:cNvSpPr>
            <a:spLocks noGrp="1" noChangeArrowheads="1"/>
          </p:cNvSpPr>
          <p:nvPr>
            <p:ph type="ftr" sz="quarter" idx="11"/>
          </p:nvPr>
        </p:nvSpPr>
        <p:spPr>
          <a:ln/>
        </p:spPr>
        <p:txBody>
          <a:bodyPr/>
          <a:lstStyle>
            <a:lvl1pPr>
              <a:defRPr/>
            </a:lvl1pPr>
          </a:lstStyle>
          <a:p>
            <a:pPr>
              <a:defRPr/>
            </a:pPr>
            <a:r>
              <a:rPr lang="en-US" altLang="en-US"/>
              <a:t>History of ANN</a:t>
            </a:r>
          </a:p>
        </p:txBody>
      </p:sp>
      <p:sp>
        <p:nvSpPr>
          <p:cNvPr id="6" name="Rectangle 8">
            <a:extLst>
              <a:ext uri="{FF2B5EF4-FFF2-40B4-BE49-F238E27FC236}">
                <a16:creationId xmlns:a16="http://schemas.microsoft.com/office/drawing/2014/main" id="{1A73A22D-B2EC-4CFF-847C-E9F6554574B1}"/>
              </a:ext>
            </a:extLst>
          </p:cNvPr>
          <p:cNvSpPr>
            <a:spLocks noGrp="1" noChangeArrowheads="1"/>
          </p:cNvSpPr>
          <p:nvPr>
            <p:ph type="sldNum" sz="quarter" idx="12"/>
          </p:nvPr>
        </p:nvSpPr>
        <p:spPr>
          <a:ln/>
        </p:spPr>
        <p:txBody>
          <a:bodyPr/>
          <a:lstStyle>
            <a:lvl1pPr>
              <a:defRPr/>
            </a:lvl1pPr>
          </a:lstStyle>
          <a:p>
            <a:pPr>
              <a:defRPr/>
            </a:pPr>
            <a:fld id="{96672317-DE08-4627-83BB-6064FEA462A5}" type="slidenum">
              <a:rPr lang="en-US" altLang="en-US"/>
              <a:pPr>
                <a:defRPr/>
              </a:pPr>
              <a:t>‹#›</a:t>
            </a:fld>
            <a:endParaRPr lang="en-US" altLang="en-US"/>
          </a:p>
        </p:txBody>
      </p:sp>
    </p:spTree>
    <p:extLst>
      <p:ext uri="{BB962C8B-B14F-4D97-AF65-F5344CB8AC3E}">
        <p14:creationId xmlns:p14="http://schemas.microsoft.com/office/powerpoint/2010/main" val="14465937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6">
            <a:extLst>
              <a:ext uri="{FF2B5EF4-FFF2-40B4-BE49-F238E27FC236}">
                <a16:creationId xmlns:a16="http://schemas.microsoft.com/office/drawing/2014/main" id="{41D009B8-D77D-4687-8057-A409AEEC4908}"/>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7">
            <a:extLst>
              <a:ext uri="{FF2B5EF4-FFF2-40B4-BE49-F238E27FC236}">
                <a16:creationId xmlns:a16="http://schemas.microsoft.com/office/drawing/2014/main" id="{501D131A-0BB6-413B-8B5D-F3E703A162C7}"/>
              </a:ext>
            </a:extLst>
          </p:cNvPr>
          <p:cNvSpPr>
            <a:spLocks noGrp="1" noChangeArrowheads="1"/>
          </p:cNvSpPr>
          <p:nvPr>
            <p:ph type="ftr" sz="quarter" idx="11"/>
          </p:nvPr>
        </p:nvSpPr>
        <p:spPr>
          <a:ln/>
        </p:spPr>
        <p:txBody>
          <a:bodyPr/>
          <a:lstStyle>
            <a:lvl1pPr>
              <a:defRPr/>
            </a:lvl1pPr>
          </a:lstStyle>
          <a:p>
            <a:pPr>
              <a:defRPr/>
            </a:pPr>
            <a:r>
              <a:rPr lang="en-US" altLang="en-US"/>
              <a:t>History of ANN</a:t>
            </a:r>
          </a:p>
        </p:txBody>
      </p:sp>
      <p:sp>
        <p:nvSpPr>
          <p:cNvPr id="6" name="Rectangle 8">
            <a:extLst>
              <a:ext uri="{FF2B5EF4-FFF2-40B4-BE49-F238E27FC236}">
                <a16:creationId xmlns:a16="http://schemas.microsoft.com/office/drawing/2014/main" id="{4253C493-2272-48A2-9B8D-3A1DF5722245}"/>
              </a:ext>
            </a:extLst>
          </p:cNvPr>
          <p:cNvSpPr>
            <a:spLocks noGrp="1" noChangeArrowheads="1"/>
          </p:cNvSpPr>
          <p:nvPr>
            <p:ph type="sldNum" sz="quarter" idx="12"/>
          </p:nvPr>
        </p:nvSpPr>
        <p:spPr>
          <a:ln/>
        </p:spPr>
        <p:txBody>
          <a:bodyPr/>
          <a:lstStyle>
            <a:lvl1pPr>
              <a:defRPr/>
            </a:lvl1pPr>
          </a:lstStyle>
          <a:p>
            <a:pPr>
              <a:defRPr/>
            </a:pPr>
            <a:fld id="{F7317AF7-E335-4ABD-ACD7-30D724C97104}" type="slidenum">
              <a:rPr lang="en-US" altLang="en-US"/>
              <a:pPr>
                <a:defRPr/>
              </a:pPr>
              <a:t>‹#›</a:t>
            </a:fld>
            <a:endParaRPr lang="en-US" altLang="en-US"/>
          </a:p>
        </p:txBody>
      </p:sp>
    </p:spTree>
    <p:extLst>
      <p:ext uri="{BB962C8B-B14F-4D97-AF65-F5344CB8AC3E}">
        <p14:creationId xmlns:p14="http://schemas.microsoft.com/office/powerpoint/2010/main" val="12092231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914400" y="19812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97600" y="19812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Rectangle 6">
            <a:extLst>
              <a:ext uri="{FF2B5EF4-FFF2-40B4-BE49-F238E27FC236}">
                <a16:creationId xmlns:a16="http://schemas.microsoft.com/office/drawing/2014/main" id="{C96BFB6B-CCF0-4E18-B4DB-795F2B49320E}"/>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7">
            <a:extLst>
              <a:ext uri="{FF2B5EF4-FFF2-40B4-BE49-F238E27FC236}">
                <a16:creationId xmlns:a16="http://schemas.microsoft.com/office/drawing/2014/main" id="{2E3BEC9C-65F8-4086-BFF9-5AB977724A25}"/>
              </a:ext>
            </a:extLst>
          </p:cNvPr>
          <p:cNvSpPr>
            <a:spLocks noGrp="1" noChangeArrowheads="1"/>
          </p:cNvSpPr>
          <p:nvPr>
            <p:ph type="ftr" sz="quarter" idx="11"/>
          </p:nvPr>
        </p:nvSpPr>
        <p:spPr>
          <a:ln/>
        </p:spPr>
        <p:txBody>
          <a:bodyPr/>
          <a:lstStyle>
            <a:lvl1pPr>
              <a:defRPr/>
            </a:lvl1pPr>
          </a:lstStyle>
          <a:p>
            <a:pPr>
              <a:defRPr/>
            </a:pPr>
            <a:r>
              <a:rPr lang="en-US" altLang="en-US"/>
              <a:t>History of ANN</a:t>
            </a:r>
          </a:p>
        </p:txBody>
      </p:sp>
      <p:sp>
        <p:nvSpPr>
          <p:cNvPr id="7" name="Rectangle 8">
            <a:extLst>
              <a:ext uri="{FF2B5EF4-FFF2-40B4-BE49-F238E27FC236}">
                <a16:creationId xmlns:a16="http://schemas.microsoft.com/office/drawing/2014/main" id="{51EF3053-C901-4E07-BF70-69B227485CDD}"/>
              </a:ext>
            </a:extLst>
          </p:cNvPr>
          <p:cNvSpPr>
            <a:spLocks noGrp="1" noChangeArrowheads="1"/>
          </p:cNvSpPr>
          <p:nvPr>
            <p:ph type="sldNum" sz="quarter" idx="12"/>
          </p:nvPr>
        </p:nvSpPr>
        <p:spPr>
          <a:ln/>
        </p:spPr>
        <p:txBody>
          <a:bodyPr/>
          <a:lstStyle>
            <a:lvl1pPr>
              <a:defRPr/>
            </a:lvl1pPr>
          </a:lstStyle>
          <a:p>
            <a:pPr>
              <a:defRPr/>
            </a:pPr>
            <a:fld id="{FCD75397-4E07-4E92-9024-F55DED0FF5D3}" type="slidenum">
              <a:rPr lang="en-US" altLang="en-US"/>
              <a:pPr>
                <a:defRPr/>
              </a:pPr>
              <a:t>‹#›</a:t>
            </a:fld>
            <a:endParaRPr lang="en-US" altLang="en-US"/>
          </a:p>
        </p:txBody>
      </p:sp>
    </p:spTree>
    <p:extLst>
      <p:ext uri="{BB962C8B-B14F-4D97-AF65-F5344CB8AC3E}">
        <p14:creationId xmlns:p14="http://schemas.microsoft.com/office/powerpoint/2010/main" val="28685391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8" y="2505075"/>
            <a:ext cx="51583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Rectangle 6">
            <a:extLst>
              <a:ext uri="{FF2B5EF4-FFF2-40B4-BE49-F238E27FC236}">
                <a16:creationId xmlns:a16="http://schemas.microsoft.com/office/drawing/2014/main" id="{77715020-1864-4135-A92E-94E55868A7F8}"/>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7">
            <a:extLst>
              <a:ext uri="{FF2B5EF4-FFF2-40B4-BE49-F238E27FC236}">
                <a16:creationId xmlns:a16="http://schemas.microsoft.com/office/drawing/2014/main" id="{8BA65C2B-3E88-42A5-A4AA-B093A4C1C75C}"/>
              </a:ext>
            </a:extLst>
          </p:cNvPr>
          <p:cNvSpPr>
            <a:spLocks noGrp="1" noChangeArrowheads="1"/>
          </p:cNvSpPr>
          <p:nvPr>
            <p:ph type="ftr" sz="quarter" idx="11"/>
          </p:nvPr>
        </p:nvSpPr>
        <p:spPr>
          <a:ln/>
        </p:spPr>
        <p:txBody>
          <a:bodyPr/>
          <a:lstStyle>
            <a:lvl1pPr>
              <a:defRPr/>
            </a:lvl1pPr>
          </a:lstStyle>
          <a:p>
            <a:pPr>
              <a:defRPr/>
            </a:pPr>
            <a:r>
              <a:rPr lang="en-US" altLang="en-US"/>
              <a:t>History of ANN</a:t>
            </a:r>
          </a:p>
        </p:txBody>
      </p:sp>
      <p:sp>
        <p:nvSpPr>
          <p:cNvPr id="9" name="Rectangle 8">
            <a:extLst>
              <a:ext uri="{FF2B5EF4-FFF2-40B4-BE49-F238E27FC236}">
                <a16:creationId xmlns:a16="http://schemas.microsoft.com/office/drawing/2014/main" id="{51C555D9-D1F0-4081-8F5F-E8BC3C0DA6C9}"/>
              </a:ext>
            </a:extLst>
          </p:cNvPr>
          <p:cNvSpPr>
            <a:spLocks noGrp="1" noChangeArrowheads="1"/>
          </p:cNvSpPr>
          <p:nvPr>
            <p:ph type="sldNum" sz="quarter" idx="12"/>
          </p:nvPr>
        </p:nvSpPr>
        <p:spPr>
          <a:ln/>
        </p:spPr>
        <p:txBody>
          <a:bodyPr/>
          <a:lstStyle>
            <a:lvl1pPr>
              <a:defRPr/>
            </a:lvl1pPr>
          </a:lstStyle>
          <a:p>
            <a:pPr>
              <a:defRPr/>
            </a:pPr>
            <a:fld id="{9A64C390-4508-4FE7-8CAB-6CD963CAFD8D}" type="slidenum">
              <a:rPr lang="en-US" altLang="en-US"/>
              <a:pPr>
                <a:defRPr/>
              </a:pPr>
              <a:t>‹#›</a:t>
            </a:fld>
            <a:endParaRPr lang="en-US" altLang="en-US"/>
          </a:p>
        </p:txBody>
      </p:sp>
    </p:spTree>
    <p:extLst>
      <p:ext uri="{BB962C8B-B14F-4D97-AF65-F5344CB8AC3E}">
        <p14:creationId xmlns:p14="http://schemas.microsoft.com/office/powerpoint/2010/main" val="13875441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Rectangle 6">
            <a:extLst>
              <a:ext uri="{FF2B5EF4-FFF2-40B4-BE49-F238E27FC236}">
                <a16:creationId xmlns:a16="http://schemas.microsoft.com/office/drawing/2014/main" id="{A0F8099F-32D2-43E2-A468-9D25BD98FA3F}"/>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7">
            <a:extLst>
              <a:ext uri="{FF2B5EF4-FFF2-40B4-BE49-F238E27FC236}">
                <a16:creationId xmlns:a16="http://schemas.microsoft.com/office/drawing/2014/main" id="{AD651F53-21C8-4F74-9A46-C51586BC3388}"/>
              </a:ext>
            </a:extLst>
          </p:cNvPr>
          <p:cNvSpPr>
            <a:spLocks noGrp="1" noChangeArrowheads="1"/>
          </p:cNvSpPr>
          <p:nvPr>
            <p:ph type="ftr" sz="quarter" idx="11"/>
          </p:nvPr>
        </p:nvSpPr>
        <p:spPr>
          <a:ln/>
        </p:spPr>
        <p:txBody>
          <a:bodyPr/>
          <a:lstStyle>
            <a:lvl1pPr>
              <a:defRPr/>
            </a:lvl1pPr>
          </a:lstStyle>
          <a:p>
            <a:pPr>
              <a:defRPr/>
            </a:pPr>
            <a:r>
              <a:rPr lang="en-US" altLang="en-US"/>
              <a:t>History of ANN</a:t>
            </a:r>
          </a:p>
        </p:txBody>
      </p:sp>
      <p:sp>
        <p:nvSpPr>
          <p:cNvPr id="5" name="Rectangle 8">
            <a:extLst>
              <a:ext uri="{FF2B5EF4-FFF2-40B4-BE49-F238E27FC236}">
                <a16:creationId xmlns:a16="http://schemas.microsoft.com/office/drawing/2014/main" id="{0E75F485-E151-43ED-9121-AD843F3D5741}"/>
              </a:ext>
            </a:extLst>
          </p:cNvPr>
          <p:cNvSpPr>
            <a:spLocks noGrp="1" noChangeArrowheads="1"/>
          </p:cNvSpPr>
          <p:nvPr>
            <p:ph type="sldNum" sz="quarter" idx="12"/>
          </p:nvPr>
        </p:nvSpPr>
        <p:spPr>
          <a:ln/>
        </p:spPr>
        <p:txBody>
          <a:bodyPr/>
          <a:lstStyle>
            <a:lvl1pPr>
              <a:defRPr/>
            </a:lvl1pPr>
          </a:lstStyle>
          <a:p>
            <a:pPr>
              <a:defRPr/>
            </a:pPr>
            <a:fld id="{5B108F20-C84D-4DE1-A31F-DFB5BC0E06EB}" type="slidenum">
              <a:rPr lang="en-US" altLang="en-US"/>
              <a:pPr>
                <a:defRPr/>
              </a:pPr>
              <a:t>‹#›</a:t>
            </a:fld>
            <a:endParaRPr lang="en-US" altLang="en-US"/>
          </a:p>
        </p:txBody>
      </p:sp>
    </p:spTree>
    <p:extLst>
      <p:ext uri="{BB962C8B-B14F-4D97-AF65-F5344CB8AC3E}">
        <p14:creationId xmlns:p14="http://schemas.microsoft.com/office/powerpoint/2010/main" val="40239175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CB21A735-5A0E-4F17-BED1-70ECED5125D5}"/>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3" name="Rectangle 7">
            <a:extLst>
              <a:ext uri="{FF2B5EF4-FFF2-40B4-BE49-F238E27FC236}">
                <a16:creationId xmlns:a16="http://schemas.microsoft.com/office/drawing/2014/main" id="{F3F36FA5-A4EA-4DD2-A73A-670D7365D9C8}"/>
              </a:ext>
            </a:extLst>
          </p:cNvPr>
          <p:cNvSpPr>
            <a:spLocks noGrp="1" noChangeArrowheads="1"/>
          </p:cNvSpPr>
          <p:nvPr>
            <p:ph type="ftr" sz="quarter" idx="11"/>
          </p:nvPr>
        </p:nvSpPr>
        <p:spPr>
          <a:ln/>
        </p:spPr>
        <p:txBody>
          <a:bodyPr/>
          <a:lstStyle>
            <a:lvl1pPr>
              <a:defRPr/>
            </a:lvl1pPr>
          </a:lstStyle>
          <a:p>
            <a:pPr>
              <a:defRPr/>
            </a:pPr>
            <a:r>
              <a:rPr lang="en-US" altLang="en-US"/>
              <a:t>History of ANN</a:t>
            </a:r>
          </a:p>
        </p:txBody>
      </p:sp>
      <p:sp>
        <p:nvSpPr>
          <p:cNvPr id="4" name="Rectangle 8">
            <a:extLst>
              <a:ext uri="{FF2B5EF4-FFF2-40B4-BE49-F238E27FC236}">
                <a16:creationId xmlns:a16="http://schemas.microsoft.com/office/drawing/2014/main" id="{1C8A62FA-B41E-4585-9EED-E7D9EFD4BBB1}"/>
              </a:ext>
            </a:extLst>
          </p:cNvPr>
          <p:cNvSpPr>
            <a:spLocks noGrp="1" noChangeArrowheads="1"/>
          </p:cNvSpPr>
          <p:nvPr>
            <p:ph type="sldNum" sz="quarter" idx="12"/>
          </p:nvPr>
        </p:nvSpPr>
        <p:spPr>
          <a:ln/>
        </p:spPr>
        <p:txBody>
          <a:bodyPr/>
          <a:lstStyle>
            <a:lvl1pPr>
              <a:defRPr/>
            </a:lvl1pPr>
          </a:lstStyle>
          <a:p>
            <a:pPr>
              <a:defRPr/>
            </a:pPr>
            <a:fld id="{3773EDC7-102F-47E2-81FE-20082E375E08}" type="slidenum">
              <a:rPr lang="en-US" altLang="en-US"/>
              <a:pPr>
                <a:defRPr/>
              </a:pPr>
              <a:t>‹#›</a:t>
            </a:fld>
            <a:endParaRPr lang="en-US" altLang="en-US"/>
          </a:p>
        </p:txBody>
      </p:sp>
    </p:spTree>
    <p:extLst>
      <p:ext uri="{BB962C8B-B14F-4D97-AF65-F5344CB8AC3E}">
        <p14:creationId xmlns:p14="http://schemas.microsoft.com/office/powerpoint/2010/main" val="11194112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6">
            <a:extLst>
              <a:ext uri="{FF2B5EF4-FFF2-40B4-BE49-F238E27FC236}">
                <a16:creationId xmlns:a16="http://schemas.microsoft.com/office/drawing/2014/main" id="{EB9F5C89-F37B-4F6E-A625-DA188A5DCBA4}"/>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7">
            <a:extLst>
              <a:ext uri="{FF2B5EF4-FFF2-40B4-BE49-F238E27FC236}">
                <a16:creationId xmlns:a16="http://schemas.microsoft.com/office/drawing/2014/main" id="{A4FB3090-AD46-494B-9551-64DA64597265}"/>
              </a:ext>
            </a:extLst>
          </p:cNvPr>
          <p:cNvSpPr>
            <a:spLocks noGrp="1" noChangeArrowheads="1"/>
          </p:cNvSpPr>
          <p:nvPr>
            <p:ph type="ftr" sz="quarter" idx="11"/>
          </p:nvPr>
        </p:nvSpPr>
        <p:spPr>
          <a:ln/>
        </p:spPr>
        <p:txBody>
          <a:bodyPr/>
          <a:lstStyle>
            <a:lvl1pPr>
              <a:defRPr/>
            </a:lvl1pPr>
          </a:lstStyle>
          <a:p>
            <a:pPr>
              <a:defRPr/>
            </a:pPr>
            <a:r>
              <a:rPr lang="en-US" altLang="en-US"/>
              <a:t>History of ANN</a:t>
            </a:r>
          </a:p>
        </p:txBody>
      </p:sp>
      <p:sp>
        <p:nvSpPr>
          <p:cNvPr id="7" name="Rectangle 8">
            <a:extLst>
              <a:ext uri="{FF2B5EF4-FFF2-40B4-BE49-F238E27FC236}">
                <a16:creationId xmlns:a16="http://schemas.microsoft.com/office/drawing/2014/main" id="{B396E269-F789-4E23-B2CB-2CCC13C763A5}"/>
              </a:ext>
            </a:extLst>
          </p:cNvPr>
          <p:cNvSpPr>
            <a:spLocks noGrp="1" noChangeArrowheads="1"/>
          </p:cNvSpPr>
          <p:nvPr>
            <p:ph type="sldNum" sz="quarter" idx="12"/>
          </p:nvPr>
        </p:nvSpPr>
        <p:spPr>
          <a:ln/>
        </p:spPr>
        <p:txBody>
          <a:bodyPr/>
          <a:lstStyle>
            <a:lvl1pPr>
              <a:defRPr/>
            </a:lvl1pPr>
          </a:lstStyle>
          <a:p>
            <a:pPr>
              <a:defRPr/>
            </a:pPr>
            <a:fld id="{978C2E8F-AA52-4AF3-9E42-6EA8BBAF0DD6}" type="slidenum">
              <a:rPr lang="en-US" altLang="en-US"/>
              <a:pPr>
                <a:defRPr/>
              </a:pPr>
              <a:t>‹#›</a:t>
            </a:fld>
            <a:endParaRPr lang="en-US" altLang="en-US"/>
          </a:p>
        </p:txBody>
      </p:sp>
    </p:spTree>
    <p:extLst>
      <p:ext uri="{BB962C8B-B14F-4D97-AF65-F5344CB8AC3E}">
        <p14:creationId xmlns:p14="http://schemas.microsoft.com/office/powerpoint/2010/main" val="33230084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6">
            <a:extLst>
              <a:ext uri="{FF2B5EF4-FFF2-40B4-BE49-F238E27FC236}">
                <a16:creationId xmlns:a16="http://schemas.microsoft.com/office/drawing/2014/main" id="{C2733F34-173D-426E-832D-1F6368451D67}"/>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7">
            <a:extLst>
              <a:ext uri="{FF2B5EF4-FFF2-40B4-BE49-F238E27FC236}">
                <a16:creationId xmlns:a16="http://schemas.microsoft.com/office/drawing/2014/main" id="{0624AE16-FABB-457E-92E7-887FA4084A80}"/>
              </a:ext>
            </a:extLst>
          </p:cNvPr>
          <p:cNvSpPr>
            <a:spLocks noGrp="1" noChangeArrowheads="1"/>
          </p:cNvSpPr>
          <p:nvPr>
            <p:ph type="ftr" sz="quarter" idx="11"/>
          </p:nvPr>
        </p:nvSpPr>
        <p:spPr>
          <a:ln/>
        </p:spPr>
        <p:txBody>
          <a:bodyPr/>
          <a:lstStyle>
            <a:lvl1pPr>
              <a:defRPr/>
            </a:lvl1pPr>
          </a:lstStyle>
          <a:p>
            <a:pPr>
              <a:defRPr/>
            </a:pPr>
            <a:r>
              <a:rPr lang="en-US" altLang="en-US"/>
              <a:t>History of ANN</a:t>
            </a:r>
          </a:p>
        </p:txBody>
      </p:sp>
      <p:sp>
        <p:nvSpPr>
          <p:cNvPr id="7" name="Rectangle 8">
            <a:extLst>
              <a:ext uri="{FF2B5EF4-FFF2-40B4-BE49-F238E27FC236}">
                <a16:creationId xmlns:a16="http://schemas.microsoft.com/office/drawing/2014/main" id="{560606BD-5F5E-45F6-868E-8F9632DAEC83}"/>
              </a:ext>
            </a:extLst>
          </p:cNvPr>
          <p:cNvSpPr>
            <a:spLocks noGrp="1" noChangeArrowheads="1"/>
          </p:cNvSpPr>
          <p:nvPr>
            <p:ph type="sldNum" sz="quarter" idx="12"/>
          </p:nvPr>
        </p:nvSpPr>
        <p:spPr>
          <a:ln/>
        </p:spPr>
        <p:txBody>
          <a:bodyPr/>
          <a:lstStyle>
            <a:lvl1pPr>
              <a:defRPr/>
            </a:lvl1pPr>
          </a:lstStyle>
          <a:p>
            <a:pPr>
              <a:defRPr/>
            </a:pPr>
            <a:fld id="{A3D61DF5-3F0D-44F6-B291-B272C15AAFE9}" type="slidenum">
              <a:rPr lang="en-US" altLang="en-US"/>
              <a:pPr>
                <a:defRPr/>
              </a:pPr>
              <a:t>‹#›</a:t>
            </a:fld>
            <a:endParaRPr lang="en-US" altLang="en-US"/>
          </a:p>
        </p:txBody>
      </p:sp>
    </p:spTree>
    <p:extLst>
      <p:ext uri="{BB962C8B-B14F-4D97-AF65-F5344CB8AC3E}">
        <p14:creationId xmlns:p14="http://schemas.microsoft.com/office/powerpoint/2010/main" val="26265259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6">
            <a:extLst>
              <a:ext uri="{FF2B5EF4-FFF2-40B4-BE49-F238E27FC236}">
                <a16:creationId xmlns:a16="http://schemas.microsoft.com/office/drawing/2014/main" id="{66DD26D7-F243-4C45-8785-97E26B6AC494}"/>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7">
            <a:extLst>
              <a:ext uri="{FF2B5EF4-FFF2-40B4-BE49-F238E27FC236}">
                <a16:creationId xmlns:a16="http://schemas.microsoft.com/office/drawing/2014/main" id="{B38F62B5-8888-49A1-BA45-F63458B48DE9}"/>
              </a:ext>
            </a:extLst>
          </p:cNvPr>
          <p:cNvSpPr>
            <a:spLocks noGrp="1" noChangeArrowheads="1"/>
          </p:cNvSpPr>
          <p:nvPr>
            <p:ph type="ftr" sz="quarter" idx="11"/>
          </p:nvPr>
        </p:nvSpPr>
        <p:spPr>
          <a:ln/>
        </p:spPr>
        <p:txBody>
          <a:bodyPr/>
          <a:lstStyle>
            <a:lvl1pPr>
              <a:defRPr/>
            </a:lvl1pPr>
          </a:lstStyle>
          <a:p>
            <a:pPr>
              <a:defRPr/>
            </a:pPr>
            <a:r>
              <a:rPr lang="en-US" altLang="en-US"/>
              <a:t>History of ANN</a:t>
            </a:r>
          </a:p>
        </p:txBody>
      </p:sp>
      <p:sp>
        <p:nvSpPr>
          <p:cNvPr id="6" name="Rectangle 8">
            <a:extLst>
              <a:ext uri="{FF2B5EF4-FFF2-40B4-BE49-F238E27FC236}">
                <a16:creationId xmlns:a16="http://schemas.microsoft.com/office/drawing/2014/main" id="{4433F8E2-67C4-4579-86BD-29E1B1B5EBC5}"/>
              </a:ext>
            </a:extLst>
          </p:cNvPr>
          <p:cNvSpPr>
            <a:spLocks noGrp="1" noChangeArrowheads="1"/>
          </p:cNvSpPr>
          <p:nvPr>
            <p:ph type="sldNum" sz="quarter" idx="12"/>
          </p:nvPr>
        </p:nvSpPr>
        <p:spPr>
          <a:ln/>
        </p:spPr>
        <p:txBody>
          <a:bodyPr/>
          <a:lstStyle>
            <a:lvl1pPr>
              <a:defRPr/>
            </a:lvl1pPr>
          </a:lstStyle>
          <a:p>
            <a:pPr>
              <a:defRPr/>
            </a:pPr>
            <a:fld id="{5DA7DF76-BC44-45D4-870B-37FF259C294A}" type="slidenum">
              <a:rPr lang="en-US" altLang="en-US"/>
              <a:pPr>
                <a:defRPr/>
              </a:pPr>
              <a:t>‹#›</a:t>
            </a:fld>
            <a:endParaRPr lang="en-US" altLang="en-US"/>
          </a:p>
        </p:txBody>
      </p:sp>
    </p:spTree>
    <p:extLst>
      <p:ext uri="{BB962C8B-B14F-4D97-AF65-F5344CB8AC3E}">
        <p14:creationId xmlns:p14="http://schemas.microsoft.com/office/powerpoint/2010/main" val="26957641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6800" y="609600"/>
            <a:ext cx="2590800" cy="5486400"/>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914400" y="609600"/>
            <a:ext cx="75692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6">
            <a:extLst>
              <a:ext uri="{FF2B5EF4-FFF2-40B4-BE49-F238E27FC236}">
                <a16:creationId xmlns:a16="http://schemas.microsoft.com/office/drawing/2014/main" id="{3B021954-09FF-4BFC-8EA9-821CDBF14667}"/>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7">
            <a:extLst>
              <a:ext uri="{FF2B5EF4-FFF2-40B4-BE49-F238E27FC236}">
                <a16:creationId xmlns:a16="http://schemas.microsoft.com/office/drawing/2014/main" id="{0B07D670-F593-4A39-A781-D8AD9D448662}"/>
              </a:ext>
            </a:extLst>
          </p:cNvPr>
          <p:cNvSpPr>
            <a:spLocks noGrp="1" noChangeArrowheads="1"/>
          </p:cNvSpPr>
          <p:nvPr>
            <p:ph type="ftr" sz="quarter" idx="11"/>
          </p:nvPr>
        </p:nvSpPr>
        <p:spPr>
          <a:ln/>
        </p:spPr>
        <p:txBody>
          <a:bodyPr/>
          <a:lstStyle>
            <a:lvl1pPr>
              <a:defRPr/>
            </a:lvl1pPr>
          </a:lstStyle>
          <a:p>
            <a:pPr>
              <a:defRPr/>
            </a:pPr>
            <a:r>
              <a:rPr lang="en-US" altLang="en-US"/>
              <a:t>History of ANN</a:t>
            </a:r>
          </a:p>
        </p:txBody>
      </p:sp>
      <p:sp>
        <p:nvSpPr>
          <p:cNvPr id="6" name="Rectangle 8">
            <a:extLst>
              <a:ext uri="{FF2B5EF4-FFF2-40B4-BE49-F238E27FC236}">
                <a16:creationId xmlns:a16="http://schemas.microsoft.com/office/drawing/2014/main" id="{386C1FA3-EB9C-4FDE-B06E-4A95DCEFC230}"/>
              </a:ext>
            </a:extLst>
          </p:cNvPr>
          <p:cNvSpPr>
            <a:spLocks noGrp="1" noChangeArrowheads="1"/>
          </p:cNvSpPr>
          <p:nvPr>
            <p:ph type="sldNum" sz="quarter" idx="12"/>
          </p:nvPr>
        </p:nvSpPr>
        <p:spPr>
          <a:ln/>
        </p:spPr>
        <p:txBody>
          <a:bodyPr/>
          <a:lstStyle>
            <a:lvl1pPr>
              <a:defRPr/>
            </a:lvl1pPr>
          </a:lstStyle>
          <a:p>
            <a:pPr>
              <a:defRPr/>
            </a:pPr>
            <a:fld id="{F516A96A-4BFE-46FB-B812-5B9662907A4A}" type="slidenum">
              <a:rPr lang="en-US" altLang="en-US"/>
              <a:pPr>
                <a:defRPr/>
              </a:pPr>
              <a:t>‹#›</a:t>
            </a:fld>
            <a:endParaRPr lang="en-US" altLang="en-US"/>
          </a:p>
        </p:txBody>
      </p:sp>
    </p:spTree>
    <p:extLst>
      <p:ext uri="{BB962C8B-B14F-4D97-AF65-F5344CB8AC3E}">
        <p14:creationId xmlns:p14="http://schemas.microsoft.com/office/powerpoint/2010/main" val="24765514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74AB3479-3DB7-418A-AFD7-959088388FC1}"/>
              </a:ext>
            </a:extLst>
          </p:cNvPr>
          <p:cNvGrpSpPr>
            <a:grpSpLocks/>
          </p:cNvGrpSpPr>
          <p:nvPr/>
        </p:nvGrpSpPr>
        <p:grpSpPr bwMode="auto">
          <a:xfrm>
            <a:off x="0" y="0"/>
            <a:ext cx="7823200" cy="6858000"/>
            <a:chOff x="0" y="0"/>
            <a:chExt cx="3696" cy="4320"/>
          </a:xfrm>
        </p:grpSpPr>
        <p:sp>
          <p:nvSpPr>
            <p:cNvPr id="5" name="Rectangle 3">
              <a:extLst>
                <a:ext uri="{FF2B5EF4-FFF2-40B4-BE49-F238E27FC236}">
                  <a16:creationId xmlns:a16="http://schemas.microsoft.com/office/drawing/2014/main" id="{7635B212-6E77-4F38-B3C7-3CEBF3995A2F}"/>
                </a:ext>
              </a:extLst>
            </p:cNvPr>
            <p:cNvSpPr>
              <a:spLocks noChangeArrowheads="1"/>
            </p:cNvSpPr>
            <p:nvPr/>
          </p:nvSpPr>
          <p:spPr bwMode="auto">
            <a:xfrm>
              <a:off x="0" y="0"/>
              <a:ext cx="2880" cy="4320"/>
            </a:xfrm>
            <a:prstGeom prst="rect">
              <a:avLst/>
            </a:prstGeom>
            <a:solidFill>
              <a:schemeClr val="accent2"/>
            </a:solidFill>
            <a:ln>
              <a:noFill/>
            </a:ln>
            <a:effectLst/>
          </p:spPr>
          <p:txBody>
            <a:bodyPr wrap="none" anchor="ctr"/>
            <a:lstStyle>
              <a:lvl1pPr>
                <a:defRPr kumimoji="1">
                  <a:solidFill>
                    <a:schemeClr val="tx1"/>
                  </a:solidFill>
                  <a:latin typeface="Arial" panose="020B0604020202020204" pitchFamily="34" charset="0"/>
                  <a:ea typeface="PMingLiU" panose="02020500000000000000" pitchFamily="18" charset="-120"/>
                </a:defRPr>
              </a:lvl1pPr>
              <a:lvl2pPr marL="742950" indent="-285750">
                <a:defRPr kumimoji="1">
                  <a:solidFill>
                    <a:schemeClr val="tx1"/>
                  </a:solidFill>
                  <a:latin typeface="Arial" panose="020B0604020202020204" pitchFamily="34" charset="0"/>
                  <a:ea typeface="PMingLiU" panose="02020500000000000000" pitchFamily="18" charset="-120"/>
                </a:defRPr>
              </a:lvl2pPr>
              <a:lvl3pPr marL="1143000" indent="-228600">
                <a:defRPr kumimoji="1">
                  <a:solidFill>
                    <a:schemeClr val="tx1"/>
                  </a:solidFill>
                  <a:latin typeface="Arial" panose="020B0604020202020204" pitchFamily="34" charset="0"/>
                  <a:ea typeface="PMingLiU" panose="02020500000000000000" pitchFamily="18" charset="-120"/>
                </a:defRPr>
              </a:lvl3pPr>
              <a:lvl4pPr marL="1600200" indent="-228600">
                <a:defRPr kumimoji="1">
                  <a:solidFill>
                    <a:schemeClr val="tx1"/>
                  </a:solidFill>
                  <a:latin typeface="Arial" panose="020B0604020202020204" pitchFamily="34" charset="0"/>
                  <a:ea typeface="PMingLiU" panose="02020500000000000000" pitchFamily="18" charset="-120"/>
                </a:defRPr>
              </a:lvl4pPr>
              <a:lvl5pPr marL="2057400" indent="-228600">
                <a:defRPr kumimoji="1">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9pPr>
            </a:lstStyle>
            <a:p>
              <a:pPr algn="ctr" eaLnBrk="1" hangingPunct="1">
                <a:defRPr/>
              </a:pPr>
              <a:endParaRPr lang="en-US" altLang="en-US" sz="2400">
                <a:latin typeface="Times New Roman" panose="02020603050405020304" pitchFamily="18" charset="0"/>
              </a:endParaRPr>
            </a:p>
          </p:txBody>
        </p:sp>
        <p:sp>
          <p:nvSpPr>
            <p:cNvPr id="6" name="AutoShape 4">
              <a:extLst>
                <a:ext uri="{FF2B5EF4-FFF2-40B4-BE49-F238E27FC236}">
                  <a16:creationId xmlns:a16="http://schemas.microsoft.com/office/drawing/2014/main" id="{69906DEC-0F40-4737-8D03-8ED1E4601EA8}"/>
                </a:ext>
              </a:extLst>
            </p:cNvPr>
            <p:cNvSpPr>
              <a:spLocks noChangeArrowheads="1"/>
            </p:cNvSpPr>
            <p:nvPr/>
          </p:nvSpPr>
          <p:spPr bwMode="white">
            <a:xfrm>
              <a:off x="432" y="624"/>
              <a:ext cx="3264" cy="1200"/>
            </a:xfrm>
            <a:prstGeom prst="roundRect">
              <a:avLst>
                <a:gd name="adj" fmla="val 50000"/>
              </a:avLst>
            </a:prstGeom>
            <a:solidFill>
              <a:schemeClr val="bg1"/>
            </a:solidFill>
            <a:ln>
              <a:noFill/>
            </a:ln>
            <a:effectLst/>
          </p:spPr>
          <p:txBody>
            <a:bodyPr wrap="none" anchor="ctr"/>
            <a:lstStyle>
              <a:lvl1pPr>
                <a:defRPr kumimoji="1">
                  <a:solidFill>
                    <a:schemeClr val="tx1"/>
                  </a:solidFill>
                  <a:latin typeface="Arial" panose="020B0604020202020204" pitchFamily="34" charset="0"/>
                  <a:ea typeface="PMingLiU" panose="02020500000000000000" pitchFamily="18" charset="-120"/>
                </a:defRPr>
              </a:lvl1pPr>
              <a:lvl2pPr marL="742950" indent="-285750">
                <a:defRPr kumimoji="1">
                  <a:solidFill>
                    <a:schemeClr val="tx1"/>
                  </a:solidFill>
                  <a:latin typeface="Arial" panose="020B0604020202020204" pitchFamily="34" charset="0"/>
                  <a:ea typeface="PMingLiU" panose="02020500000000000000" pitchFamily="18" charset="-120"/>
                </a:defRPr>
              </a:lvl2pPr>
              <a:lvl3pPr marL="1143000" indent="-228600">
                <a:defRPr kumimoji="1">
                  <a:solidFill>
                    <a:schemeClr val="tx1"/>
                  </a:solidFill>
                  <a:latin typeface="Arial" panose="020B0604020202020204" pitchFamily="34" charset="0"/>
                  <a:ea typeface="PMingLiU" panose="02020500000000000000" pitchFamily="18" charset="-120"/>
                </a:defRPr>
              </a:lvl3pPr>
              <a:lvl4pPr marL="1600200" indent="-228600">
                <a:defRPr kumimoji="1">
                  <a:solidFill>
                    <a:schemeClr val="tx1"/>
                  </a:solidFill>
                  <a:latin typeface="Arial" panose="020B0604020202020204" pitchFamily="34" charset="0"/>
                  <a:ea typeface="PMingLiU" panose="02020500000000000000" pitchFamily="18" charset="-120"/>
                </a:defRPr>
              </a:lvl4pPr>
              <a:lvl5pPr marL="2057400" indent="-228600">
                <a:defRPr kumimoji="1">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9pPr>
            </a:lstStyle>
            <a:p>
              <a:pPr algn="ctr" eaLnBrk="1" hangingPunct="1">
                <a:defRPr/>
              </a:pPr>
              <a:endParaRPr lang="en-US" altLang="en-US" sz="2400">
                <a:latin typeface="Times New Roman" panose="02020603050405020304" pitchFamily="18" charset="0"/>
              </a:endParaRPr>
            </a:p>
          </p:txBody>
        </p:sp>
      </p:grpSp>
      <p:grpSp>
        <p:nvGrpSpPr>
          <p:cNvPr id="7" name="Group 5">
            <a:extLst>
              <a:ext uri="{FF2B5EF4-FFF2-40B4-BE49-F238E27FC236}">
                <a16:creationId xmlns:a16="http://schemas.microsoft.com/office/drawing/2014/main" id="{D2571172-1A4A-4262-A498-0F81DC7A7634}"/>
              </a:ext>
            </a:extLst>
          </p:cNvPr>
          <p:cNvGrpSpPr>
            <a:grpSpLocks/>
          </p:cNvGrpSpPr>
          <p:nvPr/>
        </p:nvGrpSpPr>
        <p:grpSpPr bwMode="auto">
          <a:xfrm>
            <a:off x="4842933" y="4889500"/>
            <a:ext cx="6502400" cy="319088"/>
            <a:chOff x="2288" y="3080"/>
            <a:chExt cx="3072" cy="201"/>
          </a:xfrm>
        </p:grpSpPr>
        <p:sp>
          <p:nvSpPr>
            <p:cNvPr id="8" name="AutoShape 6">
              <a:extLst>
                <a:ext uri="{FF2B5EF4-FFF2-40B4-BE49-F238E27FC236}">
                  <a16:creationId xmlns:a16="http://schemas.microsoft.com/office/drawing/2014/main" id="{F5430138-6CA7-40DF-B212-D36B18B49C4C}"/>
                </a:ext>
              </a:extLst>
            </p:cNvPr>
            <p:cNvSpPr>
              <a:spLocks noChangeArrowheads="1"/>
            </p:cNvSpPr>
            <p:nvPr/>
          </p:nvSpPr>
          <p:spPr bwMode="auto">
            <a:xfrm flipH="1">
              <a:off x="2288" y="3080"/>
              <a:ext cx="2914" cy="200"/>
            </a:xfrm>
            <a:prstGeom prst="roundRect">
              <a:avLst>
                <a:gd name="adj" fmla="val 0"/>
              </a:avLst>
            </a:prstGeom>
            <a:solidFill>
              <a:schemeClr val="hlink"/>
            </a:solidFill>
            <a:ln>
              <a:noFill/>
            </a:ln>
            <a:effectLst/>
          </p:spPr>
          <p:txBody>
            <a:bodyPr wrap="none" anchor="ctr"/>
            <a:lstStyle>
              <a:lvl1pPr>
                <a:defRPr kumimoji="1">
                  <a:solidFill>
                    <a:schemeClr val="tx1"/>
                  </a:solidFill>
                  <a:latin typeface="Arial" panose="020B0604020202020204" pitchFamily="34" charset="0"/>
                  <a:ea typeface="PMingLiU" panose="02020500000000000000" pitchFamily="18" charset="-120"/>
                </a:defRPr>
              </a:lvl1pPr>
              <a:lvl2pPr marL="742950" indent="-285750">
                <a:defRPr kumimoji="1">
                  <a:solidFill>
                    <a:schemeClr val="tx1"/>
                  </a:solidFill>
                  <a:latin typeface="Arial" panose="020B0604020202020204" pitchFamily="34" charset="0"/>
                  <a:ea typeface="PMingLiU" panose="02020500000000000000" pitchFamily="18" charset="-120"/>
                </a:defRPr>
              </a:lvl2pPr>
              <a:lvl3pPr marL="1143000" indent="-228600">
                <a:defRPr kumimoji="1">
                  <a:solidFill>
                    <a:schemeClr val="tx1"/>
                  </a:solidFill>
                  <a:latin typeface="Arial" panose="020B0604020202020204" pitchFamily="34" charset="0"/>
                  <a:ea typeface="PMingLiU" panose="02020500000000000000" pitchFamily="18" charset="-120"/>
                </a:defRPr>
              </a:lvl3pPr>
              <a:lvl4pPr marL="1600200" indent="-228600">
                <a:defRPr kumimoji="1">
                  <a:solidFill>
                    <a:schemeClr val="tx1"/>
                  </a:solidFill>
                  <a:latin typeface="Arial" panose="020B0604020202020204" pitchFamily="34" charset="0"/>
                  <a:ea typeface="PMingLiU" panose="02020500000000000000" pitchFamily="18" charset="-120"/>
                </a:defRPr>
              </a:lvl4pPr>
              <a:lvl5pPr marL="2057400" indent="-228600">
                <a:defRPr kumimoji="1">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9pPr>
            </a:lstStyle>
            <a:p>
              <a:pPr eaLnBrk="1" hangingPunct="1">
                <a:defRPr/>
              </a:pPr>
              <a:endParaRPr lang="en-IN" altLang="en-US" sz="1800"/>
            </a:p>
          </p:txBody>
        </p:sp>
        <p:sp>
          <p:nvSpPr>
            <p:cNvPr id="9" name="AutoShape 7">
              <a:extLst>
                <a:ext uri="{FF2B5EF4-FFF2-40B4-BE49-F238E27FC236}">
                  <a16:creationId xmlns:a16="http://schemas.microsoft.com/office/drawing/2014/main" id="{A1424726-28E2-4D4E-A8B1-BAC589020DB8}"/>
                </a:ext>
              </a:extLst>
            </p:cNvPr>
            <p:cNvSpPr>
              <a:spLocks noChangeArrowheads="1"/>
            </p:cNvSpPr>
            <p:nvPr/>
          </p:nvSpPr>
          <p:spPr bwMode="auto">
            <a:xfrm>
              <a:off x="5196" y="3080"/>
              <a:ext cx="164" cy="201"/>
            </a:xfrm>
            <a:prstGeom prst="flowChartDelay">
              <a:avLst/>
            </a:prstGeom>
            <a:solidFill>
              <a:schemeClr val="hlink"/>
            </a:solidFill>
            <a:ln>
              <a:noFill/>
            </a:ln>
            <a:effectLst/>
          </p:spPr>
          <p:txBody>
            <a:bodyPr wrap="none" anchor="ctr"/>
            <a:lstStyle>
              <a:lvl1pPr>
                <a:defRPr kumimoji="1">
                  <a:solidFill>
                    <a:schemeClr val="tx1"/>
                  </a:solidFill>
                  <a:latin typeface="Arial" panose="020B0604020202020204" pitchFamily="34" charset="0"/>
                  <a:ea typeface="PMingLiU" panose="02020500000000000000" pitchFamily="18" charset="-120"/>
                </a:defRPr>
              </a:lvl1pPr>
              <a:lvl2pPr marL="742950" indent="-285750">
                <a:defRPr kumimoji="1">
                  <a:solidFill>
                    <a:schemeClr val="tx1"/>
                  </a:solidFill>
                  <a:latin typeface="Arial" panose="020B0604020202020204" pitchFamily="34" charset="0"/>
                  <a:ea typeface="PMingLiU" panose="02020500000000000000" pitchFamily="18" charset="-120"/>
                </a:defRPr>
              </a:lvl2pPr>
              <a:lvl3pPr marL="1143000" indent="-228600">
                <a:defRPr kumimoji="1">
                  <a:solidFill>
                    <a:schemeClr val="tx1"/>
                  </a:solidFill>
                  <a:latin typeface="Arial" panose="020B0604020202020204" pitchFamily="34" charset="0"/>
                  <a:ea typeface="PMingLiU" panose="02020500000000000000" pitchFamily="18" charset="-120"/>
                </a:defRPr>
              </a:lvl3pPr>
              <a:lvl4pPr marL="1600200" indent="-228600">
                <a:defRPr kumimoji="1">
                  <a:solidFill>
                    <a:schemeClr val="tx1"/>
                  </a:solidFill>
                  <a:latin typeface="Arial" panose="020B0604020202020204" pitchFamily="34" charset="0"/>
                  <a:ea typeface="PMingLiU" panose="02020500000000000000" pitchFamily="18" charset="-120"/>
                </a:defRPr>
              </a:lvl4pPr>
              <a:lvl5pPr marL="2057400" indent="-228600">
                <a:defRPr kumimoji="1">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9pPr>
            </a:lstStyle>
            <a:p>
              <a:pPr eaLnBrk="1" hangingPunct="1">
                <a:defRPr/>
              </a:pPr>
              <a:endParaRPr lang="en-IN" altLang="en-US" sz="1800"/>
            </a:p>
          </p:txBody>
        </p:sp>
      </p:grpSp>
      <p:sp>
        <p:nvSpPr>
          <p:cNvPr id="5128" name="Rectangle 8"/>
          <p:cNvSpPr>
            <a:spLocks noGrp="1" noChangeArrowheads="1"/>
          </p:cNvSpPr>
          <p:nvPr>
            <p:ph type="subTitle" idx="1"/>
          </p:nvPr>
        </p:nvSpPr>
        <p:spPr>
          <a:xfrm>
            <a:off x="6231467" y="2927350"/>
            <a:ext cx="5350933" cy="1822450"/>
          </a:xfrm>
        </p:spPr>
        <p:txBody>
          <a:bodyPr anchor="b"/>
          <a:lstStyle>
            <a:lvl1pPr marL="0" indent="0">
              <a:buFont typeface="Wingdings" panose="05000000000000000000" pitchFamily="2" charset="2"/>
              <a:buNone/>
              <a:defRPr>
                <a:solidFill>
                  <a:schemeClr val="tx2"/>
                </a:solidFill>
              </a:defRPr>
            </a:lvl1pPr>
          </a:lstStyle>
          <a:p>
            <a:pPr lvl="0"/>
            <a:r>
              <a:rPr lang="zh-TW" altLang="en-US" noProof="0"/>
              <a:t>按一下以編輯母片副標題樣式</a:t>
            </a:r>
          </a:p>
        </p:txBody>
      </p:sp>
      <p:sp>
        <p:nvSpPr>
          <p:cNvPr id="5132" name="AutoShape 12"/>
          <p:cNvSpPr>
            <a:spLocks noGrp="1" noChangeArrowheads="1"/>
          </p:cNvSpPr>
          <p:nvPr>
            <p:ph type="ctrTitle" sz="quarter"/>
          </p:nvPr>
        </p:nvSpPr>
        <p:spPr>
          <a:xfrm>
            <a:off x="914400" y="990600"/>
            <a:ext cx="10972800" cy="1905000"/>
          </a:xfrm>
          <a:prstGeom prst="roundRect">
            <a:avLst>
              <a:gd name="adj" fmla="val 50000"/>
            </a:avLst>
          </a:prstGeom>
        </p:spPr>
        <p:txBody>
          <a:bodyPr anchor="ctr"/>
          <a:lstStyle>
            <a:lvl1pPr algn="ctr">
              <a:defRPr>
                <a:solidFill>
                  <a:schemeClr val="tx1"/>
                </a:solidFill>
              </a:defRPr>
            </a:lvl1pPr>
          </a:lstStyle>
          <a:p>
            <a:pPr lvl="0"/>
            <a:r>
              <a:rPr lang="zh-TW" altLang="en-US" noProof="0"/>
              <a:t>按一下以編輯母片標題樣式</a:t>
            </a:r>
          </a:p>
        </p:txBody>
      </p:sp>
      <p:sp>
        <p:nvSpPr>
          <p:cNvPr id="10" name="Date Placeholder 9">
            <a:extLst>
              <a:ext uri="{FF2B5EF4-FFF2-40B4-BE49-F238E27FC236}">
                <a16:creationId xmlns:a16="http://schemas.microsoft.com/office/drawing/2014/main" id="{1D6F9D48-02C2-4E27-96C2-5784C415C256}"/>
              </a:ext>
            </a:extLst>
          </p:cNvPr>
          <p:cNvSpPr>
            <a:spLocks noGrp="1" noChangeArrowheads="1"/>
          </p:cNvSpPr>
          <p:nvPr>
            <p:ph type="dt" sz="quarter" idx="10"/>
          </p:nvPr>
        </p:nvSpPr>
        <p:spPr/>
        <p:txBody>
          <a:bodyPr/>
          <a:lstStyle>
            <a:lvl1pPr>
              <a:defRPr>
                <a:solidFill>
                  <a:schemeClr val="bg1"/>
                </a:solidFill>
              </a:defRPr>
            </a:lvl1pPr>
          </a:lstStyle>
          <a:p>
            <a:pPr>
              <a:defRPr/>
            </a:pPr>
            <a:endParaRPr lang="en-US" altLang="zh-TW"/>
          </a:p>
        </p:txBody>
      </p:sp>
      <p:sp>
        <p:nvSpPr>
          <p:cNvPr id="11" name="Footer Placeholder 10">
            <a:extLst>
              <a:ext uri="{FF2B5EF4-FFF2-40B4-BE49-F238E27FC236}">
                <a16:creationId xmlns:a16="http://schemas.microsoft.com/office/drawing/2014/main" id="{78C73747-E9F0-4323-A3AB-2B7D299E697E}"/>
              </a:ext>
            </a:extLst>
          </p:cNvPr>
          <p:cNvSpPr>
            <a:spLocks noGrp="1" noChangeArrowheads="1"/>
          </p:cNvSpPr>
          <p:nvPr>
            <p:ph type="ftr" sz="quarter" idx="11"/>
          </p:nvPr>
        </p:nvSpPr>
        <p:spPr/>
        <p:txBody>
          <a:bodyPr/>
          <a:lstStyle>
            <a:lvl1pPr algn="r">
              <a:defRPr/>
            </a:lvl1pPr>
          </a:lstStyle>
          <a:p>
            <a:pPr>
              <a:defRPr/>
            </a:pPr>
            <a:endParaRPr lang="en-US" altLang="zh-TW"/>
          </a:p>
        </p:txBody>
      </p:sp>
      <p:sp>
        <p:nvSpPr>
          <p:cNvPr id="12" name="Slide Number Placeholder 11">
            <a:extLst>
              <a:ext uri="{FF2B5EF4-FFF2-40B4-BE49-F238E27FC236}">
                <a16:creationId xmlns:a16="http://schemas.microsoft.com/office/drawing/2014/main" id="{A8A4A43C-0786-4427-AB01-4B8249512846}"/>
              </a:ext>
            </a:extLst>
          </p:cNvPr>
          <p:cNvSpPr>
            <a:spLocks noGrp="1" noChangeArrowheads="1"/>
          </p:cNvSpPr>
          <p:nvPr>
            <p:ph type="sldNum" sz="quarter" idx="12"/>
          </p:nvPr>
        </p:nvSpPr>
        <p:spPr>
          <a:xfrm>
            <a:off x="101601" y="6248400"/>
            <a:ext cx="783167" cy="488950"/>
          </a:xfrm>
        </p:spPr>
        <p:txBody>
          <a:bodyPr anchorCtr="0"/>
          <a:lstStyle>
            <a:lvl1pPr>
              <a:defRPr/>
            </a:lvl1pPr>
          </a:lstStyle>
          <a:p>
            <a:pPr>
              <a:defRPr/>
            </a:pPr>
            <a:fld id="{4C6BED7D-1767-44D3-AA3E-05C846AC4F5C}" type="slidenum">
              <a:rPr lang="en-US" altLang="zh-TW"/>
              <a:pPr>
                <a:defRPr/>
              </a:pPr>
              <a:t>‹#›</a:t>
            </a:fld>
            <a:endParaRPr lang="en-US" altLang="zh-TW"/>
          </a:p>
        </p:txBody>
      </p:sp>
    </p:spTree>
    <p:extLst>
      <p:ext uri="{BB962C8B-B14F-4D97-AF65-F5344CB8AC3E}">
        <p14:creationId xmlns:p14="http://schemas.microsoft.com/office/powerpoint/2010/main" val="15086734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11">
            <a:extLst>
              <a:ext uri="{FF2B5EF4-FFF2-40B4-BE49-F238E27FC236}">
                <a16:creationId xmlns:a16="http://schemas.microsoft.com/office/drawing/2014/main" id="{A793D05F-9E64-4515-976A-77D9EA5F3E1C}"/>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12">
            <a:extLst>
              <a:ext uri="{FF2B5EF4-FFF2-40B4-BE49-F238E27FC236}">
                <a16:creationId xmlns:a16="http://schemas.microsoft.com/office/drawing/2014/main" id="{54AE1D28-C73E-4BB8-96E2-F25326663A4F}"/>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6" name="Rectangle 13">
            <a:extLst>
              <a:ext uri="{FF2B5EF4-FFF2-40B4-BE49-F238E27FC236}">
                <a16:creationId xmlns:a16="http://schemas.microsoft.com/office/drawing/2014/main" id="{E0B27634-ADBC-4B18-8EB1-9A0225F2165E}"/>
              </a:ext>
            </a:extLst>
          </p:cNvPr>
          <p:cNvSpPr>
            <a:spLocks noGrp="1" noChangeArrowheads="1"/>
          </p:cNvSpPr>
          <p:nvPr>
            <p:ph type="sldNum" sz="quarter" idx="12"/>
          </p:nvPr>
        </p:nvSpPr>
        <p:spPr>
          <a:ln/>
        </p:spPr>
        <p:txBody>
          <a:bodyPr/>
          <a:lstStyle>
            <a:lvl1pPr>
              <a:defRPr/>
            </a:lvl1pPr>
          </a:lstStyle>
          <a:p>
            <a:pPr>
              <a:defRPr/>
            </a:pPr>
            <a:fld id="{9AD681D7-8A59-4380-9311-10B86FF921AA}" type="slidenum">
              <a:rPr lang="en-US" altLang="zh-TW"/>
              <a:pPr>
                <a:defRPr/>
              </a:pPr>
              <a:t>‹#›</a:t>
            </a:fld>
            <a:endParaRPr lang="en-US" altLang="zh-TW"/>
          </a:p>
        </p:txBody>
      </p:sp>
    </p:spTree>
    <p:extLst>
      <p:ext uri="{BB962C8B-B14F-4D97-AF65-F5344CB8AC3E}">
        <p14:creationId xmlns:p14="http://schemas.microsoft.com/office/powerpoint/2010/main" val="11522067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p:spPr>
        <p:txBody>
          <a:bodyPr/>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11">
            <a:extLst>
              <a:ext uri="{FF2B5EF4-FFF2-40B4-BE49-F238E27FC236}">
                <a16:creationId xmlns:a16="http://schemas.microsoft.com/office/drawing/2014/main" id="{87B6B44E-3933-4F5D-B950-C0CF90FDB3DC}"/>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12">
            <a:extLst>
              <a:ext uri="{FF2B5EF4-FFF2-40B4-BE49-F238E27FC236}">
                <a16:creationId xmlns:a16="http://schemas.microsoft.com/office/drawing/2014/main" id="{F8BA037F-B5F4-41BB-9518-6D65F8133BD9}"/>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6" name="Rectangle 13">
            <a:extLst>
              <a:ext uri="{FF2B5EF4-FFF2-40B4-BE49-F238E27FC236}">
                <a16:creationId xmlns:a16="http://schemas.microsoft.com/office/drawing/2014/main" id="{55919052-59BB-42E8-97F2-40CCA44AA4AA}"/>
              </a:ext>
            </a:extLst>
          </p:cNvPr>
          <p:cNvSpPr>
            <a:spLocks noGrp="1" noChangeArrowheads="1"/>
          </p:cNvSpPr>
          <p:nvPr>
            <p:ph type="sldNum" sz="quarter" idx="12"/>
          </p:nvPr>
        </p:nvSpPr>
        <p:spPr>
          <a:ln/>
        </p:spPr>
        <p:txBody>
          <a:bodyPr/>
          <a:lstStyle>
            <a:lvl1pPr>
              <a:defRPr/>
            </a:lvl1pPr>
          </a:lstStyle>
          <a:p>
            <a:pPr>
              <a:defRPr/>
            </a:pPr>
            <a:fld id="{6AA599C2-4A57-4DB1-8B81-9F280CC1F027}" type="slidenum">
              <a:rPr lang="en-US" altLang="zh-TW"/>
              <a:pPr>
                <a:defRPr/>
              </a:pPr>
              <a:t>‹#›</a:t>
            </a:fld>
            <a:endParaRPr lang="en-US" altLang="zh-TW"/>
          </a:p>
        </p:txBody>
      </p:sp>
    </p:spTree>
    <p:extLst>
      <p:ext uri="{BB962C8B-B14F-4D97-AF65-F5344CB8AC3E}">
        <p14:creationId xmlns:p14="http://schemas.microsoft.com/office/powerpoint/2010/main" val="7478533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1117601" y="2362201"/>
            <a:ext cx="5027084" cy="3724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347884" y="2362201"/>
            <a:ext cx="5027083" cy="3724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Rectangle 11">
            <a:extLst>
              <a:ext uri="{FF2B5EF4-FFF2-40B4-BE49-F238E27FC236}">
                <a16:creationId xmlns:a16="http://schemas.microsoft.com/office/drawing/2014/main" id="{5A5A9AFD-C05B-4434-9307-FC4756B6F20E}"/>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6" name="Rectangle 12">
            <a:extLst>
              <a:ext uri="{FF2B5EF4-FFF2-40B4-BE49-F238E27FC236}">
                <a16:creationId xmlns:a16="http://schemas.microsoft.com/office/drawing/2014/main" id="{7A72D88D-957F-4C96-BDAE-74BB70FBF12E}"/>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7" name="Rectangle 13">
            <a:extLst>
              <a:ext uri="{FF2B5EF4-FFF2-40B4-BE49-F238E27FC236}">
                <a16:creationId xmlns:a16="http://schemas.microsoft.com/office/drawing/2014/main" id="{E8A471C8-A66D-4D2C-B946-3F750B7C0FAD}"/>
              </a:ext>
            </a:extLst>
          </p:cNvPr>
          <p:cNvSpPr>
            <a:spLocks noGrp="1" noChangeArrowheads="1"/>
          </p:cNvSpPr>
          <p:nvPr>
            <p:ph type="sldNum" sz="quarter" idx="12"/>
          </p:nvPr>
        </p:nvSpPr>
        <p:spPr>
          <a:ln/>
        </p:spPr>
        <p:txBody>
          <a:bodyPr/>
          <a:lstStyle>
            <a:lvl1pPr>
              <a:defRPr/>
            </a:lvl1pPr>
          </a:lstStyle>
          <a:p>
            <a:pPr>
              <a:defRPr/>
            </a:pPr>
            <a:fld id="{A1B8251C-95A8-4A42-9400-89CE2D964904}" type="slidenum">
              <a:rPr lang="en-US" altLang="zh-TW"/>
              <a:pPr>
                <a:defRPr/>
              </a:pPr>
              <a:t>‹#›</a:t>
            </a:fld>
            <a:endParaRPr lang="en-US" altLang="zh-TW"/>
          </a:p>
        </p:txBody>
      </p:sp>
    </p:spTree>
    <p:extLst>
      <p:ext uri="{BB962C8B-B14F-4D97-AF65-F5344CB8AC3E}">
        <p14:creationId xmlns:p14="http://schemas.microsoft.com/office/powerpoint/2010/main" val="33095411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8" y="2505075"/>
            <a:ext cx="51583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Rectangle 11">
            <a:extLst>
              <a:ext uri="{FF2B5EF4-FFF2-40B4-BE49-F238E27FC236}">
                <a16:creationId xmlns:a16="http://schemas.microsoft.com/office/drawing/2014/main" id="{CDEBBA31-0202-469D-B684-3858FC350B52}"/>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8" name="Rectangle 12">
            <a:extLst>
              <a:ext uri="{FF2B5EF4-FFF2-40B4-BE49-F238E27FC236}">
                <a16:creationId xmlns:a16="http://schemas.microsoft.com/office/drawing/2014/main" id="{700944E0-3E58-47CB-BA52-608763127880}"/>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9" name="Rectangle 13">
            <a:extLst>
              <a:ext uri="{FF2B5EF4-FFF2-40B4-BE49-F238E27FC236}">
                <a16:creationId xmlns:a16="http://schemas.microsoft.com/office/drawing/2014/main" id="{CF4E96D4-EE29-4920-BD06-C423C4833DD6}"/>
              </a:ext>
            </a:extLst>
          </p:cNvPr>
          <p:cNvSpPr>
            <a:spLocks noGrp="1" noChangeArrowheads="1"/>
          </p:cNvSpPr>
          <p:nvPr>
            <p:ph type="sldNum" sz="quarter" idx="12"/>
          </p:nvPr>
        </p:nvSpPr>
        <p:spPr>
          <a:ln/>
        </p:spPr>
        <p:txBody>
          <a:bodyPr/>
          <a:lstStyle>
            <a:lvl1pPr>
              <a:defRPr/>
            </a:lvl1pPr>
          </a:lstStyle>
          <a:p>
            <a:pPr>
              <a:defRPr/>
            </a:pPr>
            <a:fld id="{4EBB1A02-0FB4-4B70-8BD6-F77A72070611}" type="slidenum">
              <a:rPr lang="en-US" altLang="zh-TW"/>
              <a:pPr>
                <a:defRPr/>
              </a:pPr>
              <a:t>‹#›</a:t>
            </a:fld>
            <a:endParaRPr lang="en-US" altLang="zh-TW"/>
          </a:p>
        </p:txBody>
      </p:sp>
    </p:spTree>
    <p:extLst>
      <p:ext uri="{BB962C8B-B14F-4D97-AF65-F5344CB8AC3E}">
        <p14:creationId xmlns:p14="http://schemas.microsoft.com/office/powerpoint/2010/main" val="209505392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Rectangle 11">
            <a:extLst>
              <a:ext uri="{FF2B5EF4-FFF2-40B4-BE49-F238E27FC236}">
                <a16:creationId xmlns:a16="http://schemas.microsoft.com/office/drawing/2014/main" id="{720C0F30-408C-4F81-8075-B3579D169BE5}"/>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4" name="Rectangle 12">
            <a:extLst>
              <a:ext uri="{FF2B5EF4-FFF2-40B4-BE49-F238E27FC236}">
                <a16:creationId xmlns:a16="http://schemas.microsoft.com/office/drawing/2014/main" id="{B325A890-1232-4BEC-AAD7-0EC3959501B4}"/>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5" name="Rectangle 13">
            <a:extLst>
              <a:ext uri="{FF2B5EF4-FFF2-40B4-BE49-F238E27FC236}">
                <a16:creationId xmlns:a16="http://schemas.microsoft.com/office/drawing/2014/main" id="{7030B279-F839-4297-AB4D-3537F312222A}"/>
              </a:ext>
            </a:extLst>
          </p:cNvPr>
          <p:cNvSpPr>
            <a:spLocks noGrp="1" noChangeArrowheads="1"/>
          </p:cNvSpPr>
          <p:nvPr>
            <p:ph type="sldNum" sz="quarter" idx="12"/>
          </p:nvPr>
        </p:nvSpPr>
        <p:spPr>
          <a:ln/>
        </p:spPr>
        <p:txBody>
          <a:bodyPr/>
          <a:lstStyle>
            <a:lvl1pPr>
              <a:defRPr/>
            </a:lvl1pPr>
          </a:lstStyle>
          <a:p>
            <a:pPr>
              <a:defRPr/>
            </a:pPr>
            <a:fld id="{5E6F4E6D-4432-4193-818F-C4E21AA2E2B6}" type="slidenum">
              <a:rPr lang="en-US" altLang="zh-TW"/>
              <a:pPr>
                <a:defRPr/>
              </a:pPr>
              <a:t>‹#›</a:t>
            </a:fld>
            <a:endParaRPr lang="en-US" altLang="zh-TW"/>
          </a:p>
        </p:txBody>
      </p:sp>
    </p:spTree>
    <p:extLst>
      <p:ext uri="{BB962C8B-B14F-4D97-AF65-F5344CB8AC3E}">
        <p14:creationId xmlns:p14="http://schemas.microsoft.com/office/powerpoint/2010/main" val="24158387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AEE868EA-364F-4E5F-8679-849854B78456}"/>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3" name="Rectangle 12">
            <a:extLst>
              <a:ext uri="{FF2B5EF4-FFF2-40B4-BE49-F238E27FC236}">
                <a16:creationId xmlns:a16="http://schemas.microsoft.com/office/drawing/2014/main" id="{0178FDEB-9C2C-4CEC-A95D-9592A9BF6FD1}"/>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4" name="Rectangle 13">
            <a:extLst>
              <a:ext uri="{FF2B5EF4-FFF2-40B4-BE49-F238E27FC236}">
                <a16:creationId xmlns:a16="http://schemas.microsoft.com/office/drawing/2014/main" id="{ABEE68DC-A9D9-4EB4-870D-AB7119C27E5B}"/>
              </a:ext>
            </a:extLst>
          </p:cNvPr>
          <p:cNvSpPr>
            <a:spLocks noGrp="1" noChangeArrowheads="1"/>
          </p:cNvSpPr>
          <p:nvPr>
            <p:ph type="sldNum" sz="quarter" idx="12"/>
          </p:nvPr>
        </p:nvSpPr>
        <p:spPr>
          <a:ln/>
        </p:spPr>
        <p:txBody>
          <a:bodyPr/>
          <a:lstStyle>
            <a:lvl1pPr>
              <a:defRPr/>
            </a:lvl1pPr>
          </a:lstStyle>
          <a:p>
            <a:pPr>
              <a:defRPr/>
            </a:pPr>
            <a:fld id="{FB5D1685-1E77-4490-9738-CE130DCABD3C}" type="slidenum">
              <a:rPr lang="en-US" altLang="zh-TW"/>
              <a:pPr>
                <a:defRPr/>
              </a:pPr>
              <a:t>‹#›</a:t>
            </a:fld>
            <a:endParaRPr lang="en-US" altLang="zh-TW"/>
          </a:p>
        </p:txBody>
      </p:sp>
    </p:spTree>
    <p:extLst>
      <p:ext uri="{BB962C8B-B14F-4D97-AF65-F5344CB8AC3E}">
        <p14:creationId xmlns:p14="http://schemas.microsoft.com/office/powerpoint/2010/main" val="314005745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11">
            <a:extLst>
              <a:ext uri="{FF2B5EF4-FFF2-40B4-BE49-F238E27FC236}">
                <a16:creationId xmlns:a16="http://schemas.microsoft.com/office/drawing/2014/main" id="{C9D708E2-0303-4498-8CF1-6169EE854865}"/>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6" name="Rectangle 12">
            <a:extLst>
              <a:ext uri="{FF2B5EF4-FFF2-40B4-BE49-F238E27FC236}">
                <a16:creationId xmlns:a16="http://schemas.microsoft.com/office/drawing/2014/main" id="{4FA2897C-1C40-4EC5-9790-F41F6B6FEB38}"/>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7" name="Rectangle 13">
            <a:extLst>
              <a:ext uri="{FF2B5EF4-FFF2-40B4-BE49-F238E27FC236}">
                <a16:creationId xmlns:a16="http://schemas.microsoft.com/office/drawing/2014/main" id="{E8DD65CC-DFCF-4E65-B196-174D51BED0AF}"/>
              </a:ext>
            </a:extLst>
          </p:cNvPr>
          <p:cNvSpPr>
            <a:spLocks noGrp="1" noChangeArrowheads="1"/>
          </p:cNvSpPr>
          <p:nvPr>
            <p:ph type="sldNum" sz="quarter" idx="12"/>
          </p:nvPr>
        </p:nvSpPr>
        <p:spPr>
          <a:ln/>
        </p:spPr>
        <p:txBody>
          <a:bodyPr/>
          <a:lstStyle>
            <a:lvl1pPr>
              <a:defRPr/>
            </a:lvl1pPr>
          </a:lstStyle>
          <a:p>
            <a:pPr>
              <a:defRPr/>
            </a:pPr>
            <a:fld id="{D37888BC-E7AB-4CA8-8579-72E2C022E23A}" type="slidenum">
              <a:rPr lang="en-US" altLang="zh-TW"/>
              <a:pPr>
                <a:defRPr/>
              </a:pPr>
              <a:t>‹#›</a:t>
            </a:fld>
            <a:endParaRPr lang="en-US" altLang="zh-TW"/>
          </a:p>
        </p:txBody>
      </p:sp>
    </p:spTree>
    <p:extLst>
      <p:ext uri="{BB962C8B-B14F-4D97-AF65-F5344CB8AC3E}">
        <p14:creationId xmlns:p14="http://schemas.microsoft.com/office/powerpoint/2010/main" val="35159561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11">
            <a:extLst>
              <a:ext uri="{FF2B5EF4-FFF2-40B4-BE49-F238E27FC236}">
                <a16:creationId xmlns:a16="http://schemas.microsoft.com/office/drawing/2014/main" id="{187C2654-EF72-465B-BCB7-7F2A13734171}"/>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6" name="Rectangle 12">
            <a:extLst>
              <a:ext uri="{FF2B5EF4-FFF2-40B4-BE49-F238E27FC236}">
                <a16:creationId xmlns:a16="http://schemas.microsoft.com/office/drawing/2014/main" id="{715BDFD4-AC59-41E9-9F8C-F83382533CC0}"/>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7" name="Rectangle 13">
            <a:extLst>
              <a:ext uri="{FF2B5EF4-FFF2-40B4-BE49-F238E27FC236}">
                <a16:creationId xmlns:a16="http://schemas.microsoft.com/office/drawing/2014/main" id="{5033A6D5-46F5-4958-AB5C-E6689DB1B378}"/>
              </a:ext>
            </a:extLst>
          </p:cNvPr>
          <p:cNvSpPr>
            <a:spLocks noGrp="1" noChangeArrowheads="1"/>
          </p:cNvSpPr>
          <p:nvPr>
            <p:ph type="sldNum" sz="quarter" idx="12"/>
          </p:nvPr>
        </p:nvSpPr>
        <p:spPr>
          <a:ln/>
        </p:spPr>
        <p:txBody>
          <a:bodyPr/>
          <a:lstStyle>
            <a:lvl1pPr>
              <a:defRPr/>
            </a:lvl1pPr>
          </a:lstStyle>
          <a:p>
            <a:pPr>
              <a:defRPr/>
            </a:pPr>
            <a:fld id="{24D8AA2F-4EBC-4342-B5A0-BB2E8BD62C49}" type="slidenum">
              <a:rPr lang="en-US" altLang="zh-TW"/>
              <a:pPr>
                <a:defRPr/>
              </a:pPr>
              <a:t>‹#›</a:t>
            </a:fld>
            <a:endParaRPr lang="en-US" altLang="zh-TW"/>
          </a:p>
        </p:txBody>
      </p:sp>
    </p:spTree>
    <p:extLst>
      <p:ext uri="{BB962C8B-B14F-4D97-AF65-F5344CB8AC3E}">
        <p14:creationId xmlns:p14="http://schemas.microsoft.com/office/powerpoint/2010/main" val="389690772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11">
            <a:extLst>
              <a:ext uri="{FF2B5EF4-FFF2-40B4-BE49-F238E27FC236}">
                <a16:creationId xmlns:a16="http://schemas.microsoft.com/office/drawing/2014/main" id="{E82B322D-44F7-4930-9E52-385E643214C6}"/>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12">
            <a:extLst>
              <a:ext uri="{FF2B5EF4-FFF2-40B4-BE49-F238E27FC236}">
                <a16:creationId xmlns:a16="http://schemas.microsoft.com/office/drawing/2014/main" id="{5BB762FC-A8C7-4778-A008-263ABDE2677F}"/>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6" name="Rectangle 13">
            <a:extLst>
              <a:ext uri="{FF2B5EF4-FFF2-40B4-BE49-F238E27FC236}">
                <a16:creationId xmlns:a16="http://schemas.microsoft.com/office/drawing/2014/main" id="{34382749-3BED-432D-B34A-D80D7D43643B}"/>
              </a:ext>
            </a:extLst>
          </p:cNvPr>
          <p:cNvSpPr>
            <a:spLocks noGrp="1" noChangeArrowheads="1"/>
          </p:cNvSpPr>
          <p:nvPr>
            <p:ph type="sldNum" sz="quarter" idx="12"/>
          </p:nvPr>
        </p:nvSpPr>
        <p:spPr>
          <a:ln/>
        </p:spPr>
        <p:txBody>
          <a:bodyPr/>
          <a:lstStyle>
            <a:lvl1pPr>
              <a:defRPr/>
            </a:lvl1pPr>
          </a:lstStyle>
          <a:p>
            <a:pPr>
              <a:defRPr/>
            </a:pPr>
            <a:fld id="{2D6336E1-E76D-4424-93FA-E9F001728934}" type="slidenum">
              <a:rPr lang="en-US" altLang="zh-TW"/>
              <a:pPr>
                <a:defRPr/>
              </a:pPr>
              <a:t>‹#›</a:t>
            </a:fld>
            <a:endParaRPr lang="en-US" altLang="zh-TW"/>
          </a:p>
        </p:txBody>
      </p:sp>
    </p:spTree>
    <p:extLst>
      <p:ext uri="{BB962C8B-B14F-4D97-AF65-F5344CB8AC3E}">
        <p14:creationId xmlns:p14="http://schemas.microsoft.com/office/powerpoint/2010/main" val="33708275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40800" y="762001"/>
            <a:ext cx="2641600" cy="532447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1016000" y="762001"/>
            <a:ext cx="7721600" cy="53244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11">
            <a:extLst>
              <a:ext uri="{FF2B5EF4-FFF2-40B4-BE49-F238E27FC236}">
                <a16:creationId xmlns:a16="http://schemas.microsoft.com/office/drawing/2014/main" id="{F5B5F5F2-D408-410C-8DBF-7C5EFE73D6F7}"/>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12">
            <a:extLst>
              <a:ext uri="{FF2B5EF4-FFF2-40B4-BE49-F238E27FC236}">
                <a16:creationId xmlns:a16="http://schemas.microsoft.com/office/drawing/2014/main" id="{C7E1E9A1-D479-4568-A100-4FE0B262775B}"/>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6" name="Rectangle 13">
            <a:extLst>
              <a:ext uri="{FF2B5EF4-FFF2-40B4-BE49-F238E27FC236}">
                <a16:creationId xmlns:a16="http://schemas.microsoft.com/office/drawing/2014/main" id="{59713532-74AF-4D9B-B96E-80E406374C1B}"/>
              </a:ext>
            </a:extLst>
          </p:cNvPr>
          <p:cNvSpPr>
            <a:spLocks noGrp="1" noChangeArrowheads="1"/>
          </p:cNvSpPr>
          <p:nvPr>
            <p:ph type="sldNum" sz="quarter" idx="12"/>
          </p:nvPr>
        </p:nvSpPr>
        <p:spPr>
          <a:ln/>
        </p:spPr>
        <p:txBody>
          <a:bodyPr/>
          <a:lstStyle>
            <a:lvl1pPr>
              <a:defRPr/>
            </a:lvl1pPr>
          </a:lstStyle>
          <a:p>
            <a:pPr>
              <a:defRPr/>
            </a:pPr>
            <a:fld id="{CAF4CF1D-4C99-4661-A2D4-4217BA60ABA0}" type="slidenum">
              <a:rPr lang="en-US" altLang="zh-TW"/>
              <a:pPr>
                <a:defRPr/>
              </a:pPr>
              <a:t>‹#›</a:t>
            </a:fld>
            <a:endParaRPr lang="en-US" altLang="zh-TW"/>
          </a:p>
        </p:txBody>
      </p:sp>
    </p:spTree>
    <p:extLst>
      <p:ext uri="{BB962C8B-B14F-4D97-AF65-F5344CB8AC3E}">
        <p14:creationId xmlns:p14="http://schemas.microsoft.com/office/powerpoint/2010/main" val="152540030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016000" y="762000"/>
            <a:ext cx="10566400" cy="1143000"/>
          </a:xfrm>
        </p:spPr>
        <p:txBody>
          <a:bodyPr/>
          <a:lstStyle/>
          <a:p>
            <a:r>
              <a:rPr lang="en-US"/>
              <a:t>Click to edit Master title style</a:t>
            </a:r>
            <a:endParaRPr lang="en-IN"/>
          </a:p>
        </p:txBody>
      </p:sp>
      <p:sp>
        <p:nvSpPr>
          <p:cNvPr id="3" name="Content Placeholder 2"/>
          <p:cNvSpPr>
            <a:spLocks noGrp="1"/>
          </p:cNvSpPr>
          <p:nvPr>
            <p:ph sz="half" idx="1"/>
          </p:nvPr>
        </p:nvSpPr>
        <p:spPr>
          <a:xfrm>
            <a:off x="1117601" y="2362201"/>
            <a:ext cx="5027084" cy="3724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quarter" idx="2"/>
          </p:nvPr>
        </p:nvSpPr>
        <p:spPr>
          <a:xfrm>
            <a:off x="6347884" y="2362200"/>
            <a:ext cx="5027083" cy="1785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Content Placeholder 4"/>
          <p:cNvSpPr>
            <a:spLocks noGrp="1"/>
          </p:cNvSpPr>
          <p:nvPr>
            <p:ph sz="quarter" idx="3"/>
          </p:nvPr>
        </p:nvSpPr>
        <p:spPr>
          <a:xfrm>
            <a:off x="6347884" y="4300539"/>
            <a:ext cx="5027083" cy="1785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Rectangle 11">
            <a:extLst>
              <a:ext uri="{FF2B5EF4-FFF2-40B4-BE49-F238E27FC236}">
                <a16:creationId xmlns:a16="http://schemas.microsoft.com/office/drawing/2014/main" id="{4FA18B98-F6CA-40C0-9AB0-4389FCC9800D}"/>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7" name="Rectangle 12">
            <a:extLst>
              <a:ext uri="{FF2B5EF4-FFF2-40B4-BE49-F238E27FC236}">
                <a16:creationId xmlns:a16="http://schemas.microsoft.com/office/drawing/2014/main" id="{2A0C8064-7E90-477C-9464-6D30A4F0CFEB}"/>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8" name="Rectangle 13">
            <a:extLst>
              <a:ext uri="{FF2B5EF4-FFF2-40B4-BE49-F238E27FC236}">
                <a16:creationId xmlns:a16="http://schemas.microsoft.com/office/drawing/2014/main" id="{E6510462-62FE-428E-A215-0A0573116BE2}"/>
              </a:ext>
            </a:extLst>
          </p:cNvPr>
          <p:cNvSpPr>
            <a:spLocks noGrp="1" noChangeArrowheads="1"/>
          </p:cNvSpPr>
          <p:nvPr>
            <p:ph type="sldNum" sz="quarter" idx="12"/>
          </p:nvPr>
        </p:nvSpPr>
        <p:spPr>
          <a:ln/>
        </p:spPr>
        <p:txBody>
          <a:bodyPr/>
          <a:lstStyle>
            <a:lvl1pPr>
              <a:defRPr/>
            </a:lvl1pPr>
          </a:lstStyle>
          <a:p>
            <a:pPr>
              <a:defRPr/>
            </a:pPr>
            <a:fld id="{3FFE08A4-0A34-4028-A27F-27CF704B0516}" type="slidenum">
              <a:rPr lang="en-US" altLang="zh-TW"/>
              <a:pPr>
                <a:defRPr/>
              </a:pPr>
              <a:t>‹#›</a:t>
            </a:fld>
            <a:endParaRPr lang="en-US" altLang="zh-TW"/>
          </a:p>
        </p:txBody>
      </p:sp>
    </p:spTree>
    <p:extLst>
      <p:ext uri="{BB962C8B-B14F-4D97-AF65-F5344CB8AC3E}">
        <p14:creationId xmlns:p14="http://schemas.microsoft.com/office/powerpoint/2010/main" val="12119144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16000" y="762000"/>
            <a:ext cx="10566400" cy="1143000"/>
          </a:xfrm>
        </p:spPr>
        <p:txBody>
          <a:bodyPr/>
          <a:lstStyle/>
          <a:p>
            <a:r>
              <a:rPr lang="en-US"/>
              <a:t>Click to edit Master title style</a:t>
            </a:r>
            <a:endParaRPr lang="en-IN"/>
          </a:p>
        </p:txBody>
      </p:sp>
      <p:sp>
        <p:nvSpPr>
          <p:cNvPr id="3" name="Text Placeholder 2"/>
          <p:cNvSpPr>
            <a:spLocks noGrp="1"/>
          </p:cNvSpPr>
          <p:nvPr>
            <p:ph type="body" sz="half" idx="1"/>
          </p:nvPr>
        </p:nvSpPr>
        <p:spPr>
          <a:xfrm>
            <a:off x="1117601" y="2362201"/>
            <a:ext cx="5027084" cy="3724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347884" y="2362201"/>
            <a:ext cx="5027083" cy="3724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Rectangle 11">
            <a:extLst>
              <a:ext uri="{FF2B5EF4-FFF2-40B4-BE49-F238E27FC236}">
                <a16:creationId xmlns:a16="http://schemas.microsoft.com/office/drawing/2014/main" id="{7AD31F2D-FEEF-41BC-AF22-3A9DAC688B85}"/>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6" name="Rectangle 12">
            <a:extLst>
              <a:ext uri="{FF2B5EF4-FFF2-40B4-BE49-F238E27FC236}">
                <a16:creationId xmlns:a16="http://schemas.microsoft.com/office/drawing/2014/main" id="{94277F79-D063-440F-80F2-9CB189271FE4}"/>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7" name="Rectangle 13">
            <a:extLst>
              <a:ext uri="{FF2B5EF4-FFF2-40B4-BE49-F238E27FC236}">
                <a16:creationId xmlns:a16="http://schemas.microsoft.com/office/drawing/2014/main" id="{B84A55AC-D237-41B2-9B34-35B3A7DB1C31}"/>
              </a:ext>
            </a:extLst>
          </p:cNvPr>
          <p:cNvSpPr>
            <a:spLocks noGrp="1" noChangeArrowheads="1"/>
          </p:cNvSpPr>
          <p:nvPr>
            <p:ph type="sldNum" sz="quarter" idx="12"/>
          </p:nvPr>
        </p:nvSpPr>
        <p:spPr>
          <a:ln/>
        </p:spPr>
        <p:txBody>
          <a:bodyPr/>
          <a:lstStyle>
            <a:lvl1pPr>
              <a:defRPr/>
            </a:lvl1pPr>
          </a:lstStyle>
          <a:p>
            <a:pPr>
              <a:defRPr/>
            </a:pPr>
            <a:fld id="{6F344A81-72D1-4E0F-9D8D-D55E15C9F74D}" type="slidenum">
              <a:rPr lang="en-US" altLang="zh-TW"/>
              <a:pPr>
                <a:defRPr/>
              </a:pPr>
              <a:t>‹#›</a:t>
            </a:fld>
            <a:endParaRPr lang="en-US" altLang="zh-TW"/>
          </a:p>
        </p:txBody>
      </p:sp>
    </p:spTree>
    <p:extLst>
      <p:ext uri="{BB962C8B-B14F-4D97-AF65-F5344CB8AC3E}">
        <p14:creationId xmlns:p14="http://schemas.microsoft.com/office/powerpoint/2010/main" val="296534061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016000" y="762000"/>
            <a:ext cx="10566400" cy="1143000"/>
          </a:xfrm>
        </p:spPr>
        <p:txBody>
          <a:bodyPr/>
          <a:lstStyle/>
          <a:p>
            <a:r>
              <a:rPr lang="en-US"/>
              <a:t>Click to edit Master title style</a:t>
            </a:r>
            <a:endParaRPr lang="en-IN"/>
          </a:p>
        </p:txBody>
      </p:sp>
      <p:sp>
        <p:nvSpPr>
          <p:cNvPr id="3" name="Text Placeholder 2"/>
          <p:cNvSpPr>
            <a:spLocks noGrp="1"/>
          </p:cNvSpPr>
          <p:nvPr>
            <p:ph type="body" sz="half" idx="1"/>
          </p:nvPr>
        </p:nvSpPr>
        <p:spPr>
          <a:xfrm>
            <a:off x="1117601" y="2362201"/>
            <a:ext cx="5027084" cy="3724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quarter" idx="2"/>
          </p:nvPr>
        </p:nvSpPr>
        <p:spPr>
          <a:xfrm>
            <a:off x="6347884" y="2362200"/>
            <a:ext cx="5027083" cy="1785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Content Placeholder 4"/>
          <p:cNvSpPr>
            <a:spLocks noGrp="1"/>
          </p:cNvSpPr>
          <p:nvPr>
            <p:ph sz="quarter" idx="3"/>
          </p:nvPr>
        </p:nvSpPr>
        <p:spPr>
          <a:xfrm>
            <a:off x="6347884" y="4300539"/>
            <a:ext cx="5027083" cy="1785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Rectangle 11">
            <a:extLst>
              <a:ext uri="{FF2B5EF4-FFF2-40B4-BE49-F238E27FC236}">
                <a16:creationId xmlns:a16="http://schemas.microsoft.com/office/drawing/2014/main" id="{089E88C0-2680-4372-85C4-5F96B71B7EA5}"/>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7" name="Rectangle 12">
            <a:extLst>
              <a:ext uri="{FF2B5EF4-FFF2-40B4-BE49-F238E27FC236}">
                <a16:creationId xmlns:a16="http://schemas.microsoft.com/office/drawing/2014/main" id="{4C59EF94-9CC9-4EC6-B2D5-144000A8993B}"/>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8" name="Rectangle 13">
            <a:extLst>
              <a:ext uri="{FF2B5EF4-FFF2-40B4-BE49-F238E27FC236}">
                <a16:creationId xmlns:a16="http://schemas.microsoft.com/office/drawing/2014/main" id="{ACAB46EA-F53C-40C5-A0B5-FBBAD67015D7}"/>
              </a:ext>
            </a:extLst>
          </p:cNvPr>
          <p:cNvSpPr>
            <a:spLocks noGrp="1" noChangeArrowheads="1"/>
          </p:cNvSpPr>
          <p:nvPr>
            <p:ph type="sldNum" sz="quarter" idx="12"/>
          </p:nvPr>
        </p:nvSpPr>
        <p:spPr>
          <a:ln/>
        </p:spPr>
        <p:txBody>
          <a:bodyPr/>
          <a:lstStyle>
            <a:lvl1pPr>
              <a:defRPr/>
            </a:lvl1pPr>
          </a:lstStyle>
          <a:p>
            <a:pPr>
              <a:defRPr/>
            </a:pPr>
            <a:fld id="{8FA16340-759C-4FEF-925E-8AFD4427B3FD}" type="slidenum">
              <a:rPr lang="en-US" altLang="zh-TW"/>
              <a:pPr>
                <a:defRPr/>
              </a:pPr>
              <a:t>‹#›</a:t>
            </a:fld>
            <a:endParaRPr lang="en-US" altLang="zh-TW"/>
          </a:p>
        </p:txBody>
      </p:sp>
    </p:spTree>
    <p:extLst>
      <p:ext uri="{BB962C8B-B14F-4D97-AF65-F5344CB8AC3E}">
        <p14:creationId xmlns:p14="http://schemas.microsoft.com/office/powerpoint/2010/main" val="26679951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heme" Target="../theme/theme2.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ltGray">
      <p:bgPr>
        <a:gradFill rotWithShape="0">
          <a:gsLst>
            <a:gs pos="0">
              <a:schemeClr val="bg1"/>
            </a:gs>
            <a:gs pos="100000">
              <a:schemeClr val="bg2"/>
            </a:gs>
          </a:gsLst>
          <a:lin ang="0" scaled="1"/>
        </a:gradFill>
        <a:effectLst/>
      </p:bgPr>
    </p:bg>
    <p:spTree>
      <p:nvGrpSpPr>
        <p:cNvPr id="1" name=""/>
        <p:cNvGrpSpPr/>
        <p:nvPr/>
      </p:nvGrpSpPr>
      <p:grpSpPr>
        <a:xfrm>
          <a:off x="0" y="0"/>
          <a:ext cx="0" cy="0"/>
          <a:chOff x="0" y="0"/>
          <a:chExt cx="0" cy="0"/>
        </a:xfrm>
      </p:grpSpPr>
      <p:grpSp>
        <p:nvGrpSpPr>
          <p:cNvPr id="1026" name="Group 2">
            <a:extLst>
              <a:ext uri="{FF2B5EF4-FFF2-40B4-BE49-F238E27FC236}">
                <a16:creationId xmlns:a16="http://schemas.microsoft.com/office/drawing/2014/main" id="{DF0963D6-68F2-45E2-BDF5-5B0E58F0ABFE}"/>
              </a:ext>
            </a:extLst>
          </p:cNvPr>
          <p:cNvGrpSpPr>
            <a:grpSpLocks/>
          </p:cNvGrpSpPr>
          <p:nvPr/>
        </p:nvGrpSpPr>
        <p:grpSpPr bwMode="auto">
          <a:xfrm>
            <a:off x="0" y="1588"/>
            <a:ext cx="12177184" cy="6845300"/>
            <a:chOff x="0" y="1"/>
            <a:chExt cx="5753" cy="4312"/>
          </a:xfrm>
        </p:grpSpPr>
        <p:sp>
          <p:nvSpPr>
            <p:cNvPr id="77827" name="Freeform 3">
              <a:extLst>
                <a:ext uri="{FF2B5EF4-FFF2-40B4-BE49-F238E27FC236}">
                  <a16:creationId xmlns:a16="http://schemas.microsoft.com/office/drawing/2014/main" id="{86828E8B-082A-495B-8B0B-59F1669C0092}"/>
                </a:ext>
              </a:extLst>
            </p:cNvPr>
            <p:cNvSpPr>
              <a:spLocks/>
            </p:cNvSpPr>
            <p:nvPr/>
          </p:nvSpPr>
          <p:spPr bwMode="auto">
            <a:xfrm>
              <a:off x="3394" y="999"/>
              <a:ext cx="2359" cy="3314"/>
            </a:xfrm>
            <a:custGeom>
              <a:avLst/>
              <a:gdLst>
                <a:gd name="T0" fmla="*/ 1905 w 2359"/>
                <a:gd name="T1" fmla="*/ 3312 h 3314"/>
                <a:gd name="T2" fmla="*/ 2358 w 2359"/>
                <a:gd name="T3" fmla="*/ 3313 h 3314"/>
                <a:gd name="T4" fmla="*/ 2358 w 2359"/>
                <a:gd name="T5" fmla="*/ 1437 h 3314"/>
                <a:gd name="T6" fmla="*/ 0 w 2359"/>
                <a:gd name="T7" fmla="*/ 0 h 3314"/>
                <a:gd name="T8" fmla="*/ 201 w 2359"/>
                <a:gd name="T9" fmla="*/ 150 h 3314"/>
                <a:gd name="T10" fmla="*/ 366 w 2359"/>
                <a:gd name="T11" fmla="*/ 279 h 3314"/>
                <a:gd name="T12" fmla="*/ 552 w 2359"/>
                <a:gd name="T13" fmla="*/ 441 h 3314"/>
                <a:gd name="T14" fmla="*/ 732 w 2359"/>
                <a:gd name="T15" fmla="*/ 612 h 3314"/>
                <a:gd name="T16" fmla="*/ 996 w 2359"/>
                <a:gd name="T17" fmla="*/ 903 h 3314"/>
                <a:gd name="T18" fmla="*/ 1230 w 2359"/>
                <a:gd name="T19" fmla="*/ 1212 h 3314"/>
                <a:gd name="T20" fmla="*/ 1400 w 2359"/>
                <a:gd name="T21" fmla="*/ 1482 h 3314"/>
                <a:gd name="T22" fmla="*/ 1548 w 2359"/>
                <a:gd name="T23" fmla="*/ 1761 h 3314"/>
                <a:gd name="T24" fmla="*/ 1665 w 2359"/>
                <a:gd name="T25" fmla="*/ 2040 h 3314"/>
                <a:gd name="T26" fmla="*/ 1751 w 2359"/>
                <a:gd name="T27" fmla="*/ 2295 h 3314"/>
                <a:gd name="T28" fmla="*/ 1809 w 2359"/>
                <a:gd name="T29" fmla="*/ 2511 h 3314"/>
                <a:gd name="T30" fmla="*/ 1863 w 2359"/>
                <a:gd name="T31" fmla="*/ 2778 h 3314"/>
                <a:gd name="T32" fmla="*/ 1890 w 2359"/>
                <a:gd name="T33" fmla="*/ 3012 h 3314"/>
                <a:gd name="T34" fmla="*/ 1905 w 2359"/>
                <a:gd name="T35" fmla="*/ 3312 h 3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59" h="3314">
                  <a:moveTo>
                    <a:pt x="1905" y="3312"/>
                  </a:moveTo>
                  <a:lnTo>
                    <a:pt x="2358" y="3313"/>
                  </a:lnTo>
                  <a:lnTo>
                    <a:pt x="2358" y="1437"/>
                  </a:lnTo>
                  <a:lnTo>
                    <a:pt x="0" y="0"/>
                  </a:lnTo>
                  <a:lnTo>
                    <a:pt x="201" y="150"/>
                  </a:lnTo>
                  <a:lnTo>
                    <a:pt x="366" y="279"/>
                  </a:lnTo>
                  <a:lnTo>
                    <a:pt x="552" y="441"/>
                  </a:lnTo>
                  <a:lnTo>
                    <a:pt x="732" y="612"/>
                  </a:lnTo>
                  <a:lnTo>
                    <a:pt x="996" y="903"/>
                  </a:lnTo>
                  <a:lnTo>
                    <a:pt x="1230" y="1212"/>
                  </a:lnTo>
                  <a:lnTo>
                    <a:pt x="1400" y="1482"/>
                  </a:lnTo>
                  <a:lnTo>
                    <a:pt x="1548" y="1761"/>
                  </a:lnTo>
                  <a:lnTo>
                    <a:pt x="1665" y="2040"/>
                  </a:lnTo>
                  <a:lnTo>
                    <a:pt x="1751" y="2295"/>
                  </a:lnTo>
                  <a:lnTo>
                    <a:pt x="1809" y="2511"/>
                  </a:lnTo>
                  <a:lnTo>
                    <a:pt x="1863" y="2778"/>
                  </a:lnTo>
                  <a:lnTo>
                    <a:pt x="1890" y="3012"/>
                  </a:lnTo>
                  <a:lnTo>
                    <a:pt x="1905" y="3312"/>
                  </a:lnTo>
                </a:path>
              </a:pathLst>
            </a:custGeom>
            <a:gradFill rotWithShape="0">
              <a:gsLst>
                <a:gs pos="0">
                  <a:schemeClr val="accent2">
                    <a:gamma/>
                    <a:shade val="46275"/>
                    <a:invGamma/>
                  </a:schemeClr>
                </a:gs>
                <a:gs pos="100000">
                  <a:schemeClr val="accent2"/>
                </a:gs>
              </a:gsLst>
              <a:lin ang="0" scaled="1"/>
            </a:gradFill>
            <a:ln>
              <a:noFill/>
            </a:ln>
            <a:effectLst/>
          </p:spPr>
          <p:txBody>
            <a:bodyPr/>
            <a:lstStyle/>
            <a:p>
              <a:pPr eaLnBrk="1" hangingPunct="1">
                <a:defRPr/>
              </a:pPr>
              <a:endParaRPr lang="en-IN" sz="1800"/>
            </a:p>
          </p:txBody>
        </p:sp>
        <p:sp>
          <p:nvSpPr>
            <p:cNvPr id="1033" name="Arc 4">
              <a:extLst>
                <a:ext uri="{FF2B5EF4-FFF2-40B4-BE49-F238E27FC236}">
                  <a16:creationId xmlns:a16="http://schemas.microsoft.com/office/drawing/2014/main" id="{40CE2D4C-5B4B-4E49-8163-AD358AEBB6D6}"/>
                </a:ext>
              </a:extLst>
            </p:cNvPr>
            <p:cNvSpPr>
              <a:spLocks/>
            </p:cNvSpPr>
            <p:nvPr/>
          </p:nvSpPr>
          <p:spPr bwMode="auto">
            <a:xfrm>
              <a:off x="0" y="1"/>
              <a:ext cx="5298" cy="4312"/>
            </a:xfrm>
            <a:custGeom>
              <a:avLst/>
              <a:gdLst>
                <a:gd name="T0" fmla="*/ 0 w 21600"/>
                <a:gd name="T1" fmla="*/ 0 h 21600"/>
                <a:gd name="T2" fmla="*/ 5298 w 21600"/>
                <a:gd name="T3" fmla="*/ 4312 h 21600"/>
                <a:gd name="T4" fmla="*/ 0 w 21600"/>
                <a:gd name="T5" fmla="*/ 4312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lnTo>
                    <a:pt x="0" y="0"/>
                  </a:lnTo>
                  <a:close/>
                </a:path>
              </a:pathLst>
            </a:custGeom>
            <a:noFill/>
            <a:ln w="12700" cap="rnd">
              <a:solidFill>
                <a:schemeClr val="accent2"/>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grpSp>
      <p:sp>
        <p:nvSpPr>
          <p:cNvPr id="77829" name="Rectangle 5">
            <a:extLst>
              <a:ext uri="{FF2B5EF4-FFF2-40B4-BE49-F238E27FC236}">
                <a16:creationId xmlns:a16="http://schemas.microsoft.com/office/drawing/2014/main" id="{7A11DCAA-D206-4140-8E01-17E678C7EB5E}"/>
              </a:ext>
            </a:extLst>
          </p:cNvPr>
          <p:cNvSpPr>
            <a:spLocks noGrp="1" noChangeArrowheads="1"/>
          </p:cNvSpPr>
          <p:nvPr>
            <p:ph type="title"/>
          </p:nvPr>
        </p:nvSpPr>
        <p:spPr bwMode="auto">
          <a:xfrm>
            <a:off x="914400" y="609600"/>
            <a:ext cx="10363200" cy="1143000"/>
          </a:xfrm>
          <a:prstGeom prst="rect">
            <a:avLst/>
          </a:prstGeom>
          <a:noFill/>
          <a:ln>
            <a:noFill/>
          </a:ln>
          <a:effec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77830" name="Rectangle 6">
            <a:extLst>
              <a:ext uri="{FF2B5EF4-FFF2-40B4-BE49-F238E27FC236}">
                <a16:creationId xmlns:a16="http://schemas.microsoft.com/office/drawing/2014/main" id="{D8039550-6EA7-4BEC-B116-68B4B1AA6C56}"/>
              </a:ext>
            </a:extLst>
          </p:cNvPr>
          <p:cNvSpPr>
            <a:spLocks noGrp="1" noChangeArrowheads="1"/>
          </p:cNvSpPr>
          <p:nvPr>
            <p:ph type="dt" sz="half" idx="2"/>
          </p:nvPr>
        </p:nvSpPr>
        <p:spPr bwMode="auto">
          <a:xfrm>
            <a:off x="914400" y="6248400"/>
            <a:ext cx="2540000" cy="457200"/>
          </a:xfrm>
          <a:prstGeom prst="rect">
            <a:avLst/>
          </a:prstGeom>
          <a:noFill/>
          <a:ln>
            <a:noFill/>
          </a:ln>
          <a:effectLst/>
        </p:spPr>
        <p:txBody>
          <a:bodyPr vert="horz" wrap="square" lIns="92075" tIns="46038" rIns="92075" bIns="46038" numCol="1" anchor="ctr" anchorCtr="0" compatLnSpc="1">
            <a:prstTxWarp prst="textNoShape">
              <a:avLst/>
            </a:prstTxWarp>
          </a:bodyPr>
          <a:lstStyle>
            <a:lvl1pPr eaLnBrk="1" hangingPunct="1">
              <a:defRPr sz="1400"/>
            </a:lvl1pPr>
          </a:lstStyle>
          <a:p>
            <a:pPr>
              <a:defRPr/>
            </a:pPr>
            <a:endParaRPr lang="en-US" altLang="en-US"/>
          </a:p>
        </p:txBody>
      </p:sp>
      <p:sp>
        <p:nvSpPr>
          <p:cNvPr id="77831" name="Rectangle 7">
            <a:extLst>
              <a:ext uri="{FF2B5EF4-FFF2-40B4-BE49-F238E27FC236}">
                <a16:creationId xmlns:a16="http://schemas.microsoft.com/office/drawing/2014/main" id="{434ADB45-691F-4BC9-925F-5D3E5C5EC165}"/>
              </a:ext>
            </a:extLst>
          </p:cNvPr>
          <p:cNvSpPr>
            <a:spLocks noGrp="1" noChangeArrowheads="1"/>
          </p:cNvSpPr>
          <p:nvPr>
            <p:ph type="ftr" sz="quarter" idx="3"/>
          </p:nvPr>
        </p:nvSpPr>
        <p:spPr bwMode="auto">
          <a:xfrm>
            <a:off x="4165600" y="6248400"/>
            <a:ext cx="3860800" cy="457200"/>
          </a:xfrm>
          <a:prstGeom prst="rect">
            <a:avLst/>
          </a:prstGeom>
          <a:noFill/>
          <a:ln>
            <a:noFill/>
          </a:ln>
          <a:effectLst/>
        </p:spPr>
        <p:txBody>
          <a:bodyPr vert="horz" wrap="square" lIns="92075" tIns="46038" rIns="92075" bIns="46038" numCol="1" anchor="ctr" anchorCtr="0" compatLnSpc="1">
            <a:prstTxWarp prst="textNoShape">
              <a:avLst/>
            </a:prstTxWarp>
          </a:bodyPr>
          <a:lstStyle>
            <a:lvl1pPr algn="ctr" eaLnBrk="1" hangingPunct="1">
              <a:defRPr sz="1400"/>
            </a:lvl1pPr>
          </a:lstStyle>
          <a:p>
            <a:pPr>
              <a:defRPr/>
            </a:pPr>
            <a:r>
              <a:rPr lang="en-US" altLang="en-US"/>
              <a:t>History of ANN</a:t>
            </a:r>
          </a:p>
        </p:txBody>
      </p:sp>
      <p:sp>
        <p:nvSpPr>
          <p:cNvPr id="77832" name="Rectangle 8">
            <a:extLst>
              <a:ext uri="{FF2B5EF4-FFF2-40B4-BE49-F238E27FC236}">
                <a16:creationId xmlns:a16="http://schemas.microsoft.com/office/drawing/2014/main" id="{D32993EA-43DF-4882-A621-3E0C9A8551B9}"/>
              </a:ext>
            </a:extLst>
          </p:cNvPr>
          <p:cNvSpPr>
            <a:spLocks noGrp="1" noChangeArrowheads="1"/>
          </p:cNvSpPr>
          <p:nvPr>
            <p:ph type="sldNum" sz="quarter" idx="4"/>
          </p:nvPr>
        </p:nvSpPr>
        <p:spPr bwMode="auto">
          <a:xfrm>
            <a:off x="8737600" y="6248400"/>
            <a:ext cx="2540000" cy="457200"/>
          </a:xfrm>
          <a:prstGeom prst="rect">
            <a:avLst/>
          </a:prstGeom>
          <a:noFill/>
          <a:ln>
            <a:noFill/>
          </a:ln>
          <a:effectLst/>
        </p:spPr>
        <p:txBody>
          <a:bodyPr vert="horz" wrap="square" lIns="92075" tIns="46038" rIns="92075" bIns="46038" numCol="1" anchor="ctr" anchorCtr="0" compatLnSpc="1">
            <a:prstTxWarp prst="textNoShape">
              <a:avLst/>
            </a:prstTxWarp>
          </a:bodyPr>
          <a:lstStyle>
            <a:lvl1pPr algn="r" eaLnBrk="1" hangingPunct="1">
              <a:defRPr sz="1400" smtClean="0"/>
            </a:lvl1pPr>
          </a:lstStyle>
          <a:p>
            <a:pPr>
              <a:defRPr/>
            </a:pPr>
            <a:fld id="{1C51A5B0-5930-434E-B3CB-234EBE7D7E67}" type="slidenum">
              <a:rPr lang="en-US" altLang="en-US"/>
              <a:pPr>
                <a:defRPr/>
              </a:pPr>
              <a:t>‹#›</a:t>
            </a:fld>
            <a:endParaRPr lang="en-US" altLang="en-US"/>
          </a:p>
        </p:txBody>
      </p:sp>
      <p:sp>
        <p:nvSpPr>
          <p:cNvPr id="1031" name="Rectangle 9">
            <a:extLst>
              <a:ext uri="{FF2B5EF4-FFF2-40B4-BE49-F238E27FC236}">
                <a16:creationId xmlns:a16="http://schemas.microsoft.com/office/drawing/2014/main" id="{12603546-1BC9-49AB-B8CE-D29F759C27CD}"/>
              </a:ext>
            </a:extLst>
          </p:cNvPr>
          <p:cNvSpPr>
            <a:spLocks noGrp="1" noChangeArrowheads="1"/>
          </p:cNvSpPr>
          <p:nvPr>
            <p:ph type="body" idx="1"/>
          </p:nvPr>
        </p:nvSpPr>
        <p:spPr bwMode="auto">
          <a:xfrm>
            <a:off x="914400" y="1981200"/>
            <a:ext cx="10363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Tree>
    <p:extLst>
      <p:ext uri="{BB962C8B-B14F-4D97-AF65-F5344CB8AC3E}">
        <p14:creationId xmlns:p14="http://schemas.microsoft.com/office/powerpoint/2010/main" val="2848622434"/>
      </p:ext>
    </p:extLst>
  </p:cSld>
  <p:clrMap bg1="dk2" tx1="lt1" bg2="dk1"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ctr" rtl="0" eaLnBrk="0" fontAlgn="base" hangingPunct="0">
        <a:spcBef>
          <a:spcPct val="0"/>
        </a:spcBef>
        <a:spcAft>
          <a:spcPct val="0"/>
        </a:spcAft>
        <a:defRPr sz="4400" kern="12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defRPr>
      </a:lvl9pPr>
    </p:titleStyle>
    <p:body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a:extLst>
              <a:ext uri="{FF2B5EF4-FFF2-40B4-BE49-F238E27FC236}">
                <a16:creationId xmlns:a16="http://schemas.microsoft.com/office/drawing/2014/main" id="{D990D50E-5370-4875-89A5-B43575EFBC2E}"/>
              </a:ext>
            </a:extLst>
          </p:cNvPr>
          <p:cNvGrpSpPr>
            <a:grpSpLocks/>
          </p:cNvGrpSpPr>
          <p:nvPr/>
        </p:nvGrpSpPr>
        <p:grpSpPr bwMode="auto">
          <a:xfrm>
            <a:off x="0" y="0"/>
            <a:ext cx="10160000" cy="6858000"/>
            <a:chOff x="0" y="0"/>
            <a:chExt cx="4800" cy="4320"/>
          </a:xfrm>
        </p:grpSpPr>
        <p:grpSp>
          <p:nvGrpSpPr>
            <p:cNvPr id="1032" name="Group 3">
              <a:extLst>
                <a:ext uri="{FF2B5EF4-FFF2-40B4-BE49-F238E27FC236}">
                  <a16:creationId xmlns:a16="http://schemas.microsoft.com/office/drawing/2014/main" id="{CC07D3A1-7E94-4410-8FFB-EAE9BED466D8}"/>
                </a:ext>
              </a:extLst>
            </p:cNvPr>
            <p:cNvGrpSpPr>
              <a:grpSpLocks/>
            </p:cNvGrpSpPr>
            <p:nvPr userDrawn="1"/>
          </p:nvGrpSpPr>
          <p:grpSpPr bwMode="auto">
            <a:xfrm>
              <a:off x="0" y="0"/>
              <a:ext cx="2016" cy="4320"/>
              <a:chOff x="0" y="0"/>
              <a:chExt cx="2016" cy="4320"/>
            </a:xfrm>
          </p:grpSpPr>
          <p:sp>
            <p:nvSpPr>
              <p:cNvPr id="1036" name="Rectangle 4">
                <a:extLst>
                  <a:ext uri="{FF2B5EF4-FFF2-40B4-BE49-F238E27FC236}">
                    <a16:creationId xmlns:a16="http://schemas.microsoft.com/office/drawing/2014/main" id="{C65CB585-0961-4998-8501-B63678626718}"/>
                  </a:ext>
                </a:extLst>
              </p:cNvPr>
              <p:cNvSpPr>
                <a:spLocks noChangeArrowheads="1"/>
              </p:cNvSpPr>
              <p:nvPr userDrawn="1"/>
            </p:nvSpPr>
            <p:spPr bwMode="auto">
              <a:xfrm>
                <a:off x="0" y="0"/>
                <a:ext cx="480" cy="4320"/>
              </a:xfrm>
              <a:prstGeom prst="rect">
                <a:avLst/>
              </a:prstGeom>
              <a:solidFill>
                <a:schemeClr val="accent2"/>
              </a:solidFill>
              <a:ln>
                <a:noFill/>
              </a:ln>
              <a:effectLst/>
            </p:spPr>
            <p:txBody>
              <a:bodyPr wrap="none" anchor="ctr"/>
              <a:lstStyle>
                <a:lvl1pPr>
                  <a:defRPr kumimoji="1">
                    <a:solidFill>
                      <a:schemeClr val="tx1"/>
                    </a:solidFill>
                    <a:latin typeface="Arial" panose="020B0604020202020204" pitchFamily="34" charset="0"/>
                    <a:ea typeface="PMingLiU" panose="02020500000000000000" pitchFamily="18" charset="-120"/>
                  </a:defRPr>
                </a:lvl1pPr>
                <a:lvl2pPr marL="742950" indent="-285750">
                  <a:defRPr kumimoji="1">
                    <a:solidFill>
                      <a:schemeClr val="tx1"/>
                    </a:solidFill>
                    <a:latin typeface="Arial" panose="020B0604020202020204" pitchFamily="34" charset="0"/>
                    <a:ea typeface="PMingLiU" panose="02020500000000000000" pitchFamily="18" charset="-120"/>
                  </a:defRPr>
                </a:lvl2pPr>
                <a:lvl3pPr marL="1143000" indent="-228600">
                  <a:defRPr kumimoji="1">
                    <a:solidFill>
                      <a:schemeClr val="tx1"/>
                    </a:solidFill>
                    <a:latin typeface="Arial" panose="020B0604020202020204" pitchFamily="34" charset="0"/>
                    <a:ea typeface="PMingLiU" panose="02020500000000000000" pitchFamily="18" charset="-120"/>
                  </a:defRPr>
                </a:lvl3pPr>
                <a:lvl4pPr marL="1600200" indent="-228600">
                  <a:defRPr kumimoji="1">
                    <a:solidFill>
                      <a:schemeClr val="tx1"/>
                    </a:solidFill>
                    <a:latin typeface="Arial" panose="020B0604020202020204" pitchFamily="34" charset="0"/>
                    <a:ea typeface="PMingLiU" panose="02020500000000000000" pitchFamily="18" charset="-120"/>
                  </a:defRPr>
                </a:lvl4pPr>
                <a:lvl5pPr marL="2057400" indent="-228600">
                  <a:defRPr kumimoji="1">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9pPr>
              </a:lstStyle>
              <a:p>
                <a:pPr eaLnBrk="1" hangingPunct="1">
                  <a:defRPr/>
                </a:pPr>
                <a:endParaRPr lang="en-IN" altLang="en-US" sz="1800"/>
              </a:p>
            </p:txBody>
          </p:sp>
          <p:sp>
            <p:nvSpPr>
              <p:cNvPr id="1037" name="Freeform 5">
                <a:extLst>
                  <a:ext uri="{FF2B5EF4-FFF2-40B4-BE49-F238E27FC236}">
                    <a16:creationId xmlns:a16="http://schemas.microsoft.com/office/drawing/2014/main" id="{CFFE8686-047B-4814-A4DE-06344472F067}"/>
                  </a:ext>
                </a:extLst>
              </p:cNvPr>
              <p:cNvSpPr>
                <a:spLocks/>
              </p:cNvSpPr>
              <p:nvPr userDrawn="1"/>
            </p:nvSpPr>
            <p:spPr bwMode="auto">
              <a:xfrm>
                <a:off x="288" y="0"/>
                <a:ext cx="1728" cy="735"/>
              </a:xfrm>
              <a:custGeom>
                <a:avLst/>
                <a:gdLst>
                  <a:gd name="T0" fmla="*/ 1728 w 1728"/>
                  <a:gd name="T1" fmla="*/ 0 h 735"/>
                  <a:gd name="T2" fmla="*/ 1728 w 1728"/>
                  <a:gd name="T3" fmla="*/ 480 h 735"/>
                  <a:gd name="T4" fmla="*/ 380 w 1728"/>
                  <a:gd name="T5" fmla="*/ 482 h 735"/>
                  <a:gd name="T6" fmla="*/ 354 w 1728"/>
                  <a:gd name="T7" fmla="*/ 480 h 735"/>
                  <a:gd name="T8" fmla="*/ 308 w 1728"/>
                  <a:gd name="T9" fmla="*/ 489 h 735"/>
                  <a:gd name="T10" fmla="*/ 246 w 1728"/>
                  <a:gd name="T11" fmla="*/ 531 h 735"/>
                  <a:gd name="T12" fmla="*/ 206 w 1728"/>
                  <a:gd name="T13" fmla="*/ 597 h 735"/>
                  <a:gd name="T14" fmla="*/ 192 w 1728"/>
                  <a:gd name="T15" fmla="*/ 666 h 735"/>
                  <a:gd name="T16" fmla="*/ 192 w 1728"/>
                  <a:gd name="T17" fmla="*/ 735 h 735"/>
                  <a:gd name="T18" fmla="*/ 0 w 1728"/>
                  <a:gd name="T19" fmla="*/ 735 h 735"/>
                  <a:gd name="T20" fmla="*/ 0 w 1728"/>
                  <a:gd name="T21" fmla="*/ 480 h 735"/>
                  <a:gd name="T22" fmla="*/ 0 w 1728"/>
                  <a:gd name="T23" fmla="*/ 0 h 735"/>
                  <a:gd name="T24" fmla="*/ 1728 w 1728"/>
                  <a:gd name="T25" fmla="*/ 0 h 73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8" h="735">
                    <a:moveTo>
                      <a:pt x="1728" y="0"/>
                    </a:moveTo>
                    <a:lnTo>
                      <a:pt x="1728" y="480"/>
                    </a:lnTo>
                    <a:lnTo>
                      <a:pt x="380" y="482"/>
                    </a:lnTo>
                    <a:lnTo>
                      <a:pt x="354" y="480"/>
                    </a:lnTo>
                    <a:lnTo>
                      <a:pt x="308" y="489"/>
                    </a:lnTo>
                    <a:cubicBezTo>
                      <a:pt x="290" y="498"/>
                      <a:pt x="263" y="513"/>
                      <a:pt x="246" y="531"/>
                    </a:cubicBezTo>
                    <a:cubicBezTo>
                      <a:pt x="229" y="549"/>
                      <a:pt x="215" y="574"/>
                      <a:pt x="206" y="597"/>
                    </a:cubicBezTo>
                    <a:cubicBezTo>
                      <a:pt x="197" y="620"/>
                      <a:pt x="194" y="643"/>
                      <a:pt x="192" y="666"/>
                    </a:cubicBezTo>
                    <a:lnTo>
                      <a:pt x="192" y="735"/>
                    </a:lnTo>
                    <a:lnTo>
                      <a:pt x="0" y="735"/>
                    </a:lnTo>
                    <a:lnTo>
                      <a:pt x="0" y="480"/>
                    </a:lnTo>
                    <a:lnTo>
                      <a:pt x="0" y="0"/>
                    </a:lnTo>
                    <a:lnTo>
                      <a:pt x="1728" y="0"/>
                    </a:lnTo>
                    <a:close/>
                  </a:path>
                </a:pathLst>
              </a:custGeom>
              <a:solidFill>
                <a:schemeClr val="accent2"/>
              </a:solidFill>
              <a:ln>
                <a:noFill/>
              </a:ln>
              <a:effectLst/>
              <a:extLs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sz="1800"/>
              </a:p>
            </p:txBody>
          </p:sp>
        </p:grpSp>
        <p:grpSp>
          <p:nvGrpSpPr>
            <p:cNvPr id="1033" name="Group 6">
              <a:extLst>
                <a:ext uri="{FF2B5EF4-FFF2-40B4-BE49-F238E27FC236}">
                  <a16:creationId xmlns:a16="http://schemas.microsoft.com/office/drawing/2014/main" id="{0523F05A-C690-4294-8CB6-DC8C2F996F5C}"/>
                </a:ext>
              </a:extLst>
            </p:cNvPr>
            <p:cNvGrpSpPr>
              <a:grpSpLocks/>
            </p:cNvGrpSpPr>
            <p:nvPr/>
          </p:nvGrpSpPr>
          <p:grpSpPr bwMode="auto">
            <a:xfrm>
              <a:off x="144" y="1248"/>
              <a:ext cx="4656" cy="201"/>
              <a:chOff x="144" y="1248"/>
              <a:chExt cx="4656" cy="201"/>
            </a:xfrm>
          </p:grpSpPr>
          <p:sp>
            <p:nvSpPr>
              <p:cNvPr id="1034" name="AutoShape 7">
                <a:extLst>
                  <a:ext uri="{FF2B5EF4-FFF2-40B4-BE49-F238E27FC236}">
                    <a16:creationId xmlns:a16="http://schemas.microsoft.com/office/drawing/2014/main" id="{1B72F591-812D-4249-9290-A800D68787D4}"/>
                  </a:ext>
                </a:extLst>
              </p:cNvPr>
              <p:cNvSpPr>
                <a:spLocks noChangeArrowheads="1"/>
              </p:cNvSpPr>
              <p:nvPr/>
            </p:nvSpPr>
            <p:spPr bwMode="auto">
              <a:xfrm>
                <a:off x="384" y="1248"/>
                <a:ext cx="4416" cy="200"/>
              </a:xfrm>
              <a:prstGeom prst="roundRect">
                <a:avLst>
                  <a:gd name="adj" fmla="val 0"/>
                </a:avLst>
              </a:prstGeom>
              <a:solidFill>
                <a:schemeClr val="hlink"/>
              </a:solidFill>
              <a:ln>
                <a:noFill/>
              </a:ln>
              <a:effectLst/>
            </p:spPr>
            <p:txBody>
              <a:bodyPr wrap="none" anchor="ctr"/>
              <a:lstStyle>
                <a:lvl1pPr>
                  <a:defRPr kumimoji="1">
                    <a:solidFill>
                      <a:schemeClr val="tx1"/>
                    </a:solidFill>
                    <a:latin typeface="Arial" panose="020B0604020202020204" pitchFamily="34" charset="0"/>
                    <a:ea typeface="PMingLiU" panose="02020500000000000000" pitchFamily="18" charset="-120"/>
                  </a:defRPr>
                </a:lvl1pPr>
                <a:lvl2pPr marL="742950" indent="-285750">
                  <a:defRPr kumimoji="1">
                    <a:solidFill>
                      <a:schemeClr val="tx1"/>
                    </a:solidFill>
                    <a:latin typeface="Arial" panose="020B0604020202020204" pitchFamily="34" charset="0"/>
                    <a:ea typeface="PMingLiU" panose="02020500000000000000" pitchFamily="18" charset="-120"/>
                  </a:defRPr>
                </a:lvl2pPr>
                <a:lvl3pPr marL="1143000" indent="-228600">
                  <a:defRPr kumimoji="1">
                    <a:solidFill>
                      <a:schemeClr val="tx1"/>
                    </a:solidFill>
                    <a:latin typeface="Arial" panose="020B0604020202020204" pitchFamily="34" charset="0"/>
                    <a:ea typeface="PMingLiU" panose="02020500000000000000" pitchFamily="18" charset="-120"/>
                  </a:defRPr>
                </a:lvl3pPr>
                <a:lvl4pPr marL="1600200" indent="-228600">
                  <a:defRPr kumimoji="1">
                    <a:solidFill>
                      <a:schemeClr val="tx1"/>
                    </a:solidFill>
                    <a:latin typeface="Arial" panose="020B0604020202020204" pitchFamily="34" charset="0"/>
                    <a:ea typeface="PMingLiU" panose="02020500000000000000" pitchFamily="18" charset="-120"/>
                  </a:defRPr>
                </a:lvl4pPr>
                <a:lvl5pPr marL="2057400" indent="-228600">
                  <a:defRPr kumimoji="1">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9pPr>
              </a:lstStyle>
              <a:p>
                <a:pPr eaLnBrk="1" hangingPunct="1">
                  <a:defRPr/>
                </a:pPr>
                <a:endParaRPr lang="en-IN" altLang="en-US" sz="1800"/>
              </a:p>
            </p:txBody>
          </p:sp>
          <p:sp>
            <p:nvSpPr>
              <p:cNvPr id="1035" name="AutoShape 8">
                <a:extLst>
                  <a:ext uri="{FF2B5EF4-FFF2-40B4-BE49-F238E27FC236}">
                    <a16:creationId xmlns:a16="http://schemas.microsoft.com/office/drawing/2014/main" id="{285CBC24-AAE6-4C4D-A272-CAB9B772E96C}"/>
                  </a:ext>
                </a:extLst>
              </p:cNvPr>
              <p:cNvSpPr>
                <a:spLocks noChangeArrowheads="1"/>
              </p:cNvSpPr>
              <p:nvPr/>
            </p:nvSpPr>
            <p:spPr bwMode="auto">
              <a:xfrm flipH="1">
                <a:off x="144" y="1248"/>
                <a:ext cx="248" cy="201"/>
              </a:xfrm>
              <a:prstGeom prst="flowChartDelay">
                <a:avLst/>
              </a:prstGeom>
              <a:solidFill>
                <a:schemeClr val="hlink"/>
              </a:solidFill>
              <a:ln>
                <a:noFill/>
              </a:ln>
              <a:effectLst/>
            </p:spPr>
            <p:txBody>
              <a:bodyPr wrap="none" anchor="ctr"/>
              <a:lstStyle>
                <a:lvl1pPr>
                  <a:defRPr kumimoji="1">
                    <a:solidFill>
                      <a:schemeClr val="tx1"/>
                    </a:solidFill>
                    <a:latin typeface="Arial" panose="020B0604020202020204" pitchFamily="34" charset="0"/>
                    <a:ea typeface="PMingLiU" panose="02020500000000000000" pitchFamily="18" charset="-120"/>
                  </a:defRPr>
                </a:lvl1pPr>
                <a:lvl2pPr marL="742950" indent="-285750">
                  <a:defRPr kumimoji="1">
                    <a:solidFill>
                      <a:schemeClr val="tx1"/>
                    </a:solidFill>
                    <a:latin typeface="Arial" panose="020B0604020202020204" pitchFamily="34" charset="0"/>
                    <a:ea typeface="PMingLiU" panose="02020500000000000000" pitchFamily="18" charset="-120"/>
                  </a:defRPr>
                </a:lvl2pPr>
                <a:lvl3pPr marL="1143000" indent="-228600">
                  <a:defRPr kumimoji="1">
                    <a:solidFill>
                      <a:schemeClr val="tx1"/>
                    </a:solidFill>
                    <a:latin typeface="Arial" panose="020B0604020202020204" pitchFamily="34" charset="0"/>
                    <a:ea typeface="PMingLiU" panose="02020500000000000000" pitchFamily="18" charset="-120"/>
                  </a:defRPr>
                </a:lvl3pPr>
                <a:lvl4pPr marL="1600200" indent="-228600">
                  <a:defRPr kumimoji="1">
                    <a:solidFill>
                      <a:schemeClr val="tx1"/>
                    </a:solidFill>
                    <a:latin typeface="Arial" panose="020B0604020202020204" pitchFamily="34" charset="0"/>
                    <a:ea typeface="PMingLiU" panose="02020500000000000000" pitchFamily="18" charset="-120"/>
                  </a:defRPr>
                </a:lvl4pPr>
                <a:lvl5pPr marL="2057400" indent="-228600">
                  <a:defRPr kumimoji="1">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9pPr>
              </a:lstStyle>
              <a:p>
                <a:pPr eaLnBrk="1" hangingPunct="1">
                  <a:defRPr/>
                </a:pPr>
                <a:endParaRPr lang="en-IN" altLang="en-US" sz="1800"/>
              </a:p>
            </p:txBody>
          </p:sp>
        </p:grpSp>
      </p:grpSp>
      <p:sp>
        <p:nvSpPr>
          <p:cNvPr id="1027" name="AutoShape 9">
            <a:extLst>
              <a:ext uri="{FF2B5EF4-FFF2-40B4-BE49-F238E27FC236}">
                <a16:creationId xmlns:a16="http://schemas.microsoft.com/office/drawing/2014/main" id="{E893C7FF-6A4E-410F-9EBD-DC152F4CB29F}"/>
              </a:ext>
            </a:extLst>
          </p:cNvPr>
          <p:cNvSpPr>
            <a:spLocks noGrp="1" noChangeArrowheads="1"/>
          </p:cNvSpPr>
          <p:nvPr>
            <p:ph type="title"/>
          </p:nvPr>
        </p:nvSpPr>
        <p:spPr bwMode="auto">
          <a:xfrm>
            <a:off x="1016000" y="762000"/>
            <a:ext cx="10566400" cy="1143000"/>
          </a:xfrm>
          <a:prstGeom prst="roundRect">
            <a:avLst>
              <a:gd name="adj" fmla="val 21667"/>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TW" altLang="en-US"/>
              <a:t>按一下以編輯母片標題樣式</a:t>
            </a:r>
          </a:p>
        </p:txBody>
      </p:sp>
      <p:sp>
        <p:nvSpPr>
          <p:cNvPr id="1028" name="Rectangle 10">
            <a:extLst>
              <a:ext uri="{FF2B5EF4-FFF2-40B4-BE49-F238E27FC236}">
                <a16:creationId xmlns:a16="http://schemas.microsoft.com/office/drawing/2014/main" id="{1606ADDB-1DC4-444C-90E6-6486CCAC8D03}"/>
              </a:ext>
            </a:extLst>
          </p:cNvPr>
          <p:cNvSpPr>
            <a:spLocks noGrp="1" noChangeArrowheads="1"/>
          </p:cNvSpPr>
          <p:nvPr>
            <p:ph type="body" idx="1"/>
          </p:nvPr>
        </p:nvSpPr>
        <p:spPr bwMode="auto">
          <a:xfrm>
            <a:off x="1117601" y="2362201"/>
            <a:ext cx="10257367" cy="3724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TW" altLang="en-US"/>
              <a:t>按一下以編輯母片</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107" name="Rectangle 11">
            <a:extLst>
              <a:ext uri="{FF2B5EF4-FFF2-40B4-BE49-F238E27FC236}">
                <a16:creationId xmlns:a16="http://schemas.microsoft.com/office/drawing/2014/main" id="{91BDE505-5468-4C32-898F-655B0884D730}"/>
              </a:ext>
            </a:extLst>
          </p:cNvPr>
          <p:cNvSpPr>
            <a:spLocks noGrp="1" noChangeArrowheads="1"/>
          </p:cNvSpPr>
          <p:nvPr>
            <p:ph type="dt" sz="half" idx="2"/>
          </p:nvPr>
        </p:nvSpPr>
        <p:spPr bwMode="auto">
          <a:xfrm>
            <a:off x="3251201" y="6248401"/>
            <a:ext cx="2840567" cy="474663"/>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kumimoji="0" sz="1400">
                <a:ea typeface="新細明體" panose="02020500000000000000" pitchFamily="18" charset="-120"/>
              </a:defRPr>
            </a:lvl1pPr>
          </a:lstStyle>
          <a:p>
            <a:pPr>
              <a:defRPr/>
            </a:pPr>
            <a:endParaRPr lang="en-US" altLang="zh-TW"/>
          </a:p>
        </p:txBody>
      </p:sp>
      <p:sp>
        <p:nvSpPr>
          <p:cNvPr id="4108" name="Rectangle 12">
            <a:extLst>
              <a:ext uri="{FF2B5EF4-FFF2-40B4-BE49-F238E27FC236}">
                <a16:creationId xmlns:a16="http://schemas.microsoft.com/office/drawing/2014/main" id="{A19BC657-9B74-4172-81F5-4D173EA383C0}"/>
              </a:ext>
            </a:extLst>
          </p:cNvPr>
          <p:cNvSpPr>
            <a:spLocks noGrp="1" noChangeArrowheads="1"/>
          </p:cNvSpPr>
          <p:nvPr>
            <p:ph type="ftr" sz="quarter" idx="3"/>
          </p:nvPr>
        </p:nvSpPr>
        <p:spPr bwMode="auto">
          <a:xfrm>
            <a:off x="7721600" y="6248401"/>
            <a:ext cx="3862917" cy="474663"/>
          </a:xfrm>
          <a:prstGeom prst="rect">
            <a:avLst/>
          </a:prstGeom>
          <a:noFill/>
          <a:ln>
            <a:noFill/>
          </a:ln>
          <a:effectLst/>
        </p:spPr>
        <p:txBody>
          <a:bodyPr vert="horz" wrap="square" lIns="91440" tIns="45720" rIns="91440" bIns="45720" numCol="1" anchor="b" anchorCtr="0" compatLnSpc="1">
            <a:prstTxWarp prst="textNoShape">
              <a:avLst/>
            </a:prstTxWarp>
          </a:bodyPr>
          <a:lstStyle>
            <a:lvl1pPr algn="ctr" eaLnBrk="1" hangingPunct="1">
              <a:defRPr kumimoji="0" sz="1400">
                <a:ea typeface="新細明體" panose="02020500000000000000" pitchFamily="18" charset="-120"/>
              </a:defRPr>
            </a:lvl1pPr>
          </a:lstStyle>
          <a:p>
            <a:pPr>
              <a:defRPr/>
            </a:pPr>
            <a:endParaRPr lang="en-US" altLang="zh-TW"/>
          </a:p>
        </p:txBody>
      </p:sp>
      <p:sp>
        <p:nvSpPr>
          <p:cNvPr id="4109" name="Rectangle 13">
            <a:extLst>
              <a:ext uri="{FF2B5EF4-FFF2-40B4-BE49-F238E27FC236}">
                <a16:creationId xmlns:a16="http://schemas.microsoft.com/office/drawing/2014/main" id="{72DB113F-F573-46B5-A403-797085015BEE}"/>
              </a:ext>
            </a:extLst>
          </p:cNvPr>
          <p:cNvSpPr>
            <a:spLocks noGrp="1" noChangeArrowheads="1"/>
          </p:cNvSpPr>
          <p:nvPr>
            <p:ph type="sldNum" sz="quarter" idx="4"/>
          </p:nvPr>
        </p:nvSpPr>
        <p:spPr bwMode="auto">
          <a:xfrm>
            <a:off x="112184" y="6242050"/>
            <a:ext cx="783167" cy="488950"/>
          </a:xfrm>
          <a:prstGeom prst="rect">
            <a:avLst/>
          </a:prstGeom>
          <a:noFill/>
          <a:ln>
            <a:noFill/>
          </a:ln>
          <a:effectLst/>
        </p:spPr>
        <p:txBody>
          <a:bodyPr vert="horz" wrap="square" lIns="91440" tIns="45720" rIns="91440" bIns="45720" numCol="1" anchor="b" anchorCtr="1" compatLnSpc="1">
            <a:prstTxWarp prst="textNoShape">
              <a:avLst/>
            </a:prstTxWarp>
          </a:bodyPr>
          <a:lstStyle>
            <a:lvl1pPr eaLnBrk="1" hangingPunct="1">
              <a:defRPr kumimoji="0" sz="2600" b="1">
                <a:solidFill>
                  <a:schemeClr val="bg1"/>
                </a:solidFill>
                <a:ea typeface="新細明體" panose="02020500000000000000" pitchFamily="18" charset="-120"/>
              </a:defRPr>
            </a:lvl1pPr>
          </a:lstStyle>
          <a:p>
            <a:pPr>
              <a:defRPr/>
            </a:pPr>
            <a:fld id="{F539A86A-3ED8-44C5-93A1-924184A034D5}" type="slidenum">
              <a:rPr lang="en-US" altLang="zh-TW"/>
              <a:pPr>
                <a:defRPr/>
              </a:pPr>
              <a:t>‹#›</a:t>
            </a:fld>
            <a:endParaRPr lang="en-US" altLang="zh-TW"/>
          </a:p>
        </p:txBody>
      </p:sp>
    </p:spTree>
    <p:extLst>
      <p:ext uri="{BB962C8B-B14F-4D97-AF65-F5344CB8AC3E}">
        <p14:creationId xmlns:p14="http://schemas.microsoft.com/office/powerpoint/2010/main" val="122583606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Lst>
  <p:hf hdr="0" ftr="0" dt="0"/>
  <p:txStyles>
    <p:titleStyle>
      <a:lvl1pPr algn="l" rtl="0" eaLnBrk="0" fontAlgn="base" hangingPunct="0">
        <a:lnSpc>
          <a:spcPct val="90000"/>
        </a:lnSpc>
        <a:spcBef>
          <a:spcPct val="0"/>
        </a:spcBef>
        <a:spcAft>
          <a:spcPct val="0"/>
        </a:spcAft>
        <a:defRPr kumimoji="1" sz="3600" b="1" kern="1200">
          <a:solidFill>
            <a:schemeClr val="tx2"/>
          </a:solidFill>
          <a:latin typeface="+mj-lt"/>
          <a:ea typeface="PMingLiU" panose="02020500000000000000" pitchFamily="18" charset="-120"/>
          <a:cs typeface="+mj-cs"/>
        </a:defRPr>
      </a:lvl1pPr>
      <a:lvl2pPr algn="l" rtl="0" eaLnBrk="0" fontAlgn="base" hangingPunct="0">
        <a:lnSpc>
          <a:spcPct val="90000"/>
        </a:lnSpc>
        <a:spcBef>
          <a:spcPct val="0"/>
        </a:spcBef>
        <a:spcAft>
          <a:spcPct val="0"/>
        </a:spcAft>
        <a:defRPr kumimoji="1" sz="3600" b="1">
          <a:solidFill>
            <a:schemeClr val="tx2"/>
          </a:solidFill>
          <a:latin typeface="Arial" panose="020B0604020202020204" pitchFamily="34" charset="0"/>
          <a:ea typeface="PMingLiU" panose="02020500000000000000" pitchFamily="18" charset="-120"/>
        </a:defRPr>
      </a:lvl2pPr>
      <a:lvl3pPr algn="l" rtl="0" eaLnBrk="0" fontAlgn="base" hangingPunct="0">
        <a:lnSpc>
          <a:spcPct val="90000"/>
        </a:lnSpc>
        <a:spcBef>
          <a:spcPct val="0"/>
        </a:spcBef>
        <a:spcAft>
          <a:spcPct val="0"/>
        </a:spcAft>
        <a:defRPr kumimoji="1" sz="3600" b="1">
          <a:solidFill>
            <a:schemeClr val="tx2"/>
          </a:solidFill>
          <a:latin typeface="Arial" panose="020B0604020202020204" pitchFamily="34" charset="0"/>
          <a:ea typeface="PMingLiU" panose="02020500000000000000" pitchFamily="18" charset="-120"/>
        </a:defRPr>
      </a:lvl3pPr>
      <a:lvl4pPr algn="l" rtl="0" eaLnBrk="0" fontAlgn="base" hangingPunct="0">
        <a:lnSpc>
          <a:spcPct val="90000"/>
        </a:lnSpc>
        <a:spcBef>
          <a:spcPct val="0"/>
        </a:spcBef>
        <a:spcAft>
          <a:spcPct val="0"/>
        </a:spcAft>
        <a:defRPr kumimoji="1" sz="3600" b="1">
          <a:solidFill>
            <a:schemeClr val="tx2"/>
          </a:solidFill>
          <a:latin typeface="Arial" panose="020B0604020202020204" pitchFamily="34" charset="0"/>
          <a:ea typeface="PMingLiU" panose="02020500000000000000" pitchFamily="18" charset="-120"/>
        </a:defRPr>
      </a:lvl4pPr>
      <a:lvl5pPr algn="l" rtl="0" eaLnBrk="0" fontAlgn="base" hangingPunct="0">
        <a:lnSpc>
          <a:spcPct val="90000"/>
        </a:lnSpc>
        <a:spcBef>
          <a:spcPct val="0"/>
        </a:spcBef>
        <a:spcAft>
          <a:spcPct val="0"/>
        </a:spcAft>
        <a:defRPr kumimoji="1" sz="3600" b="1">
          <a:solidFill>
            <a:schemeClr val="tx2"/>
          </a:solidFill>
          <a:latin typeface="Arial" panose="020B0604020202020204" pitchFamily="34" charset="0"/>
          <a:ea typeface="PMingLiU" panose="02020500000000000000" pitchFamily="18" charset="-120"/>
        </a:defRPr>
      </a:lvl5pPr>
      <a:lvl6pPr marL="457200" algn="l" rtl="0" fontAlgn="base">
        <a:lnSpc>
          <a:spcPct val="90000"/>
        </a:lnSpc>
        <a:spcBef>
          <a:spcPct val="0"/>
        </a:spcBef>
        <a:spcAft>
          <a:spcPct val="0"/>
        </a:spcAft>
        <a:defRPr kumimoji="1" sz="3600" b="1">
          <a:solidFill>
            <a:schemeClr val="tx2"/>
          </a:solidFill>
          <a:latin typeface="Arial" panose="020B0604020202020204" pitchFamily="34" charset="0"/>
          <a:ea typeface="新細明體" panose="02020500000000000000" pitchFamily="18" charset="-120"/>
        </a:defRPr>
      </a:lvl6pPr>
      <a:lvl7pPr marL="914400" algn="l" rtl="0" fontAlgn="base">
        <a:lnSpc>
          <a:spcPct val="90000"/>
        </a:lnSpc>
        <a:spcBef>
          <a:spcPct val="0"/>
        </a:spcBef>
        <a:spcAft>
          <a:spcPct val="0"/>
        </a:spcAft>
        <a:defRPr kumimoji="1" sz="3600" b="1">
          <a:solidFill>
            <a:schemeClr val="tx2"/>
          </a:solidFill>
          <a:latin typeface="Arial" panose="020B0604020202020204" pitchFamily="34" charset="0"/>
          <a:ea typeface="新細明體" panose="02020500000000000000" pitchFamily="18" charset="-120"/>
        </a:defRPr>
      </a:lvl7pPr>
      <a:lvl8pPr marL="1371600" algn="l" rtl="0" fontAlgn="base">
        <a:lnSpc>
          <a:spcPct val="90000"/>
        </a:lnSpc>
        <a:spcBef>
          <a:spcPct val="0"/>
        </a:spcBef>
        <a:spcAft>
          <a:spcPct val="0"/>
        </a:spcAft>
        <a:defRPr kumimoji="1" sz="3600" b="1">
          <a:solidFill>
            <a:schemeClr val="tx2"/>
          </a:solidFill>
          <a:latin typeface="Arial" panose="020B0604020202020204" pitchFamily="34" charset="0"/>
          <a:ea typeface="新細明體" panose="02020500000000000000" pitchFamily="18" charset="-120"/>
        </a:defRPr>
      </a:lvl8pPr>
      <a:lvl9pPr marL="1828800" algn="l" rtl="0" fontAlgn="base">
        <a:lnSpc>
          <a:spcPct val="90000"/>
        </a:lnSpc>
        <a:spcBef>
          <a:spcPct val="0"/>
        </a:spcBef>
        <a:spcAft>
          <a:spcPct val="0"/>
        </a:spcAft>
        <a:defRPr kumimoji="1" sz="3600" b="1">
          <a:solidFill>
            <a:schemeClr val="tx2"/>
          </a:solidFill>
          <a:latin typeface="Arial" panose="020B0604020202020204" pitchFamily="34" charset="0"/>
          <a:ea typeface="新細明體" panose="02020500000000000000" pitchFamily="18" charset="-120"/>
        </a:defRPr>
      </a:lvl9pPr>
    </p:titleStyle>
    <p:bodyStyle>
      <a:lvl1pPr marL="342900" indent="-342900" algn="l" rtl="0" eaLnBrk="0" fontAlgn="base" hangingPunct="0">
        <a:spcBef>
          <a:spcPct val="20000"/>
        </a:spcBef>
        <a:spcAft>
          <a:spcPct val="0"/>
        </a:spcAft>
        <a:buClr>
          <a:schemeClr val="tx1"/>
        </a:buClr>
        <a:buSzPct val="75000"/>
        <a:buFont typeface="Wingdings" panose="05000000000000000000" pitchFamily="2" charset="2"/>
        <a:buChar char="l"/>
        <a:defRPr kumimoji="1" sz="2800" kern="1200">
          <a:solidFill>
            <a:schemeClr val="tx1"/>
          </a:solidFill>
          <a:latin typeface="+mn-lt"/>
          <a:ea typeface="PMingLiU" panose="02020500000000000000" pitchFamily="18" charset="-120"/>
          <a:cs typeface="+mn-cs"/>
        </a:defRPr>
      </a:lvl1pPr>
      <a:lvl2pPr marL="742950" indent="-285750" algn="l" rtl="0" eaLnBrk="0" fontAlgn="base" hangingPunct="0">
        <a:spcBef>
          <a:spcPct val="20000"/>
        </a:spcBef>
        <a:spcAft>
          <a:spcPct val="0"/>
        </a:spcAft>
        <a:buClr>
          <a:schemeClr val="tx1"/>
        </a:buClr>
        <a:buSzPct val="75000"/>
        <a:buChar char="–"/>
        <a:defRPr kumimoji="1" sz="2400" kern="1200">
          <a:solidFill>
            <a:schemeClr val="tx1"/>
          </a:solidFill>
          <a:latin typeface="+mn-lt"/>
          <a:ea typeface="PMingLiU" panose="02020500000000000000" pitchFamily="18" charset="-120"/>
          <a:cs typeface="+mn-cs"/>
        </a:defRPr>
      </a:lvl2pPr>
      <a:lvl3pPr marL="1143000" indent="-228600" algn="l" rtl="0" eaLnBrk="0" fontAlgn="base" hangingPunct="0">
        <a:spcBef>
          <a:spcPct val="20000"/>
        </a:spcBef>
        <a:spcAft>
          <a:spcPct val="0"/>
        </a:spcAft>
        <a:buClr>
          <a:schemeClr val="tx1"/>
        </a:buClr>
        <a:buSzPct val="75000"/>
        <a:buFont typeface="Wingdings" panose="05000000000000000000" pitchFamily="2" charset="2"/>
        <a:buChar char="l"/>
        <a:defRPr kumimoji="1" sz="2000" kern="1200">
          <a:solidFill>
            <a:schemeClr val="tx1"/>
          </a:solidFill>
          <a:latin typeface="+mn-lt"/>
          <a:ea typeface="PMingLiU" panose="02020500000000000000" pitchFamily="18" charset="-120"/>
          <a:cs typeface="+mn-cs"/>
        </a:defRPr>
      </a:lvl3pPr>
      <a:lvl4pPr marL="1600200" indent="-228600" algn="l" rtl="0" eaLnBrk="0" fontAlgn="base" hangingPunct="0">
        <a:spcBef>
          <a:spcPct val="20000"/>
        </a:spcBef>
        <a:spcAft>
          <a:spcPct val="0"/>
        </a:spcAft>
        <a:buClr>
          <a:schemeClr val="tx1"/>
        </a:buClr>
        <a:buSzPct val="80000"/>
        <a:buChar char="–"/>
        <a:defRPr kumimoji="1" kern="1200">
          <a:solidFill>
            <a:schemeClr val="tx1"/>
          </a:solidFill>
          <a:latin typeface="+mn-lt"/>
          <a:ea typeface="PMingLiU" panose="02020500000000000000" pitchFamily="18" charset="-120"/>
          <a:cs typeface="+mn-cs"/>
        </a:defRPr>
      </a:lvl4pPr>
      <a:lvl5pPr marL="2057400" indent="-228600" algn="l" rtl="0" eaLnBrk="0" fontAlgn="base" hangingPunct="0">
        <a:spcBef>
          <a:spcPct val="20000"/>
        </a:spcBef>
        <a:spcAft>
          <a:spcPct val="0"/>
        </a:spcAft>
        <a:buClr>
          <a:schemeClr val="tx1"/>
        </a:buClr>
        <a:buSzPct val="65000"/>
        <a:buFont typeface="Wingdings" panose="05000000000000000000" pitchFamily="2" charset="2"/>
        <a:buChar char="l"/>
        <a:defRPr kumimoji="1" kern="1200">
          <a:solidFill>
            <a:schemeClr val="tx1"/>
          </a:solidFill>
          <a:latin typeface="+mn-lt"/>
          <a:ea typeface="PMingLiU" panose="02020500000000000000" pitchFamily="18" charset="-12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4.png"/><Relationship Id="rId1" Type="http://schemas.openxmlformats.org/officeDocument/2006/relationships/slideLayout" Target="../slideLayouts/slideLayout13.xml"/><Relationship Id="rId4" Type="http://schemas.openxmlformats.org/officeDocument/2006/relationships/image" Target="../media/image1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3.xml"/><Relationship Id="rId4" Type="http://schemas.openxmlformats.org/officeDocument/2006/relationships/hyperlink" Target="https://www.javatpoint.com/keras-recurrent-neural-networks" TargetMode="External"/></Relationships>
</file>

<file path=ppt/slides/_rels/slide3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4.png"/><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6.png"/><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8" Type="http://schemas.openxmlformats.org/officeDocument/2006/relationships/hyperlink" Target="https://stanford.edu/~shervine/teaching/cs-230/cheatsheet-recurrent-neural-networks" TargetMode="External"/><Relationship Id="rId3" Type="http://schemas.openxmlformats.org/officeDocument/2006/relationships/hyperlink" Target="https://medium.com/@humble_bee/rnn-recurrent-neural-networks-lstm-842ba7205bbf" TargetMode="External"/><Relationship Id="rId7" Type="http://schemas.openxmlformats.org/officeDocument/2006/relationships/hyperlink" Target="https://www.analyticsvidhya.com/blog/2022/03/a-brief-overview-of-recurrent-neural-networks-rnn/" TargetMode="External"/><Relationship Id="rId2" Type="http://schemas.openxmlformats.org/officeDocument/2006/relationships/hyperlink" Target="https://www.javatpoint.com/keras-recurrent-neural-networks" TargetMode="External"/><Relationship Id="rId1" Type="http://schemas.openxmlformats.org/officeDocument/2006/relationships/slideLayout" Target="../slideLayouts/slideLayout13.xml"/><Relationship Id="rId6" Type="http://schemas.openxmlformats.org/officeDocument/2006/relationships/hyperlink" Target="https://www.geeksforgeeks.org/introduction-to-recurrent-neural-network/" TargetMode="External"/><Relationship Id="rId5" Type="http://schemas.openxmlformats.org/officeDocument/2006/relationships/hyperlink" Target="https://builtin.com/data-science/recurrent-neural-networks-and-lstm#:~:text=Simply%20put%3A%20Recurrent%20neural%20networks%20add%20the%20immediate%20past%20to,things%20other%20algorithms%20can't" TargetMode="External"/><Relationship Id="rId4" Type="http://schemas.openxmlformats.org/officeDocument/2006/relationships/hyperlink" Target="https://colah.github.io/posts/2015-08-Understanding-LSTMs/" TargetMode="External"/></Relationships>
</file>

<file path=ppt/slides/_rels/slide5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3" Type="http://schemas.openxmlformats.org/officeDocument/2006/relationships/hyperlink" Target="https://www.naukri.com/code360/library/ann-vs-cnn-vs-rnn" TargetMode="External"/><Relationship Id="rId2" Type="http://schemas.openxmlformats.org/officeDocument/2006/relationships/hyperlink" Target="https://www.analyticsvidhya.com/blog/2024/05/ann-vs-cnn-vs-rnn/" TargetMode="External"/><Relationship Id="rId1" Type="http://schemas.openxmlformats.org/officeDocument/2006/relationships/slideLayout" Target="../slideLayouts/slideLayout13.xml"/><Relationship Id="rId4" Type="http://schemas.openxmlformats.org/officeDocument/2006/relationships/hyperlink" Target="https://www.softwebsolutions.com/resources/difference-between-cnn-rnn-ann.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AutoShape 2">
            <a:extLst>
              <a:ext uri="{FF2B5EF4-FFF2-40B4-BE49-F238E27FC236}">
                <a16:creationId xmlns:a16="http://schemas.microsoft.com/office/drawing/2014/main" id="{D923436B-6153-4782-9A1E-16260624EA29}"/>
              </a:ext>
            </a:extLst>
          </p:cNvPr>
          <p:cNvSpPr>
            <a:spLocks noGrp="1" noChangeArrowheads="1"/>
          </p:cNvSpPr>
          <p:nvPr>
            <p:ph type="ctrTitle"/>
          </p:nvPr>
        </p:nvSpPr>
        <p:spPr>
          <a:xfrm>
            <a:off x="745067" y="990600"/>
            <a:ext cx="10961659" cy="2293938"/>
          </a:xfrm>
        </p:spPr>
        <p:txBody>
          <a:bodyPr/>
          <a:lstStyle/>
          <a:p>
            <a:pPr eaLnBrk="1" hangingPunct="1"/>
            <a:r>
              <a:rPr lang="en-US" altLang="zh-TW" sz="4400" dirty="0"/>
              <a:t>RECURRENT NEURAL NETWORKS (UNIT-4)</a:t>
            </a:r>
          </a:p>
        </p:txBody>
      </p:sp>
      <p:sp>
        <p:nvSpPr>
          <p:cNvPr id="2" name="Subtitle 1">
            <a:extLst>
              <a:ext uri="{FF2B5EF4-FFF2-40B4-BE49-F238E27FC236}">
                <a16:creationId xmlns:a16="http://schemas.microsoft.com/office/drawing/2014/main" id="{A8EBB1B3-4E34-BB5B-83F6-9CB74C6112E2}"/>
              </a:ext>
            </a:extLst>
          </p:cNvPr>
          <p:cNvSpPr>
            <a:spLocks noGrp="1"/>
          </p:cNvSpPr>
          <p:nvPr>
            <p:ph type="subTitle" idx="1"/>
          </p:nvPr>
        </p:nvSpPr>
        <p:spPr>
          <a:xfrm>
            <a:off x="6231467" y="2927350"/>
            <a:ext cx="5824545" cy="1822450"/>
          </a:xfrm>
        </p:spPr>
        <p:txBody>
          <a:bodyPr/>
          <a:lstStyle/>
          <a:p>
            <a:r>
              <a:rPr lang="en-IN" sz="3200" b="1" dirty="0">
                <a:solidFill>
                  <a:schemeClr val="tx1"/>
                </a:solidFill>
                <a:latin typeface="+mj-lt"/>
                <a:cs typeface="+mj-cs"/>
              </a:rPr>
              <a:t>Introduction to NN and DNN</a:t>
            </a:r>
          </a:p>
        </p:txBody>
      </p:sp>
      <p:sp>
        <p:nvSpPr>
          <p:cNvPr id="3" name="Subtitle 1">
            <a:extLst>
              <a:ext uri="{FF2B5EF4-FFF2-40B4-BE49-F238E27FC236}">
                <a16:creationId xmlns:a16="http://schemas.microsoft.com/office/drawing/2014/main" id="{4CC7A88A-F239-7F89-4A32-55786583E4E4}"/>
              </a:ext>
            </a:extLst>
          </p:cNvPr>
          <p:cNvSpPr txBox="1">
            <a:spLocks/>
          </p:cNvSpPr>
          <p:nvPr/>
        </p:nvSpPr>
        <p:spPr bwMode="auto">
          <a:xfrm>
            <a:off x="6355793" y="4864100"/>
            <a:ext cx="5350933" cy="182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marL="0" indent="0" algn="l" rtl="0" eaLnBrk="0" fontAlgn="base" hangingPunct="0">
              <a:spcBef>
                <a:spcPct val="20000"/>
              </a:spcBef>
              <a:spcAft>
                <a:spcPct val="0"/>
              </a:spcAft>
              <a:buClr>
                <a:schemeClr val="tx1"/>
              </a:buClr>
              <a:buSzPct val="75000"/>
              <a:buFont typeface="Wingdings" panose="05000000000000000000" pitchFamily="2" charset="2"/>
              <a:buNone/>
              <a:defRPr kumimoji="1" sz="2800" kern="1200">
                <a:solidFill>
                  <a:schemeClr val="tx2"/>
                </a:solidFill>
                <a:latin typeface="+mn-lt"/>
                <a:ea typeface="PMingLiU" panose="02020500000000000000" pitchFamily="18" charset="-120"/>
                <a:cs typeface="+mn-cs"/>
              </a:defRPr>
            </a:lvl1pPr>
            <a:lvl2pPr marL="742950" indent="-285750" algn="l" rtl="0" eaLnBrk="0" fontAlgn="base" hangingPunct="0">
              <a:spcBef>
                <a:spcPct val="20000"/>
              </a:spcBef>
              <a:spcAft>
                <a:spcPct val="0"/>
              </a:spcAft>
              <a:buClr>
                <a:schemeClr val="tx1"/>
              </a:buClr>
              <a:buSzPct val="75000"/>
              <a:buChar char="–"/>
              <a:defRPr kumimoji="1" sz="2400" kern="1200">
                <a:solidFill>
                  <a:schemeClr val="tx1"/>
                </a:solidFill>
                <a:latin typeface="+mn-lt"/>
                <a:ea typeface="PMingLiU" panose="02020500000000000000" pitchFamily="18" charset="-120"/>
                <a:cs typeface="+mn-cs"/>
              </a:defRPr>
            </a:lvl2pPr>
            <a:lvl3pPr marL="1143000" indent="-228600" algn="l" rtl="0" eaLnBrk="0" fontAlgn="base" hangingPunct="0">
              <a:spcBef>
                <a:spcPct val="20000"/>
              </a:spcBef>
              <a:spcAft>
                <a:spcPct val="0"/>
              </a:spcAft>
              <a:buClr>
                <a:schemeClr val="tx1"/>
              </a:buClr>
              <a:buSzPct val="75000"/>
              <a:buFont typeface="Wingdings" panose="05000000000000000000" pitchFamily="2" charset="2"/>
              <a:buChar char="l"/>
              <a:defRPr kumimoji="1" sz="2000" kern="1200">
                <a:solidFill>
                  <a:schemeClr val="tx1"/>
                </a:solidFill>
                <a:latin typeface="+mn-lt"/>
                <a:ea typeface="PMingLiU" panose="02020500000000000000" pitchFamily="18" charset="-120"/>
                <a:cs typeface="+mn-cs"/>
              </a:defRPr>
            </a:lvl3pPr>
            <a:lvl4pPr marL="1600200" indent="-228600" algn="l" rtl="0" eaLnBrk="0" fontAlgn="base" hangingPunct="0">
              <a:spcBef>
                <a:spcPct val="20000"/>
              </a:spcBef>
              <a:spcAft>
                <a:spcPct val="0"/>
              </a:spcAft>
              <a:buClr>
                <a:schemeClr val="tx1"/>
              </a:buClr>
              <a:buSzPct val="80000"/>
              <a:buChar char="–"/>
              <a:defRPr kumimoji="1" kern="1200">
                <a:solidFill>
                  <a:schemeClr val="tx1"/>
                </a:solidFill>
                <a:latin typeface="+mn-lt"/>
                <a:ea typeface="PMingLiU" panose="02020500000000000000" pitchFamily="18" charset="-120"/>
                <a:cs typeface="+mn-cs"/>
              </a:defRPr>
            </a:lvl4pPr>
            <a:lvl5pPr marL="2057400" indent="-228600" algn="l" rtl="0" eaLnBrk="0" fontAlgn="base" hangingPunct="0">
              <a:spcBef>
                <a:spcPct val="20000"/>
              </a:spcBef>
              <a:spcAft>
                <a:spcPct val="0"/>
              </a:spcAft>
              <a:buClr>
                <a:schemeClr val="tx1"/>
              </a:buClr>
              <a:buSzPct val="65000"/>
              <a:buFont typeface="Wingdings" panose="05000000000000000000" pitchFamily="2" charset="2"/>
              <a:buChar char="l"/>
              <a:defRPr kumimoji="1" kern="1200">
                <a:solidFill>
                  <a:schemeClr val="tx1"/>
                </a:solidFill>
                <a:latin typeface="+mn-lt"/>
                <a:ea typeface="PMingLiU" panose="02020500000000000000" pitchFamily="18" charset="-12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b="1" dirty="0" err="1">
                <a:solidFill>
                  <a:schemeClr val="tx1"/>
                </a:solidFill>
                <a:latin typeface="+mj-lt"/>
                <a:cs typeface="+mj-cs"/>
              </a:rPr>
              <a:t>Dr.</a:t>
            </a:r>
            <a:r>
              <a:rPr lang="en-IN" b="1" dirty="0">
                <a:solidFill>
                  <a:schemeClr val="tx1"/>
                </a:solidFill>
                <a:latin typeface="+mj-lt"/>
                <a:cs typeface="+mj-cs"/>
              </a:rPr>
              <a:t> Supriya Patil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F2C5A-B704-D93D-5459-4B25640C546D}"/>
              </a:ext>
            </a:extLst>
          </p:cNvPr>
          <p:cNvSpPr>
            <a:spLocks noGrp="1"/>
          </p:cNvSpPr>
          <p:nvPr>
            <p:ph type="title"/>
          </p:nvPr>
        </p:nvSpPr>
        <p:spPr/>
        <p:txBody>
          <a:bodyPr/>
          <a:lstStyle/>
          <a:p>
            <a:r>
              <a:rPr lang="en-IN" dirty="0"/>
              <a:t>Sequential Data/Time Series Data </a:t>
            </a:r>
          </a:p>
        </p:txBody>
      </p:sp>
      <p:sp>
        <p:nvSpPr>
          <p:cNvPr id="3" name="Content Placeholder 2">
            <a:extLst>
              <a:ext uri="{FF2B5EF4-FFF2-40B4-BE49-F238E27FC236}">
                <a16:creationId xmlns:a16="http://schemas.microsoft.com/office/drawing/2014/main" id="{09ECE07B-8A8C-5677-D016-753C9A8F1374}"/>
              </a:ext>
            </a:extLst>
          </p:cNvPr>
          <p:cNvSpPr>
            <a:spLocks noGrp="1"/>
          </p:cNvSpPr>
          <p:nvPr>
            <p:ph idx="1"/>
          </p:nvPr>
        </p:nvSpPr>
        <p:spPr>
          <a:xfrm>
            <a:off x="1016000" y="2235201"/>
            <a:ext cx="11074399" cy="4495799"/>
          </a:xfrm>
          <a:ln>
            <a:solidFill>
              <a:srgbClr val="1D1D1D"/>
            </a:solidFill>
          </a:ln>
        </p:spPr>
        <p:txBody>
          <a:bodyPr/>
          <a:lstStyle/>
          <a:p>
            <a:pPr algn="just">
              <a:lnSpc>
                <a:spcPct val="150000"/>
              </a:lnSpc>
            </a:pPr>
            <a:r>
              <a:rPr lang="en-IN" sz="2000" b="1" dirty="0">
                <a:solidFill>
                  <a:srgbClr val="51565E"/>
                </a:solidFill>
                <a:highlight>
                  <a:srgbClr val="FFFFFF"/>
                </a:highlight>
              </a:rPr>
              <a:t>Non sequential data- </a:t>
            </a:r>
          </a:p>
          <a:p>
            <a:pPr marL="901700" indent="0" algn="just">
              <a:lnSpc>
                <a:spcPct val="150000"/>
              </a:lnSpc>
              <a:buNone/>
            </a:pPr>
            <a:r>
              <a:rPr lang="en-IN" sz="2000" b="1" dirty="0">
                <a:solidFill>
                  <a:srgbClr val="51565E"/>
                </a:solidFill>
                <a:highlight>
                  <a:srgbClr val="FFFFFF"/>
                </a:highlight>
              </a:rPr>
              <a:t>Prediction of chances of students getting or not getting placed</a:t>
            </a:r>
            <a:r>
              <a:rPr lang="en-IN" sz="2000" dirty="0">
                <a:solidFill>
                  <a:srgbClr val="51565E"/>
                </a:solidFill>
                <a:highlight>
                  <a:srgbClr val="FFFFFF"/>
                </a:highlight>
              </a:rPr>
              <a:t> based on input </a:t>
            </a:r>
          </a:p>
          <a:p>
            <a:pPr marL="901700" indent="0" algn="just">
              <a:lnSpc>
                <a:spcPct val="150000"/>
              </a:lnSpc>
              <a:buNone/>
            </a:pPr>
            <a:r>
              <a:rPr lang="en-IN" sz="2000" b="1" dirty="0">
                <a:solidFill>
                  <a:srgbClr val="51565E"/>
                </a:solidFill>
                <a:highlight>
                  <a:srgbClr val="FFFFFF"/>
                </a:highlight>
              </a:rPr>
              <a:t>[IQ, Marks, Gender]. </a:t>
            </a:r>
            <a:r>
              <a:rPr lang="en-IN" sz="2000" dirty="0">
                <a:solidFill>
                  <a:srgbClr val="51565E"/>
                </a:solidFill>
                <a:highlight>
                  <a:srgbClr val="FFFFFF"/>
                </a:highlight>
              </a:rPr>
              <a:t>Position of any parameter can be changed as there is no dependency within features and it does not affect result.</a:t>
            </a:r>
          </a:p>
          <a:p>
            <a:pPr algn="just">
              <a:lnSpc>
                <a:spcPct val="150000"/>
              </a:lnSpc>
            </a:pPr>
            <a:r>
              <a:rPr lang="en-IN" sz="2000" b="1" dirty="0">
                <a:solidFill>
                  <a:srgbClr val="51565E"/>
                </a:solidFill>
                <a:highlight>
                  <a:srgbClr val="FFFFFF"/>
                </a:highlight>
              </a:rPr>
              <a:t>Sequential Data- </a:t>
            </a:r>
          </a:p>
          <a:p>
            <a:pPr marL="1168400" indent="-266700" algn="just">
              <a:lnSpc>
                <a:spcPct val="150000"/>
              </a:lnSpc>
              <a:buFont typeface="Wingdings" panose="05000000000000000000" pitchFamily="2" charset="2"/>
              <a:buChar char="ü"/>
              <a:tabLst>
                <a:tab pos="355600" algn="l"/>
              </a:tabLst>
            </a:pPr>
            <a:r>
              <a:rPr lang="en-IN" sz="2000" b="1" dirty="0">
                <a:solidFill>
                  <a:srgbClr val="51565E"/>
                </a:solidFill>
                <a:highlight>
                  <a:srgbClr val="FFFFFF"/>
                </a:highlight>
              </a:rPr>
              <a:t>Natural language processing- </a:t>
            </a:r>
            <a:r>
              <a:rPr lang="en-IN" sz="2000" dirty="0">
                <a:solidFill>
                  <a:srgbClr val="51565E"/>
                </a:solidFill>
                <a:highlight>
                  <a:srgbClr val="FFFFFF"/>
                </a:highlight>
              </a:rPr>
              <a:t>My name is Geeta Here order of words can not be changed due to dependency else it will be meaningless.</a:t>
            </a:r>
          </a:p>
          <a:p>
            <a:pPr marL="1168400" indent="-266700" algn="just">
              <a:lnSpc>
                <a:spcPct val="150000"/>
              </a:lnSpc>
              <a:buFont typeface="Wingdings" panose="05000000000000000000" pitchFamily="2" charset="2"/>
              <a:buChar char="ü"/>
              <a:tabLst>
                <a:tab pos="355600" algn="l"/>
              </a:tabLst>
            </a:pPr>
            <a:r>
              <a:rPr lang="en-IN" sz="2000" b="1" dirty="0">
                <a:solidFill>
                  <a:srgbClr val="51565E"/>
                </a:solidFill>
                <a:highlight>
                  <a:srgbClr val="FFFFFF"/>
                </a:highlight>
              </a:rPr>
              <a:t>Stock price prediction- </a:t>
            </a:r>
            <a:r>
              <a:rPr lang="en-IN" sz="2000" dirty="0">
                <a:solidFill>
                  <a:srgbClr val="51565E"/>
                </a:solidFill>
                <a:highlight>
                  <a:srgbClr val="FFFFFF"/>
                </a:highlight>
              </a:rPr>
              <a:t>Performance graph of stock for 10 years. Years will be in increasing order and you can not interchange due to dependency within them.</a:t>
            </a:r>
          </a:p>
        </p:txBody>
      </p:sp>
      <p:sp>
        <p:nvSpPr>
          <p:cNvPr id="4" name="Slide Number Placeholder 3">
            <a:extLst>
              <a:ext uri="{FF2B5EF4-FFF2-40B4-BE49-F238E27FC236}">
                <a16:creationId xmlns:a16="http://schemas.microsoft.com/office/drawing/2014/main" id="{180BCA5B-F1DD-4A6F-3029-036915D603C9}"/>
              </a:ext>
            </a:extLst>
          </p:cNvPr>
          <p:cNvSpPr>
            <a:spLocks noGrp="1"/>
          </p:cNvSpPr>
          <p:nvPr>
            <p:ph type="sldNum" sz="quarter" idx="12"/>
          </p:nvPr>
        </p:nvSpPr>
        <p:spPr/>
        <p:txBody>
          <a:bodyPr/>
          <a:lstStyle/>
          <a:p>
            <a:pPr>
              <a:defRPr/>
            </a:pPr>
            <a:fld id="{9AD681D7-8A59-4380-9311-10B86FF921AA}" type="slidenum">
              <a:rPr lang="en-US" altLang="zh-TW" smtClean="0"/>
              <a:pPr>
                <a:defRPr/>
              </a:pPr>
              <a:t>2</a:t>
            </a:fld>
            <a:endParaRPr lang="en-US" altLang="zh-TW"/>
          </a:p>
        </p:txBody>
      </p:sp>
      <p:sp>
        <p:nvSpPr>
          <p:cNvPr id="6" name="TextBox 5">
            <a:extLst>
              <a:ext uri="{FF2B5EF4-FFF2-40B4-BE49-F238E27FC236}">
                <a16:creationId xmlns:a16="http://schemas.microsoft.com/office/drawing/2014/main" id="{AC9062A4-214D-D3DF-7E99-F706D1A145FF}"/>
              </a:ext>
            </a:extLst>
          </p:cNvPr>
          <p:cNvSpPr txBox="1"/>
          <p:nvPr/>
        </p:nvSpPr>
        <p:spPr>
          <a:xfrm>
            <a:off x="4505325" y="127000"/>
            <a:ext cx="7356475" cy="369332"/>
          </a:xfrm>
          <a:prstGeom prst="rect">
            <a:avLst/>
          </a:prstGeom>
          <a:noFill/>
          <a:ln>
            <a:solidFill>
              <a:schemeClr val="tx1"/>
            </a:solidFill>
          </a:ln>
        </p:spPr>
        <p:txBody>
          <a:bodyPr wrap="square">
            <a:spAutoFit/>
          </a:bodyPr>
          <a:lstStyle/>
          <a:p>
            <a:r>
              <a:rPr lang="en-IN" b="1" dirty="0"/>
              <a:t>DNA sequence prediction-  AGCCCCTGTGAG  “AGC</a:t>
            </a:r>
            <a:r>
              <a:rPr lang="en-IN" b="1" dirty="0">
                <a:solidFill>
                  <a:srgbClr val="FF0000"/>
                </a:solidFill>
              </a:rPr>
              <a:t>CCCTGTG</a:t>
            </a:r>
            <a:r>
              <a:rPr lang="en-IN" b="1" dirty="0"/>
              <a:t>A”</a:t>
            </a:r>
          </a:p>
        </p:txBody>
      </p:sp>
    </p:spTree>
    <p:extLst>
      <p:ext uri="{BB962C8B-B14F-4D97-AF65-F5344CB8AC3E}">
        <p14:creationId xmlns:p14="http://schemas.microsoft.com/office/powerpoint/2010/main" val="20680264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C1FE5-1511-41F5-9658-9D8CCD7E2BA6}"/>
              </a:ext>
            </a:extLst>
          </p:cNvPr>
          <p:cNvSpPr>
            <a:spLocks noGrp="1"/>
          </p:cNvSpPr>
          <p:nvPr>
            <p:ph type="title"/>
          </p:nvPr>
        </p:nvSpPr>
        <p:spPr>
          <a:xfrm>
            <a:off x="1016000" y="494714"/>
            <a:ext cx="10566400" cy="1143000"/>
          </a:xfrm>
        </p:spPr>
        <p:txBody>
          <a:bodyPr/>
          <a:lstStyle/>
          <a:p>
            <a:r>
              <a:rPr kumimoji="1" lang="en-IN" sz="3600" b="1" i="0" u="none" strike="noStrike" kern="1200" cap="none" spc="0" normalizeH="0" baseline="0" noProof="0" dirty="0">
                <a:ln>
                  <a:noFill/>
                </a:ln>
                <a:solidFill>
                  <a:srgbClr val="006666"/>
                </a:solidFill>
                <a:effectLst/>
                <a:uLnTx/>
                <a:uFillTx/>
                <a:latin typeface="Arial"/>
                <a:ea typeface="PMingLiU" panose="02020500000000000000" pitchFamily="18" charset="-120"/>
                <a:cs typeface="+mj-cs"/>
              </a:rPr>
              <a:t>Sequential Data/Time Series Data </a:t>
            </a:r>
            <a:endParaRPr lang="en-IN" dirty="0"/>
          </a:p>
        </p:txBody>
      </p:sp>
      <p:sp>
        <p:nvSpPr>
          <p:cNvPr id="4" name="Slide Number Placeholder 3">
            <a:extLst>
              <a:ext uri="{FF2B5EF4-FFF2-40B4-BE49-F238E27FC236}">
                <a16:creationId xmlns:a16="http://schemas.microsoft.com/office/drawing/2014/main" id="{9879B36A-7211-4B16-98FC-27AA7146A3A9}"/>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AD681D7-8A59-4380-9311-10B86FF921AA}" type="slidenum">
              <a:rPr kumimoji="0" lang="en-US" altLang="zh-TW" sz="2600" b="1" i="0" u="none" strike="noStrike" kern="1200" cap="none" spc="0" normalizeH="0" baseline="0" noProof="0" smtClean="0">
                <a:ln>
                  <a:noFill/>
                </a:ln>
                <a:solidFill>
                  <a:srgbClr val="FFFFFF"/>
                </a:solidFill>
                <a:effectLst/>
                <a:uLnTx/>
                <a:uFillTx/>
                <a:latin typeface="Arial"/>
                <a:ea typeface="新細明體" panose="02020500000000000000" pitchFamily="18" charset="-120"/>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altLang="zh-TW" sz="2600" b="1" i="0" u="none" strike="noStrike" kern="1200" cap="none" spc="0" normalizeH="0" baseline="0" noProof="0">
              <a:ln>
                <a:noFill/>
              </a:ln>
              <a:solidFill>
                <a:srgbClr val="FFFFFF"/>
              </a:solidFill>
              <a:effectLst/>
              <a:uLnTx/>
              <a:uFillTx/>
              <a:latin typeface="Arial"/>
              <a:ea typeface="新細明體" panose="02020500000000000000" pitchFamily="18" charset="-120"/>
              <a:cs typeface="+mn-cs"/>
            </a:endParaRPr>
          </a:p>
        </p:txBody>
      </p:sp>
      <p:pic>
        <p:nvPicPr>
          <p:cNvPr id="10" name="Picture 9">
            <a:extLst>
              <a:ext uri="{FF2B5EF4-FFF2-40B4-BE49-F238E27FC236}">
                <a16:creationId xmlns:a16="http://schemas.microsoft.com/office/drawing/2014/main" id="{F351ECCD-BCBA-8B60-62B7-FAEC06153460}"/>
              </a:ext>
            </a:extLst>
          </p:cNvPr>
          <p:cNvPicPr>
            <a:picLocks noChangeAspect="1"/>
          </p:cNvPicPr>
          <p:nvPr/>
        </p:nvPicPr>
        <p:blipFill>
          <a:blip r:embed="rId2"/>
          <a:stretch>
            <a:fillRect/>
          </a:stretch>
        </p:blipFill>
        <p:spPr>
          <a:xfrm>
            <a:off x="1139483" y="2335237"/>
            <a:ext cx="10442917" cy="4395763"/>
          </a:xfrm>
          <a:prstGeom prst="rect">
            <a:avLst/>
          </a:prstGeom>
          <a:ln>
            <a:solidFill>
              <a:srgbClr val="000000"/>
            </a:solidFill>
          </a:ln>
        </p:spPr>
      </p:pic>
    </p:spTree>
    <p:extLst>
      <p:ext uri="{BB962C8B-B14F-4D97-AF65-F5344CB8AC3E}">
        <p14:creationId xmlns:p14="http://schemas.microsoft.com/office/powerpoint/2010/main" val="12281898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AFE03-9BF1-58F3-92CC-48FAB0B78079}"/>
              </a:ext>
            </a:extLst>
          </p:cNvPr>
          <p:cNvSpPr>
            <a:spLocks noGrp="1"/>
          </p:cNvSpPr>
          <p:nvPr>
            <p:ph type="title"/>
          </p:nvPr>
        </p:nvSpPr>
        <p:spPr/>
        <p:txBody>
          <a:bodyPr/>
          <a:lstStyle/>
          <a:p>
            <a:r>
              <a:rPr kumimoji="1" lang="en-IN" sz="3600" b="1" i="0" u="none" strike="noStrike" kern="1200" cap="none" spc="0" normalizeH="0" baseline="0" noProof="0" dirty="0">
                <a:ln>
                  <a:noFill/>
                </a:ln>
                <a:solidFill>
                  <a:srgbClr val="006666"/>
                </a:solidFill>
                <a:effectLst/>
                <a:uLnTx/>
                <a:uFillTx/>
                <a:latin typeface="Arial"/>
                <a:ea typeface="PMingLiU" panose="02020500000000000000" pitchFamily="18" charset="-120"/>
                <a:cs typeface="+mj-cs"/>
              </a:rPr>
              <a:t>FNN Vs. RNN </a:t>
            </a:r>
            <a:endParaRPr lang="en-IN" dirty="0"/>
          </a:p>
        </p:txBody>
      </p:sp>
      <p:sp>
        <p:nvSpPr>
          <p:cNvPr id="4" name="Slide Number Placeholder 3">
            <a:extLst>
              <a:ext uri="{FF2B5EF4-FFF2-40B4-BE49-F238E27FC236}">
                <a16:creationId xmlns:a16="http://schemas.microsoft.com/office/drawing/2014/main" id="{76367535-8791-D460-E8BD-A55C2E01BA7B}"/>
              </a:ext>
            </a:extLst>
          </p:cNvPr>
          <p:cNvSpPr>
            <a:spLocks noGrp="1"/>
          </p:cNvSpPr>
          <p:nvPr>
            <p:ph type="sldNum" sz="quarter" idx="12"/>
          </p:nvPr>
        </p:nvSpPr>
        <p:spPr/>
        <p:txBody>
          <a:bodyPr/>
          <a:lstStyle/>
          <a:p>
            <a:pPr>
              <a:defRPr/>
            </a:pPr>
            <a:fld id="{9AD681D7-8A59-4380-9311-10B86FF921AA}" type="slidenum">
              <a:rPr lang="en-US" altLang="zh-TW" smtClean="0"/>
              <a:pPr>
                <a:defRPr/>
              </a:pPr>
              <a:t>4</a:t>
            </a:fld>
            <a:endParaRPr lang="en-US" altLang="zh-TW"/>
          </a:p>
        </p:txBody>
      </p:sp>
      <p:pic>
        <p:nvPicPr>
          <p:cNvPr id="6" name="Picture 5">
            <a:extLst>
              <a:ext uri="{FF2B5EF4-FFF2-40B4-BE49-F238E27FC236}">
                <a16:creationId xmlns:a16="http://schemas.microsoft.com/office/drawing/2014/main" id="{BC261114-C97A-42B4-4840-EF58A50EF96D}"/>
              </a:ext>
            </a:extLst>
          </p:cNvPr>
          <p:cNvPicPr>
            <a:picLocks noChangeAspect="1"/>
          </p:cNvPicPr>
          <p:nvPr/>
        </p:nvPicPr>
        <p:blipFill>
          <a:blip r:embed="rId2"/>
          <a:stretch>
            <a:fillRect/>
          </a:stretch>
        </p:blipFill>
        <p:spPr>
          <a:xfrm>
            <a:off x="1326271" y="2565863"/>
            <a:ext cx="9945858" cy="4041947"/>
          </a:xfrm>
          <a:prstGeom prst="rect">
            <a:avLst/>
          </a:prstGeom>
          <a:ln>
            <a:solidFill>
              <a:srgbClr val="000000"/>
            </a:solidFill>
          </a:ln>
        </p:spPr>
      </p:pic>
      <p:sp>
        <p:nvSpPr>
          <p:cNvPr id="7" name="TextBox 6">
            <a:extLst>
              <a:ext uri="{FF2B5EF4-FFF2-40B4-BE49-F238E27FC236}">
                <a16:creationId xmlns:a16="http://schemas.microsoft.com/office/drawing/2014/main" id="{E990B3B9-E5BE-8B77-EBA5-8754E20BB124}"/>
              </a:ext>
            </a:extLst>
          </p:cNvPr>
          <p:cNvSpPr txBox="1"/>
          <p:nvPr/>
        </p:nvSpPr>
        <p:spPr>
          <a:xfrm>
            <a:off x="3305908" y="6242050"/>
            <a:ext cx="553357" cy="307777"/>
          </a:xfrm>
          <a:prstGeom prst="rect">
            <a:avLst/>
          </a:prstGeom>
          <a:noFill/>
        </p:spPr>
        <p:txBody>
          <a:bodyPr wrap="none" rtlCol="0">
            <a:spAutoFit/>
          </a:bodyPr>
          <a:lstStyle/>
          <a:p>
            <a:r>
              <a:rPr lang="en-IN" sz="1400" b="1" dirty="0">
                <a:solidFill>
                  <a:srgbClr val="000000"/>
                </a:solidFill>
              </a:rPr>
              <a:t>FNN</a:t>
            </a:r>
          </a:p>
        </p:txBody>
      </p:sp>
      <p:sp>
        <p:nvSpPr>
          <p:cNvPr id="9" name="TextBox 8">
            <a:extLst>
              <a:ext uri="{FF2B5EF4-FFF2-40B4-BE49-F238E27FC236}">
                <a16:creationId xmlns:a16="http://schemas.microsoft.com/office/drawing/2014/main" id="{35E0516C-4AEE-99D6-FB64-080AAAE1D991}"/>
              </a:ext>
            </a:extLst>
          </p:cNvPr>
          <p:cNvSpPr txBox="1"/>
          <p:nvPr/>
        </p:nvSpPr>
        <p:spPr>
          <a:xfrm>
            <a:off x="5739618" y="250190"/>
            <a:ext cx="6312682" cy="646331"/>
          </a:xfrm>
          <a:prstGeom prst="rect">
            <a:avLst/>
          </a:prstGeom>
          <a:noFill/>
          <a:ln>
            <a:solidFill>
              <a:srgbClr val="000000"/>
            </a:solidFill>
          </a:ln>
        </p:spPr>
        <p:txBody>
          <a:bodyPr wrap="square">
            <a:spAutoFit/>
          </a:bodyPr>
          <a:lstStyle/>
          <a:p>
            <a:r>
              <a:rPr lang="en-IN" b="1" dirty="0"/>
              <a:t>RNN-</a:t>
            </a:r>
            <a:r>
              <a:rPr lang="en-IN" dirty="0"/>
              <a:t> </a:t>
            </a:r>
            <a:r>
              <a:rPr lang="en-IN" b="1" dirty="0"/>
              <a:t>Output of hidden layer is given as a input to next stage</a:t>
            </a:r>
            <a:r>
              <a:rPr lang="en-IN" dirty="0"/>
              <a:t> as indicated by the connection C in the diagram.</a:t>
            </a:r>
          </a:p>
        </p:txBody>
      </p:sp>
    </p:spTree>
    <p:extLst>
      <p:ext uri="{BB962C8B-B14F-4D97-AF65-F5344CB8AC3E}">
        <p14:creationId xmlns:p14="http://schemas.microsoft.com/office/powerpoint/2010/main" val="12904766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9CC42-CB4A-2F3B-12F5-7FA120A93FBB}"/>
              </a:ext>
            </a:extLst>
          </p:cNvPr>
          <p:cNvSpPr>
            <a:spLocks noGrp="1"/>
          </p:cNvSpPr>
          <p:nvPr>
            <p:ph type="title"/>
          </p:nvPr>
        </p:nvSpPr>
        <p:spPr>
          <a:xfrm>
            <a:off x="1050030" y="472800"/>
            <a:ext cx="10566400" cy="1143000"/>
          </a:xfrm>
        </p:spPr>
        <p:txBody>
          <a:bodyPr/>
          <a:lstStyle/>
          <a:p>
            <a:r>
              <a:rPr lang="en-IN" dirty="0"/>
              <a:t>FNN Vs. RNN </a:t>
            </a:r>
          </a:p>
        </p:txBody>
      </p:sp>
      <p:sp>
        <p:nvSpPr>
          <p:cNvPr id="4" name="Slide Number Placeholder 3">
            <a:extLst>
              <a:ext uri="{FF2B5EF4-FFF2-40B4-BE49-F238E27FC236}">
                <a16:creationId xmlns:a16="http://schemas.microsoft.com/office/drawing/2014/main" id="{5500E1F3-9454-442F-9E98-033DBB1267AD}"/>
              </a:ext>
            </a:extLst>
          </p:cNvPr>
          <p:cNvSpPr>
            <a:spLocks noGrp="1"/>
          </p:cNvSpPr>
          <p:nvPr>
            <p:ph type="sldNum" sz="quarter" idx="12"/>
          </p:nvPr>
        </p:nvSpPr>
        <p:spPr/>
        <p:txBody>
          <a:bodyPr/>
          <a:lstStyle/>
          <a:p>
            <a:pPr>
              <a:defRPr/>
            </a:pPr>
            <a:fld id="{9AD681D7-8A59-4380-9311-10B86FF921AA}" type="slidenum">
              <a:rPr lang="en-US" altLang="zh-TW" smtClean="0"/>
              <a:pPr>
                <a:defRPr/>
              </a:pPr>
              <a:t>5</a:t>
            </a:fld>
            <a:endParaRPr lang="en-US" altLang="zh-TW"/>
          </a:p>
        </p:txBody>
      </p:sp>
      <p:graphicFrame>
        <p:nvGraphicFramePr>
          <p:cNvPr id="11" name="Table 10">
            <a:extLst>
              <a:ext uri="{FF2B5EF4-FFF2-40B4-BE49-F238E27FC236}">
                <a16:creationId xmlns:a16="http://schemas.microsoft.com/office/drawing/2014/main" id="{0E771322-F4EF-A9EE-4D63-D91917A0453D}"/>
              </a:ext>
            </a:extLst>
          </p:cNvPr>
          <p:cNvGraphicFramePr>
            <a:graphicFrameLocks noGrp="1"/>
          </p:cNvGraphicFramePr>
          <p:nvPr>
            <p:extLst>
              <p:ext uri="{D42A27DB-BD31-4B8C-83A1-F6EECF244321}">
                <p14:modId xmlns:p14="http://schemas.microsoft.com/office/powerpoint/2010/main" val="3772572157"/>
              </p:ext>
            </p:extLst>
          </p:nvPr>
        </p:nvGraphicFramePr>
        <p:xfrm>
          <a:off x="952012" y="1831505"/>
          <a:ext cx="11141970" cy="4968240"/>
        </p:xfrm>
        <a:graphic>
          <a:graphicData uri="http://schemas.openxmlformats.org/drawingml/2006/table">
            <a:tbl>
              <a:tblPr firstRow="1" bandRow="1">
                <a:tableStyleId>{5C22544A-7EE6-4342-B048-85BDC9FD1C3A}</a:tableStyleId>
              </a:tblPr>
              <a:tblGrid>
                <a:gridCol w="5019206">
                  <a:extLst>
                    <a:ext uri="{9D8B030D-6E8A-4147-A177-3AD203B41FA5}">
                      <a16:colId xmlns:a16="http://schemas.microsoft.com/office/drawing/2014/main" val="103803544"/>
                    </a:ext>
                  </a:extLst>
                </a:gridCol>
                <a:gridCol w="6122764">
                  <a:extLst>
                    <a:ext uri="{9D8B030D-6E8A-4147-A177-3AD203B41FA5}">
                      <a16:colId xmlns:a16="http://schemas.microsoft.com/office/drawing/2014/main" val="2552276615"/>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Feedforward neural networks</a:t>
                      </a:r>
                    </a:p>
                    <a:p>
                      <a:endParaRPr lang="en-IN" dirty="0"/>
                    </a:p>
                  </a:txBody>
                  <a:tcPr/>
                </a:tc>
                <a:tc>
                  <a:txBody>
                    <a:bodyPr/>
                    <a:lstStyle/>
                    <a:p>
                      <a:r>
                        <a:rPr lang="en-IN" dirty="0"/>
                        <a:t>Recurrent neural networks</a:t>
                      </a:r>
                    </a:p>
                    <a:p>
                      <a:endParaRPr lang="en-IN" dirty="0"/>
                    </a:p>
                  </a:txBody>
                  <a:tcPr/>
                </a:tc>
                <a:extLst>
                  <a:ext uri="{0D108BD9-81ED-4DB2-BD59-A6C34878D82A}">
                    <a16:rowId xmlns:a16="http://schemas.microsoft.com/office/drawing/2014/main" val="4004873913"/>
                  </a:ext>
                </a:extLst>
              </a:tr>
              <a:tr h="370840">
                <a:tc>
                  <a:txBody>
                    <a:bodyPr/>
                    <a:lstStyle/>
                    <a:p>
                      <a:pPr marL="182563" indent="-182563" algn="just">
                        <a:spcBef>
                          <a:spcPts val="600"/>
                        </a:spcBef>
                        <a:spcAft>
                          <a:spcPts val="600"/>
                        </a:spcAft>
                        <a:buFont typeface="Wingdings" panose="05000000000000000000" pitchFamily="2" charset="2"/>
                        <a:buChar char="§"/>
                      </a:pPr>
                      <a:r>
                        <a:rPr lang="en-US" sz="1700" dirty="0"/>
                        <a:t>The </a:t>
                      </a:r>
                      <a:r>
                        <a:rPr lang="en-US" sz="1700" b="1" dirty="0"/>
                        <a:t>data flows in one direction, </a:t>
                      </a:r>
                      <a:r>
                        <a:rPr lang="en-US" sz="1700" dirty="0"/>
                        <a:t>from the input layer to the output layer, </a:t>
                      </a:r>
                      <a:r>
                        <a:rPr lang="en-US" sz="1700" b="1" dirty="0"/>
                        <a:t>without any feedback loops</a:t>
                      </a:r>
                      <a:r>
                        <a:rPr lang="en-US" sz="1700" dirty="0"/>
                        <a:t> or memory. </a:t>
                      </a:r>
                    </a:p>
                    <a:p>
                      <a:pPr marL="182563" indent="-182563" algn="just">
                        <a:spcBef>
                          <a:spcPts val="600"/>
                        </a:spcBef>
                        <a:spcAft>
                          <a:spcPts val="600"/>
                        </a:spcAft>
                        <a:buFont typeface="Wingdings" panose="05000000000000000000" pitchFamily="2" charset="2"/>
                        <a:buChar char="§"/>
                      </a:pPr>
                      <a:r>
                        <a:rPr lang="en-US" sz="1700" dirty="0"/>
                        <a:t>Feedforward neural networks are </a:t>
                      </a:r>
                      <a:r>
                        <a:rPr lang="en-US" sz="1700" b="1" dirty="0"/>
                        <a:t>good at learning static pattern</a:t>
                      </a:r>
                      <a:r>
                        <a:rPr lang="en-US" sz="1700" dirty="0"/>
                        <a:t>s and </a:t>
                      </a:r>
                      <a:r>
                        <a:rPr lang="en-US" sz="1700" b="1" dirty="0"/>
                        <a:t>mapping fixed inputs to outputs</a:t>
                      </a:r>
                      <a:r>
                        <a:rPr lang="en-US" sz="1700" dirty="0"/>
                        <a:t>. (</a:t>
                      </a:r>
                      <a:r>
                        <a:rPr lang="en-US" sz="1700" dirty="0" err="1"/>
                        <a:t>I.e</a:t>
                      </a:r>
                      <a:r>
                        <a:rPr lang="en-US" sz="1700" dirty="0"/>
                        <a:t> fixed size input vector and fixed size output vector)</a:t>
                      </a:r>
                    </a:p>
                    <a:p>
                      <a:pPr marL="182563" indent="-182563" algn="just">
                        <a:spcBef>
                          <a:spcPts val="600"/>
                        </a:spcBef>
                        <a:spcAft>
                          <a:spcPts val="600"/>
                        </a:spcAft>
                        <a:buFont typeface="Wingdings" panose="05000000000000000000" pitchFamily="2" charset="2"/>
                        <a:buChar char="§"/>
                      </a:pPr>
                      <a:endParaRPr lang="en-US" sz="1700" dirty="0"/>
                    </a:p>
                    <a:p>
                      <a:pPr marL="182563" indent="-182563" algn="just">
                        <a:spcBef>
                          <a:spcPts val="600"/>
                        </a:spcBef>
                        <a:spcAft>
                          <a:spcPts val="600"/>
                        </a:spcAft>
                        <a:buFont typeface="Wingdings" panose="05000000000000000000" pitchFamily="2" charset="2"/>
                        <a:buChar char="§"/>
                      </a:pPr>
                      <a:r>
                        <a:rPr lang="en-US" sz="1700" dirty="0"/>
                        <a:t>However, </a:t>
                      </a:r>
                      <a:r>
                        <a:rPr lang="en-US" sz="1700" b="1" dirty="0"/>
                        <a:t>they cannot handle sequential or temporal data</a:t>
                      </a:r>
                      <a:r>
                        <a:rPr lang="en-US" sz="1700" dirty="0"/>
                        <a:t>, such as </a:t>
                      </a:r>
                      <a:r>
                        <a:rPr lang="en-US" sz="1700" b="1" dirty="0"/>
                        <a:t>text, speech</a:t>
                      </a:r>
                      <a:r>
                        <a:rPr lang="en-US" sz="1700" dirty="0"/>
                        <a:t>, or </a:t>
                      </a:r>
                      <a:r>
                        <a:rPr lang="en-US" sz="1700" b="1" dirty="0"/>
                        <a:t>video,</a:t>
                      </a:r>
                      <a:r>
                        <a:rPr lang="en-US" sz="1700" dirty="0"/>
                        <a:t> that require some form of memory or context.</a:t>
                      </a:r>
                    </a:p>
                    <a:p>
                      <a:pPr marL="182563" indent="-182563" algn="just">
                        <a:spcBef>
                          <a:spcPts val="600"/>
                        </a:spcBef>
                        <a:spcAft>
                          <a:spcPts val="600"/>
                        </a:spcAft>
                        <a:buFont typeface="Wingdings" panose="05000000000000000000" pitchFamily="2" charset="2"/>
                        <a:buChar char="§"/>
                      </a:pPr>
                      <a:r>
                        <a:rPr lang="en-US" sz="1700" b="0" i="0" kern="1200" dirty="0">
                          <a:solidFill>
                            <a:schemeClr val="dk1"/>
                          </a:solidFill>
                          <a:effectLst/>
                          <a:latin typeface="+mn-lt"/>
                          <a:ea typeface="+mn-ea"/>
                          <a:cs typeface="+mn-cs"/>
                        </a:rPr>
                        <a:t>Feed-forward neural networks are </a:t>
                      </a:r>
                      <a:r>
                        <a:rPr lang="en-US" sz="1700" b="1" i="0" kern="1200" dirty="0">
                          <a:solidFill>
                            <a:schemeClr val="dk1"/>
                          </a:solidFill>
                          <a:effectLst/>
                          <a:latin typeface="+mn-lt"/>
                          <a:ea typeface="+mn-ea"/>
                          <a:cs typeface="+mn-cs"/>
                        </a:rPr>
                        <a:t>used in general regression and classification problems.</a:t>
                      </a:r>
                      <a:endParaRPr lang="en-IN" sz="1700" b="1" dirty="0"/>
                    </a:p>
                  </a:txBody>
                  <a:tcPr/>
                </a:tc>
                <a:tc>
                  <a:txBody>
                    <a:bodyPr/>
                    <a:lstStyle/>
                    <a:p>
                      <a:pPr marL="182563" indent="-182563" algn="just">
                        <a:spcBef>
                          <a:spcPts val="600"/>
                        </a:spcBef>
                        <a:spcAft>
                          <a:spcPts val="600"/>
                        </a:spcAft>
                        <a:buFont typeface="Arial" panose="020B0604020202020204" pitchFamily="34" charset="0"/>
                        <a:buChar char="•"/>
                      </a:pPr>
                      <a:r>
                        <a:rPr lang="en-US" sz="1700" dirty="0"/>
                        <a:t>Recurrent neural networks are a type of neural networks that </a:t>
                      </a:r>
                      <a:r>
                        <a:rPr lang="en-US" sz="1700" b="1" dirty="0"/>
                        <a:t>can deal with sequential or temporal data</a:t>
                      </a:r>
                      <a:r>
                        <a:rPr lang="en-US" sz="1700" dirty="0"/>
                        <a:t>. </a:t>
                      </a:r>
                    </a:p>
                    <a:p>
                      <a:pPr marL="182563" indent="-182563" algn="just">
                        <a:spcBef>
                          <a:spcPts val="600"/>
                        </a:spcBef>
                        <a:spcAft>
                          <a:spcPts val="600"/>
                        </a:spcAft>
                        <a:buFont typeface="Arial" panose="020B0604020202020204" pitchFamily="34" charset="0"/>
                        <a:buChar char="•"/>
                      </a:pPr>
                      <a:r>
                        <a:rPr lang="en-US" sz="1700" dirty="0"/>
                        <a:t>They have a special feature that allows them to </a:t>
                      </a:r>
                      <a:r>
                        <a:rPr lang="en-US" sz="1700" b="1" dirty="0"/>
                        <a:t>store some information from the previous inputs and outputs</a:t>
                      </a:r>
                      <a:r>
                        <a:rPr lang="en-US" sz="1700" dirty="0"/>
                        <a:t>. This feature is called a </a:t>
                      </a:r>
                      <a:r>
                        <a:rPr lang="en-US" sz="1700" b="1" dirty="0"/>
                        <a:t>recurrent connection</a:t>
                      </a:r>
                      <a:r>
                        <a:rPr lang="en-US" sz="1700" dirty="0"/>
                        <a:t>, which is </a:t>
                      </a:r>
                      <a:r>
                        <a:rPr lang="en-US" sz="1700" b="1" dirty="0"/>
                        <a:t>a loop that connects a neuron to itself or to another neuron in the same layer</a:t>
                      </a:r>
                      <a:r>
                        <a:rPr lang="en-US" sz="1700" dirty="0"/>
                        <a:t>. Recurrent neural networks can use this connection </a:t>
                      </a:r>
                      <a:r>
                        <a:rPr lang="en-US" sz="1700" b="1" dirty="0"/>
                        <a:t>to remember some aspects of the past data and use them to influence the current output. </a:t>
                      </a:r>
                    </a:p>
                    <a:p>
                      <a:pPr marL="182563" marR="0" lvl="0" indent="-182563" algn="just" defTabSz="914400" rtl="0" eaLnBrk="1" fontAlgn="auto" latinLnBrk="0" hangingPunct="1">
                        <a:lnSpc>
                          <a:spcPct val="100000"/>
                        </a:lnSpc>
                        <a:spcBef>
                          <a:spcPts val="600"/>
                        </a:spcBef>
                        <a:spcAft>
                          <a:spcPts val="600"/>
                        </a:spcAft>
                        <a:buClrTx/>
                        <a:buSzTx/>
                        <a:buFont typeface="Arial" panose="020B0604020202020204" pitchFamily="34" charset="0"/>
                        <a:buChar char="•"/>
                        <a:tabLst/>
                        <a:defRPr/>
                      </a:pPr>
                      <a:r>
                        <a:rPr lang="en-US" sz="1700" dirty="0"/>
                        <a:t>It can handle </a:t>
                      </a:r>
                      <a:r>
                        <a:rPr lang="en-US" sz="1700" b="1" dirty="0"/>
                        <a:t>variable sized vector as inputs</a:t>
                      </a:r>
                      <a:r>
                        <a:rPr lang="en-US" sz="1700" dirty="0"/>
                        <a:t>.  </a:t>
                      </a:r>
                    </a:p>
                    <a:p>
                      <a:pPr marL="182563" indent="-182563" algn="just">
                        <a:spcBef>
                          <a:spcPts val="600"/>
                        </a:spcBef>
                        <a:spcAft>
                          <a:spcPts val="600"/>
                        </a:spcAft>
                        <a:buFont typeface="Arial" panose="020B0604020202020204" pitchFamily="34" charset="0"/>
                        <a:buChar char="•"/>
                      </a:pPr>
                      <a:endParaRPr lang="en-US" sz="1700" dirty="0"/>
                    </a:p>
                    <a:p>
                      <a:pPr marL="182563" indent="-182563" algn="just">
                        <a:spcBef>
                          <a:spcPts val="600"/>
                        </a:spcBef>
                        <a:spcAft>
                          <a:spcPts val="600"/>
                        </a:spcAft>
                        <a:buFont typeface="Arial" panose="020B0604020202020204" pitchFamily="34" charset="0"/>
                        <a:buChar char="•"/>
                      </a:pPr>
                      <a:r>
                        <a:rPr lang="en-US" sz="1700" dirty="0"/>
                        <a:t>Recurrent neural networks are </a:t>
                      </a:r>
                      <a:r>
                        <a:rPr lang="en-US" sz="1700" b="1" dirty="0"/>
                        <a:t>good at learning dynamic patterns and capturing long-term dependencies </a:t>
                      </a:r>
                      <a:r>
                        <a:rPr lang="en-US" sz="1700" dirty="0"/>
                        <a:t>and context.</a:t>
                      </a:r>
                      <a:endParaRPr lang="en-IN" sz="1700" dirty="0"/>
                    </a:p>
                  </a:txBody>
                  <a:tcPr/>
                </a:tc>
                <a:extLst>
                  <a:ext uri="{0D108BD9-81ED-4DB2-BD59-A6C34878D82A}">
                    <a16:rowId xmlns:a16="http://schemas.microsoft.com/office/drawing/2014/main" val="806844678"/>
                  </a:ext>
                </a:extLst>
              </a:tr>
            </a:tbl>
          </a:graphicData>
        </a:graphic>
      </p:graphicFrame>
      <p:sp>
        <p:nvSpPr>
          <p:cNvPr id="16" name="TextBox 15">
            <a:extLst>
              <a:ext uri="{FF2B5EF4-FFF2-40B4-BE49-F238E27FC236}">
                <a16:creationId xmlns:a16="http://schemas.microsoft.com/office/drawing/2014/main" id="{1D36C193-BB12-704A-43D3-ADAAB626FDFE}"/>
              </a:ext>
            </a:extLst>
          </p:cNvPr>
          <p:cNvSpPr txBox="1"/>
          <p:nvPr/>
        </p:nvSpPr>
        <p:spPr>
          <a:xfrm>
            <a:off x="4966286" y="25361"/>
            <a:ext cx="7113530" cy="830997"/>
          </a:xfrm>
          <a:prstGeom prst="rect">
            <a:avLst/>
          </a:prstGeom>
          <a:noFill/>
          <a:ln>
            <a:solidFill>
              <a:srgbClr val="000000"/>
            </a:solidFill>
          </a:ln>
        </p:spPr>
        <p:txBody>
          <a:bodyPr wrap="square">
            <a:spAutoFit/>
          </a:bodyPr>
          <a:lstStyle/>
          <a:p>
            <a:pPr algn="just"/>
            <a:r>
              <a:rPr lang="en-US" sz="1600" b="1" dirty="0"/>
              <a:t>Temporal data: </a:t>
            </a:r>
            <a:r>
              <a:rPr lang="en-US" sz="1600" dirty="0"/>
              <a:t>Data that specifically </a:t>
            </a:r>
            <a:r>
              <a:rPr lang="en-US" sz="1600" b="1" dirty="0"/>
              <a:t>refers to times or dates</a:t>
            </a:r>
            <a:r>
              <a:rPr lang="en-US" sz="1600" dirty="0"/>
              <a:t>. Temporal data may refer to discrete events, such as lightning strikes; moving objects, such as trains; or repeated observations, such as counts from traffic sensors</a:t>
            </a:r>
            <a:endParaRPr lang="en-IN" sz="1600" dirty="0"/>
          </a:p>
        </p:txBody>
      </p:sp>
      <p:sp>
        <p:nvSpPr>
          <p:cNvPr id="18" name="TextBox 17">
            <a:extLst>
              <a:ext uri="{FF2B5EF4-FFF2-40B4-BE49-F238E27FC236}">
                <a16:creationId xmlns:a16="http://schemas.microsoft.com/office/drawing/2014/main" id="{5F2CE104-0B21-EBDB-56DD-2C1AF1997939}"/>
              </a:ext>
            </a:extLst>
          </p:cNvPr>
          <p:cNvSpPr txBox="1"/>
          <p:nvPr/>
        </p:nvSpPr>
        <p:spPr>
          <a:xfrm>
            <a:off x="5429772" y="1044300"/>
            <a:ext cx="5637236" cy="261610"/>
          </a:xfrm>
          <a:prstGeom prst="rect">
            <a:avLst/>
          </a:prstGeom>
          <a:noFill/>
          <a:ln>
            <a:solidFill>
              <a:schemeClr val="tx1"/>
            </a:solidFill>
          </a:ln>
        </p:spPr>
        <p:txBody>
          <a:bodyPr wrap="square">
            <a:spAutoFit/>
          </a:bodyPr>
          <a:lstStyle/>
          <a:p>
            <a:r>
              <a:rPr lang="en-IN" sz="1100" b="1" dirty="0"/>
              <a:t>https://www.linkedin.com/advice/3/what-difference-between-recurrent-feedforward</a:t>
            </a:r>
          </a:p>
        </p:txBody>
      </p:sp>
    </p:spTree>
    <p:extLst>
      <p:ext uri="{BB962C8B-B14F-4D97-AF65-F5344CB8AC3E}">
        <p14:creationId xmlns:p14="http://schemas.microsoft.com/office/powerpoint/2010/main" val="27886471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F648D-46F3-1C3D-9AB1-12E35BF235D5}"/>
              </a:ext>
            </a:extLst>
          </p:cNvPr>
          <p:cNvSpPr>
            <a:spLocks noGrp="1"/>
          </p:cNvSpPr>
          <p:nvPr>
            <p:ph type="title"/>
          </p:nvPr>
        </p:nvSpPr>
        <p:spPr>
          <a:xfrm>
            <a:off x="1056349" y="1001151"/>
            <a:ext cx="10566400" cy="1143000"/>
          </a:xfrm>
        </p:spPr>
        <p:txBody>
          <a:bodyPr/>
          <a:lstStyle/>
          <a:p>
            <a:r>
              <a:rPr lang="en-IN" dirty="0"/>
              <a:t>Why Recurrent Neural Networks?</a:t>
            </a:r>
            <a:br>
              <a:rPr lang="en-IN" dirty="0"/>
            </a:br>
            <a:endParaRPr lang="en-IN" dirty="0"/>
          </a:p>
        </p:txBody>
      </p:sp>
      <p:sp>
        <p:nvSpPr>
          <p:cNvPr id="3" name="Content Placeholder 2">
            <a:extLst>
              <a:ext uri="{FF2B5EF4-FFF2-40B4-BE49-F238E27FC236}">
                <a16:creationId xmlns:a16="http://schemas.microsoft.com/office/drawing/2014/main" id="{BB2B337A-3E39-ECEB-BEDF-1BFA9216924F}"/>
              </a:ext>
            </a:extLst>
          </p:cNvPr>
          <p:cNvSpPr>
            <a:spLocks noGrp="1"/>
          </p:cNvSpPr>
          <p:nvPr>
            <p:ph idx="1"/>
          </p:nvPr>
        </p:nvSpPr>
        <p:spPr>
          <a:xfrm>
            <a:off x="1056349" y="2298701"/>
            <a:ext cx="10854005" cy="4559299"/>
          </a:xfrm>
          <a:ln>
            <a:solidFill>
              <a:srgbClr val="1D1D1D"/>
            </a:solidFill>
          </a:ln>
        </p:spPr>
        <p:txBody>
          <a:bodyPr/>
          <a:lstStyle/>
          <a:p>
            <a:pPr algn="l">
              <a:lnSpc>
                <a:spcPct val="150000"/>
              </a:lnSpc>
            </a:pPr>
            <a:r>
              <a:rPr lang="en-US" sz="1800" b="0" i="0" dirty="0">
                <a:solidFill>
                  <a:srgbClr val="51565E"/>
                </a:solidFill>
                <a:effectLst/>
                <a:highlight>
                  <a:srgbClr val="FFFFFF"/>
                </a:highlight>
              </a:rPr>
              <a:t>RNN were created because there were a </a:t>
            </a:r>
            <a:r>
              <a:rPr lang="en-US" sz="1800" b="1" i="0" dirty="0">
                <a:solidFill>
                  <a:srgbClr val="51565E"/>
                </a:solidFill>
                <a:effectLst/>
                <a:highlight>
                  <a:srgbClr val="FFFFFF"/>
                </a:highlight>
              </a:rPr>
              <a:t>few issues in the feed-forward neural network</a:t>
            </a:r>
            <a:r>
              <a:rPr lang="en-US" sz="1800" b="0" i="0" dirty="0">
                <a:solidFill>
                  <a:srgbClr val="51565E"/>
                </a:solidFill>
                <a:effectLst/>
                <a:highlight>
                  <a:srgbClr val="FFFFFF"/>
                </a:highlight>
              </a:rPr>
              <a:t>:</a:t>
            </a:r>
          </a:p>
          <a:p>
            <a:pPr marL="984250" indent="-182563" algn="l">
              <a:lnSpc>
                <a:spcPct val="150000"/>
              </a:lnSpc>
              <a:buFont typeface="Arial" panose="020B0604020202020204" pitchFamily="34" charset="0"/>
              <a:buChar char="•"/>
            </a:pPr>
            <a:r>
              <a:rPr lang="en-US" sz="1800" b="1" i="0" dirty="0">
                <a:solidFill>
                  <a:srgbClr val="51565E"/>
                </a:solidFill>
                <a:effectLst/>
                <a:highlight>
                  <a:srgbClr val="FFFFFF"/>
                </a:highlight>
              </a:rPr>
              <a:t>Cannot handle sequential data</a:t>
            </a:r>
          </a:p>
          <a:p>
            <a:pPr marL="984250" indent="-182563" algn="l">
              <a:lnSpc>
                <a:spcPct val="150000"/>
              </a:lnSpc>
              <a:buFont typeface="Arial" panose="020B0604020202020204" pitchFamily="34" charset="0"/>
              <a:buChar char="•"/>
            </a:pPr>
            <a:r>
              <a:rPr lang="en-US" sz="1800" b="1" dirty="0">
                <a:solidFill>
                  <a:srgbClr val="51565E"/>
                </a:solidFill>
                <a:highlight>
                  <a:srgbClr val="FFFFFF"/>
                </a:highlight>
              </a:rPr>
              <a:t>Cannot handle variable length data.</a:t>
            </a:r>
            <a:endParaRPr lang="en-US" sz="1800" b="1" i="0" dirty="0">
              <a:solidFill>
                <a:srgbClr val="51565E"/>
              </a:solidFill>
              <a:effectLst/>
              <a:highlight>
                <a:srgbClr val="FFFFFF"/>
              </a:highlight>
            </a:endParaRPr>
          </a:p>
          <a:p>
            <a:pPr marL="984250" indent="-182563" algn="l">
              <a:lnSpc>
                <a:spcPct val="150000"/>
              </a:lnSpc>
              <a:buFont typeface="Arial" panose="020B0604020202020204" pitchFamily="34" charset="0"/>
              <a:buChar char="•"/>
            </a:pPr>
            <a:r>
              <a:rPr lang="en-US" sz="1800" b="1" i="0" dirty="0">
                <a:solidFill>
                  <a:srgbClr val="51565E"/>
                </a:solidFill>
                <a:effectLst/>
                <a:highlight>
                  <a:srgbClr val="FFFFFF"/>
                </a:highlight>
              </a:rPr>
              <a:t>Considers only the current input</a:t>
            </a:r>
          </a:p>
          <a:p>
            <a:pPr marL="984250" indent="-182563" algn="l">
              <a:lnSpc>
                <a:spcPct val="150000"/>
              </a:lnSpc>
              <a:buFont typeface="Arial" panose="020B0604020202020204" pitchFamily="34" charset="0"/>
              <a:buChar char="•"/>
            </a:pPr>
            <a:r>
              <a:rPr lang="en-US" sz="1800" b="1" i="0" dirty="0">
                <a:solidFill>
                  <a:srgbClr val="51565E"/>
                </a:solidFill>
                <a:effectLst/>
                <a:highlight>
                  <a:srgbClr val="FFFFFF"/>
                </a:highlight>
              </a:rPr>
              <a:t>Cannot memorize previous inputs</a:t>
            </a:r>
          </a:p>
          <a:p>
            <a:pPr algn="l">
              <a:lnSpc>
                <a:spcPct val="150000"/>
              </a:lnSpc>
            </a:pPr>
            <a:r>
              <a:rPr lang="en-US" sz="1800" b="0" i="0" dirty="0">
                <a:solidFill>
                  <a:srgbClr val="51565E"/>
                </a:solidFill>
                <a:effectLst/>
                <a:highlight>
                  <a:srgbClr val="FFFFFF"/>
                </a:highlight>
              </a:rPr>
              <a:t>The solution to these issues is the RNN</a:t>
            </a:r>
            <a:r>
              <a:rPr lang="en-US" sz="1800" b="0" i="0" dirty="0">
                <a:solidFill>
                  <a:srgbClr val="FF0000"/>
                </a:solidFill>
                <a:effectLst/>
                <a:highlight>
                  <a:srgbClr val="FFFFFF"/>
                </a:highlight>
              </a:rPr>
              <a:t>. </a:t>
            </a:r>
            <a:r>
              <a:rPr lang="en-US" sz="1800" b="1" i="0" dirty="0">
                <a:solidFill>
                  <a:srgbClr val="FF0000"/>
                </a:solidFill>
                <a:effectLst/>
                <a:highlight>
                  <a:srgbClr val="FFFFFF"/>
                </a:highlight>
              </a:rPr>
              <a:t>An RNN can handle sequential data, which accepts the current input data, and previously received inputs. RNNs can memorize previous inputs due to their internal memory.</a:t>
            </a:r>
          </a:p>
          <a:p>
            <a:pPr algn="l">
              <a:lnSpc>
                <a:spcPct val="150000"/>
              </a:lnSpc>
            </a:pPr>
            <a:r>
              <a:rPr lang="en-US" sz="1800" b="0" i="0" dirty="0">
                <a:solidFill>
                  <a:srgbClr val="51565E"/>
                </a:solidFill>
                <a:effectLst/>
                <a:highlight>
                  <a:srgbClr val="FFFFFF"/>
                </a:highlight>
              </a:rPr>
              <a:t>Recurrent neural networks (RNNs) are a type of artificial neural network that are </a:t>
            </a:r>
            <a:r>
              <a:rPr lang="en-US" sz="1800" b="1" i="0" dirty="0">
                <a:solidFill>
                  <a:srgbClr val="FF0000"/>
                </a:solidFill>
                <a:effectLst/>
                <a:highlight>
                  <a:srgbClr val="FFFFFF"/>
                </a:highlight>
              </a:rPr>
              <a:t>primarily utilized in NLP (natural language processing) and speech recognition.</a:t>
            </a:r>
          </a:p>
        </p:txBody>
      </p:sp>
      <p:sp>
        <p:nvSpPr>
          <p:cNvPr id="4" name="Slide Number Placeholder 3">
            <a:extLst>
              <a:ext uri="{FF2B5EF4-FFF2-40B4-BE49-F238E27FC236}">
                <a16:creationId xmlns:a16="http://schemas.microsoft.com/office/drawing/2014/main" id="{EBF4D9C2-42A4-23E5-E98D-98DE55928C51}"/>
              </a:ext>
            </a:extLst>
          </p:cNvPr>
          <p:cNvSpPr>
            <a:spLocks noGrp="1"/>
          </p:cNvSpPr>
          <p:nvPr>
            <p:ph type="sldNum" sz="quarter" idx="12"/>
          </p:nvPr>
        </p:nvSpPr>
        <p:spPr/>
        <p:txBody>
          <a:bodyPr/>
          <a:lstStyle/>
          <a:p>
            <a:pPr>
              <a:defRPr/>
            </a:pPr>
            <a:fld id="{9AD681D7-8A59-4380-9311-10B86FF921AA}" type="slidenum">
              <a:rPr lang="en-US" altLang="zh-TW" smtClean="0"/>
              <a:pPr>
                <a:defRPr/>
              </a:pPr>
              <a:t>6</a:t>
            </a:fld>
            <a:endParaRPr lang="en-US" altLang="zh-TW"/>
          </a:p>
        </p:txBody>
      </p:sp>
      <p:pic>
        <p:nvPicPr>
          <p:cNvPr id="5" name="Picture 4">
            <a:extLst>
              <a:ext uri="{FF2B5EF4-FFF2-40B4-BE49-F238E27FC236}">
                <a16:creationId xmlns:a16="http://schemas.microsoft.com/office/drawing/2014/main" id="{16805442-8715-386F-FDA3-A095A62D4712}"/>
              </a:ext>
            </a:extLst>
          </p:cNvPr>
          <p:cNvPicPr>
            <a:picLocks noChangeAspect="1"/>
          </p:cNvPicPr>
          <p:nvPr/>
        </p:nvPicPr>
        <p:blipFill rotWithShape="1">
          <a:blip r:embed="rId2"/>
          <a:srcRect l="73522" t="8227" r="7425" b="18403"/>
          <a:stretch/>
        </p:blipFill>
        <p:spPr>
          <a:xfrm>
            <a:off x="10460401" y="227428"/>
            <a:ext cx="1350500" cy="1916723"/>
          </a:xfrm>
          <a:prstGeom prst="rect">
            <a:avLst/>
          </a:prstGeom>
          <a:ln>
            <a:solidFill>
              <a:srgbClr val="000000"/>
            </a:solidFill>
          </a:ln>
        </p:spPr>
      </p:pic>
    </p:spTree>
    <p:extLst>
      <p:ext uri="{BB962C8B-B14F-4D97-AF65-F5344CB8AC3E}">
        <p14:creationId xmlns:p14="http://schemas.microsoft.com/office/powerpoint/2010/main" val="26982091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0E04C7-93CD-0F76-34D9-F3DCF1FC833D}"/>
              </a:ext>
            </a:extLst>
          </p:cNvPr>
          <p:cNvSpPr>
            <a:spLocks noGrp="1"/>
          </p:cNvSpPr>
          <p:nvPr>
            <p:ph type="title"/>
          </p:nvPr>
        </p:nvSpPr>
        <p:spPr>
          <a:xfrm>
            <a:off x="875320" y="874544"/>
            <a:ext cx="10566400" cy="1143000"/>
          </a:xfrm>
        </p:spPr>
        <p:txBody>
          <a:bodyPr/>
          <a:lstStyle/>
          <a:p>
            <a:r>
              <a:rPr kumimoji="1" lang="en-IN" sz="3600" b="1" i="0" u="none" strike="noStrike" kern="1200" cap="none" spc="0" normalizeH="0" baseline="0" noProof="0" dirty="0">
                <a:ln>
                  <a:noFill/>
                </a:ln>
                <a:solidFill>
                  <a:srgbClr val="006666"/>
                </a:solidFill>
                <a:effectLst/>
                <a:uLnTx/>
                <a:uFillTx/>
                <a:latin typeface="Arial"/>
                <a:ea typeface="PMingLiU" panose="02020500000000000000" pitchFamily="18" charset="-120"/>
                <a:cs typeface="+mj-cs"/>
              </a:rPr>
              <a:t>Recurrent Neural Networks</a:t>
            </a:r>
            <a:endParaRPr lang="en-IN" dirty="0"/>
          </a:p>
        </p:txBody>
      </p:sp>
      <p:sp>
        <p:nvSpPr>
          <p:cNvPr id="3" name="Content Placeholder 2">
            <a:extLst>
              <a:ext uri="{FF2B5EF4-FFF2-40B4-BE49-F238E27FC236}">
                <a16:creationId xmlns:a16="http://schemas.microsoft.com/office/drawing/2014/main" id="{5F3677D4-8712-B166-361A-24711F10505B}"/>
              </a:ext>
            </a:extLst>
          </p:cNvPr>
          <p:cNvSpPr>
            <a:spLocks noGrp="1"/>
          </p:cNvSpPr>
          <p:nvPr>
            <p:ph idx="1"/>
          </p:nvPr>
        </p:nvSpPr>
        <p:spPr>
          <a:xfrm>
            <a:off x="1117601" y="2349502"/>
            <a:ext cx="10896208" cy="4495799"/>
          </a:xfrm>
          <a:ln>
            <a:solidFill>
              <a:srgbClr val="000000"/>
            </a:solidFill>
          </a:ln>
        </p:spPr>
        <p:txBody>
          <a:bodyPr/>
          <a:lstStyle/>
          <a:p>
            <a:pPr marL="342900" marR="0" lvl="0" indent="-342900" algn="just" defTabSz="914400" rtl="0" eaLnBrk="0" fontAlgn="base" latinLnBrk="0" hangingPunct="0">
              <a:lnSpc>
                <a:spcPct val="150000"/>
              </a:lnSpc>
              <a:spcBef>
                <a:spcPts val="600"/>
              </a:spcBef>
              <a:spcAft>
                <a:spcPts val="600"/>
              </a:spcAft>
              <a:buClr>
                <a:srgbClr val="003366"/>
              </a:buClr>
              <a:buSzPct val="75000"/>
              <a:buFont typeface="Wingdings" panose="05000000000000000000" pitchFamily="2" charset="2"/>
              <a:buChar char="l"/>
              <a:tabLst/>
              <a:defRPr/>
            </a:pPr>
            <a:r>
              <a:rPr kumimoji="1" lang="en-US" sz="1900" b="0" i="0" u="none" strike="noStrike" kern="1200" cap="none" spc="0" normalizeH="0" baseline="0" noProof="0" dirty="0">
                <a:ln>
                  <a:noFill/>
                </a:ln>
                <a:solidFill>
                  <a:srgbClr val="51565E"/>
                </a:solidFill>
                <a:effectLst/>
                <a:highlight>
                  <a:srgbClr val="FFFFFF"/>
                </a:highlight>
                <a:uLnTx/>
                <a:uFillTx/>
                <a:latin typeface="Arial"/>
                <a:ea typeface="PMingLiU" panose="02020500000000000000" pitchFamily="18" charset="-120"/>
                <a:cs typeface="+mn-cs"/>
              </a:rPr>
              <a:t>Recurrent neural network (</a:t>
            </a:r>
            <a:r>
              <a:rPr kumimoji="1" lang="en-US" sz="1900" b="1" i="0" u="none" strike="noStrike" kern="1200" cap="none" spc="0" normalizeH="0" baseline="0" noProof="0" dirty="0">
                <a:ln>
                  <a:noFill/>
                </a:ln>
                <a:solidFill>
                  <a:srgbClr val="51565E"/>
                </a:solidFill>
                <a:effectLst/>
                <a:highlight>
                  <a:srgbClr val="FFFFFF"/>
                </a:highlight>
                <a:uLnTx/>
                <a:uFillTx/>
                <a:latin typeface="Arial"/>
                <a:ea typeface="PMingLiU" panose="02020500000000000000" pitchFamily="18" charset="-120"/>
                <a:cs typeface="+mn-cs"/>
              </a:rPr>
              <a:t>RNN)</a:t>
            </a:r>
            <a:r>
              <a:rPr kumimoji="1" lang="en-US" sz="1900" b="0" i="0" u="none" strike="noStrike" kern="1200" cap="none" spc="0" normalizeH="0" baseline="0" noProof="0" dirty="0">
                <a:ln>
                  <a:noFill/>
                </a:ln>
                <a:solidFill>
                  <a:srgbClr val="51565E"/>
                </a:solidFill>
                <a:effectLst/>
                <a:highlight>
                  <a:srgbClr val="FFFFFF"/>
                </a:highlight>
                <a:uLnTx/>
                <a:uFillTx/>
                <a:latin typeface="Arial"/>
                <a:ea typeface="PMingLiU" panose="02020500000000000000" pitchFamily="18" charset="-120"/>
                <a:cs typeface="+mn-cs"/>
              </a:rPr>
              <a:t> is a specialized neural network with </a:t>
            </a:r>
            <a:r>
              <a:rPr kumimoji="1" lang="en-US" sz="1900" b="1" i="0" u="none" strike="noStrike" kern="1200" cap="none" spc="0" normalizeH="0" baseline="0" noProof="0" dirty="0">
                <a:ln>
                  <a:noFill/>
                </a:ln>
                <a:solidFill>
                  <a:srgbClr val="51565E"/>
                </a:solidFill>
                <a:effectLst/>
                <a:highlight>
                  <a:srgbClr val="FFFFFF"/>
                </a:highlight>
                <a:uLnTx/>
                <a:uFillTx/>
                <a:latin typeface="Arial"/>
                <a:ea typeface="PMingLiU" panose="02020500000000000000" pitchFamily="18" charset="-120"/>
                <a:cs typeface="+mn-cs"/>
              </a:rPr>
              <a:t>feedback connection for processing sequential data </a:t>
            </a:r>
            <a:r>
              <a:rPr kumimoji="1" lang="en-US" sz="1900" b="0" i="0" u="none" strike="noStrike" kern="1200" cap="none" spc="0" normalizeH="0" baseline="0" noProof="0" dirty="0">
                <a:ln>
                  <a:noFill/>
                </a:ln>
                <a:solidFill>
                  <a:srgbClr val="51565E"/>
                </a:solidFill>
                <a:effectLst/>
                <a:highlight>
                  <a:srgbClr val="FFFFFF"/>
                </a:highlight>
                <a:uLnTx/>
                <a:uFillTx/>
                <a:latin typeface="Arial"/>
                <a:ea typeface="PMingLiU" panose="02020500000000000000" pitchFamily="18" charset="-120"/>
                <a:cs typeface="+mn-cs"/>
              </a:rPr>
              <a:t>or </a:t>
            </a:r>
            <a:r>
              <a:rPr kumimoji="1" lang="en-US" sz="1900" b="1" i="0" u="none" strike="noStrike" kern="1200" cap="none" spc="0" normalizeH="0" baseline="0" noProof="0" dirty="0">
                <a:ln>
                  <a:noFill/>
                </a:ln>
                <a:solidFill>
                  <a:srgbClr val="51565E"/>
                </a:solidFill>
                <a:effectLst/>
                <a:highlight>
                  <a:srgbClr val="FFFFFF"/>
                </a:highlight>
                <a:uLnTx/>
                <a:uFillTx/>
                <a:latin typeface="Arial"/>
                <a:ea typeface="PMingLiU" panose="02020500000000000000" pitchFamily="18" charset="-120"/>
                <a:cs typeface="+mn-cs"/>
              </a:rPr>
              <a:t>time-series data </a:t>
            </a:r>
            <a:r>
              <a:rPr kumimoji="1" lang="en-US" sz="1900" b="0" i="0" u="none" strike="noStrike" kern="1200" cap="none" spc="0" normalizeH="0" baseline="0" noProof="0" dirty="0">
                <a:ln>
                  <a:noFill/>
                </a:ln>
                <a:solidFill>
                  <a:srgbClr val="51565E"/>
                </a:solidFill>
                <a:effectLst/>
                <a:highlight>
                  <a:srgbClr val="FFFFFF"/>
                </a:highlight>
                <a:uLnTx/>
                <a:uFillTx/>
                <a:latin typeface="Arial"/>
                <a:ea typeface="PMingLiU" panose="02020500000000000000" pitchFamily="18" charset="-120"/>
                <a:cs typeface="+mn-cs"/>
              </a:rPr>
              <a:t>in which </a:t>
            </a:r>
            <a:r>
              <a:rPr kumimoji="1" lang="en-US" sz="1900" b="1" i="0" u="none" strike="noStrike" kern="1200" cap="none" spc="0" normalizeH="0" baseline="0" noProof="0" dirty="0">
                <a:ln>
                  <a:noFill/>
                </a:ln>
                <a:solidFill>
                  <a:srgbClr val="51565E"/>
                </a:solidFill>
                <a:effectLst/>
                <a:highlight>
                  <a:srgbClr val="FFFFFF"/>
                </a:highlight>
                <a:uLnTx/>
                <a:uFillTx/>
                <a:latin typeface="Arial"/>
                <a:ea typeface="PMingLiU" panose="02020500000000000000" pitchFamily="18" charset="-120"/>
                <a:cs typeface="+mn-cs"/>
              </a:rPr>
              <a:t>the output obtained is fed back into it as input along with the new input at every time step.</a:t>
            </a:r>
            <a:r>
              <a:rPr kumimoji="1" lang="en-US" sz="1900" b="0" i="0" u="none" strike="noStrike" kern="1200" cap="none" spc="0" normalizeH="0" baseline="0" noProof="0" dirty="0">
                <a:ln>
                  <a:noFill/>
                </a:ln>
                <a:solidFill>
                  <a:srgbClr val="51565E"/>
                </a:solidFill>
                <a:effectLst/>
                <a:highlight>
                  <a:srgbClr val="FFFFFF"/>
                </a:highlight>
                <a:uLnTx/>
                <a:uFillTx/>
                <a:latin typeface="Arial"/>
                <a:ea typeface="PMingLiU" panose="02020500000000000000" pitchFamily="18" charset="-120"/>
                <a:cs typeface="+mn-cs"/>
              </a:rPr>
              <a:t> </a:t>
            </a:r>
            <a:r>
              <a:rPr kumimoji="1" lang="en-US" sz="1900" b="0" i="0" u="none" strike="noStrike" kern="1200" cap="none" spc="0" normalizeH="0" baseline="0" noProof="0" dirty="0">
                <a:ln>
                  <a:noFill/>
                </a:ln>
                <a:solidFill>
                  <a:srgbClr val="FF0000"/>
                </a:solidFill>
                <a:effectLst/>
                <a:highlight>
                  <a:srgbClr val="FFFFFF"/>
                </a:highlight>
                <a:uLnTx/>
                <a:uFillTx/>
                <a:latin typeface="Arial"/>
                <a:ea typeface="PMingLiU" panose="02020500000000000000" pitchFamily="18" charset="-120"/>
                <a:cs typeface="+mn-cs"/>
              </a:rPr>
              <a:t>The feedback connection allows the neural network </a:t>
            </a:r>
            <a:r>
              <a:rPr kumimoji="1" lang="en-US" sz="1900" b="1" i="0" u="none" strike="noStrike" kern="1200" cap="none" spc="0" normalizeH="0" baseline="0" noProof="0" dirty="0">
                <a:ln>
                  <a:noFill/>
                </a:ln>
                <a:solidFill>
                  <a:srgbClr val="FF0000"/>
                </a:solidFill>
                <a:effectLst/>
                <a:highlight>
                  <a:srgbClr val="FFFFFF"/>
                </a:highlight>
                <a:uLnTx/>
                <a:uFillTx/>
                <a:latin typeface="Arial"/>
                <a:ea typeface="PMingLiU" panose="02020500000000000000" pitchFamily="18" charset="-120"/>
                <a:cs typeface="+mn-cs"/>
              </a:rPr>
              <a:t>to remember the past data when processing the next output</a:t>
            </a:r>
            <a:r>
              <a:rPr kumimoji="1" lang="en-US" sz="1900" b="0" i="0" u="none" strike="noStrike" kern="1200" cap="none" spc="0" normalizeH="0" baseline="0" noProof="0" dirty="0">
                <a:ln>
                  <a:noFill/>
                </a:ln>
                <a:solidFill>
                  <a:srgbClr val="FF0000"/>
                </a:solidFill>
                <a:effectLst/>
                <a:highlight>
                  <a:srgbClr val="FFFFFF"/>
                </a:highlight>
                <a:uLnTx/>
                <a:uFillTx/>
                <a:latin typeface="Arial"/>
                <a:ea typeface="PMingLiU" panose="02020500000000000000" pitchFamily="18" charset="-120"/>
                <a:cs typeface="+mn-cs"/>
              </a:rPr>
              <a:t>. Such processing can be defined as a </a:t>
            </a:r>
            <a:r>
              <a:rPr kumimoji="1" lang="en-US" sz="1900" b="1" i="0" u="none" strike="noStrike" kern="1200" cap="none" spc="0" normalizeH="0" baseline="0" noProof="0" dirty="0">
                <a:ln>
                  <a:noFill/>
                </a:ln>
                <a:solidFill>
                  <a:srgbClr val="FF0000"/>
                </a:solidFill>
                <a:effectLst/>
                <a:highlight>
                  <a:srgbClr val="FFFFFF"/>
                </a:highlight>
                <a:uLnTx/>
                <a:uFillTx/>
                <a:latin typeface="Arial"/>
                <a:ea typeface="PMingLiU" panose="02020500000000000000" pitchFamily="18" charset="-120"/>
                <a:cs typeface="+mn-cs"/>
              </a:rPr>
              <a:t>recurring process</a:t>
            </a:r>
            <a:r>
              <a:rPr kumimoji="1" lang="en-US" sz="1900" b="0" i="0" u="none" strike="noStrike" kern="1200" cap="none" spc="0" normalizeH="0" baseline="0" noProof="0" dirty="0">
                <a:ln>
                  <a:noFill/>
                </a:ln>
                <a:solidFill>
                  <a:srgbClr val="FF0000"/>
                </a:solidFill>
                <a:effectLst/>
                <a:highlight>
                  <a:srgbClr val="FFFFFF"/>
                </a:highlight>
                <a:uLnTx/>
                <a:uFillTx/>
                <a:latin typeface="Arial"/>
                <a:ea typeface="PMingLiU" panose="02020500000000000000" pitchFamily="18" charset="-120"/>
                <a:cs typeface="+mn-cs"/>
              </a:rPr>
              <a:t>, </a:t>
            </a:r>
            <a:r>
              <a:rPr kumimoji="1" lang="en-US" sz="1900" b="0" i="0" u="none" strike="noStrike" kern="1200" cap="none" spc="0" normalizeH="0" baseline="0" noProof="0" dirty="0">
                <a:ln>
                  <a:noFill/>
                </a:ln>
                <a:solidFill>
                  <a:srgbClr val="51565E"/>
                </a:solidFill>
                <a:effectLst/>
                <a:highlight>
                  <a:srgbClr val="FFFFFF"/>
                </a:highlight>
                <a:uLnTx/>
                <a:uFillTx/>
                <a:latin typeface="Arial"/>
                <a:ea typeface="PMingLiU" panose="02020500000000000000" pitchFamily="18" charset="-120"/>
                <a:cs typeface="+mn-cs"/>
              </a:rPr>
              <a:t>and hence the architecture is also known as </a:t>
            </a:r>
            <a:r>
              <a:rPr kumimoji="1" lang="en-US" sz="1900" b="1" i="0" u="none" strike="noStrike" kern="1200" cap="none" spc="0" normalizeH="0" baseline="0" noProof="0" dirty="0">
                <a:ln>
                  <a:noFill/>
                </a:ln>
                <a:solidFill>
                  <a:srgbClr val="51565E"/>
                </a:solidFill>
                <a:effectLst/>
                <a:highlight>
                  <a:srgbClr val="FFFFFF"/>
                </a:highlight>
                <a:uLnTx/>
                <a:uFillTx/>
                <a:latin typeface="Arial"/>
                <a:ea typeface="PMingLiU" panose="02020500000000000000" pitchFamily="18" charset="-120"/>
                <a:cs typeface="+mn-cs"/>
              </a:rPr>
              <a:t>recurring neural network</a:t>
            </a:r>
            <a:r>
              <a:rPr kumimoji="1" lang="en-US" sz="1900" b="0" i="0" u="none" strike="noStrike" kern="1200" cap="none" spc="0" normalizeH="0" baseline="0" noProof="0" dirty="0">
                <a:ln>
                  <a:noFill/>
                </a:ln>
                <a:solidFill>
                  <a:srgbClr val="51565E"/>
                </a:solidFill>
                <a:effectLst/>
                <a:highlight>
                  <a:srgbClr val="FFFFFF"/>
                </a:highlight>
                <a:uLnTx/>
                <a:uFillTx/>
                <a:latin typeface="Arial"/>
                <a:ea typeface="PMingLiU" panose="02020500000000000000" pitchFamily="18" charset="-120"/>
                <a:cs typeface="+mn-cs"/>
              </a:rPr>
              <a:t>.</a:t>
            </a:r>
            <a:endParaRPr kumimoji="1" lang="en-IN" sz="1900" b="0" i="0" u="none" strike="noStrike" kern="1200" cap="none" spc="0" normalizeH="0" baseline="0" noProof="0" dirty="0">
              <a:ln>
                <a:noFill/>
              </a:ln>
              <a:solidFill>
                <a:srgbClr val="51565E"/>
              </a:solidFill>
              <a:effectLst/>
              <a:highlight>
                <a:srgbClr val="FFFFFF"/>
              </a:highlight>
              <a:uLnTx/>
              <a:uFillTx/>
              <a:latin typeface="Arial"/>
              <a:ea typeface="PMingLiU" panose="02020500000000000000" pitchFamily="18" charset="-120"/>
              <a:cs typeface="+mn-cs"/>
            </a:endParaRPr>
          </a:p>
          <a:p>
            <a:pPr>
              <a:spcBef>
                <a:spcPts val="600"/>
              </a:spcBef>
              <a:spcAft>
                <a:spcPts val="600"/>
              </a:spcAft>
            </a:pPr>
            <a:r>
              <a:rPr lang="en-IN" sz="1900" b="1" dirty="0">
                <a:solidFill>
                  <a:srgbClr val="51565E"/>
                </a:solidFill>
                <a:highlight>
                  <a:srgbClr val="FFFFFF"/>
                </a:highlight>
                <a:latin typeface="Arial"/>
              </a:rPr>
              <a:t>Popular RNN architectures</a:t>
            </a:r>
            <a:r>
              <a:rPr lang="en-IN" sz="1900" dirty="0">
                <a:solidFill>
                  <a:srgbClr val="51565E"/>
                </a:solidFill>
                <a:highlight>
                  <a:srgbClr val="FFFFFF"/>
                </a:highlight>
                <a:latin typeface="Arial"/>
              </a:rPr>
              <a:t>: </a:t>
            </a:r>
            <a:r>
              <a:rPr lang="en-IN" sz="1900" b="1" dirty="0">
                <a:solidFill>
                  <a:srgbClr val="51565E"/>
                </a:solidFill>
                <a:highlight>
                  <a:srgbClr val="FFFFFF"/>
                </a:highlight>
                <a:latin typeface="Arial"/>
              </a:rPr>
              <a:t>LSTM </a:t>
            </a:r>
          </a:p>
          <a:p>
            <a:pPr marL="0" indent="3594100">
              <a:spcBef>
                <a:spcPts val="600"/>
              </a:spcBef>
              <a:spcAft>
                <a:spcPts val="600"/>
              </a:spcAft>
              <a:buNone/>
            </a:pPr>
            <a:r>
              <a:rPr lang="en-IN" sz="1900" b="1" dirty="0">
                <a:solidFill>
                  <a:srgbClr val="51565E"/>
                </a:solidFill>
                <a:highlight>
                  <a:srgbClr val="FFFFFF"/>
                </a:highlight>
                <a:latin typeface="Arial"/>
              </a:rPr>
              <a:t>GRU</a:t>
            </a:r>
          </a:p>
          <a:p>
            <a:pPr marL="0" indent="3594100">
              <a:spcBef>
                <a:spcPts val="600"/>
              </a:spcBef>
              <a:spcAft>
                <a:spcPts val="600"/>
              </a:spcAft>
              <a:buNone/>
            </a:pPr>
            <a:r>
              <a:rPr lang="en-IN" sz="1900" b="1" dirty="0">
                <a:solidFill>
                  <a:srgbClr val="51565E"/>
                </a:solidFill>
                <a:highlight>
                  <a:srgbClr val="FFFFFF"/>
                </a:highlight>
                <a:latin typeface="Arial"/>
              </a:rPr>
              <a:t>Bidirectional RNN </a:t>
            </a:r>
          </a:p>
          <a:p>
            <a:pPr marL="0" indent="3594100">
              <a:spcBef>
                <a:spcPts val="600"/>
              </a:spcBef>
              <a:spcAft>
                <a:spcPts val="600"/>
              </a:spcAft>
              <a:buNone/>
            </a:pPr>
            <a:r>
              <a:rPr lang="en-IN" sz="1900" b="1" dirty="0">
                <a:solidFill>
                  <a:srgbClr val="51565E"/>
                </a:solidFill>
                <a:highlight>
                  <a:srgbClr val="FFFFFF"/>
                </a:highlight>
                <a:latin typeface="Arial"/>
              </a:rPr>
              <a:t>Deep RNN</a:t>
            </a:r>
          </a:p>
        </p:txBody>
      </p:sp>
      <p:sp>
        <p:nvSpPr>
          <p:cNvPr id="4" name="Slide Number Placeholder 3">
            <a:extLst>
              <a:ext uri="{FF2B5EF4-FFF2-40B4-BE49-F238E27FC236}">
                <a16:creationId xmlns:a16="http://schemas.microsoft.com/office/drawing/2014/main" id="{67B6EC57-F8DD-6A5F-688E-C86999ECDFB8}"/>
              </a:ext>
            </a:extLst>
          </p:cNvPr>
          <p:cNvSpPr>
            <a:spLocks noGrp="1"/>
          </p:cNvSpPr>
          <p:nvPr>
            <p:ph type="sldNum" sz="quarter" idx="12"/>
          </p:nvPr>
        </p:nvSpPr>
        <p:spPr/>
        <p:txBody>
          <a:bodyPr/>
          <a:lstStyle/>
          <a:p>
            <a:pPr>
              <a:defRPr/>
            </a:pPr>
            <a:fld id="{9AD681D7-8A59-4380-9311-10B86FF921AA}" type="slidenum">
              <a:rPr lang="en-US" altLang="zh-TW" smtClean="0"/>
              <a:pPr>
                <a:defRPr/>
              </a:pPr>
              <a:t>7</a:t>
            </a:fld>
            <a:endParaRPr lang="en-US" altLang="zh-TW"/>
          </a:p>
        </p:txBody>
      </p:sp>
      <p:pic>
        <p:nvPicPr>
          <p:cNvPr id="6" name="Picture 5">
            <a:extLst>
              <a:ext uri="{FF2B5EF4-FFF2-40B4-BE49-F238E27FC236}">
                <a16:creationId xmlns:a16="http://schemas.microsoft.com/office/drawing/2014/main" id="{B78F0E91-C072-0E26-ACA5-DD75F5214A95}"/>
              </a:ext>
            </a:extLst>
          </p:cNvPr>
          <p:cNvPicPr>
            <a:picLocks noChangeAspect="1"/>
          </p:cNvPicPr>
          <p:nvPr/>
        </p:nvPicPr>
        <p:blipFill rotWithShape="1">
          <a:blip r:embed="rId2"/>
          <a:srcRect l="77845" t="7215" r="9554" b="16433"/>
          <a:stretch/>
        </p:blipFill>
        <p:spPr>
          <a:xfrm>
            <a:off x="10308891" y="4590073"/>
            <a:ext cx="1625209" cy="2140927"/>
          </a:xfrm>
          <a:prstGeom prst="rect">
            <a:avLst/>
          </a:prstGeom>
          <a:ln>
            <a:solidFill>
              <a:srgbClr val="000000"/>
            </a:solidFill>
          </a:ln>
        </p:spPr>
      </p:pic>
      <p:sp>
        <p:nvSpPr>
          <p:cNvPr id="5" name="TextBox 4">
            <a:extLst>
              <a:ext uri="{FF2B5EF4-FFF2-40B4-BE49-F238E27FC236}">
                <a16:creationId xmlns:a16="http://schemas.microsoft.com/office/drawing/2014/main" id="{A125B5B1-E735-DB16-E71F-42875D5334AC}"/>
              </a:ext>
            </a:extLst>
          </p:cNvPr>
          <p:cNvSpPr txBox="1"/>
          <p:nvPr/>
        </p:nvSpPr>
        <p:spPr>
          <a:xfrm>
            <a:off x="5035885" y="58255"/>
            <a:ext cx="7090473" cy="1323439"/>
          </a:xfrm>
          <a:prstGeom prst="rect">
            <a:avLst/>
          </a:prstGeom>
          <a:noFill/>
          <a:ln>
            <a:solidFill>
              <a:schemeClr val="tx1"/>
            </a:solidFill>
          </a:ln>
        </p:spPr>
        <p:txBody>
          <a:bodyPr wrap="square" rtlCol="0">
            <a:spAutoFit/>
          </a:bodyPr>
          <a:lstStyle/>
          <a:p>
            <a:r>
              <a:rPr lang="en-US" sz="1600" b="1" dirty="0"/>
              <a:t>Fixed Length: </a:t>
            </a:r>
            <a:r>
              <a:rPr lang="en-US" sz="1600" dirty="0"/>
              <a:t>All input images of same size  28*28</a:t>
            </a:r>
          </a:p>
          <a:p>
            <a:r>
              <a:rPr lang="en-US" sz="1600" dirty="0"/>
              <a:t>                        All Loan approval input sample: [age, salary], </a:t>
            </a:r>
          </a:p>
          <a:p>
            <a:r>
              <a:rPr lang="en-US" sz="1600" b="1" dirty="0"/>
              <a:t>Variable Length: </a:t>
            </a:r>
            <a:r>
              <a:rPr lang="en-US" sz="1600" dirty="0"/>
              <a:t>Different size input images 28*28, 64*64, 128*128</a:t>
            </a:r>
          </a:p>
          <a:p>
            <a:r>
              <a:rPr lang="en-US" sz="1600" dirty="0"/>
              <a:t>                            Few Loan approval input samples: [ age, salary]  </a:t>
            </a:r>
          </a:p>
          <a:p>
            <a:r>
              <a:rPr lang="en-US" sz="1600" dirty="0"/>
              <a:t>                            Other Loan approval input samples: [age, salary, history]</a:t>
            </a:r>
            <a:endParaRPr lang="en-IN" sz="1600" dirty="0"/>
          </a:p>
        </p:txBody>
      </p:sp>
    </p:spTree>
    <p:extLst>
      <p:ext uri="{BB962C8B-B14F-4D97-AF65-F5344CB8AC3E}">
        <p14:creationId xmlns:p14="http://schemas.microsoft.com/office/powerpoint/2010/main" val="37897539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14435-F123-5CA9-2659-F4ECDCF3E1C2}"/>
              </a:ext>
            </a:extLst>
          </p:cNvPr>
          <p:cNvSpPr>
            <a:spLocks noGrp="1"/>
          </p:cNvSpPr>
          <p:nvPr>
            <p:ph type="title"/>
          </p:nvPr>
        </p:nvSpPr>
        <p:spPr/>
        <p:txBody>
          <a:bodyPr/>
          <a:lstStyle/>
          <a:p>
            <a:r>
              <a:rPr lang="en-IN" dirty="0"/>
              <a:t>Simple RNN</a:t>
            </a:r>
          </a:p>
        </p:txBody>
      </p:sp>
      <p:sp>
        <p:nvSpPr>
          <p:cNvPr id="3" name="Content Placeholder 2">
            <a:extLst>
              <a:ext uri="{FF2B5EF4-FFF2-40B4-BE49-F238E27FC236}">
                <a16:creationId xmlns:a16="http://schemas.microsoft.com/office/drawing/2014/main" id="{C7D44232-5FC7-4AE9-8F97-8B187A3A83B6}"/>
              </a:ext>
            </a:extLst>
          </p:cNvPr>
          <p:cNvSpPr>
            <a:spLocks noGrp="1"/>
          </p:cNvSpPr>
          <p:nvPr>
            <p:ph idx="1"/>
          </p:nvPr>
        </p:nvSpPr>
        <p:spPr>
          <a:xfrm>
            <a:off x="1117601" y="2362201"/>
            <a:ext cx="11074399" cy="4495799"/>
          </a:xfrm>
          <a:ln>
            <a:solidFill>
              <a:schemeClr val="tx1"/>
            </a:solidFill>
          </a:ln>
        </p:spPr>
        <p:txBody>
          <a:bodyPr/>
          <a:lstStyle/>
          <a:p>
            <a:pPr algn="just">
              <a:lnSpc>
                <a:spcPct val="150000"/>
              </a:lnSpc>
            </a:pPr>
            <a:r>
              <a:rPr lang="en-US" sz="2000" dirty="0">
                <a:solidFill>
                  <a:srgbClr val="51565E"/>
                </a:solidFill>
                <a:highlight>
                  <a:srgbClr val="FFFFFF"/>
                </a:highlight>
              </a:rPr>
              <a:t>It is a </a:t>
            </a:r>
            <a:r>
              <a:rPr lang="en-US" sz="2000" b="1" dirty="0">
                <a:solidFill>
                  <a:srgbClr val="51565E"/>
                </a:solidFill>
                <a:highlight>
                  <a:srgbClr val="FFFFFF"/>
                </a:highlight>
              </a:rPr>
              <a:t>simple neural network with a feedback connection. </a:t>
            </a:r>
          </a:p>
          <a:p>
            <a:pPr algn="just">
              <a:lnSpc>
                <a:spcPct val="150000"/>
              </a:lnSpc>
            </a:pPr>
            <a:r>
              <a:rPr lang="en-US" sz="2000" dirty="0">
                <a:solidFill>
                  <a:srgbClr val="51565E"/>
                </a:solidFill>
                <a:highlight>
                  <a:srgbClr val="FFFFFF"/>
                </a:highlight>
              </a:rPr>
              <a:t> It has the capability to </a:t>
            </a:r>
            <a:r>
              <a:rPr lang="en-US" sz="2000" b="1" dirty="0">
                <a:solidFill>
                  <a:srgbClr val="51565E"/>
                </a:solidFill>
                <a:highlight>
                  <a:srgbClr val="FFFFFF"/>
                </a:highlight>
              </a:rPr>
              <a:t>process sequential data of variable length </a:t>
            </a:r>
            <a:r>
              <a:rPr lang="en-US" sz="2000" dirty="0">
                <a:solidFill>
                  <a:srgbClr val="51565E"/>
                </a:solidFill>
                <a:highlight>
                  <a:srgbClr val="FFFFFF"/>
                </a:highlight>
              </a:rPr>
              <a:t>due to the parameter sharing which generalizes the model to process sequences of variable length. </a:t>
            </a:r>
          </a:p>
          <a:p>
            <a:pPr algn="just">
              <a:lnSpc>
                <a:spcPct val="150000"/>
              </a:lnSpc>
            </a:pPr>
            <a:r>
              <a:rPr lang="en-US" sz="2000" dirty="0">
                <a:solidFill>
                  <a:srgbClr val="51565E"/>
                </a:solidFill>
                <a:highlight>
                  <a:srgbClr val="FFFFFF"/>
                </a:highlight>
              </a:rPr>
              <a:t>Unlike </a:t>
            </a:r>
            <a:r>
              <a:rPr lang="en-US" sz="2000" b="1" dirty="0">
                <a:solidFill>
                  <a:srgbClr val="51565E"/>
                </a:solidFill>
                <a:highlight>
                  <a:srgbClr val="FFFFFF"/>
                </a:highlight>
              </a:rPr>
              <a:t>feedforward neural networks which have separate weights for each input feature</a:t>
            </a:r>
            <a:r>
              <a:rPr lang="en-US" sz="2000" dirty="0">
                <a:solidFill>
                  <a:srgbClr val="51565E"/>
                </a:solidFill>
                <a:highlight>
                  <a:srgbClr val="FFFFFF"/>
                </a:highlight>
              </a:rPr>
              <a:t>, </a:t>
            </a:r>
            <a:r>
              <a:rPr lang="en-US" sz="2000" b="1" dirty="0">
                <a:solidFill>
                  <a:srgbClr val="FF0000"/>
                </a:solidFill>
                <a:highlight>
                  <a:srgbClr val="FFFFFF"/>
                </a:highlight>
              </a:rPr>
              <a:t>RNN shares the same weights across several time steps</a:t>
            </a:r>
            <a:r>
              <a:rPr lang="en-US" sz="2000" b="1" dirty="0">
                <a:solidFill>
                  <a:srgbClr val="51565E"/>
                </a:solidFill>
                <a:highlight>
                  <a:srgbClr val="FFFFFF"/>
                </a:highlight>
              </a:rPr>
              <a:t>.</a:t>
            </a:r>
          </a:p>
          <a:p>
            <a:pPr algn="just">
              <a:lnSpc>
                <a:spcPct val="150000"/>
              </a:lnSpc>
            </a:pPr>
            <a:r>
              <a:rPr lang="en-US" sz="2000" dirty="0">
                <a:solidFill>
                  <a:srgbClr val="51565E"/>
                </a:solidFill>
                <a:highlight>
                  <a:srgbClr val="FFFFFF"/>
                </a:highlight>
              </a:rPr>
              <a:t> In </a:t>
            </a:r>
            <a:r>
              <a:rPr lang="en-US" sz="2000" b="1" dirty="0">
                <a:solidFill>
                  <a:srgbClr val="51565E"/>
                </a:solidFill>
                <a:highlight>
                  <a:srgbClr val="FFFFFF"/>
                </a:highlight>
              </a:rPr>
              <a:t>RNN, the output of a present time step depends on the previous time steps </a:t>
            </a:r>
            <a:r>
              <a:rPr lang="en-US" sz="2000" dirty="0">
                <a:solidFill>
                  <a:srgbClr val="51565E"/>
                </a:solidFill>
                <a:highlight>
                  <a:srgbClr val="FFFFFF"/>
                </a:highlight>
              </a:rPr>
              <a:t>and is obtained by the same update rule which is used to obtain the previous outputs. </a:t>
            </a:r>
          </a:p>
          <a:p>
            <a:pPr algn="just">
              <a:lnSpc>
                <a:spcPct val="150000"/>
              </a:lnSpc>
            </a:pPr>
            <a:r>
              <a:rPr lang="en-US" sz="2000" dirty="0">
                <a:solidFill>
                  <a:srgbClr val="51565E"/>
                </a:solidFill>
                <a:highlight>
                  <a:srgbClr val="FFFFFF"/>
                </a:highlight>
              </a:rPr>
              <a:t>The RNN can be unfolded into a deep computational graph in which the </a:t>
            </a:r>
            <a:r>
              <a:rPr lang="en-US" sz="2000" b="1" dirty="0">
                <a:solidFill>
                  <a:srgbClr val="51565E"/>
                </a:solidFill>
                <a:highlight>
                  <a:srgbClr val="FFFFFF"/>
                </a:highlight>
              </a:rPr>
              <a:t>weights are shared across time steps.</a:t>
            </a:r>
            <a:endParaRPr lang="en-IN" sz="2000" b="1" dirty="0">
              <a:solidFill>
                <a:srgbClr val="51565E"/>
              </a:solidFill>
              <a:highlight>
                <a:srgbClr val="FFFFFF"/>
              </a:highlight>
            </a:endParaRPr>
          </a:p>
        </p:txBody>
      </p:sp>
      <p:sp>
        <p:nvSpPr>
          <p:cNvPr id="4" name="Slide Number Placeholder 3">
            <a:extLst>
              <a:ext uri="{FF2B5EF4-FFF2-40B4-BE49-F238E27FC236}">
                <a16:creationId xmlns:a16="http://schemas.microsoft.com/office/drawing/2014/main" id="{4B611922-1B4C-0E55-E1A8-F76BD935BEF2}"/>
              </a:ext>
            </a:extLst>
          </p:cNvPr>
          <p:cNvSpPr>
            <a:spLocks noGrp="1"/>
          </p:cNvSpPr>
          <p:nvPr>
            <p:ph type="sldNum" sz="quarter" idx="12"/>
          </p:nvPr>
        </p:nvSpPr>
        <p:spPr/>
        <p:txBody>
          <a:bodyPr/>
          <a:lstStyle/>
          <a:p>
            <a:pPr>
              <a:defRPr/>
            </a:pPr>
            <a:fld id="{9AD681D7-8A59-4380-9311-10B86FF921AA}" type="slidenum">
              <a:rPr lang="en-US" altLang="zh-TW" smtClean="0"/>
              <a:pPr>
                <a:defRPr/>
              </a:pPr>
              <a:t>8</a:t>
            </a:fld>
            <a:endParaRPr lang="en-US" altLang="zh-TW"/>
          </a:p>
        </p:txBody>
      </p:sp>
      <p:sp>
        <p:nvSpPr>
          <p:cNvPr id="6" name="TextBox 5">
            <a:extLst>
              <a:ext uri="{FF2B5EF4-FFF2-40B4-BE49-F238E27FC236}">
                <a16:creationId xmlns:a16="http://schemas.microsoft.com/office/drawing/2014/main" id="{818074BA-8BAB-3520-2D3A-096A3B9EA2D3}"/>
              </a:ext>
            </a:extLst>
          </p:cNvPr>
          <p:cNvSpPr txBox="1"/>
          <p:nvPr/>
        </p:nvSpPr>
        <p:spPr>
          <a:xfrm>
            <a:off x="6096000" y="25569"/>
            <a:ext cx="6037159" cy="338554"/>
          </a:xfrm>
          <a:prstGeom prst="rect">
            <a:avLst/>
          </a:prstGeom>
          <a:noFill/>
          <a:ln>
            <a:solidFill>
              <a:srgbClr val="000000"/>
            </a:solidFill>
          </a:ln>
        </p:spPr>
        <p:txBody>
          <a:bodyPr wrap="square">
            <a:spAutoFit/>
          </a:bodyPr>
          <a:lstStyle/>
          <a:p>
            <a:r>
              <a:rPr lang="en-IN" sz="1600" dirty="0"/>
              <a:t>https://link.springer.com/protocol/10.1007/978-1-0716-3195-9_4</a:t>
            </a:r>
          </a:p>
        </p:txBody>
      </p:sp>
      <p:pic>
        <p:nvPicPr>
          <p:cNvPr id="5" name="Picture 4">
            <a:extLst>
              <a:ext uri="{FF2B5EF4-FFF2-40B4-BE49-F238E27FC236}">
                <a16:creationId xmlns:a16="http://schemas.microsoft.com/office/drawing/2014/main" id="{88F6FE65-F5E9-32BA-332D-EE6CB2B07F7F}"/>
              </a:ext>
            </a:extLst>
          </p:cNvPr>
          <p:cNvPicPr>
            <a:picLocks noChangeAspect="1"/>
          </p:cNvPicPr>
          <p:nvPr/>
        </p:nvPicPr>
        <p:blipFill rotWithShape="1">
          <a:blip r:embed="rId2"/>
          <a:srcRect l="77845" t="7215" r="9554" b="16433"/>
          <a:stretch/>
        </p:blipFill>
        <p:spPr>
          <a:xfrm>
            <a:off x="10449571" y="468227"/>
            <a:ext cx="1625209" cy="2140927"/>
          </a:xfrm>
          <a:prstGeom prst="rect">
            <a:avLst/>
          </a:prstGeom>
          <a:ln>
            <a:solidFill>
              <a:srgbClr val="000000"/>
            </a:solidFill>
          </a:ln>
        </p:spPr>
      </p:pic>
    </p:spTree>
    <p:extLst>
      <p:ext uri="{BB962C8B-B14F-4D97-AF65-F5344CB8AC3E}">
        <p14:creationId xmlns:p14="http://schemas.microsoft.com/office/powerpoint/2010/main" val="32795853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7900A-8B2C-0E34-2945-8573FB857835}"/>
              </a:ext>
            </a:extLst>
          </p:cNvPr>
          <p:cNvSpPr>
            <a:spLocks noGrp="1"/>
          </p:cNvSpPr>
          <p:nvPr>
            <p:ph type="title"/>
          </p:nvPr>
        </p:nvSpPr>
        <p:spPr/>
        <p:txBody>
          <a:bodyPr/>
          <a:lstStyle/>
          <a:p>
            <a:r>
              <a:rPr lang="en-IN" dirty="0"/>
              <a:t>Simple RNN Architecture</a:t>
            </a:r>
          </a:p>
        </p:txBody>
      </p:sp>
      <p:sp>
        <p:nvSpPr>
          <p:cNvPr id="4" name="Slide Number Placeholder 3">
            <a:extLst>
              <a:ext uri="{FF2B5EF4-FFF2-40B4-BE49-F238E27FC236}">
                <a16:creationId xmlns:a16="http://schemas.microsoft.com/office/drawing/2014/main" id="{6A46CA24-EDEA-0809-B828-FCE7BFBDD2F0}"/>
              </a:ext>
            </a:extLst>
          </p:cNvPr>
          <p:cNvSpPr>
            <a:spLocks noGrp="1"/>
          </p:cNvSpPr>
          <p:nvPr>
            <p:ph type="sldNum" sz="quarter" idx="12"/>
          </p:nvPr>
        </p:nvSpPr>
        <p:spPr/>
        <p:txBody>
          <a:bodyPr/>
          <a:lstStyle/>
          <a:p>
            <a:pPr>
              <a:defRPr/>
            </a:pPr>
            <a:fld id="{9AD681D7-8A59-4380-9311-10B86FF921AA}" type="slidenum">
              <a:rPr lang="en-US" altLang="zh-TW" smtClean="0"/>
              <a:pPr>
                <a:defRPr/>
              </a:pPr>
              <a:t>9</a:t>
            </a:fld>
            <a:endParaRPr lang="en-US" altLang="zh-TW"/>
          </a:p>
        </p:txBody>
      </p:sp>
      <p:pic>
        <p:nvPicPr>
          <p:cNvPr id="6146" name="Picture 2" descr="Fig. 1">
            <a:extLst>
              <a:ext uri="{FF2B5EF4-FFF2-40B4-BE49-F238E27FC236}">
                <a16:creationId xmlns:a16="http://schemas.microsoft.com/office/drawing/2014/main" id="{8A740729-9BF7-FE66-2327-1399667DBED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69258" y="2446371"/>
            <a:ext cx="9059883" cy="2870201"/>
          </a:xfrm>
          <a:prstGeom prst="rect">
            <a:avLst/>
          </a:prstGeom>
          <a:noFill/>
          <a:ln>
            <a:solidFill>
              <a:srgbClr val="000000"/>
            </a:solidFill>
          </a:ln>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24BF85A-0C07-34F4-B972-79686B709DC8}"/>
              </a:ext>
            </a:extLst>
          </p:cNvPr>
          <p:cNvSpPr txBox="1"/>
          <p:nvPr/>
        </p:nvSpPr>
        <p:spPr>
          <a:xfrm>
            <a:off x="1397000" y="6553200"/>
            <a:ext cx="184731" cy="369332"/>
          </a:xfrm>
          <a:prstGeom prst="rect">
            <a:avLst/>
          </a:prstGeom>
          <a:noFill/>
        </p:spPr>
        <p:txBody>
          <a:bodyPr wrap="none" rtlCol="0">
            <a:spAutoFit/>
          </a:bodyPr>
          <a:lstStyle/>
          <a:p>
            <a:endParaRPr lang="en-IN" dirty="0"/>
          </a:p>
        </p:txBody>
      </p:sp>
      <p:sp>
        <p:nvSpPr>
          <p:cNvPr id="7" name="TextBox 6">
            <a:extLst>
              <a:ext uri="{FF2B5EF4-FFF2-40B4-BE49-F238E27FC236}">
                <a16:creationId xmlns:a16="http://schemas.microsoft.com/office/drawing/2014/main" id="{F1673ACE-A87C-8DA3-5B33-AD8C18D25EEA}"/>
              </a:ext>
            </a:extLst>
          </p:cNvPr>
          <p:cNvSpPr txBox="1"/>
          <p:nvPr/>
        </p:nvSpPr>
        <p:spPr>
          <a:xfrm>
            <a:off x="1125516" y="5789128"/>
            <a:ext cx="10952966" cy="923330"/>
          </a:xfrm>
          <a:prstGeom prst="rect">
            <a:avLst/>
          </a:prstGeom>
          <a:noFill/>
          <a:ln>
            <a:solidFill>
              <a:srgbClr val="000000"/>
            </a:solidFill>
          </a:ln>
        </p:spPr>
        <p:txBody>
          <a:bodyPr wrap="square">
            <a:spAutoFit/>
          </a:bodyPr>
          <a:lstStyle/>
          <a:p>
            <a:r>
              <a:rPr kumimoji="1" lang="en-US" b="1" dirty="0">
                <a:solidFill>
                  <a:srgbClr val="51565E"/>
                </a:solidFill>
                <a:highlight>
                  <a:srgbClr val="FFFFFF"/>
                </a:highlight>
                <a:ea typeface="PMingLiU" panose="02020500000000000000" pitchFamily="18" charset="-120"/>
              </a:rPr>
              <a:t>h(t) = f(h(t−1), x(t);W), </a:t>
            </a:r>
            <a:r>
              <a:rPr kumimoji="1" lang="en-US" dirty="0">
                <a:solidFill>
                  <a:srgbClr val="51565E"/>
                </a:solidFill>
                <a:highlight>
                  <a:srgbClr val="FFFFFF"/>
                </a:highlight>
                <a:ea typeface="PMingLiU" panose="02020500000000000000" pitchFamily="18" charset="-120"/>
              </a:rPr>
              <a:t>where </a:t>
            </a:r>
          </a:p>
          <a:p>
            <a:r>
              <a:rPr kumimoji="1" lang="en-US" b="1" dirty="0">
                <a:solidFill>
                  <a:srgbClr val="51565E"/>
                </a:solidFill>
                <a:highlight>
                  <a:srgbClr val="FFFFFF"/>
                </a:highlight>
                <a:ea typeface="PMingLiU" panose="02020500000000000000" pitchFamily="18" charset="-120"/>
              </a:rPr>
              <a:t>h</a:t>
            </a:r>
            <a:r>
              <a:rPr kumimoji="1" lang="en-US" dirty="0">
                <a:solidFill>
                  <a:srgbClr val="51565E"/>
                </a:solidFill>
                <a:highlight>
                  <a:srgbClr val="FFFFFF"/>
                </a:highlight>
                <a:ea typeface="PMingLiU" panose="02020500000000000000" pitchFamily="18" charset="-120"/>
              </a:rPr>
              <a:t> is the hidden state of the network,  </a:t>
            </a:r>
            <a:r>
              <a:rPr kumimoji="1" lang="en-US" b="1" dirty="0">
                <a:solidFill>
                  <a:srgbClr val="51565E"/>
                </a:solidFill>
                <a:highlight>
                  <a:srgbClr val="FFFFFF"/>
                </a:highlight>
                <a:ea typeface="PMingLiU" panose="02020500000000000000" pitchFamily="18" charset="-120"/>
              </a:rPr>
              <a:t>x </a:t>
            </a:r>
            <a:r>
              <a:rPr kumimoji="1" lang="en-US" dirty="0">
                <a:solidFill>
                  <a:srgbClr val="51565E"/>
                </a:solidFill>
                <a:highlight>
                  <a:srgbClr val="FFFFFF"/>
                </a:highlight>
                <a:ea typeface="PMingLiU" panose="02020500000000000000" pitchFamily="18" charset="-120"/>
              </a:rPr>
              <a:t>is the input, </a:t>
            </a:r>
            <a:r>
              <a:rPr kumimoji="1" lang="en-US" b="1" dirty="0">
                <a:solidFill>
                  <a:srgbClr val="51565E"/>
                </a:solidFill>
                <a:highlight>
                  <a:srgbClr val="FFFFFF"/>
                </a:highlight>
                <a:ea typeface="PMingLiU" panose="02020500000000000000" pitchFamily="18" charset="-120"/>
              </a:rPr>
              <a:t>t</a:t>
            </a:r>
            <a:r>
              <a:rPr kumimoji="1" lang="en-US" dirty="0">
                <a:solidFill>
                  <a:srgbClr val="51565E"/>
                </a:solidFill>
                <a:highlight>
                  <a:srgbClr val="FFFFFF"/>
                </a:highlight>
                <a:ea typeface="PMingLiU" panose="02020500000000000000" pitchFamily="18" charset="-120"/>
              </a:rPr>
              <a:t> is the time step, U, V , and W are the weight matrix for input-to-hidden connections, hidden-to-output connection, and hidden-to-hidden connections</a:t>
            </a:r>
            <a:endParaRPr kumimoji="1" lang="en-IN" dirty="0">
              <a:solidFill>
                <a:srgbClr val="51565E"/>
              </a:solidFill>
              <a:highlight>
                <a:srgbClr val="FFFFFF"/>
              </a:highlight>
              <a:ea typeface="PMingLiU" panose="02020500000000000000" pitchFamily="18" charset="-120"/>
            </a:endParaRPr>
          </a:p>
        </p:txBody>
      </p:sp>
      <p:sp>
        <p:nvSpPr>
          <p:cNvPr id="9" name="TextBox 8">
            <a:extLst>
              <a:ext uri="{FF2B5EF4-FFF2-40B4-BE49-F238E27FC236}">
                <a16:creationId xmlns:a16="http://schemas.microsoft.com/office/drawing/2014/main" id="{AD228BE5-5B8A-E25A-FCE9-22C351068C3B}"/>
              </a:ext>
            </a:extLst>
          </p:cNvPr>
          <p:cNvSpPr txBox="1"/>
          <p:nvPr/>
        </p:nvSpPr>
        <p:spPr>
          <a:xfrm>
            <a:off x="7079463" y="4233839"/>
            <a:ext cx="351378" cy="369332"/>
          </a:xfrm>
          <a:prstGeom prst="rect">
            <a:avLst/>
          </a:prstGeom>
          <a:noFill/>
        </p:spPr>
        <p:txBody>
          <a:bodyPr wrap="none" rtlCol="0">
            <a:spAutoFit/>
          </a:bodyPr>
          <a:lstStyle/>
          <a:p>
            <a:r>
              <a:rPr lang="en-IN" dirty="0"/>
              <a:t>U</a:t>
            </a:r>
          </a:p>
        </p:txBody>
      </p:sp>
      <p:sp>
        <p:nvSpPr>
          <p:cNvPr id="10" name="TextBox 9">
            <a:extLst>
              <a:ext uri="{FF2B5EF4-FFF2-40B4-BE49-F238E27FC236}">
                <a16:creationId xmlns:a16="http://schemas.microsoft.com/office/drawing/2014/main" id="{40161931-1212-6FF3-983E-6B3FBABD7A7C}"/>
              </a:ext>
            </a:extLst>
          </p:cNvPr>
          <p:cNvSpPr txBox="1"/>
          <p:nvPr/>
        </p:nvSpPr>
        <p:spPr>
          <a:xfrm>
            <a:off x="7079463" y="3215915"/>
            <a:ext cx="338554" cy="369332"/>
          </a:xfrm>
          <a:prstGeom prst="rect">
            <a:avLst/>
          </a:prstGeom>
          <a:noFill/>
        </p:spPr>
        <p:txBody>
          <a:bodyPr wrap="none" rtlCol="0">
            <a:spAutoFit/>
          </a:bodyPr>
          <a:lstStyle/>
          <a:p>
            <a:r>
              <a:rPr lang="en-IN" dirty="0"/>
              <a:t>V</a:t>
            </a:r>
          </a:p>
        </p:txBody>
      </p:sp>
      <p:sp>
        <p:nvSpPr>
          <p:cNvPr id="11" name="TextBox 10">
            <a:extLst>
              <a:ext uri="{FF2B5EF4-FFF2-40B4-BE49-F238E27FC236}">
                <a16:creationId xmlns:a16="http://schemas.microsoft.com/office/drawing/2014/main" id="{8C36285F-FD42-2754-1516-4DE9FC9EC829}"/>
              </a:ext>
            </a:extLst>
          </p:cNvPr>
          <p:cNvSpPr txBox="1"/>
          <p:nvPr/>
        </p:nvSpPr>
        <p:spPr>
          <a:xfrm>
            <a:off x="6304745" y="3490629"/>
            <a:ext cx="402674" cy="369332"/>
          </a:xfrm>
          <a:prstGeom prst="rect">
            <a:avLst/>
          </a:prstGeom>
          <a:noFill/>
        </p:spPr>
        <p:txBody>
          <a:bodyPr wrap="square" rtlCol="0">
            <a:spAutoFit/>
          </a:bodyPr>
          <a:lstStyle/>
          <a:p>
            <a:r>
              <a:rPr lang="en-IN" dirty="0"/>
              <a:t>W</a:t>
            </a:r>
          </a:p>
        </p:txBody>
      </p:sp>
      <p:sp>
        <p:nvSpPr>
          <p:cNvPr id="13" name="TextBox 12">
            <a:extLst>
              <a:ext uri="{FF2B5EF4-FFF2-40B4-BE49-F238E27FC236}">
                <a16:creationId xmlns:a16="http://schemas.microsoft.com/office/drawing/2014/main" id="{1136D5E1-7BC8-4C58-4F1B-37CC6F1D011A}"/>
              </a:ext>
            </a:extLst>
          </p:cNvPr>
          <p:cNvSpPr txBox="1"/>
          <p:nvPr/>
        </p:nvSpPr>
        <p:spPr>
          <a:xfrm>
            <a:off x="112184" y="121983"/>
            <a:ext cx="12079816" cy="738664"/>
          </a:xfrm>
          <a:prstGeom prst="rect">
            <a:avLst/>
          </a:prstGeom>
          <a:noFill/>
          <a:ln>
            <a:solidFill>
              <a:schemeClr val="tx1"/>
            </a:solidFill>
          </a:ln>
        </p:spPr>
        <p:txBody>
          <a:bodyPr wrap="square">
            <a:spAutoFit/>
          </a:bodyPr>
          <a:lstStyle/>
          <a:p>
            <a:pPr algn="just"/>
            <a:r>
              <a:rPr kumimoji="1" lang="en-US" sz="1400" b="1" dirty="0">
                <a:solidFill>
                  <a:srgbClr val="51565E"/>
                </a:solidFill>
                <a:highlight>
                  <a:srgbClr val="FFFFFF"/>
                </a:highlight>
                <a:ea typeface="PMingLiU" panose="02020500000000000000" pitchFamily="18" charset="-120"/>
              </a:rPr>
              <a:t>The cycles in the computational graph- shows the impact of the past value of a variable on the present time step. </a:t>
            </a:r>
          </a:p>
          <a:p>
            <a:pPr algn="just"/>
            <a:r>
              <a:rPr kumimoji="1" lang="en-US" sz="1400" b="1" dirty="0">
                <a:solidFill>
                  <a:srgbClr val="51565E"/>
                </a:solidFill>
                <a:highlight>
                  <a:srgbClr val="FFFFFF"/>
                </a:highlight>
                <a:ea typeface="PMingLiU" panose="02020500000000000000" pitchFamily="18" charset="-120"/>
              </a:rPr>
              <a:t>The computational graph has a repetitive structure that unfolds the recursive computation of the RNN.</a:t>
            </a:r>
          </a:p>
          <a:p>
            <a:pPr algn="just"/>
            <a:r>
              <a:rPr kumimoji="1" lang="en-US" sz="1400" b="1" dirty="0">
                <a:solidFill>
                  <a:srgbClr val="FF0000"/>
                </a:solidFill>
                <a:highlight>
                  <a:srgbClr val="FFFFFF"/>
                </a:highlight>
                <a:ea typeface="PMingLiU" panose="02020500000000000000" pitchFamily="18" charset="-120"/>
              </a:rPr>
              <a:t>The flow of the information is forward in the time while computing the outputs and losses are backward when computing the gradients</a:t>
            </a:r>
            <a:r>
              <a:rPr kumimoji="1" lang="en-US" sz="1400" b="1" dirty="0">
                <a:solidFill>
                  <a:srgbClr val="51565E"/>
                </a:solidFill>
                <a:highlight>
                  <a:srgbClr val="FFFFFF"/>
                </a:highlight>
                <a:ea typeface="PMingLiU" panose="02020500000000000000" pitchFamily="18" charset="-120"/>
              </a:rPr>
              <a:t>.</a:t>
            </a:r>
          </a:p>
        </p:txBody>
      </p:sp>
      <p:sp>
        <p:nvSpPr>
          <p:cNvPr id="15" name="TextBox 14">
            <a:extLst>
              <a:ext uri="{FF2B5EF4-FFF2-40B4-BE49-F238E27FC236}">
                <a16:creationId xmlns:a16="http://schemas.microsoft.com/office/drawing/2014/main" id="{A76F5F0D-7C3E-CBAF-DB29-DF87671DB0C9}"/>
              </a:ext>
            </a:extLst>
          </p:cNvPr>
          <p:cNvSpPr txBox="1"/>
          <p:nvPr/>
        </p:nvSpPr>
        <p:spPr>
          <a:xfrm>
            <a:off x="1572967" y="5350980"/>
            <a:ext cx="9046066" cy="369332"/>
          </a:xfrm>
          <a:prstGeom prst="rect">
            <a:avLst/>
          </a:prstGeom>
          <a:noFill/>
        </p:spPr>
        <p:txBody>
          <a:bodyPr wrap="none" rtlCol="0">
            <a:spAutoFit/>
          </a:bodyPr>
          <a:lstStyle/>
          <a:p>
            <a:r>
              <a:rPr lang="en-IN" b="1" dirty="0"/>
              <a:t>Circuit Diagram                                                          Unfolded Computational Graph</a:t>
            </a:r>
          </a:p>
        </p:txBody>
      </p:sp>
    </p:spTree>
    <p:extLst>
      <p:ext uri="{BB962C8B-B14F-4D97-AF65-F5344CB8AC3E}">
        <p14:creationId xmlns:p14="http://schemas.microsoft.com/office/powerpoint/2010/main" val="25882371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BD31F-784B-0E4E-B877-D745B82ABB04}"/>
              </a:ext>
            </a:extLst>
          </p:cNvPr>
          <p:cNvSpPr>
            <a:spLocks noGrp="1"/>
          </p:cNvSpPr>
          <p:nvPr>
            <p:ph type="title"/>
          </p:nvPr>
        </p:nvSpPr>
        <p:spPr/>
        <p:txBody>
          <a:bodyPr/>
          <a:lstStyle/>
          <a:p>
            <a:r>
              <a:rPr lang="en-US" dirty="0"/>
              <a:t>Commonly used Activation Functions</a:t>
            </a:r>
            <a:endParaRPr lang="en-IN" dirty="0"/>
          </a:p>
        </p:txBody>
      </p:sp>
      <p:pic>
        <p:nvPicPr>
          <p:cNvPr id="13" name="Content Placeholder 12">
            <a:extLst>
              <a:ext uri="{FF2B5EF4-FFF2-40B4-BE49-F238E27FC236}">
                <a16:creationId xmlns:a16="http://schemas.microsoft.com/office/drawing/2014/main" id="{30FF160F-DA94-41B8-C73F-C0061CC89248}"/>
              </a:ext>
            </a:extLst>
          </p:cNvPr>
          <p:cNvPicPr>
            <a:picLocks noGrp="1" noChangeAspect="1"/>
          </p:cNvPicPr>
          <p:nvPr>
            <p:ph idx="1"/>
          </p:nvPr>
        </p:nvPicPr>
        <p:blipFill>
          <a:blip r:embed="rId2"/>
          <a:stretch>
            <a:fillRect/>
          </a:stretch>
        </p:blipFill>
        <p:spPr>
          <a:xfrm>
            <a:off x="2050457" y="2591126"/>
            <a:ext cx="8497486" cy="3767921"/>
          </a:xfrm>
          <a:ln>
            <a:solidFill>
              <a:srgbClr val="1D1D1D"/>
            </a:solidFill>
          </a:ln>
        </p:spPr>
      </p:pic>
      <p:sp>
        <p:nvSpPr>
          <p:cNvPr id="4" name="Slide Number Placeholder 3">
            <a:extLst>
              <a:ext uri="{FF2B5EF4-FFF2-40B4-BE49-F238E27FC236}">
                <a16:creationId xmlns:a16="http://schemas.microsoft.com/office/drawing/2014/main" id="{090976E4-A9A5-D317-4564-02611AB27753}"/>
              </a:ext>
            </a:extLst>
          </p:cNvPr>
          <p:cNvSpPr>
            <a:spLocks noGrp="1"/>
          </p:cNvSpPr>
          <p:nvPr>
            <p:ph type="sldNum" sz="quarter" idx="12"/>
          </p:nvPr>
        </p:nvSpPr>
        <p:spPr/>
        <p:txBody>
          <a:bodyPr/>
          <a:lstStyle/>
          <a:p>
            <a:pPr>
              <a:defRPr/>
            </a:pPr>
            <a:fld id="{9AD681D7-8A59-4380-9311-10B86FF921AA}" type="slidenum">
              <a:rPr lang="en-US" altLang="zh-TW" smtClean="0"/>
              <a:pPr>
                <a:defRPr/>
              </a:pPr>
              <a:t>10</a:t>
            </a:fld>
            <a:endParaRPr lang="en-US" altLang="zh-TW"/>
          </a:p>
        </p:txBody>
      </p:sp>
    </p:spTree>
    <p:extLst>
      <p:ext uri="{BB962C8B-B14F-4D97-AF65-F5344CB8AC3E}">
        <p14:creationId xmlns:p14="http://schemas.microsoft.com/office/powerpoint/2010/main" val="14606734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169E71-772E-16C6-BC58-2795D190BD29}"/>
              </a:ext>
            </a:extLst>
          </p:cNvPr>
          <p:cNvSpPr>
            <a:spLocks noGrp="1"/>
          </p:cNvSpPr>
          <p:nvPr>
            <p:ph type="title"/>
          </p:nvPr>
        </p:nvSpPr>
        <p:spPr/>
        <p:txBody>
          <a:bodyPr/>
          <a:lstStyle/>
          <a:p>
            <a:r>
              <a:rPr lang="en-US" sz="3200" b="1" dirty="0"/>
              <a:t>Steps for Training a Simple RNN</a:t>
            </a:r>
            <a:endParaRPr lang="en-IN" sz="3200" dirty="0"/>
          </a:p>
        </p:txBody>
      </p:sp>
      <p:sp>
        <p:nvSpPr>
          <p:cNvPr id="3" name="Content Placeholder 2">
            <a:extLst>
              <a:ext uri="{FF2B5EF4-FFF2-40B4-BE49-F238E27FC236}">
                <a16:creationId xmlns:a16="http://schemas.microsoft.com/office/drawing/2014/main" id="{99C2C23C-B4DA-259C-EC2A-10CA4C1C4788}"/>
              </a:ext>
            </a:extLst>
          </p:cNvPr>
          <p:cNvSpPr>
            <a:spLocks noGrp="1"/>
          </p:cNvSpPr>
          <p:nvPr>
            <p:ph idx="1"/>
          </p:nvPr>
        </p:nvSpPr>
        <p:spPr>
          <a:xfrm>
            <a:off x="759655" y="2266267"/>
            <a:ext cx="11320161" cy="4464733"/>
          </a:xfrm>
          <a:ln>
            <a:solidFill>
              <a:srgbClr val="000000"/>
            </a:solidFill>
          </a:ln>
        </p:spPr>
        <p:txBody>
          <a:bodyPr/>
          <a:lstStyle/>
          <a:p>
            <a:pPr>
              <a:lnSpc>
                <a:spcPct val="150000"/>
              </a:lnSpc>
            </a:pPr>
            <a:r>
              <a:rPr lang="en-US" sz="1800" dirty="0"/>
              <a:t>In the input layers, the </a:t>
            </a:r>
            <a:r>
              <a:rPr lang="en-US" sz="1800" b="1" dirty="0"/>
              <a:t>initial input is sent with all having the same weight and activation function</a:t>
            </a:r>
            <a:r>
              <a:rPr lang="en-US" sz="1800" dirty="0"/>
              <a:t>.</a:t>
            </a:r>
          </a:p>
          <a:p>
            <a:pPr>
              <a:lnSpc>
                <a:spcPct val="150000"/>
              </a:lnSpc>
            </a:pPr>
            <a:r>
              <a:rPr lang="en-US" sz="1800" dirty="0"/>
              <a:t>Using the </a:t>
            </a:r>
            <a:r>
              <a:rPr lang="en-US" sz="1800" b="1" dirty="0"/>
              <a:t>current input and the previous state output, the current state is calculated</a:t>
            </a:r>
            <a:r>
              <a:rPr lang="en-US" sz="1800" dirty="0"/>
              <a:t>.</a:t>
            </a:r>
          </a:p>
          <a:p>
            <a:pPr>
              <a:lnSpc>
                <a:spcPct val="150000"/>
              </a:lnSpc>
            </a:pPr>
            <a:r>
              <a:rPr lang="en-US" sz="1800" dirty="0"/>
              <a:t>Now the </a:t>
            </a:r>
            <a:r>
              <a:rPr lang="en-US" sz="1800" b="1" dirty="0"/>
              <a:t>current state </a:t>
            </a:r>
            <a:r>
              <a:rPr lang="en-US" sz="1800" b="1" dirty="0" err="1"/>
              <a:t>ht</a:t>
            </a:r>
            <a:r>
              <a:rPr lang="en-US" sz="1800" b="1" dirty="0"/>
              <a:t> will become ht-1 for the second time step.</a:t>
            </a:r>
          </a:p>
          <a:p>
            <a:pPr>
              <a:lnSpc>
                <a:spcPct val="150000"/>
              </a:lnSpc>
            </a:pPr>
            <a:r>
              <a:rPr lang="en-US" sz="1800" b="1" dirty="0"/>
              <a:t>This keeps on repeating all the steps</a:t>
            </a:r>
            <a:r>
              <a:rPr lang="en-US" sz="1800" dirty="0"/>
              <a:t>, and to solve any particular problem, it can go on as many times to join the information from all the previous steps.</a:t>
            </a:r>
          </a:p>
          <a:p>
            <a:pPr>
              <a:lnSpc>
                <a:spcPct val="150000"/>
              </a:lnSpc>
            </a:pPr>
            <a:r>
              <a:rPr lang="en-US" sz="1800" dirty="0"/>
              <a:t>The </a:t>
            </a:r>
            <a:r>
              <a:rPr lang="en-US" sz="1800" b="1" dirty="0"/>
              <a:t>final step is then calculated by the current state of the final state and all other previous steps</a:t>
            </a:r>
            <a:r>
              <a:rPr lang="en-US" sz="1800" dirty="0"/>
              <a:t>.</a:t>
            </a:r>
          </a:p>
          <a:p>
            <a:pPr>
              <a:lnSpc>
                <a:spcPct val="150000"/>
              </a:lnSpc>
            </a:pPr>
            <a:r>
              <a:rPr lang="en-US" sz="1800" dirty="0"/>
              <a:t>Now an </a:t>
            </a:r>
            <a:r>
              <a:rPr lang="en-US" sz="1800" b="1" dirty="0"/>
              <a:t>error is generated by calculating the difference between the actual output and the output generated</a:t>
            </a:r>
            <a:r>
              <a:rPr lang="en-US" sz="1800" dirty="0"/>
              <a:t> by our RNN model.</a:t>
            </a:r>
          </a:p>
          <a:p>
            <a:pPr>
              <a:lnSpc>
                <a:spcPct val="150000"/>
              </a:lnSpc>
            </a:pPr>
            <a:r>
              <a:rPr lang="en-US" sz="1800" b="1" dirty="0"/>
              <a:t>The final step is when the process of backpropagation occurs wherein the error is backpropagated to update the weights.</a:t>
            </a:r>
            <a:endParaRPr lang="en-IN" sz="1800" b="1" dirty="0"/>
          </a:p>
        </p:txBody>
      </p:sp>
      <p:sp>
        <p:nvSpPr>
          <p:cNvPr id="4" name="Slide Number Placeholder 3">
            <a:extLst>
              <a:ext uri="{FF2B5EF4-FFF2-40B4-BE49-F238E27FC236}">
                <a16:creationId xmlns:a16="http://schemas.microsoft.com/office/drawing/2014/main" id="{DDE70C1F-01B4-FB47-777B-775CCAE4C58F}"/>
              </a:ext>
            </a:extLst>
          </p:cNvPr>
          <p:cNvSpPr>
            <a:spLocks noGrp="1"/>
          </p:cNvSpPr>
          <p:nvPr>
            <p:ph type="sldNum" sz="quarter" idx="12"/>
          </p:nvPr>
        </p:nvSpPr>
        <p:spPr/>
        <p:txBody>
          <a:bodyPr/>
          <a:lstStyle/>
          <a:p>
            <a:pPr>
              <a:defRPr/>
            </a:pPr>
            <a:fld id="{9AD681D7-8A59-4380-9311-10B86FF921AA}" type="slidenum">
              <a:rPr lang="en-US" altLang="zh-TW" smtClean="0"/>
              <a:pPr>
                <a:defRPr/>
              </a:pPr>
              <a:t>11</a:t>
            </a:fld>
            <a:endParaRPr lang="en-US" altLang="zh-TW"/>
          </a:p>
        </p:txBody>
      </p:sp>
      <p:pic>
        <p:nvPicPr>
          <p:cNvPr id="5" name="Picture 4">
            <a:extLst>
              <a:ext uri="{FF2B5EF4-FFF2-40B4-BE49-F238E27FC236}">
                <a16:creationId xmlns:a16="http://schemas.microsoft.com/office/drawing/2014/main" id="{AB619443-8FD6-08A3-C942-61F517A750B9}"/>
              </a:ext>
            </a:extLst>
          </p:cNvPr>
          <p:cNvPicPr>
            <a:picLocks noChangeAspect="1"/>
          </p:cNvPicPr>
          <p:nvPr/>
        </p:nvPicPr>
        <p:blipFill rotWithShape="1">
          <a:blip r:embed="rId2"/>
          <a:srcRect l="40656"/>
          <a:stretch/>
        </p:blipFill>
        <p:spPr>
          <a:xfrm>
            <a:off x="7666892" y="38687"/>
            <a:ext cx="4412922" cy="2197687"/>
          </a:xfrm>
          <a:prstGeom prst="rect">
            <a:avLst/>
          </a:prstGeom>
          <a:ln>
            <a:solidFill>
              <a:schemeClr val="tx1"/>
            </a:solidFill>
          </a:ln>
        </p:spPr>
      </p:pic>
    </p:spTree>
    <p:extLst>
      <p:ext uri="{BB962C8B-B14F-4D97-AF65-F5344CB8AC3E}">
        <p14:creationId xmlns:p14="http://schemas.microsoft.com/office/powerpoint/2010/main" val="31325498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57927-6DAF-91E7-5DB7-37BDA9D24710}"/>
              </a:ext>
            </a:extLst>
          </p:cNvPr>
          <p:cNvSpPr>
            <a:spLocks noGrp="1"/>
          </p:cNvSpPr>
          <p:nvPr>
            <p:ph type="title"/>
          </p:nvPr>
        </p:nvSpPr>
        <p:spPr>
          <a:xfrm>
            <a:off x="1016000" y="762000"/>
            <a:ext cx="5390664" cy="1143000"/>
          </a:xfrm>
        </p:spPr>
        <p:txBody>
          <a:bodyPr/>
          <a:lstStyle/>
          <a:p>
            <a:r>
              <a:rPr kumimoji="1" lang="en-US" sz="3600" b="1" i="0" u="none" strike="noStrike" kern="1200" cap="none" spc="0" normalizeH="0" baseline="0" noProof="0" dirty="0">
                <a:ln>
                  <a:noFill/>
                </a:ln>
                <a:solidFill>
                  <a:srgbClr val="006666"/>
                </a:solidFill>
                <a:effectLst/>
                <a:uLnTx/>
                <a:uFillTx/>
                <a:latin typeface="Arial"/>
                <a:ea typeface="PMingLiU" panose="02020500000000000000" pitchFamily="18" charset="-120"/>
                <a:cs typeface="+mj-cs"/>
              </a:rPr>
              <a:t>Computation in Training a Simple RNN</a:t>
            </a:r>
            <a:endParaRPr lang="en-IN" dirty="0"/>
          </a:p>
        </p:txBody>
      </p:sp>
      <p:pic>
        <p:nvPicPr>
          <p:cNvPr id="6" name="Content Placeholder 5">
            <a:extLst>
              <a:ext uri="{FF2B5EF4-FFF2-40B4-BE49-F238E27FC236}">
                <a16:creationId xmlns:a16="http://schemas.microsoft.com/office/drawing/2014/main" id="{400564DD-E183-7813-30EA-9CED7DCF3DD1}"/>
              </a:ext>
            </a:extLst>
          </p:cNvPr>
          <p:cNvPicPr>
            <a:picLocks noGrp="1" noChangeAspect="1"/>
          </p:cNvPicPr>
          <p:nvPr>
            <p:ph idx="1"/>
          </p:nvPr>
        </p:nvPicPr>
        <p:blipFill>
          <a:blip r:embed="rId2"/>
          <a:stretch>
            <a:fillRect/>
          </a:stretch>
        </p:blipFill>
        <p:spPr>
          <a:xfrm>
            <a:off x="1210303" y="4825810"/>
            <a:ext cx="4466597" cy="1961574"/>
          </a:xfrm>
          <a:ln>
            <a:solidFill>
              <a:srgbClr val="1D1D1D"/>
            </a:solidFill>
          </a:ln>
        </p:spPr>
      </p:pic>
      <p:sp>
        <p:nvSpPr>
          <p:cNvPr id="4" name="Slide Number Placeholder 3">
            <a:extLst>
              <a:ext uri="{FF2B5EF4-FFF2-40B4-BE49-F238E27FC236}">
                <a16:creationId xmlns:a16="http://schemas.microsoft.com/office/drawing/2014/main" id="{140F3A1A-398B-2D26-C587-BB6BBD962747}"/>
              </a:ext>
            </a:extLst>
          </p:cNvPr>
          <p:cNvSpPr>
            <a:spLocks noGrp="1"/>
          </p:cNvSpPr>
          <p:nvPr>
            <p:ph type="sldNum" sz="quarter" idx="12"/>
          </p:nvPr>
        </p:nvSpPr>
        <p:spPr/>
        <p:txBody>
          <a:bodyPr/>
          <a:lstStyle/>
          <a:p>
            <a:pPr>
              <a:defRPr/>
            </a:pPr>
            <a:fld id="{9AD681D7-8A59-4380-9311-10B86FF921AA}" type="slidenum">
              <a:rPr lang="en-US" altLang="zh-TW" smtClean="0"/>
              <a:pPr>
                <a:defRPr/>
              </a:pPr>
              <a:t>12</a:t>
            </a:fld>
            <a:endParaRPr lang="en-US" altLang="zh-TW"/>
          </a:p>
        </p:txBody>
      </p:sp>
      <p:sp>
        <p:nvSpPr>
          <p:cNvPr id="10" name="TextBox 9">
            <a:extLst>
              <a:ext uri="{FF2B5EF4-FFF2-40B4-BE49-F238E27FC236}">
                <a16:creationId xmlns:a16="http://schemas.microsoft.com/office/drawing/2014/main" id="{D82CE098-9445-E22C-FB3E-8C1AD34918F2}"/>
              </a:ext>
            </a:extLst>
          </p:cNvPr>
          <p:cNvSpPr txBox="1"/>
          <p:nvPr/>
        </p:nvSpPr>
        <p:spPr>
          <a:xfrm>
            <a:off x="1016000" y="2271265"/>
            <a:ext cx="11097986" cy="2339102"/>
          </a:xfrm>
          <a:prstGeom prst="rect">
            <a:avLst/>
          </a:prstGeom>
          <a:noFill/>
          <a:ln>
            <a:solidFill>
              <a:srgbClr val="1D1D1D"/>
            </a:solidFill>
          </a:ln>
        </p:spPr>
        <p:txBody>
          <a:bodyPr wrap="square">
            <a:spAutoFit/>
          </a:bodyPr>
          <a:lstStyle/>
          <a:p>
            <a:pPr marL="342900" indent="-342900" algn="just">
              <a:spcBef>
                <a:spcPts val="600"/>
              </a:spcBef>
              <a:spcAft>
                <a:spcPts val="600"/>
              </a:spcAft>
              <a:buFont typeface="Arial" panose="020B0604020202020204" pitchFamily="34" charset="0"/>
              <a:buChar char="•"/>
            </a:pPr>
            <a:r>
              <a:rPr lang="en-US" b="1" dirty="0"/>
              <a:t>Training is performed by gradient computation of the loss function with respect to the parameters involved in forward propagation from left to right of the unrolled graph followed by back-propagation moving from right to left through the graph. </a:t>
            </a:r>
          </a:p>
          <a:p>
            <a:pPr marL="342900" indent="-342900" algn="just">
              <a:spcBef>
                <a:spcPts val="600"/>
              </a:spcBef>
              <a:spcAft>
                <a:spcPts val="600"/>
              </a:spcAft>
              <a:buFont typeface="Arial" panose="020B0604020202020204" pitchFamily="34" charset="0"/>
              <a:buChar char="•"/>
            </a:pPr>
            <a:r>
              <a:rPr lang="en-US" dirty="0"/>
              <a:t>The states computed in the forward pass are stored until they are reused in the back-propagation. </a:t>
            </a:r>
            <a:r>
              <a:rPr lang="en-US" b="1" dirty="0"/>
              <a:t>The back-propagation algorithm applied to RNN is known as back-propagation through time (BPTT). </a:t>
            </a:r>
          </a:p>
          <a:p>
            <a:pPr marL="342900" indent="-342900" algn="just">
              <a:spcBef>
                <a:spcPts val="600"/>
              </a:spcBef>
              <a:spcAft>
                <a:spcPts val="600"/>
              </a:spcAft>
              <a:buFont typeface="Arial" panose="020B0604020202020204" pitchFamily="34" charset="0"/>
              <a:buChar char="•"/>
            </a:pPr>
            <a:r>
              <a:rPr lang="en-US" dirty="0"/>
              <a:t>The following computational operations are performed in RNN during the forward propagation to calculate the output and the loss.</a:t>
            </a:r>
          </a:p>
        </p:txBody>
      </p:sp>
      <p:sp>
        <p:nvSpPr>
          <p:cNvPr id="13" name="TextBox 12">
            <a:extLst>
              <a:ext uri="{FF2B5EF4-FFF2-40B4-BE49-F238E27FC236}">
                <a16:creationId xmlns:a16="http://schemas.microsoft.com/office/drawing/2014/main" id="{364C416B-464D-B52F-591A-60D25DC1A116}"/>
              </a:ext>
            </a:extLst>
          </p:cNvPr>
          <p:cNvSpPr txBox="1"/>
          <p:nvPr/>
        </p:nvSpPr>
        <p:spPr>
          <a:xfrm>
            <a:off x="5676900" y="4846911"/>
            <a:ext cx="6402915" cy="1938992"/>
          </a:xfrm>
          <a:prstGeom prst="rect">
            <a:avLst/>
          </a:prstGeom>
          <a:noFill/>
          <a:ln>
            <a:solidFill>
              <a:schemeClr val="tx1"/>
            </a:solidFill>
          </a:ln>
        </p:spPr>
        <p:txBody>
          <a:bodyPr wrap="square">
            <a:spAutoFit/>
          </a:bodyPr>
          <a:lstStyle/>
          <a:p>
            <a:pPr>
              <a:spcBef>
                <a:spcPts val="600"/>
              </a:spcBef>
              <a:spcAft>
                <a:spcPts val="600"/>
              </a:spcAft>
            </a:pPr>
            <a:r>
              <a:rPr lang="en-US" dirty="0"/>
              <a:t>Where, </a:t>
            </a:r>
          </a:p>
          <a:p>
            <a:pPr>
              <a:spcBef>
                <a:spcPts val="600"/>
              </a:spcBef>
              <a:spcAft>
                <a:spcPts val="600"/>
              </a:spcAft>
            </a:pPr>
            <a:r>
              <a:rPr lang="en-US" b="1" dirty="0"/>
              <a:t>           b and c are the biases </a:t>
            </a:r>
          </a:p>
          <a:p>
            <a:pPr marL="723900" indent="-723900">
              <a:spcBef>
                <a:spcPts val="600"/>
              </a:spcBef>
              <a:spcAft>
                <a:spcPts val="600"/>
              </a:spcAft>
            </a:pPr>
            <a:r>
              <a:rPr lang="en-US" b="1" dirty="0"/>
              <a:t>           a(t) is output of hidden node before applying  activation function</a:t>
            </a:r>
          </a:p>
          <a:p>
            <a:pPr>
              <a:spcBef>
                <a:spcPts val="600"/>
              </a:spcBef>
              <a:spcAft>
                <a:spcPts val="600"/>
              </a:spcAft>
            </a:pPr>
            <a:r>
              <a:rPr lang="en-US" b="1" dirty="0"/>
              <a:t>           σ is a sigmoid function,         = actual output</a:t>
            </a:r>
            <a:endParaRPr lang="en-IN" b="1" dirty="0"/>
          </a:p>
        </p:txBody>
      </p:sp>
      <p:pic>
        <p:nvPicPr>
          <p:cNvPr id="14" name="Picture 13">
            <a:extLst>
              <a:ext uri="{FF2B5EF4-FFF2-40B4-BE49-F238E27FC236}">
                <a16:creationId xmlns:a16="http://schemas.microsoft.com/office/drawing/2014/main" id="{6A8316E0-CECE-9022-B929-2E8D5342E68B}"/>
              </a:ext>
            </a:extLst>
          </p:cNvPr>
          <p:cNvPicPr>
            <a:picLocks noChangeAspect="1"/>
          </p:cNvPicPr>
          <p:nvPr/>
        </p:nvPicPr>
        <p:blipFill rotWithShape="1">
          <a:blip r:embed="rId3"/>
          <a:srcRect l="1454" t="77723" r="83964"/>
          <a:stretch/>
        </p:blipFill>
        <p:spPr>
          <a:xfrm>
            <a:off x="8878357" y="6426700"/>
            <a:ext cx="654296" cy="380304"/>
          </a:xfrm>
          <a:prstGeom prst="rect">
            <a:avLst/>
          </a:prstGeom>
        </p:spPr>
      </p:pic>
      <p:pic>
        <p:nvPicPr>
          <p:cNvPr id="3" name="Picture 2">
            <a:extLst>
              <a:ext uri="{FF2B5EF4-FFF2-40B4-BE49-F238E27FC236}">
                <a16:creationId xmlns:a16="http://schemas.microsoft.com/office/drawing/2014/main" id="{9942AC80-ECEB-C2B4-DF50-9E8D815F0372}"/>
              </a:ext>
            </a:extLst>
          </p:cNvPr>
          <p:cNvPicPr>
            <a:picLocks noChangeAspect="1"/>
          </p:cNvPicPr>
          <p:nvPr/>
        </p:nvPicPr>
        <p:blipFill rotWithShape="1">
          <a:blip r:embed="rId4"/>
          <a:srcRect l="40656"/>
          <a:stretch/>
        </p:blipFill>
        <p:spPr>
          <a:xfrm>
            <a:off x="6689151" y="38687"/>
            <a:ext cx="5390664" cy="2197687"/>
          </a:xfrm>
          <a:prstGeom prst="rect">
            <a:avLst/>
          </a:prstGeom>
          <a:ln>
            <a:solidFill>
              <a:schemeClr val="tx1"/>
            </a:solidFill>
          </a:ln>
        </p:spPr>
      </p:pic>
      <p:sp>
        <p:nvSpPr>
          <p:cNvPr id="5" name="TextBox 4">
            <a:extLst>
              <a:ext uri="{FF2B5EF4-FFF2-40B4-BE49-F238E27FC236}">
                <a16:creationId xmlns:a16="http://schemas.microsoft.com/office/drawing/2014/main" id="{7A134981-E8F9-13CB-14FE-802DB429EAF2}"/>
              </a:ext>
            </a:extLst>
          </p:cNvPr>
          <p:cNvSpPr txBox="1"/>
          <p:nvPr/>
        </p:nvSpPr>
        <p:spPr>
          <a:xfrm>
            <a:off x="8300875" y="1368388"/>
            <a:ext cx="325721" cy="369332"/>
          </a:xfrm>
          <a:prstGeom prst="rect">
            <a:avLst/>
          </a:prstGeom>
          <a:noFill/>
        </p:spPr>
        <p:txBody>
          <a:bodyPr wrap="square" rtlCol="0">
            <a:spAutoFit/>
          </a:bodyPr>
          <a:lstStyle/>
          <a:p>
            <a:r>
              <a:rPr lang="en-IN" dirty="0"/>
              <a:t>U</a:t>
            </a:r>
          </a:p>
        </p:txBody>
      </p:sp>
      <p:sp>
        <p:nvSpPr>
          <p:cNvPr id="7" name="TextBox 6">
            <a:extLst>
              <a:ext uri="{FF2B5EF4-FFF2-40B4-BE49-F238E27FC236}">
                <a16:creationId xmlns:a16="http://schemas.microsoft.com/office/drawing/2014/main" id="{72C20343-6E0A-54F9-F6BB-244BD21EF8EA}"/>
              </a:ext>
            </a:extLst>
          </p:cNvPr>
          <p:cNvSpPr txBox="1"/>
          <p:nvPr/>
        </p:nvSpPr>
        <p:spPr>
          <a:xfrm>
            <a:off x="8304125" y="577334"/>
            <a:ext cx="313833" cy="369332"/>
          </a:xfrm>
          <a:prstGeom prst="rect">
            <a:avLst/>
          </a:prstGeom>
          <a:noFill/>
        </p:spPr>
        <p:txBody>
          <a:bodyPr wrap="square" rtlCol="0">
            <a:spAutoFit/>
          </a:bodyPr>
          <a:lstStyle/>
          <a:p>
            <a:r>
              <a:rPr lang="en-IN" dirty="0"/>
              <a:t>V</a:t>
            </a:r>
          </a:p>
        </p:txBody>
      </p:sp>
      <p:sp>
        <p:nvSpPr>
          <p:cNvPr id="8" name="TextBox 7">
            <a:extLst>
              <a:ext uri="{FF2B5EF4-FFF2-40B4-BE49-F238E27FC236}">
                <a16:creationId xmlns:a16="http://schemas.microsoft.com/office/drawing/2014/main" id="{9AFAC54F-B891-9148-BC55-66345BC96E87}"/>
              </a:ext>
            </a:extLst>
          </p:cNvPr>
          <p:cNvSpPr txBox="1"/>
          <p:nvPr/>
        </p:nvSpPr>
        <p:spPr>
          <a:xfrm>
            <a:off x="7473631" y="667382"/>
            <a:ext cx="373271" cy="369332"/>
          </a:xfrm>
          <a:prstGeom prst="rect">
            <a:avLst/>
          </a:prstGeom>
          <a:noFill/>
        </p:spPr>
        <p:txBody>
          <a:bodyPr wrap="square" rtlCol="0">
            <a:spAutoFit/>
          </a:bodyPr>
          <a:lstStyle/>
          <a:p>
            <a:r>
              <a:rPr lang="en-IN" dirty="0"/>
              <a:t>W</a:t>
            </a:r>
          </a:p>
        </p:txBody>
      </p:sp>
    </p:spTree>
    <p:extLst>
      <p:ext uri="{BB962C8B-B14F-4D97-AF65-F5344CB8AC3E}">
        <p14:creationId xmlns:p14="http://schemas.microsoft.com/office/powerpoint/2010/main" val="39101594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F5B01C5-2A0A-DC52-151E-F7602E870045}"/>
              </a:ext>
            </a:extLst>
          </p:cNvPr>
          <p:cNvSpPr>
            <a:spLocks noGrp="1"/>
          </p:cNvSpPr>
          <p:nvPr>
            <p:ph type="sldNum" sz="quarter" idx="12"/>
          </p:nvPr>
        </p:nvSpPr>
        <p:spPr/>
        <p:txBody>
          <a:bodyPr/>
          <a:lstStyle/>
          <a:p>
            <a:pPr>
              <a:defRPr/>
            </a:pPr>
            <a:fld id="{9AD681D7-8A59-4380-9311-10B86FF921AA}" type="slidenum">
              <a:rPr lang="en-US" altLang="zh-TW" smtClean="0"/>
              <a:pPr>
                <a:defRPr/>
              </a:pPr>
              <a:t>13</a:t>
            </a:fld>
            <a:endParaRPr lang="en-US" altLang="zh-TW"/>
          </a:p>
        </p:txBody>
      </p:sp>
      <p:sp>
        <p:nvSpPr>
          <p:cNvPr id="7" name="Content Placeholder 6">
            <a:extLst>
              <a:ext uri="{FF2B5EF4-FFF2-40B4-BE49-F238E27FC236}">
                <a16:creationId xmlns:a16="http://schemas.microsoft.com/office/drawing/2014/main" id="{2561A0EA-3035-3C8A-CAF6-3A4C7BBF1E33}"/>
              </a:ext>
            </a:extLst>
          </p:cNvPr>
          <p:cNvSpPr>
            <a:spLocks noGrp="1"/>
          </p:cNvSpPr>
          <p:nvPr>
            <p:ph idx="1"/>
          </p:nvPr>
        </p:nvSpPr>
        <p:spPr>
          <a:xfrm>
            <a:off x="1117601" y="2362201"/>
            <a:ext cx="10962215" cy="4495799"/>
          </a:xfrm>
          <a:ln>
            <a:solidFill>
              <a:srgbClr val="1D1D1D"/>
            </a:solidFill>
          </a:ln>
        </p:spPr>
        <p:txBody>
          <a:bodyPr/>
          <a:lstStyle/>
          <a:p>
            <a:pPr algn="just" eaLnBrk="1" hangingPunct="1">
              <a:buFont typeface="Arial" panose="020B0604020202020204" pitchFamily="34" charset="0"/>
              <a:buChar char="•"/>
            </a:pPr>
            <a:r>
              <a:rPr lang="en-US" sz="1900" dirty="0">
                <a:ea typeface="+mn-ea"/>
              </a:rPr>
              <a:t>The total loss for a sequence of x values and its corresponding y values is obtained by summing up the losses over all time steps.</a:t>
            </a:r>
          </a:p>
          <a:p>
            <a:pPr algn="just" eaLnBrk="1" hangingPunct="1">
              <a:buFont typeface="Arial" panose="020B0604020202020204" pitchFamily="34" charset="0"/>
              <a:buChar char="•"/>
            </a:pPr>
            <a:endParaRPr lang="en-US" sz="1900" dirty="0">
              <a:ea typeface="+mn-ea"/>
            </a:endParaRPr>
          </a:p>
          <a:p>
            <a:pPr algn="just" eaLnBrk="1" hangingPunct="1">
              <a:buFont typeface="Arial" panose="020B0604020202020204" pitchFamily="34" charset="0"/>
              <a:buChar char="•"/>
            </a:pPr>
            <a:endParaRPr lang="en-US" sz="1900" dirty="0">
              <a:ea typeface="+mn-ea"/>
            </a:endParaRPr>
          </a:p>
          <a:p>
            <a:pPr algn="just" eaLnBrk="1" hangingPunct="1">
              <a:buFont typeface="Arial" panose="020B0604020202020204" pitchFamily="34" charset="0"/>
              <a:buChar char="•"/>
            </a:pPr>
            <a:r>
              <a:rPr lang="en-US" sz="1900" b="1" dirty="0">
                <a:ea typeface="+mn-ea"/>
              </a:rPr>
              <a:t>To minimize the loss, the gradient/derivative of the loss function is calculated with respect to the parameters associated with it. </a:t>
            </a:r>
          </a:p>
          <a:p>
            <a:pPr algn="just" eaLnBrk="1" hangingPunct="1">
              <a:buFont typeface="Arial" panose="020B0604020202020204" pitchFamily="34" charset="0"/>
              <a:buChar char="•"/>
            </a:pPr>
            <a:r>
              <a:rPr lang="en-US" sz="1900" dirty="0">
                <a:ea typeface="+mn-ea"/>
              </a:rPr>
              <a:t>The parameters associated with the nodes of the computational graph are U, V , W, b, c, x(t), h(t), o(t), and L(t). The output o(t) is the argument to the </a:t>
            </a:r>
            <a:r>
              <a:rPr lang="en-US" sz="1900" dirty="0" err="1">
                <a:ea typeface="+mn-ea"/>
              </a:rPr>
              <a:t>softmax</a:t>
            </a:r>
            <a:r>
              <a:rPr lang="en-US" sz="1900" dirty="0">
                <a:ea typeface="+mn-ea"/>
              </a:rPr>
              <a:t> to obtain the vector of probabilities over the output. </a:t>
            </a:r>
          </a:p>
          <a:p>
            <a:pPr algn="just" eaLnBrk="1" hangingPunct="1">
              <a:buFont typeface="Arial" panose="020B0604020202020204" pitchFamily="34" charset="0"/>
              <a:buChar char="•"/>
            </a:pPr>
            <a:r>
              <a:rPr lang="en-US" sz="1900" b="1" dirty="0">
                <a:ea typeface="+mn-ea"/>
              </a:rPr>
              <a:t>During back-propagation, the gradient for each node is calculated recursively starting with the nodes preceding the final loss. </a:t>
            </a:r>
          </a:p>
          <a:p>
            <a:pPr algn="just" eaLnBrk="1" hangingPunct="1">
              <a:buFont typeface="Arial" panose="020B0604020202020204" pitchFamily="34" charset="0"/>
              <a:buChar char="•"/>
            </a:pPr>
            <a:r>
              <a:rPr lang="en-US" sz="1900" dirty="0">
                <a:ea typeface="+mn-ea"/>
              </a:rPr>
              <a:t>It is then iterated backward in time to back-propagate gradients through time. </a:t>
            </a:r>
            <a:r>
              <a:rPr lang="en-US" sz="1900" b="1" dirty="0">
                <a:ea typeface="+mn-ea"/>
              </a:rPr>
              <a:t>tanh is a popular choice for activation function as it tends to avoid vanishing gradient problem by retaining non-zero value longer through the back-propagation process.</a:t>
            </a:r>
            <a:endParaRPr lang="en-IN" sz="1900" b="1" dirty="0">
              <a:ea typeface="+mn-ea"/>
            </a:endParaRPr>
          </a:p>
        </p:txBody>
      </p:sp>
      <p:pic>
        <p:nvPicPr>
          <p:cNvPr id="9" name="Picture 8">
            <a:extLst>
              <a:ext uri="{FF2B5EF4-FFF2-40B4-BE49-F238E27FC236}">
                <a16:creationId xmlns:a16="http://schemas.microsoft.com/office/drawing/2014/main" id="{918554EF-8233-142D-B663-90B8367791DE}"/>
              </a:ext>
            </a:extLst>
          </p:cNvPr>
          <p:cNvPicPr>
            <a:picLocks noChangeAspect="1"/>
          </p:cNvPicPr>
          <p:nvPr/>
        </p:nvPicPr>
        <p:blipFill>
          <a:blip r:embed="rId2"/>
          <a:stretch>
            <a:fillRect/>
          </a:stretch>
        </p:blipFill>
        <p:spPr>
          <a:xfrm>
            <a:off x="2404997" y="3059854"/>
            <a:ext cx="8133054" cy="738291"/>
          </a:xfrm>
          <a:prstGeom prst="rect">
            <a:avLst/>
          </a:prstGeom>
        </p:spPr>
      </p:pic>
      <p:sp>
        <p:nvSpPr>
          <p:cNvPr id="10" name="Title 1">
            <a:extLst>
              <a:ext uri="{FF2B5EF4-FFF2-40B4-BE49-F238E27FC236}">
                <a16:creationId xmlns:a16="http://schemas.microsoft.com/office/drawing/2014/main" id="{B4C38955-06B1-4956-84B6-2B708579BA3C}"/>
              </a:ext>
            </a:extLst>
          </p:cNvPr>
          <p:cNvSpPr>
            <a:spLocks noGrp="1"/>
          </p:cNvSpPr>
          <p:nvPr>
            <p:ph type="title"/>
          </p:nvPr>
        </p:nvSpPr>
        <p:spPr>
          <a:xfrm>
            <a:off x="1016000" y="762000"/>
            <a:ext cx="10566400" cy="1143000"/>
          </a:xfrm>
        </p:spPr>
        <p:txBody>
          <a:bodyPr/>
          <a:lstStyle/>
          <a:p>
            <a:r>
              <a:rPr kumimoji="1" lang="en-US" sz="3600" b="1" i="0" u="none" strike="noStrike" kern="1200" cap="none" spc="0" normalizeH="0" baseline="0" noProof="0" dirty="0">
                <a:ln>
                  <a:noFill/>
                </a:ln>
                <a:solidFill>
                  <a:srgbClr val="006666"/>
                </a:solidFill>
                <a:effectLst/>
                <a:uLnTx/>
                <a:uFillTx/>
                <a:latin typeface="Arial"/>
                <a:ea typeface="PMingLiU" panose="02020500000000000000" pitchFamily="18" charset="-120"/>
                <a:cs typeface="+mj-cs"/>
              </a:rPr>
              <a:t>Computation in Training a Simple RNN</a:t>
            </a:r>
            <a:endParaRPr lang="en-IN" dirty="0"/>
          </a:p>
        </p:txBody>
      </p:sp>
    </p:spTree>
    <p:extLst>
      <p:ext uri="{BB962C8B-B14F-4D97-AF65-F5344CB8AC3E}">
        <p14:creationId xmlns:p14="http://schemas.microsoft.com/office/powerpoint/2010/main" val="17150212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85CF45-420D-D410-155C-004EB089EF71}"/>
              </a:ext>
            </a:extLst>
          </p:cNvPr>
          <p:cNvSpPr>
            <a:spLocks noGrp="1"/>
          </p:cNvSpPr>
          <p:nvPr>
            <p:ph type="title"/>
          </p:nvPr>
        </p:nvSpPr>
        <p:spPr>
          <a:xfrm>
            <a:off x="850901" y="1134649"/>
            <a:ext cx="5651499" cy="1143000"/>
          </a:xfrm>
        </p:spPr>
        <p:txBody>
          <a:bodyPr/>
          <a:lstStyle/>
          <a:p>
            <a:r>
              <a:rPr lang="en-US" sz="2400" dirty="0">
                <a:solidFill>
                  <a:srgbClr val="006666"/>
                </a:solidFill>
                <a:latin typeface="Arial"/>
              </a:rPr>
              <a:t>Simple RNN Architecture Variations Based on Parameter Sharing</a:t>
            </a:r>
            <a:br>
              <a:rPr lang="en-US" sz="2400" b="1" i="0" dirty="0">
                <a:solidFill>
                  <a:srgbClr val="222222"/>
                </a:solidFill>
                <a:effectLst/>
                <a:highlight>
                  <a:srgbClr val="FFFFFF"/>
                </a:highlight>
                <a:latin typeface="Merriweather Sans" panose="020F0502020204030204" pitchFamily="2" charset="0"/>
              </a:rPr>
            </a:br>
            <a:endParaRPr lang="en-IN" sz="2400" dirty="0"/>
          </a:p>
        </p:txBody>
      </p:sp>
      <p:sp>
        <p:nvSpPr>
          <p:cNvPr id="4" name="Slide Number Placeholder 3">
            <a:extLst>
              <a:ext uri="{FF2B5EF4-FFF2-40B4-BE49-F238E27FC236}">
                <a16:creationId xmlns:a16="http://schemas.microsoft.com/office/drawing/2014/main" id="{757B993B-7C67-B15E-37DD-CDFEA0CFFF53}"/>
              </a:ext>
            </a:extLst>
          </p:cNvPr>
          <p:cNvSpPr>
            <a:spLocks noGrp="1"/>
          </p:cNvSpPr>
          <p:nvPr>
            <p:ph type="sldNum" sz="quarter" idx="12"/>
          </p:nvPr>
        </p:nvSpPr>
        <p:spPr/>
        <p:txBody>
          <a:bodyPr/>
          <a:lstStyle/>
          <a:p>
            <a:pPr>
              <a:defRPr/>
            </a:pPr>
            <a:fld id="{9AD681D7-8A59-4380-9311-10B86FF921AA}" type="slidenum">
              <a:rPr lang="en-US" altLang="zh-TW" smtClean="0"/>
              <a:pPr>
                <a:defRPr/>
              </a:pPr>
              <a:t>14</a:t>
            </a:fld>
            <a:endParaRPr lang="en-US" altLang="zh-TW"/>
          </a:p>
        </p:txBody>
      </p:sp>
      <p:pic>
        <p:nvPicPr>
          <p:cNvPr id="8" name="Content Placeholder 7">
            <a:extLst>
              <a:ext uri="{FF2B5EF4-FFF2-40B4-BE49-F238E27FC236}">
                <a16:creationId xmlns:a16="http://schemas.microsoft.com/office/drawing/2014/main" id="{576DB39A-5144-8329-AECB-DEE89CCDF81C}"/>
              </a:ext>
            </a:extLst>
          </p:cNvPr>
          <p:cNvPicPr>
            <a:picLocks noGrp="1" noChangeAspect="1"/>
          </p:cNvPicPr>
          <p:nvPr>
            <p:ph idx="1"/>
          </p:nvPr>
        </p:nvPicPr>
        <p:blipFill>
          <a:blip r:embed="rId2"/>
          <a:stretch>
            <a:fillRect/>
          </a:stretch>
        </p:blipFill>
        <p:spPr>
          <a:xfrm>
            <a:off x="0" y="2367419"/>
            <a:ext cx="5952181" cy="4490581"/>
          </a:xfrm>
          <a:ln>
            <a:solidFill>
              <a:schemeClr val="tx1"/>
            </a:solidFill>
          </a:ln>
        </p:spPr>
      </p:pic>
      <p:sp>
        <p:nvSpPr>
          <p:cNvPr id="9" name="TextBox 8">
            <a:extLst>
              <a:ext uri="{FF2B5EF4-FFF2-40B4-BE49-F238E27FC236}">
                <a16:creationId xmlns:a16="http://schemas.microsoft.com/office/drawing/2014/main" id="{88350935-31F4-285E-8EB5-4C5714C70750}"/>
              </a:ext>
            </a:extLst>
          </p:cNvPr>
          <p:cNvSpPr txBox="1"/>
          <p:nvPr/>
        </p:nvSpPr>
        <p:spPr>
          <a:xfrm>
            <a:off x="6239818" y="932319"/>
            <a:ext cx="5952182" cy="5869364"/>
          </a:xfrm>
          <a:prstGeom prst="rect">
            <a:avLst/>
          </a:prstGeom>
          <a:noFill/>
          <a:ln>
            <a:solidFill>
              <a:srgbClr val="000000"/>
            </a:solidFill>
          </a:ln>
        </p:spPr>
        <p:txBody>
          <a:bodyPr wrap="square" rtlCol="0">
            <a:spAutoFit/>
          </a:bodyPr>
          <a:lstStyle/>
          <a:p>
            <a:pPr algn="just">
              <a:lnSpc>
                <a:spcPct val="150000"/>
              </a:lnSpc>
            </a:pPr>
            <a:r>
              <a:rPr lang="en-IN" sz="1400" b="1" dirty="0"/>
              <a:t>Fig(a) - </a:t>
            </a:r>
            <a:r>
              <a:rPr lang="en-US" sz="1400" b="1" dirty="0"/>
              <a:t>Connection between hidden units</a:t>
            </a:r>
            <a:r>
              <a:rPr lang="en-US" sz="1400" dirty="0"/>
              <a:t>. </a:t>
            </a:r>
          </a:p>
          <a:p>
            <a:pPr algn="just">
              <a:lnSpc>
                <a:spcPct val="150000"/>
              </a:lnSpc>
            </a:pPr>
            <a:r>
              <a:rPr lang="en-US" sz="1400" dirty="0"/>
              <a:t>The RNN produces </a:t>
            </a:r>
            <a:r>
              <a:rPr lang="en-US" sz="1400" b="1" dirty="0"/>
              <a:t>outputs at every time step</a:t>
            </a:r>
            <a:r>
              <a:rPr lang="en-US" sz="1400" dirty="0"/>
              <a:t>, and the </a:t>
            </a:r>
            <a:r>
              <a:rPr lang="en-US" sz="1400" b="1" dirty="0">
                <a:solidFill>
                  <a:srgbClr val="FF0000"/>
                </a:solidFill>
              </a:rPr>
              <a:t>parameters are passed between hidden-to-hidden units</a:t>
            </a:r>
          </a:p>
          <a:p>
            <a:pPr algn="just">
              <a:lnSpc>
                <a:spcPct val="150000"/>
              </a:lnSpc>
            </a:pPr>
            <a:endParaRPr lang="en-US" sz="1400" b="1" dirty="0">
              <a:solidFill>
                <a:srgbClr val="FF0000"/>
              </a:solidFill>
            </a:endParaRPr>
          </a:p>
          <a:p>
            <a:pPr algn="just">
              <a:lnSpc>
                <a:spcPct val="150000"/>
              </a:lnSpc>
            </a:pPr>
            <a:r>
              <a:rPr lang="en-US" sz="1400" b="1" dirty="0">
                <a:solidFill>
                  <a:schemeClr val="tx1">
                    <a:lumMod val="75000"/>
                  </a:schemeClr>
                </a:solidFill>
              </a:rPr>
              <a:t>Application: </a:t>
            </a:r>
            <a:r>
              <a:rPr lang="en-US" sz="1400" b="1" dirty="0">
                <a:solidFill>
                  <a:srgbClr val="FF0000"/>
                </a:solidFill>
              </a:rPr>
              <a:t>Text to speech conversion- at every time stamp model will give one character or one word.</a:t>
            </a:r>
          </a:p>
          <a:p>
            <a:pPr algn="just">
              <a:lnSpc>
                <a:spcPct val="150000"/>
              </a:lnSpc>
            </a:pPr>
            <a:r>
              <a:rPr lang="en-IN" sz="1400" b="1" dirty="0"/>
              <a:t>Fig(b) - </a:t>
            </a:r>
            <a:r>
              <a:rPr lang="en-US" sz="1400" b="1" dirty="0"/>
              <a:t>Connection between outputs to hidden units. </a:t>
            </a:r>
          </a:p>
          <a:p>
            <a:pPr algn="just">
              <a:lnSpc>
                <a:spcPct val="150000"/>
              </a:lnSpc>
            </a:pPr>
            <a:r>
              <a:rPr lang="en-US" sz="1400" dirty="0"/>
              <a:t>The RNN produces </a:t>
            </a:r>
            <a:r>
              <a:rPr lang="en-US" sz="1400" b="1" dirty="0"/>
              <a:t>outputs at every time step</a:t>
            </a:r>
            <a:r>
              <a:rPr lang="en-US" sz="1400" dirty="0"/>
              <a:t>, and the </a:t>
            </a:r>
            <a:r>
              <a:rPr lang="en-US" sz="1400" b="1" dirty="0">
                <a:solidFill>
                  <a:srgbClr val="FF0000"/>
                </a:solidFill>
              </a:rPr>
              <a:t>parameters are passed from an output at a particular time step to the hidden unit at the next time step</a:t>
            </a:r>
          </a:p>
          <a:p>
            <a:pPr algn="just">
              <a:lnSpc>
                <a:spcPct val="150000"/>
              </a:lnSpc>
            </a:pPr>
            <a:r>
              <a:rPr lang="en-US" sz="1400" b="1" dirty="0"/>
              <a:t>Application: </a:t>
            </a:r>
            <a:r>
              <a:rPr lang="en-US" sz="1400" b="1" dirty="0">
                <a:solidFill>
                  <a:srgbClr val="FF0000"/>
                </a:solidFill>
              </a:rPr>
              <a:t>Music or text generation. Every generated word affects the next word</a:t>
            </a:r>
          </a:p>
          <a:p>
            <a:pPr algn="just">
              <a:lnSpc>
                <a:spcPct val="150000"/>
              </a:lnSpc>
            </a:pPr>
            <a:r>
              <a:rPr lang="en-US" sz="1400" b="1" dirty="0"/>
              <a:t>Fig (c)- Sequential input to single output</a:t>
            </a:r>
            <a:r>
              <a:rPr lang="en-US" sz="1400" dirty="0"/>
              <a:t>. </a:t>
            </a:r>
          </a:p>
          <a:p>
            <a:pPr algn="just">
              <a:lnSpc>
                <a:spcPct val="150000"/>
              </a:lnSpc>
            </a:pPr>
            <a:r>
              <a:rPr lang="en-US" sz="1400" dirty="0"/>
              <a:t>The RNN produces a </a:t>
            </a:r>
            <a:r>
              <a:rPr lang="en-US" sz="1400" b="1" dirty="0">
                <a:solidFill>
                  <a:srgbClr val="FF0000"/>
                </a:solidFill>
              </a:rPr>
              <a:t>single output at the end after reading the entire sequence</a:t>
            </a:r>
            <a:r>
              <a:rPr lang="en-US" sz="1400" dirty="0"/>
              <a:t> and </a:t>
            </a:r>
            <a:r>
              <a:rPr lang="en-US" sz="1400" b="1" dirty="0">
                <a:solidFill>
                  <a:srgbClr val="FF0000"/>
                </a:solidFill>
              </a:rPr>
              <a:t>has connections between the hidden units at every time step</a:t>
            </a:r>
            <a:r>
              <a:rPr lang="en-US" sz="1400" b="1" dirty="0"/>
              <a:t>. </a:t>
            </a:r>
          </a:p>
          <a:p>
            <a:pPr algn="just">
              <a:lnSpc>
                <a:spcPct val="150000"/>
              </a:lnSpc>
            </a:pPr>
            <a:r>
              <a:rPr lang="en-US" sz="1400" b="1" dirty="0"/>
              <a:t>Application: </a:t>
            </a:r>
            <a:r>
              <a:rPr lang="en-US" sz="1400" b="1" dirty="0">
                <a:solidFill>
                  <a:srgbClr val="FF0000"/>
                </a:solidFill>
              </a:rPr>
              <a:t>Emotion detection from a sentence.</a:t>
            </a:r>
          </a:p>
          <a:p>
            <a:pPr algn="just">
              <a:lnSpc>
                <a:spcPct val="150000"/>
              </a:lnSpc>
            </a:pPr>
            <a:endParaRPr lang="en-US" sz="1400" b="1" dirty="0">
              <a:solidFill>
                <a:srgbClr val="FF0000"/>
              </a:solidFill>
            </a:endParaRPr>
          </a:p>
        </p:txBody>
      </p:sp>
    </p:spTree>
    <p:extLst>
      <p:ext uri="{BB962C8B-B14F-4D97-AF65-F5344CB8AC3E}">
        <p14:creationId xmlns:p14="http://schemas.microsoft.com/office/powerpoint/2010/main" val="21864587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0145D-91E8-B930-5EEC-EE79C766A539}"/>
              </a:ext>
            </a:extLst>
          </p:cNvPr>
          <p:cNvSpPr>
            <a:spLocks noGrp="1"/>
          </p:cNvSpPr>
          <p:nvPr>
            <p:ph type="title"/>
          </p:nvPr>
        </p:nvSpPr>
        <p:spPr>
          <a:xfrm>
            <a:off x="833119" y="860248"/>
            <a:ext cx="6613742" cy="1143000"/>
          </a:xfrm>
        </p:spPr>
        <p:txBody>
          <a:bodyPr/>
          <a:lstStyle/>
          <a:p>
            <a:r>
              <a:rPr kumimoji="1" lang="en-US" sz="2600" b="1" i="0" u="none" strike="noStrike" kern="1200" cap="none" spc="0" normalizeH="0" baseline="0" noProof="0" dirty="0">
                <a:ln>
                  <a:noFill/>
                </a:ln>
                <a:solidFill>
                  <a:srgbClr val="006666"/>
                </a:solidFill>
                <a:effectLst/>
                <a:uLnTx/>
                <a:uFillTx/>
                <a:latin typeface="Arial"/>
                <a:ea typeface="PMingLiU" panose="02020500000000000000" pitchFamily="18" charset="-120"/>
                <a:cs typeface="+mj-cs"/>
              </a:rPr>
              <a:t>Simple RNN Architecture Variations Based on Inputs and Outputs</a:t>
            </a:r>
            <a:endParaRPr lang="en-IN" sz="2600" dirty="0"/>
          </a:p>
        </p:txBody>
      </p:sp>
      <p:pic>
        <p:nvPicPr>
          <p:cNvPr id="6" name="Content Placeholder 5">
            <a:extLst>
              <a:ext uri="{FF2B5EF4-FFF2-40B4-BE49-F238E27FC236}">
                <a16:creationId xmlns:a16="http://schemas.microsoft.com/office/drawing/2014/main" id="{78A1F5FF-4A39-B9A3-FFE3-C397A7148E91}"/>
              </a:ext>
            </a:extLst>
          </p:cNvPr>
          <p:cNvPicPr>
            <a:picLocks noGrp="1" noChangeAspect="1"/>
          </p:cNvPicPr>
          <p:nvPr>
            <p:ph idx="1"/>
          </p:nvPr>
        </p:nvPicPr>
        <p:blipFill rotWithShape="1">
          <a:blip r:embed="rId2"/>
          <a:srcRect t="8610"/>
          <a:stretch/>
        </p:blipFill>
        <p:spPr>
          <a:xfrm>
            <a:off x="1" y="2003248"/>
            <a:ext cx="6613742" cy="4854751"/>
          </a:xfrm>
          <a:ln>
            <a:solidFill>
              <a:schemeClr val="tx1"/>
            </a:solidFill>
          </a:ln>
        </p:spPr>
      </p:pic>
      <p:sp>
        <p:nvSpPr>
          <p:cNvPr id="4" name="Slide Number Placeholder 3">
            <a:extLst>
              <a:ext uri="{FF2B5EF4-FFF2-40B4-BE49-F238E27FC236}">
                <a16:creationId xmlns:a16="http://schemas.microsoft.com/office/drawing/2014/main" id="{DC7A59CE-B4D3-B193-3E07-D4B251849D66}"/>
              </a:ext>
            </a:extLst>
          </p:cNvPr>
          <p:cNvSpPr>
            <a:spLocks noGrp="1"/>
          </p:cNvSpPr>
          <p:nvPr>
            <p:ph type="sldNum" sz="quarter" idx="12"/>
          </p:nvPr>
        </p:nvSpPr>
        <p:spPr/>
        <p:txBody>
          <a:bodyPr/>
          <a:lstStyle/>
          <a:p>
            <a:pPr>
              <a:defRPr/>
            </a:pPr>
            <a:fld id="{9AD681D7-8A59-4380-9311-10B86FF921AA}" type="slidenum">
              <a:rPr lang="en-US" altLang="zh-TW" smtClean="0"/>
              <a:pPr>
                <a:defRPr/>
              </a:pPr>
              <a:t>15</a:t>
            </a:fld>
            <a:endParaRPr lang="en-US" altLang="zh-TW"/>
          </a:p>
        </p:txBody>
      </p:sp>
      <p:sp>
        <p:nvSpPr>
          <p:cNvPr id="8" name="TextBox 7">
            <a:extLst>
              <a:ext uri="{FF2B5EF4-FFF2-40B4-BE49-F238E27FC236}">
                <a16:creationId xmlns:a16="http://schemas.microsoft.com/office/drawing/2014/main" id="{DAFCABAF-CA3A-E569-FCD4-5ED899820DE7}"/>
              </a:ext>
            </a:extLst>
          </p:cNvPr>
          <p:cNvSpPr txBox="1"/>
          <p:nvPr/>
        </p:nvSpPr>
        <p:spPr>
          <a:xfrm>
            <a:off x="6613742" y="2281149"/>
            <a:ext cx="5578257" cy="4555093"/>
          </a:xfrm>
          <a:prstGeom prst="rect">
            <a:avLst/>
          </a:prstGeom>
          <a:noFill/>
          <a:ln>
            <a:solidFill>
              <a:srgbClr val="000000"/>
            </a:solidFill>
          </a:ln>
        </p:spPr>
        <p:txBody>
          <a:bodyPr wrap="square">
            <a:spAutoFit/>
          </a:bodyPr>
          <a:lstStyle/>
          <a:p>
            <a:pPr algn="l">
              <a:spcBef>
                <a:spcPts val="600"/>
              </a:spcBef>
              <a:spcAft>
                <a:spcPts val="600"/>
              </a:spcAft>
              <a:buFont typeface="Arial" panose="020B0604020202020204" pitchFamily="34" charset="0"/>
              <a:buChar char="•"/>
            </a:pPr>
            <a:r>
              <a:rPr kumimoji="1" lang="en-US" sz="1500" b="1" dirty="0"/>
              <a:t>One-to-one: </a:t>
            </a:r>
            <a:r>
              <a:rPr kumimoji="1" lang="en-US" sz="1500" dirty="0"/>
              <a:t>The traditional RNN has </a:t>
            </a:r>
            <a:r>
              <a:rPr kumimoji="1" lang="en-US" sz="1500" b="1" dirty="0">
                <a:solidFill>
                  <a:srgbClr val="FF0000"/>
                </a:solidFill>
              </a:rPr>
              <a:t>one-to-one input to output mapping at each time step</a:t>
            </a:r>
            <a:r>
              <a:rPr kumimoji="1" lang="en-US" sz="1500" b="1" dirty="0"/>
              <a:t> </a:t>
            </a:r>
            <a:r>
              <a:rPr kumimoji="1" lang="en-US" sz="1500" dirty="0"/>
              <a:t>t as in </a:t>
            </a:r>
            <a:r>
              <a:rPr kumimoji="1" lang="en-US" sz="1500" b="1" dirty="0"/>
              <a:t>Fig. a. Application: </a:t>
            </a:r>
            <a:r>
              <a:rPr kumimoji="1" lang="en-US" sz="1500" b="1" dirty="0">
                <a:solidFill>
                  <a:srgbClr val="FF0000"/>
                </a:solidFill>
              </a:rPr>
              <a:t>Image classification- </a:t>
            </a:r>
            <a:r>
              <a:rPr kumimoji="1" lang="en-US" sz="1500" b="1" dirty="0"/>
              <a:t>Violence/Non violence</a:t>
            </a:r>
          </a:p>
          <a:p>
            <a:pPr algn="l">
              <a:spcBef>
                <a:spcPts val="600"/>
              </a:spcBef>
              <a:spcAft>
                <a:spcPts val="600"/>
              </a:spcAft>
              <a:buFont typeface="Arial" panose="020B0604020202020204" pitchFamily="34" charset="0"/>
              <a:buChar char="•"/>
            </a:pPr>
            <a:r>
              <a:rPr kumimoji="1" lang="en-US" sz="1500" b="1" dirty="0"/>
              <a:t>One-to-many: </a:t>
            </a:r>
            <a:r>
              <a:rPr kumimoji="1" lang="en-US" sz="1500" dirty="0"/>
              <a:t>It </a:t>
            </a:r>
            <a:r>
              <a:rPr kumimoji="1" lang="en-US" sz="1500" b="1" dirty="0"/>
              <a:t>has </a:t>
            </a:r>
            <a:r>
              <a:rPr kumimoji="1" lang="en-US" sz="1500" b="1" dirty="0">
                <a:solidFill>
                  <a:srgbClr val="FF0000"/>
                </a:solidFill>
              </a:rPr>
              <a:t>one input at a time step </a:t>
            </a:r>
            <a:r>
              <a:rPr kumimoji="1" lang="en-US" sz="1500" dirty="0"/>
              <a:t>for which it </a:t>
            </a:r>
            <a:r>
              <a:rPr kumimoji="1" lang="en-US" sz="1500" b="1" dirty="0">
                <a:solidFill>
                  <a:srgbClr val="FF0000"/>
                </a:solidFill>
              </a:rPr>
              <a:t>generates a sequence of outputs at consecutive time steps </a:t>
            </a:r>
            <a:r>
              <a:rPr kumimoji="1" lang="en-US" sz="1500" dirty="0"/>
              <a:t>as in </a:t>
            </a:r>
            <a:r>
              <a:rPr kumimoji="1" lang="en-US" sz="1500" b="1" dirty="0"/>
              <a:t>Fig b</a:t>
            </a:r>
            <a:r>
              <a:rPr kumimoji="1" lang="en-US" sz="1500" dirty="0"/>
              <a:t>. </a:t>
            </a:r>
            <a:r>
              <a:rPr kumimoji="1" lang="en-US" sz="1500" b="1" dirty="0"/>
              <a:t>Application: </a:t>
            </a:r>
            <a:r>
              <a:rPr kumimoji="1" lang="en-US" sz="1500" b="1" dirty="0">
                <a:solidFill>
                  <a:srgbClr val="FF0000"/>
                </a:solidFill>
              </a:rPr>
              <a:t>Image captioning</a:t>
            </a:r>
            <a:r>
              <a:rPr kumimoji="1" lang="en-US" sz="1500" b="1" dirty="0"/>
              <a:t>.</a:t>
            </a:r>
          </a:p>
          <a:p>
            <a:pPr algn="l">
              <a:spcBef>
                <a:spcPts val="600"/>
              </a:spcBef>
              <a:spcAft>
                <a:spcPts val="600"/>
              </a:spcAft>
              <a:buFont typeface="Arial" panose="020B0604020202020204" pitchFamily="34" charset="0"/>
              <a:buChar char="•"/>
            </a:pPr>
            <a:r>
              <a:rPr kumimoji="1" lang="en-US" sz="1500" b="1" dirty="0"/>
              <a:t>Many-to-one:</a:t>
            </a:r>
            <a:r>
              <a:rPr kumimoji="1" lang="en-US" sz="1500" dirty="0"/>
              <a:t> It has </a:t>
            </a:r>
            <a:r>
              <a:rPr kumimoji="1" lang="en-US" sz="1500" b="1" dirty="0">
                <a:solidFill>
                  <a:srgbClr val="FF0000"/>
                </a:solidFill>
              </a:rPr>
              <a:t>many inputs and one output, at each time step</a:t>
            </a:r>
            <a:r>
              <a:rPr kumimoji="1" lang="en-US" sz="1500" dirty="0">
                <a:solidFill>
                  <a:srgbClr val="FF0000"/>
                </a:solidFill>
              </a:rPr>
              <a:t> </a:t>
            </a:r>
            <a:r>
              <a:rPr kumimoji="1" lang="en-US" sz="1500" dirty="0"/>
              <a:t>as in </a:t>
            </a:r>
            <a:r>
              <a:rPr kumimoji="1" lang="en-US" sz="1500" b="1" dirty="0"/>
              <a:t>Fig. c</a:t>
            </a:r>
            <a:r>
              <a:rPr kumimoji="1" lang="en-US" sz="1500" dirty="0"/>
              <a:t>. </a:t>
            </a:r>
            <a:r>
              <a:rPr kumimoji="1" lang="en-US" sz="1500" b="1" dirty="0"/>
              <a:t>Application: T</a:t>
            </a:r>
            <a:r>
              <a:rPr kumimoji="1" lang="en-US" sz="1500" b="1" dirty="0">
                <a:solidFill>
                  <a:srgbClr val="FF0000"/>
                </a:solidFill>
              </a:rPr>
              <a:t>ext classification.</a:t>
            </a:r>
          </a:p>
          <a:p>
            <a:pPr algn="l">
              <a:spcBef>
                <a:spcPts val="600"/>
              </a:spcBef>
              <a:spcAft>
                <a:spcPts val="600"/>
              </a:spcAft>
              <a:buFont typeface="Arial" panose="020B0604020202020204" pitchFamily="34" charset="0"/>
              <a:buChar char="•"/>
            </a:pPr>
            <a:r>
              <a:rPr kumimoji="1" lang="en-US" sz="1500" b="1" dirty="0"/>
              <a:t>Many-to-many: </a:t>
            </a:r>
            <a:r>
              <a:rPr kumimoji="1" lang="en-US" sz="1500" dirty="0"/>
              <a:t>It can be designed in two ways. </a:t>
            </a:r>
          </a:p>
          <a:p>
            <a:pPr marL="538163" indent="-274638" algn="l">
              <a:spcBef>
                <a:spcPts val="600"/>
              </a:spcBef>
              <a:spcAft>
                <a:spcPts val="600"/>
              </a:spcAft>
              <a:buFont typeface="Wingdings" panose="05000000000000000000" pitchFamily="2" charset="2"/>
              <a:buChar char="ü"/>
            </a:pPr>
            <a:r>
              <a:rPr kumimoji="1" lang="en-US" sz="1500" b="1" dirty="0"/>
              <a:t>The input is taken by the RNN and the corresponding output is given at the same time step</a:t>
            </a:r>
            <a:r>
              <a:rPr kumimoji="1" lang="en-US" sz="1500" dirty="0"/>
              <a:t> as in </a:t>
            </a:r>
            <a:r>
              <a:rPr kumimoji="1" lang="en-US" sz="1500" b="1" dirty="0"/>
              <a:t>Fig. d.</a:t>
            </a:r>
            <a:r>
              <a:rPr kumimoji="1" lang="en-US" sz="1500" dirty="0"/>
              <a:t> </a:t>
            </a:r>
            <a:r>
              <a:rPr kumimoji="1" lang="en-US" sz="1500" b="1" dirty="0"/>
              <a:t>Application:</a:t>
            </a:r>
            <a:r>
              <a:rPr kumimoji="1" lang="en-US" sz="1500" dirty="0"/>
              <a:t> </a:t>
            </a:r>
            <a:r>
              <a:rPr kumimoji="1" lang="en-US" sz="1500" b="1" dirty="0">
                <a:solidFill>
                  <a:srgbClr val="FF0000"/>
                </a:solidFill>
              </a:rPr>
              <a:t>Named entity recognition</a:t>
            </a:r>
            <a:r>
              <a:rPr kumimoji="1" lang="en-US" sz="1500" dirty="0"/>
              <a:t>.  </a:t>
            </a:r>
          </a:p>
          <a:p>
            <a:pPr marL="538163" indent="-274638" algn="l">
              <a:spcBef>
                <a:spcPts val="600"/>
              </a:spcBef>
              <a:spcAft>
                <a:spcPts val="600"/>
              </a:spcAft>
              <a:buFont typeface="Wingdings" panose="05000000000000000000" pitchFamily="2" charset="2"/>
              <a:buChar char="ü"/>
            </a:pPr>
            <a:r>
              <a:rPr kumimoji="1" lang="en-US" sz="1500" b="1" dirty="0"/>
              <a:t>The input is taken by the RNN at each time step and the output is given by the RNN at the next time step depending upon all the input sequence</a:t>
            </a:r>
            <a:r>
              <a:rPr kumimoji="1" lang="en-US" sz="1500" dirty="0"/>
              <a:t> as in </a:t>
            </a:r>
            <a:r>
              <a:rPr kumimoji="1" lang="en-US" sz="1500" b="1" dirty="0"/>
              <a:t>Fig. e.</a:t>
            </a:r>
            <a:r>
              <a:rPr kumimoji="1" lang="en-US" sz="1500" dirty="0"/>
              <a:t> </a:t>
            </a:r>
            <a:r>
              <a:rPr kumimoji="1" lang="en-US" sz="1500" b="1" dirty="0"/>
              <a:t>Application: </a:t>
            </a:r>
            <a:r>
              <a:rPr kumimoji="1" lang="en-US" sz="1500" b="1" dirty="0">
                <a:solidFill>
                  <a:srgbClr val="FF0000"/>
                </a:solidFill>
              </a:rPr>
              <a:t>Machine translation</a:t>
            </a:r>
            <a:r>
              <a:rPr kumimoji="1" lang="en-US" sz="1500" b="1" dirty="0"/>
              <a:t>.</a:t>
            </a:r>
          </a:p>
        </p:txBody>
      </p:sp>
    </p:spTree>
    <p:extLst>
      <p:ext uri="{BB962C8B-B14F-4D97-AF65-F5344CB8AC3E}">
        <p14:creationId xmlns:p14="http://schemas.microsoft.com/office/powerpoint/2010/main" val="33394057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94D97-3AAE-877C-C57E-D5D49822039D}"/>
              </a:ext>
            </a:extLst>
          </p:cNvPr>
          <p:cNvSpPr>
            <a:spLocks noGrp="1"/>
          </p:cNvSpPr>
          <p:nvPr>
            <p:ph type="title"/>
          </p:nvPr>
        </p:nvSpPr>
        <p:spPr/>
        <p:txBody>
          <a:bodyPr/>
          <a:lstStyle/>
          <a:p>
            <a:r>
              <a:rPr lang="en-IN" dirty="0"/>
              <a:t>Advantages of Simple RNN</a:t>
            </a:r>
          </a:p>
        </p:txBody>
      </p:sp>
      <p:sp>
        <p:nvSpPr>
          <p:cNvPr id="3" name="Content Placeholder 2">
            <a:extLst>
              <a:ext uri="{FF2B5EF4-FFF2-40B4-BE49-F238E27FC236}">
                <a16:creationId xmlns:a16="http://schemas.microsoft.com/office/drawing/2014/main" id="{F0E1861B-75CF-1654-05EC-6DFA064C1434}"/>
              </a:ext>
            </a:extLst>
          </p:cNvPr>
          <p:cNvSpPr>
            <a:spLocks noGrp="1"/>
          </p:cNvSpPr>
          <p:nvPr>
            <p:ph idx="1"/>
          </p:nvPr>
        </p:nvSpPr>
        <p:spPr>
          <a:xfrm>
            <a:off x="1117601" y="2362201"/>
            <a:ext cx="10832229" cy="4368799"/>
          </a:xfrm>
          <a:ln>
            <a:solidFill>
              <a:srgbClr val="1D1D1D"/>
            </a:solidFill>
          </a:ln>
        </p:spPr>
        <p:txBody>
          <a:bodyPr/>
          <a:lstStyle/>
          <a:p>
            <a:pPr>
              <a:lnSpc>
                <a:spcPct val="200000"/>
              </a:lnSpc>
            </a:pPr>
            <a:r>
              <a:rPr lang="en-US" sz="1800" dirty="0"/>
              <a:t>RNN can </a:t>
            </a:r>
            <a:r>
              <a:rPr lang="en-US" sz="1800" b="1" dirty="0"/>
              <a:t>process inputs of any length</a:t>
            </a:r>
            <a:r>
              <a:rPr lang="en-US" sz="1800" dirty="0"/>
              <a:t>.</a:t>
            </a:r>
          </a:p>
          <a:p>
            <a:pPr>
              <a:lnSpc>
                <a:spcPct val="200000"/>
              </a:lnSpc>
            </a:pPr>
            <a:r>
              <a:rPr lang="en-US" sz="1800" dirty="0"/>
              <a:t>An RNN model is modeled to </a:t>
            </a:r>
            <a:r>
              <a:rPr lang="en-US" sz="1800" b="1" dirty="0"/>
              <a:t>remember each information throughout the time </a:t>
            </a:r>
            <a:r>
              <a:rPr lang="en-US" sz="1800" dirty="0"/>
              <a:t>which is very helpful in any time series predictor.</a:t>
            </a:r>
          </a:p>
          <a:p>
            <a:pPr>
              <a:lnSpc>
                <a:spcPct val="200000"/>
              </a:lnSpc>
            </a:pPr>
            <a:r>
              <a:rPr lang="en-US" sz="1800" dirty="0"/>
              <a:t>The </a:t>
            </a:r>
            <a:r>
              <a:rPr lang="en-US" sz="1800" b="1" dirty="0"/>
              <a:t>weights can be shared across the time steps</a:t>
            </a:r>
            <a:r>
              <a:rPr lang="en-US" sz="1800" dirty="0"/>
              <a:t>.</a:t>
            </a:r>
          </a:p>
          <a:p>
            <a:pPr>
              <a:lnSpc>
                <a:spcPct val="200000"/>
              </a:lnSpc>
            </a:pPr>
            <a:r>
              <a:rPr lang="en-US" sz="1800" dirty="0"/>
              <a:t>RNN can </a:t>
            </a:r>
            <a:r>
              <a:rPr lang="en-US" sz="1800" b="1" dirty="0"/>
              <a:t>use their internal memory for processing the arbitrary series of inputs </a:t>
            </a:r>
            <a:r>
              <a:rPr lang="en-US" sz="1800" dirty="0"/>
              <a:t>which is not the case with feedforward neural networks.</a:t>
            </a:r>
            <a:endParaRPr lang="en-IN" sz="1800" dirty="0"/>
          </a:p>
        </p:txBody>
      </p:sp>
      <p:sp>
        <p:nvSpPr>
          <p:cNvPr id="4" name="Slide Number Placeholder 3">
            <a:extLst>
              <a:ext uri="{FF2B5EF4-FFF2-40B4-BE49-F238E27FC236}">
                <a16:creationId xmlns:a16="http://schemas.microsoft.com/office/drawing/2014/main" id="{863C7E2C-9488-2EDF-D56C-D822264672DB}"/>
              </a:ext>
            </a:extLst>
          </p:cNvPr>
          <p:cNvSpPr>
            <a:spLocks noGrp="1"/>
          </p:cNvSpPr>
          <p:nvPr>
            <p:ph type="sldNum" sz="quarter" idx="12"/>
          </p:nvPr>
        </p:nvSpPr>
        <p:spPr/>
        <p:txBody>
          <a:bodyPr/>
          <a:lstStyle/>
          <a:p>
            <a:pPr>
              <a:defRPr/>
            </a:pPr>
            <a:fld id="{9AD681D7-8A59-4380-9311-10B86FF921AA}" type="slidenum">
              <a:rPr lang="en-US" altLang="zh-TW" smtClean="0"/>
              <a:pPr>
                <a:defRPr/>
              </a:pPr>
              <a:t>16</a:t>
            </a:fld>
            <a:endParaRPr lang="en-US" altLang="zh-TW"/>
          </a:p>
        </p:txBody>
      </p:sp>
    </p:spTree>
    <p:extLst>
      <p:ext uri="{BB962C8B-B14F-4D97-AF65-F5344CB8AC3E}">
        <p14:creationId xmlns:p14="http://schemas.microsoft.com/office/powerpoint/2010/main" val="28283502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0E4069-8C97-69F3-A36A-FA2943B0F524}"/>
              </a:ext>
            </a:extLst>
          </p:cNvPr>
          <p:cNvSpPr>
            <a:spLocks noGrp="1"/>
          </p:cNvSpPr>
          <p:nvPr>
            <p:ph type="title"/>
          </p:nvPr>
        </p:nvSpPr>
        <p:spPr/>
        <p:txBody>
          <a:bodyPr/>
          <a:lstStyle/>
          <a:p>
            <a:r>
              <a:rPr lang="en-IN" dirty="0"/>
              <a:t>Disadvantages of Simple RNN</a:t>
            </a:r>
          </a:p>
        </p:txBody>
      </p:sp>
      <p:sp>
        <p:nvSpPr>
          <p:cNvPr id="3" name="Content Placeholder 2">
            <a:extLst>
              <a:ext uri="{FF2B5EF4-FFF2-40B4-BE49-F238E27FC236}">
                <a16:creationId xmlns:a16="http://schemas.microsoft.com/office/drawing/2014/main" id="{B4C969A7-A149-B346-77C2-89630D55D58E}"/>
              </a:ext>
            </a:extLst>
          </p:cNvPr>
          <p:cNvSpPr>
            <a:spLocks noGrp="1"/>
          </p:cNvSpPr>
          <p:nvPr>
            <p:ph idx="1"/>
          </p:nvPr>
        </p:nvSpPr>
        <p:spPr>
          <a:xfrm>
            <a:off x="1117601" y="2362201"/>
            <a:ext cx="11074399" cy="3724275"/>
          </a:xfrm>
          <a:ln>
            <a:solidFill>
              <a:schemeClr val="tx1"/>
            </a:solidFill>
          </a:ln>
        </p:spPr>
        <p:txBody>
          <a:bodyPr/>
          <a:lstStyle/>
          <a:p>
            <a:pPr>
              <a:lnSpc>
                <a:spcPct val="200000"/>
              </a:lnSpc>
            </a:pPr>
            <a:r>
              <a:rPr lang="en-US" sz="1800" dirty="0"/>
              <a:t>Due to its recurrent nature, the </a:t>
            </a:r>
            <a:r>
              <a:rPr lang="en-US" sz="1800" b="1" dirty="0"/>
              <a:t>computation is slow.</a:t>
            </a:r>
          </a:p>
          <a:p>
            <a:pPr>
              <a:lnSpc>
                <a:spcPct val="200000"/>
              </a:lnSpc>
            </a:pPr>
            <a:r>
              <a:rPr lang="en-US" sz="1800" b="1" dirty="0"/>
              <a:t>Training of RNN models can be difficult.</a:t>
            </a:r>
          </a:p>
          <a:p>
            <a:pPr>
              <a:lnSpc>
                <a:spcPct val="200000"/>
              </a:lnSpc>
            </a:pPr>
            <a:r>
              <a:rPr lang="en-US" sz="1800" dirty="0"/>
              <a:t>If we are </a:t>
            </a:r>
            <a:r>
              <a:rPr lang="en-US" sz="1800" b="1" dirty="0"/>
              <a:t>using sigmoid or tanh </a:t>
            </a:r>
            <a:r>
              <a:rPr lang="en-US" sz="1800" dirty="0"/>
              <a:t>as activation functions, it becomes </a:t>
            </a:r>
            <a:r>
              <a:rPr lang="en-US" sz="1800" b="1" dirty="0"/>
              <a:t>very difficult to process sequences that are very long.</a:t>
            </a:r>
            <a:endParaRPr lang="en-IN" sz="1800" b="1" dirty="0"/>
          </a:p>
        </p:txBody>
      </p:sp>
      <p:sp>
        <p:nvSpPr>
          <p:cNvPr id="4" name="Slide Number Placeholder 3">
            <a:extLst>
              <a:ext uri="{FF2B5EF4-FFF2-40B4-BE49-F238E27FC236}">
                <a16:creationId xmlns:a16="http://schemas.microsoft.com/office/drawing/2014/main" id="{C1695005-2623-2194-48C3-43B2F0033502}"/>
              </a:ext>
            </a:extLst>
          </p:cNvPr>
          <p:cNvSpPr>
            <a:spLocks noGrp="1"/>
          </p:cNvSpPr>
          <p:nvPr>
            <p:ph type="sldNum" sz="quarter" idx="12"/>
          </p:nvPr>
        </p:nvSpPr>
        <p:spPr/>
        <p:txBody>
          <a:bodyPr/>
          <a:lstStyle/>
          <a:p>
            <a:pPr>
              <a:defRPr/>
            </a:pPr>
            <a:fld id="{9AD681D7-8A59-4380-9311-10B86FF921AA}" type="slidenum">
              <a:rPr lang="en-US" altLang="zh-TW" smtClean="0"/>
              <a:pPr>
                <a:defRPr/>
              </a:pPr>
              <a:t>17</a:t>
            </a:fld>
            <a:endParaRPr lang="en-US" altLang="zh-TW"/>
          </a:p>
        </p:txBody>
      </p:sp>
    </p:spTree>
    <p:extLst>
      <p:ext uri="{BB962C8B-B14F-4D97-AF65-F5344CB8AC3E}">
        <p14:creationId xmlns:p14="http://schemas.microsoft.com/office/powerpoint/2010/main" val="6434759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870BD-CE55-6672-FCC4-07B0CF95ED21}"/>
              </a:ext>
            </a:extLst>
          </p:cNvPr>
          <p:cNvSpPr>
            <a:spLocks noGrp="1"/>
          </p:cNvSpPr>
          <p:nvPr>
            <p:ph type="title"/>
          </p:nvPr>
        </p:nvSpPr>
        <p:spPr/>
        <p:txBody>
          <a:bodyPr/>
          <a:lstStyle/>
          <a:p>
            <a:r>
              <a:rPr lang="en-IN" dirty="0"/>
              <a:t>Disadvantages of Simple RNN</a:t>
            </a:r>
          </a:p>
        </p:txBody>
      </p:sp>
      <p:sp>
        <p:nvSpPr>
          <p:cNvPr id="3" name="Content Placeholder 2">
            <a:extLst>
              <a:ext uri="{FF2B5EF4-FFF2-40B4-BE49-F238E27FC236}">
                <a16:creationId xmlns:a16="http://schemas.microsoft.com/office/drawing/2014/main" id="{11855432-C85D-140B-BF86-C1DB2979E196}"/>
              </a:ext>
            </a:extLst>
          </p:cNvPr>
          <p:cNvSpPr>
            <a:spLocks noGrp="1"/>
          </p:cNvSpPr>
          <p:nvPr>
            <p:ph idx="1"/>
          </p:nvPr>
        </p:nvSpPr>
        <p:spPr>
          <a:xfrm>
            <a:off x="1117601" y="2362201"/>
            <a:ext cx="10962215" cy="4368799"/>
          </a:xfrm>
          <a:ln>
            <a:solidFill>
              <a:srgbClr val="000000"/>
            </a:solidFill>
          </a:ln>
        </p:spPr>
        <p:txBody>
          <a:bodyPr/>
          <a:lstStyle/>
          <a:p>
            <a:pPr marL="0" indent="0" algn="just">
              <a:buNone/>
            </a:pPr>
            <a:r>
              <a:rPr lang="en-US" sz="1800" b="1" dirty="0"/>
              <a:t>Problem of Long Term Dependency: </a:t>
            </a:r>
          </a:p>
          <a:p>
            <a:pPr algn="just"/>
            <a:r>
              <a:rPr lang="en-US" sz="1800" dirty="0"/>
              <a:t>As compared to other neural network structures, RNNs are able to connect previous information to the present task, in the case of text data, using previous words to reveal the information about the present word in one complete sentence. However, </a:t>
            </a:r>
            <a:r>
              <a:rPr lang="en-US" sz="1800" b="1" dirty="0">
                <a:solidFill>
                  <a:srgbClr val="FF0000"/>
                </a:solidFill>
              </a:rPr>
              <a:t>unfortunately in practice, RNNs do not always do a good job in connecting the information, especially as the gap grows.</a:t>
            </a:r>
          </a:p>
          <a:p>
            <a:pPr algn="just"/>
            <a:r>
              <a:rPr lang="en-US" sz="1800" b="1" dirty="0" err="1"/>
              <a:t>Eg</a:t>
            </a:r>
            <a:r>
              <a:rPr lang="en-US" sz="1800" b="1" dirty="0"/>
              <a:t>:</a:t>
            </a:r>
            <a:r>
              <a:rPr lang="en-US" sz="1800" dirty="0"/>
              <a:t> Predict the last word in </a:t>
            </a:r>
            <a:r>
              <a:rPr lang="en-US" sz="1800" b="1" dirty="0">
                <a:solidFill>
                  <a:srgbClr val="FF0000"/>
                </a:solidFill>
              </a:rPr>
              <a:t>“the clouds are in the </a:t>
            </a:r>
            <a:r>
              <a:rPr lang="en-US" sz="1800" b="1" dirty="0">
                <a:solidFill>
                  <a:schemeClr val="tx1">
                    <a:lumMod val="75000"/>
                  </a:schemeClr>
                </a:solidFill>
              </a:rPr>
              <a:t>sky</a:t>
            </a:r>
            <a:r>
              <a:rPr lang="en-US" sz="1800" b="1" dirty="0">
                <a:solidFill>
                  <a:srgbClr val="FF0000"/>
                </a:solidFill>
              </a:rPr>
              <a:t>,” </a:t>
            </a:r>
            <a:r>
              <a:rPr lang="en-US" sz="1800" dirty="0"/>
              <a:t>any further context is not needed– Its easy to derive from the previous five words that “sky” is the next word. In such cases, </a:t>
            </a:r>
            <a:r>
              <a:rPr lang="en-US" sz="1800" b="1" dirty="0">
                <a:solidFill>
                  <a:srgbClr val="FF0000"/>
                </a:solidFill>
              </a:rPr>
              <a:t>where the gap between the relevant information and the place that it’s needed is small</a:t>
            </a:r>
            <a:r>
              <a:rPr lang="en-US" sz="1800" dirty="0">
                <a:solidFill>
                  <a:srgbClr val="FF0000"/>
                </a:solidFill>
              </a:rPr>
              <a:t>, </a:t>
            </a:r>
            <a:r>
              <a:rPr lang="en-US" sz="1800" b="1" dirty="0">
                <a:solidFill>
                  <a:srgbClr val="FF0000"/>
                </a:solidFill>
              </a:rPr>
              <a:t>RNNs can learn to use the past information easily.</a:t>
            </a:r>
          </a:p>
          <a:p>
            <a:pPr algn="just"/>
            <a:r>
              <a:rPr lang="en-US" sz="1800" dirty="0"/>
              <a:t>Consider </a:t>
            </a:r>
            <a:r>
              <a:rPr lang="en-US" sz="1800" b="1" dirty="0"/>
              <a:t>other </a:t>
            </a:r>
            <a:r>
              <a:rPr lang="en-US" sz="1800" b="1" dirty="0" err="1"/>
              <a:t>Eg</a:t>
            </a:r>
            <a:r>
              <a:rPr lang="en-US" sz="1800" b="1" dirty="0"/>
              <a:t>: </a:t>
            </a:r>
            <a:r>
              <a:rPr lang="en-US" sz="1800" dirty="0"/>
              <a:t>Predict the last word in the text </a:t>
            </a:r>
            <a:r>
              <a:rPr lang="en-US" sz="1800" b="1" dirty="0"/>
              <a:t>“I grew up in France … I speak fluent </a:t>
            </a:r>
            <a:r>
              <a:rPr lang="en-US" sz="1800" b="1" dirty="0">
                <a:solidFill>
                  <a:srgbClr val="FF0000"/>
                </a:solidFill>
              </a:rPr>
              <a:t>French.</a:t>
            </a:r>
            <a:r>
              <a:rPr lang="en-US" sz="1800" b="1" dirty="0"/>
              <a:t>” </a:t>
            </a:r>
            <a:r>
              <a:rPr lang="en-US" sz="1800" dirty="0"/>
              <a:t>Recent information suggests that the next word is probably the name of a language, but if we want to narrow down which language, we need the context of France, from further back. </a:t>
            </a:r>
            <a:r>
              <a:rPr lang="en-US" sz="1800" dirty="0">
                <a:solidFill>
                  <a:srgbClr val="FF0000"/>
                </a:solidFill>
              </a:rPr>
              <a:t>It’s entirely possible </a:t>
            </a:r>
            <a:r>
              <a:rPr lang="en-US" sz="1800" b="1" dirty="0">
                <a:solidFill>
                  <a:srgbClr val="FF0000"/>
                </a:solidFill>
              </a:rPr>
              <a:t>for the gap between the relevant information and the point where it is needed to become very large. </a:t>
            </a:r>
            <a:r>
              <a:rPr lang="en-US" sz="1800" dirty="0"/>
              <a:t>However, </a:t>
            </a:r>
            <a:r>
              <a:rPr lang="en-US" sz="1800" b="1" dirty="0"/>
              <a:t>RNNs generally do not do a good job </a:t>
            </a:r>
            <a:r>
              <a:rPr lang="en-US" sz="1800" dirty="0"/>
              <a:t>of modeling within such a situation. Alternatively, </a:t>
            </a:r>
            <a:r>
              <a:rPr lang="en-US" sz="1800" b="1" dirty="0"/>
              <a:t>we use LSTMs to solve this problem</a:t>
            </a:r>
            <a:r>
              <a:rPr lang="en-US" sz="1800" dirty="0"/>
              <a:t>.</a:t>
            </a:r>
            <a:endParaRPr lang="en-IN" sz="1800" dirty="0"/>
          </a:p>
        </p:txBody>
      </p:sp>
      <p:sp>
        <p:nvSpPr>
          <p:cNvPr id="4" name="Slide Number Placeholder 3">
            <a:extLst>
              <a:ext uri="{FF2B5EF4-FFF2-40B4-BE49-F238E27FC236}">
                <a16:creationId xmlns:a16="http://schemas.microsoft.com/office/drawing/2014/main" id="{6803024B-68D6-2AE4-B118-F07799508DDF}"/>
              </a:ext>
            </a:extLst>
          </p:cNvPr>
          <p:cNvSpPr>
            <a:spLocks noGrp="1"/>
          </p:cNvSpPr>
          <p:nvPr>
            <p:ph type="sldNum" sz="quarter" idx="12"/>
          </p:nvPr>
        </p:nvSpPr>
        <p:spPr/>
        <p:txBody>
          <a:bodyPr/>
          <a:lstStyle/>
          <a:p>
            <a:pPr>
              <a:defRPr/>
            </a:pPr>
            <a:fld id="{9AD681D7-8A59-4380-9311-10B86FF921AA}" type="slidenum">
              <a:rPr lang="en-US" altLang="zh-TW" smtClean="0"/>
              <a:pPr>
                <a:defRPr/>
              </a:pPr>
              <a:t>18</a:t>
            </a:fld>
            <a:endParaRPr lang="en-US" altLang="zh-TW"/>
          </a:p>
        </p:txBody>
      </p:sp>
      <p:sp>
        <p:nvSpPr>
          <p:cNvPr id="6" name="TextBox 5">
            <a:extLst>
              <a:ext uri="{FF2B5EF4-FFF2-40B4-BE49-F238E27FC236}">
                <a16:creationId xmlns:a16="http://schemas.microsoft.com/office/drawing/2014/main" id="{67621ABE-0857-4C6F-5EA2-DA362D7DDF63}"/>
              </a:ext>
            </a:extLst>
          </p:cNvPr>
          <p:cNvSpPr txBox="1"/>
          <p:nvPr/>
        </p:nvSpPr>
        <p:spPr>
          <a:xfrm>
            <a:off x="7155000" y="135522"/>
            <a:ext cx="4924816" cy="338554"/>
          </a:xfrm>
          <a:prstGeom prst="rect">
            <a:avLst/>
          </a:prstGeom>
          <a:noFill/>
          <a:ln>
            <a:solidFill>
              <a:srgbClr val="1D1D1D"/>
            </a:solidFill>
          </a:ln>
        </p:spPr>
        <p:txBody>
          <a:bodyPr wrap="square">
            <a:spAutoFit/>
          </a:bodyPr>
          <a:lstStyle/>
          <a:p>
            <a:r>
              <a:rPr lang="en-IN" sz="1600" dirty="0"/>
              <a:t>https://dagshub.com/blog/rnn-lstm-bidirectional-lstm/</a:t>
            </a:r>
          </a:p>
        </p:txBody>
      </p:sp>
      <p:sp>
        <p:nvSpPr>
          <p:cNvPr id="5" name="TextBox 4">
            <a:extLst>
              <a:ext uri="{FF2B5EF4-FFF2-40B4-BE49-F238E27FC236}">
                <a16:creationId xmlns:a16="http://schemas.microsoft.com/office/drawing/2014/main" id="{E71B6748-758E-2DC6-FBD3-320A830B357D}"/>
              </a:ext>
            </a:extLst>
          </p:cNvPr>
          <p:cNvSpPr txBox="1"/>
          <p:nvPr/>
        </p:nvSpPr>
        <p:spPr>
          <a:xfrm>
            <a:off x="13708" y="58314"/>
            <a:ext cx="4206597" cy="646331"/>
          </a:xfrm>
          <a:prstGeom prst="rect">
            <a:avLst/>
          </a:prstGeom>
          <a:noFill/>
          <a:ln>
            <a:solidFill>
              <a:schemeClr val="tx1"/>
            </a:solidFill>
          </a:ln>
        </p:spPr>
        <p:txBody>
          <a:bodyPr wrap="square" rtlCol="0">
            <a:spAutoFit/>
          </a:bodyPr>
          <a:lstStyle/>
          <a:p>
            <a:r>
              <a:rPr lang="en-IN" dirty="0"/>
              <a:t>Maharashtra is a beautiful state……. The language spoken there is </a:t>
            </a:r>
            <a:r>
              <a:rPr lang="en-IN" dirty="0">
                <a:solidFill>
                  <a:srgbClr val="FF0000"/>
                </a:solidFill>
              </a:rPr>
              <a:t>Marathi</a:t>
            </a:r>
          </a:p>
        </p:txBody>
      </p:sp>
    </p:spTree>
    <p:extLst>
      <p:ext uri="{BB962C8B-B14F-4D97-AF65-F5344CB8AC3E}">
        <p14:creationId xmlns:p14="http://schemas.microsoft.com/office/powerpoint/2010/main" val="5351312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BA79E-8B22-31F8-D5F9-232C67D7C5B8}"/>
              </a:ext>
            </a:extLst>
          </p:cNvPr>
          <p:cNvSpPr>
            <a:spLocks noGrp="1"/>
          </p:cNvSpPr>
          <p:nvPr>
            <p:ph type="title"/>
          </p:nvPr>
        </p:nvSpPr>
        <p:spPr/>
        <p:txBody>
          <a:bodyPr/>
          <a:lstStyle/>
          <a:p>
            <a:r>
              <a:rPr lang="en-IN" dirty="0"/>
              <a:t>Disadvantages of Simple RNN</a:t>
            </a:r>
          </a:p>
        </p:txBody>
      </p:sp>
      <p:sp>
        <p:nvSpPr>
          <p:cNvPr id="3" name="Content Placeholder 2">
            <a:extLst>
              <a:ext uri="{FF2B5EF4-FFF2-40B4-BE49-F238E27FC236}">
                <a16:creationId xmlns:a16="http://schemas.microsoft.com/office/drawing/2014/main" id="{48D217A7-5E31-1217-3FA9-FE9F0BD603F1}"/>
              </a:ext>
            </a:extLst>
          </p:cNvPr>
          <p:cNvSpPr>
            <a:spLocks noGrp="1"/>
          </p:cNvSpPr>
          <p:nvPr>
            <p:ph idx="1"/>
          </p:nvPr>
        </p:nvSpPr>
        <p:spPr>
          <a:xfrm>
            <a:off x="1117601" y="2362202"/>
            <a:ext cx="10932437" cy="4163858"/>
          </a:xfrm>
          <a:ln>
            <a:solidFill>
              <a:schemeClr val="tx1"/>
            </a:solidFill>
          </a:ln>
        </p:spPr>
        <p:txBody>
          <a:bodyPr/>
          <a:lstStyle/>
          <a:p>
            <a:pPr algn="just">
              <a:lnSpc>
                <a:spcPct val="150000"/>
              </a:lnSpc>
            </a:pPr>
            <a:r>
              <a:rPr lang="en-US" sz="1800" dirty="0"/>
              <a:t>Thus, simple </a:t>
            </a:r>
            <a:r>
              <a:rPr lang="en-US" sz="1800" b="1" dirty="0"/>
              <a:t>RNN works well with the short-term dependencies</a:t>
            </a:r>
            <a:r>
              <a:rPr lang="en-US" sz="1800" dirty="0"/>
              <a:t>, </a:t>
            </a:r>
            <a:r>
              <a:rPr lang="en-US" sz="1800" b="1" dirty="0"/>
              <a:t>but when it comes to long-term dependencies, it fails</a:t>
            </a:r>
            <a:r>
              <a:rPr lang="en-US" sz="1800" dirty="0"/>
              <a:t> to remember the long-term information. </a:t>
            </a:r>
          </a:p>
          <a:p>
            <a:pPr algn="just">
              <a:lnSpc>
                <a:spcPct val="150000"/>
              </a:lnSpc>
            </a:pPr>
            <a:r>
              <a:rPr lang="en-US" sz="1800" dirty="0"/>
              <a:t>This </a:t>
            </a:r>
            <a:r>
              <a:rPr lang="en-US" sz="1800" b="1" dirty="0"/>
              <a:t>problem arises </a:t>
            </a:r>
            <a:r>
              <a:rPr lang="en-US" sz="1800" dirty="0"/>
              <a:t>due to the </a:t>
            </a:r>
            <a:r>
              <a:rPr lang="en-US" sz="1800" b="1" dirty="0"/>
              <a:t>vanishing gradient or exploding gradient</a:t>
            </a:r>
            <a:r>
              <a:rPr lang="en-US" sz="1800" dirty="0"/>
              <a:t>. </a:t>
            </a:r>
          </a:p>
          <a:p>
            <a:pPr algn="just">
              <a:lnSpc>
                <a:spcPct val="150000"/>
              </a:lnSpc>
            </a:pPr>
            <a:r>
              <a:rPr lang="en-US" sz="1800" dirty="0"/>
              <a:t>When the </a:t>
            </a:r>
            <a:r>
              <a:rPr lang="en-US" sz="1800" b="1" dirty="0">
                <a:solidFill>
                  <a:srgbClr val="FF0000"/>
                </a:solidFill>
              </a:rPr>
              <a:t>gradients are propagated over many stages</a:t>
            </a:r>
            <a:r>
              <a:rPr lang="en-US" sz="1800" dirty="0">
                <a:solidFill>
                  <a:srgbClr val="FF0000"/>
                </a:solidFill>
              </a:rPr>
              <a:t>, it </a:t>
            </a:r>
            <a:r>
              <a:rPr lang="en-US" sz="1800" b="1" dirty="0">
                <a:solidFill>
                  <a:srgbClr val="FF0000"/>
                </a:solidFill>
              </a:rPr>
              <a:t>tends to vanish most of the times or sometimes explodes. </a:t>
            </a:r>
          </a:p>
          <a:p>
            <a:pPr algn="just">
              <a:lnSpc>
                <a:spcPct val="150000"/>
              </a:lnSpc>
            </a:pPr>
            <a:r>
              <a:rPr lang="en-US" sz="1800" dirty="0">
                <a:solidFill>
                  <a:srgbClr val="FF0000"/>
                </a:solidFill>
              </a:rPr>
              <a:t>The difficulty arises </a:t>
            </a:r>
            <a:r>
              <a:rPr lang="en-US" sz="1800" b="1" dirty="0">
                <a:solidFill>
                  <a:srgbClr val="FF0000"/>
                </a:solidFill>
              </a:rPr>
              <a:t>due to the exponentially smaller weight assigned to the long-term interactions compared to the short-term interactions</a:t>
            </a:r>
            <a:r>
              <a:rPr lang="en-US" sz="1800" dirty="0"/>
              <a:t>. </a:t>
            </a:r>
            <a:r>
              <a:rPr lang="en-US" sz="1800" dirty="0">
                <a:solidFill>
                  <a:srgbClr val="FF0000"/>
                </a:solidFill>
              </a:rPr>
              <a:t>It takes very long time to learn the long-term dependencies.  </a:t>
            </a:r>
            <a:endParaRPr lang="en-IN" sz="1800" dirty="0">
              <a:solidFill>
                <a:srgbClr val="FF0000"/>
              </a:solidFill>
            </a:endParaRPr>
          </a:p>
        </p:txBody>
      </p:sp>
      <p:sp>
        <p:nvSpPr>
          <p:cNvPr id="4" name="Slide Number Placeholder 3">
            <a:extLst>
              <a:ext uri="{FF2B5EF4-FFF2-40B4-BE49-F238E27FC236}">
                <a16:creationId xmlns:a16="http://schemas.microsoft.com/office/drawing/2014/main" id="{E0F6E38B-8123-0A00-E840-150BD4ED6B59}"/>
              </a:ext>
            </a:extLst>
          </p:cNvPr>
          <p:cNvSpPr>
            <a:spLocks noGrp="1"/>
          </p:cNvSpPr>
          <p:nvPr>
            <p:ph type="sldNum" sz="quarter" idx="12"/>
          </p:nvPr>
        </p:nvSpPr>
        <p:spPr/>
        <p:txBody>
          <a:bodyPr/>
          <a:lstStyle/>
          <a:p>
            <a:pPr>
              <a:defRPr/>
            </a:pPr>
            <a:fld id="{9AD681D7-8A59-4380-9311-10B86FF921AA}" type="slidenum">
              <a:rPr lang="en-US" altLang="zh-TW" smtClean="0"/>
              <a:pPr>
                <a:defRPr/>
              </a:pPr>
              <a:t>19</a:t>
            </a:fld>
            <a:endParaRPr lang="en-US" altLang="zh-TW"/>
          </a:p>
        </p:txBody>
      </p:sp>
    </p:spTree>
    <p:extLst>
      <p:ext uri="{BB962C8B-B14F-4D97-AF65-F5344CB8AC3E}">
        <p14:creationId xmlns:p14="http://schemas.microsoft.com/office/powerpoint/2010/main" val="9574108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DF33A-2605-ED65-F570-752C7C231F0C}"/>
              </a:ext>
            </a:extLst>
          </p:cNvPr>
          <p:cNvSpPr>
            <a:spLocks noGrp="1"/>
          </p:cNvSpPr>
          <p:nvPr>
            <p:ph type="title"/>
          </p:nvPr>
        </p:nvSpPr>
        <p:spPr/>
        <p:txBody>
          <a:bodyPr/>
          <a:lstStyle/>
          <a:p>
            <a:r>
              <a:rPr lang="en-US" dirty="0"/>
              <a:t>Problem of Vanishing Gradient</a:t>
            </a:r>
            <a:endParaRPr lang="en-IN" dirty="0"/>
          </a:p>
        </p:txBody>
      </p:sp>
      <p:pic>
        <p:nvPicPr>
          <p:cNvPr id="7" name="Content Placeholder 6">
            <a:extLst>
              <a:ext uri="{FF2B5EF4-FFF2-40B4-BE49-F238E27FC236}">
                <a16:creationId xmlns:a16="http://schemas.microsoft.com/office/drawing/2014/main" id="{A463D037-D8D4-C0B4-7A38-43BB1BDF3637}"/>
              </a:ext>
            </a:extLst>
          </p:cNvPr>
          <p:cNvPicPr>
            <a:picLocks noGrp="1" noChangeAspect="1"/>
          </p:cNvPicPr>
          <p:nvPr>
            <p:ph idx="1"/>
          </p:nvPr>
        </p:nvPicPr>
        <p:blipFill rotWithShape="1">
          <a:blip r:embed="rId2"/>
          <a:srcRect/>
          <a:stretch/>
        </p:blipFill>
        <p:spPr>
          <a:xfrm>
            <a:off x="0" y="2292263"/>
            <a:ext cx="4321479" cy="4565737"/>
          </a:xfrm>
          <a:prstGeom prst="rect">
            <a:avLst/>
          </a:prstGeom>
          <a:ln>
            <a:solidFill>
              <a:srgbClr val="1D1D1D"/>
            </a:solidFill>
          </a:ln>
        </p:spPr>
      </p:pic>
      <p:sp>
        <p:nvSpPr>
          <p:cNvPr id="4" name="Slide Number Placeholder 3">
            <a:extLst>
              <a:ext uri="{FF2B5EF4-FFF2-40B4-BE49-F238E27FC236}">
                <a16:creationId xmlns:a16="http://schemas.microsoft.com/office/drawing/2014/main" id="{D64F5FA7-4BE9-7B90-93DC-70709C19FE76}"/>
              </a:ext>
            </a:extLst>
          </p:cNvPr>
          <p:cNvSpPr>
            <a:spLocks noGrp="1"/>
          </p:cNvSpPr>
          <p:nvPr>
            <p:ph type="sldNum" sz="quarter" idx="12"/>
          </p:nvPr>
        </p:nvSpPr>
        <p:spPr/>
        <p:txBody>
          <a:bodyPr/>
          <a:lstStyle/>
          <a:p>
            <a:pPr>
              <a:defRPr/>
            </a:pPr>
            <a:fld id="{9AD681D7-8A59-4380-9311-10B86FF921AA}" type="slidenum">
              <a:rPr lang="en-US" altLang="zh-TW" smtClean="0"/>
              <a:pPr>
                <a:defRPr/>
              </a:pPr>
              <a:t>20</a:t>
            </a:fld>
            <a:endParaRPr lang="en-US" altLang="zh-TW"/>
          </a:p>
        </p:txBody>
      </p:sp>
      <p:sp>
        <p:nvSpPr>
          <p:cNvPr id="6" name="TextBox 5">
            <a:extLst>
              <a:ext uri="{FF2B5EF4-FFF2-40B4-BE49-F238E27FC236}">
                <a16:creationId xmlns:a16="http://schemas.microsoft.com/office/drawing/2014/main" id="{A02487CD-6492-E40C-A0C6-5D7EA4B1CBF9}"/>
              </a:ext>
            </a:extLst>
          </p:cNvPr>
          <p:cNvSpPr txBox="1"/>
          <p:nvPr/>
        </p:nvSpPr>
        <p:spPr>
          <a:xfrm>
            <a:off x="5513540" y="164068"/>
            <a:ext cx="6574076" cy="369332"/>
          </a:xfrm>
          <a:prstGeom prst="rect">
            <a:avLst/>
          </a:prstGeom>
          <a:noFill/>
          <a:ln>
            <a:solidFill>
              <a:srgbClr val="000000"/>
            </a:solidFill>
          </a:ln>
        </p:spPr>
        <p:txBody>
          <a:bodyPr wrap="square">
            <a:spAutoFit/>
          </a:bodyPr>
          <a:lstStyle/>
          <a:p>
            <a:r>
              <a:rPr lang="en-IN" b="1" dirty="0"/>
              <a:t>Best video: </a:t>
            </a:r>
            <a:r>
              <a:rPr lang="en-IN" dirty="0"/>
              <a:t>https://www.youtube.com/watch?v=uCrevbBh0zM</a:t>
            </a:r>
          </a:p>
        </p:txBody>
      </p:sp>
      <p:sp>
        <p:nvSpPr>
          <p:cNvPr id="9" name="TextBox 8">
            <a:extLst>
              <a:ext uri="{FF2B5EF4-FFF2-40B4-BE49-F238E27FC236}">
                <a16:creationId xmlns:a16="http://schemas.microsoft.com/office/drawing/2014/main" id="{A409F265-E986-FF65-0AE7-B4EC4D8300EA}"/>
              </a:ext>
            </a:extLst>
          </p:cNvPr>
          <p:cNvSpPr txBox="1"/>
          <p:nvPr/>
        </p:nvSpPr>
        <p:spPr>
          <a:xfrm>
            <a:off x="5513540" y="543838"/>
            <a:ext cx="6574076" cy="369332"/>
          </a:xfrm>
          <a:prstGeom prst="rect">
            <a:avLst/>
          </a:prstGeom>
          <a:noFill/>
          <a:ln>
            <a:solidFill>
              <a:schemeClr val="tx1"/>
            </a:solidFill>
          </a:ln>
        </p:spPr>
        <p:txBody>
          <a:bodyPr wrap="square">
            <a:spAutoFit/>
          </a:bodyPr>
          <a:lstStyle/>
          <a:p>
            <a:r>
              <a:rPr lang="en-IN" dirty="0"/>
              <a:t>https://www.javatpoint.com/keras-recurrent-neural-networks</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9D5A874B-DA8C-CA68-3D54-B5106196BE0B}"/>
                  </a:ext>
                </a:extLst>
              </p:cNvPr>
              <p:cNvSpPr txBox="1"/>
              <p:nvPr/>
            </p:nvSpPr>
            <p:spPr>
              <a:xfrm>
                <a:off x="4321479" y="2292263"/>
                <a:ext cx="7758337" cy="4475969"/>
              </a:xfrm>
              <a:prstGeom prst="rect">
                <a:avLst/>
              </a:prstGeom>
              <a:noFill/>
              <a:ln>
                <a:solidFill>
                  <a:srgbClr val="1D1D1D"/>
                </a:solidFill>
              </a:ln>
            </p:spPr>
            <p:txBody>
              <a:bodyPr wrap="square" rtlCol="0">
                <a:spAutoFit/>
              </a:bodyPr>
              <a:lstStyle/>
              <a:p>
                <a:pPr>
                  <a:spcBef>
                    <a:spcPts val="400"/>
                  </a:spcBef>
                  <a:spcAft>
                    <a:spcPts val="400"/>
                  </a:spcAft>
                </a:pPr>
                <a:r>
                  <a:rPr lang="en-IN" sz="1600" dirty="0"/>
                  <a:t>It occurs when</a:t>
                </a:r>
              </a:p>
              <a:p>
                <a:pPr marL="342900" indent="-342900">
                  <a:spcBef>
                    <a:spcPts val="400"/>
                  </a:spcBef>
                  <a:spcAft>
                    <a:spcPts val="400"/>
                  </a:spcAft>
                  <a:buAutoNum type="arabicPeriod"/>
                </a:pPr>
                <a:r>
                  <a:rPr lang="en-IN" sz="1600" dirty="0"/>
                  <a:t>Using DNN</a:t>
                </a:r>
              </a:p>
              <a:p>
                <a:pPr marL="342900" indent="-342900">
                  <a:spcBef>
                    <a:spcPts val="400"/>
                  </a:spcBef>
                  <a:spcAft>
                    <a:spcPts val="400"/>
                  </a:spcAft>
                  <a:buAutoNum type="arabicPeriod"/>
                </a:pPr>
                <a:r>
                  <a:rPr lang="en-IN" sz="1600" dirty="0"/>
                  <a:t>Using Sigmoid or Tanh activation function</a:t>
                </a:r>
              </a:p>
              <a:p>
                <a:pPr>
                  <a:spcBef>
                    <a:spcPts val="400"/>
                  </a:spcBef>
                  <a:spcAft>
                    <a:spcPts val="400"/>
                  </a:spcAft>
                </a:pPr>
                <a:r>
                  <a:rPr lang="en-IN" sz="1600" dirty="0"/>
                  <a:t> </a:t>
                </a:r>
                <a:r>
                  <a:rPr lang="en-IN" sz="1600" b="1" dirty="0"/>
                  <a:t>Explanation:</a:t>
                </a:r>
                <a:r>
                  <a:rPr lang="en-IN" sz="1600" dirty="0"/>
                  <a:t>  </a:t>
                </a:r>
              </a:p>
              <a:p>
                <a:pPr marL="174625" indent="-174625">
                  <a:spcBef>
                    <a:spcPts val="400"/>
                  </a:spcBef>
                  <a:spcAft>
                    <a:spcPts val="400"/>
                  </a:spcAft>
                  <a:buFont typeface="Arial" panose="020B0604020202020204" pitchFamily="34" charset="0"/>
                  <a:buChar char="•"/>
                </a:pPr>
                <a14:m>
                  <m:oMath xmlns:m="http://schemas.openxmlformats.org/officeDocument/2006/math">
                    <m:f>
                      <m:fPr>
                        <m:ctrlPr>
                          <a:rPr lang="en-IN" sz="1600" i="1" smtClean="0">
                            <a:latin typeface="Cambria Math" panose="02040503050406030204" pitchFamily="18" charset="0"/>
                          </a:rPr>
                        </m:ctrlPr>
                      </m:fPr>
                      <m:num>
                        <m:r>
                          <a:rPr lang="en-IN" sz="1600" i="1" smtClean="0">
                            <a:latin typeface="Cambria Math" panose="02040503050406030204" pitchFamily="18" charset="0"/>
                          </a:rPr>
                          <m:t>𝜕</m:t>
                        </m:r>
                        <m:r>
                          <a:rPr lang="en-IN" sz="1600" b="0" i="1" smtClean="0">
                            <a:latin typeface="Cambria Math" panose="02040503050406030204" pitchFamily="18" charset="0"/>
                          </a:rPr>
                          <m:t>𝐸</m:t>
                        </m:r>
                      </m:num>
                      <m:den>
                        <m:r>
                          <a:rPr lang="en-IN" sz="1600" i="1" smtClean="0">
                            <a:latin typeface="Cambria Math" panose="02040503050406030204" pitchFamily="18" charset="0"/>
                          </a:rPr>
                          <m:t>𝜕</m:t>
                        </m:r>
                        <m:r>
                          <a:rPr lang="en-IN" sz="1600" b="0" i="1" smtClean="0">
                            <a:latin typeface="Cambria Math" panose="02040503050406030204" pitchFamily="18" charset="0"/>
                          </a:rPr>
                          <m:t>𝑊</m:t>
                        </m:r>
                      </m:den>
                    </m:f>
                  </m:oMath>
                </a14:m>
                <a:r>
                  <a:rPr lang="en-IN" sz="1600" dirty="0"/>
                  <a:t> is multiplication of no of partial derivatives.</a:t>
                </a:r>
              </a:p>
              <a:p>
                <a:pPr marL="174625" indent="-174625">
                  <a:spcBef>
                    <a:spcPts val="400"/>
                  </a:spcBef>
                  <a:spcAft>
                    <a:spcPts val="400"/>
                  </a:spcAft>
                  <a:buFont typeface="Arial" panose="020B0604020202020204" pitchFamily="34" charset="0"/>
                  <a:buChar char="•"/>
                </a:pPr>
                <a:r>
                  <a:rPr lang="en-IN" sz="1600" dirty="0"/>
                  <a:t>Mostly sigmoid activations are used. As a result all partial derivatives will be between 0 and 1. Finally multiplication of many small numbers will be further smaller. 0.1*0.1*0.1*0.1= 0.0001. </a:t>
                </a:r>
              </a:p>
              <a:p>
                <a:pPr marL="174625" indent="-174625">
                  <a:spcBef>
                    <a:spcPts val="400"/>
                  </a:spcBef>
                  <a:spcAft>
                    <a:spcPts val="400"/>
                  </a:spcAft>
                  <a:buFont typeface="Arial" panose="020B0604020202020204" pitchFamily="34" charset="0"/>
                  <a:buChar char="•"/>
                </a:pPr>
                <a:r>
                  <a:rPr lang="en-IN" sz="1600" dirty="0"/>
                  <a:t>This partial derivative is multiplied with learning constant that is between 0 to 1, which makes </a:t>
                </a:r>
                <a:r>
                  <a:rPr lang="el-GR" sz="1600" dirty="0"/>
                  <a:t>Δ</a:t>
                </a:r>
                <a:r>
                  <a:rPr lang="en-IN" sz="1600" dirty="0"/>
                  <a:t>W and in turn W’ doesn’t change significantly. It shows negligible change. </a:t>
                </a:r>
              </a:p>
              <a:p>
                <a:pPr marL="174625" indent="-174625">
                  <a:spcBef>
                    <a:spcPts val="400"/>
                  </a:spcBef>
                  <a:spcAft>
                    <a:spcPts val="400"/>
                  </a:spcAft>
                  <a:buFont typeface="Arial" panose="020B0604020202020204" pitchFamily="34" charset="0"/>
                  <a:buChar char="•"/>
                </a:pPr>
                <a:r>
                  <a:rPr lang="en-IN" sz="1600" b="1" dirty="0"/>
                  <a:t>As weights are getting modified by too small amount (almost nil), loss remains constant and network stops learning.</a:t>
                </a:r>
              </a:p>
              <a:p>
                <a:pPr marL="174625" indent="-174625">
                  <a:spcBef>
                    <a:spcPts val="400"/>
                  </a:spcBef>
                  <a:spcAft>
                    <a:spcPts val="400"/>
                  </a:spcAft>
                  <a:buFont typeface="Arial" panose="020B0604020202020204" pitchFamily="34" charset="0"/>
                  <a:buChar char="•"/>
                </a:pPr>
                <a:r>
                  <a:rPr lang="en-IN" sz="1600" dirty="0"/>
                  <a:t>This problem is </a:t>
                </a:r>
                <a:r>
                  <a:rPr lang="en-IN" sz="1600" b="1" dirty="0"/>
                  <a:t>more aggravated </a:t>
                </a:r>
                <a:r>
                  <a:rPr lang="en-IN" sz="1600" dirty="0"/>
                  <a:t>in case on </a:t>
                </a:r>
                <a:r>
                  <a:rPr lang="en-IN" sz="1600" b="1" dirty="0"/>
                  <a:t>DNN on account of its depth.</a:t>
                </a:r>
              </a:p>
            </p:txBody>
          </p:sp>
        </mc:Choice>
        <mc:Fallback xmlns="">
          <p:sp>
            <p:nvSpPr>
              <p:cNvPr id="10" name="TextBox 9">
                <a:extLst>
                  <a:ext uri="{FF2B5EF4-FFF2-40B4-BE49-F238E27FC236}">
                    <a16:creationId xmlns:a16="http://schemas.microsoft.com/office/drawing/2014/main" id="{9D5A874B-DA8C-CA68-3D54-B5106196BE0B}"/>
                  </a:ext>
                </a:extLst>
              </p:cNvPr>
              <p:cNvSpPr txBox="1">
                <a:spLocks noRot="1" noChangeAspect="1" noMove="1" noResize="1" noEditPoints="1" noAdjustHandles="1" noChangeArrowheads="1" noChangeShapeType="1" noTextEdit="1"/>
              </p:cNvSpPr>
              <p:nvPr/>
            </p:nvSpPr>
            <p:spPr>
              <a:xfrm>
                <a:off x="4321479" y="2292263"/>
                <a:ext cx="7758337" cy="4475969"/>
              </a:xfrm>
              <a:prstGeom prst="rect">
                <a:avLst/>
              </a:prstGeom>
              <a:blipFill>
                <a:blip r:embed="rId3"/>
                <a:stretch>
                  <a:fillRect l="-392" t="-272" b="-815"/>
                </a:stretch>
              </a:blipFill>
              <a:ln>
                <a:solidFill>
                  <a:srgbClr val="1D1D1D"/>
                </a:solidFill>
              </a:ln>
            </p:spPr>
            <p:txBody>
              <a:bodyPr/>
              <a:lstStyle/>
              <a:p>
                <a:r>
                  <a:rPr lang="en-IN">
                    <a:noFill/>
                  </a:rPr>
                  <a:t> </a:t>
                </a:r>
              </a:p>
            </p:txBody>
          </p:sp>
        </mc:Fallback>
      </mc:AlternateContent>
    </p:spTree>
    <p:extLst>
      <p:ext uri="{BB962C8B-B14F-4D97-AF65-F5344CB8AC3E}">
        <p14:creationId xmlns:p14="http://schemas.microsoft.com/office/powerpoint/2010/main" val="28281417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38F75-B8BE-9C9A-16F1-74A1F4DCAC93}"/>
              </a:ext>
            </a:extLst>
          </p:cNvPr>
          <p:cNvSpPr>
            <a:spLocks noGrp="1"/>
          </p:cNvSpPr>
          <p:nvPr>
            <p:ph type="title"/>
          </p:nvPr>
        </p:nvSpPr>
        <p:spPr/>
        <p:txBody>
          <a:bodyPr/>
          <a:lstStyle/>
          <a:p>
            <a:r>
              <a:rPr kumimoji="1" lang="en-US" sz="3600" b="1" i="0" u="none" strike="noStrike" kern="1200" cap="none" spc="0" normalizeH="0" baseline="0" noProof="0" dirty="0">
                <a:ln>
                  <a:noFill/>
                </a:ln>
                <a:solidFill>
                  <a:srgbClr val="006666"/>
                </a:solidFill>
                <a:effectLst/>
                <a:uLnTx/>
                <a:uFillTx/>
                <a:latin typeface="Arial"/>
                <a:ea typeface="PMingLiU" panose="02020500000000000000" pitchFamily="18" charset="-120"/>
                <a:cs typeface="+mj-cs"/>
              </a:rPr>
              <a:t>Problem of Vanishing Gradient</a:t>
            </a:r>
            <a:endParaRPr lang="en-IN" dirty="0"/>
          </a:p>
        </p:txBody>
      </p:sp>
      <p:sp>
        <p:nvSpPr>
          <p:cNvPr id="3" name="Content Placeholder 2">
            <a:extLst>
              <a:ext uri="{FF2B5EF4-FFF2-40B4-BE49-F238E27FC236}">
                <a16:creationId xmlns:a16="http://schemas.microsoft.com/office/drawing/2014/main" id="{A5A102B8-4DE7-0643-9FA2-86D40C7F9181}"/>
              </a:ext>
            </a:extLst>
          </p:cNvPr>
          <p:cNvSpPr>
            <a:spLocks noGrp="1"/>
          </p:cNvSpPr>
          <p:nvPr>
            <p:ph idx="1"/>
          </p:nvPr>
        </p:nvSpPr>
        <p:spPr>
          <a:xfrm>
            <a:off x="1016000" y="2362201"/>
            <a:ext cx="11074399" cy="4495799"/>
          </a:xfrm>
          <a:ln>
            <a:solidFill>
              <a:srgbClr val="000000"/>
            </a:solidFill>
          </a:ln>
        </p:spPr>
        <p:txBody>
          <a:bodyPr/>
          <a:lstStyle/>
          <a:p>
            <a:pPr marL="174625" indent="-174625"/>
            <a:r>
              <a:rPr lang="en-IN" sz="1600" dirty="0">
                <a:ea typeface="+mn-ea"/>
              </a:rPr>
              <a:t>Basically </a:t>
            </a:r>
            <a:r>
              <a:rPr lang="en-IN" sz="1600" b="1" dirty="0">
                <a:ea typeface="+mn-ea"/>
              </a:rPr>
              <a:t>sigmoid and Tanh activation functions squeeze the output which may be too high or low between 0 and 1. </a:t>
            </a:r>
            <a:r>
              <a:rPr lang="en-IN" sz="1600" dirty="0">
                <a:ea typeface="+mn-ea"/>
              </a:rPr>
              <a:t>This also is </a:t>
            </a:r>
            <a:r>
              <a:rPr lang="en-IN" sz="1600" b="1" dirty="0">
                <a:ea typeface="+mn-ea"/>
              </a:rPr>
              <a:t>a reason behind vanishing gradient problem</a:t>
            </a:r>
            <a:r>
              <a:rPr lang="en-IN" sz="1600" dirty="0">
                <a:ea typeface="+mn-ea"/>
              </a:rPr>
              <a:t>.</a:t>
            </a:r>
          </a:p>
          <a:p>
            <a:pPr marL="174625" indent="-174625"/>
            <a:r>
              <a:rPr lang="en-IN" sz="1600" b="1" dirty="0">
                <a:ea typeface="+mn-ea"/>
              </a:rPr>
              <a:t>How to recognise it?</a:t>
            </a:r>
          </a:p>
          <a:p>
            <a:pPr marL="801688" indent="-174625">
              <a:buFont typeface="Wingdings" panose="05000000000000000000" pitchFamily="2" charset="2"/>
              <a:buChar char="ü"/>
            </a:pPr>
            <a:r>
              <a:rPr lang="en-IN" sz="1600" dirty="0">
                <a:ea typeface="+mn-ea"/>
              </a:rPr>
              <a:t>Loss starts remaining constant.</a:t>
            </a:r>
          </a:p>
          <a:p>
            <a:pPr marL="801688" indent="-174625">
              <a:buFont typeface="Wingdings" panose="05000000000000000000" pitchFamily="2" charset="2"/>
              <a:buChar char="ü"/>
            </a:pPr>
            <a:r>
              <a:rPr lang="en-IN" sz="1600" dirty="0">
                <a:ea typeface="+mn-ea"/>
              </a:rPr>
              <a:t>Negligible change in weights with number of iterations</a:t>
            </a:r>
          </a:p>
          <a:p>
            <a:pPr marL="174625" indent="-174625"/>
            <a:r>
              <a:rPr lang="en-IN" sz="1600" b="1" dirty="0">
                <a:ea typeface="+mn-ea"/>
              </a:rPr>
              <a:t>How to overcome it?</a:t>
            </a:r>
          </a:p>
          <a:p>
            <a:pPr marL="801688" indent="-174625">
              <a:buFont typeface="Wingdings" panose="05000000000000000000" pitchFamily="2" charset="2"/>
              <a:buChar char="ü"/>
            </a:pPr>
            <a:r>
              <a:rPr lang="en-IN" sz="1600" b="1" dirty="0">
                <a:ea typeface="+mn-ea"/>
              </a:rPr>
              <a:t>Reduce model complexity </a:t>
            </a:r>
            <a:r>
              <a:rPr lang="en-IN" sz="1600" dirty="0" err="1">
                <a:ea typeface="+mn-ea"/>
              </a:rPr>
              <a:t>i.e</a:t>
            </a:r>
            <a:r>
              <a:rPr lang="en-IN" sz="1600" dirty="0">
                <a:ea typeface="+mn-ea"/>
              </a:rPr>
              <a:t> </a:t>
            </a:r>
            <a:r>
              <a:rPr lang="en-IN" sz="1600" b="1" dirty="0">
                <a:ea typeface="+mn-ea"/>
              </a:rPr>
              <a:t>reduce depth of netw</a:t>
            </a:r>
            <a:r>
              <a:rPr lang="en-IN" sz="1600" dirty="0">
                <a:ea typeface="+mn-ea"/>
              </a:rPr>
              <a:t>ork. </a:t>
            </a:r>
            <a:r>
              <a:rPr lang="en-IN" sz="1600" b="1" dirty="0">
                <a:ea typeface="+mn-ea"/>
              </a:rPr>
              <a:t>Not a good solution </a:t>
            </a:r>
            <a:r>
              <a:rPr lang="en-IN" sz="1600" dirty="0">
                <a:ea typeface="+mn-ea"/>
              </a:rPr>
              <a:t>as we may </a:t>
            </a:r>
            <a:r>
              <a:rPr lang="en-IN" sz="1600" b="1" dirty="0">
                <a:ea typeface="+mn-ea"/>
              </a:rPr>
              <a:t>not be able to capture complex features.</a:t>
            </a:r>
          </a:p>
          <a:p>
            <a:pPr marL="801688" indent="-174625">
              <a:buFont typeface="Wingdings" panose="05000000000000000000" pitchFamily="2" charset="2"/>
              <a:buChar char="ü"/>
            </a:pPr>
            <a:r>
              <a:rPr lang="en-IN" sz="1600" b="1" dirty="0">
                <a:ea typeface="+mn-ea"/>
              </a:rPr>
              <a:t>Use </a:t>
            </a:r>
            <a:r>
              <a:rPr lang="en-IN" sz="1600" b="1" dirty="0" err="1">
                <a:ea typeface="+mn-ea"/>
              </a:rPr>
              <a:t>ReLu</a:t>
            </a:r>
            <a:r>
              <a:rPr lang="en-IN" sz="1600" b="1" dirty="0">
                <a:ea typeface="+mn-ea"/>
              </a:rPr>
              <a:t> activation function </a:t>
            </a:r>
            <a:r>
              <a:rPr lang="en-IN" sz="1600" dirty="0">
                <a:ea typeface="+mn-ea"/>
              </a:rPr>
              <a:t>which brings output between </a:t>
            </a:r>
            <a:r>
              <a:rPr lang="en-IN" sz="1600" dirty="0" err="1">
                <a:ea typeface="+mn-ea"/>
              </a:rPr>
              <a:t>eg</a:t>
            </a:r>
            <a:r>
              <a:rPr lang="en-IN" sz="1600" dirty="0">
                <a:ea typeface="+mn-ea"/>
              </a:rPr>
              <a:t>: 0 to 1000 from -1000 to 1000 as opposed to Sigmoid between 0 to 1. </a:t>
            </a:r>
            <a:r>
              <a:rPr lang="en-IN" sz="1600" b="1" dirty="0">
                <a:ea typeface="+mn-ea"/>
              </a:rPr>
              <a:t>As a result if output is negative, derivative will be 0 else it will be 1 Therefore, if derivatives are 1,  multiplication of derivatives remains 1 and vanishing gradient problem does not occur</a:t>
            </a:r>
            <a:r>
              <a:rPr lang="en-IN" sz="1600" dirty="0">
                <a:ea typeface="+mn-ea"/>
              </a:rPr>
              <a:t>. </a:t>
            </a:r>
            <a:r>
              <a:rPr lang="en-IN" sz="1600" b="1" dirty="0">
                <a:ea typeface="+mn-ea"/>
              </a:rPr>
              <a:t>But in case derivative is 0, product of derivatives will be 0 and weight will not get updated.</a:t>
            </a:r>
          </a:p>
          <a:p>
            <a:pPr marL="801688" indent="-174625">
              <a:buFont typeface="Wingdings" panose="05000000000000000000" pitchFamily="2" charset="2"/>
              <a:buChar char="ü"/>
            </a:pPr>
            <a:r>
              <a:rPr lang="en-IN" sz="1600" b="1" dirty="0">
                <a:ea typeface="+mn-ea"/>
              </a:rPr>
              <a:t>Use proper weight initialisation techniques </a:t>
            </a:r>
            <a:r>
              <a:rPr lang="en-IN" sz="1600" dirty="0">
                <a:ea typeface="+mn-ea"/>
              </a:rPr>
              <a:t>instead of choosing them randomly.</a:t>
            </a:r>
          </a:p>
          <a:p>
            <a:pPr marL="801688" indent="-174625">
              <a:buFont typeface="Wingdings" panose="05000000000000000000" pitchFamily="2" charset="2"/>
              <a:buChar char="ü"/>
            </a:pPr>
            <a:r>
              <a:rPr lang="en-IN" sz="1600" b="1" dirty="0">
                <a:ea typeface="+mn-ea"/>
              </a:rPr>
              <a:t>Use batch normalization </a:t>
            </a:r>
            <a:r>
              <a:rPr lang="en-IN" sz="1600" dirty="0">
                <a:ea typeface="+mn-ea"/>
              </a:rPr>
              <a:t>– a network layer</a:t>
            </a:r>
          </a:p>
          <a:p>
            <a:pPr marL="801688" indent="-174625">
              <a:buFont typeface="Wingdings" panose="05000000000000000000" pitchFamily="2" charset="2"/>
              <a:buChar char="ü"/>
            </a:pPr>
            <a:r>
              <a:rPr lang="en-IN" sz="1600" b="1" dirty="0">
                <a:ea typeface="+mn-ea"/>
              </a:rPr>
              <a:t>Use residual network </a:t>
            </a:r>
          </a:p>
          <a:p>
            <a:pPr marL="801688" indent="-174625">
              <a:buFont typeface="Wingdings" panose="05000000000000000000" pitchFamily="2" charset="2"/>
              <a:buChar char="ü"/>
            </a:pPr>
            <a:r>
              <a:rPr lang="en-IN" sz="1600" b="1" dirty="0">
                <a:ea typeface="+mn-ea"/>
              </a:rPr>
              <a:t>Use LSTM, GRUs</a:t>
            </a:r>
          </a:p>
          <a:p>
            <a:pPr marL="801688" indent="-174625">
              <a:buFont typeface="Wingdings" panose="05000000000000000000" pitchFamily="2" charset="2"/>
              <a:buChar char="ü"/>
            </a:pPr>
            <a:endParaRPr lang="en-IN" sz="1600" dirty="0">
              <a:ea typeface="+mn-ea"/>
            </a:endParaRPr>
          </a:p>
          <a:p>
            <a:pPr marL="801688" indent="-174625">
              <a:buFont typeface="Wingdings" panose="05000000000000000000" pitchFamily="2" charset="2"/>
              <a:buChar char="ü"/>
            </a:pPr>
            <a:endParaRPr lang="en-IN" sz="1600" dirty="0">
              <a:ea typeface="+mn-ea"/>
            </a:endParaRPr>
          </a:p>
          <a:p>
            <a:pPr marL="801688" indent="-174625">
              <a:buFont typeface="Wingdings" panose="05000000000000000000" pitchFamily="2" charset="2"/>
              <a:buChar char="ü"/>
            </a:pPr>
            <a:endParaRPr lang="en-IN" sz="1600" dirty="0">
              <a:ea typeface="+mn-ea"/>
            </a:endParaRPr>
          </a:p>
          <a:p>
            <a:pPr marL="801688" indent="-174625">
              <a:buFont typeface="Wingdings" panose="05000000000000000000" pitchFamily="2" charset="2"/>
              <a:buChar char="ü"/>
            </a:pPr>
            <a:endParaRPr lang="en-IN" sz="1600" dirty="0">
              <a:ea typeface="+mn-ea"/>
            </a:endParaRPr>
          </a:p>
          <a:p>
            <a:pPr marL="801688" indent="-174625">
              <a:buFont typeface="Wingdings" panose="05000000000000000000" pitchFamily="2" charset="2"/>
              <a:buChar char="ü"/>
            </a:pPr>
            <a:endParaRPr lang="en-IN" sz="1600" dirty="0">
              <a:ea typeface="+mn-ea"/>
            </a:endParaRPr>
          </a:p>
          <a:p>
            <a:endParaRPr lang="en-IN" sz="1600" dirty="0">
              <a:ea typeface="+mn-ea"/>
            </a:endParaRPr>
          </a:p>
          <a:p>
            <a:endParaRPr lang="en-IN" sz="1600" dirty="0">
              <a:ea typeface="+mn-ea"/>
            </a:endParaRPr>
          </a:p>
        </p:txBody>
      </p:sp>
      <p:sp>
        <p:nvSpPr>
          <p:cNvPr id="4" name="Slide Number Placeholder 3">
            <a:extLst>
              <a:ext uri="{FF2B5EF4-FFF2-40B4-BE49-F238E27FC236}">
                <a16:creationId xmlns:a16="http://schemas.microsoft.com/office/drawing/2014/main" id="{33403DF0-8975-93EF-66EE-2C00CD566502}"/>
              </a:ext>
            </a:extLst>
          </p:cNvPr>
          <p:cNvSpPr>
            <a:spLocks noGrp="1"/>
          </p:cNvSpPr>
          <p:nvPr>
            <p:ph type="sldNum" sz="quarter" idx="12"/>
          </p:nvPr>
        </p:nvSpPr>
        <p:spPr/>
        <p:txBody>
          <a:bodyPr/>
          <a:lstStyle/>
          <a:p>
            <a:pPr>
              <a:defRPr/>
            </a:pPr>
            <a:fld id="{9AD681D7-8A59-4380-9311-10B86FF921AA}" type="slidenum">
              <a:rPr lang="en-US" altLang="zh-TW" smtClean="0"/>
              <a:pPr>
                <a:defRPr/>
              </a:pPr>
              <a:t>21</a:t>
            </a:fld>
            <a:endParaRPr lang="en-US" altLang="zh-TW"/>
          </a:p>
        </p:txBody>
      </p:sp>
    </p:spTree>
    <p:extLst>
      <p:ext uri="{BB962C8B-B14F-4D97-AF65-F5344CB8AC3E}">
        <p14:creationId xmlns:p14="http://schemas.microsoft.com/office/powerpoint/2010/main" val="35945840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ED9AF-050F-ED19-D462-9E1CC6299C5B}"/>
              </a:ext>
            </a:extLst>
          </p:cNvPr>
          <p:cNvSpPr>
            <a:spLocks noGrp="1"/>
          </p:cNvSpPr>
          <p:nvPr>
            <p:ph type="title"/>
          </p:nvPr>
        </p:nvSpPr>
        <p:spPr/>
        <p:txBody>
          <a:bodyPr/>
          <a:lstStyle/>
          <a:p>
            <a:r>
              <a:rPr lang="en-IN" dirty="0"/>
              <a:t>Batch Normalization</a:t>
            </a:r>
          </a:p>
        </p:txBody>
      </p:sp>
      <p:sp>
        <p:nvSpPr>
          <p:cNvPr id="3" name="Content Placeholder 2">
            <a:extLst>
              <a:ext uri="{FF2B5EF4-FFF2-40B4-BE49-F238E27FC236}">
                <a16:creationId xmlns:a16="http://schemas.microsoft.com/office/drawing/2014/main" id="{2E742C54-B257-4366-F2A9-837633CF383A}"/>
              </a:ext>
            </a:extLst>
          </p:cNvPr>
          <p:cNvSpPr>
            <a:spLocks noGrp="1"/>
          </p:cNvSpPr>
          <p:nvPr>
            <p:ph idx="1"/>
          </p:nvPr>
        </p:nvSpPr>
        <p:spPr>
          <a:xfrm>
            <a:off x="783167" y="1905000"/>
            <a:ext cx="11296649" cy="4826000"/>
          </a:xfrm>
          <a:ln>
            <a:solidFill>
              <a:schemeClr val="tx1"/>
            </a:solidFill>
          </a:ln>
        </p:spPr>
        <p:txBody>
          <a:bodyPr/>
          <a:lstStyle/>
          <a:p>
            <a:pPr marL="0" indent="0" algn="just">
              <a:spcBef>
                <a:spcPts val="0"/>
              </a:spcBef>
              <a:spcAft>
                <a:spcPts val="600"/>
              </a:spcAft>
              <a:buNone/>
            </a:pPr>
            <a:r>
              <a:rPr lang="en-US" sz="1600" dirty="0"/>
              <a:t>Imagine you're trying to </a:t>
            </a:r>
            <a:r>
              <a:rPr lang="en-US" sz="1600" b="1" dirty="0"/>
              <a:t>teach a student to summarize a long story</a:t>
            </a:r>
            <a:r>
              <a:rPr lang="en-US" sz="1600" dirty="0"/>
              <a:t>. The </a:t>
            </a:r>
            <a:r>
              <a:rPr lang="en-US" sz="1600" b="1" dirty="0"/>
              <a:t>student reads the story word by word.</a:t>
            </a:r>
          </a:p>
          <a:p>
            <a:pPr marL="182563" indent="-182563" algn="just">
              <a:spcBef>
                <a:spcPts val="0"/>
              </a:spcBef>
              <a:spcAft>
                <a:spcPts val="600"/>
              </a:spcAft>
            </a:pPr>
            <a:r>
              <a:rPr lang="en-US" sz="1600" b="1" dirty="0"/>
              <a:t>RNN Without Vanishing Gradients: </a:t>
            </a:r>
            <a:r>
              <a:rPr lang="en-US" sz="1600" dirty="0"/>
              <a:t>A good student would remember the key details from the beginning of the story to understand the ending and provide a good summary.</a:t>
            </a:r>
          </a:p>
          <a:p>
            <a:pPr marL="182563" indent="-182563" algn="just">
              <a:spcBef>
                <a:spcPts val="0"/>
              </a:spcBef>
              <a:spcAft>
                <a:spcPts val="600"/>
              </a:spcAft>
            </a:pPr>
            <a:r>
              <a:rPr lang="en-US" sz="1600" b="1" dirty="0"/>
              <a:t>RNN With Vanishing Gradients: </a:t>
            </a:r>
            <a:r>
              <a:rPr lang="en-US" sz="1600" dirty="0"/>
              <a:t>A student suffering from the vanishing gradient problem would be like a </a:t>
            </a:r>
            <a:r>
              <a:rPr lang="en-US" sz="1600" b="1" dirty="0"/>
              <a:t>student who has a very short memory</a:t>
            </a:r>
            <a:r>
              <a:rPr lang="en-US" sz="1600" dirty="0"/>
              <a:t>. They might remember the last few sentences, but the crucial information from the beginning of the story fades away. </a:t>
            </a:r>
            <a:r>
              <a:rPr lang="en-US" sz="1600" b="1" dirty="0"/>
              <a:t>By the time they reach the end, they've forgotten the initial context, leading to a poor summary</a:t>
            </a:r>
            <a:r>
              <a:rPr lang="en-US" sz="1600" dirty="0"/>
              <a:t>. </a:t>
            </a:r>
          </a:p>
          <a:p>
            <a:pPr marL="182563" indent="-182563" algn="just">
              <a:spcBef>
                <a:spcPts val="0"/>
              </a:spcBef>
              <a:spcAft>
                <a:spcPts val="600"/>
              </a:spcAft>
            </a:pPr>
            <a:r>
              <a:rPr lang="en-US" sz="1600" b="1" dirty="0"/>
              <a:t>The "gradients" are like the feedback or corrections the teacher gives the student</a:t>
            </a:r>
            <a:r>
              <a:rPr lang="en-US" sz="1600" dirty="0"/>
              <a:t>. If the </a:t>
            </a:r>
            <a:r>
              <a:rPr lang="en-US" sz="1600" b="1" dirty="0"/>
              <a:t>student consistently makes errors early on, but the teacher's corrections (gradients) get smaller </a:t>
            </a:r>
            <a:r>
              <a:rPr lang="en-US" sz="1600" dirty="0"/>
              <a:t>and smaller as the story progresses, the student will never properly adjust their understanding and learn to remember those early details. </a:t>
            </a:r>
          </a:p>
          <a:p>
            <a:pPr marL="182563" indent="-182563" algn="just">
              <a:spcBef>
                <a:spcPts val="0"/>
              </a:spcBef>
              <a:spcAft>
                <a:spcPts val="600"/>
              </a:spcAft>
            </a:pPr>
            <a:r>
              <a:rPr lang="en-US" sz="1600" b="1" dirty="0"/>
              <a:t>How Batch Normalization helps (or tries to)- let's introduce Batch Normalization (BN) into this learning scenario: </a:t>
            </a:r>
          </a:p>
          <a:p>
            <a:pPr marL="182563" indent="-182563" algn="just">
              <a:spcBef>
                <a:spcPts val="0"/>
              </a:spcBef>
              <a:spcAft>
                <a:spcPts val="600"/>
              </a:spcAft>
            </a:pPr>
            <a:r>
              <a:rPr lang="en-US" sz="1600" dirty="0"/>
              <a:t>Instead of having the </a:t>
            </a:r>
            <a:r>
              <a:rPr lang="en-US" sz="1600" b="1" dirty="0"/>
              <a:t>student read the entire story at once, the student summarizes small parts of the story (a "batch</a:t>
            </a:r>
            <a:r>
              <a:rPr lang="en-US" sz="1600" dirty="0"/>
              <a:t>" of words/sentences) at a time. </a:t>
            </a:r>
            <a:r>
              <a:rPr lang="en-US" sz="1600" b="1" dirty="0"/>
              <a:t>After each part, the following occurs:</a:t>
            </a:r>
          </a:p>
          <a:p>
            <a:pPr marL="182563" indent="-182563" algn="just">
              <a:spcBef>
                <a:spcPts val="0"/>
              </a:spcBef>
              <a:spcAft>
                <a:spcPts val="600"/>
              </a:spcAft>
            </a:pPr>
            <a:r>
              <a:rPr lang="en-US" sz="1600" b="1" dirty="0"/>
              <a:t>Understanding is checked and standardized: </a:t>
            </a:r>
            <a:r>
              <a:rPr lang="en-US" sz="1600" dirty="0"/>
              <a:t>The student's comprehension of the current part is reviewed. If their understanding is inconsistent, they are guided to a more consistent comprehension for that part.</a:t>
            </a:r>
          </a:p>
          <a:p>
            <a:pPr marL="182563" indent="-182563" algn="just">
              <a:spcBef>
                <a:spcPts val="0"/>
              </a:spcBef>
              <a:spcAft>
                <a:spcPts val="600"/>
              </a:spcAft>
            </a:pPr>
            <a:r>
              <a:rPr lang="en-US" sz="1600" b="1" dirty="0"/>
              <a:t>A good starting point for the next part is ensured: By normalizing the understanding of the current part</a:t>
            </a:r>
            <a:r>
              <a:rPr lang="en-US" sz="1600" dirty="0"/>
              <a:t>, the inputs to  their "memory" for the next part are more stable.</a:t>
            </a:r>
          </a:p>
          <a:p>
            <a:pPr algn="just">
              <a:spcBef>
                <a:spcPts val="0"/>
              </a:spcBef>
              <a:spcAft>
                <a:spcPts val="600"/>
              </a:spcAft>
            </a:pPr>
            <a:endParaRPr lang="en-US" sz="1600" dirty="0"/>
          </a:p>
          <a:p>
            <a:endParaRPr lang="en-IN" dirty="0"/>
          </a:p>
        </p:txBody>
      </p:sp>
      <p:sp>
        <p:nvSpPr>
          <p:cNvPr id="4" name="Slide Number Placeholder 3">
            <a:extLst>
              <a:ext uri="{FF2B5EF4-FFF2-40B4-BE49-F238E27FC236}">
                <a16:creationId xmlns:a16="http://schemas.microsoft.com/office/drawing/2014/main" id="{C3E69B2C-1929-736E-8E97-C1D33A1869DA}"/>
              </a:ext>
            </a:extLst>
          </p:cNvPr>
          <p:cNvSpPr>
            <a:spLocks noGrp="1"/>
          </p:cNvSpPr>
          <p:nvPr>
            <p:ph type="sldNum" sz="quarter" idx="12"/>
          </p:nvPr>
        </p:nvSpPr>
        <p:spPr/>
        <p:txBody>
          <a:bodyPr/>
          <a:lstStyle/>
          <a:p>
            <a:pPr>
              <a:defRPr/>
            </a:pPr>
            <a:fld id="{9AD681D7-8A59-4380-9311-10B86FF921AA}" type="slidenum">
              <a:rPr lang="en-US" altLang="zh-TW" smtClean="0"/>
              <a:pPr>
                <a:defRPr/>
              </a:pPr>
              <a:t>22</a:t>
            </a:fld>
            <a:endParaRPr lang="en-US" altLang="zh-TW"/>
          </a:p>
        </p:txBody>
      </p:sp>
    </p:spTree>
    <p:extLst>
      <p:ext uri="{BB962C8B-B14F-4D97-AF65-F5344CB8AC3E}">
        <p14:creationId xmlns:p14="http://schemas.microsoft.com/office/powerpoint/2010/main" val="8252620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F8FB0-CCDA-3B91-1FF9-C3EB670263A0}"/>
              </a:ext>
            </a:extLst>
          </p:cNvPr>
          <p:cNvSpPr>
            <a:spLocks noGrp="1"/>
          </p:cNvSpPr>
          <p:nvPr>
            <p:ph type="title"/>
          </p:nvPr>
        </p:nvSpPr>
        <p:spPr/>
        <p:txBody>
          <a:bodyPr/>
          <a:lstStyle/>
          <a:p>
            <a:r>
              <a:rPr lang="en-IN" dirty="0"/>
              <a:t>Batch Normalization</a:t>
            </a:r>
          </a:p>
        </p:txBody>
      </p:sp>
      <p:sp>
        <p:nvSpPr>
          <p:cNvPr id="3" name="Content Placeholder 2">
            <a:extLst>
              <a:ext uri="{FF2B5EF4-FFF2-40B4-BE49-F238E27FC236}">
                <a16:creationId xmlns:a16="http://schemas.microsoft.com/office/drawing/2014/main" id="{316EABB3-471A-B60B-97F9-B01C7D8A7334}"/>
              </a:ext>
            </a:extLst>
          </p:cNvPr>
          <p:cNvSpPr>
            <a:spLocks noGrp="1"/>
          </p:cNvSpPr>
          <p:nvPr>
            <p:ph idx="1"/>
          </p:nvPr>
        </p:nvSpPr>
        <p:spPr>
          <a:xfrm>
            <a:off x="1117601" y="2362201"/>
            <a:ext cx="11074399" cy="3724275"/>
          </a:xfrm>
          <a:ln>
            <a:solidFill>
              <a:schemeClr val="tx1"/>
            </a:solidFill>
          </a:ln>
        </p:spPr>
        <p:txBody>
          <a:bodyPr/>
          <a:lstStyle/>
          <a:p>
            <a:pPr marL="0" indent="0">
              <a:lnSpc>
                <a:spcPct val="150000"/>
              </a:lnSpc>
              <a:buNone/>
            </a:pPr>
            <a:r>
              <a:rPr lang="en-US" sz="1800" b="1" dirty="0"/>
              <a:t>How this impacts vanishing gradients in RNNs</a:t>
            </a:r>
          </a:p>
          <a:p>
            <a:pPr marL="0" indent="0" algn="just">
              <a:lnSpc>
                <a:spcPct val="150000"/>
              </a:lnSpc>
              <a:spcBef>
                <a:spcPts val="600"/>
              </a:spcBef>
            </a:pPr>
            <a:r>
              <a:rPr lang="en-US" sz="1800" b="1" dirty="0"/>
              <a:t>Signal strength is maintained: </a:t>
            </a:r>
            <a:r>
              <a:rPr lang="en-US" sz="1800" dirty="0"/>
              <a:t>In RNNs, </a:t>
            </a:r>
            <a:r>
              <a:rPr lang="en-US" sz="1800" b="1" dirty="0"/>
              <a:t>information flows between layers and across time steps </a:t>
            </a:r>
            <a:r>
              <a:rPr lang="en-US" sz="1800" dirty="0"/>
              <a:t>(the "memory" aspect). </a:t>
            </a:r>
            <a:r>
              <a:rPr lang="en-US" sz="1800" b="1" dirty="0"/>
              <a:t>With vanishing gradients, this information can diminish over time</a:t>
            </a:r>
            <a:r>
              <a:rPr lang="en-US" sz="1800" dirty="0"/>
              <a:t>. Batch </a:t>
            </a:r>
            <a:r>
              <a:rPr lang="en-US" sz="1800" b="1" dirty="0"/>
              <a:t>Normalization, by normalizing the activations (the internal values) at each time step or within each hidden layer, ensures the signal (the gradients) remains strong and relevant</a:t>
            </a:r>
            <a:r>
              <a:rPr lang="en-US" sz="1800" dirty="0"/>
              <a:t>. It prevents values from becoming so small that the gradients vanish when backpropagated through time.</a:t>
            </a:r>
          </a:p>
          <a:p>
            <a:endParaRPr lang="en-IN" dirty="0"/>
          </a:p>
        </p:txBody>
      </p:sp>
      <p:sp>
        <p:nvSpPr>
          <p:cNvPr id="4" name="Slide Number Placeholder 3">
            <a:extLst>
              <a:ext uri="{FF2B5EF4-FFF2-40B4-BE49-F238E27FC236}">
                <a16:creationId xmlns:a16="http://schemas.microsoft.com/office/drawing/2014/main" id="{144057E8-86FB-67DE-BFBD-C20C365F6896}"/>
              </a:ext>
            </a:extLst>
          </p:cNvPr>
          <p:cNvSpPr>
            <a:spLocks noGrp="1"/>
          </p:cNvSpPr>
          <p:nvPr>
            <p:ph type="sldNum" sz="quarter" idx="12"/>
          </p:nvPr>
        </p:nvSpPr>
        <p:spPr/>
        <p:txBody>
          <a:bodyPr/>
          <a:lstStyle/>
          <a:p>
            <a:pPr>
              <a:defRPr/>
            </a:pPr>
            <a:fld id="{9AD681D7-8A59-4380-9311-10B86FF921AA}" type="slidenum">
              <a:rPr lang="en-US" altLang="zh-TW" smtClean="0"/>
              <a:pPr>
                <a:defRPr/>
              </a:pPr>
              <a:t>23</a:t>
            </a:fld>
            <a:endParaRPr lang="en-US" altLang="zh-TW"/>
          </a:p>
        </p:txBody>
      </p:sp>
    </p:spTree>
    <p:extLst>
      <p:ext uri="{BB962C8B-B14F-4D97-AF65-F5344CB8AC3E}">
        <p14:creationId xmlns:p14="http://schemas.microsoft.com/office/powerpoint/2010/main" val="28833133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2F795-77C1-82F6-316C-1D69970E5BF3}"/>
              </a:ext>
            </a:extLst>
          </p:cNvPr>
          <p:cNvSpPr>
            <a:spLocks noGrp="1"/>
          </p:cNvSpPr>
          <p:nvPr>
            <p:ph type="title"/>
          </p:nvPr>
        </p:nvSpPr>
        <p:spPr/>
        <p:txBody>
          <a:bodyPr/>
          <a:lstStyle/>
          <a:p>
            <a:r>
              <a:rPr lang="en-IN" dirty="0"/>
              <a:t>Batch Normalization</a:t>
            </a:r>
          </a:p>
        </p:txBody>
      </p:sp>
      <p:sp>
        <p:nvSpPr>
          <p:cNvPr id="3" name="Content Placeholder 2">
            <a:extLst>
              <a:ext uri="{FF2B5EF4-FFF2-40B4-BE49-F238E27FC236}">
                <a16:creationId xmlns:a16="http://schemas.microsoft.com/office/drawing/2014/main" id="{26289D36-DF69-D541-399A-91E6CDAE4AAC}"/>
              </a:ext>
            </a:extLst>
          </p:cNvPr>
          <p:cNvSpPr>
            <a:spLocks noGrp="1"/>
          </p:cNvSpPr>
          <p:nvPr>
            <p:ph idx="1"/>
          </p:nvPr>
        </p:nvSpPr>
        <p:spPr>
          <a:xfrm>
            <a:off x="1117601" y="2362201"/>
            <a:ext cx="11074399" cy="4495799"/>
          </a:xfrm>
          <a:ln>
            <a:solidFill>
              <a:schemeClr val="tx1"/>
            </a:solidFill>
          </a:ln>
        </p:spPr>
        <p:txBody>
          <a:bodyPr/>
          <a:lstStyle/>
          <a:p>
            <a:pPr marL="0" indent="0" algn="just">
              <a:buNone/>
            </a:pPr>
            <a:r>
              <a:rPr lang="en-US" sz="1700" dirty="0"/>
              <a:t>RNNs, the </a:t>
            </a:r>
            <a:r>
              <a:rPr lang="en-US" sz="1700" b="1" dirty="0"/>
              <a:t>normalization is applied specifically to the activations within the recurrent part of the network at each time step</a:t>
            </a:r>
            <a:r>
              <a:rPr lang="en-US" sz="1700" dirty="0"/>
              <a:t>.</a:t>
            </a:r>
          </a:p>
          <a:p>
            <a:pPr algn="just"/>
            <a:r>
              <a:rPr lang="en-US" sz="1700" b="1" dirty="0"/>
              <a:t>Normalization of Inputs and Hidden States: Instead of just normalizing the inputs</a:t>
            </a:r>
            <a:r>
              <a:rPr lang="en-US" sz="1700" dirty="0"/>
              <a:t> to the first recurrent layer, </a:t>
            </a:r>
            <a:r>
              <a:rPr lang="en-US" sz="1700" b="1" dirty="0"/>
              <a:t>batch normalization can be applied at different points within the RNN </a:t>
            </a:r>
            <a:r>
              <a:rPr lang="en-US" sz="1700" dirty="0"/>
              <a:t>structure, like:</a:t>
            </a:r>
          </a:p>
          <a:p>
            <a:pPr lvl="1" algn="just"/>
            <a:r>
              <a:rPr lang="en-US" sz="1700" b="1" dirty="0"/>
              <a:t>Input-to-hidden connections: Normalizing the input signal </a:t>
            </a:r>
            <a:r>
              <a:rPr lang="en-US" sz="1700" dirty="0"/>
              <a:t>(e.g., a word embedding) as it enters   </a:t>
            </a:r>
          </a:p>
          <a:p>
            <a:pPr marL="457200" lvl="1" indent="0" algn="just">
              <a:buNone/>
            </a:pPr>
            <a:r>
              <a:rPr lang="en-US" sz="1700" dirty="0"/>
              <a:t>                                                       the RNN cell.</a:t>
            </a:r>
          </a:p>
          <a:p>
            <a:pPr lvl="1" algn="just"/>
            <a:r>
              <a:rPr lang="en-US" sz="1700" b="1" dirty="0"/>
              <a:t>Hidden-to-hidden connections: Normalizing the hidden state from the previous time step before </a:t>
            </a:r>
          </a:p>
          <a:p>
            <a:pPr marL="457200" lvl="1" indent="0" algn="just">
              <a:buNone/>
            </a:pPr>
            <a:r>
              <a:rPr lang="en-US" sz="1700" b="1" dirty="0"/>
              <a:t>                                                           it's used to calculate the next hidden state</a:t>
            </a:r>
            <a:r>
              <a:rPr lang="en-US" sz="1700" dirty="0"/>
              <a:t>. This is where it directly </a:t>
            </a:r>
          </a:p>
          <a:p>
            <a:pPr marL="457200" lvl="1" indent="0" algn="just">
              <a:buNone/>
            </a:pPr>
            <a:r>
              <a:rPr lang="en-US" sz="1700" dirty="0"/>
              <a:t>                                                           impacts the "memory" of the RNN.</a:t>
            </a:r>
          </a:p>
          <a:p>
            <a:pPr lvl="1" algn="just"/>
            <a:r>
              <a:rPr lang="en-US" sz="1700" b="1" dirty="0"/>
              <a:t>Or both: Applying BN to both the input-to-hidden and hidden-to-hidden connections </a:t>
            </a:r>
            <a:r>
              <a:rPr lang="en-US" sz="1700" dirty="0"/>
              <a:t>for potentially </a:t>
            </a:r>
          </a:p>
          <a:p>
            <a:pPr marL="457200" lvl="1" indent="0" algn="just">
              <a:buNone/>
            </a:pPr>
            <a:r>
              <a:rPr lang="en-US" sz="1700" dirty="0"/>
              <a:t>                   greater impact.</a:t>
            </a:r>
          </a:p>
          <a:p>
            <a:pPr marL="182563" indent="-182563" algn="just"/>
            <a:r>
              <a:rPr lang="en-US" sz="1700" b="1" dirty="0"/>
              <a:t>Calculating Batch Statistics at Each Time Step: </a:t>
            </a:r>
            <a:r>
              <a:rPr lang="en-US" sz="1700" dirty="0"/>
              <a:t>When applying Batch Normalization within an RNN's recurrent part, </a:t>
            </a:r>
            <a:r>
              <a:rPr lang="en-US" sz="1700" b="1" dirty="0"/>
              <a:t>the mean and variance for normalization are calculated for each time step within the batch</a:t>
            </a:r>
            <a:r>
              <a:rPr lang="en-US" sz="1700" dirty="0"/>
              <a:t>. According to Massed Compute, </a:t>
            </a:r>
            <a:r>
              <a:rPr lang="en-US" sz="1700" b="1" dirty="0"/>
              <a:t>this ensures the normalization adapts to the statistics of the specific time step. </a:t>
            </a:r>
            <a:endParaRPr lang="en-IN" sz="1700" b="1" dirty="0"/>
          </a:p>
        </p:txBody>
      </p:sp>
      <p:sp>
        <p:nvSpPr>
          <p:cNvPr id="4" name="Slide Number Placeholder 3">
            <a:extLst>
              <a:ext uri="{FF2B5EF4-FFF2-40B4-BE49-F238E27FC236}">
                <a16:creationId xmlns:a16="http://schemas.microsoft.com/office/drawing/2014/main" id="{09AB5D39-2E7C-4E2D-B19E-70D18C42FEEA}"/>
              </a:ext>
            </a:extLst>
          </p:cNvPr>
          <p:cNvSpPr>
            <a:spLocks noGrp="1"/>
          </p:cNvSpPr>
          <p:nvPr>
            <p:ph type="sldNum" sz="quarter" idx="12"/>
          </p:nvPr>
        </p:nvSpPr>
        <p:spPr/>
        <p:txBody>
          <a:bodyPr/>
          <a:lstStyle/>
          <a:p>
            <a:pPr>
              <a:defRPr/>
            </a:pPr>
            <a:fld id="{9AD681D7-8A59-4380-9311-10B86FF921AA}" type="slidenum">
              <a:rPr lang="en-US" altLang="zh-TW" smtClean="0"/>
              <a:pPr>
                <a:defRPr/>
              </a:pPr>
              <a:t>24</a:t>
            </a:fld>
            <a:endParaRPr lang="en-US" altLang="zh-TW"/>
          </a:p>
        </p:txBody>
      </p:sp>
    </p:spTree>
    <p:extLst>
      <p:ext uri="{BB962C8B-B14F-4D97-AF65-F5344CB8AC3E}">
        <p14:creationId xmlns:p14="http://schemas.microsoft.com/office/powerpoint/2010/main" val="22994199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A2F41-8086-741D-5634-7FD88E5F14CD}"/>
              </a:ext>
            </a:extLst>
          </p:cNvPr>
          <p:cNvSpPr>
            <a:spLocks noGrp="1"/>
          </p:cNvSpPr>
          <p:nvPr>
            <p:ph type="title"/>
          </p:nvPr>
        </p:nvSpPr>
        <p:spPr>
          <a:xfrm>
            <a:off x="895351" y="1219201"/>
            <a:ext cx="10566400" cy="1143000"/>
          </a:xfrm>
        </p:spPr>
        <p:txBody>
          <a:bodyPr/>
          <a:lstStyle/>
          <a:p>
            <a:r>
              <a:rPr lang="en-IN" dirty="0"/>
              <a:t>Residual network </a:t>
            </a:r>
            <a:br>
              <a:rPr lang="en-IN" dirty="0"/>
            </a:br>
            <a:endParaRPr lang="en-IN" dirty="0"/>
          </a:p>
        </p:txBody>
      </p:sp>
      <p:sp>
        <p:nvSpPr>
          <p:cNvPr id="3" name="Content Placeholder 2">
            <a:extLst>
              <a:ext uri="{FF2B5EF4-FFF2-40B4-BE49-F238E27FC236}">
                <a16:creationId xmlns:a16="http://schemas.microsoft.com/office/drawing/2014/main" id="{9896A8CF-9F9A-62BC-0F12-3A295FFEB998}"/>
              </a:ext>
            </a:extLst>
          </p:cNvPr>
          <p:cNvSpPr>
            <a:spLocks noGrp="1"/>
          </p:cNvSpPr>
          <p:nvPr>
            <p:ph idx="1"/>
          </p:nvPr>
        </p:nvSpPr>
        <p:spPr>
          <a:xfrm>
            <a:off x="1117601" y="2362201"/>
            <a:ext cx="11074399" cy="4495799"/>
          </a:xfrm>
          <a:ln>
            <a:solidFill>
              <a:schemeClr val="tx1"/>
            </a:solidFill>
          </a:ln>
        </p:spPr>
        <p:txBody>
          <a:bodyPr/>
          <a:lstStyle/>
          <a:p>
            <a:pPr marL="0" indent="0" algn="just">
              <a:buNone/>
            </a:pPr>
            <a:r>
              <a:rPr lang="en-US" sz="1800" dirty="0"/>
              <a:t>Imagine </a:t>
            </a:r>
            <a:r>
              <a:rPr lang="en-US" sz="1800" b="1" dirty="0"/>
              <a:t>teaching a student a very long, complicated dance routine</a:t>
            </a:r>
            <a:r>
              <a:rPr lang="en-US" sz="1800" dirty="0"/>
              <a:t>. </a:t>
            </a:r>
          </a:p>
          <a:p>
            <a:pPr algn="just"/>
            <a:r>
              <a:rPr lang="en-US" sz="1800" b="1" dirty="0"/>
              <a:t>RNN without residual connections (Traditional Learning): </a:t>
            </a:r>
            <a:r>
              <a:rPr lang="en-US" sz="1800" dirty="0"/>
              <a:t>The student tries to memorize every single step perfectly as they go. If they struggle with a specific sequence early on, it affects everything that follows. They might even completely forget the beginning of the routine by the time they reach the end, because the earlier learning is "lost" or becomes too faint (vanishing gradient). Their performance suffers, especially for the initial parts.</a:t>
            </a:r>
          </a:p>
          <a:p>
            <a:pPr algn="just"/>
            <a:r>
              <a:rPr lang="en-US" sz="1800" b="1" dirty="0"/>
              <a:t>RNN with residual connections (</a:t>
            </a:r>
            <a:r>
              <a:rPr lang="en-US" sz="1800" b="1" dirty="0" err="1"/>
              <a:t>ResNets</a:t>
            </a:r>
            <a:r>
              <a:rPr lang="en-US" sz="1800" b="1" dirty="0"/>
              <a:t>): </a:t>
            </a:r>
            <a:r>
              <a:rPr lang="en-US" sz="1800" dirty="0"/>
              <a:t>The </a:t>
            </a:r>
            <a:r>
              <a:rPr lang="en-US" sz="1800" b="1" dirty="0"/>
              <a:t>dance instructor changes the teaching method</a:t>
            </a:r>
            <a:r>
              <a:rPr lang="en-US" sz="1800" dirty="0"/>
              <a:t>. Instead of just teaching each new step as a completely new movement, they introduce a simpler approach:</a:t>
            </a:r>
          </a:p>
          <a:p>
            <a:pPr marL="534988" indent="-169863" algn="just">
              <a:buFont typeface="Wingdings" panose="05000000000000000000" pitchFamily="2" charset="2"/>
              <a:buChar char="Ø"/>
            </a:pPr>
            <a:r>
              <a:rPr lang="en-US" sz="1800" dirty="0"/>
              <a:t>"</a:t>
            </a:r>
            <a:r>
              <a:rPr lang="en-US" sz="1800" b="1" dirty="0"/>
              <a:t>Base Move" Shortcut: </a:t>
            </a:r>
            <a:r>
              <a:rPr lang="en-US" sz="1800" dirty="0"/>
              <a:t>The instructor tells the </a:t>
            </a:r>
            <a:r>
              <a:rPr lang="en-US" sz="1800" b="1" dirty="0"/>
              <a:t>student to always remember the basic, core dance steps (the input x). </a:t>
            </a:r>
            <a:r>
              <a:rPr lang="en-US" sz="1800" dirty="0"/>
              <a:t>This is like a constant</a:t>
            </a:r>
            <a:r>
              <a:rPr lang="en-US" sz="1800" b="1" dirty="0"/>
              <a:t>, strong memory of the foundation</a:t>
            </a:r>
            <a:r>
              <a:rPr lang="en-US" sz="1800" dirty="0"/>
              <a:t>.</a:t>
            </a:r>
          </a:p>
          <a:p>
            <a:pPr marL="534988" indent="-169863" algn="just">
              <a:buFont typeface="Wingdings" panose="05000000000000000000" pitchFamily="2" charset="2"/>
              <a:buChar char="Ø"/>
            </a:pPr>
            <a:r>
              <a:rPr lang="en-US" sz="1800" b="1" dirty="0"/>
              <a:t>Learning the "Improvements": </a:t>
            </a:r>
            <a:r>
              <a:rPr lang="en-US" sz="1800" dirty="0"/>
              <a:t>For each new, more complex part of the routine, the </a:t>
            </a:r>
            <a:r>
              <a:rPr lang="en-US" sz="1800" b="1" dirty="0"/>
              <a:t>student is taught to focus on how it's different from the core dance steps they already know </a:t>
            </a:r>
            <a:r>
              <a:rPr lang="en-US" sz="1800" dirty="0"/>
              <a:t>(learning the "</a:t>
            </a:r>
            <a:r>
              <a:rPr lang="en-US" sz="1800" b="1" dirty="0"/>
              <a:t>residual function" F(x)). </a:t>
            </a:r>
            <a:r>
              <a:rPr lang="en-US" sz="1800" dirty="0"/>
              <a:t>They don't have to re-learn the entire dance section from scratch, according to Medium. </a:t>
            </a:r>
            <a:r>
              <a:rPr lang="en-US" sz="1800" b="1" dirty="0"/>
              <a:t>They just need to learn the subtle changes and additions needed.</a:t>
            </a:r>
            <a:endParaRPr lang="en-IN" sz="1800" b="1" dirty="0"/>
          </a:p>
        </p:txBody>
      </p:sp>
      <p:sp>
        <p:nvSpPr>
          <p:cNvPr id="4" name="Slide Number Placeholder 3">
            <a:extLst>
              <a:ext uri="{FF2B5EF4-FFF2-40B4-BE49-F238E27FC236}">
                <a16:creationId xmlns:a16="http://schemas.microsoft.com/office/drawing/2014/main" id="{AF68A332-1CD5-B6E6-C34A-284F81AB2AE9}"/>
              </a:ext>
            </a:extLst>
          </p:cNvPr>
          <p:cNvSpPr>
            <a:spLocks noGrp="1"/>
          </p:cNvSpPr>
          <p:nvPr>
            <p:ph type="sldNum" sz="quarter" idx="12"/>
          </p:nvPr>
        </p:nvSpPr>
        <p:spPr/>
        <p:txBody>
          <a:bodyPr/>
          <a:lstStyle/>
          <a:p>
            <a:pPr>
              <a:defRPr/>
            </a:pPr>
            <a:fld id="{9AD681D7-8A59-4380-9311-10B86FF921AA}" type="slidenum">
              <a:rPr lang="en-US" altLang="zh-TW" smtClean="0"/>
              <a:pPr>
                <a:defRPr/>
              </a:pPr>
              <a:t>25</a:t>
            </a:fld>
            <a:endParaRPr lang="en-US" altLang="zh-TW"/>
          </a:p>
        </p:txBody>
      </p:sp>
    </p:spTree>
    <p:extLst>
      <p:ext uri="{BB962C8B-B14F-4D97-AF65-F5344CB8AC3E}">
        <p14:creationId xmlns:p14="http://schemas.microsoft.com/office/powerpoint/2010/main" val="33257072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1D1A2-8984-CFBA-D5C8-87F2E55D6270}"/>
              </a:ext>
            </a:extLst>
          </p:cNvPr>
          <p:cNvSpPr>
            <a:spLocks noGrp="1"/>
          </p:cNvSpPr>
          <p:nvPr>
            <p:ph type="title"/>
          </p:nvPr>
        </p:nvSpPr>
        <p:spPr/>
        <p:txBody>
          <a:bodyPr/>
          <a:lstStyle/>
          <a:p>
            <a:pPr marR="0" lvl="0" defTabSz="914400" rtl="0" eaLnBrk="0" fontAlgn="base" latinLnBrk="0" hangingPunct="0">
              <a:lnSpc>
                <a:spcPct val="100000"/>
              </a:lnSpc>
              <a:spcBef>
                <a:spcPct val="20000"/>
              </a:spcBef>
              <a:spcAft>
                <a:spcPct val="0"/>
              </a:spcAft>
              <a:tabLst/>
              <a:defRPr/>
            </a:pPr>
            <a:br>
              <a:rPr kumimoji="1" lang="en-IN" sz="1600" b="1" i="0" u="none" strike="noStrike" kern="1200" cap="none" spc="0" normalizeH="0" baseline="0" noProof="0" dirty="0">
                <a:ln>
                  <a:noFill/>
                </a:ln>
                <a:solidFill>
                  <a:srgbClr val="003366"/>
                </a:solidFill>
                <a:effectLst/>
                <a:uLnTx/>
                <a:uFillTx/>
                <a:latin typeface="Arial"/>
                <a:ea typeface="新細明體"/>
                <a:cs typeface="+mn-cs"/>
              </a:rPr>
            </a:br>
            <a:r>
              <a:rPr kumimoji="1" lang="en-IN" sz="3600" b="1" i="0" u="none" strike="noStrike" kern="1200" cap="none" spc="0" normalizeH="0" baseline="0" noProof="0" dirty="0">
                <a:ln>
                  <a:noFill/>
                </a:ln>
                <a:solidFill>
                  <a:srgbClr val="006666"/>
                </a:solidFill>
                <a:effectLst/>
                <a:uLnTx/>
                <a:uFillTx/>
                <a:latin typeface="Arial"/>
                <a:ea typeface="PMingLiU" panose="02020500000000000000" pitchFamily="18" charset="-120"/>
                <a:cs typeface="+mj-cs"/>
              </a:rPr>
              <a:t>Residual network</a:t>
            </a:r>
            <a:endParaRPr lang="en-IN" dirty="0"/>
          </a:p>
        </p:txBody>
      </p:sp>
      <p:sp>
        <p:nvSpPr>
          <p:cNvPr id="3" name="Content Placeholder 2">
            <a:extLst>
              <a:ext uri="{FF2B5EF4-FFF2-40B4-BE49-F238E27FC236}">
                <a16:creationId xmlns:a16="http://schemas.microsoft.com/office/drawing/2014/main" id="{504B172B-EDA2-057F-529B-A1E6CB4D9FC7}"/>
              </a:ext>
            </a:extLst>
          </p:cNvPr>
          <p:cNvSpPr>
            <a:spLocks noGrp="1"/>
          </p:cNvSpPr>
          <p:nvPr>
            <p:ph idx="1"/>
          </p:nvPr>
        </p:nvSpPr>
        <p:spPr>
          <a:xfrm>
            <a:off x="1117601" y="2362201"/>
            <a:ext cx="10966547" cy="3724275"/>
          </a:xfrm>
          <a:ln>
            <a:solidFill>
              <a:schemeClr val="tx1"/>
            </a:solidFill>
          </a:ln>
        </p:spPr>
        <p:txBody>
          <a:bodyPr/>
          <a:lstStyle/>
          <a:p>
            <a:r>
              <a:rPr lang="en-US" sz="1600" b="1" dirty="0"/>
              <a:t>Combining for the Full Move: </a:t>
            </a:r>
            <a:r>
              <a:rPr lang="en-US" sz="1600" dirty="0"/>
              <a:t>To perform the full dance, the student combines their memory of the base move with the "improvements" they just learned. This means, the final output at each step is the sum of the original input x and the learned residual F(x). So, the output is x + F(x).</a:t>
            </a:r>
          </a:p>
          <a:p>
            <a:endParaRPr lang="en-IN" sz="1600" dirty="0"/>
          </a:p>
        </p:txBody>
      </p:sp>
      <p:sp>
        <p:nvSpPr>
          <p:cNvPr id="4" name="Slide Number Placeholder 3">
            <a:extLst>
              <a:ext uri="{FF2B5EF4-FFF2-40B4-BE49-F238E27FC236}">
                <a16:creationId xmlns:a16="http://schemas.microsoft.com/office/drawing/2014/main" id="{BCC35ED4-81B8-7E78-3F77-DFD73C45B2DA}"/>
              </a:ext>
            </a:extLst>
          </p:cNvPr>
          <p:cNvSpPr>
            <a:spLocks noGrp="1"/>
          </p:cNvSpPr>
          <p:nvPr>
            <p:ph type="sldNum" sz="quarter" idx="12"/>
          </p:nvPr>
        </p:nvSpPr>
        <p:spPr/>
        <p:txBody>
          <a:bodyPr/>
          <a:lstStyle/>
          <a:p>
            <a:pPr>
              <a:defRPr/>
            </a:pPr>
            <a:fld id="{9AD681D7-8A59-4380-9311-10B86FF921AA}" type="slidenum">
              <a:rPr lang="en-US" altLang="zh-TW" smtClean="0"/>
              <a:pPr>
                <a:defRPr/>
              </a:pPr>
              <a:t>26</a:t>
            </a:fld>
            <a:endParaRPr lang="en-US" altLang="zh-TW"/>
          </a:p>
        </p:txBody>
      </p:sp>
    </p:spTree>
    <p:extLst>
      <p:ext uri="{BB962C8B-B14F-4D97-AF65-F5344CB8AC3E}">
        <p14:creationId xmlns:p14="http://schemas.microsoft.com/office/powerpoint/2010/main" val="11665499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75BA9E-3FDD-EF87-C5F4-2E01B5EC8D75}"/>
              </a:ext>
            </a:extLst>
          </p:cNvPr>
          <p:cNvSpPr>
            <a:spLocks noGrp="1"/>
          </p:cNvSpPr>
          <p:nvPr>
            <p:ph idx="1"/>
          </p:nvPr>
        </p:nvSpPr>
        <p:spPr>
          <a:xfrm>
            <a:off x="1117601" y="2362201"/>
            <a:ext cx="11074399" cy="4368799"/>
          </a:xfrm>
          <a:ln>
            <a:solidFill>
              <a:schemeClr val="tx1"/>
            </a:solidFill>
          </a:ln>
        </p:spPr>
        <p:txBody>
          <a:bodyPr/>
          <a:lstStyle/>
          <a:p>
            <a:pPr marL="0" indent="0" algn="just">
              <a:lnSpc>
                <a:spcPct val="150000"/>
              </a:lnSpc>
              <a:buNone/>
            </a:pPr>
            <a:r>
              <a:rPr lang="en-US" sz="1800" b="1" dirty="0"/>
              <a:t>To resolve vanishing gradient problem residual connections can also be incorporated into RNNs that  improves gradient flow. </a:t>
            </a:r>
          </a:p>
          <a:p>
            <a:pPr marL="0" indent="0" algn="just">
              <a:lnSpc>
                <a:spcPct val="150000"/>
              </a:lnSpc>
              <a:buNone/>
            </a:pPr>
            <a:r>
              <a:rPr lang="en-US" sz="1800" b="1" dirty="0"/>
              <a:t>Direct gradient flow via skip connections</a:t>
            </a:r>
          </a:p>
          <a:p>
            <a:pPr algn="just">
              <a:lnSpc>
                <a:spcPct val="150000"/>
              </a:lnSpc>
              <a:buFont typeface="Wingdings" panose="05000000000000000000" pitchFamily="2" charset="2"/>
              <a:buChar char="Ø"/>
            </a:pPr>
            <a:r>
              <a:rPr lang="en-US" sz="1800" dirty="0"/>
              <a:t>Residual networks </a:t>
            </a:r>
            <a:r>
              <a:rPr lang="en-US" sz="1800" b="1" dirty="0"/>
              <a:t>introduce skip connections </a:t>
            </a:r>
            <a:r>
              <a:rPr lang="en-US" sz="1800" dirty="0"/>
              <a:t>that </a:t>
            </a:r>
            <a:r>
              <a:rPr lang="en-US" sz="1800" b="1" dirty="0"/>
              <a:t>create a direct pathway for gradients to bypass one or more recurrent layers.</a:t>
            </a:r>
          </a:p>
          <a:p>
            <a:pPr algn="just">
              <a:lnSpc>
                <a:spcPct val="150000"/>
              </a:lnSpc>
              <a:buFont typeface="Wingdings" panose="05000000000000000000" pitchFamily="2" charset="2"/>
              <a:buChar char="Ø"/>
            </a:pPr>
            <a:r>
              <a:rPr lang="en-US" sz="1800" dirty="0"/>
              <a:t>When backpropagating errors, these </a:t>
            </a:r>
            <a:r>
              <a:rPr lang="en-US" sz="1800" b="1" dirty="0"/>
              <a:t>skip connections ensure that gradients can flow directly to earlier layers and time steps,</a:t>
            </a:r>
            <a:r>
              <a:rPr lang="en-US" sz="1800" dirty="0"/>
              <a:t> even if they encounter very small gradients in the main recurrent path.</a:t>
            </a:r>
          </a:p>
          <a:p>
            <a:pPr algn="just">
              <a:lnSpc>
                <a:spcPct val="150000"/>
              </a:lnSpc>
              <a:buFont typeface="Wingdings" panose="05000000000000000000" pitchFamily="2" charset="2"/>
              <a:buChar char="Ø"/>
            </a:pPr>
            <a:r>
              <a:rPr lang="en-US" sz="1800" b="1" dirty="0"/>
              <a:t>This prevents the gradients from becoming extremely small </a:t>
            </a:r>
            <a:r>
              <a:rPr lang="en-US" sz="1800" dirty="0"/>
              <a:t>(vanishing) as they travel backward through many time steps, </a:t>
            </a:r>
            <a:r>
              <a:rPr lang="en-US" sz="1800" b="1" dirty="0"/>
              <a:t>preserving the signal needed to update the weights of earlier layers</a:t>
            </a:r>
            <a:r>
              <a:rPr lang="en-US" sz="1800" dirty="0"/>
              <a:t>. </a:t>
            </a:r>
            <a:endParaRPr lang="en-IN" sz="1800" dirty="0"/>
          </a:p>
        </p:txBody>
      </p:sp>
      <p:sp>
        <p:nvSpPr>
          <p:cNvPr id="4" name="Slide Number Placeholder 3">
            <a:extLst>
              <a:ext uri="{FF2B5EF4-FFF2-40B4-BE49-F238E27FC236}">
                <a16:creationId xmlns:a16="http://schemas.microsoft.com/office/drawing/2014/main" id="{DFA9DF2C-C66E-FA8B-4D02-4E9F921BFEDB}"/>
              </a:ext>
            </a:extLst>
          </p:cNvPr>
          <p:cNvSpPr>
            <a:spLocks noGrp="1"/>
          </p:cNvSpPr>
          <p:nvPr>
            <p:ph type="sldNum" sz="quarter" idx="12"/>
          </p:nvPr>
        </p:nvSpPr>
        <p:spPr/>
        <p:txBody>
          <a:bodyPr/>
          <a:lstStyle/>
          <a:p>
            <a:pPr>
              <a:defRPr/>
            </a:pPr>
            <a:fld id="{9AD681D7-8A59-4380-9311-10B86FF921AA}" type="slidenum">
              <a:rPr lang="en-US" altLang="zh-TW" smtClean="0"/>
              <a:pPr>
                <a:defRPr/>
              </a:pPr>
              <a:t>27</a:t>
            </a:fld>
            <a:endParaRPr lang="en-US" altLang="zh-TW"/>
          </a:p>
        </p:txBody>
      </p:sp>
      <p:sp>
        <p:nvSpPr>
          <p:cNvPr id="5" name="Title 1">
            <a:extLst>
              <a:ext uri="{FF2B5EF4-FFF2-40B4-BE49-F238E27FC236}">
                <a16:creationId xmlns:a16="http://schemas.microsoft.com/office/drawing/2014/main" id="{5005938C-1A56-1DB6-21B8-6799AD091543}"/>
              </a:ext>
            </a:extLst>
          </p:cNvPr>
          <p:cNvSpPr>
            <a:spLocks noGrp="1"/>
          </p:cNvSpPr>
          <p:nvPr>
            <p:ph type="title"/>
          </p:nvPr>
        </p:nvSpPr>
        <p:spPr>
          <a:xfrm>
            <a:off x="1016000" y="762000"/>
            <a:ext cx="10566400" cy="1143000"/>
          </a:xfrm>
        </p:spPr>
        <p:txBody>
          <a:bodyPr/>
          <a:lstStyle/>
          <a:p>
            <a:pPr marR="0" lvl="0" defTabSz="914400" rtl="0" eaLnBrk="0" fontAlgn="base" latinLnBrk="0" hangingPunct="0">
              <a:lnSpc>
                <a:spcPct val="100000"/>
              </a:lnSpc>
              <a:spcBef>
                <a:spcPct val="20000"/>
              </a:spcBef>
              <a:spcAft>
                <a:spcPct val="0"/>
              </a:spcAft>
              <a:tabLst/>
              <a:defRPr/>
            </a:pPr>
            <a:br>
              <a:rPr kumimoji="1" lang="en-IN" sz="1600" b="1" i="0" u="none" strike="noStrike" kern="1200" cap="none" spc="0" normalizeH="0" baseline="0" noProof="0" dirty="0">
                <a:ln>
                  <a:noFill/>
                </a:ln>
                <a:solidFill>
                  <a:srgbClr val="003366"/>
                </a:solidFill>
                <a:effectLst/>
                <a:uLnTx/>
                <a:uFillTx/>
                <a:latin typeface="Arial"/>
                <a:ea typeface="新細明體"/>
                <a:cs typeface="+mn-cs"/>
              </a:rPr>
            </a:br>
            <a:r>
              <a:rPr kumimoji="1" lang="en-IN" sz="3600" b="1" i="0" u="none" strike="noStrike" kern="1200" cap="none" spc="0" normalizeH="0" baseline="0" noProof="0" dirty="0">
                <a:ln>
                  <a:noFill/>
                </a:ln>
                <a:solidFill>
                  <a:srgbClr val="006666"/>
                </a:solidFill>
                <a:effectLst/>
                <a:uLnTx/>
                <a:uFillTx/>
                <a:latin typeface="Arial"/>
                <a:ea typeface="PMingLiU" panose="02020500000000000000" pitchFamily="18" charset="-120"/>
                <a:cs typeface="+mj-cs"/>
              </a:rPr>
              <a:t>Residual network</a:t>
            </a:r>
            <a:endParaRPr lang="en-IN" dirty="0"/>
          </a:p>
        </p:txBody>
      </p:sp>
    </p:spTree>
    <p:extLst>
      <p:ext uri="{BB962C8B-B14F-4D97-AF65-F5344CB8AC3E}">
        <p14:creationId xmlns:p14="http://schemas.microsoft.com/office/powerpoint/2010/main" val="33864808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A4B99-2FB7-0394-AD05-BBD47AF9D225}"/>
              </a:ext>
            </a:extLst>
          </p:cNvPr>
          <p:cNvSpPr>
            <a:spLocks noGrp="1"/>
          </p:cNvSpPr>
          <p:nvPr>
            <p:ph type="title"/>
          </p:nvPr>
        </p:nvSpPr>
        <p:spPr/>
        <p:txBody>
          <a:bodyPr/>
          <a:lstStyle/>
          <a:p>
            <a:r>
              <a:rPr kumimoji="1" lang="en-US" sz="3600" b="1" i="0" u="none" strike="noStrike" kern="1200" cap="none" spc="0" normalizeH="0" baseline="0" noProof="0" dirty="0">
                <a:ln>
                  <a:noFill/>
                </a:ln>
                <a:solidFill>
                  <a:srgbClr val="006666"/>
                </a:solidFill>
                <a:effectLst/>
                <a:uLnTx/>
                <a:uFillTx/>
                <a:latin typeface="Arial"/>
                <a:ea typeface="PMingLiU" panose="02020500000000000000" pitchFamily="18" charset="-120"/>
                <a:cs typeface="+mj-cs"/>
              </a:rPr>
              <a:t>Problem of Exploding Gradient</a:t>
            </a:r>
            <a:endParaRPr lang="en-IN" dirty="0"/>
          </a:p>
        </p:txBody>
      </p:sp>
      <p:pic>
        <p:nvPicPr>
          <p:cNvPr id="5" name="Content Placeholder 4">
            <a:extLst>
              <a:ext uri="{FF2B5EF4-FFF2-40B4-BE49-F238E27FC236}">
                <a16:creationId xmlns:a16="http://schemas.microsoft.com/office/drawing/2014/main" id="{46A705CB-979A-58FA-3195-8CFAC22DC09A}"/>
              </a:ext>
            </a:extLst>
          </p:cNvPr>
          <p:cNvPicPr>
            <a:picLocks noGrp="1" noChangeAspect="1"/>
          </p:cNvPicPr>
          <p:nvPr>
            <p:ph idx="1"/>
          </p:nvPr>
        </p:nvPicPr>
        <p:blipFill>
          <a:blip r:embed="rId2"/>
          <a:stretch>
            <a:fillRect/>
          </a:stretch>
        </p:blipFill>
        <p:spPr>
          <a:xfrm>
            <a:off x="0" y="2342368"/>
            <a:ext cx="4762500" cy="4515632"/>
          </a:xfrm>
          <a:prstGeom prst="rect">
            <a:avLst/>
          </a:prstGeom>
          <a:ln>
            <a:solidFill>
              <a:srgbClr val="000000"/>
            </a:solidFill>
          </a:ln>
        </p:spPr>
      </p:pic>
      <p:sp>
        <p:nvSpPr>
          <p:cNvPr id="4" name="Slide Number Placeholder 3">
            <a:extLst>
              <a:ext uri="{FF2B5EF4-FFF2-40B4-BE49-F238E27FC236}">
                <a16:creationId xmlns:a16="http://schemas.microsoft.com/office/drawing/2014/main" id="{283B6138-69D6-2BC4-A126-C1B3DA8CB9DA}"/>
              </a:ext>
            </a:extLst>
          </p:cNvPr>
          <p:cNvSpPr>
            <a:spLocks noGrp="1"/>
          </p:cNvSpPr>
          <p:nvPr>
            <p:ph type="sldNum" sz="quarter" idx="12"/>
          </p:nvPr>
        </p:nvSpPr>
        <p:spPr/>
        <p:txBody>
          <a:bodyPr/>
          <a:lstStyle/>
          <a:p>
            <a:pPr>
              <a:defRPr/>
            </a:pPr>
            <a:fld id="{9AD681D7-8A59-4380-9311-10B86FF921AA}" type="slidenum">
              <a:rPr lang="en-US" altLang="zh-TW" smtClean="0"/>
              <a:pPr>
                <a:defRPr/>
              </a:pPr>
              <a:t>28</a:t>
            </a:fld>
            <a:endParaRPr lang="en-US" altLang="zh-TW"/>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E6B9E64-E662-73D8-EC40-74C4F125BDFB}"/>
                  </a:ext>
                </a:extLst>
              </p:cNvPr>
              <p:cNvSpPr txBox="1"/>
              <p:nvPr/>
            </p:nvSpPr>
            <p:spPr>
              <a:xfrm>
                <a:off x="4762500" y="2265171"/>
                <a:ext cx="7300064" cy="4475969"/>
              </a:xfrm>
              <a:prstGeom prst="rect">
                <a:avLst/>
              </a:prstGeom>
              <a:noFill/>
              <a:ln>
                <a:solidFill>
                  <a:srgbClr val="1D1D1D"/>
                </a:solidFill>
              </a:ln>
            </p:spPr>
            <p:txBody>
              <a:bodyPr wrap="square">
                <a:spAutoFit/>
              </a:bodyPr>
              <a:lstStyle/>
              <a:p>
                <a:pPr marL="0" marR="0" lvl="0" indent="0" algn="l" defTabSz="914400" rtl="0" eaLnBrk="1" fontAlgn="auto" latinLnBrk="0" hangingPunct="1">
                  <a:lnSpc>
                    <a:spcPct val="100000"/>
                  </a:lnSpc>
                  <a:spcBef>
                    <a:spcPts val="400"/>
                  </a:spcBef>
                  <a:spcAft>
                    <a:spcPts val="400"/>
                  </a:spcAft>
                  <a:buClrTx/>
                  <a:buSzTx/>
                  <a:buFontTx/>
                  <a:buNone/>
                  <a:tabLst/>
                  <a:defRPr/>
                </a:pPr>
                <a:r>
                  <a:rPr kumimoji="0" lang="en-IN" sz="1600" b="1" i="0" u="none" strike="noStrike" kern="1200" cap="none" spc="0" normalizeH="0" baseline="0" noProof="0" dirty="0">
                    <a:ln>
                      <a:noFill/>
                    </a:ln>
                    <a:solidFill>
                      <a:srgbClr val="003366"/>
                    </a:solidFill>
                    <a:effectLst/>
                    <a:uLnTx/>
                    <a:uFillTx/>
                    <a:latin typeface="Arial"/>
                    <a:ea typeface="新細明體"/>
                    <a:cs typeface="+mn-cs"/>
                  </a:rPr>
                  <a:t>Explanation:</a:t>
                </a:r>
                <a:r>
                  <a:rPr kumimoji="0" lang="en-IN" sz="1600" b="0" i="0" u="none" strike="noStrike" kern="1200" cap="none" spc="0" normalizeH="0" baseline="0" noProof="0" dirty="0">
                    <a:ln>
                      <a:noFill/>
                    </a:ln>
                    <a:solidFill>
                      <a:srgbClr val="003366"/>
                    </a:solidFill>
                    <a:effectLst/>
                    <a:uLnTx/>
                    <a:uFillTx/>
                    <a:latin typeface="Arial"/>
                    <a:ea typeface="新細明體"/>
                    <a:cs typeface="+mn-cs"/>
                  </a:rPr>
                  <a:t>  </a:t>
                </a:r>
              </a:p>
              <a:p>
                <a:pPr marL="174625" marR="0" lvl="0" indent="-174625" algn="l" defTabSz="914400" rtl="0" eaLnBrk="1" fontAlgn="auto" latinLnBrk="0" hangingPunct="1">
                  <a:lnSpc>
                    <a:spcPct val="100000"/>
                  </a:lnSpc>
                  <a:spcBef>
                    <a:spcPts val="400"/>
                  </a:spcBef>
                  <a:spcAft>
                    <a:spcPts val="400"/>
                  </a:spcAft>
                  <a:buClrTx/>
                  <a:buSzTx/>
                  <a:buFont typeface="Arial" panose="020B0604020202020204" pitchFamily="34" charset="0"/>
                  <a:buChar char="•"/>
                  <a:tabLst/>
                  <a:defRPr/>
                </a:pPr>
                <a14:m>
                  <m:oMath xmlns:m="http://schemas.openxmlformats.org/officeDocument/2006/math">
                    <m:f>
                      <m:fPr>
                        <m:ctrlPr>
                          <a:rPr kumimoji="0" lang="en-IN" sz="1600" b="0" i="1" u="none" strike="noStrike" kern="1200" cap="none" spc="0" normalizeH="0" baseline="0" noProof="0" smtClean="0">
                            <a:ln>
                              <a:noFill/>
                            </a:ln>
                            <a:solidFill>
                              <a:srgbClr val="003366"/>
                            </a:solidFill>
                            <a:effectLst/>
                            <a:uLnTx/>
                            <a:uFillTx/>
                            <a:latin typeface="Cambria Math" panose="02040503050406030204" pitchFamily="18" charset="0"/>
                            <a:cs typeface="+mn-cs"/>
                          </a:rPr>
                        </m:ctrlPr>
                      </m:fPr>
                      <m:num>
                        <m:r>
                          <a:rPr kumimoji="0" lang="en-IN" sz="1600" b="0" i="1" u="none" strike="noStrike" kern="1200" cap="none" spc="0" normalizeH="0" baseline="0" noProof="0" smtClean="0">
                            <a:ln>
                              <a:noFill/>
                            </a:ln>
                            <a:solidFill>
                              <a:srgbClr val="003366"/>
                            </a:solidFill>
                            <a:effectLst/>
                            <a:uLnTx/>
                            <a:uFillTx/>
                            <a:latin typeface="Cambria Math" panose="02040503050406030204" pitchFamily="18" charset="0"/>
                            <a:cs typeface="+mn-cs"/>
                          </a:rPr>
                          <m:t>𝜕</m:t>
                        </m:r>
                        <m:r>
                          <a:rPr kumimoji="0" lang="en-IN" sz="1600" b="0" i="1" u="none" strike="noStrike" kern="1200" cap="none" spc="0" normalizeH="0" baseline="0" noProof="0" smtClean="0">
                            <a:ln>
                              <a:noFill/>
                            </a:ln>
                            <a:solidFill>
                              <a:srgbClr val="003366"/>
                            </a:solidFill>
                            <a:effectLst/>
                            <a:uLnTx/>
                            <a:uFillTx/>
                            <a:latin typeface="Cambria Math" panose="02040503050406030204" pitchFamily="18" charset="0"/>
                            <a:cs typeface="+mn-cs"/>
                          </a:rPr>
                          <m:t>𝐸</m:t>
                        </m:r>
                      </m:num>
                      <m:den>
                        <m:r>
                          <a:rPr kumimoji="0" lang="en-IN" sz="1600" b="0" i="1" u="none" strike="noStrike" kern="1200" cap="none" spc="0" normalizeH="0" baseline="0" noProof="0" smtClean="0">
                            <a:ln>
                              <a:noFill/>
                            </a:ln>
                            <a:solidFill>
                              <a:srgbClr val="003366"/>
                            </a:solidFill>
                            <a:effectLst/>
                            <a:uLnTx/>
                            <a:uFillTx/>
                            <a:latin typeface="Cambria Math" panose="02040503050406030204" pitchFamily="18" charset="0"/>
                            <a:cs typeface="+mn-cs"/>
                          </a:rPr>
                          <m:t>𝜕</m:t>
                        </m:r>
                        <m:r>
                          <a:rPr kumimoji="0" lang="en-IN" sz="1600" b="0" i="1" u="none" strike="noStrike" kern="1200" cap="none" spc="0" normalizeH="0" baseline="0" noProof="0" smtClean="0">
                            <a:ln>
                              <a:noFill/>
                            </a:ln>
                            <a:solidFill>
                              <a:srgbClr val="003366"/>
                            </a:solidFill>
                            <a:effectLst/>
                            <a:uLnTx/>
                            <a:uFillTx/>
                            <a:latin typeface="Cambria Math" panose="02040503050406030204" pitchFamily="18" charset="0"/>
                            <a:cs typeface="+mn-cs"/>
                          </a:rPr>
                          <m:t>𝑊</m:t>
                        </m:r>
                      </m:den>
                    </m:f>
                  </m:oMath>
                </a14:m>
                <a:r>
                  <a:rPr kumimoji="0" lang="en-IN" sz="1600" b="0" i="0" u="none" strike="noStrike" kern="1200" cap="none" spc="0" normalizeH="0" baseline="0" noProof="0" dirty="0">
                    <a:ln>
                      <a:noFill/>
                    </a:ln>
                    <a:solidFill>
                      <a:srgbClr val="003366"/>
                    </a:solidFill>
                    <a:effectLst/>
                    <a:uLnTx/>
                    <a:uFillTx/>
                    <a:latin typeface="Arial"/>
                    <a:ea typeface="新細明體"/>
                    <a:cs typeface="+mn-cs"/>
                  </a:rPr>
                  <a:t> is multiplication of no of partial derivatives.</a:t>
                </a:r>
              </a:p>
              <a:p>
                <a:pPr marL="174625" marR="0" lvl="0" indent="-174625" algn="l" defTabSz="914400" rtl="0" eaLnBrk="1" fontAlgn="auto" latinLnBrk="0" hangingPunct="1">
                  <a:lnSpc>
                    <a:spcPct val="100000"/>
                  </a:lnSpc>
                  <a:spcBef>
                    <a:spcPts val="400"/>
                  </a:spcBef>
                  <a:spcAft>
                    <a:spcPts val="400"/>
                  </a:spcAft>
                  <a:buClrTx/>
                  <a:buSzTx/>
                  <a:buFont typeface="Arial" panose="020B0604020202020204" pitchFamily="34" charset="0"/>
                  <a:buChar char="•"/>
                  <a:tabLst/>
                  <a:defRPr/>
                </a:pPr>
                <a:r>
                  <a:rPr kumimoji="0" lang="en-IN" sz="1600" b="0" i="0" u="none" strike="noStrike" kern="1200" cap="none" spc="0" normalizeH="0" baseline="0" noProof="0" dirty="0">
                    <a:ln>
                      <a:noFill/>
                    </a:ln>
                    <a:solidFill>
                      <a:srgbClr val="003366"/>
                    </a:solidFill>
                    <a:effectLst/>
                    <a:uLnTx/>
                    <a:uFillTx/>
                    <a:latin typeface="Arial"/>
                    <a:ea typeface="新細明體"/>
                    <a:cs typeface="+mn-cs"/>
                  </a:rPr>
                  <a:t>In case the partial derivatives are larger than 1. Finally multiplication too will be further larger. </a:t>
                </a:r>
              </a:p>
              <a:p>
                <a:pPr marL="174625" marR="0" lvl="0" indent="-174625" algn="l" defTabSz="914400" rtl="0" eaLnBrk="1" fontAlgn="auto" latinLnBrk="0" hangingPunct="1">
                  <a:lnSpc>
                    <a:spcPct val="100000"/>
                  </a:lnSpc>
                  <a:spcBef>
                    <a:spcPts val="400"/>
                  </a:spcBef>
                  <a:spcAft>
                    <a:spcPts val="400"/>
                  </a:spcAft>
                  <a:buClrTx/>
                  <a:buSzTx/>
                  <a:buFont typeface="Arial" panose="020B0604020202020204" pitchFamily="34" charset="0"/>
                  <a:buChar char="•"/>
                  <a:tabLst/>
                  <a:defRPr/>
                </a:pPr>
                <a:r>
                  <a:rPr lang="en-IN" sz="1600" dirty="0">
                    <a:solidFill>
                      <a:srgbClr val="003366"/>
                    </a:solidFill>
                    <a:latin typeface="Arial"/>
                    <a:ea typeface="新細明體"/>
                  </a:rPr>
                  <a:t>As a result modified/ new weight values will be too large and loss will not reduce, network will start behaving randomly.</a:t>
                </a:r>
              </a:p>
              <a:p>
                <a:pPr marR="0" lvl="0" algn="l" defTabSz="914400" rtl="0" eaLnBrk="1" fontAlgn="auto" latinLnBrk="0" hangingPunct="1">
                  <a:lnSpc>
                    <a:spcPct val="100000"/>
                  </a:lnSpc>
                  <a:spcBef>
                    <a:spcPts val="400"/>
                  </a:spcBef>
                  <a:spcAft>
                    <a:spcPts val="400"/>
                  </a:spcAft>
                  <a:buClrTx/>
                  <a:buSzTx/>
                  <a:tabLst/>
                  <a:defRPr/>
                </a:pPr>
                <a:r>
                  <a:rPr lang="en-IN" sz="1600" dirty="0">
                    <a:solidFill>
                      <a:srgbClr val="003366"/>
                    </a:solidFill>
                    <a:latin typeface="Arial"/>
                    <a:ea typeface="新細明體"/>
                  </a:rPr>
                  <a:t> </a:t>
                </a:r>
                <a:r>
                  <a:rPr lang="en-US" sz="1600" b="1" dirty="0">
                    <a:solidFill>
                      <a:srgbClr val="003366"/>
                    </a:solidFill>
                    <a:latin typeface="Arial"/>
                    <a:ea typeface="新細明體"/>
                  </a:rPr>
                  <a:t>Solution: Gradient Clipping:</a:t>
                </a:r>
              </a:p>
              <a:p>
                <a:pPr marL="0" marR="0" lvl="0" indent="0" algn="l" defTabSz="914400" rtl="0" eaLnBrk="1" fontAlgn="auto" latinLnBrk="0" hangingPunct="1">
                  <a:lnSpc>
                    <a:spcPct val="100000"/>
                  </a:lnSpc>
                  <a:spcBef>
                    <a:spcPts val="400"/>
                  </a:spcBef>
                  <a:spcAft>
                    <a:spcPts val="400"/>
                  </a:spcAft>
                  <a:buClrTx/>
                  <a:buSzTx/>
                  <a:buFontTx/>
                  <a:buNone/>
                  <a:tabLst/>
                  <a:defRPr/>
                </a:pPr>
                <a:r>
                  <a:rPr kumimoji="0" lang="en-US" sz="1600" b="1" i="0" u="none" strike="noStrike" kern="1200" cap="none" spc="0" normalizeH="0" baseline="0" noProof="0" dirty="0">
                    <a:ln>
                      <a:noFill/>
                    </a:ln>
                    <a:solidFill>
                      <a:srgbClr val="003366"/>
                    </a:solidFill>
                    <a:effectLst/>
                    <a:uLnTx/>
                    <a:uFillTx/>
                    <a:latin typeface="Arial"/>
                    <a:ea typeface="新細明體"/>
                    <a:cs typeface="+mn-cs"/>
                  </a:rPr>
                  <a:t>Gradient Clipping: </a:t>
                </a:r>
                <a:r>
                  <a:rPr lang="en-US" sz="1600" dirty="0"/>
                  <a:t>It is a technique used to cope with the exploding gradient problem sometimes encountered when performing backpropagation. By capping the maximum value for the gradient, this phenomenon is controlled in practice.</a:t>
                </a:r>
              </a:p>
              <a:p>
                <a:pPr>
                  <a:spcBef>
                    <a:spcPts val="400"/>
                  </a:spcBef>
                  <a:spcAft>
                    <a:spcPts val="400"/>
                  </a:spcAft>
                  <a:defRPr/>
                </a:pPr>
                <a:endParaRPr lang="en-US" sz="1600" dirty="0"/>
              </a:p>
              <a:p>
                <a:pPr>
                  <a:spcBef>
                    <a:spcPts val="400"/>
                  </a:spcBef>
                  <a:spcAft>
                    <a:spcPts val="400"/>
                  </a:spcAft>
                  <a:defRPr/>
                </a:pPr>
                <a:endParaRPr lang="en-US" sz="1600" dirty="0"/>
              </a:p>
              <a:p>
                <a:pPr marR="0" lvl="0" algn="l" defTabSz="914400" rtl="0" eaLnBrk="1" fontAlgn="auto" latinLnBrk="0" hangingPunct="1">
                  <a:lnSpc>
                    <a:spcPct val="100000"/>
                  </a:lnSpc>
                  <a:spcBef>
                    <a:spcPts val="400"/>
                  </a:spcBef>
                  <a:spcAft>
                    <a:spcPts val="400"/>
                  </a:spcAft>
                  <a:buClrTx/>
                  <a:buSzTx/>
                  <a:tabLst/>
                  <a:defRPr/>
                </a:pPr>
                <a:r>
                  <a:rPr lang="en-US" sz="1600" b="1" dirty="0">
                    <a:solidFill>
                      <a:srgbClr val="003366"/>
                    </a:solidFill>
                    <a:latin typeface="Arial"/>
                    <a:ea typeface="新細明體"/>
                  </a:rPr>
                  <a:t> </a:t>
                </a:r>
                <a:endParaRPr lang="en-IN" sz="1600" b="1" dirty="0">
                  <a:solidFill>
                    <a:srgbClr val="003366"/>
                  </a:solidFill>
                  <a:latin typeface="Arial"/>
                  <a:ea typeface="新細明體"/>
                </a:endParaRPr>
              </a:p>
            </p:txBody>
          </p:sp>
        </mc:Choice>
        <mc:Fallback xmlns="">
          <p:sp>
            <p:nvSpPr>
              <p:cNvPr id="8" name="TextBox 7">
                <a:extLst>
                  <a:ext uri="{FF2B5EF4-FFF2-40B4-BE49-F238E27FC236}">
                    <a16:creationId xmlns:a16="http://schemas.microsoft.com/office/drawing/2014/main" id="{4E6B9E64-E662-73D8-EC40-74C4F125BDFB}"/>
                  </a:ext>
                </a:extLst>
              </p:cNvPr>
              <p:cNvSpPr txBox="1">
                <a:spLocks noRot="1" noChangeAspect="1" noMove="1" noResize="1" noEditPoints="1" noAdjustHandles="1" noChangeArrowheads="1" noChangeShapeType="1" noTextEdit="1"/>
              </p:cNvSpPr>
              <p:nvPr/>
            </p:nvSpPr>
            <p:spPr>
              <a:xfrm>
                <a:off x="4762500" y="2265171"/>
                <a:ext cx="7300064" cy="4475969"/>
              </a:xfrm>
              <a:prstGeom prst="rect">
                <a:avLst/>
              </a:prstGeom>
              <a:blipFill>
                <a:blip r:embed="rId3"/>
                <a:stretch>
                  <a:fillRect l="-333" t="-272"/>
                </a:stretch>
              </a:blipFill>
              <a:ln>
                <a:solidFill>
                  <a:srgbClr val="1D1D1D"/>
                </a:solidFill>
              </a:ln>
            </p:spPr>
            <p:txBody>
              <a:bodyPr/>
              <a:lstStyle/>
              <a:p>
                <a:r>
                  <a:rPr lang="en-IN">
                    <a:noFill/>
                  </a:rPr>
                  <a:t> </a:t>
                </a:r>
              </a:p>
            </p:txBody>
          </p:sp>
        </mc:Fallback>
      </mc:AlternateContent>
      <p:pic>
        <p:nvPicPr>
          <p:cNvPr id="9" name="Picture 8">
            <a:extLst>
              <a:ext uri="{FF2B5EF4-FFF2-40B4-BE49-F238E27FC236}">
                <a16:creationId xmlns:a16="http://schemas.microsoft.com/office/drawing/2014/main" id="{B08FE86D-6371-A2D0-0798-36F4E0470279}"/>
              </a:ext>
            </a:extLst>
          </p:cNvPr>
          <p:cNvPicPr>
            <a:picLocks noChangeAspect="1"/>
          </p:cNvPicPr>
          <p:nvPr/>
        </p:nvPicPr>
        <p:blipFill>
          <a:blip r:embed="rId4"/>
          <a:stretch>
            <a:fillRect/>
          </a:stretch>
        </p:blipFill>
        <p:spPr>
          <a:xfrm>
            <a:off x="6299200" y="5422726"/>
            <a:ext cx="3473623" cy="1346548"/>
          </a:xfrm>
          <a:prstGeom prst="rect">
            <a:avLst/>
          </a:prstGeom>
          <a:ln>
            <a:solidFill>
              <a:srgbClr val="000000"/>
            </a:solidFill>
          </a:ln>
        </p:spPr>
      </p:pic>
      <p:sp>
        <p:nvSpPr>
          <p:cNvPr id="10" name="TextBox 9">
            <a:extLst>
              <a:ext uri="{FF2B5EF4-FFF2-40B4-BE49-F238E27FC236}">
                <a16:creationId xmlns:a16="http://schemas.microsoft.com/office/drawing/2014/main" id="{A6DEC95D-87C8-E80E-81EB-11B21EBDD88B}"/>
              </a:ext>
            </a:extLst>
          </p:cNvPr>
          <p:cNvSpPr txBox="1"/>
          <p:nvPr/>
        </p:nvSpPr>
        <p:spPr>
          <a:xfrm>
            <a:off x="5609749" y="53526"/>
            <a:ext cx="6582251" cy="338554"/>
          </a:xfrm>
          <a:prstGeom prst="rect">
            <a:avLst/>
          </a:prstGeom>
          <a:noFill/>
          <a:ln>
            <a:solidFill>
              <a:srgbClr val="1D1D1D"/>
            </a:solidFill>
          </a:ln>
        </p:spPr>
        <p:txBody>
          <a:bodyPr wrap="none" rtlCol="0">
            <a:spAutoFit/>
          </a:bodyPr>
          <a:lstStyle/>
          <a:p>
            <a:r>
              <a:rPr lang="en-IN" sz="1600" b="1" dirty="0">
                <a:solidFill>
                  <a:srgbClr val="FF0000"/>
                </a:solidFill>
              </a:rPr>
              <a:t>Other solution: Use truncated BTT Backpropagation through time</a:t>
            </a:r>
          </a:p>
        </p:txBody>
      </p:sp>
    </p:spTree>
    <p:extLst>
      <p:ext uri="{BB962C8B-B14F-4D97-AF65-F5344CB8AC3E}">
        <p14:creationId xmlns:p14="http://schemas.microsoft.com/office/powerpoint/2010/main" val="7500358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FC9D6-2A06-47BA-1608-F42188CC0ABB}"/>
              </a:ext>
            </a:extLst>
          </p:cNvPr>
          <p:cNvSpPr>
            <a:spLocks noGrp="1"/>
          </p:cNvSpPr>
          <p:nvPr>
            <p:ph type="title"/>
          </p:nvPr>
        </p:nvSpPr>
        <p:spPr/>
        <p:txBody>
          <a:bodyPr/>
          <a:lstStyle/>
          <a:p>
            <a:r>
              <a:rPr lang="en-US" dirty="0"/>
              <a:t>Seminar Topics</a:t>
            </a:r>
            <a:endParaRPr lang="en-IN" dirty="0"/>
          </a:p>
        </p:txBody>
      </p:sp>
      <p:sp>
        <p:nvSpPr>
          <p:cNvPr id="3" name="Content Placeholder 2">
            <a:extLst>
              <a:ext uri="{FF2B5EF4-FFF2-40B4-BE49-F238E27FC236}">
                <a16:creationId xmlns:a16="http://schemas.microsoft.com/office/drawing/2014/main" id="{BB6D9FB9-DBE3-B96E-C3B5-7300E16AD80B}"/>
              </a:ext>
            </a:extLst>
          </p:cNvPr>
          <p:cNvSpPr>
            <a:spLocks noGrp="1"/>
          </p:cNvSpPr>
          <p:nvPr>
            <p:ph idx="1"/>
          </p:nvPr>
        </p:nvSpPr>
        <p:spPr>
          <a:ln>
            <a:solidFill>
              <a:schemeClr val="tx1"/>
            </a:solidFill>
          </a:ln>
        </p:spPr>
        <p:txBody>
          <a:bodyPr/>
          <a:lstStyle/>
          <a:p>
            <a:r>
              <a:rPr lang="en-US" dirty="0"/>
              <a:t>Stock price prediction using RNN …..Bhupesh</a:t>
            </a:r>
          </a:p>
          <a:p>
            <a:r>
              <a:rPr lang="en-US" dirty="0"/>
              <a:t>Sentiment analysis using RNN …… Glenn</a:t>
            </a:r>
          </a:p>
          <a:p>
            <a:r>
              <a:rPr lang="en-US" dirty="0"/>
              <a:t>Sentiment analysis using LSTM …..Aditi</a:t>
            </a:r>
          </a:p>
          <a:p>
            <a:r>
              <a:rPr lang="en-US" dirty="0"/>
              <a:t>Autoencoder application1 …… Aditya</a:t>
            </a:r>
          </a:p>
          <a:p>
            <a:r>
              <a:rPr lang="en-US" dirty="0"/>
              <a:t>Autoencoder application2 …… Risha</a:t>
            </a:r>
          </a:p>
          <a:p>
            <a:r>
              <a:rPr lang="en-US" dirty="0"/>
              <a:t>Application of LSTM …..Kashyap</a:t>
            </a:r>
          </a:p>
          <a:p>
            <a:endParaRPr lang="en-US" dirty="0"/>
          </a:p>
          <a:p>
            <a:endParaRPr lang="en-US" dirty="0"/>
          </a:p>
          <a:p>
            <a:endParaRPr lang="en-IN" dirty="0"/>
          </a:p>
        </p:txBody>
      </p:sp>
      <p:sp>
        <p:nvSpPr>
          <p:cNvPr id="4" name="Slide Number Placeholder 3">
            <a:extLst>
              <a:ext uri="{FF2B5EF4-FFF2-40B4-BE49-F238E27FC236}">
                <a16:creationId xmlns:a16="http://schemas.microsoft.com/office/drawing/2014/main" id="{979D5F08-0F4E-A6ED-6FC8-F429E1CBF7C1}"/>
              </a:ext>
            </a:extLst>
          </p:cNvPr>
          <p:cNvSpPr>
            <a:spLocks noGrp="1"/>
          </p:cNvSpPr>
          <p:nvPr>
            <p:ph type="sldNum" sz="quarter" idx="12"/>
          </p:nvPr>
        </p:nvSpPr>
        <p:spPr/>
        <p:txBody>
          <a:bodyPr/>
          <a:lstStyle/>
          <a:p>
            <a:pPr>
              <a:defRPr/>
            </a:pPr>
            <a:fld id="{9AD681D7-8A59-4380-9311-10B86FF921AA}" type="slidenum">
              <a:rPr lang="en-US" altLang="zh-TW" smtClean="0"/>
              <a:pPr>
                <a:defRPr/>
              </a:pPr>
              <a:t>29</a:t>
            </a:fld>
            <a:endParaRPr lang="en-US" altLang="zh-TW"/>
          </a:p>
        </p:txBody>
      </p:sp>
    </p:spTree>
    <p:extLst>
      <p:ext uri="{BB962C8B-B14F-4D97-AF65-F5344CB8AC3E}">
        <p14:creationId xmlns:p14="http://schemas.microsoft.com/office/powerpoint/2010/main" val="40359491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3CF26-7545-04D0-FB48-9422D9049849}"/>
              </a:ext>
            </a:extLst>
          </p:cNvPr>
          <p:cNvSpPr>
            <a:spLocks noGrp="1"/>
          </p:cNvSpPr>
          <p:nvPr>
            <p:ph type="title"/>
          </p:nvPr>
        </p:nvSpPr>
        <p:spPr/>
        <p:txBody>
          <a:bodyPr/>
          <a:lstStyle/>
          <a:p>
            <a:r>
              <a:rPr lang="en-IN" dirty="0"/>
              <a:t>Long Short Term Memory</a:t>
            </a:r>
          </a:p>
        </p:txBody>
      </p:sp>
      <p:sp>
        <p:nvSpPr>
          <p:cNvPr id="3" name="Content Placeholder 2">
            <a:extLst>
              <a:ext uri="{FF2B5EF4-FFF2-40B4-BE49-F238E27FC236}">
                <a16:creationId xmlns:a16="http://schemas.microsoft.com/office/drawing/2014/main" id="{95F9C2A9-B214-2B91-2271-092921BA80A3}"/>
              </a:ext>
            </a:extLst>
          </p:cNvPr>
          <p:cNvSpPr>
            <a:spLocks noGrp="1"/>
          </p:cNvSpPr>
          <p:nvPr>
            <p:ph idx="1"/>
          </p:nvPr>
        </p:nvSpPr>
        <p:spPr>
          <a:xfrm>
            <a:off x="1117601" y="2362201"/>
            <a:ext cx="11074399" cy="3879849"/>
          </a:xfrm>
          <a:ln>
            <a:solidFill>
              <a:srgbClr val="000000"/>
            </a:solidFill>
          </a:ln>
        </p:spPr>
        <p:txBody>
          <a:bodyPr/>
          <a:lstStyle/>
          <a:p>
            <a:pPr marL="174625" indent="-174625" algn="l">
              <a:lnSpc>
                <a:spcPct val="200000"/>
              </a:lnSpc>
            </a:pPr>
            <a:r>
              <a:rPr lang="en-US" sz="1600" dirty="0">
                <a:ea typeface="+mn-ea"/>
              </a:rPr>
              <a:t>Long Short-Term Memory networks (LSTMs) are a special kind of RNN, </a:t>
            </a:r>
            <a:r>
              <a:rPr lang="en-US" sz="1600" b="1" dirty="0">
                <a:ea typeface="+mn-ea"/>
              </a:rPr>
              <a:t>capable of learning long-term dependencies.</a:t>
            </a:r>
          </a:p>
          <a:p>
            <a:pPr marL="174625" indent="-174625" algn="l">
              <a:lnSpc>
                <a:spcPct val="200000"/>
              </a:lnSpc>
            </a:pPr>
            <a:r>
              <a:rPr lang="en-US" sz="1600" dirty="0">
                <a:ea typeface="+mn-ea"/>
              </a:rPr>
              <a:t> They </a:t>
            </a:r>
            <a:r>
              <a:rPr lang="en-US" sz="1600" b="1" dirty="0">
                <a:ea typeface="+mn-ea"/>
              </a:rPr>
              <a:t>work tremendously well on a large variety of problems</a:t>
            </a:r>
            <a:r>
              <a:rPr lang="en-US" sz="1600" dirty="0">
                <a:ea typeface="+mn-ea"/>
              </a:rPr>
              <a:t>, and are now widely used. </a:t>
            </a:r>
          </a:p>
          <a:p>
            <a:pPr marL="174625" indent="-174625" algn="l">
              <a:lnSpc>
                <a:spcPct val="200000"/>
              </a:lnSpc>
            </a:pPr>
            <a:r>
              <a:rPr lang="en-US" sz="1600" dirty="0">
                <a:ea typeface="+mn-ea"/>
              </a:rPr>
              <a:t>LSTMs are </a:t>
            </a:r>
            <a:r>
              <a:rPr lang="en-US" sz="1600" b="1" dirty="0">
                <a:ea typeface="+mn-ea"/>
              </a:rPr>
              <a:t>explicitly designed </a:t>
            </a:r>
            <a:r>
              <a:rPr lang="en-US" sz="1600" dirty="0">
                <a:ea typeface="+mn-ea"/>
              </a:rPr>
              <a:t>to </a:t>
            </a:r>
            <a:r>
              <a:rPr lang="en-US" sz="1600" b="1" dirty="0">
                <a:ea typeface="+mn-ea"/>
              </a:rPr>
              <a:t>avoid the long-term dependency problem. </a:t>
            </a:r>
          </a:p>
          <a:p>
            <a:pPr marL="174625" indent="-174625" algn="l">
              <a:lnSpc>
                <a:spcPct val="200000"/>
              </a:lnSpc>
            </a:pPr>
            <a:r>
              <a:rPr lang="en-US" sz="1600" dirty="0">
                <a:ea typeface="+mn-ea"/>
              </a:rPr>
              <a:t>Connecting information among long periods of time is practically their default behavior.</a:t>
            </a:r>
          </a:p>
          <a:p>
            <a:pPr marL="174625" indent="-174625" algn="l">
              <a:lnSpc>
                <a:spcPct val="200000"/>
              </a:lnSpc>
            </a:pPr>
            <a:r>
              <a:rPr lang="en-US" sz="1600" dirty="0">
                <a:ea typeface="+mn-ea"/>
              </a:rPr>
              <a:t>They have a </a:t>
            </a:r>
            <a:r>
              <a:rPr lang="en-US" sz="1600" b="1" dirty="0">
                <a:ea typeface="+mn-ea"/>
              </a:rPr>
              <a:t>more complex cell structure than a normal recurrent neuron</a:t>
            </a:r>
            <a:r>
              <a:rPr lang="en-US" sz="1600" dirty="0">
                <a:ea typeface="+mn-ea"/>
              </a:rPr>
              <a:t>, </a:t>
            </a:r>
            <a:r>
              <a:rPr lang="en-US" sz="1600" b="1" dirty="0">
                <a:ea typeface="+mn-ea"/>
              </a:rPr>
              <a:t>that allows them to better regulate how to </a:t>
            </a:r>
            <a:r>
              <a:rPr lang="en-US" sz="1600" b="1" dirty="0">
                <a:solidFill>
                  <a:srgbClr val="FF0000"/>
                </a:solidFill>
                <a:ea typeface="+mn-ea"/>
              </a:rPr>
              <a:t>learn or forget efficiently </a:t>
            </a:r>
            <a:r>
              <a:rPr lang="en-US" sz="1600" b="1" dirty="0">
                <a:ea typeface="+mn-ea"/>
              </a:rPr>
              <a:t>from the different input sources.</a:t>
            </a:r>
          </a:p>
        </p:txBody>
      </p:sp>
      <p:sp>
        <p:nvSpPr>
          <p:cNvPr id="4" name="Slide Number Placeholder 3">
            <a:extLst>
              <a:ext uri="{FF2B5EF4-FFF2-40B4-BE49-F238E27FC236}">
                <a16:creationId xmlns:a16="http://schemas.microsoft.com/office/drawing/2014/main" id="{0A1E5C66-04FF-758B-D51F-6517A37A4F57}"/>
              </a:ext>
            </a:extLst>
          </p:cNvPr>
          <p:cNvSpPr>
            <a:spLocks noGrp="1"/>
          </p:cNvSpPr>
          <p:nvPr>
            <p:ph type="sldNum" sz="quarter" idx="12"/>
          </p:nvPr>
        </p:nvSpPr>
        <p:spPr/>
        <p:txBody>
          <a:bodyPr/>
          <a:lstStyle/>
          <a:p>
            <a:pPr>
              <a:defRPr/>
            </a:pPr>
            <a:fld id="{9AD681D7-8A59-4380-9311-10B86FF921AA}" type="slidenum">
              <a:rPr lang="en-US" altLang="zh-TW" smtClean="0"/>
              <a:pPr>
                <a:defRPr/>
              </a:pPr>
              <a:t>30</a:t>
            </a:fld>
            <a:endParaRPr lang="en-US" altLang="zh-TW"/>
          </a:p>
        </p:txBody>
      </p:sp>
      <p:sp>
        <p:nvSpPr>
          <p:cNvPr id="6" name="TextBox 5">
            <a:extLst>
              <a:ext uri="{FF2B5EF4-FFF2-40B4-BE49-F238E27FC236}">
                <a16:creationId xmlns:a16="http://schemas.microsoft.com/office/drawing/2014/main" id="{534B50CE-D2AE-7808-5678-FDEA83812370}"/>
              </a:ext>
            </a:extLst>
          </p:cNvPr>
          <p:cNvSpPr txBox="1"/>
          <p:nvPr/>
        </p:nvSpPr>
        <p:spPr>
          <a:xfrm>
            <a:off x="6541476" y="101515"/>
            <a:ext cx="5542672" cy="584775"/>
          </a:xfrm>
          <a:prstGeom prst="rect">
            <a:avLst/>
          </a:prstGeom>
          <a:noFill/>
          <a:ln>
            <a:solidFill>
              <a:schemeClr val="tx1"/>
            </a:solidFill>
          </a:ln>
        </p:spPr>
        <p:txBody>
          <a:bodyPr wrap="square">
            <a:spAutoFit/>
          </a:bodyPr>
          <a:lstStyle/>
          <a:p>
            <a:r>
              <a:rPr lang="en-IN" sz="1600" b="1" dirty="0"/>
              <a:t>https://www.youtube.com/watch?v=z7IPBg6MyrU&amp;list=PLKnIA16_RmvYuZauWaPlRTC54KxSNLtNn&amp;index=62</a:t>
            </a:r>
          </a:p>
        </p:txBody>
      </p:sp>
    </p:spTree>
    <p:extLst>
      <p:ext uri="{BB962C8B-B14F-4D97-AF65-F5344CB8AC3E}">
        <p14:creationId xmlns:p14="http://schemas.microsoft.com/office/powerpoint/2010/main" val="31264480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CA563-4E0D-2EA2-5C06-3454B42EBAE4}"/>
              </a:ext>
            </a:extLst>
          </p:cNvPr>
          <p:cNvSpPr>
            <a:spLocks noGrp="1"/>
          </p:cNvSpPr>
          <p:nvPr>
            <p:ph type="title"/>
          </p:nvPr>
        </p:nvSpPr>
        <p:spPr/>
        <p:txBody>
          <a:bodyPr/>
          <a:lstStyle/>
          <a:p>
            <a:r>
              <a:rPr kumimoji="1" lang="en-IN" sz="3600" b="1" i="0" u="none" strike="noStrike" kern="1200" cap="none" spc="0" normalizeH="0" baseline="0" noProof="0" dirty="0">
                <a:ln>
                  <a:noFill/>
                </a:ln>
                <a:solidFill>
                  <a:srgbClr val="006666"/>
                </a:solidFill>
                <a:effectLst/>
                <a:uLnTx/>
                <a:uFillTx/>
                <a:latin typeface="Arial"/>
                <a:ea typeface="PMingLiU" panose="02020500000000000000" pitchFamily="18" charset="-120"/>
                <a:cs typeface="+mj-cs"/>
              </a:rPr>
              <a:t>Long Short Term Memory</a:t>
            </a:r>
            <a:endParaRPr lang="en-IN" dirty="0"/>
          </a:p>
        </p:txBody>
      </p:sp>
      <p:pic>
        <p:nvPicPr>
          <p:cNvPr id="5" name="Content Placeholder 4">
            <a:extLst>
              <a:ext uri="{FF2B5EF4-FFF2-40B4-BE49-F238E27FC236}">
                <a16:creationId xmlns:a16="http://schemas.microsoft.com/office/drawing/2014/main" id="{871F8E39-2046-8F32-DDEC-286DFCD29998}"/>
              </a:ext>
            </a:extLst>
          </p:cNvPr>
          <p:cNvPicPr>
            <a:picLocks noGrp="1" noChangeAspect="1"/>
          </p:cNvPicPr>
          <p:nvPr>
            <p:ph idx="1"/>
          </p:nvPr>
        </p:nvPicPr>
        <p:blipFill>
          <a:blip r:embed="rId2"/>
          <a:stretch>
            <a:fillRect/>
          </a:stretch>
        </p:blipFill>
        <p:spPr>
          <a:xfrm>
            <a:off x="0" y="2061576"/>
            <a:ext cx="5180943" cy="2760945"/>
          </a:xfrm>
          <a:prstGeom prst="rect">
            <a:avLst/>
          </a:prstGeom>
          <a:ln>
            <a:solidFill>
              <a:schemeClr val="tx1"/>
            </a:solidFill>
          </a:ln>
        </p:spPr>
      </p:pic>
      <p:sp>
        <p:nvSpPr>
          <p:cNvPr id="4" name="Slide Number Placeholder 3">
            <a:extLst>
              <a:ext uri="{FF2B5EF4-FFF2-40B4-BE49-F238E27FC236}">
                <a16:creationId xmlns:a16="http://schemas.microsoft.com/office/drawing/2014/main" id="{122EC637-F371-594A-4547-CD68151778EF}"/>
              </a:ext>
            </a:extLst>
          </p:cNvPr>
          <p:cNvSpPr>
            <a:spLocks noGrp="1"/>
          </p:cNvSpPr>
          <p:nvPr>
            <p:ph type="sldNum" sz="quarter" idx="12"/>
          </p:nvPr>
        </p:nvSpPr>
        <p:spPr/>
        <p:txBody>
          <a:bodyPr/>
          <a:lstStyle/>
          <a:p>
            <a:pPr>
              <a:defRPr/>
            </a:pPr>
            <a:fld id="{9AD681D7-8A59-4380-9311-10B86FF921AA}" type="slidenum">
              <a:rPr lang="en-US" altLang="zh-TW" smtClean="0"/>
              <a:pPr>
                <a:defRPr/>
              </a:pPr>
              <a:t>31</a:t>
            </a:fld>
            <a:endParaRPr lang="en-US" altLang="zh-TW"/>
          </a:p>
        </p:txBody>
      </p:sp>
      <p:pic>
        <p:nvPicPr>
          <p:cNvPr id="8194" name="Picture 2">
            <a:extLst>
              <a:ext uri="{FF2B5EF4-FFF2-40B4-BE49-F238E27FC236}">
                <a16:creationId xmlns:a16="http://schemas.microsoft.com/office/drawing/2014/main" id="{1E441A75-4C9E-68E7-715D-FAA7EC7763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36712" y="2061577"/>
            <a:ext cx="6104351" cy="2760944"/>
          </a:xfrm>
          <a:prstGeom prst="rect">
            <a:avLst/>
          </a:prstGeom>
          <a:noFill/>
          <a:ln>
            <a:solidFill>
              <a:srgbClr val="1D1D1D"/>
            </a:solidFill>
          </a:ln>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100087B-6E9A-0856-F133-51C50CB9F933}"/>
              </a:ext>
            </a:extLst>
          </p:cNvPr>
          <p:cNvSpPr txBox="1"/>
          <p:nvPr/>
        </p:nvSpPr>
        <p:spPr>
          <a:xfrm>
            <a:off x="915058" y="5535845"/>
            <a:ext cx="5180942" cy="1200329"/>
          </a:xfrm>
          <a:prstGeom prst="rect">
            <a:avLst/>
          </a:prstGeom>
          <a:noFill/>
          <a:ln>
            <a:solidFill>
              <a:schemeClr val="tx1"/>
            </a:solidFill>
          </a:ln>
        </p:spPr>
        <p:txBody>
          <a:bodyPr wrap="square" rtlCol="0">
            <a:spAutoFit/>
          </a:bodyPr>
          <a:lstStyle/>
          <a:p>
            <a:r>
              <a:rPr lang="en-US" dirty="0"/>
              <a:t>All RNN are in the form of a chain of repeating modules of a neural network. In standard RNNs, this repeating module will have a very </a:t>
            </a:r>
            <a:r>
              <a:rPr lang="en-US" b="1" dirty="0"/>
              <a:t>simple structure</a:t>
            </a:r>
            <a:r>
              <a:rPr lang="en-US" dirty="0"/>
              <a:t>,  </a:t>
            </a:r>
            <a:r>
              <a:rPr lang="en-US" b="1" dirty="0"/>
              <a:t>such as a single tanh layer</a:t>
            </a:r>
            <a:r>
              <a:rPr lang="en-US" dirty="0"/>
              <a:t>.</a:t>
            </a:r>
            <a:endParaRPr lang="en-IN" dirty="0"/>
          </a:p>
        </p:txBody>
      </p:sp>
      <p:sp>
        <p:nvSpPr>
          <p:cNvPr id="7" name="TextBox 6">
            <a:extLst>
              <a:ext uri="{FF2B5EF4-FFF2-40B4-BE49-F238E27FC236}">
                <a16:creationId xmlns:a16="http://schemas.microsoft.com/office/drawing/2014/main" id="{8A9371B9-ED44-CD59-E472-F9063DAFFA95}"/>
              </a:ext>
            </a:extLst>
          </p:cNvPr>
          <p:cNvSpPr txBox="1"/>
          <p:nvPr/>
        </p:nvSpPr>
        <p:spPr>
          <a:xfrm>
            <a:off x="4899455" y="3184375"/>
            <a:ext cx="562975" cy="307777"/>
          </a:xfrm>
          <a:prstGeom prst="rect">
            <a:avLst/>
          </a:prstGeom>
          <a:noFill/>
        </p:spPr>
        <p:txBody>
          <a:bodyPr wrap="none" rtlCol="0">
            <a:spAutoFit/>
          </a:bodyPr>
          <a:lstStyle/>
          <a:p>
            <a:r>
              <a:rPr lang="en-IN" sz="1400" dirty="0"/>
              <a:t>STM</a:t>
            </a:r>
          </a:p>
        </p:txBody>
      </p:sp>
      <p:sp>
        <p:nvSpPr>
          <p:cNvPr id="8" name="TextBox 7">
            <a:extLst>
              <a:ext uri="{FF2B5EF4-FFF2-40B4-BE49-F238E27FC236}">
                <a16:creationId xmlns:a16="http://schemas.microsoft.com/office/drawing/2014/main" id="{D4EAFECF-38E9-828C-01DC-A1C1B5FE70A2}"/>
              </a:ext>
            </a:extLst>
          </p:cNvPr>
          <p:cNvSpPr txBox="1"/>
          <p:nvPr/>
        </p:nvSpPr>
        <p:spPr>
          <a:xfrm>
            <a:off x="11476662" y="3591904"/>
            <a:ext cx="562975" cy="307777"/>
          </a:xfrm>
          <a:prstGeom prst="rect">
            <a:avLst/>
          </a:prstGeom>
          <a:noFill/>
        </p:spPr>
        <p:txBody>
          <a:bodyPr wrap="none" rtlCol="0">
            <a:spAutoFit/>
          </a:bodyPr>
          <a:lstStyle/>
          <a:p>
            <a:r>
              <a:rPr lang="en-IN" sz="1400" dirty="0"/>
              <a:t>STM</a:t>
            </a:r>
          </a:p>
        </p:txBody>
      </p:sp>
      <p:sp>
        <p:nvSpPr>
          <p:cNvPr id="9" name="TextBox 8">
            <a:extLst>
              <a:ext uri="{FF2B5EF4-FFF2-40B4-BE49-F238E27FC236}">
                <a16:creationId xmlns:a16="http://schemas.microsoft.com/office/drawing/2014/main" id="{02E40A62-1DA0-D736-9403-0DE59B243177}"/>
              </a:ext>
            </a:extLst>
          </p:cNvPr>
          <p:cNvSpPr txBox="1"/>
          <p:nvPr/>
        </p:nvSpPr>
        <p:spPr>
          <a:xfrm>
            <a:off x="11476662" y="2812535"/>
            <a:ext cx="528799" cy="307777"/>
          </a:xfrm>
          <a:prstGeom prst="rect">
            <a:avLst/>
          </a:prstGeom>
          <a:noFill/>
        </p:spPr>
        <p:txBody>
          <a:bodyPr wrap="none" rtlCol="0">
            <a:spAutoFit/>
          </a:bodyPr>
          <a:lstStyle/>
          <a:p>
            <a:r>
              <a:rPr lang="en-IN" sz="1400" dirty="0"/>
              <a:t>LTM</a:t>
            </a:r>
          </a:p>
        </p:txBody>
      </p:sp>
      <p:sp>
        <p:nvSpPr>
          <p:cNvPr id="10" name="TextBox 9">
            <a:extLst>
              <a:ext uri="{FF2B5EF4-FFF2-40B4-BE49-F238E27FC236}">
                <a16:creationId xmlns:a16="http://schemas.microsoft.com/office/drawing/2014/main" id="{37BE91D0-F8AA-51BD-2BF1-5140B61FFEF2}"/>
              </a:ext>
            </a:extLst>
          </p:cNvPr>
          <p:cNvSpPr txBox="1"/>
          <p:nvPr/>
        </p:nvSpPr>
        <p:spPr>
          <a:xfrm>
            <a:off x="3147488" y="5220716"/>
            <a:ext cx="684803" cy="369332"/>
          </a:xfrm>
          <a:prstGeom prst="rect">
            <a:avLst/>
          </a:prstGeom>
          <a:noFill/>
        </p:spPr>
        <p:txBody>
          <a:bodyPr wrap="none" rtlCol="0">
            <a:spAutoFit/>
          </a:bodyPr>
          <a:lstStyle/>
          <a:p>
            <a:r>
              <a:rPr lang="en-IN" b="1" dirty="0"/>
              <a:t>RNN</a:t>
            </a:r>
          </a:p>
        </p:txBody>
      </p:sp>
      <p:sp>
        <p:nvSpPr>
          <p:cNvPr id="11" name="TextBox 10">
            <a:extLst>
              <a:ext uri="{FF2B5EF4-FFF2-40B4-BE49-F238E27FC236}">
                <a16:creationId xmlns:a16="http://schemas.microsoft.com/office/drawing/2014/main" id="{87DD02EF-1CA1-BDA4-C5CE-6AE93E796626}"/>
              </a:ext>
            </a:extLst>
          </p:cNvPr>
          <p:cNvSpPr txBox="1"/>
          <p:nvPr/>
        </p:nvSpPr>
        <p:spPr>
          <a:xfrm>
            <a:off x="8187584" y="4836515"/>
            <a:ext cx="813043" cy="369332"/>
          </a:xfrm>
          <a:prstGeom prst="rect">
            <a:avLst/>
          </a:prstGeom>
          <a:noFill/>
        </p:spPr>
        <p:txBody>
          <a:bodyPr wrap="none" rtlCol="0">
            <a:spAutoFit/>
          </a:bodyPr>
          <a:lstStyle/>
          <a:p>
            <a:r>
              <a:rPr lang="en-IN" b="1" dirty="0"/>
              <a:t>LSTM</a:t>
            </a:r>
          </a:p>
        </p:txBody>
      </p:sp>
      <p:sp>
        <p:nvSpPr>
          <p:cNvPr id="13" name="TextBox 12">
            <a:extLst>
              <a:ext uri="{FF2B5EF4-FFF2-40B4-BE49-F238E27FC236}">
                <a16:creationId xmlns:a16="http://schemas.microsoft.com/office/drawing/2014/main" id="{2C438CC1-20A6-ABA6-3DF2-43872C9B856A}"/>
              </a:ext>
            </a:extLst>
          </p:cNvPr>
          <p:cNvSpPr txBox="1"/>
          <p:nvPr/>
        </p:nvSpPr>
        <p:spPr>
          <a:xfrm>
            <a:off x="6096000" y="5162870"/>
            <a:ext cx="5809255" cy="1661993"/>
          </a:xfrm>
          <a:prstGeom prst="rect">
            <a:avLst/>
          </a:prstGeom>
          <a:noFill/>
          <a:ln>
            <a:solidFill>
              <a:srgbClr val="1D1D1D"/>
            </a:solidFill>
          </a:ln>
        </p:spPr>
        <p:txBody>
          <a:bodyPr wrap="square">
            <a:spAutoFit/>
          </a:bodyPr>
          <a:lstStyle/>
          <a:p>
            <a:r>
              <a:rPr lang="en-US" sz="1700" dirty="0"/>
              <a:t>LSTMs also have a chain-like structure, but the repeating module is a bit different </a:t>
            </a:r>
            <a:r>
              <a:rPr lang="en-US" sz="1700" b="1" dirty="0"/>
              <a:t>complex structure</a:t>
            </a:r>
            <a:r>
              <a:rPr lang="en-US" sz="1700" dirty="0"/>
              <a:t>. Instead of having a single neural network layer, </a:t>
            </a:r>
            <a:r>
              <a:rPr lang="en-US" sz="1700" b="1" dirty="0"/>
              <a:t>four interacting layers are communicating extraordinarily</a:t>
            </a:r>
            <a:r>
              <a:rPr lang="en-US" sz="1700" dirty="0"/>
              <a:t>.</a:t>
            </a:r>
            <a:r>
              <a:rPr lang="en-US" sz="1700" b="0" i="0" dirty="0">
                <a:solidFill>
                  <a:srgbClr val="05192D"/>
                </a:solidFill>
                <a:effectLst/>
                <a:highlight>
                  <a:srgbClr val="FFFFFF"/>
                </a:highlight>
                <a:latin typeface="Studio-Feixen-Sans"/>
              </a:rPr>
              <a:t> </a:t>
            </a:r>
            <a:r>
              <a:rPr lang="en-US" sz="1700" dirty="0"/>
              <a:t>This four-layered structure helps LSTM retain long-term memory and can be used in several sequential problems </a:t>
            </a:r>
            <a:endParaRPr lang="en-IN" sz="1700" dirty="0"/>
          </a:p>
        </p:txBody>
      </p:sp>
    </p:spTree>
    <p:extLst>
      <p:ext uri="{BB962C8B-B14F-4D97-AF65-F5344CB8AC3E}">
        <p14:creationId xmlns:p14="http://schemas.microsoft.com/office/powerpoint/2010/main" val="17824008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9BCA944-29FF-B4EA-71D9-1444806225F7}"/>
              </a:ext>
            </a:extLst>
          </p:cNvPr>
          <p:cNvSpPr>
            <a:spLocks noGrp="1"/>
          </p:cNvSpPr>
          <p:nvPr>
            <p:ph type="sldNum" sz="quarter" idx="12"/>
          </p:nvPr>
        </p:nvSpPr>
        <p:spPr/>
        <p:txBody>
          <a:bodyPr/>
          <a:lstStyle/>
          <a:p>
            <a:pPr>
              <a:defRPr/>
            </a:pPr>
            <a:fld id="{9AD681D7-8A59-4380-9311-10B86FF921AA}" type="slidenum">
              <a:rPr lang="en-US" altLang="zh-TW" smtClean="0"/>
              <a:pPr>
                <a:defRPr/>
              </a:pPr>
              <a:t>32</a:t>
            </a:fld>
            <a:endParaRPr lang="en-US" altLang="zh-TW"/>
          </a:p>
        </p:txBody>
      </p:sp>
      <p:pic>
        <p:nvPicPr>
          <p:cNvPr id="5" name="Picture 4">
            <a:extLst>
              <a:ext uri="{FF2B5EF4-FFF2-40B4-BE49-F238E27FC236}">
                <a16:creationId xmlns:a16="http://schemas.microsoft.com/office/drawing/2014/main" id="{60C694BE-6F6E-A612-D5BA-B67F50B1925A}"/>
              </a:ext>
            </a:extLst>
          </p:cNvPr>
          <p:cNvPicPr>
            <a:picLocks noChangeAspect="1"/>
          </p:cNvPicPr>
          <p:nvPr/>
        </p:nvPicPr>
        <p:blipFill>
          <a:blip r:embed="rId2"/>
          <a:stretch>
            <a:fillRect/>
          </a:stretch>
        </p:blipFill>
        <p:spPr>
          <a:xfrm>
            <a:off x="138153" y="204523"/>
            <a:ext cx="11915693" cy="4378361"/>
          </a:xfrm>
          <a:prstGeom prst="rect">
            <a:avLst/>
          </a:prstGeom>
        </p:spPr>
      </p:pic>
      <p:sp>
        <p:nvSpPr>
          <p:cNvPr id="6" name="TextBox 5">
            <a:extLst>
              <a:ext uri="{FF2B5EF4-FFF2-40B4-BE49-F238E27FC236}">
                <a16:creationId xmlns:a16="http://schemas.microsoft.com/office/drawing/2014/main" id="{F02CB4A0-4272-B91D-5437-26C789EE40DD}"/>
              </a:ext>
            </a:extLst>
          </p:cNvPr>
          <p:cNvSpPr txBox="1"/>
          <p:nvPr/>
        </p:nvSpPr>
        <p:spPr>
          <a:xfrm>
            <a:off x="588677" y="4675748"/>
            <a:ext cx="11465169" cy="830997"/>
          </a:xfrm>
          <a:prstGeom prst="rect">
            <a:avLst/>
          </a:prstGeom>
          <a:noFill/>
          <a:ln>
            <a:solidFill>
              <a:schemeClr val="tx1"/>
            </a:solidFill>
          </a:ln>
        </p:spPr>
        <p:txBody>
          <a:bodyPr wrap="square" rtlCol="0">
            <a:spAutoFit/>
          </a:bodyPr>
          <a:lstStyle/>
          <a:p>
            <a:r>
              <a:rPr lang="en-IN" sz="1600" b="1" dirty="0"/>
              <a:t>RNN maintains single state (short term memory), while as LSTM maintains two states (long and short term memory)</a:t>
            </a:r>
          </a:p>
          <a:p>
            <a:r>
              <a:rPr lang="en-IN" sz="1600" b="1" dirty="0"/>
              <a:t>Bottom line corresponds to </a:t>
            </a:r>
            <a:r>
              <a:rPr kumimoji="0" lang="en-IN" sz="1600" b="1" i="0" u="none" strike="noStrike" kern="1200" cap="none" spc="0" normalizeH="0" baseline="0" noProof="0" dirty="0">
                <a:ln>
                  <a:noFill/>
                </a:ln>
                <a:solidFill>
                  <a:srgbClr val="003366"/>
                </a:solidFill>
                <a:effectLst/>
                <a:uLnTx/>
                <a:uFillTx/>
                <a:latin typeface="Arial"/>
                <a:ea typeface="新細明體"/>
                <a:cs typeface="+mn-cs"/>
              </a:rPr>
              <a:t>STM </a:t>
            </a:r>
            <a:r>
              <a:rPr lang="en-IN" sz="1600" b="1" dirty="0"/>
              <a:t>and upper one for</a:t>
            </a:r>
            <a:r>
              <a:rPr kumimoji="0" lang="en-IN" sz="1600" b="1" i="0" u="none" strike="noStrike" kern="1200" cap="none" spc="0" normalizeH="0" baseline="0" noProof="0" dirty="0">
                <a:ln>
                  <a:noFill/>
                </a:ln>
                <a:solidFill>
                  <a:srgbClr val="003366"/>
                </a:solidFill>
                <a:effectLst/>
                <a:uLnTx/>
                <a:uFillTx/>
                <a:latin typeface="Arial"/>
                <a:ea typeface="新細明體"/>
                <a:cs typeface="+mn-cs"/>
              </a:rPr>
              <a:t> LTM </a:t>
            </a:r>
            <a:r>
              <a:rPr lang="en-IN" sz="1600" b="1" dirty="0"/>
              <a:t>and architecture between them helps in communication between STM and LTM</a:t>
            </a:r>
          </a:p>
        </p:txBody>
      </p:sp>
      <p:sp>
        <p:nvSpPr>
          <p:cNvPr id="7" name="TextBox 6">
            <a:extLst>
              <a:ext uri="{FF2B5EF4-FFF2-40B4-BE49-F238E27FC236}">
                <a16:creationId xmlns:a16="http://schemas.microsoft.com/office/drawing/2014/main" id="{7304C161-405B-5AD4-50B4-7CF3B50DA982}"/>
              </a:ext>
            </a:extLst>
          </p:cNvPr>
          <p:cNvSpPr txBox="1"/>
          <p:nvPr/>
        </p:nvSpPr>
        <p:spPr>
          <a:xfrm>
            <a:off x="7593979" y="3275111"/>
            <a:ext cx="562975" cy="307777"/>
          </a:xfrm>
          <a:prstGeom prst="rect">
            <a:avLst/>
          </a:prstGeom>
          <a:noFill/>
        </p:spPr>
        <p:txBody>
          <a:bodyPr wrap="none" rtlCol="0">
            <a:spAutoFit/>
          </a:bodyPr>
          <a:lstStyle/>
          <a:p>
            <a:r>
              <a:rPr lang="en-IN" sz="1400" b="1" dirty="0">
                <a:solidFill>
                  <a:srgbClr val="FF0000"/>
                </a:solidFill>
              </a:rPr>
              <a:t>STM</a:t>
            </a:r>
          </a:p>
        </p:txBody>
      </p:sp>
      <p:sp>
        <p:nvSpPr>
          <p:cNvPr id="8" name="TextBox 7">
            <a:extLst>
              <a:ext uri="{FF2B5EF4-FFF2-40B4-BE49-F238E27FC236}">
                <a16:creationId xmlns:a16="http://schemas.microsoft.com/office/drawing/2014/main" id="{EBEBE11C-39A8-83D5-504C-D406A31F4B85}"/>
              </a:ext>
            </a:extLst>
          </p:cNvPr>
          <p:cNvSpPr txBox="1"/>
          <p:nvPr/>
        </p:nvSpPr>
        <p:spPr>
          <a:xfrm>
            <a:off x="7618537" y="1518327"/>
            <a:ext cx="538417" cy="307777"/>
          </a:xfrm>
          <a:prstGeom prst="rect">
            <a:avLst/>
          </a:prstGeom>
          <a:noFill/>
        </p:spPr>
        <p:txBody>
          <a:bodyPr wrap="none" rtlCol="0">
            <a:spAutoFit/>
          </a:bodyPr>
          <a:lstStyle/>
          <a:p>
            <a:r>
              <a:rPr lang="en-IN" sz="1400" b="1" dirty="0">
                <a:solidFill>
                  <a:srgbClr val="FF0000"/>
                </a:solidFill>
              </a:rPr>
              <a:t>LTM</a:t>
            </a:r>
          </a:p>
        </p:txBody>
      </p:sp>
      <p:sp>
        <p:nvSpPr>
          <p:cNvPr id="9" name="TextBox 8">
            <a:extLst>
              <a:ext uri="{FF2B5EF4-FFF2-40B4-BE49-F238E27FC236}">
                <a16:creationId xmlns:a16="http://schemas.microsoft.com/office/drawing/2014/main" id="{9E064733-2269-D84A-3B99-686BA000F5DB}"/>
              </a:ext>
            </a:extLst>
          </p:cNvPr>
          <p:cNvSpPr txBox="1"/>
          <p:nvPr/>
        </p:nvSpPr>
        <p:spPr>
          <a:xfrm>
            <a:off x="464946" y="5540426"/>
            <a:ext cx="11712630" cy="830997"/>
          </a:xfrm>
          <a:prstGeom prst="rect">
            <a:avLst/>
          </a:prstGeom>
          <a:noFill/>
          <a:ln>
            <a:solidFill>
              <a:schemeClr val="tx1"/>
            </a:solidFill>
          </a:ln>
        </p:spPr>
        <p:txBody>
          <a:bodyPr wrap="none" rtlCol="0">
            <a:spAutoFit/>
          </a:bodyPr>
          <a:lstStyle/>
          <a:p>
            <a:r>
              <a:rPr lang="en-IN" sz="1600" b="1" dirty="0"/>
              <a:t>LSTM has 3 inputs… LTM (Cell state), STM (Hidden state) from previous time stamp and input from current time stamp.</a:t>
            </a:r>
          </a:p>
          <a:p>
            <a:r>
              <a:rPr lang="en-IN" sz="1600" b="1" dirty="0"/>
              <a:t>LSTM has 2 output… LTM and STM for next time stamp or current Cell state and Hidden state</a:t>
            </a:r>
          </a:p>
          <a:p>
            <a:r>
              <a:rPr lang="en-IN" sz="1600" b="1" dirty="0"/>
              <a:t>What kind of processing is done inside? - It updates LTM and creates STM for the next stage</a:t>
            </a:r>
          </a:p>
        </p:txBody>
      </p:sp>
      <p:sp>
        <p:nvSpPr>
          <p:cNvPr id="2" name="TextBox 1">
            <a:extLst>
              <a:ext uri="{FF2B5EF4-FFF2-40B4-BE49-F238E27FC236}">
                <a16:creationId xmlns:a16="http://schemas.microsoft.com/office/drawing/2014/main" id="{ADDE5F59-A1FE-0850-8251-ED65D17B55A6}"/>
              </a:ext>
            </a:extLst>
          </p:cNvPr>
          <p:cNvSpPr txBox="1"/>
          <p:nvPr/>
        </p:nvSpPr>
        <p:spPr>
          <a:xfrm>
            <a:off x="3610273" y="3258382"/>
            <a:ext cx="562975" cy="307777"/>
          </a:xfrm>
          <a:prstGeom prst="rect">
            <a:avLst/>
          </a:prstGeom>
          <a:noFill/>
        </p:spPr>
        <p:txBody>
          <a:bodyPr wrap="none" rtlCol="0">
            <a:spAutoFit/>
          </a:bodyPr>
          <a:lstStyle/>
          <a:p>
            <a:r>
              <a:rPr lang="en-IN" sz="1400" b="1" dirty="0">
                <a:solidFill>
                  <a:srgbClr val="FF0000"/>
                </a:solidFill>
              </a:rPr>
              <a:t>STM</a:t>
            </a:r>
          </a:p>
        </p:txBody>
      </p:sp>
      <p:sp>
        <p:nvSpPr>
          <p:cNvPr id="3" name="TextBox 2">
            <a:extLst>
              <a:ext uri="{FF2B5EF4-FFF2-40B4-BE49-F238E27FC236}">
                <a16:creationId xmlns:a16="http://schemas.microsoft.com/office/drawing/2014/main" id="{CAF4AD45-9259-21B4-BB9E-6D467CD6F62B}"/>
              </a:ext>
            </a:extLst>
          </p:cNvPr>
          <p:cNvSpPr txBox="1"/>
          <p:nvPr/>
        </p:nvSpPr>
        <p:spPr>
          <a:xfrm>
            <a:off x="3634831" y="1577564"/>
            <a:ext cx="538417" cy="307777"/>
          </a:xfrm>
          <a:prstGeom prst="rect">
            <a:avLst/>
          </a:prstGeom>
          <a:noFill/>
        </p:spPr>
        <p:txBody>
          <a:bodyPr wrap="none" rtlCol="0">
            <a:spAutoFit/>
          </a:bodyPr>
          <a:lstStyle/>
          <a:p>
            <a:r>
              <a:rPr lang="en-IN" sz="1400" b="1" dirty="0">
                <a:solidFill>
                  <a:srgbClr val="FF0000"/>
                </a:solidFill>
              </a:rPr>
              <a:t>LTM</a:t>
            </a:r>
          </a:p>
        </p:txBody>
      </p:sp>
    </p:spTree>
    <p:extLst>
      <p:ext uri="{BB962C8B-B14F-4D97-AF65-F5344CB8AC3E}">
        <p14:creationId xmlns:p14="http://schemas.microsoft.com/office/powerpoint/2010/main" val="39044128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46271-4317-1FEB-85C2-C1A0C4B14617}"/>
              </a:ext>
            </a:extLst>
          </p:cNvPr>
          <p:cNvSpPr>
            <a:spLocks noGrp="1"/>
          </p:cNvSpPr>
          <p:nvPr>
            <p:ph type="title"/>
          </p:nvPr>
        </p:nvSpPr>
        <p:spPr/>
        <p:txBody>
          <a:bodyPr/>
          <a:lstStyle/>
          <a:p>
            <a:r>
              <a:rPr lang="en-IN" dirty="0"/>
              <a:t>                                              LSTM Gates</a:t>
            </a:r>
          </a:p>
        </p:txBody>
      </p:sp>
      <p:sp>
        <p:nvSpPr>
          <p:cNvPr id="4" name="Slide Number Placeholder 3">
            <a:extLst>
              <a:ext uri="{FF2B5EF4-FFF2-40B4-BE49-F238E27FC236}">
                <a16:creationId xmlns:a16="http://schemas.microsoft.com/office/drawing/2014/main" id="{964906D7-48A4-B4DB-8E58-23E6C73F7BE3}"/>
              </a:ext>
            </a:extLst>
          </p:cNvPr>
          <p:cNvSpPr>
            <a:spLocks noGrp="1"/>
          </p:cNvSpPr>
          <p:nvPr>
            <p:ph type="sldNum" sz="quarter" idx="12"/>
          </p:nvPr>
        </p:nvSpPr>
        <p:spPr/>
        <p:txBody>
          <a:bodyPr/>
          <a:lstStyle/>
          <a:p>
            <a:pPr>
              <a:defRPr/>
            </a:pPr>
            <a:fld id="{9AD681D7-8A59-4380-9311-10B86FF921AA}" type="slidenum">
              <a:rPr lang="en-US" altLang="zh-TW" smtClean="0"/>
              <a:pPr>
                <a:defRPr/>
              </a:pPr>
              <a:t>33</a:t>
            </a:fld>
            <a:endParaRPr lang="en-US" altLang="zh-TW"/>
          </a:p>
        </p:txBody>
      </p:sp>
      <p:pic>
        <p:nvPicPr>
          <p:cNvPr id="9218" name="Picture 2" descr="LSTM-01">
            <a:extLst>
              <a:ext uri="{FF2B5EF4-FFF2-40B4-BE49-F238E27FC236}">
                <a16:creationId xmlns:a16="http://schemas.microsoft.com/office/drawing/2014/main" id="{C81E111C-1907-D4F8-8CDB-1A953A587AEB}"/>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27051" r="29138"/>
          <a:stretch/>
        </p:blipFill>
        <p:spPr bwMode="auto">
          <a:xfrm>
            <a:off x="0" y="1"/>
            <a:ext cx="6761935" cy="684241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798A978E-682C-4722-3B0B-439DDC14DF29}"/>
              </a:ext>
            </a:extLst>
          </p:cNvPr>
          <p:cNvSpPr txBox="1"/>
          <p:nvPr/>
        </p:nvSpPr>
        <p:spPr>
          <a:xfrm>
            <a:off x="6799155" y="2468295"/>
            <a:ext cx="5231517" cy="4154984"/>
          </a:xfrm>
          <a:prstGeom prst="rect">
            <a:avLst/>
          </a:prstGeom>
          <a:noFill/>
          <a:ln>
            <a:solidFill>
              <a:schemeClr val="bg2"/>
            </a:solidFill>
          </a:ln>
        </p:spPr>
        <p:txBody>
          <a:bodyPr wrap="square">
            <a:spAutoFit/>
          </a:bodyPr>
          <a:lstStyle/>
          <a:p>
            <a:pPr>
              <a:spcBef>
                <a:spcPts val="1200"/>
              </a:spcBef>
              <a:spcAft>
                <a:spcPts val="1200"/>
              </a:spcAft>
            </a:pPr>
            <a:r>
              <a:rPr lang="en-US" sz="1700" b="1" dirty="0"/>
              <a:t>Three gates - forget gate, input gate, output gate.</a:t>
            </a:r>
          </a:p>
          <a:p>
            <a:pPr marL="285750" indent="-285750" algn="just">
              <a:spcBef>
                <a:spcPts val="1200"/>
              </a:spcBef>
              <a:spcAft>
                <a:spcPts val="1200"/>
              </a:spcAft>
              <a:buFont typeface="Arial" panose="020B0604020202020204" pitchFamily="34" charset="0"/>
              <a:buChar char="•"/>
            </a:pPr>
            <a:r>
              <a:rPr lang="en-US" sz="1700" b="1" dirty="0"/>
              <a:t>Forget Gate: Based on current input and short term context,  forget  gate decides what will remain in LTM. Basically </a:t>
            </a:r>
            <a:r>
              <a:rPr lang="en-US" sz="1700" b="1" dirty="0">
                <a:solidFill>
                  <a:srgbClr val="FF0000"/>
                </a:solidFill>
              </a:rPr>
              <a:t>which information to remove/ forget from LTM. In other words it decides what to remove from Cell state </a:t>
            </a:r>
          </a:p>
          <a:p>
            <a:pPr marL="285750" indent="-285750" algn="just">
              <a:spcBef>
                <a:spcPts val="1200"/>
              </a:spcBef>
              <a:spcAft>
                <a:spcPts val="1200"/>
              </a:spcAft>
              <a:buFont typeface="Arial" panose="020B0604020202020204" pitchFamily="34" charset="0"/>
              <a:buChar char="•"/>
            </a:pPr>
            <a:r>
              <a:rPr lang="en-US" sz="1700" b="1" dirty="0"/>
              <a:t>Input gate: Based on current input it </a:t>
            </a:r>
            <a:r>
              <a:rPr lang="en-US" sz="1700" b="1" dirty="0">
                <a:solidFill>
                  <a:srgbClr val="FF0000"/>
                </a:solidFill>
              </a:rPr>
              <a:t>decides what to add to LTM or Cell state. </a:t>
            </a:r>
          </a:p>
          <a:p>
            <a:pPr marL="285750" indent="-285750" algn="just">
              <a:spcBef>
                <a:spcPts val="1200"/>
              </a:spcBef>
              <a:spcAft>
                <a:spcPts val="1200"/>
              </a:spcAft>
              <a:buFont typeface="Arial" panose="020B0604020202020204" pitchFamily="34" charset="0"/>
              <a:buChar char="•"/>
            </a:pPr>
            <a:r>
              <a:rPr lang="en-US" sz="1700" b="1" dirty="0"/>
              <a:t>Output Gate: Based on current input </a:t>
            </a:r>
            <a:r>
              <a:rPr lang="en-US" sz="1700" b="1" dirty="0">
                <a:solidFill>
                  <a:srgbClr val="FF0000"/>
                </a:solidFill>
              </a:rPr>
              <a:t>what to show at the output from LTM</a:t>
            </a:r>
            <a:r>
              <a:rPr lang="en-US" sz="1700" b="1" dirty="0"/>
              <a:t>. Its like drawing a conclusion from information in LTM. It also </a:t>
            </a:r>
            <a:r>
              <a:rPr lang="en-US" sz="1700" b="1" dirty="0">
                <a:solidFill>
                  <a:srgbClr val="FF0000"/>
                </a:solidFill>
              </a:rPr>
              <a:t>creates STM or Hidden state for next stage</a:t>
            </a:r>
            <a:endParaRPr lang="en-IN" sz="1700" dirty="0">
              <a:solidFill>
                <a:srgbClr val="FF0000"/>
              </a:solidFill>
            </a:endParaRPr>
          </a:p>
        </p:txBody>
      </p:sp>
      <p:sp>
        <p:nvSpPr>
          <p:cNvPr id="3" name="TextBox 2">
            <a:extLst>
              <a:ext uri="{FF2B5EF4-FFF2-40B4-BE49-F238E27FC236}">
                <a16:creationId xmlns:a16="http://schemas.microsoft.com/office/drawing/2014/main" id="{B11EEB34-4D97-273B-E799-EB2D54273FEC}"/>
              </a:ext>
            </a:extLst>
          </p:cNvPr>
          <p:cNvSpPr txBox="1"/>
          <p:nvPr/>
        </p:nvSpPr>
        <p:spPr>
          <a:xfrm>
            <a:off x="3510532" y="329364"/>
            <a:ext cx="2847767" cy="369332"/>
          </a:xfrm>
          <a:prstGeom prst="rect">
            <a:avLst/>
          </a:prstGeom>
          <a:noFill/>
        </p:spPr>
        <p:txBody>
          <a:bodyPr wrap="none" rtlCol="0">
            <a:spAutoFit/>
          </a:bodyPr>
          <a:lstStyle/>
          <a:p>
            <a:r>
              <a:rPr lang="en-IN" b="1" dirty="0"/>
              <a:t>What to forget from LTM</a:t>
            </a:r>
          </a:p>
        </p:txBody>
      </p:sp>
      <p:cxnSp>
        <p:nvCxnSpPr>
          <p:cNvPr id="7" name="Straight Arrow Connector 6">
            <a:extLst>
              <a:ext uri="{FF2B5EF4-FFF2-40B4-BE49-F238E27FC236}">
                <a16:creationId xmlns:a16="http://schemas.microsoft.com/office/drawing/2014/main" id="{7B9C9047-F411-7C03-490F-704A3F0F367E}"/>
              </a:ext>
            </a:extLst>
          </p:cNvPr>
          <p:cNvCxnSpPr/>
          <p:nvPr/>
        </p:nvCxnSpPr>
        <p:spPr bwMode="auto">
          <a:xfrm flipH="1">
            <a:off x="3180490" y="514030"/>
            <a:ext cx="330042" cy="90881"/>
          </a:xfrm>
          <a:prstGeom prst="straightConnector1">
            <a:avLst/>
          </a:prstGeom>
          <a:ln>
            <a:headEnd type="none" w="med" len="med"/>
            <a:tailEnd type="triangle"/>
          </a:ln>
        </p:spPr>
        <p:style>
          <a:lnRef idx="2">
            <a:schemeClr val="dk1"/>
          </a:lnRef>
          <a:fillRef idx="0">
            <a:schemeClr val="dk1"/>
          </a:fillRef>
          <a:effectRef idx="1">
            <a:schemeClr val="dk1"/>
          </a:effectRef>
          <a:fontRef idx="minor">
            <a:schemeClr val="tx1"/>
          </a:fontRef>
        </p:style>
      </p:cxnSp>
      <p:sp>
        <p:nvSpPr>
          <p:cNvPr id="10" name="TextBox 9">
            <a:extLst>
              <a:ext uri="{FF2B5EF4-FFF2-40B4-BE49-F238E27FC236}">
                <a16:creationId xmlns:a16="http://schemas.microsoft.com/office/drawing/2014/main" id="{53CC7432-F9CF-FD1C-7F00-58B154777E8C}"/>
              </a:ext>
            </a:extLst>
          </p:cNvPr>
          <p:cNvSpPr txBox="1"/>
          <p:nvPr/>
        </p:nvSpPr>
        <p:spPr>
          <a:xfrm>
            <a:off x="161327" y="5413163"/>
            <a:ext cx="2373532"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srgbClr val="003366"/>
                </a:solidFill>
                <a:effectLst/>
                <a:uLnTx/>
                <a:uFillTx/>
                <a:latin typeface="Arial"/>
                <a:ea typeface="新細明體"/>
                <a:cs typeface="+mn-cs"/>
              </a:rPr>
              <a:t>What to add to LTM</a:t>
            </a:r>
          </a:p>
        </p:txBody>
      </p:sp>
      <p:cxnSp>
        <p:nvCxnSpPr>
          <p:cNvPr id="12" name="Straight Arrow Connector 11">
            <a:extLst>
              <a:ext uri="{FF2B5EF4-FFF2-40B4-BE49-F238E27FC236}">
                <a16:creationId xmlns:a16="http://schemas.microsoft.com/office/drawing/2014/main" id="{D126708E-B7D0-A167-468E-F48D96678507}"/>
              </a:ext>
            </a:extLst>
          </p:cNvPr>
          <p:cNvCxnSpPr>
            <a:cxnSpLocks/>
          </p:cNvCxnSpPr>
          <p:nvPr/>
        </p:nvCxnSpPr>
        <p:spPr bwMode="auto">
          <a:xfrm>
            <a:off x="1436426" y="5782495"/>
            <a:ext cx="253480" cy="181096"/>
          </a:xfrm>
          <a:prstGeom prst="straightConnector1">
            <a:avLst/>
          </a:prstGeom>
          <a:ln>
            <a:headEnd type="none" w="med" len="med"/>
            <a:tailEnd type="triangle"/>
          </a:ln>
        </p:spPr>
        <p:style>
          <a:lnRef idx="2">
            <a:schemeClr val="dk1"/>
          </a:lnRef>
          <a:fillRef idx="0">
            <a:schemeClr val="dk1"/>
          </a:fillRef>
          <a:effectRef idx="1">
            <a:schemeClr val="dk1"/>
          </a:effectRef>
          <a:fontRef idx="minor">
            <a:schemeClr val="tx1"/>
          </a:fontRef>
        </p:style>
      </p:cxnSp>
      <p:sp>
        <p:nvSpPr>
          <p:cNvPr id="14" name="TextBox 13">
            <a:extLst>
              <a:ext uri="{FF2B5EF4-FFF2-40B4-BE49-F238E27FC236}">
                <a16:creationId xmlns:a16="http://schemas.microsoft.com/office/drawing/2014/main" id="{B757D5E2-18FB-ACC4-60E8-9D073A101FA6}"/>
              </a:ext>
            </a:extLst>
          </p:cNvPr>
          <p:cNvSpPr txBox="1"/>
          <p:nvPr/>
        </p:nvSpPr>
        <p:spPr>
          <a:xfrm>
            <a:off x="3379812" y="5180109"/>
            <a:ext cx="3026866" cy="646331"/>
          </a:xfrm>
          <a:prstGeom prst="rect">
            <a:avLst/>
          </a:prstGeom>
          <a:noFill/>
        </p:spPr>
        <p:txBody>
          <a:bodyPr wrap="square">
            <a:spAutoFit/>
          </a:bodyPr>
          <a:lstStyle/>
          <a:p>
            <a:r>
              <a:rPr lang="en-US" sz="1800" b="1" dirty="0"/>
              <a:t>drawing a conclusion from information in LTM</a:t>
            </a:r>
            <a:endParaRPr lang="en-IN" dirty="0"/>
          </a:p>
        </p:txBody>
      </p:sp>
      <p:cxnSp>
        <p:nvCxnSpPr>
          <p:cNvPr id="16" name="Straight Arrow Connector 15">
            <a:extLst>
              <a:ext uri="{FF2B5EF4-FFF2-40B4-BE49-F238E27FC236}">
                <a16:creationId xmlns:a16="http://schemas.microsoft.com/office/drawing/2014/main" id="{0FAA0CEB-1D60-6135-BDE3-43D3F5F0E12D}"/>
              </a:ext>
            </a:extLst>
          </p:cNvPr>
          <p:cNvCxnSpPr/>
          <p:nvPr/>
        </p:nvCxnSpPr>
        <p:spPr bwMode="auto">
          <a:xfrm>
            <a:off x="4893245" y="5782495"/>
            <a:ext cx="281353" cy="181096"/>
          </a:xfrm>
          <a:prstGeom prst="straightConnector1">
            <a:avLst/>
          </a:prstGeom>
          <a:ln>
            <a:headEnd type="none" w="med" len="med"/>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2100882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3C5FC75-7FC3-03C1-C97E-8B9C16E9041B}"/>
              </a:ext>
            </a:extLst>
          </p:cNvPr>
          <p:cNvPicPr>
            <a:picLocks noGrp="1" noChangeAspect="1"/>
          </p:cNvPicPr>
          <p:nvPr>
            <p:ph idx="1"/>
          </p:nvPr>
        </p:nvPicPr>
        <p:blipFill rotWithShape="1">
          <a:blip r:embed="rId2"/>
          <a:srcRect t="12111"/>
          <a:stretch/>
        </p:blipFill>
        <p:spPr>
          <a:xfrm>
            <a:off x="112184" y="0"/>
            <a:ext cx="5248179" cy="6242050"/>
          </a:xfrm>
          <a:prstGeom prst="rect">
            <a:avLst/>
          </a:prstGeom>
          <a:ln>
            <a:solidFill>
              <a:srgbClr val="1D1D1D"/>
            </a:solidFill>
          </a:ln>
        </p:spPr>
      </p:pic>
      <p:sp>
        <p:nvSpPr>
          <p:cNvPr id="4" name="Slide Number Placeholder 3">
            <a:extLst>
              <a:ext uri="{FF2B5EF4-FFF2-40B4-BE49-F238E27FC236}">
                <a16:creationId xmlns:a16="http://schemas.microsoft.com/office/drawing/2014/main" id="{F4F3300C-5E13-F164-A5A5-C7485621F937}"/>
              </a:ext>
            </a:extLst>
          </p:cNvPr>
          <p:cNvSpPr>
            <a:spLocks noGrp="1"/>
          </p:cNvSpPr>
          <p:nvPr>
            <p:ph type="sldNum" sz="quarter" idx="12"/>
          </p:nvPr>
        </p:nvSpPr>
        <p:spPr/>
        <p:txBody>
          <a:bodyPr/>
          <a:lstStyle/>
          <a:p>
            <a:pPr>
              <a:defRPr/>
            </a:pPr>
            <a:fld id="{9AD681D7-8A59-4380-9311-10B86FF921AA}" type="slidenum">
              <a:rPr lang="en-US" altLang="zh-TW" smtClean="0"/>
              <a:pPr>
                <a:defRPr/>
              </a:pPr>
              <a:t>34</a:t>
            </a:fld>
            <a:endParaRPr lang="en-US" altLang="zh-TW"/>
          </a:p>
        </p:txBody>
      </p:sp>
      <p:sp>
        <p:nvSpPr>
          <p:cNvPr id="6" name="TextBox 5">
            <a:extLst>
              <a:ext uri="{FF2B5EF4-FFF2-40B4-BE49-F238E27FC236}">
                <a16:creationId xmlns:a16="http://schemas.microsoft.com/office/drawing/2014/main" id="{459E877D-0796-E8DB-1FD4-BCCDE31CA5E7}"/>
              </a:ext>
            </a:extLst>
          </p:cNvPr>
          <p:cNvSpPr txBox="1"/>
          <p:nvPr/>
        </p:nvSpPr>
        <p:spPr>
          <a:xfrm>
            <a:off x="5360363" y="127000"/>
            <a:ext cx="6831637" cy="6063198"/>
          </a:xfrm>
          <a:prstGeom prst="rect">
            <a:avLst/>
          </a:prstGeom>
          <a:noFill/>
          <a:ln>
            <a:solidFill>
              <a:schemeClr val="tx1"/>
            </a:solidFill>
          </a:ln>
        </p:spPr>
        <p:txBody>
          <a:bodyPr wrap="square" rtlCol="0">
            <a:spAutoFit/>
          </a:bodyPr>
          <a:lstStyle/>
          <a:p>
            <a:pPr marL="179388" indent="-179388" algn="just">
              <a:spcBef>
                <a:spcPts val="600"/>
              </a:spcBef>
              <a:spcAft>
                <a:spcPts val="600"/>
              </a:spcAft>
              <a:buFont typeface="Arial" panose="020B0604020202020204" pitchFamily="34" charset="0"/>
              <a:buChar char="•"/>
            </a:pPr>
            <a:r>
              <a:rPr lang="en-US" dirty="0"/>
              <a:t>The key to LSTMs is the </a:t>
            </a:r>
            <a:r>
              <a:rPr lang="en-US" b="1" dirty="0"/>
              <a:t>cell state </a:t>
            </a:r>
            <a:r>
              <a:rPr lang="en-US" dirty="0"/>
              <a:t>(cell memory), </a:t>
            </a:r>
          </a:p>
          <a:p>
            <a:pPr marL="179388" algn="just">
              <a:spcBef>
                <a:spcPts val="600"/>
              </a:spcBef>
              <a:spcAft>
                <a:spcPts val="600"/>
              </a:spcAft>
            </a:pPr>
            <a:r>
              <a:rPr lang="en-US" dirty="0"/>
              <a:t>the horizontal line running through the top of the diagram, </a:t>
            </a:r>
          </a:p>
          <a:p>
            <a:pPr marL="179388" algn="just">
              <a:spcBef>
                <a:spcPts val="600"/>
              </a:spcBef>
              <a:spcAft>
                <a:spcPts val="600"/>
              </a:spcAft>
            </a:pPr>
            <a:r>
              <a:rPr lang="en-US" dirty="0"/>
              <a:t>through which the information flows along and the internal </a:t>
            </a:r>
          </a:p>
          <a:p>
            <a:pPr marL="179388" algn="just">
              <a:spcBef>
                <a:spcPts val="600"/>
              </a:spcBef>
              <a:spcAft>
                <a:spcPts val="600"/>
              </a:spcAft>
            </a:pPr>
            <a:r>
              <a:rPr lang="en-US" dirty="0"/>
              <a:t>mechanism called </a:t>
            </a:r>
            <a:r>
              <a:rPr lang="en-US" b="1" dirty="0"/>
              <a:t>gates</a:t>
            </a:r>
            <a:r>
              <a:rPr lang="en-US" dirty="0"/>
              <a:t> that can </a:t>
            </a:r>
            <a:r>
              <a:rPr lang="en-US" b="1" dirty="0"/>
              <a:t>regulate the flow of information.</a:t>
            </a:r>
          </a:p>
          <a:p>
            <a:pPr marL="179388" algn="just">
              <a:spcBef>
                <a:spcPts val="600"/>
              </a:spcBef>
              <a:spcAft>
                <a:spcPts val="600"/>
              </a:spcAft>
            </a:pPr>
            <a:endParaRPr lang="en-US" b="1" dirty="0"/>
          </a:p>
          <a:p>
            <a:pPr marL="179388" indent="-179388" algn="just">
              <a:spcBef>
                <a:spcPts val="600"/>
              </a:spcBef>
              <a:spcAft>
                <a:spcPts val="600"/>
              </a:spcAft>
              <a:buFont typeface="Arial" panose="020B0604020202020204" pitchFamily="34" charset="0"/>
              <a:buChar char="•"/>
            </a:pPr>
            <a:r>
              <a:rPr lang="en-US" dirty="0"/>
              <a:t>The cell state is kind of like a conveyor belt. It runs straight </a:t>
            </a:r>
          </a:p>
          <a:p>
            <a:pPr marL="179388" algn="just">
              <a:spcBef>
                <a:spcPts val="600"/>
              </a:spcBef>
              <a:spcAft>
                <a:spcPts val="600"/>
              </a:spcAft>
            </a:pPr>
            <a:r>
              <a:rPr lang="en-US" dirty="0"/>
              <a:t> down the entire chain, with only some minor linear interactions.</a:t>
            </a:r>
          </a:p>
          <a:p>
            <a:pPr marL="179388" indent="-179388" algn="just">
              <a:spcBef>
                <a:spcPts val="600"/>
              </a:spcBef>
              <a:spcAft>
                <a:spcPts val="600"/>
              </a:spcAft>
              <a:buFont typeface="Arial" panose="020B0604020202020204" pitchFamily="34" charset="0"/>
              <a:buChar char="•"/>
            </a:pPr>
            <a:r>
              <a:rPr lang="en-US" dirty="0"/>
              <a:t>Cell State basically encodes the information of the inputs </a:t>
            </a:r>
          </a:p>
          <a:p>
            <a:pPr marL="179388" algn="just">
              <a:spcBef>
                <a:spcPts val="600"/>
              </a:spcBef>
              <a:spcAft>
                <a:spcPts val="600"/>
              </a:spcAft>
            </a:pPr>
            <a:r>
              <a:rPr lang="en-US" dirty="0"/>
              <a:t>(relevant info.) that have been observed up to that step (at every step).</a:t>
            </a:r>
          </a:p>
          <a:p>
            <a:pPr marL="179388" indent="-179388" algn="just">
              <a:spcBef>
                <a:spcPts val="600"/>
              </a:spcBef>
              <a:spcAft>
                <a:spcPts val="600"/>
              </a:spcAft>
              <a:buFont typeface="Arial" panose="020B0604020202020204" pitchFamily="34" charset="0"/>
              <a:buChar char="•"/>
            </a:pPr>
            <a:r>
              <a:rPr lang="en-US" b="1" dirty="0"/>
              <a:t>Cell state </a:t>
            </a:r>
            <a:r>
              <a:rPr lang="en-US" dirty="0"/>
              <a:t>is a </a:t>
            </a:r>
            <a:r>
              <a:rPr lang="en-US" b="1" dirty="0"/>
              <a:t>memory of the LSTM </a:t>
            </a:r>
            <a:r>
              <a:rPr lang="en-US" dirty="0"/>
              <a:t>cell and </a:t>
            </a:r>
            <a:r>
              <a:rPr lang="en-US" b="1" dirty="0"/>
              <a:t>hidden state </a:t>
            </a:r>
            <a:r>
              <a:rPr lang="en-US" dirty="0"/>
              <a:t>(cell output) is an </a:t>
            </a:r>
            <a:r>
              <a:rPr lang="en-US" b="1" dirty="0"/>
              <a:t>output of this cell</a:t>
            </a:r>
            <a:r>
              <a:rPr lang="en-US" dirty="0"/>
              <a:t>.</a:t>
            </a:r>
          </a:p>
          <a:p>
            <a:pPr marL="179388" indent="-179388" algn="just">
              <a:spcBef>
                <a:spcPts val="600"/>
              </a:spcBef>
              <a:spcAft>
                <a:spcPts val="600"/>
              </a:spcAft>
              <a:buFont typeface="Arial" panose="020B0604020202020204" pitchFamily="34" charset="0"/>
              <a:buChar char="•"/>
            </a:pPr>
            <a:r>
              <a:rPr lang="en-US" b="1" dirty="0">
                <a:solidFill>
                  <a:srgbClr val="FF0000"/>
                </a:solidFill>
              </a:rPr>
              <a:t>Regular RNNs </a:t>
            </a:r>
            <a:r>
              <a:rPr lang="en-US" dirty="0">
                <a:solidFill>
                  <a:srgbClr val="FF0000"/>
                </a:solidFill>
              </a:rPr>
              <a:t>have just the hidden state and </a:t>
            </a:r>
            <a:r>
              <a:rPr lang="en-US" b="1" dirty="0">
                <a:solidFill>
                  <a:srgbClr val="FF0000"/>
                </a:solidFill>
              </a:rPr>
              <a:t>no cell state</a:t>
            </a:r>
            <a:r>
              <a:rPr lang="en-US" dirty="0">
                <a:solidFill>
                  <a:srgbClr val="FF0000"/>
                </a:solidFill>
              </a:rPr>
              <a:t>. Therefore, RNNs have </a:t>
            </a:r>
            <a:r>
              <a:rPr lang="en-US" b="1" dirty="0">
                <a:solidFill>
                  <a:srgbClr val="FF0000"/>
                </a:solidFill>
              </a:rPr>
              <a:t>difficulty</a:t>
            </a:r>
            <a:r>
              <a:rPr lang="en-US" dirty="0">
                <a:solidFill>
                  <a:srgbClr val="FF0000"/>
                </a:solidFill>
              </a:rPr>
              <a:t> of </a:t>
            </a:r>
            <a:r>
              <a:rPr lang="en-US" b="1" dirty="0">
                <a:solidFill>
                  <a:srgbClr val="FF0000"/>
                </a:solidFill>
              </a:rPr>
              <a:t>accessing information from a long time ago.</a:t>
            </a:r>
            <a:endParaRPr lang="en-IN" dirty="0">
              <a:solidFill>
                <a:srgbClr val="FF0000"/>
              </a:solidFill>
            </a:endParaRPr>
          </a:p>
        </p:txBody>
      </p:sp>
      <p:sp>
        <p:nvSpPr>
          <p:cNvPr id="8" name="TextBox 7">
            <a:extLst>
              <a:ext uri="{FF2B5EF4-FFF2-40B4-BE49-F238E27FC236}">
                <a16:creationId xmlns:a16="http://schemas.microsoft.com/office/drawing/2014/main" id="{A0AF5CB5-7076-1B3E-DB2F-3AE8B4FB4E90}"/>
              </a:ext>
            </a:extLst>
          </p:cNvPr>
          <p:cNvSpPr txBox="1"/>
          <p:nvPr/>
        </p:nvSpPr>
        <p:spPr>
          <a:xfrm>
            <a:off x="2050365" y="6486525"/>
            <a:ext cx="7557869" cy="307777"/>
          </a:xfrm>
          <a:prstGeom prst="rect">
            <a:avLst/>
          </a:prstGeom>
          <a:noFill/>
          <a:ln>
            <a:solidFill>
              <a:schemeClr val="tx1"/>
            </a:solidFill>
          </a:ln>
        </p:spPr>
        <p:txBody>
          <a:bodyPr wrap="square">
            <a:spAutoFit/>
          </a:bodyPr>
          <a:lstStyle/>
          <a:p>
            <a:r>
              <a:rPr lang="en-IN" sz="1400" b="1" dirty="0"/>
              <a:t>https://medium.com/@humble_bee/rnn-recurrent-neural-networks-lstm-842ba7205bbf</a:t>
            </a:r>
          </a:p>
        </p:txBody>
      </p:sp>
    </p:spTree>
    <p:extLst>
      <p:ext uri="{BB962C8B-B14F-4D97-AF65-F5344CB8AC3E}">
        <p14:creationId xmlns:p14="http://schemas.microsoft.com/office/powerpoint/2010/main" val="34565818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261BE-7736-2DA3-3B96-4C1B56B11211}"/>
              </a:ext>
            </a:extLst>
          </p:cNvPr>
          <p:cNvSpPr>
            <a:spLocks noGrp="1"/>
          </p:cNvSpPr>
          <p:nvPr>
            <p:ph type="title"/>
          </p:nvPr>
        </p:nvSpPr>
        <p:spPr/>
        <p:txBody>
          <a:bodyPr/>
          <a:lstStyle/>
          <a:p>
            <a:endParaRPr lang="en-IN"/>
          </a:p>
        </p:txBody>
      </p:sp>
      <p:sp>
        <p:nvSpPr>
          <p:cNvPr id="4" name="Slide Number Placeholder 3">
            <a:extLst>
              <a:ext uri="{FF2B5EF4-FFF2-40B4-BE49-F238E27FC236}">
                <a16:creationId xmlns:a16="http://schemas.microsoft.com/office/drawing/2014/main" id="{BE7E9B5E-BEAD-71CC-BB35-AF2B771A6B7B}"/>
              </a:ext>
            </a:extLst>
          </p:cNvPr>
          <p:cNvSpPr>
            <a:spLocks noGrp="1"/>
          </p:cNvSpPr>
          <p:nvPr>
            <p:ph type="sldNum" sz="quarter" idx="12"/>
          </p:nvPr>
        </p:nvSpPr>
        <p:spPr/>
        <p:txBody>
          <a:bodyPr/>
          <a:lstStyle/>
          <a:p>
            <a:pPr>
              <a:defRPr/>
            </a:pPr>
            <a:fld id="{9AD681D7-8A59-4380-9311-10B86FF921AA}" type="slidenum">
              <a:rPr lang="en-US" altLang="zh-TW" smtClean="0"/>
              <a:pPr>
                <a:defRPr/>
              </a:pPr>
              <a:t>35</a:t>
            </a:fld>
            <a:endParaRPr lang="en-US" altLang="zh-TW"/>
          </a:p>
        </p:txBody>
      </p:sp>
      <p:pic>
        <p:nvPicPr>
          <p:cNvPr id="7" name="Picture 6">
            <a:extLst>
              <a:ext uri="{FF2B5EF4-FFF2-40B4-BE49-F238E27FC236}">
                <a16:creationId xmlns:a16="http://schemas.microsoft.com/office/drawing/2014/main" id="{0C1ECAEE-1E14-C810-3008-F9F4F83F86D7}"/>
              </a:ext>
            </a:extLst>
          </p:cNvPr>
          <p:cNvPicPr>
            <a:picLocks noChangeAspect="1"/>
          </p:cNvPicPr>
          <p:nvPr/>
        </p:nvPicPr>
        <p:blipFill rotWithShape="1">
          <a:blip r:embed="rId2"/>
          <a:srcRect l="29761" r="33110"/>
          <a:stretch/>
        </p:blipFill>
        <p:spPr>
          <a:xfrm>
            <a:off x="0" y="2355456"/>
            <a:ext cx="5593976" cy="4378361"/>
          </a:xfrm>
          <a:prstGeom prst="rect">
            <a:avLst/>
          </a:prstGeom>
          <a:ln>
            <a:solidFill>
              <a:srgbClr val="000000"/>
            </a:solidFill>
          </a:ln>
        </p:spPr>
      </p:pic>
      <p:sp>
        <p:nvSpPr>
          <p:cNvPr id="8" name="TextBox 7">
            <a:extLst>
              <a:ext uri="{FF2B5EF4-FFF2-40B4-BE49-F238E27FC236}">
                <a16:creationId xmlns:a16="http://schemas.microsoft.com/office/drawing/2014/main" id="{FE9CF011-3234-B442-CBDA-35FF8FACAC8C}"/>
              </a:ext>
            </a:extLst>
          </p:cNvPr>
          <p:cNvSpPr txBox="1"/>
          <p:nvPr/>
        </p:nvSpPr>
        <p:spPr>
          <a:xfrm>
            <a:off x="874062" y="4544636"/>
            <a:ext cx="372991" cy="400110"/>
          </a:xfrm>
          <a:prstGeom prst="rect">
            <a:avLst/>
          </a:prstGeom>
          <a:noFill/>
        </p:spPr>
        <p:txBody>
          <a:bodyPr wrap="square" rtlCol="0">
            <a:spAutoFit/>
          </a:bodyPr>
          <a:lstStyle/>
          <a:p>
            <a:r>
              <a:rPr lang="en-IN" sz="2000" b="1" dirty="0"/>
              <a:t>ft</a:t>
            </a:r>
          </a:p>
        </p:txBody>
      </p:sp>
      <p:sp>
        <p:nvSpPr>
          <p:cNvPr id="9" name="TextBox 8">
            <a:extLst>
              <a:ext uri="{FF2B5EF4-FFF2-40B4-BE49-F238E27FC236}">
                <a16:creationId xmlns:a16="http://schemas.microsoft.com/office/drawing/2014/main" id="{EFB71E44-5972-B592-F062-1CAB83B63F96}"/>
              </a:ext>
            </a:extLst>
          </p:cNvPr>
          <p:cNvSpPr txBox="1"/>
          <p:nvPr/>
        </p:nvSpPr>
        <p:spPr>
          <a:xfrm>
            <a:off x="1788463" y="4295857"/>
            <a:ext cx="340158" cy="400110"/>
          </a:xfrm>
          <a:prstGeom prst="rect">
            <a:avLst/>
          </a:prstGeom>
          <a:noFill/>
        </p:spPr>
        <p:txBody>
          <a:bodyPr wrap="none" rtlCol="0">
            <a:spAutoFit/>
          </a:bodyPr>
          <a:lstStyle/>
          <a:p>
            <a:r>
              <a:rPr lang="en-IN" sz="2000" b="1" dirty="0"/>
              <a:t>it</a:t>
            </a:r>
          </a:p>
        </p:txBody>
      </p:sp>
      <p:sp>
        <p:nvSpPr>
          <p:cNvPr id="11" name="TextBox 10">
            <a:extLst>
              <a:ext uri="{FF2B5EF4-FFF2-40B4-BE49-F238E27FC236}">
                <a16:creationId xmlns:a16="http://schemas.microsoft.com/office/drawing/2014/main" id="{280310FB-D0D3-4607-62DA-321C822A720F}"/>
              </a:ext>
            </a:extLst>
          </p:cNvPr>
          <p:cNvSpPr txBox="1"/>
          <p:nvPr/>
        </p:nvSpPr>
        <p:spPr>
          <a:xfrm>
            <a:off x="2605884" y="4275208"/>
            <a:ext cx="811441" cy="400110"/>
          </a:xfrm>
          <a:prstGeom prst="rect">
            <a:avLst/>
          </a:prstGeom>
          <a:noFill/>
        </p:spPr>
        <p:txBody>
          <a:bodyPr wrap="none" rtlCol="0">
            <a:spAutoFit/>
          </a:bodyPr>
          <a:lstStyle/>
          <a:p>
            <a:r>
              <a:rPr lang="en-IN" sz="2000" b="1" dirty="0" err="1"/>
              <a:t>ctbar</a:t>
            </a:r>
            <a:endParaRPr lang="en-IN" sz="2000" b="1" dirty="0"/>
          </a:p>
        </p:txBody>
      </p:sp>
      <p:sp>
        <p:nvSpPr>
          <p:cNvPr id="12" name="TextBox 11">
            <a:extLst>
              <a:ext uri="{FF2B5EF4-FFF2-40B4-BE49-F238E27FC236}">
                <a16:creationId xmlns:a16="http://schemas.microsoft.com/office/drawing/2014/main" id="{D89C540A-D68F-7BEA-DC57-1CE13E60D53D}"/>
              </a:ext>
            </a:extLst>
          </p:cNvPr>
          <p:cNvSpPr txBox="1"/>
          <p:nvPr/>
        </p:nvSpPr>
        <p:spPr>
          <a:xfrm>
            <a:off x="3434578" y="4061126"/>
            <a:ext cx="426720" cy="400110"/>
          </a:xfrm>
          <a:prstGeom prst="rect">
            <a:avLst/>
          </a:prstGeom>
          <a:noFill/>
        </p:spPr>
        <p:txBody>
          <a:bodyPr wrap="none" rtlCol="0">
            <a:spAutoFit/>
          </a:bodyPr>
          <a:lstStyle/>
          <a:p>
            <a:r>
              <a:rPr lang="en-IN" sz="2000" b="1" dirty="0" err="1"/>
              <a:t>ot</a:t>
            </a:r>
            <a:endParaRPr lang="en-IN" sz="2000" b="1" dirty="0"/>
          </a:p>
        </p:txBody>
      </p:sp>
      <p:sp>
        <p:nvSpPr>
          <p:cNvPr id="13" name="TextBox 12">
            <a:extLst>
              <a:ext uri="{FF2B5EF4-FFF2-40B4-BE49-F238E27FC236}">
                <a16:creationId xmlns:a16="http://schemas.microsoft.com/office/drawing/2014/main" id="{697F32D5-E9C0-209F-A62F-37282D25EB7D}"/>
              </a:ext>
            </a:extLst>
          </p:cNvPr>
          <p:cNvSpPr txBox="1"/>
          <p:nvPr/>
        </p:nvSpPr>
        <p:spPr>
          <a:xfrm>
            <a:off x="5643876" y="2355456"/>
            <a:ext cx="6548124" cy="2308324"/>
          </a:xfrm>
          <a:prstGeom prst="rect">
            <a:avLst/>
          </a:prstGeom>
          <a:noFill/>
          <a:ln>
            <a:solidFill>
              <a:srgbClr val="000000"/>
            </a:solidFill>
          </a:ln>
        </p:spPr>
        <p:txBody>
          <a:bodyPr wrap="square" rtlCol="0">
            <a:spAutoFit/>
          </a:bodyPr>
          <a:lstStyle/>
          <a:p>
            <a:r>
              <a:rPr lang="en-IN" sz="1600" dirty="0"/>
              <a:t>LTM---- Cell State</a:t>
            </a:r>
          </a:p>
          <a:p>
            <a:r>
              <a:rPr lang="en-IN" sz="1600" dirty="0"/>
              <a:t>STM---- Hidden state</a:t>
            </a:r>
          </a:p>
          <a:p>
            <a:r>
              <a:rPr lang="en-IN" sz="1600" dirty="0" err="1"/>
              <a:t>ht</a:t>
            </a:r>
            <a:r>
              <a:rPr lang="en-IN" sz="1600" dirty="0"/>
              <a:t> and </a:t>
            </a:r>
            <a:r>
              <a:rPr lang="en-IN" sz="1600" dirty="0" err="1"/>
              <a:t>ct</a:t>
            </a:r>
            <a:r>
              <a:rPr lang="en-IN" sz="1600" dirty="0"/>
              <a:t> ---- vectors of same size, </a:t>
            </a:r>
          </a:p>
          <a:p>
            <a:r>
              <a:rPr lang="en-IN" sz="1600" dirty="0" err="1"/>
              <a:t>xt</a:t>
            </a:r>
            <a:r>
              <a:rPr lang="en-IN" sz="1600" dirty="0"/>
              <a:t>---- vector that represents one word at a time</a:t>
            </a:r>
          </a:p>
          <a:p>
            <a:r>
              <a:rPr lang="en-IN" sz="1600" dirty="0"/>
              <a:t>Ft---- vector associated with forget gate, </a:t>
            </a:r>
          </a:p>
          <a:p>
            <a:r>
              <a:rPr lang="en-IN" sz="1600" dirty="0"/>
              <a:t>it, </a:t>
            </a:r>
            <a:r>
              <a:rPr lang="en-IN" sz="1600" dirty="0" err="1"/>
              <a:t>ctbar</a:t>
            </a:r>
            <a:r>
              <a:rPr lang="en-IN" sz="1600" dirty="0"/>
              <a:t>(candidate cell state)---- vector  associated with input gate, </a:t>
            </a:r>
          </a:p>
          <a:p>
            <a:r>
              <a:rPr lang="en-IN" sz="1600" dirty="0"/>
              <a:t>Ot---- vector associated with output gate</a:t>
            </a:r>
          </a:p>
          <a:p>
            <a:r>
              <a:rPr lang="en-IN" sz="1600" dirty="0"/>
              <a:t>Ct, </a:t>
            </a:r>
            <a:r>
              <a:rPr lang="en-IN" sz="1600" dirty="0" err="1"/>
              <a:t>ht,ft</a:t>
            </a:r>
            <a:r>
              <a:rPr lang="en-IN" sz="1600" dirty="0"/>
              <a:t>, it, </a:t>
            </a:r>
            <a:r>
              <a:rPr lang="en-IN" sz="1600" dirty="0" err="1"/>
              <a:t>ctbar</a:t>
            </a:r>
            <a:r>
              <a:rPr lang="en-IN" sz="1600" dirty="0"/>
              <a:t>, ot----- vectors of same dimension</a:t>
            </a:r>
          </a:p>
          <a:p>
            <a:endParaRPr lang="en-IN" sz="1600" b="1" dirty="0"/>
          </a:p>
        </p:txBody>
      </p:sp>
      <p:sp>
        <p:nvSpPr>
          <p:cNvPr id="14" name="TextBox 13">
            <a:extLst>
              <a:ext uri="{FF2B5EF4-FFF2-40B4-BE49-F238E27FC236}">
                <a16:creationId xmlns:a16="http://schemas.microsoft.com/office/drawing/2014/main" id="{CF77408B-3094-997F-5627-1E5B386DCA57}"/>
              </a:ext>
            </a:extLst>
          </p:cNvPr>
          <p:cNvSpPr txBox="1"/>
          <p:nvPr/>
        </p:nvSpPr>
        <p:spPr>
          <a:xfrm>
            <a:off x="4254668" y="355347"/>
            <a:ext cx="184731" cy="338554"/>
          </a:xfrm>
          <a:prstGeom prst="rect">
            <a:avLst/>
          </a:prstGeom>
          <a:noFill/>
          <a:ln>
            <a:solidFill>
              <a:srgbClr val="000000"/>
            </a:solidFill>
          </a:ln>
        </p:spPr>
        <p:txBody>
          <a:bodyPr wrap="none" rtlCol="0">
            <a:spAutoFit/>
          </a:bodyPr>
          <a:lstStyle/>
          <a:p>
            <a:endParaRPr lang="en-IN" sz="1600" b="1" dirty="0"/>
          </a:p>
        </p:txBody>
      </p:sp>
    </p:spTree>
    <p:extLst>
      <p:ext uri="{BB962C8B-B14F-4D97-AF65-F5344CB8AC3E}">
        <p14:creationId xmlns:p14="http://schemas.microsoft.com/office/powerpoint/2010/main" val="32458092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86330-A02F-C394-4E35-D982DFF3F03A}"/>
              </a:ext>
            </a:extLst>
          </p:cNvPr>
          <p:cNvSpPr>
            <a:spLocks noGrp="1"/>
          </p:cNvSpPr>
          <p:nvPr>
            <p:ph type="title"/>
          </p:nvPr>
        </p:nvSpPr>
        <p:spPr/>
        <p:txBody>
          <a:bodyPr/>
          <a:lstStyle/>
          <a:p>
            <a:r>
              <a:rPr lang="en-US" dirty="0"/>
              <a:t>Step-by-step Approach to Understand LSTM </a:t>
            </a:r>
            <a:endParaRPr lang="en-IN" dirty="0"/>
          </a:p>
        </p:txBody>
      </p:sp>
      <p:sp>
        <p:nvSpPr>
          <p:cNvPr id="3" name="Content Placeholder 2">
            <a:extLst>
              <a:ext uri="{FF2B5EF4-FFF2-40B4-BE49-F238E27FC236}">
                <a16:creationId xmlns:a16="http://schemas.microsoft.com/office/drawing/2014/main" id="{0F3F8C4D-F05B-9637-4ACB-4F63505CF0DF}"/>
              </a:ext>
            </a:extLst>
          </p:cNvPr>
          <p:cNvSpPr>
            <a:spLocks noGrp="1"/>
          </p:cNvSpPr>
          <p:nvPr>
            <p:ph idx="1"/>
          </p:nvPr>
        </p:nvSpPr>
        <p:spPr>
          <a:xfrm>
            <a:off x="6095999" y="2298699"/>
            <a:ext cx="6096001" cy="4495799"/>
          </a:xfrm>
          <a:ln>
            <a:solidFill>
              <a:srgbClr val="000000"/>
            </a:solidFill>
          </a:ln>
        </p:spPr>
        <p:txBody>
          <a:bodyPr/>
          <a:lstStyle/>
          <a:p>
            <a:pPr marL="0" indent="0" algn="just">
              <a:lnSpc>
                <a:spcPct val="107000"/>
              </a:lnSpc>
              <a:spcAft>
                <a:spcPts val="800"/>
              </a:spcAft>
              <a:buNone/>
            </a:pPr>
            <a:r>
              <a:rPr lang="en-IN" sz="1800" b="1" kern="0" dirty="0">
                <a:solidFill>
                  <a:srgbClr val="333333"/>
                </a:solidFill>
                <a:effectLst/>
                <a:highlight>
                  <a:srgbClr val="FFFFFF"/>
                </a:highlight>
                <a:ea typeface="Times New Roman" panose="02020603050405020304" pitchFamily="18" charset="0"/>
                <a:cs typeface="Times New Roman" panose="02020603050405020304" pitchFamily="18" charset="0"/>
              </a:rPr>
              <a:t>Step 1:</a:t>
            </a:r>
            <a:endParaRPr lang="en-IN" sz="1800" kern="100" dirty="0">
              <a:effectLst/>
              <a:highlight>
                <a:srgbClr val="FFFFFF"/>
              </a:highlight>
              <a:ea typeface="Calibri" panose="020F0502020204030204" pitchFamily="34" charset="0"/>
              <a:cs typeface="Times New Roman" panose="02020603050405020304" pitchFamily="18" charset="0"/>
            </a:endParaRPr>
          </a:p>
          <a:p>
            <a:pPr marL="182563" indent="-182563" algn="just">
              <a:lnSpc>
                <a:spcPct val="107000"/>
              </a:lnSpc>
              <a:spcAft>
                <a:spcPts val="800"/>
              </a:spcAft>
            </a:pPr>
            <a:r>
              <a:rPr lang="en-IN" sz="1700" kern="0" dirty="0">
                <a:solidFill>
                  <a:srgbClr val="333333"/>
                </a:solidFill>
                <a:effectLst/>
                <a:highlight>
                  <a:srgbClr val="FFFFFF"/>
                </a:highlight>
                <a:ea typeface="Times New Roman" panose="02020603050405020304" pitchFamily="18" charset="0"/>
                <a:cs typeface="Times New Roman" panose="02020603050405020304" pitchFamily="18" charset="0"/>
              </a:rPr>
              <a:t>It </a:t>
            </a:r>
            <a:r>
              <a:rPr lang="en-IN" sz="1700" b="1" kern="0" dirty="0">
                <a:solidFill>
                  <a:srgbClr val="333333"/>
                </a:solidFill>
                <a:effectLst/>
                <a:highlight>
                  <a:srgbClr val="FFFFFF"/>
                </a:highlight>
                <a:ea typeface="Times New Roman" panose="02020603050405020304" pitchFamily="18" charset="0"/>
                <a:cs typeface="Times New Roman" panose="02020603050405020304" pitchFamily="18" charset="0"/>
              </a:rPr>
              <a:t>identifies the information that is not required </a:t>
            </a:r>
            <a:r>
              <a:rPr lang="en-IN" sz="1700" kern="0" dirty="0">
                <a:solidFill>
                  <a:srgbClr val="333333"/>
                </a:solidFill>
                <a:effectLst/>
                <a:highlight>
                  <a:srgbClr val="FFFFFF"/>
                </a:highlight>
                <a:ea typeface="Times New Roman" panose="02020603050405020304" pitchFamily="18" charset="0"/>
                <a:cs typeface="Times New Roman" panose="02020603050405020304" pitchFamily="18" charset="0"/>
              </a:rPr>
              <a:t>and will be thrown away from the cell state. This decision is made by a </a:t>
            </a:r>
            <a:r>
              <a:rPr lang="en-IN" sz="1700" b="1" kern="0" dirty="0">
                <a:solidFill>
                  <a:srgbClr val="333333"/>
                </a:solidFill>
                <a:effectLst/>
                <a:highlight>
                  <a:srgbClr val="FFFFFF"/>
                </a:highlight>
                <a:ea typeface="Times New Roman" panose="02020603050405020304" pitchFamily="18" charset="0"/>
                <a:cs typeface="Times New Roman" panose="02020603050405020304" pitchFamily="18" charset="0"/>
              </a:rPr>
              <a:t>sigmoid layer</a:t>
            </a:r>
            <a:r>
              <a:rPr lang="en-IN" sz="1700" kern="0" dirty="0">
                <a:solidFill>
                  <a:srgbClr val="333333"/>
                </a:solidFill>
                <a:effectLst/>
                <a:highlight>
                  <a:srgbClr val="FFFFFF"/>
                </a:highlight>
                <a:ea typeface="Times New Roman" panose="02020603050405020304" pitchFamily="18" charset="0"/>
                <a:cs typeface="Times New Roman" panose="02020603050405020304" pitchFamily="18" charset="0"/>
              </a:rPr>
              <a:t>, which called the </a:t>
            </a:r>
            <a:r>
              <a:rPr lang="en-IN" sz="1700" b="1" kern="0" dirty="0">
                <a:solidFill>
                  <a:srgbClr val="333333"/>
                </a:solidFill>
                <a:effectLst/>
                <a:highlight>
                  <a:srgbClr val="FFFFFF"/>
                </a:highlight>
                <a:ea typeface="Times New Roman" panose="02020603050405020304" pitchFamily="18" charset="0"/>
                <a:cs typeface="Times New Roman" panose="02020603050405020304" pitchFamily="18" charset="0"/>
              </a:rPr>
              <a:t>forget gate layer</a:t>
            </a:r>
            <a:r>
              <a:rPr lang="en-IN" sz="1700" kern="0" dirty="0">
                <a:solidFill>
                  <a:srgbClr val="333333"/>
                </a:solidFill>
                <a:effectLst/>
                <a:highlight>
                  <a:srgbClr val="FFFFFF"/>
                </a:highlight>
                <a:ea typeface="Times New Roman" panose="02020603050405020304" pitchFamily="18" charset="0"/>
                <a:cs typeface="Times New Roman" panose="02020603050405020304" pitchFamily="18" charset="0"/>
              </a:rPr>
              <a:t>.</a:t>
            </a:r>
          </a:p>
          <a:p>
            <a:pPr marL="182563" indent="-182563" algn="just">
              <a:lnSpc>
                <a:spcPct val="107000"/>
              </a:lnSpc>
              <a:spcAft>
                <a:spcPts val="800"/>
              </a:spcAft>
            </a:pPr>
            <a:r>
              <a:rPr lang="en-IN" sz="1700" kern="0" dirty="0">
                <a:solidFill>
                  <a:srgbClr val="333333"/>
                </a:solidFill>
                <a:highlight>
                  <a:srgbClr val="FFFFFF"/>
                </a:highlight>
                <a:cs typeface="Times New Roman" panose="02020603050405020304" pitchFamily="18" charset="0"/>
              </a:rPr>
              <a:t>The </a:t>
            </a:r>
            <a:r>
              <a:rPr lang="en-IN" sz="1700" b="1" kern="0" dirty="0">
                <a:solidFill>
                  <a:srgbClr val="333333"/>
                </a:solidFill>
                <a:highlight>
                  <a:srgbClr val="FFFFFF"/>
                </a:highlight>
                <a:cs typeface="Times New Roman" panose="02020603050405020304" pitchFamily="18" charset="0"/>
              </a:rPr>
              <a:t>calculation</a:t>
            </a:r>
            <a:r>
              <a:rPr lang="en-IN" sz="1700" kern="0" dirty="0">
                <a:solidFill>
                  <a:srgbClr val="333333"/>
                </a:solidFill>
                <a:highlight>
                  <a:srgbClr val="FFFFFF"/>
                </a:highlight>
                <a:cs typeface="Times New Roman" panose="02020603050405020304" pitchFamily="18" charset="0"/>
              </a:rPr>
              <a:t> is done by </a:t>
            </a:r>
            <a:r>
              <a:rPr lang="en-IN" sz="1700" b="1" kern="0" dirty="0">
                <a:solidFill>
                  <a:srgbClr val="333333"/>
                </a:solidFill>
                <a:highlight>
                  <a:srgbClr val="FFFFFF"/>
                </a:highlight>
                <a:cs typeface="Times New Roman" panose="02020603050405020304" pitchFamily="18" charset="0"/>
              </a:rPr>
              <a:t>considering the new input</a:t>
            </a:r>
            <a:r>
              <a:rPr lang="en-IN" sz="1700" kern="0" dirty="0">
                <a:solidFill>
                  <a:srgbClr val="333333"/>
                </a:solidFill>
                <a:highlight>
                  <a:srgbClr val="FFFFFF"/>
                </a:highlight>
                <a:cs typeface="Times New Roman" panose="02020603050405020304" pitchFamily="18" charset="0"/>
              </a:rPr>
              <a:t>, and </a:t>
            </a:r>
            <a:r>
              <a:rPr lang="en-IN" sz="1700" b="1" kern="0" dirty="0">
                <a:solidFill>
                  <a:srgbClr val="333333"/>
                </a:solidFill>
                <a:highlight>
                  <a:srgbClr val="FFFFFF"/>
                </a:highlight>
                <a:cs typeface="Times New Roman" panose="02020603050405020304" pitchFamily="18" charset="0"/>
              </a:rPr>
              <a:t>the previous timestamp </a:t>
            </a:r>
            <a:r>
              <a:rPr lang="en-IN" sz="1700" kern="0" dirty="0">
                <a:solidFill>
                  <a:srgbClr val="333333"/>
                </a:solidFill>
                <a:highlight>
                  <a:srgbClr val="FFFFFF"/>
                </a:highlight>
                <a:cs typeface="Times New Roman" panose="02020603050405020304" pitchFamily="18" charset="0"/>
              </a:rPr>
              <a:t>is, which eventually leads to the output of a number between 0 and 1 for each number in that cell state.</a:t>
            </a:r>
          </a:p>
          <a:p>
            <a:pPr marL="182563" indent="-182563" algn="just">
              <a:lnSpc>
                <a:spcPct val="107000"/>
              </a:lnSpc>
              <a:spcAft>
                <a:spcPts val="800"/>
              </a:spcAft>
            </a:pPr>
            <a:r>
              <a:rPr lang="en-IN" sz="1700" kern="0" dirty="0">
                <a:solidFill>
                  <a:srgbClr val="333333"/>
                </a:solidFill>
                <a:highlight>
                  <a:srgbClr val="FFFFFF"/>
                </a:highlight>
                <a:cs typeface="Times New Roman" panose="02020603050405020304" pitchFamily="18" charset="0"/>
              </a:rPr>
              <a:t>As a typical binary, </a:t>
            </a:r>
            <a:r>
              <a:rPr lang="en-IN" sz="1700" b="1" kern="0" dirty="0">
                <a:solidFill>
                  <a:srgbClr val="333333"/>
                </a:solidFill>
                <a:highlight>
                  <a:srgbClr val="FFFFFF"/>
                </a:highlight>
                <a:cs typeface="Times New Roman" panose="02020603050405020304" pitchFamily="18" charset="0"/>
              </a:rPr>
              <a:t>1 represents to keep the cell state while 0 represents to trash it.</a:t>
            </a:r>
          </a:p>
          <a:p>
            <a:pPr marL="182563" indent="-182563" algn="just">
              <a:lnSpc>
                <a:spcPct val="107000"/>
              </a:lnSpc>
              <a:spcAft>
                <a:spcPts val="800"/>
              </a:spcAft>
            </a:pPr>
            <a:r>
              <a:rPr lang="en-IN" sz="1700" b="1" kern="0" dirty="0">
                <a:solidFill>
                  <a:srgbClr val="333333"/>
                </a:solidFill>
                <a:highlight>
                  <a:srgbClr val="FFFFFF"/>
                </a:highlight>
                <a:cs typeface="Times New Roman" panose="02020603050405020304" pitchFamily="18" charset="0"/>
              </a:rPr>
              <a:t>ft = σ(</a:t>
            </a:r>
            <a:r>
              <a:rPr lang="en-IN" sz="1700" b="1" kern="0" dirty="0" err="1">
                <a:solidFill>
                  <a:srgbClr val="333333"/>
                </a:solidFill>
                <a:highlight>
                  <a:srgbClr val="FFFFFF"/>
                </a:highlight>
                <a:cs typeface="Times New Roman" panose="02020603050405020304" pitchFamily="18" charset="0"/>
              </a:rPr>
              <a:t>wf</a:t>
            </a:r>
            <a:r>
              <a:rPr lang="en-IN" sz="1700" b="1" kern="0" dirty="0">
                <a:solidFill>
                  <a:srgbClr val="333333"/>
                </a:solidFill>
                <a:highlight>
                  <a:srgbClr val="FFFFFF"/>
                </a:highlight>
                <a:cs typeface="Times New Roman" panose="02020603050405020304" pitchFamily="18" charset="0"/>
              </a:rPr>
              <a:t> [ht-1, </a:t>
            </a:r>
            <a:r>
              <a:rPr lang="en-IN" sz="1700" b="1" kern="0" dirty="0" err="1">
                <a:solidFill>
                  <a:srgbClr val="333333"/>
                </a:solidFill>
                <a:highlight>
                  <a:srgbClr val="FFFFFF"/>
                </a:highlight>
                <a:cs typeface="Times New Roman" panose="02020603050405020304" pitchFamily="18" charset="0"/>
              </a:rPr>
              <a:t>xt</a:t>
            </a:r>
            <a:r>
              <a:rPr lang="en-IN" sz="1700" b="1" kern="0" dirty="0">
                <a:solidFill>
                  <a:srgbClr val="333333"/>
                </a:solidFill>
                <a:highlight>
                  <a:srgbClr val="FFFFFF"/>
                </a:highlight>
                <a:cs typeface="Times New Roman" panose="02020603050405020304" pitchFamily="18" charset="0"/>
              </a:rPr>
              <a:t>] + bf)</a:t>
            </a:r>
          </a:p>
          <a:p>
            <a:pPr marL="0" indent="0" algn="just">
              <a:lnSpc>
                <a:spcPct val="107000"/>
              </a:lnSpc>
              <a:spcAft>
                <a:spcPts val="800"/>
              </a:spcAft>
              <a:buNone/>
            </a:pPr>
            <a:r>
              <a:rPr lang="en-IN" sz="1700" kern="0" dirty="0">
                <a:solidFill>
                  <a:srgbClr val="333333"/>
                </a:solidFill>
                <a:highlight>
                  <a:srgbClr val="FFFFFF"/>
                </a:highlight>
                <a:cs typeface="Times New Roman" panose="02020603050405020304" pitchFamily="18" charset="0"/>
              </a:rPr>
              <a:t>where, </a:t>
            </a:r>
            <a:r>
              <a:rPr lang="en-IN" sz="1700" kern="0" dirty="0" err="1">
                <a:solidFill>
                  <a:srgbClr val="333333"/>
                </a:solidFill>
                <a:highlight>
                  <a:srgbClr val="FFFFFF"/>
                </a:highlight>
                <a:cs typeface="Times New Roman" panose="02020603050405020304" pitchFamily="18" charset="0"/>
              </a:rPr>
              <a:t>wf</a:t>
            </a:r>
            <a:r>
              <a:rPr lang="en-IN" sz="1700" kern="0" dirty="0">
                <a:solidFill>
                  <a:srgbClr val="333333"/>
                </a:solidFill>
                <a:highlight>
                  <a:srgbClr val="FFFFFF"/>
                </a:highlight>
                <a:cs typeface="Times New Roman" panose="02020603050405020304" pitchFamily="18" charset="0"/>
              </a:rPr>
              <a:t> = Weight, ht-1 = Output from previous timestamp, </a:t>
            </a:r>
            <a:r>
              <a:rPr lang="en-IN" sz="1700" kern="0" dirty="0" err="1">
                <a:solidFill>
                  <a:srgbClr val="333333"/>
                </a:solidFill>
                <a:highlight>
                  <a:srgbClr val="FFFFFF"/>
                </a:highlight>
                <a:cs typeface="Times New Roman" panose="02020603050405020304" pitchFamily="18" charset="0"/>
              </a:rPr>
              <a:t>xt</a:t>
            </a:r>
            <a:r>
              <a:rPr lang="en-IN" sz="1700" kern="0" dirty="0">
                <a:solidFill>
                  <a:srgbClr val="333333"/>
                </a:solidFill>
                <a:highlight>
                  <a:srgbClr val="FFFFFF"/>
                </a:highlight>
                <a:cs typeface="Times New Roman" panose="02020603050405020304" pitchFamily="18" charset="0"/>
              </a:rPr>
              <a:t> = New input, bf = Bias</a:t>
            </a:r>
          </a:p>
          <a:p>
            <a:pPr algn="just">
              <a:lnSpc>
                <a:spcPct val="107000"/>
              </a:lnSpc>
              <a:spcAft>
                <a:spcPts val="800"/>
              </a:spcAft>
            </a:pPr>
            <a:endParaRPr lang="en-IN" sz="1600" kern="100" dirty="0">
              <a:effectLst/>
              <a:highlight>
                <a:srgbClr val="FFFFFF"/>
              </a:highlight>
              <a:ea typeface="Calibri" panose="020F0502020204030204" pitchFamily="34" charset="0"/>
              <a:cs typeface="Times New Roman" panose="02020603050405020304" pitchFamily="18" charset="0"/>
            </a:endParaRPr>
          </a:p>
          <a:p>
            <a:endParaRPr lang="en-IN" dirty="0"/>
          </a:p>
        </p:txBody>
      </p:sp>
      <p:sp>
        <p:nvSpPr>
          <p:cNvPr id="4" name="Slide Number Placeholder 3">
            <a:extLst>
              <a:ext uri="{FF2B5EF4-FFF2-40B4-BE49-F238E27FC236}">
                <a16:creationId xmlns:a16="http://schemas.microsoft.com/office/drawing/2014/main" id="{7A94352D-EB90-37EF-A883-710006B94632}"/>
              </a:ext>
            </a:extLst>
          </p:cNvPr>
          <p:cNvSpPr>
            <a:spLocks noGrp="1"/>
          </p:cNvSpPr>
          <p:nvPr>
            <p:ph type="sldNum" sz="quarter" idx="12"/>
          </p:nvPr>
        </p:nvSpPr>
        <p:spPr/>
        <p:txBody>
          <a:bodyPr/>
          <a:lstStyle/>
          <a:p>
            <a:pPr>
              <a:defRPr/>
            </a:pPr>
            <a:fld id="{9AD681D7-8A59-4380-9311-10B86FF921AA}" type="slidenum">
              <a:rPr lang="en-US" altLang="zh-TW" smtClean="0"/>
              <a:pPr>
                <a:defRPr/>
              </a:pPr>
              <a:t>36</a:t>
            </a:fld>
            <a:endParaRPr lang="en-US" altLang="zh-TW"/>
          </a:p>
        </p:txBody>
      </p:sp>
      <p:pic>
        <p:nvPicPr>
          <p:cNvPr id="5" name="Picture 4" descr="Recurrent Neural Networks">
            <a:extLst>
              <a:ext uri="{FF2B5EF4-FFF2-40B4-BE49-F238E27FC236}">
                <a16:creationId xmlns:a16="http://schemas.microsoft.com/office/drawing/2014/main" id="{046AC3DA-1E69-B275-8C58-CD217F54316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2240867"/>
            <a:ext cx="6095999" cy="4495798"/>
          </a:xfrm>
          <a:prstGeom prst="rect">
            <a:avLst/>
          </a:prstGeom>
          <a:noFill/>
          <a:ln>
            <a:solidFill>
              <a:srgbClr val="000000"/>
            </a:solidFill>
          </a:ln>
        </p:spPr>
      </p:pic>
      <p:pic>
        <p:nvPicPr>
          <p:cNvPr id="6" name="Picture 5">
            <a:extLst>
              <a:ext uri="{FF2B5EF4-FFF2-40B4-BE49-F238E27FC236}">
                <a16:creationId xmlns:a16="http://schemas.microsoft.com/office/drawing/2014/main" id="{7E1FA8F7-89A9-BD4E-3D14-C237FCE39986}"/>
              </a:ext>
            </a:extLst>
          </p:cNvPr>
          <p:cNvPicPr>
            <a:picLocks noChangeAspect="1"/>
          </p:cNvPicPr>
          <p:nvPr/>
        </p:nvPicPr>
        <p:blipFill rotWithShape="1">
          <a:blip r:embed="rId3"/>
          <a:srcRect l="8475" t="3464" r="55223" b="88889"/>
          <a:stretch/>
        </p:blipFill>
        <p:spPr>
          <a:xfrm>
            <a:off x="300443" y="2501153"/>
            <a:ext cx="2294305" cy="488950"/>
          </a:xfrm>
          <a:prstGeom prst="rect">
            <a:avLst/>
          </a:prstGeom>
        </p:spPr>
      </p:pic>
      <p:sp>
        <p:nvSpPr>
          <p:cNvPr id="8" name="TextBox 7">
            <a:extLst>
              <a:ext uri="{FF2B5EF4-FFF2-40B4-BE49-F238E27FC236}">
                <a16:creationId xmlns:a16="http://schemas.microsoft.com/office/drawing/2014/main" id="{98DB13EF-69DD-D0B5-E433-1C790958EF8A}"/>
              </a:ext>
            </a:extLst>
          </p:cNvPr>
          <p:cNvSpPr txBox="1"/>
          <p:nvPr/>
        </p:nvSpPr>
        <p:spPr>
          <a:xfrm>
            <a:off x="5859556" y="62960"/>
            <a:ext cx="6229349" cy="305340"/>
          </a:xfrm>
          <a:prstGeom prst="rect">
            <a:avLst/>
          </a:prstGeom>
          <a:noFill/>
          <a:ln>
            <a:solidFill>
              <a:srgbClr val="000000"/>
            </a:solidFill>
          </a:ln>
        </p:spPr>
        <p:txBody>
          <a:bodyPr wrap="square">
            <a:spAutoFit/>
          </a:bodyPr>
          <a:lstStyle/>
          <a:p>
            <a:pPr algn="just">
              <a:lnSpc>
                <a:spcPts val="1560"/>
              </a:lnSpc>
              <a:spcBef>
                <a:spcPts val="375"/>
              </a:spcBef>
              <a:spcAft>
                <a:spcPts val="800"/>
              </a:spcAft>
            </a:pPr>
            <a:r>
              <a:rPr lang="en-IN" sz="1800" u="sng" kern="1800" dirty="0">
                <a:solidFill>
                  <a:srgbClr val="610B38"/>
                </a:solidFill>
                <a:effectLst/>
                <a:highlight>
                  <a:srgbClr val="FFFFFF"/>
                </a:highlight>
                <a:latin typeface="Helvetica" panose="020B0604020202020204" pitchFamily="34" charset="0"/>
                <a:ea typeface="Times New Roman" panose="02020603050405020304" pitchFamily="18" charset="0"/>
                <a:cs typeface="Times New Roman" panose="02020603050405020304" pitchFamily="18" charset="0"/>
                <a:hlinkClick r:id="rId4"/>
              </a:rPr>
              <a:t>https://www.javatpoint.com/keras-recurrent-neural-networks</a:t>
            </a:r>
            <a:endParaRPr lang="en-IN" sz="1600" kern="100" dirty="0">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0766563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86330-A02F-C394-4E35-D982DFF3F03A}"/>
              </a:ext>
            </a:extLst>
          </p:cNvPr>
          <p:cNvSpPr>
            <a:spLocks noGrp="1"/>
          </p:cNvSpPr>
          <p:nvPr>
            <p:ph type="title"/>
          </p:nvPr>
        </p:nvSpPr>
        <p:spPr/>
        <p:txBody>
          <a:bodyPr/>
          <a:lstStyle/>
          <a:p>
            <a:r>
              <a:rPr lang="en-US" dirty="0"/>
              <a:t>Step-by-step approach to understand LSTM </a:t>
            </a:r>
            <a:endParaRPr lang="en-IN" dirty="0"/>
          </a:p>
        </p:txBody>
      </p:sp>
      <p:sp>
        <p:nvSpPr>
          <p:cNvPr id="3" name="Content Placeholder 2">
            <a:extLst>
              <a:ext uri="{FF2B5EF4-FFF2-40B4-BE49-F238E27FC236}">
                <a16:creationId xmlns:a16="http://schemas.microsoft.com/office/drawing/2014/main" id="{0F3F8C4D-F05B-9637-4ACB-4F63505CF0DF}"/>
              </a:ext>
            </a:extLst>
          </p:cNvPr>
          <p:cNvSpPr>
            <a:spLocks noGrp="1"/>
          </p:cNvSpPr>
          <p:nvPr>
            <p:ph idx="1"/>
          </p:nvPr>
        </p:nvSpPr>
        <p:spPr>
          <a:xfrm>
            <a:off x="6095999" y="2298699"/>
            <a:ext cx="6096001" cy="4559301"/>
          </a:xfrm>
          <a:ln>
            <a:solidFill>
              <a:srgbClr val="000000"/>
            </a:solidFill>
          </a:ln>
        </p:spPr>
        <p:txBody>
          <a:bodyPr/>
          <a:lstStyle/>
          <a:p>
            <a:pPr marL="0" indent="0" algn="just">
              <a:lnSpc>
                <a:spcPct val="107000"/>
              </a:lnSpc>
              <a:spcAft>
                <a:spcPts val="800"/>
              </a:spcAft>
              <a:buNone/>
            </a:pPr>
            <a:r>
              <a:rPr lang="en-IN" sz="1800" b="1" kern="0" dirty="0">
                <a:solidFill>
                  <a:srgbClr val="333333"/>
                </a:solidFill>
                <a:effectLst/>
                <a:highlight>
                  <a:srgbClr val="FFFFFF"/>
                </a:highlight>
                <a:ea typeface="Times New Roman" panose="02020603050405020304" pitchFamily="18" charset="0"/>
                <a:cs typeface="Times New Roman" panose="02020603050405020304" pitchFamily="18" charset="0"/>
              </a:rPr>
              <a:t>Step 2:</a:t>
            </a:r>
            <a:endParaRPr lang="en-IN" sz="1800" kern="100" dirty="0">
              <a:effectLst/>
              <a:highlight>
                <a:srgbClr val="FFFFFF"/>
              </a:highlight>
              <a:ea typeface="Calibri" panose="020F0502020204030204" pitchFamily="34" charset="0"/>
              <a:cs typeface="Times New Roman" panose="02020603050405020304" pitchFamily="18" charset="0"/>
            </a:endParaRPr>
          </a:p>
          <a:p>
            <a:pPr marL="182563" indent="-182563" algn="just">
              <a:lnSpc>
                <a:spcPct val="107000"/>
              </a:lnSpc>
              <a:spcAft>
                <a:spcPts val="800"/>
              </a:spcAft>
            </a:pPr>
            <a:r>
              <a:rPr lang="en-IN" sz="1700" kern="0" dirty="0">
                <a:solidFill>
                  <a:srgbClr val="333333"/>
                </a:solidFill>
                <a:highlight>
                  <a:srgbClr val="FFFFFF"/>
                </a:highlight>
                <a:cs typeface="Times New Roman" panose="02020603050405020304" pitchFamily="18" charset="0"/>
              </a:rPr>
              <a:t>Next, its to be decided </a:t>
            </a:r>
            <a:r>
              <a:rPr lang="en-IN" sz="1700" b="1" kern="0" dirty="0">
                <a:solidFill>
                  <a:srgbClr val="333333"/>
                </a:solidFill>
                <a:highlight>
                  <a:srgbClr val="FFFFFF"/>
                </a:highlight>
                <a:cs typeface="Times New Roman" panose="02020603050405020304" pitchFamily="18" charset="0"/>
              </a:rPr>
              <a:t>which information will be stored in the cell state.</a:t>
            </a:r>
            <a:r>
              <a:rPr lang="en-IN" sz="1700" kern="0" dirty="0">
                <a:solidFill>
                  <a:srgbClr val="333333"/>
                </a:solidFill>
                <a:highlight>
                  <a:srgbClr val="FFFFFF"/>
                </a:highlight>
                <a:cs typeface="Times New Roman" panose="02020603050405020304" pitchFamily="18" charset="0"/>
              </a:rPr>
              <a:t> It further consists of the following steps:</a:t>
            </a:r>
          </a:p>
          <a:p>
            <a:pPr marL="182563" lvl="0" indent="-182563" algn="just">
              <a:lnSpc>
                <a:spcPts val="1875"/>
              </a:lnSpc>
              <a:spcBef>
                <a:spcPts val="300"/>
              </a:spcBef>
              <a:spcAft>
                <a:spcPts val="800"/>
              </a:spcAft>
              <a:buSzPts val="1000"/>
              <a:buFont typeface="Courier New" panose="02070309020205020404" pitchFamily="49" charset="0"/>
              <a:buChar char="o"/>
              <a:tabLst>
                <a:tab pos="457200" algn="l"/>
              </a:tabLst>
            </a:pPr>
            <a:r>
              <a:rPr lang="en-IN" sz="1700" kern="0" dirty="0">
                <a:solidFill>
                  <a:srgbClr val="333333"/>
                </a:solidFill>
                <a:highlight>
                  <a:srgbClr val="FFFFFF"/>
                </a:highlight>
                <a:cs typeface="Times New Roman" panose="02020603050405020304" pitchFamily="18" charset="0"/>
              </a:rPr>
              <a:t>The </a:t>
            </a:r>
            <a:r>
              <a:rPr lang="en-IN" sz="1700" b="1" kern="0" dirty="0">
                <a:solidFill>
                  <a:srgbClr val="333333"/>
                </a:solidFill>
                <a:highlight>
                  <a:srgbClr val="FFFFFF"/>
                </a:highlight>
                <a:cs typeface="Times New Roman" panose="02020603050405020304" pitchFamily="18" charset="0"/>
              </a:rPr>
              <a:t>sigmoid layer</a:t>
            </a:r>
            <a:r>
              <a:rPr lang="en-IN" sz="1700" kern="0" dirty="0">
                <a:solidFill>
                  <a:srgbClr val="333333"/>
                </a:solidFill>
                <a:highlight>
                  <a:srgbClr val="FFFFFF"/>
                </a:highlight>
                <a:cs typeface="Times New Roman" panose="02020603050405020304" pitchFamily="18" charset="0"/>
              </a:rPr>
              <a:t>, which is also known as the </a:t>
            </a:r>
            <a:r>
              <a:rPr lang="en-IN" sz="1700" b="1" kern="0" dirty="0">
                <a:solidFill>
                  <a:srgbClr val="333333"/>
                </a:solidFill>
                <a:highlight>
                  <a:srgbClr val="FFFFFF"/>
                </a:highlight>
                <a:cs typeface="Times New Roman" panose="02020603050405020304" pitchFamily="18" charset="0"/>
              </a:rPr>
              <a:t>"input gate layer," will make decisions about those values that are needed to be updated.</a:t>
            </a:r>
          </a:p>
          <a:p>
            <a:pPr marL="182563" lvl="0" indent="-182563" algn="just">
              <a:lnSpc>
                <a:spcPts val="1875"/>
              </a:lnSpc>
              <a:spcBef>
                <a:spcPts val="300"/>
              </a:spcBef>
              <a:spcAft>
                <a:spcPts val="800"/>
              </a:spcAft>
              <a:buSzPts val="1000"/>
              <a:buFont typeface="Courier New" panose="02070309020205020404" pitchFamily="49" charset="0"/>
              <a:buChar char="o"/>
              <a:tabLst>
                <a:tab pos="457200" algn="l"/>
              </a:tabLst>
            </a:pPr>
            <a:r>
              <a:rPr lang="en-IN" sz="1700" kern="0" dirty="0">
                <a:solidFill>
                  <a:srgbClr val="333333"/>
                </a:solidFill>
                <a:highlight>
                  <a:srgbClr val="FFFFFF"/>
                </a:highlight>
                <a:cs typeface="Times New Roman" panose="02020603050405020304" pitchFamily="18" charset="0"/>
              </a:rPr>
              <a:t>A vector of new candidate values is created so that they can be added to the state by the</a:t>
            </a:r>
            <a:r>
              <a:rPr lang="en-IN" sz="1700" b="1" kern="0" dirty="0">
                <a:solidFill>
                  <a:srgbClr val="333333"/>
                </a:solidFill>
                <a:highlight>
                  <a:srgbClr val="FFFFFF"/>
                </a:highlight>
                <a:cs typeface="Times New Roman" panose="02020603050405020304" pitchFamily="18" charset="0"/>
              </a:rPr>
              <a:t> tanh </a:t>
            </a:r>
            <a:r>
              <a:rPr lang="en-IN" sz="1700" kern="0" dirty="0">
                <a:solidFill>
                  <a:srgbClr val="333333"/>
                </a:solidFill>
                <a:highlight>
                  <a:srgbClr val="FFFFFF"/>
                </a:highlight>
                <a:cs typeface="Times New Roman" panose="02020603050405020304" pitchFamily="18" charset="0"/>
              </a:rPr>
              <a:t>layer.</a:t>
            </a:r>
          </a:p>
          <a:p>
            <a:pPr algn="just">
              <a:lnSpc>
                <a:spcPct val="107000"/>
              </a:lnSpc>
              <a:spcAft>
                <a:spcPts val="800"/>
              </a:spcAft>
            </a:pPr>
            <a:r>
              <a:rPr lang="en-IN" sz="1700" kern="0" dirty="0">
                <a:solidFill>
                  <a:srgbClr val="333333"/>
                </a:solidFill>
                <a:highlight>
                  <a:srgbClr val="FFFFFF"/>
                </a:highlight>
                <a:cs typeface="Times New Roman" panose="02020603050405020304" pitchFamily="18" charset="0"/>
              </a:rPr>
              <a:t>Then the new input, as well as the preceding timestamp's input, will get passed through a </a:t>
            </a:r>
            <a:r>
              <a:rPr lang="en-IN" sz="1700" b="1" kern="0" dirty="0">
                <a:solidFill>
                  <a:srgbClr val="333333"/>
                </a:solidFill>
                <a:highlight>
                  <a:srgbClr val="FFFFFF"/>
                </a:highlight>
                <a:cs typeface="Times New Roman" panose="02020603050405020304" pitchFamily="18" charset="0"/>
              </a:rPr>
              <a:t>sigmoid function </a:t>
            </a:r>
            <a:r>
              <a:rPr lang="en-IN" sz="1700" kern="0" dirty="0">
                <a:solidFill>
                  <a:srgbClr val="333333"/>
                </a:solidFill>
                <a:highlight>
                  <a:srgbClr val="FFFFFF"/>
                </a:highlight>
                <a:cs typeface="Times New Roman" panose="02020603050405020304" pitchFamily="18" charset="0"/>
              </a:rPr>
              <a:t>that will result in the </a:t>
            </a:r>
            <a:r>
              <a:rPr lang="en-IN" sz="1700" b="1" kern="0" dirty="0">
                <a:solidFill>
                  <a:srgbClr val="333333"/>
                </a:solidFill>
                <a:highlight>
                  <a:srgbClr val="FFFFFF"/>
                </a:highlight>
                <a:cs typeface="Times New Roman" panose="02020603050405020304" pitchFamily="18" charset="0"/>
              </a:rPr>
              <a:t>value </a:t>
            </a:r>
            <a:r>
              <a:rPr lang="en-IN" sz="1700" b="1" kern="0" dirty="0" err="1">
                <a:solidFill>
                  <a:srgbClr val="333333"/>
                </a:solidFill>
                <a:highlight>
                  <a:srgbClr val="FFFFFF"/>
                </a:highlight>
                <a:cs typeface="Times New Roman" panose="02020603050405020304" pitchFamily="18" charset="0"/>
              </a:rPr>
              <a:t>i</a:t>
            </a:r>
            <a:r>
              <a:rPr lang="en-IN" sz="1700" b="1" kern="0" dirty="0">
                <a:solidFill>
                  <a:srgbClr val="333333"/>
                </a:solidFill>
                <a:highlight>
                  <a:srgbClr val="FFFFFF"/>
                </a:highlight>
                <a:cs typeface="Times New Roman" panose="02020603050405020304" pitchFamily="18" charset="0"/>
              </a:rPr>
              <a:t>(t), </a:t>
            </a:r>
            <a:r>
              <a:rPr lang="en-IN" sz="1700" kern="0" dirty="0">
                <a:solidFill>
                  <a:srgbClr val="333333"/>
                </a:solidFill>
                <a:highlight>
                  <a:srgbClr val="FFFFFF"/>
                </a:highlight>
                <a:cs typeface="Times New Roman" panose="02020603050405020304" pitchFamily="18" charset="0"/>
              </a:rPr>
              <a:t>which will then be multiplied by </a:t>
            </a:r>
            <a:r>
              <a:rPr lang="en-IN" sz="1700" b="1" kern="0" dirty="0">
                <a:solidFill>
                  <a:srgbClr val="333333"/>
                </a:solidFill>
                <a:highlight>
                  <a:srgbClr val="FFFFFF"/>
                </a:highlight>
                <a:cs typeface="Times New Roman" panose="02020603050405020304" pitchFamily="18" charset="0"/>
              </a:rPr>
              <a:t>c(t)</a:t>
            </a:r>
            <a:r>
              <a:rPr lang="en-IN" sz="1700" kern="0" dirty="0">
                <a:solidFill>
                  <a:srgbClr val="333333"/>
                </a:solidFill>
                <a:highlight>
                  <a:srgbClr val="FFFFFF"/>
                </a:highlight>
                <a:cs typeface="Times New Roman" panose="02020603050405020304" pitchFamily="18" charset="0"/>
              </a:rPr>
              <a:t> </a:t>
            </a:r>
            <a:r>
              <a:rPr lang="en-IN" sz="1700" b="1" kern="0" dirty="0">
                <a:solidFill>
                  <a:srgbClr val="333333"/>
                </a:solidFill>
                <a:highlight>
                  <a:srgbClr val="FFFFFF"/>
                </a:highlight>
                <a:cs typeface="Times New Roman" panose="02020603050405020304" pitchFamily="18" charset="0"/>
              </a:rPr>
              <a:t>followed by adding it to the cell state</a:t>
            </a:r>
            <a:r>
              <a:rPr lang="en-IN" sz="1700" kern="0" dirty="0">
                <a:solidFill>
                  <a:srgbClr val="333333"/>
                </a:solidFill>
                <a:highlight>
                  <a:srgbClr val="FFFFFF"/>
                </a:highlight>
                <a:cs typeface="Times New Roman" panose="02020603050405020304" pitchFamily="18" charset="0"/>
              </a:rPr>
              <a:t>.</a:t>
            </a:r>
          </a:p>
          <a:p>
            <a:pPr algn="just">
              <a:lnSpc>
                <a:spcPct val="107000"/>
              </a:lnSpc>
              <a:spcAft>
                <a:spcPts val="800"/>
              </a:spcAft>
            </a:pPr>
            <a:r>
              <a:rPr lang="en-IN" sz="1700" kern="0" dirty="0">
                <a:solidFill>
                  <a:srgbClr val="333333"/>
                </a:solidFill>
                <a:effectLst/>
                <a:latin typeface="Segoe UI" panose="020B0502040204020203" pitchFamily="34" charset="0"/>
                <a:ea typeface="Times New Roman" panose="02020603050405020304" pitchFamily="18" charset="0"/>
              </a:rPr>
              <a:t>In the </a:t>
            </a:r>
            <a:r>
              <a:rPr lang="en-IN" sz="1700" b="1" kern="0" dirty="0">
                <a:solidFill>
                  <a:srgbClr val="333333"/>
                </a:solidFill>
                <a:effectLst/>
                <a:latin typeface="Segoe UI" panose="020B0502040204020203" pitchFamily="34" charset="0"/>
                <a:ea typeface="Times New Roman" panose="02020603050405020304" pitchFamily="18" charset="0"/>
              </a:rPr>
              <a:t>next step</a:t>
            </a:r>
            <a:r>
              <a:rPr lang="en-IN" sz="1700" kern="0" dirty="0">
                <a:solidFill>
                  <a:srgbClr val="333333"/>
                </a:solidFill>
                <a:effectLst/>
                <a:latin typeface="Segoe UI" panose="020B0502040204020203" pitchFamily="34" charset="0"/>
                <a:ea typeface="Times New Roman" panose="02020603050405020304" pitchFamily="18" charset="0"/>
              </a:rPr>
              <a:t>, we will </a:t>
            </a:r>
            <a:r>
              <a:rPr lang="en-IN" sz="1700" b="1" kern="0" dirty="0">
                <a:solidFill>
                  <a:srgbClr val="333333"/>
                </a:solidFill>
                <a:effectLst/>
                <a:latin typeface="Segoe UI" panose="020B0502040204020203" pitchFamily="34" charset="0"/>
                <a:ea typeface="Times New Roman" panose="02020603050405020304" pitchFamily="18" charset="0"/>
              </a:rPr>
              <a:t>combine both of them so as to update the state</a:t>
            </a:r>
            <a:endParaRPr lang="en-IN" sz="1700" b="1" kern="100" dirty="0">
              <a:effectLst/>
              <a:highlight>
                <a:srgbClr val="FFFFFF"/>
              </a:highlight>
              <a:ea typeface="Calibri" panose="020F0502020204030204" pitchFamily="34" charset="0"/>
              <a:cs typeface="Times New Roman" panose="02020603050405020304" pitchFamily="18" charset="0"/>
            </a:endParaRPr>
          </a:p>
          <a:p>
            <a:endParaRPr lang="en-IN" dirty="0"/>
          </a:p>
        </p:txBody>
      </p:sp>
      <p:sp>
        <p:nvSpPr>
          <p:cNvPr id="4" name="Slide Number Placeholder 3">
            <a:extLst>
              <a:ext uri="{FF2B5EF4-FFF2-40B4-BE49-F238E27FC236}">
                <a16:creationId xmlns:a16="http://schemas.microsoft.com/office/drawing/2014/main" id="{7A94352D-EB90-37EF-A883-710006B94632}"/>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AD681D7-8A59-4380-9311-10B86FF921AA}" type="slidenum">
              <a:rPr kumimoji="0" lang="en-US" altLang="zh-TW" sz="2600" b="1" i="0" u="none" strike="noStrike" kern="1200" cap="none" spc="0" normalizeH="0" baseline="0" noProof="0" smtClean="0">
                <a:ln>
                  <a:noFill/>
                </a:ln>
                <a:solidFill>
                  <a:srgbClr val="FFFFFF"/>
                </a:solidFill>
                <a:effectLst/>
                <a:uLnTx/>
                <a:uFillTx/>
                <a:latin typeface="Arial"/>
                <a:ea typeface="新細明體" panose="02020500000000000000" pitchFamily="18" charset="-120"/>
                <a:cs typeface="+mn-cs"/>
              </a:rPr>
              <a:pPr marL="0" marR="0" lvl="0" indent="0" algn="l" defTabSz="914400" rtl="0" eaLnBrk="1" fontAlgn="auto" latinLnBrk="0" hangingPunct="1">
                <a:lnSpc>
                  <a:spcPct val="100000"/>
                </a:lnSpc>
                <a:spcBef>
                  <a:spcPts val="0"/>
                </a:spcBef>
                <a:spcAft>
                  <a:spcPts val="0"/>
                </a:spcAft>
                <a:buClrTx/>
                <a:buSzTx/>
                <a:buFontTx/>
                <a:buNone/>
                <a:tabLst/>
                <a:defRPr/>
              </a:pPr>
              <a:t>37</a:t>
            </a:fld>
            <a:endParaRPr kumimoji="0" lang="en-US" altLang="zh-TW" sz="2600" b="1" i="0" u="none" strike="noStrike" kern="1200" cap="none" spc="0" normalizeH="0" baseline="0" noProof="0">
              <a:ln>
                <a:noFill/>
              </a:ln>
              <a:solidFill>
                <a:srgbClr val="FFFFFF"/>
              </a:solidFill>
              <a:effectLst/>
              <a:uLnTx/>
              <a:uFillTx/>
              <a:latin typeface="Arial"/>
              <a:ea typeface="新細明體" panose="02020500000000000000" pitchFamily="18" charset="-120"/>
              <a:cs typeface="+mn-cs"/>
            </a:endParaRPr>
          </a:p>
        </p:txBody>
      </p:sp>
      <p:pic>
        <p:nvPicPr>
          <p:cNvPr id="6" name="Picture 5">
            <a:extLst>
              <a:ext uri="{FF2B5EF4-FFF2-40B4-BE49-F238E27FC236}">
                <a16:creationId xmlns:a16="http://schemas.microsoft.com/office/drawing/2014/main" id="{3862079E-E30F-DC3C-676D-0FDB87EC48AE}"/>
              </a:ext>
            </a:extLst>
          </p:cNvPr>
          <p:cNvPicPr>
            <a:picLocks noChangeAspect="1"/>
          </p:cNvPicPr>
          <p:nvPr/>
        </p:nvPicPr>
        <p:blipFill>
          <a:blip r:embed="rId2"/>
          <a:stretch>
            <a:fillRect/>
          </a:stretch>
        </p:blipFill>
        <p:spPr>
          <a:xfrm>
            <a:off x="1" y="2298699"/>
            <a:ext cx="6095998" cy="4559301"/>
          </a:xfrm>
          <a:prstGeom prst="rect">
            <a:avLst/>
          </a:prstGeom>
          <a:ln>
            <a:solidFill>
              <a:srgbClr val="000000"/>
            </a:solidFill>
          </a:ln>
        </p:spPr>
      </p:pic>
      <p:pic>
        <p:nvPicPr>
          <p:cNvPr id="7" name="Picture 6">
            <a:extLst>
              <a:ext uri="{FF2B5EF4-FFF2-40B4-BE49-F238E27FC236}">
                <a16:creationId xmlns:a16="http://schemas.microsoft.com/office/drawing/2014/main" id="{C8D1E22B-739A-6A61-A355-6FF8F14DEA01}"/>
              </a:ext>
            </a:extLst>
          </p:cNvPr>
          <p:cNvPicPr>
            <a:picLocks noChangeAspect="1"/>
          </p:cNvPicPr>
          <p:nvPr/>
        </p:nvPicPr>
        <p:blipFill rotWithShape="1">
          <a:blip r:embed="rId3"/>
          <a:srcRect l="13632" t="89842" r="48345" b="3982"/>
          <a:stretch/>
        </p:blipFill>
        <p:spPr>
          <a:xfrm>
            <a:off x="1613647" y="2393576"/>
            <a:ext cx="2353350" cy="282389"/>
          </a:xfrm>
          <a:prstGeom prst="rect">
            <a:avLst/>
          </a:prstGeom>
        </p:spPr>
      </p:pic>
    </p:spTree>
    <p:extLst>
      <p:ext uri="{BB962C8B-B14F-4D97-AF65-F5344CB8AC3E}">
        <p14:creationId xmlns:p14="http://schemas.microsoft.com/office/powerpoint/2010/main" val="25419315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86330-A02F-C394-4E35-D982DFF3F03A}"/>
              </a:ext>
            </a:extLst>
          </p:cNvPr>
          <p:cNvSpPr>
            <a:spLocks noGrp="1"/>
          </p:cNvSpPr>
          <p:nvPr>
            <p:ph type="title"/>
          </p:nvPr>
        </p:nvSpPr>
        <p:spPr/>
        <p:txBody>
          <a:bodyPr/>
          <a:lstStyle/>
          <a:p>
            <a:r>
              <a:rPr lang="en-US" dirty="0"/>
              <a:t>Step-by-step approach to understand LSTM </a:t>
            </a:r>
            <a:endParaRPr lang="en-IN" dirty="0"/>
          </a:p>
        </p:txBody>
      </p:sp>
      <p:sp>
        <p:nvSpPr>
          <p:cNvPr id="3" name="Content Placeholder 2">
            <a:extLst>
              <a:ext uri="{FF2B5EF4-FFF2-40B4-BE49-F238E27FC236}">
                <a16:creationId xmlns:a16="http://schemas.microsoft.com/office/drawing/2014/main" id="{0F3F8C4D-F05B-9637-4ACB-4F63505CF0DF}"/>
              </a:ext>
            </a:extLst>
          </p:cNvPr>
          <p:cNvSpPr>
            <a:spLocks noGrp="1"/>
          </p:cNvSpPr>
          <p:nvPr>
            <p:ph idx="1"/>
          </p:nvPr>
        </p:nvSpPr>
        <p:spPr>
          <a:xfrm>
            <a:off x="6095999" y="2298699"/>
            <a:ext cx="6095999" cy="4495799"/>
          </a:xfrm>
          <a:ln>
            <a:solidFill>
              <a:srgbClr val="000000"/>
            </a:solidFill>
          </a:ln>
        </p:spPr>
        <p:txBody>
          <a:bodyPr/>
          <a:lstStyle/>
          <a:p>
            <a:pPr marL="0" indent="0" algn="just">
              <a:lnSpc>
                <a:spcPct val="107000"/>
              </a:lnSpc>
              <a:spcAft>
                <a:spcPts val="800"/>
              </a:spcAft>
              <a:buNone/>
            </a:pPr>
            <a:r>
              <a:rPr lang="en-IN" sz="1800" b="1" kern="0" dirty="0">
                <a:solidFill>
                  <a:srgbClr val="333333"/>
                </a:solidFill>
                <a:effectLst/>
                <a:highlight>
                  <a:srgbClr val="FFFFFF"/>
                </a:highlight>
                <a:ea typeface="Times New Roman" panose="02020603050405020304" pitchFamily="18" charset="0"/>
                <a:cs typeface="Times New Roman" panose="02020603050405020304" pitchFamily="18" charset="0"/>
              </a:rPr>
              <a:t>Step 3:</a:t>
            </a:r>
            <a:endParaRPr lang="en-IN" sz="1800" kern="100" dirty="0">
              <a:effectLst/>
              <a:highlight>
                <a:srgbClr val="FFFFFF"/>
              </a:highlight>
              <a:ea typeface="Calibri" panose="020F0502020204030204" pitchFamily="34" charset="0"/>
              <a:cs typeface="Times New Roman" panose="02020603050405020304" pitchFamily="18" charset="0"/>
            </a:endParaRPr>
          </a:p>
          <a:p>
            <a:pPr marL="174625" indent="-174625" algn="just">
              <a:lnSpc>
                <a:spcPct val="107000"/>
              </a:lnSpc>
              <a:spcAft>
                <a:spcPts val="800"/>
              </a:spcAft>
            </a:pPr>
            <a:r>
              <a:rPr lang="en-IN" sz="1800" kern="0" dirty="0">
                <a:solidFill>
                  <a:srgbClr val="333333"/>
                </a:solidFill>
                <a:effectLst/>
                <a:highlight>
                  <a:srgbClr val="FFFFFF"/>
                </a:highlight>
                <a:latin typeface="Segoe UI" panose="020B0502040204020203" pitchFamily="34" charset="0"/>
                <a:ea typeface="Times New Roman" panose="02020603050405020304" pitchFamily="18" charset="0"/>
                <a:cs typeface="Times New Roman" panose="02020603050405020304" pitchFamily="18" charset="0"/>
              </a:rPr>
              <a:t>In the 3</a:t>
            </a:r>
            <a:r>
              <a:rPr lang="en-IN" sz="1800" kern="0" baseline="30000" dirty="0">
                <a:solidFill>
                  <a:srgbClr val="333333"/>
                </a:solidFill>
                <a:effectLst/>
                <a:highlight>
                  <a:srgbClr val="FFFFFF"/>
                </a:highlight>
                <a:latin typeface="Segoe UI" panose="020B0502040204020203" pitchFamily="34" charset="0"/>
                <a:ea typeface="Times New Roman" panose="02020603050405020304" pitchFamily="18" charset="0"/>
                <a:cs typeface="Times New Roman" panose="02020603050405020304" pitchFamily="18" charset="0"/>
              </a:rPr>
              <a:t>rd</a:t>
            </a:r>
            <a:r>
              <a:rPr lang="en-IN" sz="1800" kern="0" dirty="0">
                <a:solidFill>
                  <a:srgbClr val="333333"/>
                </a:solidFill>
                <a:effectLst/>
                <a:highlight>
                  <a:srgbClr val="FFFFFF"/>
                </a:highlight>
                <a:latin typeface="Segoe UI" panose="020B0502040204020203" pitchFamily="34" charset="0"/>
                <a:ea typeface="Times New Roman" panose="02020603050405020304" pitchFamily="18" charset="0"/>
                <a:cs typeface="Times New Roman" panose="02020603050405020304" pitchFamily="18" charset="0"/>
              </a:rPr>
              <a:t> step, the previous cell state </a:t>
            </a:r>
            <a:r>
              <a:rPr lang="en-IN" sz="1800" b="1" kern="0" dirty="0">
                <a:solidFill>
                  <a:srgbClr val="333333"/>
                </a:solidFill>
                <a:effectLst/>
                <a:highlight>
                  <a:srgbClr val="FFFFFF"/>
                </a:highlight>
                <a:latin typeface="Segoe UI" panose="020B0502040204020203" pitchFamily="34" charset="0"/>
                <a:ea typeface="Times New Roman" panose="02020603050405020304" pitchFamily="18" charset="0"/>
                <a:cs typeface="Times New Roman" panose="02020603050405020304" pitchFamily="18" charset="0"/>
              </a:rPr>
              <a:t>Ct-1</a:t>
            </a:r>
            <a:r>
              <a:rPr lang="en-IN" sz="1800" kern="0" dirty="0">
                <a:solidFill>
                  <a:srgbClr val="333333"/>
                </a:solidFill>
                <a:effectLst/>
                <a:highlight>
                  <a:srgbClr val="FFFFFF"/>
                </a:highlight>
                <a:latin typeface="Segoe UI" panose="020B0502040204020203" pitchFamily="34" charset="0"/>
                <a:ea typeface="Times New Roman" panose="02020603050405020304" pitchFamily="18" charset="0"/>
                <a:cs typeface="Times New Roman" panose="02020603050405020304" pitchFamily="18" charset="0"/>
              </a:rPr>
              <a:t> will get updated into the new cell state </a:t>
            </a:r>
            <a:r>
              <a:rPr lang="en-IN" sz="1800" b="1" kern="0" dirty="0">
                <a:solidFill>
                  <a:srgbClr val="333333"/>
                </a:solidFill>
                <a:effectLst/>
                <a:highlight>
                  <a:srgbClr val="FFFFFF"/>
                </a:highlight>
                <a:latin typeface="Segoe UI" panose="020B0502040204020203" pitchFamily="34" charset="0"/>
                <a:ea typeface="Times New Roman" panose="02020603050405020304" pitchFamily="18" charset="0"/>
                <a:cs typeface="Times New Roman" panose="02020603050405020304" pitchFamily="18" charset="0"/>
              </a:rPr>
              <a:t>Ct</a:t>
            </a:r>
            <a:r>
              <a:rPr lang="en-IN" sz="1800" kern="0" dirty="0">
                <a:solidFill>
                  <a:srgbClr val="333333"/>
                </a:solidFill>
                <a:effectLst/>
                <a:highlight>
                  <a:srgbClr val="FFFFFF"/>
                </a:highlight>
                <a:latin typeface="Segoe UI" panose="020B0502040204020203" pitchFamily="34" charset="0"/>
                <a:ea typeface="Times New Roman" panose="02020603050405020304" pitchFamily="18" charset="0"/>
                <a:cs typeface="Times New Roman" panose="02020603050405020304" pitchFamily="18" charset="0"/>
              </a:rPr>
              <a:t>.</a:t>
            </a:r>
            <a:endParaRPr lang="en-IN" sz="1800" kern="100" dirty="0">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a:p>
            <a:pPr marL="174625" indent="-174625" algn="just">
              <a:lnSpc>
                <a:spcPct val="107000"/>
              </a:lnSpc>
              <a:spcAft>
                <a:spcPts val="800"/>
              </a:spcAft>
            </a:pPr>
            <a:r>
              <a:rPr lang="en-IN" sz="1800" kern="0" dirty="0">
                <a:solidFill>
                  <a:srgbClr val="333333"/>
                </a:solidFill>
                <a:effectLst/>
                <a:highlight>
                  <a:srgbClr val="FFFFFF"/>
                </a:highlight>
                <a:latin typeface="Segoe UI" panose="020B0502040204020203" pitchFamily="34" charset="0"/>
                <a:ea typeface="Times New Roman" panose="02020603050405020304" pitchFamily="18" charset="0"/>
                <a:cs typeface="Times New Roman" panose="02020603050405020304" pitchFamily="18" charset="0"/>
              </a:rPr>
              <a:t>And for that, we will need to </a:t>
            </a:r>
            <a:r>
              <a:rPr lang="en-IN" sz="1800" b="1" kern="0" dirty="0">
                <a:solidFill>
                  <a:srgbClr val="FF0000"/>
                </a:solidFill>
                <a:effectLst/>
                <a:highlight>
                  <a:srgbClr val="FFFFFF"/>
                </a:highlight>
                <a:latin typeface="Segoe UI" panose="020B0502040204020203" pitchFamily="34" charset="0"/>
                <a:ea typeface="Times New Roman" panose="02020603050405020304" pitchFamily="18" charset="0"/>
                <a:cs typeface="Times New Roman" panose="02020603050405020304" pitchFamily="18" charset="0"/>
              </a:rPr>
              <a:t>multiply the old state  (Ct-1) by f(t), </a:t>
            </a:r>
            <a:r>
              <a:rPr lang="en-IN" sz="1800" kern="0" dirty="0">
                <a:solidFill>
                  <a:srgbClr val="333333"/>
                </a:solidFill>
                <a:effectLst/>
                <a:highlight>
                  <a:srgbClr val="FFFFFF"/>
                </a:highlight>
                <a:latin typeface="Segoe UI" panose="020B0502040204020203" pitchFamily="34" charset="0"/>
                <a:ea typeface="Times New Roman" panose="02020603050405020304" pitchFamily="18" charset="0"/>
                <a:cs typeface="Times New Roman" panose="02020603050405020304" pitchFamily="18" charset="0"/>
              </a:rPr>
              <a:t>keeping the things aside that we thought that we earlier decided to leave.</a:t>
            </a:r>
            <a:endParaRPr lang="en-IN" sz="1800" kern="100" dirty="0">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a:p>
            <a:pPr marL="174625" indent="-174625" algn="just">
              <a:lnSpc>
                <a:spcPct val="107000"/>
              </a:lnSpc>
              <a:spcAft>
                <a:spcPts val="800"/>
              </a:spcAft>
            </a:pPr>
            <a:r>
              <a:rPr lang="en-IN" sz="1800" kern="0" dirty="0">
                <a:solidFill>
                  <a:srgbClr val="333333"/>
                </a:solidFill>
                <a:effectLst/>
                <a:highlight>
                  <a:srgbClr val="FFFFFF"/>
                </a:highlight>
                <a:latin typeface="Segoe UI" panose="020B0502040204020203" pitchFamily="34" charset="0"/>
                <a:ea typeface="Times New Roman" panose="02020603050405020304" pitchFamily="18" charset="0"/>
                <a:cs typeface="Times New Roman" panose="02020603050405020304" pitchFamily="18" charset="0"/>
              </a:rPr>
              <a:t>Next, </a:t>
            </a:r>
            <a:r>
              <a:rPr lang="en-IN" sz="1800" kern="0" dirty="0">
                <a:solidFill>
                  <a:srgbClr val="FF0000"/>
                </a:solidFill>
                <a:effectLst/>
                <a:highlight>
                  <a:srgbClr val="FFFFFF"/>
                </a:highlight>
                <a:latin typeface="Segoe UI" panose="020B0502040204020203" pitchFamily="34" charset="0"/>
                <a:ea typeface="Times New Roman" panose="02020603050405020304" pitchFamily="18" charset="0"/>
                <a:cs typeface="Times New Roman" panose="02020603050405020304" pitchFamily="18" charset="0"/>
              </a:rPr>
              <a:t>add </a:t>
            </a:r>
            <a:r>
              <a:rPr lang="en-IN" sz="1800" b="1" kern="0" dirty="0">
                <a:solidFill>
                  <a:srgbClr val="FF0000"/>
                </a:solidFill>
                <a:effectLst/>
                <a:highlight>
                  <a:srgbClr val="FFFFFF"/>
                </a:highlight>
                <a:latin typeface="Segoe UI" panose="020B0502040204020203" pitchFamily="34" charset="0"/>
                <a:ea typeface="Times New Roman" panose="02020603050405020304" pitchFamily="18" charset="0"/>
                <a:cs typeface="Times New Roman" panose="02020603050405020304" pitchFamily="18" charset="0"/>
              </a:rPr>
              <a:t>it* </a:t>
            </a:r>
            <a:r>
              <a:rPr lang="en-IN" sz="1800" b="1" kern="0" dirty="0" err="1">
                <a:solidFill>
                  <a:srgbClr val="FF0000"/>
                </a:solidFill>
                <a:effectLst/>
                <a:highlight>
                  <a:srgbClr val="FFFFFF"/>
                </a:highlight>
                <a:latin typeface="Segoe UI" panose="020B0502040204020203" pitchFamily="34" charset="0"/>
                <a:ea typeface="Times New Roman" panose="02020603050405020304" pitchFamily="18" charset="0"/>
                <a:cs typeface="Times New Roman" panose="02020603050405020304" pitchFamily="18" charset="0"/>
              </a:rPr>
              <a:t>c˜t</a:t>
            </a:r>
            <a:r>
              <a:rPr lang="en-IN" sz="1800" kern="0" dirty="0">
                <a:solidFill>
                  <a:srgbClr val="FF0000"/>
                </a:solidFill>
                <a:effectLst/>
                <a:highlight>
                  <a:srgbClr val="FFFFFF"/>
                </a:highlight>
                <a:latin typeface="Segoe UI" panose="020B0502040204020203" pitchFamily="34" charset="0"/>
                <a:ea typeface="Times New Roman" panose="02020603050405020304" pitchFamily="18" charset="0"/>
                <a:cs typeface="Times New Roman" panose="02020603050405020304" pitchFamily="18" charset="0"/>
              </a:rPr>
              <a:t>, which is the </a:t>
            </a:r>
            <a:r>
              <a:rPr lang="en-IN" sz="1800" b="1" kern="0" dirty="0">
                <a:solidFill>
                  <a:srgbClr val="FF0000"/>
                </a:solidFill>
                <a:effectLst/>
                <a:highlight>
                  <a:srgbClr val="FFFFFF"/>
                </a:highlight>
                <a:latin typeface="Segoe UI" panose="020B0502040204020203" pitchFamily="34" charset="0"/>
                <a:ea typeface="Times New Roman" panose="02020603050405020304" pitchFamily="18" charset="0"/>
                <a:cs typeface="Times New Roman" panose="02020603050405020304" pitchFamily="18" charset="0"/>
              </a:rPr>
              <a:t>new candidate</a:t>
            </a:r>
            <a:r>
              <a:rPr lang="en-IN" sz="1800" kern="0" dirty="0">
                <a:solidFill>
                  <a:srgbClr val="FF0000"/>
                </a:solidFill>
                <a:effectLst/>
                <a:highlight>
                  <a:srgbClr val="FFFFFF"/>
                </a:highlight>
                <a:latin typeface="Segoe UI" panose="020B0502040204020203" pitchFamily="34" charset="0"/>
                <a:ea typeface="Times New Roman" panose="02020603050405020304" pitchFamily="18" charset="0"/>
                <a:cs typeface="Times New Roman" panose="02020603050405020304" pitchFamily="18" charset="0"/>
              </a:rPr>
              <a:t> values</a:t>
            </a:r>
            <a:r>
              <a:rPr lang="en-IN" sz="1800" kern="0" dirty="0">
                <a:solidFill>
                  <a:srgbClr val="333333"/>
                </a:solidFill>
                <a:effectLst/>
                <a:highlight>
                  <a:srgbClr val="FFFFFF"/>
                </a:highlight>
                <a:latin typeface="Segoe UI" panose="020B0502040204020203" pitchFamily="34" charset="0"/>
                <a:ea typeface="Times New Roman" panose="02020603050405020304" pitchFamily="18" charset="0"/>
                <a:cs typeface="Times New Roman" panose="02020603050405020304" pitchFamily="18" charset="0"/>
              </a:rPr>
              <a:t>. It has been actually scaled by how much we wanted to update each state value.</a:t>
            </a:r>
            <a:endParaRPr lang="en-IN" sz="1800" kern="100" dirty="0">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a:p>
            <a:pPr marL="174625" indent="-174625" algn="just">
              <a:lnSpc>
                <a:spcPct val="107000"/>
              </a:lnSpc>
              <a:spcAft>
                <a:spcPts val="800"/>
              </a:spcAft>
            </a:pPr>
            <a:r>
              <a:rPr lang="en-IN" sz="1800" kern="0" dirty="0">
                <a:solidFill>
                  <a:srgbClr val="333333"/>
                </a:solidFill>
                <a:effectLst/>
                <a:highlight>
                  <a:srgbClr val="FFFFFF"/>
                </a:highlight>
                <a:latin typeface="Segoe UI" panose="020B0502040204020203" pitchFamily="34" charset="0"/>
                <a:ea typeface="Times New Roman" panose="02020603050405020304" pitchFamily="18" charset="0"/>
                <a:cs typeface="Times New Roman" panose="02020603050405020304" pitchFamily="18" charset="0"/>
              </a:rPr>
              <a:t>In the second step, it was decided to  make use of the data, which is only required at that stage. However, in the third step, it is executed.</a:t>
            </a:r>
            <a:endParaRPr lang="en-IN" sz="1800" kern="100" dirty="0">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
        <p:nvSpPr>
          <p:cNvPr id="4" name="Slide Number Placeholder 3">
            <a:extLst>
              <a:ext uri="{FF2B5EF4-FFF2-40B4-BE49-F238E27FC236}">
                <a16:creationId xmlns:a16="http://schemas.microsoft.com/office/drawing/2014/main" id="{7A94352D-EB90-37EF-A883-710006B94632}"/>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AD681D7-8A59-4380-9311-10B86FF921AA}" type="slidenum">
              <a:rPr kumimoji="0" lang="en-US" altLang="zh-TW" sz="2600" b="1" i="0" u="none" strike="noStrike" kern="1200" cap="none" spc="0" normalizeH="0" baseline="0" noProof="0" smtClean="0">
                <a:ln>
                  <a:noFill/>
                </a:ln>
                <a:solidFill>
                  <a:srgbClr val="FFFFFF"/>
                </a:solidFill>
                <a:effectLst/>
                <a:uLnTx/>
                <a:uFillTx/>
                <a:latin typeface="Arial"/>
                <a:ea typeface="新細明體" panose="02020500000000000000" pitchFamily="18" charset="-120"/>
                <a:cs typeface="+mn-cs"/>
              </a:rPr>
              <a:pPr marL="0" marR="0" lvl="0" indent="0" algn="l" defTabSz="914400" rtl="0" eaLnBrk="1" fontAlgn="auto" latinLnBrk="0" hangingPunct="1">
                <a:lnSpc>
                  <a:spcPct val="100000"/>
                </a:lnSpc>
                <a:spcBef>
                  <a:spcPts val="0"/>
                </a:spcBef>
                <a:spcAft>
                  <a:spcPts val="0"/>
                </a:spcAft>
                <a:buClrTx/>
                <a:buSzTx/>
                <a:buFontTx/>
                <a:buNone/>
                <a:tabLst/>
                <a:defRPr/>
              </a:pPr>
              <a:t>38</a:t>
            </a:fld>
            <a:endParaRPr kumimoji="0" lang="en-US" altLang="zh-TW" sz="2600" b="1" i="0" u="none" strike="noStrike" kern="1200" cap="none" spc="0" normalizeH="0" baseline="0" noProof="0">
              <a:ln>
                <a:noFill/>
              </a:ln>
              <a:solidFill>
                <a:srgbClr val="FFFFFF"/>
              </a:solidFill>
              <a:effectLst/>
              <a:uLnTx/>
              <a:uFillTx/>
              <a:latin typeface="Arial"/>
              <a:ea typeface="新細明體" panose="02020500000000000000" pitchFamily="18" charset="-120"/>
              <a:cs typeface="+mn-cs"/>
            </a:endParaRPr>
          </a:p>
        </p:txBody>
      </p:sp>
      <p:pic>
        <p:nvPicPr>
          <p:cNvPr id="5" name="Picture 4">
            <a:extLst>
              <a:ext uri="{FF2B5EF4-FFF2-40B4-BE49-F238E27FC236}">
                <a16:creationId xmlns:a16="http://schemas.microsoft.com/office/drawing/2014/main" id="{A451509C-257F-75E3-2E75-A482755BFED4}"/>
              </a:ext>
            </a:extLst>
          </p:cNvPr>
          <p:cNvPicPr>
            <a:picLocks noChangeAspect="1"/>
          </p:cNvPicPr>
          <p:nvPr/>
        </p:nvPicPr>
        <p:blipFill>
          <a:blip r:embed="rId2"/>
          <a:stretch>
            <a:fillRect/>
          </a:stretch>
        </p:blipFill>
        <p:spPr>
          <a:xfrm>
            <a:off x="0" y="2298699"/>
            <a:ext cx="6095999" cy="4559301"/>
          </a:xfrm>
          <a:prstGeom prst="rect">
            <a:avLst/>
          </a:prstGeom>
        </p:spPr>
      </p:pic>
    </p:spTree>
    <p:extLst>
      <p:ext uri="{BB962C8B-B14F-4D97-AF65-F5344CB8AC3E}">
        <p14:creationId xmlns:p14="http://schemas.microsoft.com/office/powerpoint/2010/main" val="35249359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86330-A02F-C394-4E35-D982DFF3F03A}"/>
              </a:ext>
            </a:extLst>
          </p:cNvPr>
          <p:cNvSpPr>
            <a:spLocks noGrp="1"/>
          </p:cNvSpPr>
          <p:nvPr>
            <p:ph type="title"/>
          </p:nvPr>
        </p:nvSpPr>
        <p:spPr/>
        <p:txBody>
          <a:bodyPr/>
          <a:lstStyle/>
          <a:p>
            <a:r>
              <a:rPr lang="en-US" dirty="0"/>
              <a:t>Step-by-step approach to understand LSTM </a:t>
            </a:r>
            <a:endParaRPr lang="en-IN" dirty="0"/>
          </a:p>
        </p:txBody>
      </p:sp>
      <p:sp>
        <p:nvSpPr>
          <p:cNvPr id="3" name="Content Placeholder 2">
            <a:extLst>
              <a:ext uri="{FF2B5EF4-FFF2-40B4-BE49-F238E27FC236}">
                <a16:creationId xmlns:a16="http://schemas.microsoft.com/office/drawing/2014/main" id="{0F3F8C4D-F05B-9637-4ACB-4F63505CF0DF}"/>
              </a:ext>
            </a:extLst>
          </p:cNvPr>
          <p:cNvSpPr>
            <a:spLocks noGrp="1"/>
          </p:cNvSpPr>
          <p:nvPr>
            <p:ph idx="1"/>
          </p:nvPr>
        </p:nvSpPr>
        <p:spPr>
          <a:xfrm>
            <a:off x="5781822" y="2298699"/>
            <a:ext cx="6410177" cy="4495799"/>
          </a:xfrm>
          <a:ln>
            <a:solidFill>
              <a:srgbClr val="000000"/>
            </a:solidFill>
          </a:ln>
        </p:spPr>
        <p:txBody>
          <a:bodyPr/>
          <a:lstStyle/>
          <a:p>
            <a:pPr marL="0" indent="0" algn="just">
              <a:lnSpc>
                <a:spcPct val="107000"/>
              </a:lnSpc>
              <a:spcAft>
                <a:spcPts val="800"/>
              </a:spcAft>
              <a:buNone/>
            </a:pPr>
            <a:r>
              <a:rPr lang="en-IN" sz="1800" b="1" kern="0" dirty="0">
                <a:solidFill>
                  <a:srgbClr val="333333"/>
                </a:solidFill>
                <a:effectLst/>
                <a:highlight>
                  <a:srgbClr val="FFFFFF"/>
                </a:highlight>
                <a:ea typeface="Times New Roman" panose="02020603050405020304" pitchFamily="18" charset="0"/>
                <a:cs typeface="Times New Roman" panose="02020603050405020304" pitchFamily="18" charset="0"/>
              </a:rPr>
              <a:t>Step 4:</a:t>
            </a:r>
            <a:endParaRPr lang="en-IN" sz="1800" kern="100" dirty="0">
              <a:effectLst/>
              <a:highlight>
                <a:srgbClr val="FFFFFF"/>
              </a:highlight>
              <a:ea typeface="Calibri" panose="020F0502020204030204" pitchFamily="34" charset="0"/>
              <a:cs typeface="Times New Roman" panose="02020603050405020304" pitchFamily="18" charset="0"/>
            </a:endParaRPr>
          </a:p>
          <a:p>
            <a:pPr marL="174625" indent="-174625" algn="just">
              <a:lnSpc>
                <a:spcPct val="107000"/>
              </a:lnSpc>
              <a:spcAft>
                <a:spcPts val="800"/>
              </a:spcAft>
            </a:pPr>
            <a:r>
              <a:rPr lang="en-IN" sz="1800" kern="0" dirty="0">
                <a:solidFill>
                  <a:srgbClr val="333333"/>
                </a:solidFill>
                <a:effectLst/>
                <a:highlight>
                  <a:srgbClr val="FFFFFF"/>
                </a:highlight>
                <a:latin typeface="Segoe UI" panose="020B0502040204020203" pitchFamily="34" charset="0"/>
                <a:ea typeface="Times New Roman" panose="02020603050405020304" pitchFamily="18" charset="0"/>
                <a:cs typeface="Times New Roman" panose="02020603050405020304" pitchFamily="18" charset="0"/>
              </a:rPr>
              <a:t>In the </a:t>
            </a:r>
            <a:r>
              <a:rPr lang="en-IN" sz="1800" kern="0" dirty="0">
                <a:solidFill>
                  <a:srgbClr val="FF0000"/>
                </a:solidFill>
                <a:effectLst/>
                <a:highlight>
                  <a:srgbClr val="FFFFFF"/>
                </a:highlight>
                <a:latin typeface="Segoe UI" panose="020B0502040204020203" pitchFamily="34" charset="0"/>
                <a:ea typeface="Times New Roman" panose="02020603050405020304" pitchFamily="18" charset="0"/>
                <a:cs typeface="Times New Roman" panose="02020603050405020304" pitchFamily="18" charset="0"/>
              </a:rPr>
              <a:t>4</a:t>
            </a:r>
            <a:r>
              <a:rPr lang="en-IN" sz="1800" kern="0" baseline="30000" dirty="0">
                <a:solidFill>
                  <a:srgbClr val="FF0000"/>
                </a:solidFill>
                <a:effectLst/>
                <a:highlight>
                  <a:srgbClr val="FFFFFF"/>
                </a:highlight>
                <a:latin typeface="Segoe UI" panose="020B0502040204020203" pitchFamily="34" charset="0"/>
                <a:ea typeface="Times New Roman" panose="02020603050405020304" pitchFamily="18" charset="0"/>
                <a:cs typeface="Times New Roman" panose="02020603050405020304" pitchFamily="18" charset="0"/>
              </a:rPr>
              <a:t>th</a:t>
            </a:r>
            <a:r>
              <a:rPr lang="en-IN" sz="1800" kern="0" dirty="0">
                <a:solidFill>
                  <a:srgbClr val="FF0000"/>
                </a:solidFill>
                <a:effectLst/>
                <a:highlight>
                  <a:srgbClr val="FFFFFF"/>
                </a:highlight>
                <a:latin typeface="Segoe UI" panose="020B0502040204020203" pitchFamily="34" charset="0"/>
                <a:ea typeface="Times New Roman" panose="02020603050405020304" pitchFamily="18" charset="0"/>
                <a:cs typeface="Times New Roman" panose="02020603050405020304" pitchFamily="18" charset="0"/>
              </a:rPr>
              <a:t> step</a:t>
            </a:r>
            <a:r>
              <a:rPr lang="en-IN" sz="1800" kern="0" dirty="0">
                <a:solidFill>
                  <a:srgbClr val="333333"/>
                </a:solidFill>
                <a:effectLst/>
                <a:highlight>
                  <a:srgbClr val="FFFFFF"/>
                </a:highlight>
                <a:latin typeface="Segoe UI" panose="020B0502040204020203" pitchFamily="34" charset="0"/>
                <a:ea typeface="Times New Roman" panose="02020603050405020304" pitchFamily="18" charset="0"/>
                <a:cs typeface="Times New Roman" panose="02020603050405020304" pitchFamily="18" charset="0"/>
              </a:rPr>
              <a:t>, run the </a:t>
            </a:r>
            <a:r>
              <a:rPr lang="en-IN" sz="1800" b="1" kern="0" dirty="0">
                <a:solidFill>
                  <a:srgbClr val="333333"/>
                </a:solidFill>
                <a:effectLst/>
                <a:highlight>
                  <a:srgbClr val="FFFFFF"/>
                </a:highlight>
                <a:latin typeface="Segoe UI" panose="020B0502040204020203" pitchFamily="34" charset="0"/>
                <a:ea typeface="Times New Roman" panose="02020603050405020304" pitchFamily="18" charset="0"/>
                <a:cs typeface="Times New Roman" panose="02020603050405020304" pitchFamily="18" charset="0"/>
              </a:rPr>
              <a:t>sigmoid layer</a:t>
            </a:r>
            <a:r>
              <a:rPr lang="en-IN" sz="1800" kern="0" dirty="0">
                <a:solidFill>
                  <a:srgbClr val="333333"/>
                </a:solidFill>
                <a:effectLst/>
                <a:highlight>
                  <a:srgbClr val="FFFFFF"/>
                </a:highlight>
                <a:latin typeface="Segoe UI" panose="020B0502040204020203" pitchFamily="34" charset="0"/>
                <a:ea typeface="Times New Roman" panose="02020603050405020304" pitchFamily="18" charset="0"/>
                <a:cs typeface="Times New Roman" panose="02020603050405020304" pitchFamily="18" charset="0"/>
              </a:rPr>
              <a:t> that </a:t>
            </a:r>
            <a:r>
              <a:rPr lang="en-IN" sz="1800" kern="0" dirty="0">
                <a:solidFill>
                  <a:srgbClr val="FF0000"/>
                </a:solidFill>
                <a:effectLst/>
                <a:highlight>
                  <a:srgbClr val="FFFFFF"/>
                </a:highlight>
                <a:latin typeface="Segoe UI" panose="020B0502040204020203" pitchFamily="34" charset="0"/>
                <a:ea typeface="Times New Roman" panose="02020603050405020304" pitchFamily="18" charset="0"/>
                <a:cs typeface="Times New Roman" panose="02020603050405020304" pitchFamily="18" charset="0"/>
              </a:rPr>
              <a:t>will </a:t>
            </a:r>
            <a:r>
              <a:rPr lang="en-IN" sz="1800" b="1" kern="0" dirty="0">
                <a:solidFill>
                  <a:srgbClr val="FF0000"/>
                </a:solidFill>
                <a:effectLst/>
                <a:highlight>
                  <a:srgbClr val="FFFFFF"/>
                </a:highlight>
                <a:latin typeface="Segoe UI" panose="020B0502040204020203" pitchFamily="34" charset="0"/>
                <a:ea typeface="Times New Roman" panose="02020603050405020304" pitchFamily="18" charset="0"/>
                <a:cs typeface="Times New Roman" panose="02020603050405020304" pitchFamily="18" charset="0"/>
              </a:rPr>
              <a:t>decide for those parts of the cell state that will result in the output</a:t>
            </a:r>
            <a:r>
              <a:rPr lang="en-IN" sz="1800" kern="0" dirty="0">
                <a:solidFill>
                  <a:srgbClr val="FF0000"/>
                </a:solidFill>
                <a:effectLst/>
                <a:highlight>
                  <a:srgbClr val="FFFFFF"/>
                </a:highlight>
                <a:latin typeface="Segoe UI" panose="020B0502040204020203" pitchFamily="34" charset="0"/>
                <a:ea typeface="Times New Roman" panose="02020603050405020304" pitchFamily="18" charset="0"/>
                <a:cs typeface="Times New Roman" panose="02020603050405020304" pitchFamily="18" charset="0"/>
              </a:rPr>
              <a:t>.</a:t>
            </a:r>
            <a:endParaRPr lang="en-IN" sz="1800" kern="100" dirty="0">
              <a:solidFill>
                <a:srgbClr val="FF0000"/>
              </a:solidFill>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a:p>
            <a:pPr marL="174625" indent="-174625" algn="just">
              <a:lnSpc>
                <a:spcPct val="107000"/>
              </a:lnSpc>
              <a:spcAft>
                <a:spcPts val="800"/>
              </a:spcAft>
            </a:pPr>
            <a:r>
              <a:rPr lang="en-IN" sz="1800" kern="0" dirty="0">
                <a:solidFill>
                  <a:srgbClr val="333333"/>
                </a:solidFill>
                <a:effectLst/>
                <a:highlight>
                  <a:srgbClr val="FFFFFF"/>
                </a:highlight>
                <a:latin typeface="Segoe UI" panose="020B0502040204020203" pitchFamily="34" charset="0"/>
                <a:ea typeface="Times New Roman" panose="02020603050405020304" pitchFamily="18" charset="0"/>
                <a:cs typeface="Times New Roman" panose="02020603050405020304" pitchFamily="18" charset="0"/>
              </a:rPr>
              <a:t>Next, </a:t>
            </a:r>
            <a:r>
              <a:rPr lang="en-IN" sz="1800" kern="0" dirty="0">
                <a:solidFill>
                  <a:srgbClr val="FF0000"/>
                </a:solidFill>
                <a:effectLst/>
                <a:highlight>
                  <a:srgbClr val="FFFFFF"/>
                </a:highlight>
                <a:latin typeface="Segoe UI" panose="020B0502040204020203" pitchFamily="34" charset="0"/>
                <a:ea typeface="Times New Roman" panose="02020603050405020304" pitchFamily="18" charset="0"/>
                <a:cs typeface="Times New Roman" panose="02020603050405020304" pitchFamily="18" charset="0"/>
              </a:rPr>
              <a:t>put the cell state through </a:t>
            </a:r>
            <a:r>
              <a:rPr lang="en-IN" sz="1800" b="1" kern="0" dirty="0">
                <a:solidFill>
                  <a:srgbClr val="FF0000"/>
                </a:solidFill>
                <a:effectLst/>
                <a:highlight>
                  <a:srgbClr val="FFFFFF"/>
                </a:highlight>
                <a:latin typeface="Segoe UI" panose="020B0502040204020203" pitchFamily="34" charset="0"/>
                <a:ea typeface="Times New Roman" panose="02020603050405020304" pitchFamily="18" charset="0"/>
                <a:cs typeface="Times New Roman" panose="02020603050405020304" pitchFamily="18" charset="0"/>
              </a:rPr>
              <a:t>tanh</a:t>
            </a:r>
            <a:r>
              <a:rPr lang="en-IN" sz="1800" kern="0" dirty="0">
                <a:solidFill>
                  <a:srgbClr val="333333"/>
                </a:solidFill>
                <a:effectLst/>
                <a:highlight>
                  <a:srgbClr val="FFFFFF"/>
                </a:highlight>
                <a:latin typeface="Segoe UI" panose="020B0502040204020203" pitchFamily="34" charset="0"/>
                <a:ea typeface="Times New Roman" panose="02020603050405020304" pitchFamily="18" charset="0"/>
                <a:cs typeface="Times New Roman" panose="02020603050405020304" pitchFamily="18" charset="0"/>
              </a:rPr>
              <a:t>, which means we will be pushing the values in between the range of </a:t>
            </a:r>
            <a:r>
              <a:rPr lang="en-IN" sz="1800" b="1" kern="0" dirty="0">
                <a:solidFill>
                  <a:srgbClr val="333333"/>
                </a:solidFill>
                <a:effectLst/>
                <a:highlight>
                  <a:srgbClr val="FFFFFF"/>
                </a:highlight>
                <a:latin typeface="Segoe UI" panose="020B0502040204020203" pitchFamily="34" charset="0"/>
                <a:ea typeface="Times New Roman" panose="02020603050405020304" pitchFamily="18" charset="0"/>
                <a:cs typeface="Times New Roman" panose="02020603050405020304" pitchFamily="18" charset="0"/>
              </a:rPr>
              <a:t>-1</a:t>
            </a:r>
            <a:r>
              <a:rPr lang="en-IN" sz="1800" kern="0" dirty="0">
                <a:solidFill>
                  <a:srgbClr val="333333"/>
                </a:solidFill>
                <a:effectLst/>
                <a:highlight>
                  <a:srgbClr val="FFFFFF"/>
                </a:highlight>
                <a:latin typeface="Segoe UI" panose="020B0502040204020203" pitchFamily="34" charset="0"/>
                <a:ea typeface="Times New Roman" panose="02020603050405020304" pitchFamily="18" charset="0"/>
                <a:cs typeface="Times New Roman" panose="02020603050405020304" pitchFamily="18" charset="0"/>
              </a:rPr>
              <a:t> and </a:t>
            </a:r>
            <a:r>
              <a:rPr lang="en-IN" sz="1800" b="1" kern="0" dirty="0">
                <a:solidFill>
                  <a:srgbClr val="333333"/>
                </a:solidFill>
                <a:effectLst/>
                <a:highlight>
                  <a:srgbClr val="FFFFFF"/>
                </a:highlight>
                <a:latin typeface="Segoe UI" panose="020B0502040204020203" pitchFamily="34" charset="0"/>
                <a:ea typeface="Times New Roman" panose="02020603050405020304" pitchFamily="18" charset="0"/>
                <a:cs typeface="Times New Roman" panose="02020603050405020304" pitchFamily="18" charset="0"/>
              </a:rPr>
              <a:t>1</a:t>
            </a:r>
            <a:r>
              <a:rPr lang="en-IN" sz="1800" kern="0" dirty="0">
                <a:solidFill>
                  <a:srgbClr val="333333"/>
                </a:solidFill>
                <a:effectLst/>
                <a:highlight>
                  <a:srgbClr val="FFFFFF"/>
                </a:highlight>
                <a:latin typeface="Segoe UI" panose="020B0502040204020203" pitchFamily="34" charset="0"/>
                <a:ea typeface="Times New Roman" panose="02020603050405020304" pitchFamily="18" charset="0"/>
                <a:cs typeface="Times New Roman" panose="02020603050405020304" pitchFamily="18" charset="0"/>
              </a:rPr>
              <a:t>.</a:t>
            </a:r>
            <a:endParaRPr lang="en-IN" sz="1800" kern="100" dirty="0">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a:p>
            <a:pPr marL="174625" indent="-174625" algn="just">
              <a:lnSpc>
                <a:spcPct val="107000"/>
              </a:lnSpc>
              <a:spcAft>
                <a:spcPts val="800"/>
              </a:spcAft>
            </a:pPr>
            <a:r>
              <a:rPr lang="en-IN" sz="1800" kern="0" dirty="0">
                <a:solidFill>
                  <a:srgbClr val="333333"/>
                </a:solidFill>
                <a:effectLst/>
                <a:highlight>
                  <a:srgbClr val="FFFFFF"/>
                </a:highlight>
                <a:latin typeface="Segoe UI" panose="020B0502040204020203" pitchFamily="34" charset="0"/>
                <a:ea typeface="Times New Roman" panose="02020603050405020304" pitchFamily="18" charset="0"/>
                <a:cs typeface="Times New Roman" panose="02020603050405020304" pitchFamily="18" charset="0"/>
              </a:rPr>
              <a:t>And then, further, </a:t>
            </a:r>
            <a:r>
              <a:rPr lang="en-IN" sz="1800" kern="0" dirty="0">
                <a:solidFill>
                  <a:srgbClr val="FF0000"/>
                </a:solidFill>
                <a:effectLst/>
                <a:highlight>
                  <a:srgbClr val="FFFFFF"/>
                </a:highlight>
                <a:latin typeface="Segoe UI" panose="020B0502040204020203" pitchFamily="34" charset="0"/>
                <a:ea typeface="Times New Roman" panose="02020603050405020304" pitchFamily="18" charset="0"/>
                <a:cs typeface="Times New Roman" panose="02020603050405020304" pitchFamily="18" charset="0"/>
              </a:rPr>
              <a:t>multiply it with the </a:t>
            </a:r>
            <a:r>
              <a:rPr lang="en-IN" sz="1800" b="1" kern="0" dirty="0">
                <a:solidFill>
                  <a:srgbClr val="FF0000"/>
                </a:solidFill>
                <a:effectLst/>
                <a:highlight>
                  <a:srgbClr val="FFFFFF"/>
                </a:highlight>
                <a:latin typeface="Segoe UI" panose="020B0502040204020203" pitchFamily="34" charset="0"/>
                <a:ea typeface="Times New Roman" panose="02020603050405020304" pitchFamily="18" charset="0"/>
                <a:cs typeface="Times New Roman" panose="02020603050405020304" pitchFamily="18" charset="0"/>
              </a:rPr>
              <a:t>sigmoid gate's output</a:t>
            </a:r>
            <a:r>
              <a:rPr lang="en-IN" sz="1800" kern="0" dirty="0">
                <a:solidFill>
                  <a:srgbClr val="FF0000"/>
                </a:solidFill>
                <a:effectLst/>
                <a:highlight>
                  <a:srgbClr val="FFFFFF"/>
                </a:highlight>
                <a:latin typeface="Segoe UI" panose="020B0502040204020203" pitchFamily="34" charset="0"/>
                <a:ea typeface="Times New Roman" panose="02020603050405020304" pitchFamily="18" charset="0"/>
                <a:cs typeface="Times New Roman" panose="02020603050405020304" pitchFamily="18" charset="0"/>
              </a:rPr>
              <a:t> </a:t>
            </a:r>
            <a:r>
              <a:rPr lang="en-IN" sz="1800" kern="0" dirty="0">
                <a:solidFill>
                  <a:srgbClr val="333333"/>
                </a:solidFill>
                <a:effectLst/>
                <a:highlight>
                  <a:srgbClr val="FFFFFF"/>
                </a:highlight>
                <a:latin typeface="Segoe UI" panose="020B0502040204020203" pitchFamily="34" charset="0"/>
                <a:ea typeface="Times New Roman" panose="02020603050405020304" pitchFamily="18" charset="0"/>
                <a:cs typeface="Times New Roman" panose="02020603050405020304" pitchFamily="18" charset="0"/>
              </a:rPr>
              <a:t>so that only the decided parts results in the output.</a:t>
            </a:r>
            <a:endParaRPr lang="en-IN" sz="1800" kern="100" dirty="0">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a:p>
            <a:pPr marL="174625" indent="-174625" algn="just">
              <a:lnSpc>
                <a:spcPct val="107000"/>
              </a:lnSpc>
              <a:spcAft>
                <a:spcPts val="800"/>
              </a:spcAft>
            </a:pPr>
            <a:r>
              <a:rPr lang="en-IN" sz="1800" kern="0" dirty="0">
                <a:solidFill>
                  <a:srgbClr val="333333"/>
                </a:solidFill>
                <a:effectLst/>
                <a:highlight>
                  <a:srgbClr val="FFFFFF"/>
                </a:highlight>
                <a:latin typeface="Segoe UI" panose="020B0502040204020203" pitchFamily="34" charset="0"/>
                <a:ea typeface="Times New Roman" panose="02020603050405020304" pitchFamily="18" charset="0"/>
                <a:cs typeface="Times New Roman" panose="02020603050405020304" pitchFamily="18" charset="0"/>
              </a:rPr>
              <a:t>In this step, some calculations will result in the output.</a:t>
            </a:r>
            <a:endParaRPr lang="en-IN" sz="1800" kern="100" dirty="0">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a:p>
            <a:pPr marL="174625" indent="-174625" algn="just">
              <a:lnSpc>
                <a:spcPct val="107000"/>
              </a:lnSpc>
              <a:spcAft>
                <a:spcPts val="800"/>
              </a:spcAft>
            </a:pPr>
            <a:r>
              <a:rPr lang="en-IN" sz="1800" kern="0" dirty="0">
                <a:solidFill>
                  <a:srgbClr val="333333"/>
                </a:solidFill>
                <a:effectLst/>
                <a:highlight>
                  <a:srgbClr val="FFFFFF"/>
                </a:highlight>
                <a:latin typeface="Segoe UI" panose="020B0502040204020203" pitchFamily="34" charset="0"/>
                <a:ea typeface="Times New Roman" panose="02020603050405020304" pitchFamily="18" charset="0"/>
                <a:cs typeface="Times New Roman" panose="02020603050405020304" pitchFamily="18" charset="0"/>
              </a:rPr>
              <a:t>However, the </a:t>
            </a:r>
            <a:r>
              <a:rPr lang="en-IN" sz="1800" b="1" kern="0" dirty="0">
                <a:solidFill>
                  <a:srgbClr val="FF0000"/>
                </a:solidFill>
                <a:effectLst/>
                <a:highlight>
                  <a:srgbClr val="FFFFFF"/>
                </a:highlight>
                <a:latin typeface="Segoe UI" panose="020B0502040204020203" pitchFamily="34" charset="0"/>
                <a:ea typeface="Times New Roman" panose="02020603050405020304" pitchFamily="18" charset="0"/>
                <a:cs typeface="Times New Roman" panose="02020603050405020304" pitchFamily="18" charset="0"/>
              </a:rPr>
              <a:t>output consists of only the outputs that were decided to be carry forwarded in the previous steps and not all the outputs at once.</a:t>
            </a:r>
            <a:endParaRPr lang="en-IN" sz="1800" b="1" kern="100" dirty="0">
              <a:solidFill>
                <a:srgbClr val="FF0000"/>
              </a:solidFill>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
        <p:nvSpPr>
          <p:cNvPr id="4" name="Slide Number Placeholder 3">
            <a:extLst>
              <a:ext uri="{FF2B5EF4-FFF2-40B4-BE49-F238E27FC236}">
                <a16:creationId xmlns:a16="http://schemas.microsoft.com/office/drawing/2014/main" id="{7A94352D-EB90-37EF-A883-710006B94632}"/>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AD681D7-8A59-4380-9311-10B86FF921AA}" type="slidenum">
              <a:rPr kumimoji="0" lang="en-US" altLang="zh-TW" sz="2600" b="1" i="0" u="none" strike="noStrike" kern="1200" cap="none" spc="0" normalizeH="0" baseline="0" noProof="0" smtClean="0">
                <a:ln>
                  <a:noFill/>
                </a:ln>
                <a:solidFill>
                  <a:srgbClr val="FFFFFF"/>
                </a:solidFill>
                <a:effectLst/>
                <a:uLnTx/>
                <a:uFillTx/>
                <a:latin typeface="Arial"/>
                <a:ea typeface="新細明體" panose="02020500000000000000" pitchFamily="18" charset="-120"/>
                <a:cs typeface="+mn-cs"/>
              </a:rPr>
              <a:pPr marL="0" marR="0" lvl="0" indent="0" algn="l" defTabSz="914400" rtl="0" eaLnBrk="1" fontAlgn="auto" latinLnBrk="0" hangingPunct="1">
                <a:lnSpc>
                  <a:spcPct val="100000"/>
                </a:lnSpc>
                <a:spcBef>
                  <a:spcPts val="0"/>
                </a:spcBef>
                <a:spcAft>
                  <a:spcPts val="0"/>
                </a:spcAft>
                <a:buClrTx/>
                <a:buSzTx/>
                <a:buFontTx/>
                <a:buNone/>
                <a:tabLst/>
                <a:defRPr/>
              </a:pPr>
              <a:t>39</a:t>
            </a:fld>
            <a:endParaRPr kumimoji="0" lang="en-US" altLang="zh-TW" sz="2600" b="1" i="0" u="none" strike="noStrike" kern="1200" cap="none" spc="0" normalizeH="0" baseline="0" noProof="0">
              <a:ln>
                <a:noFill/>
              </a:ln>
              <a:solidFill>
                <a:srgbClr val="FFFFFF"/>
              </a:solidFill>
              <a:effectLst/>
              <a:uLnTx/>
              <a:uFillTx/>
              <a:latin typeface="Arial"/>
              <a:ea typeface="新細明體" panose="02020500000000000000" pitchFamily="18" charset="-120"/>
              <a:cs typeface="+mn-cs"/>
            </a:endParaRPr>
          </a:p>
        </p:txBody>
      </p:sp>
      <p:pic>
        <p:nvPicPr>
          <p:cNvPr id="6" name="Picture 5">
            <a:extLst>
              <a:ext uri="{FF2B5EF4-FFF2-40B4-BE49-F238E27FC236}">
                <a16:creationId xmlns:a16="http://schemas.microsoft.com/office/drawing/2014/main" id="{5C7CB44D-E6ED-AB96-6F93-56D0CFCCE689}"/>
              </a:ext>
            </a:extLst>
          </p:cNvPr>
          <p:cNvPicPr>
            <a:picLocks noChangeAspect="1"/>
          </p:cNvPicPr>
          <p:nvPr/>
        </p:nvPicPr>
        <p:blipFill>
          <a:blip r:embed="rId2"/>
          <a:stretch>
            <a:fillRect/>
          </a:stretch>
        </p:blipFill>
        <p:spPr>
          <a:xfrm>
            <a:off x="1" y="2298699"/>
            <a:ext cx="5781822" cy="4559301"/>
          </a:xfrm>
          <a:prstGeom prst="rect">
            <a:avLst/>
          </a:prstGeom>
          <a:ln>
            <a:solidFill>
              <a:srgbClr val="000000"/>
            </a:solidFill>
          </a:ln>
        </p:spPr>
      </p:pic>
      <p:pic>
        <p:nvPicPr>
          <p:cNvPr id="7" name="Picture 6">
            <a:extLst>
              <a:ext uri="{FF2B5EF4-FFF2-40B4-BE49-F238E27FC236}">
                <a16:creationId xmlns:a16="http://schemas.microsoft.com/office/drawing/2014/main" id="{61A43B9E-4AD4-E920-0019-5F8A382A0D46}"/>
              </a:ext>
            </a:extLst>
          </p:cNvPr>
          <p:cNvPicPr>
            <a:picLocks noChangeAspect="1"/>
          </p:cNvPicPr>
          <p:nvPr/>
        </p:nvPicPr>
        <p:blipFill rotWithShape="1">
          <a:blip r:embed="rId3"/>
          <a:srcRect l="54634" t="88889" r="8410" b="3922"/>
          <a:stretch/>
        </p:blipFill>
        <p:spPr>
          <a:xfrm>
            <a:off x="2022457" y="2406277"/>
            <a:ext cx="2059640" cy="377266"/>
          </a:xfrm>
          <a:prstGeom prst="rect">
            <a:avLst/>
          </a:prstGeom>
        </p:spPr>
      </p:pic>
    </p:spTree>
    <p:extLst>
      <p:ext uri="{BB962C8B-B14F-4D97-AF65-F5344CB8AC3E}">
        <p14:creationId xmlns:p14="http://schemas.microsoft.com/office/powerpoint/2010/main" val="358147673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86330-A02F-C394-4E35-D982DFF3F03A}"/>
              </a:ext>
            </a:extLst>
          </p:cNvPr>
          <p:cNvSpPr>
            <a:spLocks noGrp="1"/>
          </p:cNvSpPr>
          <p:nvPr>
            <p:ph type="title"/>
          </p:nvPr>
        </p:nvSpPr>
        <p:spPr/>
        <p:txBody>
          <a:bodyPr/>
          <a:lstStyle/>
          <a:p>
            <a:r>
              <a:rPr lang="en-US" dirty="0"/>
              <a:t>Step-by-step approach to understand LSTM </a:t>
            </a:r>
            <a:endParaRPr lang="en-IN" dirty="0"/>
          </a:p>
        </p:txBody>
      </p:sp>
      <p:sp>
        <p:nvSpPr>
          <p:cNvPr id="4" name="Slide Number Placeholder 3">
            <a:extLst>
              <a:ext uri="{FF2B5EF4-FFF2-40B4-BE49-F238E27FC236}">
                <a16:creationId xmlns:a16="http://schemas.microsoft.com/office/drawing/2014/main" id="{7A94352D-EB90-37EF-A883-710006B94632}"/>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AD681D7-8A59-4380-9311-10B86FF921AA}" type="slidenum">
              <a:rPr kumimoji="0" lang="en-US" altLang="zh-TW" sz="2600" b="1" i="0" u="none" strike="noStrike" kern="1200" cap="none" spc="0" normalizeH="0" baseline="0" noProof="0" smtClean="0">
                <a:ln>
                  <a:noFill/>
                </a:ln>
                <a:solidFill>
                  <a:srgbClr val="FFFFFF"/>
                </a:solidFill>
                <a:effectLst/>
                <a:uLnTx/>
                <a:uFillTx/>
                <a:latin typeface="Arial"/>
                <a:ea typeface="新細明體" panose="02020500000000000000" pitchFamily="18" charset="-120"/>
                <a:cs typeface="+mn-cs"/>
              </a:rPr>
              <a:pPr marL="0" marR="0" lvl="0" indent="0" algn="l" defTabSz="914400" rtl="0" eaLnBrk="1" fontAlgn="auto" latinLnBrk="0" hangingPunct="1">
                <a:lnSpc>
                  <a:spcPct val="100000"/>
                </a:lnSpc>
                <a:spcBef>
                  <a:spcPts val="0"/>
                </a:spcBef>
                <a:spcAft>
                  <a:spcPts val="0"/>
                </a:spcAft>
                <a:buClrTx/>
                <a:buSzTx/>
                <a:buFontTx/>
                <a:buNone/>
                <a:tabLst/>
                <a:defRPr/>
              </a:pPr>
              <a:t>40</a:t>
            </a:fld>
            <a:endParaRPr kumimoji="0" lang="en-US" altLang="zh-TW" sz="2600" b="1" i="0" u="none" strike="noStrike" kern="1200" cap="none" spc="0" normalizeH="0" baseline="0" noProof="0">
              <a:ln>
                <a:noFill/>
              </a:ln>
              <a:solidFill>
                <a:srgbClr val="FFFFFF"/>
              </a:solidFill>
              <a:effectLst/>
              <a:uLnTx/>
              <a:uFillTx/>
              <a:latin typeface="Arial"/>
              <a:ea typeface="新細明體" panose="02020500000000000000" pitchFamily="18" charset="-120"/>
              <a:cs typeface="+mn-cs"/>
            </a:endParaRPr>
          </a:p>
        </p:txBody>
      </p:sp>
      <p:sp>
        <p:nvSpPr>
          <p:cNvPr id="5" name="Content Placeholder 4">
            <a:extLst>
              <a:ext uri="{FF2B5EF4-FFF2-40B4-BE49-F238E27FC236}">
                <a16:creationId xmlns:a16="http://schemas.microsoft.com/office/drawing/2014/main" id="{0CA99947-96ED-3FEB-F9D6-0FB9A0C53AF8}"/>
              </a:ext>
            </a:extLst>
          </p:cNvPr>
          <p:cNvSpPr>
            <a:spLocks noGrp="1"/>
          </p:cNvSpPr>
          <p:nvPr>
            <p:ph idx="1"/>
          </p:nvPr>
        </p:nvSpPr>
        <p:spPr>
          <a:xfrm>
            <a:off x="1117601" y="2362201"/>
            <a:ext cx="10796493" cy="3724275"/>
          </a:xfrm>
          <a:ln>
            <a:solidFill>
              <a:srgbClr val="000000"/>
            </a:solidFill>
          </a:ln>
        </p:spPr>
        <p:txBody>
          <a:bodyPr/>
          <a:lstStyle/>
          <a:p>
            <a:pPr marL="0" indent="0" algn="just">
              <a:lnSpc>
                <a:spcPct val="107000"/>
              </a:lnSpc>
              <a:spcAft>
                <a:spcPts val="800"/>
              </a:spcAft>
              <a:buNone/>
            </a:pPr>
            <a:r>
              <a:rPr lang="en-IN" sz="1800" b="1" kern="0" dirty="0">
                <a:solidFill>
                  <a:srgbClr val="FF0000"/>
                </a:solidFill>
                <a:effectLst/>
                <a:highlight>
                  <a:srgbClr val="FFFFFF"/>
                </a:highlight>
                <a:latin typeface="Segoe UI" panose="020B0502040204020203" pitchFamily="34" charset="0"/>
                <a:ea typeface="Times New Roman" panose="02020603050405020304" pitchFamily="18" charset="0"/>
                <a:cs typeface="Times New Roman" panose="02020603050405020304" pitchFamily="18" charset="0"/>
              </a:rPr>
              <a:t>A Quick Recap:</a:t>
            </a:r>
            <a:endParaRPr lang="en-IN" sz="1800" kern="100" dirty="0">
              <a:solidFill>
                <a:srgbClr val="FF0000"/>
              </a:solidFill>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a:p>
            <a:pPr marL="174625" lvl="0" indent="-174625" algn="just">
              <a:lnSpc>
                <a:spcPct val="200000"/>
              </a:lnSpc>
              <a:spcBef>
                <a:spcPts val="300"/>
              </a:spcBef>
              <a:spcAft>
                <a:spcPts val="800"/>
              </a:spcAft>
              <a:buSzPts val="1000"/>
              <a:buFont typeface="Courier New" panose="02070309020205020404" pitchFamily="49" charset="0"/>
              <a:buChar char="o"/>
              <a:tabLst>
                <a:tab pos="457200" algn="l"/>
              </a:tabLst>
            </a:pPr>
            <a:r>
              <a:rPr lang="en-IN" sz="1800" kern="0" dirty="0">
                <a:solidFill>
                  <a:srgbClr val="000000"/>
                </a:solidFill>
                <a:effectLst/>
                <a:highlight>
                  <a:srgbClr val="FFFFFF"/>
                </a:highlight>
                <a:latin typeface="Segoe UI" panose="020B0502040204020203" pitchFamily="34" charset="0"/>
                <a:ea typeface="Times New Roman" panose="02020603050405020304" pitchFamily="18" charset="0"/>
                <a:cs typeface="Times New Roman" panose="02020603050405020304" pitchFamily="18" charset="0"/>
              </a:rPr>
              <a:t>At first, </a:t>
            </a:r>
            <a:r>
              <a:rPr lang="en-IN" sz="1800" b="1" kern="0" dirty="0">
                <a:solidFill>
                  <a:srgbClr val="FF0000"/>
                </a:solidFill>
                <a:effectLst/>
                <a:highlight>
                  <a:srgbClr val="FFFFFF"/>
                </a:highlight>
                <a:latin typeface="Segoe UI" panose="020B0502040204020203" pitchFamily="34" charset="0"/>
                <a:ea typeface="Times New Roman" panose="02020603050405020304" pitchFamily="18" charset="0"/>
                <a:cs typeface="Times New Roman" panose="02020603050405020304" pitchFamily="18" charset="0"/>
              </a:rPr>
              <a:t>find out what is to be dropped.</a:t>
            </a:r>
            <a:endParaRPr lang="en-IN" sz="1800" b="1" kern="100" dirty="0">
              <a:solidFill>
                <a:srgbClr val="FF0000"/>
              </a:solidFill>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a:p>
            <a:pPr marL="174625" lvl="0" indent="-174625" algn="just">
              <a:lnSpc>
                <a:spcPct val="200000"/>
              </a:lnSpc>
              <a:spcBef>
                <a:spcPts val="300"/>
              </a:spcBef>
              <a:spcAft>
                <a:spcPts val="800"/>
              </a:spcAft>
              <a:buSzPts val="1000"/>
              <a:buFont typeface="Courier New" panose="02070309020205020404" pitchFamily="49" charset="0"/>
              <a:buChar char="o"/>
              <a:tabLst>
                <a:tab pos="457200" algn="l"/>
              </a:tabLst>
            </a:pPr>
            <a:r>
              <a:rPr lang="en-IN" sz="1800" kern="0" dirty="0">
                <a:solidFill>
                  <a:srgbClr val="000000"/>
                </a:solidFill>
                <a:effectLst/>
                <a:highlight>
                  <a:srgbClr val="FFFFFF"/>
                </a:highlight>
                <a:latin typeface="Segoe UI" panose="020B0502040204020203" pitchFamily="34" charset="0"/>
                <a:ea typeface="Times New Roman" panose="02020603050405020304" pitchFamily="18" charset="0"/>
                <a:cs typeface="Times New Roman" panose="02020603050405020304" pitchFamily="18" charset="0"/>
              </a:rPr>
              <a:t>Then in the second step</a:t>
            </a:r>
            <a:r>
              <a:rPr lang="en-IN" sz="1800" b="1" kern="0" dirty="0">
                <a:solidFill>
                  <a:srgbClr val="000000"/>
                </a:solidFill>
                <a:effectLst/>
                <a:highlight>
                  <a:srgbClr val="FFFFFF"/>
                </a:highlight>
                <a:latin typeface="Segoe UI" panose="020B0502040204020203" pitchFamily="34" charset="0"/>
                <a:ea typeface="Times New Roman" panose="02020603050405020304" pitchFamily="18" charset="0"/>
                <a:cs typeface="Times New Roman" panose="02020603050405020304" pitchFamily="18" charset="0"/>
              </a:rPr>
              <a:t>, </a:t>
            </a:r>
            <a:r>
              <a:rPr lang="en-IN" sz="1800" b="1" kern="0" dirty="0">
                <a:solidFill>
                  <a:srgbClr val="FF0000"/>
                </a:solidFill>
                <a:effectLst/>
                <a:highlight>
                  <a:srgbClr val="FFFFFF"/>
                </a:highlight>
                <a:latin typeface="Segoe UI" panose="020B0502040204020203" pitchFamily="34" charset="0"/>
                <a:ea typeface="Times New Roman" panose="02020603050405020304" pitchFamily="18" charset="0"/>
                <a:cs typeface="Times New Roman" panose="02020603050405020304" pitchFamily="18" charset="0"/>
              </a:rPr>
              <a:t>it included newly added inputs to the network.</a:t>
            </a:r>
            <a:endParaRPr lang="en-IN" sz="1800" b="1" kern="100" dirty="0">
              <a:solidFill>
                <a:srgbClr val="FF0000"/>
              </a:solidFill>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a:p>
            <a:pPr marL="174625" lvl="0" indent="-174625" algn="just">
              <a:lnSpc>
                <a:spcPct val="200000"/>
              </a:lnSpc>
              <a:spcBef>
                <a:spcPts val="300"/>
              </a:spcBef>
              <a:spcAft>
                <a:spcPts val="800"/>
              </a:spcAft>
              <a:buSzPts val="1000"/>
              <a:buFont typeface="Courier New" panose="02070309020205020404" pitchFamily="49" charset="0"/>
              <a:buChar char="o"/>
              <a:tabLst>
                <a:tab pos="457200" algn="l"/>
              </a:tabLst>
            </a:pPr>
            <a:r>
              <a:rPr lang="en-IN" sz="1800" kern="0" dirty="0">
                <a:solidFill>
                  <a:srgbClr val="000000"/>
                </a:solidFill>
                <a:effectLst/>
                <a:highlight>
                  <a:srgbClr val="FFFFFF"/>
                </a:highlight>
                <a:latin typeface="Segoe UI" panose="020B0502040204020203" pitchFamily="34" charset="0"/>
                <a:ea typeface="Times New Roman" panose="02020603050405020304" pitchFamily="18" charset="0"/>
                <a:cs typeface="Times New Roman" panose="02020603050405020304" pitchFamily="18" charset="0"/>
              </a:rPr>
              <a:t>In the third step, </a:t>
            </a:r>
            <a:r>
              <a:rPr lang="en-IN" sz="1800" b="1" kern="0" dirty="0">
                <a:solidFill>
                  <a:srgbClr val="FF0000"/>
                </a:solidFill>
                <a:effectLst/>
                <a:highlight>
                  <a:srgbClr val="FFFFFF"/>
                </a:highlight>
                <a:latin typeface="Segoe UI" panose="020B0502040204020203" pitchFamily="34" charset="0"/>
                <a:ea typeface="Times New Roman" panose="02020603050405020304" pitchFamily="18" charset="0"/>
                <a:cs typeface="Times New Roman" panose="02020603050405020304" pitchFamily="18" charset="0"/>
              </a:rPr>
              <a:t>the earlier obtained inputs get combined in order to produce the new cell states.</a:t>
            </a:r>
            <a:endParaRPr lang="en-IN" sz="1800" b="1" kern="100" dirty="0">
              <a:solidFill>
                <a:srgbClr val="FF0000"/>
              </a:solidFill>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a:p>
            <a:pPr marL="174625" lvl="0" indent="-174625" algn="just">
              <a:lnSpc>
                <a:spcPct val="200000"/>
              </a:lnSpc>
              <a:spcBef>
                <a:spcPts val="300"/>
              </a:spcBef>
              <a:spcAft>
                <a:spcPts val="800"/>
              </a:spcAft>
              <a:buSzPts val="1000"/>
              <a:buFont typeface="Courier New" panose="02070309020205020404" pitchFamily="49" charset="0"/>
              <a:buChar char="o"/>
              <a:tabLst>
                <a:tab pos="457200" algn="l"/>
              </a:tabLst>
            </a:pPr>
            <a:r>
              <a:rPr lang="en-IN" sz="1800" kern="0" dirty="0">
                <a:solidFill>
                  <a:srgbClr val="000000"/>
                </a:solidFill>
                <a:effectLst/>
                <a:highlight>
                  <a:srgbClr val="FFFFFF"/>
                </a:highlight>
                <a:latin typeface="Segoe UI" panose="020B0502040204020203" pitchFamily="34" charset="0"/>
                <a:ea typeface="Times New Roman" panose="02020603050405020304" pitchFamily="18" charset="0"/>
                <a:cs typeface="Times New Roman" panose="02020603050405020304" pitchFamily="18" charset="0"/>
              </a:rPr>
              <a:t>Lastly, </a:t>
            </a:r>
            <a:r>
              <a:rPr lang="en-IN" sz="1800" b="1" kern="0" dirty="0">
                <a:solidFill>
                  <a:srgbClr val="FF0000"/>
                </a:solidFill>
                <a:effectLst/>
                <a:highlight>
                  <a:srgbClr val="FFFFFF"/>
                </a:highlight>
                <a:latin typeface="Segoe UI" panose="020B0502040204020203" pitchFamily="34" charset="0"/>
                <a:ea typeface="Times New Roman" panose="02020603050405020304" pitchFamily="18" charset="0"/>
                <a:cs typeface="Times New Roman" panose="02020603050405020304" pitchFamily="18" charset="0"/>
              </a:rPr>
              <a:t>arrive at the output as per requirement.</a:t>
            </a:r>
            <a:endParaRPr lang="en-IN" sz="1800" b="1" kern="100" dirty="0">
              <a:solidFill>
                <a:srgbClr val="FF0000"/>
              </a:solidFill>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515153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23BFF-4449-805D-5DDF-9B54277C2771}"/>
              </a:ext>
            </a:extLst>
          </p:cNvPr>
          <p:cNvSpPr>
            <a:spLocks noGrp="1"/>
          </p:cNvSpPr>
          <p:nvPr>
            <p:ph type="title"/>
          </p:nvPr>
        </p:nvSpPr>
        <p:spPr/>
        <p:txBody>
          <a:bodyPr/>
          <a:lstStyle/>
          <a:p>
            <a:r>
              <a:rPr kumimoji="1" lang="en-US" sz="3600" b="1" i="0" u="none" strike="noStrike" kern="1200" cap="none" spc="0" normalizeH="0" baseline="0" noProof="0" dirty="0">
                <a:ln>
                  <a:noFill/>
                </a:ln>
                <a:solidFill>
                  <a:srgbClr val="006666"/>
                </a:solidFill>
                <a:effectLst/>
                <a:uLnTx/>
                <a:uFillTx/>
                <a:latin typeface="Arial"/>
                <a:ea typeface="PMingLiU" panose="02020500000000000000" pitchFamily="18" charset="-120"/>
                <a:cs typeface="+mj-cs"/>
              </a:rPr>
              <a:t>LSTM</a:t>
            </a:r>
            <a:endParaRPr lang="en-IN" dirty="0"/>
          </a:p>
        </p:txBody>
      </p:sp>
      <p:sp>
        <p:nvSpPr>
          <p:cNvPr id="3" name="Content Placeholder 2">
            <a:extLst>
              <a:ext uri="{FF2B5EF4-FFF2-40B4-BE49-F238E27FC236}">
                <a16:creationId xmlns:a16="http://schemas.microsoft.com/office/drawing/2014/main" id="{574719F1-66A8-9AB0-9565-28FC573EFFBD}"/>
              </a:ext>
            </a:extLst>
          </p:cNvPr>
          <p:cNvSpPr>
            <a:spLocks noGrp="1"/>
          </p:cNvSpPr>
          <p:nvPr>
            <p:ph idx="1"/>
          </p:nvPr>
        </p:nvSpPr>
        <p:spPr>
          <a:xfrm>
            <a:off x="1117601" y="2362201"/>
            <a:ext cx="10769599" cy="3724275"/>
          </a:xfrm>
          <a:ln>
            <a:solidFill>
              <a:srgbClr val="1D1D1D"/>
            </a:solidFill>
          </a:ln>
        </p:spPr>
        <p:txBody>
          <a:bodyPr/>
          <a:lstStyle/>
          <a:p>
            <a:r>
              <a:rPr lang="en-US" b="1" i="1" dirty="0">
                <a:solidFill>
                  <a:srgbClr val="242424"/>
                </a:solidFill>
                <a:effectLst/>
                <a:latin typeface="source-serif-pro"/>
              </a:rPr>
              <a:t>Input gate </a:t>
            </a:r>
            <a:r>
              <a:rPr lang="en-US" b="0" i="0" dirty="0">
                <a:solidFill>
                  <a:srgbClr val="242424"/>
                </a:solidFill>
                <a:effectLst/>
                <a:latin typeface="source-serif-pro"/>
              </a:rPr>
              <a:t>determines the extent to which the current timestamp input should be used. </a:t>
            </a:r>
          </a:p>
          <a:p>
            <a:r>
              <a:rPr lang="en-US" b="0" i="0" dirty="0">
                <a:solidFill>
                  <a:srgbClr val="242424"/>
                </a:solidFill>
                <a:effectLst/>
                <a:latin typeface="source-serif-pro"/>
              </a:rPr>
              <a:t>the </a:t>
            </a:r>
            <a:r>
              <a:rPr lang="en-US" b="1" i="1" dirty="0">
                <a:solidFill>
                  <a:srgbClr val="242424"/>
                </a:solidFill>
                <a:effectLst/>
                <a:latin typeface="source-serif-pro"/>
              </a:rPr>
              <a:t>Forget gate </a:t>
            </a:r>
            <a:r>
              <a:rPr lang="en-US" b="0" i="0" dirty="0">
                <a:solidFill>
                  <a:srgbClr val="242424"/>
                </a:solidFill>
                <a:effectLst/>
                <a:latin typeface="source-serif-pro"/>
              </a:rPr>
              <a:t>determines the extent to which output of the previous timestamp state should be used.</a:t>
            </a:r>
          </a:p>
          <a:p>
            <a:r>
              <a:rPr lang="en-US" b="1" i="1" dirty="0">
                <a:solidFill>
                  <a:srgbClr val="242424"/>
                </a:solidFill>
                <a:effectLst/>
                <a:latin typeface="source-serif-pro"/>
              </a:rPr>
              <a:t>Output gate </a:t>
            </a:r>
            <a:r>
              <a:rPr lang="en-US" b="0" i="0" dirty="0">
                <a:solidFill>
                  <a:srgbClr val="242424"/>
                </a:solidFill>
                <a:effectLst/>
                <a:latin typeface="source-serif-pro"/>
              </a:rPr>
              <a:t>determines the output of the current timestamp.</a:t>
            </a:r>
            <a:endParaRPr lang="en-IN" dirty="0"/>
          </a:p>
        </p:txBody>
      </p:sp>
      <p:sp>
        <p:nvSpPr>
          <p:cNvPr id="4" name="Slide Number Placeholder 3">
            <a:extLst>
              <a:ext uri="{FF2B5EF4-FFF2-40B4-BE49-F238E27FC236}">
                <a16:creationId xmlns:a16="http://schemas.microsoft.com/office/drawing/2014/main" id="{72C3DD45-EC9A-4EB3-96CF-1FD4CC5D9CDC}"/>
              </a:ext>
            </a:extLst>
          </p:cNvPr>
          <p:cNvSpPr>
            <a:spLocks noGrp="1"/>
          </p:cNvSpPr>
          <p:nvPr>
            <p:ph type="sldNum" sz="quarter" idx="12"/>
          </p:nvPr>
        </p:nvSpPr>
        <p:spPr/>
        <p:txBody>
          <a:bodyPr/>
          <a:lstStyle/>
          <a:p>
            <a:pPr>
              <a:defRPr/>
            </a:pPr>
            <a:fld id="{9AD681D7-8A59-4380-9311-10B86FF921AA}" type="slidenum">
              <a:rPr lang="en-US" altLang="zh-TW" smtClean="0"/>
              <a:pPr>
                <a:defRPr/>
              </a:pPr>
              <a:t>41</a:t>
            </a:fld>
            <a:endParaRPr lang="en-US" altLang="zh-TW"/>
          </a:p>
        </p:txBody>
      </p:sp>
    </p:spTree>
    <p:extLst>
      <p:ext uri="{BB962C8B-B14F-4D97-AF65-F5344CB8AC3E}">
        <p14:creationId xmlns:p14="http://schemas.microsoft.com/office/powerpoint/2010/main" val="28000704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0CC8F-4E36-7190-97F1-5B0BF269DCD6}"/>
              </a:ext>
            </a:extLst>
          </p:cNvPr>
          <p:cNvSpPr>
            <a:spLocks noGrp="1"/>
          </p:cNvSpPr>
          <p:nvPr>
            <p:ph type="title"/>
          </p:nvPr>
        </p:nvSpPr>
        <p:spPr>
          <a:xfrm>
            <a:off x="1016000" y="762000"/>
            <a:ext cx="4728817" cy="1143000"/>
          </a:xfrm>
        </p:spPr>
        <p:txBody>
          <a:bodyPr/>
          <a:lstStyle/>
          <a:p>
            <a:r>
              <a:rPr lang="en-IN" dirty="0"/>
              <a:t>Variants of LSTM -1 </a:t>
            </a:r>
          </a:p>
        </p:txBody>
      </p:sp>
      <p:pic>
        <p:nvPicPr>
          <p:cNvPr id="6" name="Content Placeholder 5">
            <a:extLst>
              <a:ext uri="{FF2B5EF4-FFF2-40B4-BE49-F238E27FC236}">
                <a16:creationId xmlns:a16="http://schemas.microsoft.com/office/drawing/2014/main" id="{E235DACD-D384-2F3D-0B86-F09197D8FCAC}"/>
              </a:ext>
            </a:extLst>
          </p:cNvPr>
          <p:cNvPicPr>
            <a:picLocks noGrp="1" noChangeAspect="1"/>
          </p:cNvPicPr>
          <p:nvPr>
            <p:ph idx="1"/>
          </p:nvPr>
        </p:nvPicPr>
        <p:blipFill rotWithShape="1">
          <a:blip r:embed="rId2"/>
          <a:srcRect l="6424" r="3567" b="1682"/>
          <a:stretch/>
        </p:blipFill>
        <p:spPr>
          <a:xfrm>
            <a:off x="112184" y="1904999"/>
            <a:ext cx="11967632" cy="4826001"/>
          </a:xfrm>
          <a:ln>
            <a:solidFill>
              <a:srgbClr val="1D1D1D"/>
            </a:solidFill>
          </a:ln>
        </p:spPr>
      </p:pic>
      <p:sp>
        <p:nvSpPr>
          <p:cNvPr id="4" name="Slide Number Placeholder 3">
            <a:extLst>
              <a:ext uri="{FF2B5EF4-FFF2-40B4-BE49-F238E27FC236}">
                <a16:creationId xmlns:a16="http://schemas.microsoft.com/office/drawing/2014/main" id="{D0332E33-2A7D-6BD3-1069-159953CCC5CB}"/>
              </a:ext>
            </a:extLst>
          </p:cNvPr>
          <p:cNvSpPr>
            <a:spLocks noGrp="1"/>
          </p:cNvSpPr>
          <p:nvPr>
            <p:ph type="sldNum" sz="quarter" idx="12"/>
          </p:nvPr>
        </p:nvSpPr>
        <p:spPr/>
        <p:txBody>
          <a:bodyPr/>
          <a:lstStyle/>
          <a:p>
            <a:pPr>
              <a:defRPr/>
            </a:pPr>
            <a:fld id="{9AD681D7-8A59-4380-9311-10B86FF921AA}" type="slidenum">
              <a:rPr lang="en-US" altLang="zh-TW" smtClean="0"/>
              <a:pPr>
                <a:defRPr/>
              </a:pPr>
              <a:t>42</a:t>
            </a:fld>
            <a:endParaRPr lang="en-US" altLang="zh-TW"/>
          </a:p>
        </p:txBody>
      </p:sp>
      <p:sp>
        <p:nvSpPr>
          <p:cNvPr id="8" name="TextBox 7">
            <a:extLst>
              <a:ext uri="{FF2B5EF4-FFF2-40B4-BE49-F238E27FC236}">
                <a16:creationId xmlns:a16="http://schemas.microsoft.com/office/drawing/2014/main" id="{81B76029-554B-6CDA-5C37-AD892544EF22}"/>
              </a:ext>
            </a:extLst>
          </p:cNvPr>
          <p:cNvSpPr txBox="1"/>
          <p:nvPr/>
        </p:nvSpPr>
        <p:spPr>
          <a:xfrm>
            <a:off x="4412974" y="87242"/>
            <a:ext cx="7779026" cy="369957"/>
          </a:xfrm>
          <a:prstGeom prst="rect">
            <a:avLst/>
          </a:prstGeom>
          <a:noFill/>
          <a:ln>
            <a:solidFill>
              <a:srgbClr val="1D1D1D"/>
            </a:solidFill>
          </a:ln>
        </p:spPr>
        <p:txBody>
          <a:bodyPr wrap="square">
            <a:spAutoFit/>
          </a:bodyPr>
          <a:lstStyle/>
          <a:p>
            <a:r>
              <a:rPr lang="en-US" b="1" i="0" dirty="0">
                <a:solidFill>
                  <a:srgbClr val="333333"/>
                </a:solidFill>
                <a:effectLst/>
                <a:latin typeface="CMS"/>
              </a:rPr>
              <a:t>It allows gate layers to look at the cell state. It </a:t>
            </a:r>
            <a:r>
              <a:rPr lang="en-US" b="0" i="0" dirty="0">
                <a:solidFill>
                  <a:srgbClr val="333333"/>
                </a:solidFill>
                <a:effectLst/>
                <a:latin typeface="CMS"/>
              </a:rPr>
              <a:t>adds peepholes to all the gates. </a:t>
            </a:r>
            <a:r>
              <a:rPr lang="en-US" b="1" i="0" dirty="0">
                <a:solidFill>
                  <a:srgbClr val="333333"/>
                </a:solidFill>
                <a:effectLst/>
                <a:latin typeface="CMS"/>
              </a:rPr>
              <a:t> </a:t>
            </a:r>
            <a:endParaRPr lang="en-IN" b="1" dirty="0"/>
          </a:p>
        </p:txBody>
      </p:sp>
      <p:sp>
        <p:nvSpPr>
          <p:cNvPr id="10" name="TextBox 9">
            <a:extLst>
              <a:ext uri="{FF2B5EF4-FFF2-40B4-BE49-F238E27FC236}">
                <a16:creationId xmlns:a16="http://schemas.microsoft.com/office/drawing/2014/main" id="{C6479A8B-78AA-00E4-D491-332910D1519A}"/>
              </a:ext>
            </a:extLst>
          </p:cNvPr>
          <p:cNvSpPr txBox="1"/>
          <p:nvPr/>
        </p:nvSpPr>
        <p:spPr>
          <a:xfrm>
            <a:off x="5861003" y="600417"/>
            <a:ext cx="6102626" cy="323165"/>
          </a:xfrm>
          <a:prstGeom prst="rect">
            <a:avLst/>
          </a:prstGeom>
          <a:noFill/>
          <a:ln>
            <a:solidFill>
              <a:schemeClr val="tx1"/>
            </a:solidFill>
          </a:ln>
        </p:spPr>
        <p:txBody>
          <a:bodyPr wrap="square">
            <a:spAutoFit/>
          </a:bodyPr>
          <a:lstStyle/>
          <a:p>
            <a:r>
              <a:rPr lang="en-IN" sz="1500" dirty="0"/>
              <a:t>https://colah.github.io/posts/2015-08-Understanding-LSTMs/</a:t>
            </a:r>
          </a:p>
        </p:txBody>
      </p:sp>
    </p:spTree>
    <p:extLst>
      <p:ext uri="{BB962C8B-B14F-4D97-AF65-F5344CB8AC3E}">
        <p14:creationId xmlns:p14="http://schemas.microsoft.com/office/powerpoint/2010/main" val="24958270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1803D-C412-FE7E-EDCD-942F747BE3F7}"/>
              </a:ext>
            </a:extLst>
          </p:cNvPr>
          <p:cNvSpPr>
            <a:spLocks noGrp="1"/>
          </p:cNvSpPr>
          <p:nvPr>
            <p:ph type="title"/>
          </p:nvPr>
        </p:nvSpPr>
        <p:spPr>
          <a:xfrm>
            <a:off x="895351" y="841513"/>
            <a:ext cx="4907722" cy="1143000"/>
          </a:xfrm>
        </p:spPr>
        <p:txBody>
          <a:bodyPr/>
          <a:lstStyle/>
          <a:p>
            <a:r>
              <a:rPr kumimoji="1" lang="en-IN" sz="3600" b="1" i="0" u="none" strike="noStrike" kern="1200" cap="none" spc="0" normalizeH="0" baseline="0" noProof="0" dirty="0">
                <a:ln>
                  <a:noFill/>
                </a:ln>
                <a:solidFill>
                  <a:srgbClr val="006666"/>
                </a:solidFill>
                <a:effectLst/>
                <a:uLnTx/>
                <a:uFillTx/>
                <a:latin typeface="Arial"/>
                <a:ea typeface="PMingLiU" panose="02020500000000000000" pitchFamily="18" charset="-120"/>
                <a:cs typeface="+mj-cs"/>
              </a:rPr>
              <a:t>Variants of LSTM -2</a:t>
            </a:r>
            <a:endParaRPr lang="en-IN" dirty="0"/>
          </a:p>
        </p:txBody>
      </p:sp>
      <p:pic>
        <p:nvPicPr>
          <p:cNvPr id="6" name="Content Placeholder 5">
            <a:extLst>
              <a:ext uri="{FF2B5EF4-FFF2-40B4-BE49-F238E27FC236}">
                <a16:creationId xmlns:a16="http://schemas.microsoft.com/office/drawing/2014/main" id="{333BE139-CD58-971F-06DF-E920F2CF98C8}"/>
              </a:ext>
            </a:extLst>
          </p:cNvPr>
          <p:cNvPicPr>
            <a:picLocks noGrp="1" noChangeAspect="1"/>
          </p:cNvPicPr>
          <p:nvPr>
            <p:ph idx="1"/>
          </p:nvPr>
        </p:nvPicPr>
        <p:blipFill rotWithShape="1">
          <a:blip r:embed="rId2"/>
          <a:srcRect l="5625"/>
          <a:stretch/>
        </p:blipFill>
        <p:spPr>
          <a:xfrm>
            <a:off x="112184" y="2357288"/>
            <a:ext cx="11967633" cy="4373712"/>
          </a:xfrm>
          <a:ln>
            <a:solidFill>
              <a:srgbClr val="000000"/>
            </a:solidFill>
          </a:ln>
        </p:spPr>
      </p:pic>
      <p:sp>
        <p:nvSpPr>
          <p:cNvPr id="4" name="Slide Number Placeholder 3">
            <a:extLst>
              <a:ext uri="{FF2B5EF4-FFF2-40B4-BE49-F238E27FC236}">
                <a16:creationId xmlns:a16="http://schemas.microsoft.com/office/drawing/2014/main" id="{14EBA5CE-0220-F988-CC7E-F7E4AA977BAE}"/>
              </a:ext>
            </a:extLst>
          </p:cNvPr>
          <p:cNvSpPr>
            <a:spLocks noGrp="1"/>
          </p:cNvSpPr>
          <p:nvPr>
            <p:ph type="sldNum" sz="quarter" idx="12"/>
          </p:nvPr>
        </p:nvSpPr>
        <p:spPr/>
        <p:txBody>
          <a:bodyPr/>
          <a:lstStyle/>
          <a:p>
            <a:pPr>
              <a:defRPr/>
            </a:pPr>
            <a:fld id="{9AD681D7-8A59-4380-9311-10B86FF921AA}" type="slidenum">
              <a:rPr lang="en-US" altLang="zh-TW" smtClean="0"/>
              <a:pPr>
                <a:defRPr/>
              </a:pPr>
              <a:t>43</a:t>
            </a:fld>
            <a:endParaRPr lang="en-US" altLang="zh-TW"/>
          </a:p>
        </p:txBody>
      </p:sp>
      <p:sp>
        <p:nvSpPr>
          <p:cNvPr id="8" name="TextBox 7">
            <a:extLst>
              <a:ext uri="{FF2B5EF4-FFF2-40B4-BE49-F238E27FC236}">
                <a16:creationId xmlns:a16="http://schemas.microsoft.com/office/drawing/2014/main" id="{6D4528D7-8C34-B354-E260-CD193CBB04A1}"/>
              </a:ext>
            </a:extLst>
          </p:cNvPr>
          <p:cNvSpPr txBox="1"/>
          <p:nvPr/>
        </p:nvSpPr>
        <p:spPr>
          <a:xfrm>
            <a:off x="5523978" y="193461"/>
            <a:ext cx="6443655" cy="1477328"/>
          </a:xfrm>
          <a:prstGeom prst="rect">
            <a:avLst/>
          </a:prstGeom>
          <a:noFill/>
          <a:ln>
            <a:solidFill>
              <a:schemeClr val="tx1"/>
            </a:solidFill>
          </a:ln>
        </p:spPr>
        <p:txBody>
          <a:bodyPr wrap="square">
            <a:spAutoFit/>
          </a:bodyPr>
          <a:lstStyle/>
          <a:p>
            <a:r>
              <a:rPr lang="en-US" b="1" i="0" dirty="0">
                <a:solidFill>
                  <a:srgbClr val="FF0000"/>
                </a:solidFill>
                <a:effectLst/>
                <a:latin typeface="CMS"/>
              </a:rPr>
              <a:t>Forget and input gates are coupled together</a:t>
            </a:r>
            <a:r>
              <a:rPr lang="en-US" b="1" i="0" dirty="0">
                <a:solidFill>
                  <a:srgbClr val="333333"/>
                </a:solidFill>
                <a:effectLst/>
                <a:latin typeface="CMS"/>
              </a:rPr>
              <a:t>.  </a:t>
            </a:r>
          </a:p>
          <a:p>
            <a:r>
              <a:rPr lang="en-US" b="1" i="0" dirty="0">
                <a:solidFill>
                  <a:srgbClr val="333333"/>
                </a:solidFill>
                <a:effectLst/>
                <a:latin typeface="CMS"/>
              </a:rPr>
              <a:t>Instead of separately deciding what to forget, it makes use of  those decisions together.</a:t>
            </a:r>
          </a:p>
          <a:p>
            <a:r>
              <a:rPr lang="en-US" b="1" i="0" dirty="0">
                <a:solidFill>
                  <a:srgbClr val="333333"/>
                </a:solidFill>
                <a:effectLst/>
                <a:latin typeface="CMS"/>
              </a:rPr>
              <a:t>It forgets while inputting something in its place, Input new values to the state when required to  forget something older.</a:t>
            </a:r>
            <a:endParaRPr lang="en-IN" b="1" dirty="0"/>
          </a:p>
        </p:txBody>
      </p:sp>
    </p:spTree>
    <p:extLst>
      <p:ext uri="{BB962C8B-B14F-4D97-AF65-F5344CB8AC3E}">
        <p14:creationId xmlns:p14="http://schemas.microsoft.com/office/powerpoint/2010/main" val="305392420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5B1FF0-5221-A936-655C-4A5396000902}"/>
              </a:ext>
            </a:extLst>
          </p:cNvPr>
          <p:cNvSpPr>
            <a:spLocks noGrp="1"/>
          </p:cNvSpPr>
          <p:nvPr>
            <p:ph type="title"/>
          </p:nvPr>
        </p:nvSpPr>
        <p:spPr/>
        <p:txBody>
          <a:bodyPr/>
          <a:lstStyle/>
          <a:p>
            <a:r>
              <a:rPr kumimoji="1" lang="en-IN" sz="3600" b="1" i="0" u="none" strike="noStrike" kern="1200" cap="none" spc="0" normalizeH="0" baseline="0" noProof="0" dirty="0">
                <a:ln>
                  <a:noFill/>
                </a:ln>
                <a:solidFill>
                  <a:srgbClr val="006666"/>
                </a:solidFill>
                <a:effectLst/>
                <a:uLnTx/>
                <a:uFillTx/>
                <a:latin typeface="Arial"/>
                <a:ea typeface="PMingLiU" panose="02020500000000000000" pitchFamily="18" charset="-120"/>
                <a:cs typeface="+mj-cs"/>
              </a:rPr>
              <a:t>Variants of LSTM -3 </a:t>
            </a:r>
            <a:endParaRPr lang="en-IN" dirty="0"/>
          </a:p>
        </p:txBody>
      </p:sp>
      <p:sp>
        <p:nvSpPr>
          <p:cNvPr id="4" name="Slide Number Placeholder 3">
            <a:extLst>
              <a:ext uri="{FF2B5EF4-FFF2-40B4-BE49-F238E27FC236}">
                <a16:creationId xmlns:a16="http://schemas.microsoft.com/office/drawing/2014/main" id="{24DDD4F6-DD6C-C21C-F2B0-B82D0A5C3803}"/>
              </a:ext>
            </a:extLst>
          </p:cNvPr>
          <p:cNvSpPr>
            <a:spLocks noGrp="1"/>
          </p:cNvSpPr>
          <p:nvPr>
            <p:ph type="sldNum" sz="quarter" idx="12"/>
          </p:nvPr>
        </p:nvSpPr>
        <p:spPr/>
        <p:txBody>
          <a:bodyPr/>
          <a:lstStyle/>
          <a:p>
            <a:pPr>
              <a:defRPr/>
            </a:pPr>
            <a:fld id="{9AD681D7-8A59-4380-9311-10B86FF921AA}" type="slidenum">
              <a:rPr lang="en-US" altLang="zh-TW" smtClean="0"/>
              <a:pPr>
                <a:defRPr/>
              </a:pPr>
              <a:t>44</a:t>
            </a:fld>
            <a:endParaRPr lang="en-US" altLang="zh-TW"/>
          </a:p>
        </p:txBody>
      </p:sp>
      <p:pic>
        <p:nvPicPr>
          <p:cNvPr id="6" name="Picture 5">
            <a:extLst>
              <a:ext uri="{FF2B5EF4-FFF2-40B4-BE49-F238E27FC236}">
                <a16:creationId xmlns:a16="http://schemas.microsoft.com/office/drawing/2014/main" id="{74BCDDC8-EF14-EA22-C38A-B8507656A6B8}"/>
              </a:ext>
            </a:extLst>
          </p:cNvPr>
          <p:cNvPicPr>
            <a:picLocks noChangeAspect="1"/>
          </p:cNvPicPr>
          <p:nvPr/>
        </p:nvPicPr>
        <p:blipFill>
          <a:blip r:embed="rId2"/>
          <a:stretch>
            <a:fillRect/>
          </a:stretch>
        </p:blipFill>
        <p:spPr>
          <a:xfrm>
            <a:off x="112184" y="2110048"/>
            <a:ext cx="11794893" cy="4310630"/>
          </a:xfrm>
          <a:prstGeom prst="rect">
            <a:avLst/>
          </a:prstGeom>
          <a:ln>
            <a:solidFill>
              <a:srgbClr val="000000"/>
            </a:solidFill>
          </a:ln>
        </p:spPr>
      </p:pic>
      <p:sp>
        <p:nvSpPr>
          <p:cNvPr id="8" name="TextBox 7">
            <a:extLst>
              <a:ext uri="{FF2B5EF4-FFF2-40B4-BE49-F238E27FC236}">
                <a16:creationId xmlns:a16="http://schemas.microsoft.com/office/drawing/2014/main" id="{3C450F21-0E30-C493-81DA-EA592BD009A3}"/>
              </a:ext>
            </a:extLst>
          </p:cNvPr>
          <p:cNvSpPr txBox="1"/>
          <p:nvPr/>
        </p:nvSpPr>
        <p:spPr>
          <a:xfrm>
            <a:off x="4276578" y="-9987"/>
            <a:ext cx="7881830" cy="1138773"/>
          </a:xfrm>
          <a:prstGeom prst="rect">
            <a:avLst/>
          </a:prstGeom>
          <a:noFill/>
          <a:ln>
            <a:solidFill>
              <a:srgbClr val="000000"/>
            </a:solidFill>
          </a:ln>
        </p:spPr>
        <p:txBody>
          <a:bodyPr wrap="square">
            <a:spAutoFit/>
          </a:bodyPr>
          <a:lstStyle/>
          <a:p>
            <a:r>
              <a:rPr lang="en-US" sz="1700" b="1" i="0" dirty="0">
                <a:solidFill>
                  <a:srgbClr val="333333"/>
                </a:solidFill>
                <a:effectLst/>
                <a:latin typeface="CMS"/>
              </a:rPr>
              <a:t>Gated Recurrent Unit, or GRU: </a:t>
            </a:r>
            <a:r>
              <a:rPr lang="en-US" sz="1700" b="0" i="0" dirty="0">
                <a:solidFill>
                  <a:srgbClr val="333333"/>
                </a:solidFill>
                <a:effectLst/>
                <a:latin typeface="CMS"/>
              </a:rPr>
              <a:t>It combines the forget and input gates into a single “update gate.”</a:t>
            </a:r>
          </a:p>
          <a:p>
            <a:r>
              <a:rPr lang="en-US" sz="1700" b="0" i="0" dirty="0">
                <a:solidFill>
                  <a:srgbClr val="333333"/>
                </a:solidFill>
                <a:effectLst/>
                <a:latin typeface="CMS"/>
              </a:rPr>
              <a:t> It also merges the cell state and hidden state, and makes some other changes.</a:t>
            </a:r>
          </a:p>
          <a:p>
            <a:r>
              <a:rPr lang="en-US" sz="1700" dirty="0">
                <a:solidFill>
                  <a:srgbClr val="333333"/>
                </a:solidFill>
                <a:latin typeface="CMS"/>
              </a:rPr>
              <a:t> </a:t>
            </a:r>
            <a:r>
              <a:rPr lang="en-US" sz="1700" b="0" i="0" dirty="0">
                <a:solidFill>
                  <a:srgbClr val="333333"/>
                </a:solidFill>
                <a:effectLst/>
                <a:latin typeface="CMS"/>
              </a:rPr>
              <a:t>The resulting model is simpler than standard LSTM models, and has been very popular.</a:t>
            </a:r>
            <a:endParaRPr lang="en-IN" sz="1700" dirty="0"/>
          </a:p>
        </p:txBody>
      </p:sp>
    </p:spTree>
    <p:extLst>
      <p:ext uri="{BB962C8B-B14F-4D97-AF65-F5344CB8AC3E}">
        <p14:creationId xmlns:p14="http://schemas.microsoft.com/office/powerpoint/2010/main" val="196378036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764A09-6A2E-5034-8C8E-A203631BC44B}"/>
              </a:ext>
            </a:extLst>
          </p:cNvPr>
          <p:cNvSpPr>
            <a:spLocks noGrp="1"/>
          </p:cNvSpPr>
          <p:nvPr>
            <p:ph type="title"/>
          </p:nvPr>
        </p:nvSpPr>
        <p:spPr/>
        <p:txBody>
          <a:bodyPr/>
          <a:lstStyle/>
          <a:p>
            <a:r>
              <a:rPr lang="en-IN" dirty="0"/>
              <a:t>Fully Gated Unit</a:t>
            </a:r>
          </a:p>
        </p:txBody>
      </p:sp>
      <p:pic>
        <p:nvPicPr>
          <p:cNvPr id="5" name="Content Placeholder 4">
            <a:extLst>
              <a:ext uri="{FF2B5EF4-FFF2-40B4-BE49-F238E27FC236}">
                <a16:creationId xmlns:a16="http://schemas.microsoft.com/office/drawing/2014/main" id="{78E18F0B-7C59-7DDD-6F65-EEE09DF8B3EB}"/>
              </a:ext>
            </a:extLst>
          </p:cNvPr>
          <p:cNvPicPr>
            <a:picLocks noGrp="1" noChangeAspect="1"/>
          </p:cNvPicPr>
          <p:nvPr>
            <p:ph idx="1"/>
          </p:nvPr>
        </p:nvPicPr>
        <p:blipFill>
          <a:blip r:embed="rId2"/>
          <a:stretch>
            <a:fillRect/>
          </a:stretch>
        </p:blipFill>
        <p:spPr>
          <a:xfrm>
            <a:off x="0" y="2168258"/>
            <a:ext cx="5862528" cy="4689742"/>
          </a:xfrm>
          <a:prstGeom prst="rect">
            <a:avLst/>
          </a:prstGeom>
        </p:spPr>
      </p:pic>
      <p:sp>
        <p:nvSpPr>
          <p:cNvPr id="4" name="Slide Number Placeholder 3">
            <a:extLst>
              <a:ext uri="{FF2B5EF4-FFF2-40B4-BE49-F238E27FC236}">
                <a16:creationId xmlns:a16="http://schemas.microsoft.com/office/drawing/2014/main" id="{40D06AFE-D13F-78F6-E83A-9CD2DF57F105}"/>
              </a:ext>
            </a:extLst>
          </p:cNvPr>
          <p:cNvSpPr>
            <a:spLocks noGrp="1"/>
          </p:cNvSpPr>
          <p:nvPr>
            <p:ph type="sldNum" sz="quarter" idx="12"/>
          </p:nvPr>
        </p:nvSpPr>
        <p:spPr/>
        <p:txBody>
          <a:bodyPr/>
          <a:lstStyle/>
          <a:p>
            <a:pPr>
              <a:defRPr/>
            </a:pPr>
            <a:fld id="{9AD681D7-8A59-4380-9311-10B86FF921AA}" type="slidenum">
              <a:rPr lang="en-US" altLang="zh-TW" smtClean="0"/>
              <a:pPr>
                <a:defRPr/>
              </a:pPr>
              <a:t>45</a:t>
            </a:fld>
            <a:endParaRPr lang="en-US" altLang="zh-TW"/>
          </a:p>
        </p:txBody>
      </p:sp>
      <p:sp>
        <p:nvSpPr>
          <p:cNvPr id="6" name="AutoShape 2" descr="{\displaystyle {\begin{aligned}z_{t}&amp;=\sigma (W_{z}x_{t}+U_{z}h_{t-1}+b_{z})\\r_{t}&amp;=\sigma (W_{r}x_{t}+U_{r}h_{t-1}+b_{r})\\{\hat {h}}_{t}&amp;=\phi (W_{h}x_{t}+U_{h}(r_{t}\odot h_{t-1})+b_{h})\\h_{t}&amp;=(1-z_{t})\odot h_{t-1}+z_{t}\odot {\hat {h}}_{t}\end{aligned}}}">
            <a:extLst>
              <a:ext uri="{FF2B5EF4-FFF2-40B4-BE49-F238E27FC236}">
                <a16:creationId xmlns:a16="http://schemas.microsoft.com/office/drawing/2014/main" id="{326EA367-454D-97CE-D31E-D0A79B92934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AutoShape 4" descr="{\displaystyle {\begin{aligned}z_{t}&amp;=\sigma (W_{z}x_{t}+U_{z}h_{t-1}+b_{z})\\r_{t}&amp;=\sigma (W_{r}x_{t}+U_{r}h_{t-1}+b_{r})\\{\hat {h}}_{t}&amp;=\phi (W_{h}x_{t}+U_{h}(r_{t}\odot h_{t-1})+b_{h})\\h_{t}&amp;=(1-z_{t})\odot h_{t-1}+z_{t}\odot {\hat {h}}_{t}\end{aligned}}}">
            <a:extLst>
              <a:ext uri="{FF2B5EF4-FFF2-40B4-BE49-F238E27FC236}">
                <a16:creationId xmlns:a16="http://schemas.microsoft.com/office/drawing/2014/main" id="{CF812595-02FF-A30B-FD91-66D90FAD16EE}"/>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AutoShape 6" descr="{\displaystyle {\begin{aligned}z_{t}&amp;=\sigma (W_{z}x_{t}+U_{z}h_{t-1}+b_{z})\\r_{t}&amp;=\sigma (W_{r}x_{t}+U_{r}h_{t-1}+b_{r})\\{\hat {h}}_{t}&amp;=\phi (W_{h}x_{t}+U_{h}(r_{t}\odot h_{t-1})+b_{h})\\h_{t}&amp;=(1-z_{t})\odot h_{t-1}+z_{t}\odot {\hat {h}}_{t}\end{aligned}}}">
            <a:extLst>
              <a:ext uri="{FF2B5EF4-FFF2-40B4-BE49-F238E27FC236}">
                <a16:creationId xmlns:a16="http://schemas.microsoft.com/office/drawing/2014/main" id="{0B7F2FC1-6410-41A7-E07A-B339B4244FB5}"/>
              </a:ext>
            </a:extLst>
          </p:cNvPr>
          <p:cNvSpPr>
            <a:spLocks noChangeAspect="1" noChangeArrowheads="1"/>
          </p:cNvSpPr>
          <p:nvPr/>
        </p:nvSpPr>
        <p:spPr bwMode="auto">
          <a:xfrm>
            <a:off x="6248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 name="Picture 9">
            <a:extLst>
              <a:ext uri="{FF2B5EF4-FFF2-40B4-BE49-F238E27FC236}">
                <a16:creationId xmlns:a16="http://schemas.microsoft.com/office/drawing/2014/main" id="{E254CDC0-EC14-B055-6776-9D64587EB3CA}"/>
              </a:ext>
            </a:extLst>
          </p:cNvPr>
          <p:cNvPicPr>
            <a:picLocks noChangeAspect="1"/>
          </p:cNvPicPr>
          <p:nvPr/>
        </p:nvPicPr>
        <p:blipFill>
          <a:blip r:embed="rId3"/>
          <a:stretch>
            <a:fillRect/>
          </a:stretch>
        </p:blipFill>
        <p:spPr>
          <a:xfrm>
            <a:off x="6248400" y="2981324"/>
            <a:ext cx="5047957" cy="2673887"/>
          </a:xfrm>
          <a:prstGeom prst="rect">
            <a:avLst/>
          </a:prstGeom>
        </p:spPr>
      </p:pic>
    </p:spTree>
    <p:extLst>
      <p:ext uri="{BB962C8B-B14F-4D97-AF65-F5344CB8AC3E}">
        <p14:creationId xmlns:p14="http://schemas.microsoft.com/office/powerpoint/2010/main" val="3215152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8DFA5-4839-D345-FA40-D3BF387DB19F}"/>
              </a:ext>
            </a:extLst>
          </p:cNvPr>
          <p:cNvSpPr>
            <a:spLocks noGrp="1"/>
          </p:cNvSpPr>
          <p:nvPr>
            <p:ph type="title"/>
          </p:nvPr>
        </p:nvSpPr>
        <p:spPr>
          <a:xfrm>
            <a:off x="895351" y="539931"/>
            <a:ext cx="5080000" cy="1143000"/>
          </a:xfrm>
        </p:spPr>
        <p:txBody>
          <a:bodyPr/>
          <a:lstStyle/>
          <a:p>
            <a:r>
              <a:rPr lang="en-IN" dirty="0"/>
              <a:t>Gated Recurrent Unit</a:t>
            </a:r>
          </a:p>
        </p:txBody>
      </p:sp>
      <p:sp>
        <p:nvSpPr>
          <p:cNvPr id="3" name="Content Placeholder 2">
            <a:extLst>
              <a:ext uri="{FF2B5EF4-FFF2-40B4-BE49-F238E27FC236}">
                <a16:creationId xmlns:a16="http://schemas.microsoft.com/office/drawing/2014/main" id="{3EA77081-7A2E-424A-C385-C13CDFDC2551}"/>
              </a:ext>
            </a:extLst>
          </p:cNvPr>
          <p:cNvSpPr>
            <a:spLocks noGrp="1"/>
          </p:cNvSpPr>
          <p:nvPr>
            <p:ph idx="1"/>
          </p:nvPr>
        </p:nvSpPr>
        <p:spPr>
          <a:xfrm>
            <a:off x="1139482" y="2359054"/>
            <a:ext cx="10901145" cy="4228014"/>
          </a:xfrm>
          <a:ln>
            <a:solidFill>
              <a:srgbClr val="000000"/>
            </a:solidFill>
          </a:ln>
        </p:spPr>
        <p:txBody>
          <a:bodyPr/>
          <a:lstStyle/>
          <a:p>
            <a:pPr marL="274638" indent="-274638" algn="just">
              <a:lnSpc>
                <a:spcPct val="150000"/>
              </a:lnSpc>
              <a:spcBef>
                <a:spcPts val="1800"/>
              </a:spcBef>
            </a:pPr>
            <a:r>
              <a:rPr lang="en-US" sz="1600" b="1" dirty="0"/>
              <a:t>LSTMs</a:t>
            </a:r>
            <a:r>
              <a:rPr lang="en-US" sz="1600" dirty="0"/>
              <a:t> are very </a:t>
            </a:r>
            <a:r>
              <a:rPr lang="en-US" sz="1600" b="1" dirty="0"/>
              <a:t>complex structure with higher computational cost</a:t>
            </a:r>
            <a:r>
              <a:rPr lang="en-US" sz="1600" dirty="0"/>
              <a:t>. To overcome this Gated Recurrent Unit (</a:t>
            </a:r>
            <a:r>
              <a:rPr lang="en-US" sz="1600" b="1" dirty="0"/>
              <a:t>GRU</a:t>
            </a:r>
            <a:r>
              <a:rPr lang="en-US" sz="1600" dirty="0"/>
              <a:t>) where introduced which </a:t>
            </a:r>
            <a:r>
              <a:rPr lang="en-US" sz="1600" b="1" dirty="0">
                <a:solidFill>
                  <a:srgbClr val="FF0000"/>
                </a:solidFill>
              </a:rPr>
              <a:t>uses LSTM architecture by merging its gating mechanisms offering a more efficient solution for many sequential tasks without sacrificing performance.</a:t>
            </a:r>
          </a:p>
          <a:p>
            <a:pPr marL="274638" indent="-274638" algn="just">
              <a:lnSpc>
                <a:spcPct val="150000"/>
              </a:lnSpc>
              <a:spcBef>
                <a:spcPts val="1800"/>
              </a:spcBef>
            </a:pPr>
            <a:r>
              <a:rPr lang="en-US" sz="1600" dirty="0"/>
              <a:t>The </a:t>
            </a:r>
            <a:r>
              <a:rPr lang="en-US" sz="1600" b="1" dirty="0"/>
              <a:t>core idea behind GRUs </a:t>
            </a:r>
            <a:r>
              <a:rPr lang="en-US" sz="1600" dirty="0"/>
              <a:t>is to </a:t>
            </a:r>
            <a:r>
              <a:rPr lang="en-US" sz="1600" b="1" dirty="0">
                <a:solidFill>
                  <a:srgbClr val="FF0000"/>
                </a:solidFill>
              </a:rPr>
              <a:t>use gating mechanisms to selectively update the hidden state at each time ste</a:t>
            </a:r>
            <a:r>
              <a:rPr lang="en-US" sz="1600" b="1" dirty="0"/>
              <a:t>p </a:t>
            </a:r>
            <a:r>
              <a:rPr lang="en-US" sz="1600" dirty="0"/>
              <a:t>allowing them </a:t>
            </a:r>
            <a:r>
              <a:rPr lang="en-US" sz="1600" b="1" dirty="0"/>
              <a:t>to remember important information while discarding irrelevant details. </a:t>
            </a:r>
          </a:p>
          <a:p>
            <a:pPr marL="274638" indent="-274638" algn="just">
              <a:lnSpc>
                <a:spcPct val="150000"/>
              </a:lnSpc>
              <a:spcBef>
                <a:spcPts val="1800"/>
              </a:spcBef>
            </a:pPr>
            <a:r>
              <a:rPr lang="en-US" sz="1600" dirty="0"/>
              <a:t>GRUs aim to </a:t>
            </a:r>
            <a:r>
              <a:rPr lang="en-US" sz="1600" b="1" dirty="0"/>
              <a:t>simplify the LSTM architecture </a:t>
            </a:r>
            <a:r>
              <a:rPr lang="en-US" sz="1600" dirty="0"/>
              <a:t>by </a:t>
            </a:r>
            <a:r>
              <a:rPr lang="en-US" sz="1600" b="1" dirty="0"/>
              <a:t>merging some of its components and focusing on just two main gates: the update gate and the reset gate.</a:t>
            </a:r>
          </a:p>
          <a:p>
            <a:pPr marL="274638" indent="-274638" algn="just">
              <a:lnSpc>
                <a:spcPct val="150000"/>
              </a:lnSpc>
              <a:spcBef>
                <a:spcPts val="1800"/>
              </a:spcBef>
            </a:pPr>
            <a:r>
              <a:rPr lang="en-US" sz="1600" b="1" dirty="0"/>
              <a:t>unlike LSTM, </a:t>
            </a:r>
            <a:r>
              <a:rPr lang="en-US" sz="1600" dirty="0"/>
              <a:t>it</a:t>
            </a:r>
            <a:r>
              <a:rPr lang="en-US" sz="1600" b="1" dirty="0"/>
              <a:t> </a:t>
            </a:r>
            <a:r>
              <a:rPr lang="en-US" sz="1600" b="1" dirty="0">
                <a:solidFill>
                  <a:srgbClr val="FF0000"/>
                </a:solidFill>
              </a:rPr>
              <a:t>does not have a separate cell state (Ct)</a:t>
            </a:r>
            <a:r>
              <a:rPr lang="en-US" sz="1600" b="1" dirty="0"/>
              <a:t>. </a:t>
            </a:r>
            <a:r>
              <a:rPr lang="en-US" sz="1600" dirty="0"/>
              <a:t>It</a:t>
            </a:r>
            <a:r>
              <a:rPr lang="en-US" sz="1600" b="1" dirty="0"/>
              <a:t> </a:t>
            </a:r>
            <a:r>
              <a:rPr lang="en-US" sz="1600" b="1" dirty="0">
                <a:solidFill>
                  <a:srgbClr val="FF0000"/>
                </a:solidFill>
              </a:rPr>
              <a:t>only has a hidden state(</a:t>
            </a:r>
            <a:r>
              <a:rPr lang="en-US" sz="1600" b="1" dirty="0" err="1">
                <a:solidFill>
                  <a:srgbClr val="FF0000"/>
                </a:solidFill>
              </a:rPr>
              <a:t>Ht</a:t>
            </a:r>
            <a:r>
              <a:rPr lang="en-US" sz="1600" b="1" dirty="0">
                <a:solidFill>
                  <a:srgbClr val="FF0000"/>
                </a:solidFill>
              </a:rPr>
              <a:t>). Due to the simpler architecture, GRUs are faster to train.</a:t>
            </a:r>
          </a:p>
        </p:txBody>
      </p:sp>
      <p:sp>
        <p:nvSpPr>
          <p:cNvPr id="4" name="Slide Number Placeholder 3">
            <a:extLst>
              <a:ext uri="{FF2B5EF4-FFF2-40B4-BE49-F238E27FC236}">
                <a16:creationId xmlns:a16="http://schemas.microsoft.com/office/drawing/2014/main" id="{B9262813-A19C-428C-6EC6-2D86ADDC9573}"/>
              </a:ext>
            </a:extLst>
          </p:cNvPr>
          <p:cNvSpPr>
            <a:spLocks noGrp="1"/>
          </p:cNvSpPr>
          <p:nvPr>
            <p:ph type="sldNum" sz="quarter" idx="12"/>
          </p:nvPr>
        </p:nvSpPr>
        <p:spPr/>
        <p:txBody>
          <a:bodyPr/>
          <a:lstStyle/>
          <a:p>
            <a:pPr>
              <a:defRPr/>
            </a:pPr>
            <a:fld id="{9AD681D7-8A59-4380-9311-10B86FF921AA}" type="slidenum">
              <a:rPr lang="en-US" altLang="zh-TW" smtClean="0"/>
              <a:pPr>
                <a:defRPr/>
              </a:pPr>
              <a:t>46</a:t>
            </a:fld>
            <a:endParaRPr lang="en-US" altLang="zh-TW"/>
          </a:p>
        </p:txBody>
      </p:sp>
      <p:pic>
        <p:nvPicPr>
          <p:cNvPr id="7" name="Picture 6">
            <a:extLst>
              <a:ext uri="{FF2B5EF4-FFF2-40B4-BE49-F238E27FC236}">
                <a16:creationId xmlns:a16="http://schemas.microsoft.com/office/drawing/2014/main" id="{4179E31E-3B3C-D17F-5279-F0DD890573B2}"/>
              </a:ext>
            </a:extLst>
          </p:cNvPr>
          <p:cNvPicPr>
            <a:picLocks noChangeAspect="1"/>
          </p:cNvPicPr>
          <p:nvPr/>
        </p:nvPicPr>
        <p:blipFill>
          <a:blip r:embed="rId2"/>
          <a:stretch>
            <a:fillRect/>
          </a:stretch>
        </p:blipFill>
        <p:spPr>
          <a:xfrm>
            <a:off x="6322423" y="127001"/>
            <a:ext cx="5718204" cy="1649548"/>
          </a:xfrm>
          <a:prstGeom prst="rect">
            <a:avLst/>
          </a:prstGeom>
          <a:ln>
            <a:solidFill>
              <a:srgbClr val="000000"/>
            </a:solidFill>
          </a:ln>
        </p:spPr>
      </p:pic>
    </p:spTree>
    <p:extLst>
      <p:ext uri="{BB962C8B-B14F-4D97-AF65-F5344CB8AC3E}">
        <p14:creationId xmlns:p14="http://schemas.microsoft.com/office/powerpoint/2010/main" val="50150978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AF794-3641-93CB-F73F-D8CD76981ACA}"/>
              </a:ext>
            </a:extLst>
          </p:cNvPr>
          <p:cNvSpPr>
            <a:spLocks noGrp="1"/>
          </p:cNvSpPr>
          <p:nvPr>
            <p:ph type="title"/>
          </p:nvPr>
        </p:nvSpPr>
        <p:spPr/>
        <p:txBody>
          <a:bodyPr/>
          <a:lstStyle/>
          <a:p>
            <a:r>
              <a:rPr lang="en-IN" dirty="0"/>
              <a:t>RNN, LSTM and GRU</a:t>
            </a:r>
          </a:p>
        </p:txBody>
      </p:sp>
      <p:sp>
        <p:nvSpPr>
          <p:cNvPr id="4" name="Slide Number Placeholder 3">
            <a:extLst>
              <a:ext uri="{FF2B5EF4-FFF2-40B4-BE49-F238E27FC236}">
                <a16:creationId xmlns:a16="http://schemas.microsoft.com/office/drawing/2014/main" id="{CE24209F-C982-977B-3CFE-8BAC45527D69}"/>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AD681D7-8A59-4380-9311-10B86FF921AA}" type="slidenum">
              <a:rPr kumimoji="0" lang="en-US" altLang="zh-TW" sz="2600" b="1" i="0" u="none" strike="noStrike" kern="1200" cap="none" spc="0" normalizeH="0" baseline="0" noProof="0" smtClean="0">
                <a:ln>
                  <a:noFill/>
                </a:ln>
                <a:solidFill>
                  <a:srgbClr val="FFFFFF"/>
                </a:solidFill>
                <a:effectLst/>
                <a:uLnTx/>
                <a:uFillTx/>
                <a:latin typeface="Arial"/>
                <a:ea typeface="新細明體" panose="02020500000000000000" pitchFamily="18" charset="-120"/>
                <a:cs typeface="+mn-cs"/>
              </a:rPr>
              <a:pPr marL="0" marR="0" lvl="0" indent="0" algn="l" defTabSz="914400" rtl="0" eaLnBrk="1" fontAlgn="auto" latinLnBrk="0" hangingPunct="1">
                <a:lnSpc>
                  <a:spcPct val="100000"/>
                </a:lnSpc>
                <a:spcBef>
                  <a:spcPts val="0"/>
                </a:spcBef>
                <a:spcAft>
                  <a:spcPts val="0"/>
                </a:spcAft>
                <a:buClrTx/>
                <a:buSzTx/>
                <a:buFontTx/>
                <a:buNone/>
                <a:tabLst/>
                <a:defRPr/>
              </a:pPr>
              <a:t>47</a:t>
            </a:fld>
            <a:endParaRPr kumimoji="0" lang="en-US" altLang="zh-TW" sz="2600" b="1" i="0" u="none" strike="noStrike" kern="1200" cap="none" spc="0" normalizeH="0" baseline="0" noProof="0">
              <a:ln>
                <a:noFill/>
              </a:ln>
              <a:solidFill>
                <a:srgbClr val="FFFFFF"/>
              </a:solidFill>
              <a:effectLst/>
              <a:uLnTx/>
              <a:uFillTx/>
              <a:latin typeface="Arial"/>
              <a:ea typeface="新細明體" panose="02020500000000000000" pitchFamily="18" charset="-120"/>
              <a:cs typeface="+mn-cs"/>
            </a:endParaRPr>
          </a:p>
        </p:txBody>
      </p:sp>
      <p:sp>
        <p:nvSpPr>
          <p:cNvPr id="6" name="Rectangle 2">
            <a:extLst>
              <a:ext uri="{FF2B5EF4-FFF2-40B4-BE49-F238E27FC236}">
                <a16:creationId xmlns:a16="http://schemas.microsoft.com/office/drawing/2014/main" id="{879E0712-1C5C-EE45-A93A-6502BD9F13CC}"/>
              </a:ext>
            </a:extLst>
          </p:cNvPr>
          <p:cNvSpPr>
            <a:spLocks noGrp="1" noChangeArrowheads="1"/>
          </p:cNvSpPr>
          <p:nvPr>
            <p:ph idx="1"/>
          </p:nvPr>
        </p:nvSpPr>
        <p:spPr bwMode="auto">
          <a:xfrm>
            <a:off x="1016000" y="2246481"/>
            <a:ext cx="10955606" cy="4611519"/>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RNN (Recurrent Neural Network)</a:t>
            </a:r>
            <a:r>
              <a:rPr kumimoji="0" lang="en-US" altLang="en-US" sz="1800" b="0" i="0" u="none" strike="noStrike" cap="none" normalizeH="0" baseline="0" dirty="0">
                <a:ln>
                  <a:noFill/>
                </a:ln>
                <a:solidFill>
                  <a:schemeClr val="tx1"/>
                </a:solidFill>
                <a:effectLst/>
                <a:latin typeface="Arial" panose="020B0604020202020204" pitchFamily="34" charset="0"/>
              </a:rPr>
              <a:t> – </a:t>
            </a:r>
            <a:r>
              <a:rPr kumimoji="0" lang="en-US" altLang="en-US" sz="1800" b="1" i="0" u="none" strike="noStrike" cap="none" normalizeH="0" baseline="0" dirty="0">
                <a:ln>
                  <a:noFill/>
                </a:ln>
                <a:solidFill>
                  <a:schemeClr val="tx1"/>
                </a:solidFill>
                <a:effectLst/>
                <a:latin typeface="Arial" panose="020B0604020202020204" pitchFamily="34" charset="0"/>
              </a:rPr>
              <a:t>1980s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1800" b="0" i="0" u="none" strike="noStrike" cap="none" normalizeH="0" baseline="0" dirty="0">
                <a:ln>
                  <a:noFill/>
                </a:ln>
                <a:solidFill>
                  <a:schemeClr val="tx1"/>
                </a:solidFill>
                <a:effectLst/>
                <a:latin typeface="Arial" panose="020B0604020202020204" pitchFamily="34" charset="0"/>
              </a:rPr>
              <a:t>Introduced as a way to process </a:t>
            </a:r>
            <a:r>
              <a:rPr kumimoji="0" lang="en-US" altLang="en-US" sz="1800" b="1" i="0" u="none" strike="noStrike" cap="none" normalizeH="0" baseline="0" dirty="0">
                <a:ln>
                  <a:noFill/>
                </a:ln>
                <a:solidFill>
                  <a:schemeClr val="tx1"/>
                </a:solidFill>
                <a:effectLst/>
                <a:latin typeface="Arial" panose="020B0604020202020204" pitchFamily="34" charset="0"/>
              </a:rPr>
              <a:t>sequential data</a:t>
            </a:r>
            <a:r>
              <a:rPr kumimoji="0" lang="en-US" altLang="en-US" sz="1800" b="0" i="0" u="none" strike="noStrike" cap="none" normalizeH="0" baseline="0" dirty="0">
                <a:ln>
                  <a:noFill/>
                </a:ln>
                <a:solidFill>
                  <a:schemeClr val="tx1"/>
                </a:solidFill>
                <a:effectLst/>
                <a:latin typeface="Arial" panose="020B0604020202020204" pitchFamily="34" charset="0"/>
              </a:rPr>
              <a:t> with feedback loops.</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1800" b="1" i="0" u="none" strike="noStrike" cap="none" normalizeH="0" baseline="0" dirty="0">
                <a:ln>
                  <a:noFill/>
                </a:ln>
                <a:solidFill>
                  <a:schemeClr val="tx1"/>
                </a:solidFill>
                <a:effectLst/>
                <a:latin typeface="Arial" panose="020B0604020202020204" pitchFamily="34" charset="0"/>
              </a:rPr>
              <a:t>Problem</a:t>
            </a:r>
            <a:r>
              <a:rPr kumimoji="0" lang="en-US" altLang="en-US" sz="1800" b="0" i="0" u="none" strike="noStrike" cap="none" normalizeH="0" baseline="0" dirty="0">
                <a:ln>
                  <a:noFill/>
                </a:ln>
                <a:solidFill>
                  <a:schemeClr val="tx1"/>
                </a:solidFill>
                <a:effectLst/>
                <a:latin typeface="Arial" panose="020B0604020202020204" pitchFamily="34" charset="0"/>
              </a:rPr>
              <a:t>: Struggles with </a:t>
            </a:r>
            <a:r>
              <a:rPr kumimoji="0" lang="en-US" altLang="en-US" sz="1800" b="1" i="0" u="none" strike="noStrike" cap="none" normalizeH="0" baseline="0" dirty="0">
                <a:ln>
                  <a:noFill/>
                </a:ln>
                <a:solidFill>
                  <a:srgbClr val="FF0000"/>
                </a:solidFill>
                <a:effectLst/>
                <a:latin typeface="Arial" panose="020B0604020202020204" pitchFamily="34" charset="0"/>
              </a:rPr>
              <a:t>long-term dependencies</a:t>
            </a:r>
            <a:r>
              <a:rPr kumimoji="0" lang="en-US" altLang="en-US" sz="1800" b="0" i="0" u="none" strike="noStrike" cap="none" normalizeH="0" baseline="0" dirty="0">
                <a:ln>
                  <a:noFill/>
                </a:ln>
                <a:solidFill>
                  <a:srgbClr val="FF0000"/>
                </a:solidFill>
                <a:effectLst/>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due to the </a:t>
            </a:r>
            <a:r>
              <a:rPr kumimoji="0" lang="en-US" altLang="en-US" sz="1800" b="1" i="0" u="none" strike="noStrike" cap="none" normalizeH="0" baseline="0" dirty="0">
                <a:ln>
                  <a:noFill/>
                </a:ln>
                <a:solidFill>
                  <a:srgbClr val="FF0000"/>
                </a:solidFill>
                <a:effectLst/>
                <a:latin typeface="Arial" panose="020B0604020202020204" pitchFamily="34" charset="0"/>
              </a:rPr>
              <a:t>vanishing gradient problem</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LSTM (Long Short-Term Memory)</a:t>
            </a:r>
            <a:r>
              <a:rPr kumimoji="0" lang="en-US" altLang="en-US" sz="1800" b="0" i="0" u="none" strike="noStrike" cap="none" normalizeH="0" baseline="0" dirty="0">
                <a:ln>
                  <a:noFill/>
                </a:ln>
                <a:solidFill>
                  <a:schemeClr val="tx1"/>
                </a:solidFill>
                <a:effectLst/>
                <a:latin typeface="Arial" panose="020B0604020202020204" pitchFamily="34" charset="0"/>
              </a:rPr>
              <a:t> – </a:t>
            </a:r>
            <a:r>
              <a:rPr kumimoji="0" lang="en-US" altLang="en-US" sz="1800" b="1" i="0" u="none" strike="noStrike" cap="none" normalizeH="0" baseline="0" dirty="0">
                <a:ln>
                  <a:noFill/>
                </a:ln>
                <a:solidFill>
                  <a:schemeClr val="tx1"/>
                </a:solidFill>
                <a:effectLst/>
                <a:latin typeface="Arial" panose="020B0604020202020204" pitchFamily="34" charset="0"/>
              </a:rPr>
              <a:t>1997</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1800" b="0" i="0" u="none" strike="noStrike" cap="none" normalizeH="0" baseline="0" dirty="0">
                <a:ln>
                  <a:noFill/>
                </a:ln>
                <a:solidFill>
                  <a:schemeClr val="tx1"/>
                </a:solidFill>
                <a:effectLst/>
                <a:latin typeface="Arial" panose="020B0604020202020204" pitchFamily="34" charset="0"/>
              </a:rPr>
              <a:t>Invented by </a:t>
            </a:r>
            <a:r>
              <a:rPr kumimoji="0" lang="en-US" altLang="en-US" sz="1800" b="1" i="0" u="none" strike="noStrike" cap="none" normalizeH="0" baseline="0" dirty="0">
                <a:ln>
                  <a:noFill/>
                </a:ln>
                <a:solidFill>
                  <a:schemeClr val="tx1"/>
                </a:solidFill>
                <a:effectLst/>
                <a:latin typeface="Arial" panose="020B0604020202020204" pitchFamily="34" charset="0"/>
              </a:rPr>
              <a:t>Sepp Hochreiter and Jürgen </a:t>
            </a:r>
            <a:r>
              <a:rPr kumimoji="0" lang="en-US" altLang="en-US" sz="1800" b="1" i="0" u="none" strike="noStrike" cap="none" normalizeH="0" baseline="0" dirty="0" err="1">
                <a:ln>
                  <a:noFill/>
                </a:ln>
                <a:solidFill>
                  <a:schemeClr val="tx1"/>
                </a:solidFill>
                <a:effectLst/>
                <a:latin typeface="Arial" panose="020B0604020202020204" pitchFamily="34" charset="0"/>
              </a:rPr>
              <a:t>Schmidhuber</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1800" b="1" i="0" u="none" strike="noStrike" cap="none" normalizeH="0" baseline="0" dirty="0">
                <a:ln>
                  <a:noFill/>
                </a:ln>
                <a:solidFill>
                  <a:srgbClr val="FF0000"/>
                </a:solidFill>
                <a:effectLst/>
                <a:latin typeface="Arial" panose="020B0604020202020204" pitchFamily="34" charset="0"/>
              </a:rPr>
              <a:t>Solves the vanishing gradient issue </a:t>
            </a:r>
            <a:r>
              <a:rPr kumimoji="0" lang="en-US" altLang="en-US" sz="1800" b="0" i="0" u="none" strike="noStrike" cap="none" normalizeH="0" baseline="0" dirty="0">
                <a:ln>
                  <a:noFill/>
                </a:ln>
                <a:solidFill>
                  <a:schemeClr val="tx1"/>
                </a:solidFill>
                <a:effectLst/>
                <a:latin typeface="Arial" panose="020B0604020202020204" pitchFamily="34" charset="0"/>
              </a:rPr>
              <a:t>using </a:t>
            </a:r>
            <a:r>
              <a:rPr kumimoji="0" lang="en-US" altLang="en-US" sz="1800" b="1" i="0" u="none" strike="noStrike" cap="none" normalizeH="0" baseline="0" dirty="0">
                <a:ln>
                  <a:noFill/>
                </a:ln>
                <a:solidFill>
                  <a:srgbClr val="FF0000"/>
                </a:solidFill>
                <a:effectLst/>
                <a:latin typeface="Arial" panose="020B0604020202020204" pitchFamily="34" charset="0"/>
              </a:rPr>
              <a:t>memory cells</a:t>
            </a:r>
            <a:r>
              <a:rPr kumimoji="0" lang="en-US" altLang="en-US" sz="1800" b="0" i="0" u="none" strike="noStrike" cap="none" normalizeH="0" baseline="0" dirty="0">
                <a:ln>
                  <a:noFill/>
                </a:ln>
                <a:solidFill>
                  <a:srgbClr val="FF0000"/>
                </a:solidFill>
                <a:effectLst/>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and </a:t>
            </a:r>
            <a:r>
              <a:rPr kumimoji="0" lang="en-US" altLang="en-US" sz="1800" b="1" i="0" u="none" strike="noStrike" cap="none" normalizeH="0" baseline="0" dirty="0">
                <a:ln>
                  <a:noFill/>
                </a:ln>
                <a:solidFill>
                  <a:srgbClr val="FF0000"/>
                </a:solidFill>
                <a:effectLst/>
                <a:latin typeface="Arial" panose="020B0604020202020204" pitchFamily="34" charset="0"/>
              </a:rPr>
              <a:t>gates</a:t>
            </a:r>
            <a:r>
              <a:rPr kumimoji="0" lang="en-US" altLang="en-US" sz="1800" b="0" i="0" u="none" strike="noStrike" cap="none" normalizeH="0" baseline="0" dirty="0">
                <a:ln>
                  <a:noFill/>
                </a:ln>
                <a:solidFill>
                  <a:srgbClr val="FF0000"/>
                </a:solidFill>
                <a:effectLst/>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input, forget, output).</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1800" b="0" i="0" u="none" strike="noStrike" cap="none" normalizeH="0" baseline="0" dirty="0">
                <a:ln>
                  <a:noFill/>
                </a:ln>
                <a:solidFill>
                  <a:schemeClr val="tx1"/>
                </a:solidFill>
                <a:effectLst/>
                <a:latin typeface="Arial" panose="020B0604020202020204" pitchFamily="34" charset="0"/>
              </a:rPr>
              <a:t>Became the dominant RNN variant for sequence tasks like language modeling and translation.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GRU (Gated Recurrent Unit)</a:t>
            </a:r>
            <a:r>
              <a:rPr kumimoji="0" lang="en-US" altLang="en-US" sz="1800" b="0" i="0" u="none" strike="noStrike" cap="none" normalizeH="0" baseline="0" dirty="0">
                <a:ln>
                  <a:noFill/>
                </a:ln>
                <a:solidFill>
                  <a:schemeClr val="tx1"/>
                </a:solidFill>
                <a:effectLst/>
                <a:latin typeface="Arial" panose="020B0604020202020204" pitchFamily="34" charset="0"/>
              </a:rPr>
              <a:t> – </a:t>
            </a:r>
            <a:r>
              <a:rPr kumimoji="0" lang="en-US" altLang="en-US" sz="1800" b="1" i="0" u="none" strike="noStrike" cap="none" normalizeH="0" baseline="0" dirty="0">
                <a:ln>
                  <a:noFill/>
                </a:ln>
                <a:solidFill>
                  <a:schemeClr val="tx1"/>
                </a:solidFill>
                <a:effectLst/>
                <a:latin typeface="Arial" panose="020B0604020202020204" pitchFamily="34" charset="0"/>
              </a:rPr>
              <a:t>2014</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1800" b="0" i="0" u="none" strike="noStrike" cap="none" normalizeH="0" baseline="0" dirty="0">
                <a:ln>
                  <a:noFill/>
                </a:ln>
                <a:solidFill>
                  <a:schemeClr val="tx1"/>
                </a:solidFill>
                <a:effectLst/>
                <a:latin typeface="Arial" panose="020B0604020202020204" pitchFamily="34" charset="0"/>
              </a:rPr>
              <a:t>Introduced by </a:t>
            </a:r>
            <a:r>
              <a:rPr kumimoji="0" lang="en-US" altLang="en-US" sz="1800" b="1" i="0" u="none" strike="noStrike" cap="none" normalizeH="0" baseline="0" dirty="0" err="1">
                <a:ln>
                  <a:noFill/>
                </a:ln>
                <a:solidFill>
                  <a:schemeClr val="tx1"/>
                </a:solidFill>
                <a:effectLst/>
                <a:latin typeface="Arial" panose="020B0604020202020204" pitchFamily="34" charset="0"/>
              </a:rPr>
              <a:t>Kyunghyun</a:t>
            </a:r>
            <a:r>
              <a:rPr kumimoji="0" lang="en-US" altLang="en-US" sz="1800" b="1" i="0" u="none" strike="noStrike" cap="none" normalizeH="0" baseline="0" dirty="0">
                <a:ln>
                  <a:noFill/>
                </a:ln>
                <a:solidFill>
                  <a:schemeClr val="tx1"/>
                </a:solidFill>
                <a:effectLst/>
                <a:latin typeface="Arial" panose="020B0604020202020204" pitchFamily="34" charset="0"/>
              </a:rPr>
              <a:t> Cho et al.</a:t>
            </a:r>
            <a:r>
              <a:rPr kumimoji="0" lang="en-US" altLang="en-US" sz="1800" b="0" i="0" u="none" strike="noStrike" cap="none" normalizeH="0" baseline="0" dirty="0">
                <a:ln>
                  <a:noFill/>
                </a:ln>
                <a:solidFill>
                  <a:schemeClr val="tx1"/>
                </a:solidFill>
                <a:effectLst/>
                <a:latin typeface="Arial" panose="020B0604020202020204" pitchFamily="34" charset="0"/>
              </a:rPr>
              <a:t> as a </a:t>
            </a:r>
            <a:r>
              <a:rPr kumimoji="0" lang="en-US" altLang="en-US" sz="1800" b="1" i="0" u="none" strike="noStrike" cap="none" normalizeH="0" baseline="0" dirty="0">
                <a:ln>
                  <a:noFill/>
                </a:ln>
                <a:solidFill>
                  <a:schemeClr val="tx1"/>
                </a:solidFill>
                <a:effectLst/>
                <a:latin typeface="Arial" panose="020B0604020202020204" pitchFamily="34" charset="0"/>
              </a:rPr>
              <a:t>simpler and faster alternative</a:t>
            </a:r>
            <a:r>
              <a:rPr kumimoji="0" lang="en-US" altLang="en-US" sz="1800" b="0" i="0" u="none" strike="noStrike" cap="none" normalizeH="0" baseline="0" dirty="0">
                <a:ln>
                  <a:noFill/>
                </a:ln>
                <a:solidFill>
                  <a:schemeClr val="tx1"/>
                </a:solidFill>
                <a:effectLst/>
                <a:latin typeface="Arial" panose="020B0604020202020204" pitchFamily="34" charset="0"/>
              </a:rPr>
              <a:t> to LSTM.</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1800" b="0" i="0" u="none" strike="noStrike" cap="none" normalizeH="0" baseline="0" dirty="0">
                <a:ln>
                  <a:noFill/>
                </a:ln>
                <a:solidFill>
                  <a:schemeClr val="tx1"/>
                </a:solidFill>
                <a:effectLst/>
                <a:latin typeface="Arial" panose="020B0604020202020204" pitchFamily="34" charset="0"/>
              </a:rPr>
              <a:t>Uses </a:t>
            </a:r>
            <a:r>
              <a:rPr kumimoji="0" lang="en-US" altLang="en-US" sz="1800" b="1" i="0" u="none" strike="noStrike" cap="none" normalizeH="0" baseline="0" dirty="0">
                <a:ln>
                  <a:noFill/>
                </a:ln>
                <a:solidFill>
                  <a:srgbClr val="FF0000"/>
                </a:solidFill>
                <a:effectLst/>
                <a:latin typeface="Arial" panose="020B0604020202020204" pitchFamily="34" charset="0"/>
              </a:rPr>
              <a:t>fewer gates </a:t>
            </a:r>
            <a:r>
              <a:rPr kumimoji="0" lang="en-US" altLang="en-US" sz="1800" b="0" i="0" u="none" strike="noStrike" cap="none" normalizeH="0" baseline="0" dirty="0">
                <a:ln>
                  <a:noFill/>
                </a:ln>
                <a:solidFill>
                  <a:schemeClr val="tx1"/>
                </a:solidFill>
                <a:effectLst/>
                <a:latin typeface="Arial" panose="020B0604020202020204" pitchFamily="34" charset="0"/>
              </a:rPr>
              <a:t>(reset and update) but often achieves similar performance.</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1800" b="0" i="0" u="none" strike="noStrike" cap="none" normalizeH="0" baseline="0" dirty="0">
                <a:ln>
                  <a:noFill/>
                </a:ln>
                <a:solidFill>
                  <a:schemeClr val="tx1"/>
                </a:solidFill>
                <a:effectLst/>
                <a:latin typeface="Arial" panose="020B0604020202020204" pitchFamily="34" charset="0"/>
              </a:rPr>
              <a:t>Became </a:t>
            </a:r>
            <a:r>
              <a:rPr kumimoji="0" lang="en-US" altLang="en-US" sz="1800" b="1" i="0" u="none" strike="noStrike" cap="none" normalizeH="0" baseline="0" dirty="0">
                <a:ln>
                  <a:noFill/>
                </a:ln>
                <a:solidFill>
                  <a:srgbClr val="FF0000"/>
                </a:solidFill>
                <a:effectLst/>
                <a:latin typeface="Arial" panose="020B0604020202020204" pitchFamily="34" charset="0"/>
              </a:rPr>
              <a:t>popular f</a:t>
            </a:r>
            <a:r>
              <a:rPr kumimoji="0" lang="en-US" altLang="en-US" sz="1800" b="0" i="0" u="none" strike="noStrike" cap="none" normalizeH="0" baseline="0" dirty="0">
                <a:ln>
                  <a:noFill/>
                </a:ln>
                <a:solidFill>
                  <a:srgbClr val="FF0000"/>
                </a:solidFill>
                <a:effectLst/>
                <a:latin typeface="Arial" panose="020B0604020202020204" pitchFamily="34" charset="0"/>
              </a:rPr>
              <a:t>or </a:t>
            </a:r>
            <a:r>
              <a:rPr kumimoji="0" lang="en-US" altLang="en-US" sz="1800" b="1" i="0" u="none" strike="noStrike" cap="none" normalizeH="0" baseline="0" dirty="0">
                <a:ln>
                  <a:noFill/>
                </a:ln>
                <a:solidFill>
                  <a:srgbClr val="FF0000"/>
                </a:solidFill>
                <a:effectLst/>
                <a:latin typeface="Arial" panose="020B0604020202020204" pitchFamily="34" charset="0"/>
              </a:rPr>
              <a:t>its balance of performance and computational efficiency.</a:t>
            </a:r>
          </a:p>
        </p:txBody>
      </p:sp>
      <p:sp>
        <p:nvSpPr>
          <p:cNvPr id="5" name="TextBox 4">
            <a:extLst>
              <a:ext uri="{FF2B5EF4-FFF2-40B4-BE49-F238E27FC236}">
                <a16:creationId xmlns:a16="http://schemas.microsoft.com/office/drawing/2014/main" id="{DB50B803-12B1-422B-5BE7-16559B703892}"/>
              </a:ext>
            </a:extLst>
          </p:cNvPr>
          <p:cNvSpPr txBox="1"/>
          <p:nvPr/>
        </p:nvSpPr>
        <p:spPr>
          <a:xfrm>
            <a:off x="2556935" y="-1"/>
            <a:ext cx="9635065" cy="338554"/>
          </a:xfrm>
          <a:prstGeom prst="rect">
            <a:avLst/>
          </a:prstGeom>
          <a:noFill/>
          <a:ln>
            <a:solidFill>
              <a:schemeClr val="tx1"/>
            </a:solidFill>
          </a:ln>
        </p:spPr>
        <p:txBody>
          <a:bodyPr wrap="square">
            <a:spAutoFit/>
          </a:bodyPr>
          <a:lstStyle/>
          <a:p>
            <a:r>
              <a:rPr lang="en-IN" sz="1600" dirty="0"/>
              <a:t>https://ravjot03.medium.com/gru-explained-the-simplified-rnn-solution-for-sequential-data-c706d0d149c5</a:t>
            </a:r>
          </a:p>
        </p:txBody>
      </p:sp>
    </p:spTree>
    <p:extLst>
      <p:ext uri="{BB962C8B-B14F-4D97-AF65-F5344CB8AC3E}">
        <p14:creationId xmlns:p14="http://schemas.microsoft.com/office/powerpoint/2010/main" val="165028409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DC03F-93D7-59A3-FEF3-7F76DB2888D6}"/>
              </a:ext>
            </a:extLst>
          </p:cNvPr>
          <p:cNvSpPr>
            <a:spLocks noGrp="1"/>
          </p:cNvSpPr>
          <p:nvPr>
            <p:ph type="title"/>
          </p:nvPr>
        </p:nvSpPr>
        <p:spPr>
          <a:xfrm>
            <a:off x="1016000" y="762000"/>
            <a:ext cx="5080000" cy="1143000"/>
          </a:xfrm>
        </p:spPr>
        <p:txBody>
          <a:bodyPr/>
          <a:lstStyle/>
          <a:p>
            <a:r>
              <a:rPr lang="en-IN" dirty="0"/>
              <a:t>RNN, LSTM and GRU</a:t>
            </a:r>
          </a:p>
        </p:txBody>
      </p:sp>
      <p:pic>
        <p:nvPicPr>
          <p:cNvPr id="5" name="Content Placeholder 4">
            <a:extLst>
              <a:ext uri="{FF2B5EF4-FFF2-40B4-BE49-F238E27FC236}">
                <a16:creationId xmlns:a16="http://schemas.microsoft.com/office/drawing/2014/main" id="{8364F0DC-AB61-F459-298E-050DEC0DD538}"/>
              </a:ext>
            </a:extLst>
          </p:cNvPr>
          <p:cNvPicPr>
            <a:picLocks noGrp="1" noChangeAspect="1"/>
          </p:cNvPicPr>
          <p:nvPr>
            <p:ph idx="1"/>
          </p:nvPr>
        </p:nvPicPr>
        <p:blipFill>
          <a:blip r:embed="rId2"/>
          <a:stretch>
            <a:fillRect/>
          </a:stretch>
        </p:blipFill>
        <p:spPr>
          <a:xfrm>
            <a:off x="112184" y="2138766"/>
            <a:ext cx="12079816" cy="4719234"/>
          </a:xfrm>
          <a:prstGeom prst="rect">
            <a:avLst/>
          </a:prstGeom>
        </p:spPr>
      </p:pic>
      <p:sp>
        <p:nvSpPr>
          <p:cNvPr id="4" name="Slide Number Placeholder 3">
            <a:extLst>
              <a:ext uri="{FF2B5EF4-FFF2-40B4-BE49-F238E27FC236}">
                <a16:creationId xmlns:a16="http://schemas.microsoft.com/office/drawing/2014/main" id="{B0244CC2-05A7-9157-5852-918793ADA3F3}"/>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AD681D7-8A59-4380-9311-10B86FF921AA}" type="slidenum">
              <a:rPr kumimoji="0" lang="en-US" altLang="zh-TW" sz="2600" b="1" i="0" u="none" strike="noStrike" kern="1200" cap="none" spc="0" normalizeH="0" baseline="0" noProof="0" smtClean="0">
                <a:ln>
                  <a:noFill/>
                </a:ln>
                <a:solidFill>
                  <a:srgbClr val="FFFFFF"/>
                </a:solidFill>
                <a:effectLst/>
                <a:uLnTx/>
                <a:uFillTx/>
                <a:latin typeface="Arial"/>
                <a:ea typeface="新細明體" panose="02020500000000000000" pitchFamily="18" charset="-120"/>
                <a:cs typeface="+mn-cs"/>
              </a:rPr>
              <a:pPr marL="0" marR="0" lvl="0" indent="0" algn="l" defTabSz="914400" rtl="0" eaLnBrk="1" fontAlgn="auto" latinLnBrk="0" hangingPunct="1">
                <a:lnSpc>
                  <a:spcPct val="100000"/>
                </a:lnSpc>
                <a:spcBef>
                  <a:spcPts val="0"/>
                </a:spcBef>
                <a:spcAft>
                  <a:spcPts val="0"/>
                </a:spcAft>
                <a:buClrTx/>
                <a:buSzTx/>
                <a:buFontTx/>
                <a:buNone/>
                <a:tabLst/>
                <a:defRPr/>
              </a:pPr>
              <a:t>48</a:t>
            </a:fld>
            <a:endParaRPr kumimoji="0" lang="en-US" altLang="zh-TW" sz="2600" b="1" i="0" u="none" strike="noStrike" kern="1200" cap="none" spc="0" normalizeH="0" baseline="0" noProof="0">
              <a:ln>
                <a:noFill/>
              </a:ln>
              <a:solidFill>
                <a:srgbClr val="FFFFFF"/>
              </a:solidFill>
              <a:effectLst/>
              <a:uLnTx/>
              <a:uFillTx/>
              <a:latin typeface="Arial"/>
              <a:ea typeface="新細明體" panose="02020500000000000000" pitchFamily="18" charset="-120"/>
              <a:cs typeface="+mn-cs"/>
            </a:endParaRPr>
          </a:p>
        </p:txBody>
      </p:sp>
      <p:pic>
        <p:nvPicPr>
          <p:cNvPr id="3" name="Picture 2">
            <a:extLst>
              <a:ext uri="{FF2B5EF4-FFF2-40B4-BE49-F238E27FC236}">
                <a16:creationId xmlns:a16="http://schemas.microsoft.com/office/drawing/2014/main" id="{CF7AA752-92EA-ABBF-4444-E2964B312DB3}"/>
              </a:ext>
            </a:extLst>
          </p:cNvPr>
          <p:cNvPicPr>
            <a:picLocks noChangeAspect="1"/>
          </p:cNvPicPr>
          <p:nvPr/>
        </p:nvPicPr>
        <p:blipFill>
          <a:blip r:embed="rId3"/>
          <a:stretch>
            <a:fillRect/>
          </a:stretch>
        </p:blipFill>
        <p:spPr>
          <a:xfrm>
            <a:off x="8730712" y="0"/>
            <a:ext cx="3461288" cy="2138766"/>
          </a:xfrm>
          <a:prstGeom prst="rect">
            <a:avLst/>
          </a:prstGeom>
          <a:ln>
            <a:solidFill>
              <a:srgbClr val="1D1D1D"/>
            </a:solidFill>
          </a:ln>
        </p:spPr>
      </p:pic>
      <p:sp>
        <p:nvSpPr>
          <p:cNvPr id="6" name="TextBox 5">
            <a:extLst>
              <a:ext uri="{FF2B5EF4-FFF2-40B4-BE49-F238E27FC236}">
                <a16:creationId xmlns:a16="http://schemas.microsoft.com/office/drawing/2014/main" id="{E9908186-FA88-E9FC-056F-17DAC3F58FC1}"/>
              </a:ext>
            </a:extLst>
          </p:cNvPr>
          <p:cNvSpPr txBox="1"/>
          <p:nvPr/>
        </p:nvSpPr>
        <p:spPr>
          <a:xfrm>
            <a:off x="7212348" y="0"/>
            <a:ext cx="1518364" cy="369332"/>
          </a:xfrm>
          <a:prstGeom prst="rect">
            <a:avLst/>
          </a:prstGeom>
          <a:noFill/>
          <a:ln>
            <a:solidFill>
              <a:srgbClr val="000000"/>
            </a:solidFill>
          </a:ln>
        </p:spPr>
        <p:txBody>
          <a:bodyPr wrap="none" rtlCol="0">
            <a:spAutoFit/>
          </a:bodyPr>
          <a:lstStyle/>
          <a:p>
            <a:r>
              <a:rPr lang="en-IN" b="1" dirty="0"/>
              <a:t>Simple GRU</a:t>
            </a:r>
          </a:p>
        </p:txBody>
      </p:sp>
      <p:sp>
        <p:nvSpPr>
          <p:cNvPr id="8" name="TextBox 7">
            <a:extLst>
              <a:ext uri="{FF2B5EF4-FFF2-40B4-BE49-F238E27FC236}">
                <a16:creationId xmlns:a16="http://schemas.microsoft.com/office/drawing/2014/main" id="{B2A18513-202A-CD9A-1F54-88FA844038EA}"/>
              </a:ext>
            </a:extLst>
          </p:cNvPr>
          <p:cNvSpPr txBox="1"/>
          <p:nvPr/>
        </p:nvSpPr>
        <p:spPr>
          <a:xfrm>
            <a:off x="8010002" y="2372532"/>
            <a:ext cx="1441420" cy="369332"/>
          </a:xfrm>
          <a:prstGeom prst="rect">
            <a:avLst/>
          </a:prstGeom>
          <a:noFill/>
          <a:ln>
            <a:solidFill>
              <a:srgbClr val="000000"/>
            </a:solidFill>
          </a:ln>
        </p:spPr>
        <p:txBody>
          <a:bodyPr wrap="none" rtlCol="0">
            <a:spAutoFit/>
          </a:bodyPr>
          <a:lstStyle/>
          <a:p>
            <a:r>
              <a:rPr lang="en-IN" b="1" dirty="0"/>
              <a:t>Fully Gated</a:t>
            </a:r>
          </a:p>
        </p:txBody>
      </p:sp>
      <p:sp>
        <p:nvSpPr>
          <p:cNvPr id="9" name="TextBox 8">
            <a:extLst>
              <a:ext uri="{FF2B5EF4-FFF2-40B4-BE49-F238E27FC236}">
                <a16:creationId xmlns:a16="http://schemas.microsoft.com/office/drawing/2014/main" id="{E2B1992A-C0FF-F908-987F-7E49B30641F0}"/>
              </a:ext>
            </a:extLst>
          </p:cNvPr>
          <p:cNvSpPr txBox="1"/>
          <p:nvPr/>
        </p:nvSpPr>
        <p:spPr>
          <a:xfrm>
            <a:off x="6254798" y="665871"/>
            <a:ext cx="2475914" cy="73866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err="1">
                <a:ln>
                  <a:noFill/>
                </a:ln>
                <a:solidFill>
                  <a:srgbClr val="003366"/>
                </a:solidFill>
                <a:effectLst/>
                <a:uLnTx/>
                <a:uFillTx/>
                <a:latin typeface="Arial"/>
                <a:ea typeface="新細明體"/>
                <a:cs typeface="+mn-cs"/>
              </a:rPr>
              <a:t>Zt</a:t>
            </a:r>
            <a:r>
              <a:rPr kumimoji="0" lang="en-IN" sz="1400" b="0" i="0" u="none" strike="noStrike" kern="1200" cap="none" spc="0" normalizeH="0" baseline="0" noProof="0" dirty="0">
                <a:ln>
                  <a:noFill/>
                </a:ln>
                <a:solidFill>
                  <a:srgbClr val="003366"/>
                </a:solidFill>
                <a:effectLst/>
                <a:uLnTx/>
                <a:uFillTx/>
                <a:latin typeface="Arial"/>
                <a:ea typeface="新細明體"/>
                <a:cs typeface="+mn-cs"/>
              </a:rPr>
              <a:t> = </a:t>
            </a:r>
            <a:r>
              <a:rPr kumimoji="0" lang="el-GR" sz="1400" b="0" i="0" u="none" strike="noStrike" kern="1200" cap="none" spc="0" normalizeH="0" baseline="0" noProof="0" dirty="0">
                <a:ln>
                  <a:noFill/>
                </a:ln>
                <a:solidFill>
                  <a:srgbClr val="003366"/>
                </a:solidFill>
                <a:effectLst/>
                <a:uLnTx/>
                <a:uFillTx/>
                <a:latin typeface="Arial"/>
                <a:ea typeface="新細明體"/>
                <a:cs typeface="+mn-cs"/>
              </a:rPr>
              <a:t>σ</a:t>
            </a:r>
            <a:r>
              <a:rPr kumimoji="0" lang="en-IN" sz="1400" b="0" i="0" u="none" strike="noStrike" kern="1200" cap="none" spc="0" normalizeH="0" baseline="0" noProof="0" dirty="0">
                <a:ln>
                  <a:noFill/>
                </a:ln>
                <a:solidFill>
                  <a:srgbClr val="003366"/>
                </a:solidFill>
                <a:effectLst/>
                <a:uLnTx/>
                <a:uFillTx/>
                <a:latin typeface="Arial"/>
                <a:ea typeface="新細明體"/>
                <a:cs typeface="+mn-cs"/>
              </a:rPr>
              <a:t> </a:t>
            </a:r>
            <a:r>
              <a:rPr kumimoji="0" lang="el-GR" sz="1400" b="0" i="0" u="none" strike="noStrike" kern="1200" cap="none" spc="0" normalizeH="0" baseline="0" noProof="0" dirty="0">
                <a:ln>
                  <a:noFill/>
                </a:ln>
                <a:solidFill>
                  <a:srgbClr val="003366"/>
                </a:solidFill>
                <a:effectLst/>
                <a:uLnTx/>
                <a:uFillTx/>
                <a:latin typeface="Arial"/>
                <a:ea typeface="新細明體"/>
                <a:cs typeface="+mn-cs"/>
              </a:rPr>
              <a:t>(</a:t>
            </a:r>
            <a:r>
              <a:rPr kumimoji="0" lang="en-IN" sz="1400" b="0" i="0" u="none" strike="noStrike" kern="1200" cap="none" spc="0" normalizeH="0" baseline="0" noProof="0" dirty="0" err="1">
                <a:ln>
                  <a:noFill/>
                </a:ln>
                <a:solidFill>
                  <a:srgbClr val="003366"/>
                </a:solidFill>
                <a:effectLst/>
                <a:uLnTx/>
                <a:uFillTx/>
                <a:latin typeface="Arial"/>
                <a:ea typeface="新細明體"/>
                <a:cs typeface="+mn-cs"/>
              </a:rPr>
              <a:t>Wz</a:t>
            </a:r>
            <a:r>
              <a:rPr kumimoji="0" lang="en-IN" sz="1400" b="0" i="0" u="none" strike="noStrike" kern="1200" cap="none" spc="0" normalizeH="0" baseline="0" noProof="0" dirty="0">
                <a:ln>
                  <a:noFill/>
                </a:ln>
                <a:solidFill>
                  <a:srgbClr val="003366"/>
                </a:solidFill>
                <a:effectLst/>
                <a:uLnTx/>
                <a:uFillTx/>
                <a:latin typeface="Arial"/>
                <a:ea typeface="新細明體"/>
                <a:cs typeface="+mn-cs"/>
              </a:rPr>
              <a:t> </a:t>
            </a:r>
            <a:r>
              <a:rPr kumimoji="0" lang="en-IN" sz="1400" b="0" i="0" u="none" strike="noStrike" kern="1200" cap="none" spc="0" normalizeH="0" baseline="0" noProof="0" dirty="0" err="1">
                <a:ln>
                  <a:noFill/>
                </a:ln>
                <a:solidFill>
                  <a:srgbClr val="003366"/>
                </a:solidFill>
                <a:effectLst/>
                <a:uLnTx/>
                <a:uFillTx/>
                <a:latin typeface="Arial"/>
                <a:ea typeface="新細明體"/>
                <a:cs typeface="+mn-cs"/>
              </a:rPr>
              <a:t>xt</a:t>
            </a:r>
            <a:r>
              <a:rPr kumimoji="0" lang="en-IN" sz="1400" b="0" i="0" u="none" strike="noStrike" kern="1200" cap="none" spc="0" normalizeH="0" baseline="0" noProof="0" dirty="0">
                <a:ln>
                  <a:noFill/>
                </a:ln>
                <a:solidFill>
                  <a:srgbClr val="003366"/>
                </a:solidFill>
                <a:effectLst/>
                <a:uLnTx/>
                <a:uFillTx/>
                <a:latin typeface="Arial"/>
                <a:ea typeface="新細明體"/>
                <a:cs typeface="+mn-cs"/>
              </a:rPr>
              <a:t> + Uz ht−1) </a:t>
            </a:r>
            <a:br>
              <a:rPr kumimoji="0" lang="en-IN" sz="1400" b="0" i="0" u="none" strike="noStrike" kern="1200" cap="none" spc="0" normalizeH="0" baseline="0" noProof="0" dirty="0">
                <a:ln>
                  <a:noFill/>
                </a:ln>
                <a:solidFill>
                  <a:srgbClr val="003366"/>
                </a:solidFill>
                <a:effectLst/>
                <a:uLnTx/>
                <a:uFillTx/>
                <a:latin typeface="Arial"/>
                <a:ea typeface="新細明體"/>
                <a:cs typeface="+mn-cs"/>
              </a:rPr>
            </a:br>
            <a:r>
              <a:rPr kumimoji="0" lang="en-IN" sz="1400" b="0" i="0" u="none" strike="noStrike" kern="1200" cap="none" spc="0" normalizeH="0" baseline="0" noProof="0" dirty="0" err="1">
                <a:ln>
                  <a:noFill/>
                </a:ln>
                <a:solidFill>
                  <a:srgbClr val="003366"/>
                </a:solidFill>
                <a:effectLst/>
                <a:uLnTx/>
                <a:uFillTx/>
                <a:latin typeface="Arial"/>
                <a:ea typeface="新細明體"/>
                <a:cs typeface="+mn-cs"/>
              </a:rPr>
              <a:t>h~t</a:t>
            </a:r>
            <a:r>
              <a:rPr kumimoji="0" lang="en-IN" sz="1400" b="0" i="0" u="none" strike="noStrike" kern="1200" cap="none" spc="0" normalizeH="0" baseline="0" noProof="0" dirty="0">
                <a:ln>
                  <a:noFill/>
                </a:ln>
                <a:solidFill>
                  <a:srgbClr val="003366"/>
                </a:solidFill>
                <a:effectLst/>
                <a:uLnTx/>
                <a:uFillTx/>
                <a:latin typeface="Arial"/>
                <a:ea typeface="新細明體"/>
                <a:cs typeface="+mn-cs"/>
              </a:rPr>
              <a:t> = tanh ⁡(</a:t>
            </a:r>
            <a:r>
              <a:rPr kumimoji="0" lang="en-IN" sz="1400" b="0" i="0" u="none" strike="noStrike" kern="1200" cap="none" spc="0" normalizeH="0" baseline="0" noProof="0" dirty="0" err="1">
                <a:ln>
                  <a:noFill/>
                </a:ln>
                <a:solidFill>
                  <a:srgbClr val="003366"/>
                </a:solidFill>
                <a:effectLst/>
                <a:uLnTx/>
                <a:uFillTx/>
                <a:latin typeface="Arial"/>
                <a:ea typeface="新細明體"/>
                <a:cs typeface="+mn-cs"/>
              </a:rPr>
              <a:t>Wh</a:t>
            </a:r>
            <a:r>
              <a:rPr kumimoji="0" lang="en-IN" sz="1400" b="0" i="0" u="none" strike="noStrike" kern="1200" cap="none" spc="0" normalizeH="0" baseline="0" noProof="0" dirty="0">
                <a:ln>
                  <a:noFill/>
                </a:ln>
                <a:solidFill>
                  <a:srgbClr val="003366"/>
                </a:solidFill>
                <a:effectLst/>
                <a:uLnTx/>
                <a:uFillTx/>
                <a:latin typeface="Arial"/>
                <a:ea typeface="新細明體"/>
                <a:cs typeface="+mn-cs"/>
              </a:rPr>
              <a:t> </a:t>
            </a:r>
            <a:r>
              <a:rPr kumimoji="0" lang="en-IN" sz="1400" b="0" i="0" u="none" strike="noStrike" kern="1200" cap="none" spc="0" normalizeH="0" baseline="0" noProof="0" dirty="0" err="1">
                <a:ln>
                  <a:noFill/>
                </a:ln>
                <a:solidFill>
                  <a:srgbClr val="003366"/>
                </a:solidFill>
                <a:effectLst/>
                <a:uLnTx/>
                <a:uFillTx/>
                <a:latin typeface="Arial"/>
                <a:ea typeface="新細明體"/>
                <a:cs typeface="+mn-cs"/>
              </a:rPr>
              <a:t>xt</a:t>
            </a:r>
            <a:r>
              <a:rPr kumimoji="0" lang="en-IN" sz="1400" b="0" i="0" u="none" strike="noStrike" kern="1200" cap="none" spc="0" normalizeH="0" baseline="0" noProof="0" dirty="0">
                <a:ln>
                  <a:noFill/>
                </a:ln>
                <a:solidFill>
                  <a:srgbClr val="003366"/>
                </a:solidFill>
                <a:effectLst/>
                <a:uLnTx/>
                <a:uFillTx/>
                <a:latin typeface="Arial"/>
                <a:ea typeface="新細明體"/>
                <a:cs typeface="+mn-cs"/>
              </a:rPr>
              <a:t> + Uh ht−1) </a:t>
            </a:r>
            <a:br>
              <a:rPr kumimoji="0" lang="en-IN" sz="1400" b="0" i="0" u="none" strike="noStrike" kern="1200" cap="none" spc="0" normalizeH="0" baseline="0" noProof="0" dirty="0">
                <a:ln>
                  <a:noFill/>
                </a:ln>
                <a:solidFill>
                  <a:srgbClr val="003366"/>
                </a:solidFill>
                <a:effectLst/>
                <a:uLnTx/>
                <a:uFillTx/>
                <a:latin typeface="Arial"/>
                <a:ea typeface="新細明體"/>
                <a:cs typeface="+mn-cs"/>
              </a:rPr>
            </a:br>
            <a:r>
              <a:rPr kumimoji="0" lang="en-IN" sz="1400" b="0" i="0" u="none" strike="noStrike" kern="1200" cap="none" spc="0" normalizeH="0" baseline="0" noProof="0" dirty="0" err="1">
                <a:ln>
                  <a:noFill/>
                </a:ln>
                <a:solidFill>
                  <a:srgbClr val="003366"/>
                </a:solidFill>
                <a:effectLst/>
                <a:uLnTx/>
                <a:uFillTx/>
                <a:latin typeface="Arial"/>
                <a:ea typeface="新細明體"/>
                <a:cs typeface="+mn-cs"/>
              </a:rPr>
              <a:t>ht</a:t>
            </a:r>
            <a:r>
              <a:rPr kumimoji="0" lang="en-IN" sz="1400" b="0" i="0" u="none" strike="noStrike" kern="1200" cap="none" spc="0" normalizeH="0" baseline="0" noProof="0" dirty="0">
                <a:ln>
                  <a:noFill/>
                </a:ln>
                <a:solidFill>
                  <a:srgbClr val="003366"/>
                </a:solidFill>
                <a:effectLst/>
                <a:uLnTx/>
                <a:uFillTx/>
                <a:latin typeface="Arial"/>
                <a:ea typeface="新細明體"/>
                <a:cs typeface="+mn-cs"/>
              </a:rPr>
              <a:t> = (1−zt) ht−1 + </a:t>
            </a:r>
            <a:r>
              <a:rPr kumimoji="0" lang="en-IN" sz="1400" b="0" i="0" u="none" strike="noStrike" kern="1200" cap="none" spc="0" normalizeH="0" baseline="0" noProof="0" dirty="0" err="1">
                <a:ln>
                  <a:noFill/>
                </a:ln>
                <a:solidFill>
                  <a:srgbClr val="003366"/>
                </a:solidFill>
                <a:effectLst/>
                <a:uLnTx/>
                <a:uFillTx/>
                <a:latin typeface="Arial"/>
                <a:ea typeface="新細明體"/>
                <a:cs typeface="+mn-cs"/>
              </a:rPr>
              <a:t>zt</a:t>
            </a:r>
            <a:r>
              <a:rPr kumimoji="0" lang="en-IN" sz="1400" b="0" i="0" u="none" strike="noStrike" kern="1200" cap="none" spc="0" normalizeH="0" baseline="0" noProof="0" dirty="0">
                <a:ln>
                  <a:noFill/>
                </a:ln>
                <a:solidFill>
                  <a:srgbClr val="003366"/>
                </a:solidFill>
                <a:effectLst/>
                <a:uLnTx/>
                <a:uFillTx/>
                <a:latin typeface="Arial"/>
                <a:ea typeface="新細明體"/>
                <a:cs typeface="+mn-cs"/>
              </a:rPr>
              <a:t> </a:t>
            </a:r>
            <a:r>
              <a:rPr kumimoji="0" lang="en-IN" sz="1400" b="0" i="0" u="none" strike="noStrike" kern="1200" cap="none" spc="0" normalizeH="0" baseline="0" noProof="0" dirty="0" err="1">
                <a:ln>
                  <a:noFill/>
                </a:ln>
                <a:solidFill>
                  <a:srgbClr val="003366"/>
                </a:solidFill>
                <a:effectLst/>
                <a:uLnTx/>
                <a:uFillTx/>
                <a:latin typeface="Arial"/>
                <a:ea typeface="新細明體"/>
                <a:cs typeface="+mn-cs"/>
              </a:rPr>
              <a:t>h~t</a:t>
            </a:r>
            <a:r>
              <a:rPr kumimoji="0" lang="en-IN" sz="1400" b="0" i="0" u="none" strike="noStrike" kern="1200" cap="none" spc="0" normalizeH="0" baseline="0" noProof="0" dirty="0">
                <a:ln>
                  <a:noFill/>
                </a:ln>
                <a:solidFill>
                  <a:srgbClr val="003366"/>
                </a:solidFill>
                <a:effectLst/>
                <a:uLnTx/>
                <a:uFillTx/>
                <a:latin typeface="Arial"/>
                <a:ea typeface="新細明體"/>
                <a:cs typeface="+mn-cs"/>
              </a:rPr>
              <a:t>​</a:t>
            </a:r>
          </a:p>
        </p:txBody>
      </p:sp>
    </p:spTree>
    <p:extLst>
      <p:ext uri="{BB962C8B-B14F-4D97-AF65-F5344CB8AC3E}">
        <p14:creationId xmlns:p14="http://schemas.microsoft.com/office/powerpoint/2010/main" val="238095715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771AF-00E3-A8C9-06F8-E69251A4969D}"/>
              </a:ext>
            </a:extLst>
          </p:cNvPr>
          <p:cNvSpPr>
            <a:spLocks noGrp="1"/>
          </p:cNvSpPr>
          <p:nvPr>
            <p:ph type="title"/>
          </p:nvPr>
        </p:nvSpPr>
        <p:spPr/>
        <p:txBody>
          <a:bodyPr/>
          <a:lstStyle/>
          <a:p>
            <a:r>
              <a:rPr lang="en-IN" dirty="0"/>
              <a:t>Simple GRU</a:t>
            </a:r>
          </a:p>
        </p:txBody>
      </p:sp>
      <p:sp>
        <p:nvSpPr>
          <p:cNvPr id="4" name="Slide Number Placeholder 3">
            <a:extLst>
              <a:ext uri="{FF2B5EF4-FFF2-40B4-BE49-F238E27FC236}">
                <a16:creationId xmlns:a16="http://schemas.microsoft.com/office/drawing/2014/main" id="{B7E7B294-893E-1EF1-F2CF-E67FF6DB5E57}"/>
              </a:ext>
            </a:extLst>
          </p:cNvPr>
          <p:cNvSpPr>
            <a:spLocks noGrp="1"/>
          </p:cNvSpPr>
          <p:nvPr>
            <p:ph type="sldNum" sz="quarter" idx="12"/>
          </p:nvPr>
        </p:nvSpPr>
        <p:spPr/>
        <p:txBody>
          <a:bodyPr/>
          <a:lstStyle/>
          <a:p>
            <a:pPr>
              <a:defRPr/>
            </a:pPr>
            <a:fld id="{9AD681D7-8A59-4380-9311-10B86FF921AA}" type="slidenum">
              <a:rPr lang="en-US" altLang="zh-TW" smtClean="0"/>
              <a:pPr>
                <a:defRPr/>
              </a:pPr>
              <a:t>49</a:t>
            </a:fld>
            <a:endParaRPr lang="en-US" altLang="zh-TW"/>
          </a:p>
        </p:txBody>
      </p:sp>
      <p:pic>
        <p:nvPicPr>
          <p:cNvPr id="1026" name="Picture 2">
            <a:extLst>
              <a:ext uri="{FF2B5EF4-FFF2-40B4-BE49-F238E27FC236}">
                <a16:creationId xmlns:a16="http://schemas.microsoft.com/office/drawing/2014/main" id="{6AD82678-6C56-C0DC-5C81-8C5834A23585}"/>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46568" b="24642"/>
          <a:stretch>
            <a:fillRect/>
          </a:stretch>
        </p:blipFill>
        <p:spPr bwMode="auto">
          <a:xfrm>
            <a:off x="1952739" y="2602305"/>
            <a:ext cx="3010486" cy="2870028"/>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Arrow Connector 7">
            <a:extLst>
              <a:ext uri="{FF2B5EF4-FFF2-40B4-BE49-F238E27FC236}">
                <a16:creationId xmlns:a16="http://schemas.microsoft.com/office/drawing/2014/main" id="{0E8C0BA3-B281-00B1-9FD0-E1EF55C91993}"/>
              </a:ext>
            </a:extLst>
          </p:cNvPr>
          <p:cNvCxnSpPr>
            <a:cxnSpLocks/>
          </p:cNvCxnSpPr>
          <p:nvPr/>
        </p:nvCxnSpPr>
        <p:spPr bwMode="auto">
          <a:xfrm>
            <a:off x="1496873" y="5430130"/>
            <a:ext cx="2028777" cy="28136"/>
          </a:xfrm>
          <a:prstGeom prst="straightConnector1">
            <a:avLst/>
          </a:prstGeom>
          <a:ln w="60325">
            <a:solidFill>
              <a:srgbClr val="000000"/>
            </a:solidFill>
            <a:headEnd type="none" w="med" len="med"/>
            <a:tailEnd type="triangle"/>
          </a:ln>
        </p:spPr>
        <p:style>
          <a:lnRef idx="3">
            <a:schemeClr val="dk1"/>
          </a:lnRef>
          <a:fillRef idx="0">
            <a:schemeClr val="dk1"/>
          </a:fillRef>
          <a:effectRef idx="2">
            <a:schemeClr val="dk1"/>
          </a:effectRef>
          <a:fontRef idx="minor">
            <a:schemeClr val="tx1"/>
          </a:fontRef>
        </p:style>
      </p:cxnSp>
      <p:cxnSp>
        <p:nvCxnSpPr>
          <p:cNvPr id="12" name="Straight Arrow Connector 11">
            <a:extLst>
              <a:ext uri="{FF2B5EF4-FFF2-40B4-BE49-F238E27FC236}">
                <a16:creationId xmlns:a16="http://schemas.microsoft.com/office/drawing/2014/main" id="{1769FDDC-1B14-DC4B-DF0A-54799A64CFB2}"/>
              </a:ext>
            </a:extLst>
          </p:cNvPr>
          <p:cNvCxnSpPr/>
          <p:nvPr/>
        </p:nvCxnSpPr>
        <p:spPr bwMode="auto">
          <a:xfrm>
            <a:off x="1952739" y="3699803"/>
            <a:ext cx="0" cy="1730327"/>
          </a:xfrm>
          <a:prstGeom prst="straightConnector1">
            <a:avLst/>
          </a:prstGeom>
          <a:ln w="60325">
            <a:solidFill>
              <a:srgbClr val="000000"/>
            </a:solidFill>
            <a:headEnd type="none" w="med" len="med"/>
            <a:tailEnd type="triangle"/>
          </a:ln>
        </p:spPr>
        <p:style>
          <a:lnRef idx="3">
            <a:schemeClr val="dk1"/>
          </a:lnRef>
          <a:fillRef idx="0">
            <a:schemeClr val="dk1"/>
          </a:fillRef>
          <a:effectRef idx="2">
            <a:schemeClr val="dk1"/>
          </a:effectRef>
          <a:fontRef idx="minor">
            <a:schemeClr val="tx1"/>
          </a:fontRef>
        </p:style>
      </p:cxnSp>
      <p:cxnSp>
        <p:nvCxnSpPr>
          <p:cNvPr id="17" name="Straight Connector 16">
            <a:extLst>
              <a:ext uri="{FF2B5EF4-FFF2-40B4-BE49-F238E27FC236}">
                <a16:creationId xmlns:a16="http://schemas.microsoft.com/office/drawing/2014/main" id="{6FBC5A16-AA4A-7DEB-A180-5AC3B8F0FFE4}"/>
              </a:ext>
            </a:extLst>
          </p:cNvPr>
          <p:cNvCxnSpPr/>
          <p:nvPr/>
        </p:nvCxnSpPr>
        <p:spPr bwMode="auto">
          <a:xfrm>
            <a:off x="1364566" y="3699803"/>
            <a:ext cx="658511" cy="0"/>
          </a:xfrm>
          <a:prstGeom prst="line">
            <a:avLst/>
          </a:prstGeom>
          <a:ln w="44450">
            <a:solidFill>
              <a:srgbClr val="000000"/>
            </a:solidFill>
            <a:headEnd type="none" w="med" len="med"/>
            <a:tailEnd type="none" w="med" len="med"/>
          </a:ln>
        </p:spPr>
        <p:style>
          <a:lnRef idx="3">
            <a:schemeClr val="accent4"/>
          </a:lnRef>
          <a:fillRef idx="0">
            <a:schemeClr val="accent4"/>
          </a:fillRef>
          <a:effectRef idx="2">
            <a:schemeClr val="accent4"/>
          </a:effectRef>
          <a:fontRef idx="minor">
            <a:schemeClr val="tx1"/>
          </a:fontRef>
        </p:style>
      </p:cxnSp>
      <p:cxnSp>
        <p:nvCxnSpPr>
          <p:cNvPr id="18" name="Straight Connector 17">
            <a:extLst>
              <a:ext uri="{FF2B5EF4-FFF2-40B4-BE49-F238E27FC236}">
                <a16:creationId xmlns:a16="http://schemas.microsoft.com/office/drawing/2014/main" id="{DD147B26-E4A2-3E72-A67C-5147496BE1EA}"/>
              </a:ext>
            </a:extLst>
          </p:cNvPr>
          <p:cNvCxnSpPr>
            <a:cxnSpLocks/>
          </p:cNvCxnSpPr>
          <p:nvPr/>
        </p:nvCxnSpPr>
        <p:spPr bwMode="auto">
          <a:xfrm flipV="1">
            <a:off x="1496873" y="5430130"/>
            <a:ext cx="1" cy="412731"/>
          </a:xfrm>
          <a:prstGeom prst="line">
            <a:avLst/>
          </a:prstGeom>
          <a:ln w="57150">
            <a:solidFill>
              <a:srgbClr val="000000"/>
            </a:solidFill>
            <a:headEnd type="none" w="med" len="med"/>
            <a:tailEnd type="none" w="med" len="med"/>
          </a:ln>
        </p:spPr>
        <p:style>
          <a:lnRef idx="3">
            <a:schemeClr val="accent4"/>
          </a:lnRef>
          <a:fillRef idx="0">
            <a:schemeClr val="accent4"/>
          </a:fillRef>
          <a:effectRef idx="2">
            <a:schemeClr val="accent4"/>
          </a:effectRef>
          <a:fontRef idx="minor">
            <a:schemeClr val="tx1"/>
          </a:fontRef>
        </p:style>
      </p:cxnSp>
      <p:sp>
        <p:nvSpPr>
          <p:cNvPr id="23" name="TextBox 22">
            <a:extLst>
              <a:ext uri="{FF2B5EF4-FFF2-40B4-BE49-F238E27FC236}">
                <a16:creationId xmlns:a16="http://schemas.microsoft.com/office/drawing/2014/main" id="{416B9B66-47D9-D7F9-8A12-D532DF16D5D2}"/>
              </a:ext>
            </a:extLst>
          </p:cNvPr>
          <p:cNvSpPr txBox="1"/>
          <p:nvPr/>
        </p:nvSpPr>
        <p:spPr>
          <a:xfrm>
            <a:off x="1319298" y="3368203"/>
            <a:ext cx="607859" cy="369332"/>
          </a:xfrm>
          <a:prstGeom prst="rect">
            <a:avLst/>
          </a:prstGeom>
          <a:noFill/>
        </p:spPr>
        <p:txBody>
          <a:bodyPr wrap="none" rtlCol="0">
            <a:spAutoFit/>
          </a:bodyPr>
          <a:lstStyle/>
          <a:p>
            <a:r>
              <a:rPr lang="en-IN" b="1" dirty="0">
                <a:solidFill>
                  <a:srgbClr val="000000"/>
                </a:solidFill>
              </a:rPr>
              <a:t>ht-1</a:t>
            </a:r>
          </a:p>
        </p:txBody>
      </p:sp>
      <p:pic>
        <p:nvPicPr>
          <p:cNvPr id="25" name="Picture 24">
            <a:extLst>
              <a:ext uri="{FF2B5EF4-FFF2-40B4-BE49-F238E27FC236}">
                <a16:creationId xmlns:a16="http://schemas.microsoft.com/office/drawing/2014/main" id="{E9CBDD54-B533-7882-9933-84E329D294E9}"/>
              </a:ext>
            </a:extLst>
          </p:cNvPr>
          <p:cNvPicPr>
            <a:picLocks noChangeAspect="1"/>
          </p:cNvPicPr>
          <p:nvPr/>
        </p:nvPicPr>
        <p:blipFill>
          <a:blip r:embed="rId3"/>
          <a:stretch>
            <a:fillRect/>
          </a:stretch>
        </p:blipFill>
        <p:spPr>
          <a:xfrm>
            <a:off x="4963225" y="2145556"/>
            <a:ext cx="7115816" cy="2034113"/>
          </a:xfrm>
          <a:prstGeom prst="rect">
            <a:avLst/>
          </a:prstGeom>
          <a:ln>
            <a:solidFill>
              <a:srgbClr val="000000"/>
            </a:solidFill>
          </a:ln>
        </p:spPr>
      </p:pic>
      <p:sp>
        <p:nvSpPr>
          <p:cNvPr id="26" name="TextBox 25">
            <a:extLst>
              <a:ext uri="{FF2B5EF4-FFF2-40B4-BE49-F238E27FC236}">
                <a16:creationId xmlns:a16="http://schemas.microsoft.com/office/drawing/2014/main" id="{BB47295F-3CDD-8FE8-8806-76313F322510}"/>
              </a:ext>
            </a:extLst>
          </p:cNvPr>
          <p:cNvSpPr txBox="1"/>
          <p:nvPr/>
        </p:nvSpPr>
        <p:spPr>
          <a:xfrm>
            <a:off x="1373019" y="5074866"/>
            <a:ext cx="389850" cy="369332"/>
          </a:xfrm>
          <a:prstGeom prst="rect">
            <a:avLst/>
          </a:prstGeom>
          <a:noFill/>
        </p:spPr>
        <p:txBody>
          <a:bodyPr wrap="none" rtlCol="0">
            <a:spAutoFit/>
          </a:bodyPr>
          <a:lstStyle/>
          <a:p>
            <a:r>
              <a:rPr lang="en-IN" b="1" dirty="0" err="1">
                <a:solidFill>
                  <a:srgbClr val="000000"/>
                </a:solidFill>
              </a:rPr>
              <a:t>xt</a:t>
            </a:r>
            <a:endParaRPr lang="en-IN" b="1" dirty="0">
              <a:solidFill>
                <a:srgbClr val="000000"/>
              </a:solidFill>
            </a:endParaRPr>
          </a:p>
        </p:txBody>
      </p:sp>
      <p:sp>
        <p:nvSpPr>
          <p:cNvPr id="28" name="TextBox 27">
            <a:extLst>
              <a:ext uri="{FF2B5EF4-FFF2-40B4-BE49-F238E27FC236}">
                <a16:creationId xmlns:a16="http://schemas.microsoft.com/office/drawing/2014/main" id="{8DBB8091-79BA-6C83-3EEC-50CB4C1CCE99}"/>
              </a:ext>
            </a:extLst>
          </p:cNvPr>
          <p:cNvSpPr txBox="1"/>
          <p:nvPr/>
        </p:nvSpPr>
        <p:spPr>
          <a:xfrm>
            <a:off x="4912062" y="1029125"/>
            <a:ext cx="7115816" cy="923330"/>
          </a:xfrm>
          <a:prstGeom prst="rect">
            <a:avLst/>
          </a:prstGeom>
          <a:noFill/>
          <a:ln>
            <a:solidFill>
              <a:srgbClr val="000000"/>
            </a:solidFill>
          </a:ln>
        </p:spPr>
        <p:txBody>
          <a:bodyPr wrap="square">
            <a:spAutoFit/>
          </a:bodyPr>
          <a:lstStyle/>
          <a:p>
            <a:pPr>
              <a:buNone/>
            </a:pPr>
            <a:r>
              <a:rPr lang="en-US" dirty="0"/>
              <a:t>In a </a:t>
            </a:r>
            <a:r>
              <a:rPr lang="en-US" b="1" dirty="0"/>
              <a:t>Simple GRU</a:t>
            </a:r>
            <a:r>
              <a:rPr lang="en-US" dirty="0"/>
              <a:t>, there is </a:t>
            </a:r>
            <a:r>
              <a:rPr lang="en-US" b="1" dirty="0"/>
              <a:t>only one gate: the update gate (zₜ)</a:t>
            </a:r>
            <a:r>
              <a:rPr lang="en-US" dirty="0"/>
              <a:t>.</a:t>
            </a:r>
          </a:p>
          <a:p>
            <a:r>
              <a:rPr lang="en-US" dirty="0"/>
              <a:t>It </a:t>
            </a:r>
            <a:r>
              <a:rPr lang="en-US" b="1" dirty="0"/>
              <a:t>decides how much of the previous hidden state (hₜ₋₁) to keep and how much of the new candidate state (h̃ₜ) to use.</a:t>
            </a:r>
          </a:p>
        </p:txBody>
      </p:sp>
      <p:sp>
        <p:nvSpPr>
          <p:cNvPr id="32" name="Rectangle 4">
            <a:extLst>
              <a:ext uri="{FF2B5EF4-FFF2-40B4-BE49-F238E27FC236}">
                <a16:creationId xmlns:a16="http://schemas.microsoft.com/office/drawing/2014/main" id="{6E7CDE8C-513F-8F3B-F6CD-0380AB248AD6}"/>
              </a:ext>
            </a:extLst>
          </p:cNvPr>
          <p:cNvSpPr>
            <a:spLocks noChangeArrowheads="1"/>
          </p:cNvSpPr>
          <p:nvPr/>
        </p:nvSpPr>
        <p:spPr bwMode="auto">
          <a:xfrm>
            <a:off x="0" y="-184666"/>
            <a:ext cx="3289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
        <p:nvSpPr>
          <p:cNvPr id="34" name="TextBox 33">
            <a:extLst>
              <a:ext uri="{FF2B5EF4-FFF2-40B4-BE49-F238E27FC236}">
                <a16:creationId xmlns:a16="http://schemas.microsoft.com/office/drawing/2014/main" id="{3BD4BF32-5C65-46A5-0566-2F1557FDD309}"/>
              </a:ext>
            </a:extLst>
          </p:cNvPr>
          <p:cNvSpPr txBox="1"/>
          <p:nvPr/>
        </p:nvSpPr>
        <p:spPr>
          <a:xfrm>
            <a:off x="4937643" y="4179671"/>
            <a:ext cx="7090235" cy="2585323"/>
          </a:xfrm>
          <a:prstGeom prst="rect">
            <a:avLst/>
          </a:prstGeom>
          <a:noFill/>
          <a:ln>
            <a:solidFill>
              <a:srgbClr val="000000"/>
            </a:solidFill>
          </a:ln>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defRPr/>
            </a:pPr>
            <a:r>
              <a:rPr kumimoji="0" lang="en-US" altLang="en-US" sz="1800" b="1" i="0" u="none" strike="noStrike" kern="1200" cap="none" spc="0" normalizeH="0" baseline="0" noProof="0" dirty="0">
                <a:ln>
                  <a:noFill/>
                </a:ln>
                <a:solidFill>
                  <a:srgbClr val="003366"/>
                </a:solidFill>
                <a:effectLst/>
                <a:uLnTx/>
                <a:uFillTx/>
                <a:latin typeface="Arial" panose="020B0604020202020204" pitchFamily="34" charset="0"/>
                <a:ea typeface="新細明體"/>
                <a:cs typeface="+mn-cs"/>
              </a:rPr>
              <a:t>Simple GRU  </a:t>
            </a:r>
            <a:r>
              <a:rPr kumimoji="0" lang="en-US" altLang="en-US" sz="1800" b="0" i="0" u="none" strike="noStrike" kern="1200" cap="none" spc="0" normalizeH="0" baseline="0" noProof="0" dirty="0">
                <a:ln>
                  <a:noFill/>
                </a:ln>
                <a:solidFill>
                  <a:srgbClr val="003366"/>
                </a:solidFill>
                <a:effectLst/>
                <a:uLnTx/>
                <a:uFillTx/>
                <a:latin typeface="Arial" panose="020B0604020202020204" pitchFamily="34" charset="0"/>
                <a:ea typeface="新細明體"/>
                <a:cs typeface="+mn-cs"/>
              </a:rPr>
              <a:t>has </a:t>
            </a:r>
            <a:r>
              <a:rPr kumimoji="0" lang="en-US" altLang="en-US" sz="1800" b="1" i="0" u="none" strike="noStrike" kern="1200" cap="none" spc="0" normalizeH="0" baseline="0" noProof="0" dirty="0">
                <a:ln>
                  <a:noFill/>
                </a:ln>
                <a:solidFill>
                  <a:srgbClr val="003366"/>
                </a:solidFill>
                <a:effectLst/>
                <a:uLnTx/>
                <a:uFillTx/>
                <a:latin typeface="Arial" panose="020B0604020202020204" pitchFamily="34" charset="0"/>
                <a:ea typeface="新細明體"/>
                <a:cs typeface="+mn-cs"/>
              </a:rPr>
              <a:t>only the update gate (zₜ)</a:t>
            </a:r>
            <a:r>
              <a:rPr kumimoji="0" lang="en-US" altLang="en-US" sz="1800" b="0" i="0" u="none" strike="noStrike" kern="1200" cap="none" spc="0" normalizeH="0" baseline="0" noProof="0" dirty="0">
                <a:ln>
                  <a:noFill/>
                </a:ln>
                <a:solidFill>
                  <a:srgbClr val="003366"/>
                </a:solidFill>
                <a:effectLst/>
                <a:uLnTx/>
                <a:uFillTx/>
                <a:latin typeface="Arial" panose="020B0604020202020204" pitchFamily="34" charset="0"/>
                <a:ea typeface="新細明體"/>
                <a:cs typeface="+mn-cs"/>
              </a:rPr>
              <a:t>.</a:t>
            </a:r>
          </a:p>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en-US" altLang="en-US" sz="1800" b="0" i="0" u="none" strike="noStrike" kern="1200" cap="none" spc="0" normalizeH="0" baseline="0" noProof="0" dirty="0">
                <a:ln>
                  <a:noFill/>
                </a:ln>
                <a:solidFill>
                  <a:srgbClr val="003366"/>
                </a:solidFill>
                <a:effectLst/>
                <a:uLnTx/>
                <a:uFillTx/>
                <a:latin typeface="Arial" panose="020B0604020202020204" pitchFamily="34" charset="0"/>
                <a:ea typeface="新細明體"/>
                <a:cs typeface="+mn-cs"/>
              </a:rPr>
              <a:t>This gate decides both:</a:t>
            </a:r>
          </a:p>
          <a:p>
            <a:pPr marL="450850" marR="0" lvl="0" indent="-1841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defRPr/>
            </a:pPr>
            <a:r>
              <a:rPr kumimoji="0" lang="en-US" altLang="en-US" sz="1800" b="0" i="0" u="none" strike="noStrike" kern="1200" cap="none" spc="0" normalizeH="0" baseline="0" noProof="0" dirty="0">
                <a:ln>
                  <a:noFill/>
                </a:ln>
                <a:solidFill>
                  <a:srgbClr val="003366"/>
                </a:solidFill>
                <a:effectLst/>
                <a:uLnTx/>
                <a:uFillTx/>
                <a:latin typeface="Arial" panose="020B0604020202020204" pitchFamily="34" charset="0"/>
                <a:ea typeface="新細明體"/>
                <a:cs typeface="+mn-cs"/>
              </a:rPr>
              <a:t>.</a:t>
            </a:r>
            <a:r>
              <a:rPr lang="en-US" altLang="en-US" b="1" dirty="0">
                <a:solidFill>
                  <a:srgbClr val="003366"/>
                </a:solidFill>
                <a:latin typeface="Arial" panose="020B0604020202020204" pitchFamily="34" charset="0"/>
              </a:rPr>
              <a:t>How much of the old hidden state ht−1 to keep</a:t>
            </a:r>
          </a:p>
          <a:p>
            <a:pPr marL="450850" marR="0" lvl="0" indent="-1841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defRPr/>
            </a:pPr>
            <a:r>
              <a:rPr kumimoji="0" lang="en-US" altLang="en-US" sz="1800" b="1" i="0" u="none" strike="noStrike" kern="1200" cap="none" spc="0" normalizeH="0" baseline="0" noProof="0" dirty="0">
                <a:ln>
                  <a:noFill/>
                </a:ln>
                <a:solidFill>
                  <a:srgbClr val="003366"/>
                </a:solidFill>
                <a:effectLst/>
                <a:uLnTx/>
                <a:uFillTx/>
                <a:latin typeface="Arial" panose="020B0604020202020204" pitchFamily="34" charset="0"/>
                <a:ea typeface="新細明體"/>
                <a:cs typeface="+mn-cs"/>
              </a:rPr>
              <a:t>How much of the new candidate state </a:t>
            </a:r>
            <a:r>
              <a:rPr kumimoji="0" lang="en-US" altLang="en-US" sz="1800" b="1" i="0" u="none" strike="noStrike" kern="1200" cap="none" spc="0" normalizeH="0" baseline="0" noProof="0" dirty="0" err="1">
                <a:ln>
                  <a:noFill/>
                </a:ln>
                <a:solidFill>
                  <a:srgbClr val="003366"/>
                </a:solidFill>
                <a:effectLst/>
                <a:uLnTx/>
                <a:uFillTx/>
                <a:latin typeface="Arial" panose="020B0604020202020204" pitchFamily="34" charset="0"/>
                <a:ea typeface="新細明體"/>
                <a:cs typeface="+mn-cs"/>
              </a:rPr>
              <a:t>h~t</a:t>
            </a:r>
            <a:r>
              <a:rPr kumimoji="0" lang="en-US" altLang="en-US" sz="1800" b="1" i="0" u="none" strike="noStrike" kern="1200" cap="none" spc="0" normalizeH="0" baseline="0" noProof="0" dirty="0">
                <a:ln>
                  <a:noFill/>
                </a:ln>
                <a:solidFill>
                  <a:srgbClr val="003366"/>
                </a:solidFill>
                <a:effectLst/>
                <a:uLnTx/>
                <a:uFillTx/>
                <a:latin typeface="Arial" panose="020B0604020202020204" pitchFamily="34" charset="0"/>
                <a:ea typeface="新細明體"/>
                <a:cs typeface="+mn-cs"/>
              </a:rPr>
              <a:t>​ to add</a:t>
            </a:r>
            <a:r>
              <a:rPr kumimoji="0" lang="en-US" altLang="en-US" sz="1800" b="0" i="0" u="none" strike="noStrike" kern="1200" cap="none" spc="0" normalizeH="0" baseline="0" noProof="0" dirty="0">
                <a:ln>
                  <a:noFill/>
                </a:ln>
                <a:solidFill>
                  <a:srgbClr val="003366"/>
                </a:solidFill>
                <a:effectLst/>
                <a:uLnTx/>
                <a:uFillTx/>
                <a:latin typeface="Arial" panose="020B0604020202020204" pitchFamily="34" charset="0"/>
                <a:ea typeface="新細明體"/>
                <a:cs typeface="+mn-cs"/>
              </a:rPr>
              <a:t>.</a:t>
            </a:r>
          </a:p>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en-US" altLang="en-US" sz="1800" b="0" i="0" u="none" strike="noStrike" kern="1200" cap="none" spc="0" normalizeH="0" baseline="0" noProof="0" dirty="0">
                <a:ln>
                  <a:noFill/>
                </a:ln>
                <a:solidFill>
                  <a:srgbClr val="003366"/>
                </a:solidFill>
                <a:effectLst/>
                <a:uLnTx/>
                <a:uFillTx/>
                <a:latin typeface="Arial" panose="020B0604020202020204" pitchFamily="34" charset="0"/>
                <a:ea typeface="新細明體"/>
                <a:cs typeface="+mn-cs"/>
              </a:rPr>
              <a:t>There is </a:t>
            </a:r>
            <a:r>
              <a:rPr kumimoji="0" lang="en-US" altLang="en-US" sz="1800" b="1" i="0" u="none" strike="noStrike" kern="1200" cap="none" spc="0" normalizeH="0" baseline="0" noProof="0" dirty="0">
                <a:ln>
                  <a:noFill/>
                </a:ln>
                <a:solidFill>
                  <a:srgbClr val="003366"/>
                </a:solidFill>
                <a:effectLst/>
                <a:uLnTx/>
                <a:uFillTx/>
                <a:latin typeface="Arial" panose="020B0604020202020204" pitchFamily="34" charset="0"/>
                <a:ea typeface="新細明體"/>
                <a:cs typeface="+mn-cs"/>
              </a:rPr>
              <a:t>no separate mechanism to control resetting past information</a:t>
            </a:r>
            <a:r>
              <a:rPr kumimoji="0" lang="en-US" altLang="en-US" sz="1800" b="0" i="0" u="none" strike="noStrike" kern="1200" cap="none" spc="0" normalizeH="0" baseline="0" noProof="0" dirty="0">
                <a:ln>
                  <a:noFill/>
                </a:ln>
                <a:solidFill>
                  <a:srgbClr val="003366"/>
                </a:solidFill>
                <a:effectLst/>
                <a:uLnTx/>
                <a:uFillTx/>
                <a:latin typeface="Arial" panose="020B0604020202020204" pitchFamily="34" charset="0"/>
                <a:ea typeface="新細明體"/>
                <a:cs typeface="+mn-cs"/>
              </a:rPr>
              <a:t>.</a:t>
            </a:r>
          </a:p>
          <a:p>
            <a:pPr marL="0" marR="0" lvl="0" indent="0" algn="l" defTabSz="914400" rtl="0" eaLnBrk="0" fontAlgn="base" latinLnBrk="0" hangingPunct="0">
              <a:lnSpc>
                <a:spcPct val="100000"/>
              </a:lnSpc>
              <a:spcBef>
                <a:spcPct val="0"/>
              </a:spcBef>
              <a:spcAft>
                <a:spcPct val="0"/>
              </a:spcAft>
              <a:buClrTx/>
              <a:buSzTx/>
              <a:buFontTx/>
              <a:buChar char="•"/>
              <a:tabLst/>
              <a:defRPr/>
            </a:pPr>
            <a:endParaRPr kumimoji="0" lang="en-US" altLang="en-US" sz="1800" b="0" i="0" u="none" strike="noStrike" kern="1200" cap="none" spc="0" normalizeH="0" baseline="0" noProof="0" dirty="0">
              <a:ln>
                <a:noFill/>
              </a:ln>
              <a:solidFill>
                <a:srgbClr val="003366"/>
              </a:solidFill>
              <a:effectLst/>
              <a:uLnTx/>
              <a:uFillTx/>
              <a:latin typeface="Arial" panose="020B0604020202020204" pitchFamily="34" charset="0"/>
              <a:ea typeface="新細明體"/>
              <a:cs typeface="+mn-cs"/>
            </a:endParaRPr>
          </a:p>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en-US" altLang="en-US" sz="1800" b="1" i="0" u="none" strike="noStrike" kern="1200" cap="none" spc="0" normalizeH="0" baseline="0" noProof="0" dirty="0">
                <a:ln>
                  <a:noFill/>
                </a:ln>
                <a:solidFill>
                  <a:srgbClr val="003366"/>
                </a:solidFill>
                <a:effectLst/>
                <a:uLnTx/>
                <a:uFillTx/>
                <a:latin typeface="Arial" panose="020B0604020202020204" pitchFamily="34" charset="0"/>
                <a:ea typeface="新細明體"/>
                <a:cs typeface="+mn-cs"/>
              </a:rPr>
              <a:t>Disadvantage: If ht−1 has irrelevant or noisy information</a:t>
            </a:r>
            <a:r>
              <a:rPr kumimoji="0" lang="en-US" altLang="en-US" sz="1800" b="0" i="0" u="none" strike="noStrike" kern="1200" cap="none" spc="0" normalizeH="0" baseline="0" noProof="0" dirty="0">
                <a:ln>
                  <a:noFill/>
                </a:ln>
                <a:solidFill>
                  <a:srgbClr val="003366"/>
                </a:solidFill>
                <a:effectLst/>
                <a:uLnTx/>
                <a:uFillTx/>
                <a:latin typeface="Arial" panose="020B0604020202020204" pitchFamily="34" charset="0"/>
                <a:ea typeface="新細明體"/>
                <a:cs typeface="+mn-cs"/>
              </a:rPr>
              <a:t>, </a:t>
            </a:r>
            <a:r>
              <a:rPr kumimoji="0" lang="en-US" altLang="en-US" sz="1800" b="1" i="0" u="none" strike="noStrike" kern="1200" cap="none" spc="0" normalizeH="0" baseline="0" noProof="0" dirty="0">
                <a:ln>
                  <a:noFill/>
                </a:ln>
                <a:solidFill>
                  <a:srgbClr val="003366"/>
                </a:solidFill>
                <a:effectLst/>
                <a:uLnTx/>
                <a:uFillTx/>
                <a:latin typeface="Arial" panose="020B0604020202020204" pitchFamily="34" charset="0"/>
                <a:ea typeface="新細明體"/>
                <a:cs typeface="+mn-cs"/>
              </a:rPr>
              <a:t>Simple GRU cannot selectively ignore/reset it</a:t>
            </a:r>
            <a:endParaRPr lang="en-IN" dirty="0"/>
          </a:p>
        </p:txBody>
      </p:sp>
    </p:spTree>
    <p:extLst>
      <p:ext uri="{BB962C8B-B14F-4D97-AF65-F5344CB8AC3E}">
        <p14:creationId xmlns:p14="http://schemas.microsoft.com/office/powerpoint/2010/main" val="419308973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E2B46D-A954-1733-3658-3E756E2C567C}"/>
              </a:ext>
            </a:extLst>
          </p:cNvPr>
          <p:cNvSpPr>
            <a:spLocks noGrp="1"/>
          </p:cNvSpPr>
          <p:nvPr>
            <p:ph type="title"/>
          </p:nvPr>
        </p:nvSpPr>
        <p:spPr>
          <a:xfrm>
            <a:off x="812800" y="763568"/>
            <a:ext cx="10566400" cy="1143000"/>
          </a:xfrm>
        </p:spPr>
        <p:txBody>
          <a:bodyPr/>
          <a:lstStyle/>
          <a:p>
            <a:r>
              <a:rPr lang="en-US" sz="4400" dirty="0"/>
              <a:t>Fully Gated GRU</a:t>
            </a:r>
            <a:endParaRPr lang="en-IN" sz="4400" dirty="0"/>
          </a:p>
        </p:txBody>
      </p:sp>
      <p:sp>
        <p:nvSpPr>
          <p:cNvPr id="4" name="Slide Number Placeholder 3">
            <a:extLst>
              <a:ext uri="{FF2B5EF4-FFF2-40B4-BE49-F238E27FC236}">
                <a16:creationId xmlns:a16="http://schemas.microsoft.com/office/drawing/2014/main" id="{5DBEC17D-16B9-CAA2-E6E0-70F1E4BD7E6A}"/>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AD681D7-8A59-4380-9311-10B86FF921AA}" type="slidenum">
              <a:rPr kumimoji="0" lang="en-US" altLang="zh-TW" sz="2600" b="1" i="0" u="none" strike="noStrike" kern="1200" cap="none" spc="0" normalizeH="0" baseline="0" noProof="0" smtClean="0">
                <a:ln>
                  <a:noFill/>
                </a:ln>
                <a:solidFill>
                  <a:srgbClr val="FFFFFF"/>
                </a:solidFill>
                <a:effectLst/>
                <a:uLnTx/>
                <a:uFillTx/>
                <a:latin typeface="Arial"/>
                <a:ea typeface="新細明體" panose="02020500000000000000" pitchFamily="18" charset="-120"/>
                <a:cs typeface="+mn-cs"/>
              </a:rPr>
              <a:pPr marL="0" marR="0" lvl="0" indent="0" algn="l" defTabSz="914400" rtl="0" eaLnBrk="1" fontAlgn="auto" latinLnBrk="0" hangingPunct="1">
                <a:lnSpc>
                  <a:spcPct val="100000"/>
                </a:lnSpc>
                <a:spcBef>
                  <a:spcPts val="0"/>
                </a:spcBef>
                <a:spcAft>
                  <a:spcPts val="0"/>
                </a:spcAft>
                <a:buClrTx/>
                <a:buSzTx/>
                <a:buFontTx/>
                <a:buNone/>
                <a:tabLst/>
                <a:defRPr/>
              </a:pPr>
              <a:t>50</a:t>
            </a:fld>
            <a:endParaRPr kumimoji="0" lang="en-US" altLang="zh-TW" sz="2600" b="1" i="0" u="none" strike="noStrike" kern="1200" cap="none" spc="0" normalizeH="0" baseline="0" noProof="0">
              <a:ln>
                <a:noFill/>
              </a:ln>
              <a:solidFill>
                <a:srgbClr val="FFFFFF"/>
              </a:solidFill>
              <a:effectLst/>
              <a:uLnTx/>
              <a:uFillTx/>
              <a:latin typeface="Arial"/>
              <a:ea typeface="新細明體" panose="02020500000000000000" pitchFamily="18" charset="-120"/>
              <a:cs typeface="+mn-cs"/>
            </a:endParaRPr>
          </a:p>
        </p:txBody>
      </p:sp>
      <p:sp>
        <p:nvSpPr>
          <p:cNvPr id="6" name="TextBox 5">
            <a:extLst>
              <a:ext uri="{FF2B5EF4-FFF2-40B4-BE49-F238E27FC236}">
                <a16:creationId xmlns:a16="http://schemas.microsoft.com/office/drawing/2014/main" id="{15537B8A-79C3-E8FF-1FB1-C1AD6C6D467C}"/>
              </a:ext>
            </a:extLst>
          </p:cNvPr>
          <p:cNvSpPr txBox="1"/>
          <p:nvPr/>
        </p:nvSpPr>
        <p:spPr>
          <a:xfrm>
            <a:off x="4811151" y="73184"/>
            <a:ext cx="7380848" cy="1077218"/>
          </a:xfrm>
          <a:prstGeom prst="rect">
            <a:avLst/>
          </a:prstGeom>
          <a:noFill/>
          <a:ln>
            <a:solidFill>
              <a:srgbClr val="000000"/>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3366"/>
                </a:solidFill>
                <a:effectLst/>
                <a:uLnTx/>
                <a:uFillTx/>
                <a:latin typeface="Arial"/>
                <a:ea typeface="新細明體"/>
                <a:cs typeface="+mn-cs"/>
              </a:rPr>
              <a:t>GRU is simpler in its design and requires fewer parameters to train, making it computationally efficient as compared to LSTM. GRU consists of two primary gates: Update Gate and the Reset Gate. These gates help the model decide what information to keep, update, and forget. </a:t>
            </a:r>
            <a:endParaRPr kumimoji="0" lang="en-IN" sz="1600" b="1" i="0" u="none" strike="noStrike" kern="1200" cap="none" spc="0" normalizeH="0" baseline="0" noProof="0" dirty="0">
              <a:ln>
                <a:noFill/>
              </a:ln>
              <a:solidFill>
                <a:srgbClr val="003366"/>
              </a:solidFill>
              <a:effectLst/>
              <a:uLnTx/>
              <a:uFillTx/>
              <a:latin typeface="Arial"/>
              <a:ea typeface="新細明體"/>
              <a:cs typeface="+mn-cs"/>
            </a:endParaRPr>
          </a:p>
        </p:txBody>
      </p:sp>
      <p:sp>
        <p:nvSpPr>
          <p:cNvPr id="8" name="TextBox 7">
            <a:extLst>
              <a:ext uri="{FF2B5EF4-FFF2-40B4-BE49-F238E27FC236}">
                <a16:creationId xmlns:a16="http://schemas.microsoft.com/office/drawing/2014/main" id="{DF09B3D4-5F47-1915-1A3E-2400E99A9CDF}"/>
              </a:ext>
            </a:extLst>
          </p:cNvPr>
          <p:cNvSpPr txBox="1"/>
          <p:nvPr/>
        </p:nvSpPr>
        <p:spPr>
          <a:xfrm>
            <a:off x="5858933" y="2313144"/>
            <a:ext cx="6333067" cy="4614212"/>
          </a:xfrm>
          <a:prstGeom prst="rect">
            <a:avLst/>
          </a:prstGeom>
          <a:noFill/>
          <a:ln>
            <a:solidFill>
              <a:srgbClr val="000000"/>
            </a:solidFill>
          </a:ln>
        </p:spPr>
        <p:txBody>
          <a:bodyPr wrap="square" rtlCol="0">
            <a:spAutoFit/>
          </a:bodyPr>
          <a:lstStyle/>
          <a:p>
            <a:pPr marL="0" marR="0" lvl="0" indent="0" algn="l" defTabSz="914400" rtl="0" eaLnBrk="1" fontAlgn="auto" latinLnBrk="0" hangingPunct="1">
              <a:lnSpc>
                <a:spcPts val="1800"/>
              </a:lnSpc>
              <a:spcBef>
                <a:spcPts val="0"/>
              </a:spcBef>
              <a:spcAft>
                <a:spcPts val="0"/>
              </a:spcAft>
              <a:buClrTx/>
              <a:buSzTx/>
              <a:buFontTx/>
              <a:buNone/>
              <a:tabLst/>
              <a:defRPr/>
            </a:pPr>
            <a:r>
              <a:rPr kumimoji="0" lang="en-US" sz="1800" b="1" i="0" u="none" strike="noStrike" kern="1200" cap="none" spc="0" normalizeH="0" baseline="0" noProof="0" dirty="0">
                <a:ln>
                  <a:noFill/>
                </a:ln>
                <a:effectLst/>
                <a:uLnTx/>
                <a:uFillTx/>
                <a:latin typeface="sohne"/>
                <a:ea typeface="新細明體"/>
                <a:cs typeface="+mn-cs"/>
              </a:rPr>
              <a:t>The Reset Gate</a:t>
            </a:r>
          </a:p>
          <a:p>
            <a:pPr marL="0" marR="0" lvl="0" indent="0" algn="l" defTabSz="914400" rtl="0" eaLnBrk="1" fontAlgn="auto" latinLnBrk="0" hangingPunct="1">
              <a:lnSpc>
                <a:spcPts val="2400"/>
              </a:lnSpc>
              <a:spcBef>
                <a:spcPts val="0"/>
              </a:spcBef>
              <a:spcAft>
                <a:spcPts val="0"/>
              </a:spcAft>
              <a:buClrTx/>
              <a:buSzTx/>
              <a:buFontTx/>
              <a:buNone/>
              <a:tabLst/>
              <a:defRPr/>
            </a:pPr>
            <a:r>
              <a:rPr kumimoji="0" lang="en-US" sz="1800" b="0" i="0" u="none" strike="noStrike" kern="1200" cap="none" spc="0" normalizeH="0" baseline="0" noProof="0" dirty="0">
                <a:ln>
                  <a:noFill/>
                </a:ln>
                <a:effectLst/>
                <a:uLnTx/>
                <a:uFillTx/>
                <a:latin typeface="source-serif-pro"/>
                <a:ea typeface="新細明體"/>
                <a:cs typeface="+mn-cs"/>
              </a:rPr>
              <a:t>The </a:t>
            </a:r>
            <a:r>
              <a:rPr kumimoji="0" lang="en-US" sz="1800" b="1" i="0" u="none" strike="noStrike" kern="1200" cap="none" spc="0" normalizeH="0" baseline="0" noProof="0" dirty="0">
                <a:ln>
                  <a:noFill/>
                </a:ln>
                <a:effectLst/>
                <a:uLnTx/>
                <a:uFillTx/>
                <a:latin typeface="source-serif-pro"/>
                <a:ea typeface="新細明體"/>
                <a:cs typeface="+mn-cs"/>
              </a:rPr>
              <a:t>reset gate</a:t>
            </a:r>
            <a:r>
              <a:rPr kumimoji="0" lang="en-US" sz="1800" b="0" i="0" u="none" strike="noStrike" kern="1200" cap="none" spc="0" normalizeH="0" baseline="0" noProof="0" dirty="0">
                <a:ln>
                  <a:noFill/>
                </a:ln>
                <a:effectLst/>
                <a:uLnTx/>
                <a:uFillTx/>
                <a:latin typeface="source-serif-pro"/>
                <a:ea typeface="新細明體"/>
                <a:cs typeface="+mn-cs"/>
              </a:rPr>
              <a:t> </a:t>
            </a:r>
            <a:r>
              <a:rPr kumimoji="0" lang="en-US" sz="1800" b="1" i="0" u="none" strike="noStrike" kern="1200" cap="none" spc="0" normalizeH="0" baseline="0" noProof="0" dirty="0">
                <a:ln>
                  <a:noFill/>
                </a:ln>
                <a:effectLst/>
                <a:uLnTx/>
                <a:uFillTx/>
                <a:latin typeface="source-serif-pro"/>
                <a:ea typeface="新細明體"/>
                <a:cs typeface="+mn-cs"/>
              </a:rPr>
              <a:t>controls how much of the previous memory (hidden state) to forget</a:t>
            </a:r>
            <a:r>
              <a:rPr kumimoji="0" lang="en-US" sz="1800" b="0" i="0" u="none" strike="noStrike" kern="1200" cap="none" spc="0" normalizeH="0" baseline="0" noProof="0" dirty="0">
                <a:ln>
                  <a:noFill/>
                </a:ln>
                <a:effectLst/>
                <a:uLnTx/>
                <a:uFillTx/>
                <a:latin typeface="source-serif-pro"/>
                <a:ea typeface="新細明體"/>
                <a:cs typeface="+mn-cs"/>
              </a:rPr>
              <a:t>. When processing a new input, the reset gate </a:t>
            </a:r>
            <a:r>
              <a:rPr kumimoji="0" lang="en-US" sz="1800" b="1" i="0" u="none" strike="noStrike" kern="1200" cap="none" spc="0" normalizeH="0" baseline="0" noProof="0" dirty="0">
                <a:ln>
                  <a:noFill/>
                </a:ln>
                <a:effectLst/>
                <a:uLnTx/>
                <a:uFillTx/>
                <a:latin typeface="source-serif-pro"/>
                <a:ea typeface="新細明體"/>
                <a:cs typeface="+mn-cs"/>
              </a:rPr>
              <a:t>determines how much of the old hidden state should be discarded</a:t>
            </a:r>
            <a:r>
              <a:rPr kumimoji="0" lang="en-US" sz="1800" b="0" i="0" u="none" strike="noStrike" kern="1200" cap="none" spc="0" normalizeH="0" baseline="0" noProof="0" dirty="0">
                <a:ln>
                  <a:noFill/>
                </a:ln>
                <a:effectLst/>
                <a:uLnTx/>
                <a:uFillTx/>
                <a:latin typeface="source-serif-pro"/>
                <a:ea typeface="新細明體"/>
                <a:cs typeface="+mn-cs"/>
              </a:rPr>
              <a:t>, allowing the model to reset its memory if needed.</a:t>
            </a:r>
          </a:p>
          <a:p>
            <a:pPr marL="0" marR="0" lvl="0" indent="0" algn="l" defTabSz="914400" rtl="0" eaLnBrk="1" fontAlgn="auto" latinLnBrk="0" hangingPunct="1">
              <a:lnSpc>
                <a:spcPts val="2400"/>
              </a:lnSpc>
              <a:spcBef>
                <a:spcPts val="0"/>
              </a:spcBef>
              <a:spcAft>
                <a:spcPts val="0"/>
              </a:spcAft>
              <a:buClrTx/>
              <a:buSzTx/>
              <a:buFontTx/>
              <a:buNone/>
              <a:tabLst/>
              <a:defRPr/>
            </a:pPr>
            <a:r>
              <a:rPr kumimoji="0" lang="en-US" sz="1800" b="1" i="0" u="none" strike="noStrike" kern="1200" cap="none" spc="0" normalizeH="0" baseline="0" noProof="0" dirty="0">
                <a:ln>
                  <a:noFill/>
                </a:ln>
                <a:effectLst/>
                <a:uLnTx/>
                <a:uFillTx/>
                <a:latin typeface="source-serif-pro"/>
                <a:ea typeface="新細明體"/>
                <a:cs typeface="+mn-cs"/>
              </a:rPr>
              <a:t>Mathematical Formula</a:t>
            </a:r>
            <a:r>
              <a:rPr kumimoji="0" lang="en-US" sz="1800" b="0" i="0" u="none" strike="noStrike" kern="1200" cap="none" spc="0" normalizeH="0" baseline="0" noProof="0" dirty="0">
                <a:ln>
                  <a:noFill/>
                </a:ln>
                <a:effectLst/>
                <a:uLnTx/>
                <a:uFillTx/>
                <a:latin typeface="source-serif-pro"/>
                <a:ea typeface="新細明體"/>
                <a:cs typeface="+mn-cs"/>
              </a:rPr>
              <a:t>:</a:t>
            </a:r>
            <a:br>
              <a:rPr kumimoji="0" lang="en-US" sz="1800" b="0" i="0" u="none" strike="noStrike" kern="1200" cap="none" spc="0" normalizeH="0" baseline="0" noProof="0" dirty="0">
                <a:ln>
                  <a:noFill/>
                </a:ln>
                <a:effectLst/>
                <a:uLnTx/>
                <a:uFillTx/>
                <a:latin typeface="source-serif-pro"/>
                <a:ea typeface="新細明體"/>
                <a:cs typeface="+mn-cs"/>
              </a:rPr>
            </a:br>
            <a:r>
              <a:rPr kumimoji="0" lang="en-US" sz="1800" b="1" i="0" u="none" strike="noStrike" kern="1200" cap="none" spc="0" normalizeH="0" baseline="0" noProof="0" dirty="0">
                <a:ln>
                  <a:noFill/>
                </a:ln>
                <a:effectLst/>
                <a:uLnTx/>
                <a:uFillTx/>
                <a:latin typeface="source-serif-pro"/>
                <a:ea typeface="新細明體"/>
                <a:cs typeface="+mn-cs"/>
              </a:rPr>
              <a:t>rt = σ ( </a:t>
            </a:r>
            <a:r>
              <a:rPr kumimoji="0" lang="en-US" sz="1800" b="1" i="0" u="none" strike="noStrike" kern="1200" cap="none" spc="0" normalizeH="0" baseline="0" noProof="0" dirty="0" err="1">
                <a:ln>
                  <a:noFill/>
                </a:ln>
                <a:effectLst/>
                <a:uLnTx/>
                <a:uFillTx/>
                <a:latin typeface="source-serif-pro"/>
                <a:ea typeface="新細明體"/>
                <a:cs typeface="+mn-cs"/>
              </a:rPr>
              <a:t>Wr</a:t>
            </a:r>
            <a:r>
              <a:rPr kumimoji="0" lang="en-US" sz="1800" b="1" i="0" u="none" strike="noStrike" kern="1200" cap="none" spc="0" normalizeH="0" baseline="0" noProof="0" dirty="0">
                <a:ln>
                  <a:noFill/>
                </a:ln>
                <a:effectLst/>
                <a:uLnTx/>
                <a:uFillTx/>
                <a:latin typeface="source-serif-pro"/>
                <a:ea typeface="新細明體"/>
                <a:cs typeface="+mn-cs"/>
              </a:rPr>
              <a:t> ⋅ [ ht−1 , </a:t>
            </a:r>
            <a:r>
              <a:rPr kumimoji="0" lang="en-US" sz="1800" b="1" i="0" u="none" strike="noStrike" kern="1200" cap="none" spc="0" normalizeH="0" baseline="0" noProof="0" dirty="0" err="1">
                <a:ln>
                  <a:noFill/>
                </a:ln>
                <a:effectLst/>
                <a:uLnTx/>
                <a:uFillTx/>
                <a:latin typeface="source-serif-pro"/>
                <a:ea typeface="新細明體"/>
                <a:cs typeface="+mn-cs"/>
              </a:rPr>
              <a:t>xt</a:t>
            </a:r>
            <a:r>
              <a:rPr kumimoji="0" lang="en-US" sz="1800" b="1" i="0" u="none" strike="noStrike" kern="1200" cap="none" spc="0" normalizeH="0" baseline="0" noProof="0" dirty="0">
                <a:ln>
                  <a:noFill/>
                </a:ln>
                <a:effectLst/>
                <a:uLnTx/>
                <a:uFillTx/>
                <a:latin typeface="source-serif-pro"/>
                <a:ea typeface="新細明體"/>
                <a:cs typeface="+mn-cs"/>
              </a:rPr>
              <a:t> ] + </a:t>
            </a:r>
            <a:r>
              <a:rPr kumimoji="0" lang="en-US" sz="1800" b="1" i="0" u="none" strike="noStrike" kern="1200" cap="none" spc="0" normalizeH="0" baseline="0" noProof="0" dirty="0" err="1">
                <a:ln>
                  <a:noFill/>
                </a:ln>
                <a:effectLst/>
                <a:uLnTx/>
                <a:uFillTx/>
                <a:latin typeface="source-serif-pro"/>
                <a:ea typeface="新細明體"/>
                <a:cs typeface="+mn-cs"/>
              </a:rPr>
              <a:t>br</a:t>
            </a:r>
            <a:r>
              <a:rPr kumimoji="0" lang="en-US" sz="1800" b="1" i="0" u="none" strike="noStrike" kern="1200" cap="none" spc="0" normalizeH="0" baseline="0" noProof="0" dirty="0">
                <a:ln>
                  <a:noFill/>
                </a:ln>
                <a:effectLst/>
                <a:uLnTx/>
                <a:uFillTx/>
                <a:latin typeface="source-serif-pro"/>
                <a:ea typeface="新細明體"/>
                <a:cs typeface="+mn-cs"/>
              </a:rPr>
              <a:t> )</a:t>
            </a:r>
            <a:endParaRPr kumimoji="0" lang="en-US" sz="1800" b="0" i="0" u="none" strike="noStrike" kern="1200" cap="none" spc="0" normalizeH="0" baseline="0" noProof="0" dirty="0">
              <a:ln>
                <a:noFill/>
              </a:ln>
              <a:effectLst/>
              <a:uLnTx/>
              <a:uFillTx/>
              <a:latin typeface="source-serif-pro"/>
              <a:ea typeface="新細明體"/>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en-US" sz="1800" b="0" i="0" u="none" strike="noStrike" kern="1200" cap="none" spc="0" normalizeH="0" baseline="0" noProof="0" dirty="0">
                <a:ln>
                  <a:noFill/>
                </a:ln>
                <a:effectLst/>
                <a:uLnTx/>
                <a:uFillTx/>
                <a:latin typeface="source-serif-pro"/>
                <a:ea typeface="新細明體"/>
                <a:cs typeface="+mn-cs"/>
              </a:rPr>
              <a:t>Where:</a:t>
            </a:r>
          </a:p>
          <a:p>
            <a:pPr marL="0" marR="0" lvl="0" indent="0" algn="l" defTabSz="914400" rtl="0" eaLnBrk="1" fontAlgn="auto" latinLnBrk="0" hangingPunct="1">
              <a:lnSpc>
                <a:spcPts val="2400"/>
              </a:lnSpc>
              <a:spcBef>
                <a:spcPts val="0"/>
              </a:spcBef>
              <a:spcAft>
                <a:spcPts val="0"/>
              </a:spcAft>
              <a:buClrTx/>
              <a:buSzTx/>
              <a:buFont typeface="Arial" panose="020B0604020202020204" pitchFamily="34" charset="0"/>
              <a:buChar char="•"/>
              <a:tabLst/>
              <a:defRPr/>
            </a:pPr>
            <a:r>
              <a:rPr kumimoji="0" lang="en-US" sz="1800" b="0" i="1" u="none" strike="noStrike" kern="1200" cap="none" spc="0" normalizeH="0" baseline="0" noProof="0" dirty="0">
                <a:ln>
                  <a:noFill/>
                </a:ln>
                <a:effectLst/>
                <a:uLnTx/>
                <a:uFillTx/>
                <a:latin typeface="source-serif-pro"/>
                <a:ea typeface="新細明體"/>
                <a:cs typeface="+mn-cs"/>
              </a:rPr>
              <a:t>rt is the reset gate value at time step t.</a:t>
            </a:r>
            <a:endParaRPr kumimoji="0" lang="en-US" sz="1800" b="0" i="0" u="none" strike="noStrike" kern="1200" cap="none" spc="0" normalizeH="0" baseline="0" noProof="0" dirty="0">
              <a:ln>
                <a:noFill/>
              </a:ln>
              <a:effectLst/>
              <a:uLnTx/>
              <a:uFillTx/>
              <a:latin typeface="source-serif-pro"/>
              <a:ea typeface="新細明體"/>
              <a:cs typeface="+mn-cs"/>
            </a:endParaRPr>
          </a:p>
          <a:p>
            <a:pPr marL="0" marR="0" lvl="0" indent="0" algn="l" defTabSz="914400" rtl="0" eaLnBrk="1" fontAlgn="auto" latinLnBrk="0" hangingPunct="1">
              <a:lnSpc>
                <a:spcPts val="2400"/>
              </a:lnSpc>
              <a:spcBef>
                <a:spcPts val="0"/>
              </a:spcBef>
              <a:spcAft>
                <a:spcPts val="0"/>
              </a:spcAft>
              <a:buClrTx/>
              <a:buSzTx/>
              <a:buFont typeface="Arial" panose="020B0604020202020204" pitchFamily="34" charset="0"/>
              <a:buChar char="•"/>
              <a:tabLst/>
              <a:defRPr/>
            </a:pPr>
            <a:r>
              <a:rPr kumimoji="0" lang="en-US" sz="1800" b="0" i="1" u="none" strike="noStrike" kern="1200" cap="none" spc="0" normalizeH="0" baseline="0" noProof="0" dirty="0" err="1">
                <a:ln>
                  <a:noFill/>
                </a:ln>
                <a:effectLst/>
                <a:uLnTx/>
                <a:uFillTx/>
                <a:latin typeface="source-serif-pro"/>
                <a:ea typeface="新細明體"/>
                <a:cs typeface="+mn-cs"/>
              </a:rPr>
              <a:t>Wr</a:t>
            </a:r>
            <a:r>
              <a:rPr kumimoji="0" lang="en-US" sz="1800" b="0" i="1" u="none" strike="noStrike" kern="1200" cap="none" spc="0" normalizeH="0" baseline="0" noProof="0" dirty="0">
                <a:ln>
                  <a:noFill/>
                </a:ln>
                <a:effectLst/>
                <a:uLnTx/>
                <a:uFillTx/>
                <a:latin typeface="source-serif-pro"/>
                <a:ea typeface="新細明體"/>
                <a:cs typeface="+mn-cs"/>
              </a:rPr>
              <a:t>​ is the reset gate weight.</a:t>
            </a:r>
            <a:endParaRPr kumimoji="0" lang="en-US" sz="1800" b="0" i="0" u="none" strike="noStrike" kern="1200" cap="none" spc="0" normalizeH="0" baseline="0" noProof="0" dirty="0">
              <a:ln>
                <a:noFill/>
              </a:ln>
              <a:effectLst/>
              <a:uLnTx/>
              <a:uFillTx/>
              <a:latin typeface="source-serif-pro"/>
              <a:ea typeface="新細明體"/>
              <a:cs typeface="+mn-cs"/>
            </a:endParaRPr>
          </a:p>
          <a:p>
            <a:pPr marL="0" marR="0" lvl="0" indent="0" algn="l" defTabSz="914400" rtl="0" eaLnBrk="1" fontAlgn="auto" latinLnBrk="0" hangingPunct="1">
              <a:lnSpc>
                <a:spcPts val="2400"/>
              </a:lnSpc>
              <a:spcBef>
                <a:spcPts val="0"/>
              </a:spcBef>
              <a:spcAft>
                <a:spcPts val="0"/>
              </a:spcAft>
              <a:buClrTx/>
              <a:buSzTx/>
              <a:buFont typeface="Arial" panose="020B0604020202020204" pitchFamily="34" charset="0"/>
              <a:buChar char="•"/>
              <a:tabLst/>
              <a:defRPr/>
            </a:pPr>
            <a:r>
              <a:rPr kumimoji="0" lang="en-US" sz="1800" b="0" i="1" u="none" strike="noStrike" kern="1200" cap="none" spc="0" normalizeH="0" baseline="0" noProof="0" dirty="0">
                <a:ln>
                  <a:noFill/>
                </a:ln>
                <a:effectLst/>
                <a:uLnTx/>
                <a:uFillTx/>
                <a:latin typeface="source-serif-pro"/>
                <a:ea typeface="新細明體"/>
                <a:cs typeface="+mn-cs"/>
              </a:rPr>
              <a:t>ht−1​ is the hidden state from the previous time step.</a:t>
            </a:r>
            <a:endParaRPr kumimoji="0" lang="en-US" sz="1800" b="0" i="0" u="none" strike="noStrike" kern="1200" cap="none" spc="0" normalizeH="0" baseline="0" noProof="0" dirty="0">
              <a:ln>
                <a:noFill/>
              </a:ln>
              <a:effectLst/>
              <a:uLnTx/>
              <a:uFillTx/>
              <a:latin typeface="source-serif-pro"/>
              <a:ea typeface="新細明體"/>
              <a:cs typeface="+mn-cs"/>
            </a:endParaRPr>
          </a:p>
          <a:p>
            <a:pPr marL="0" marR="0" lvl="0" indent="0" algn="l" defTabSz="914400" rtl="0" eaLnBrk="1" fontAlgn="auto" latinLnBrk="0" hangingPunct="1">
              <a:lnSpc>
                <a:spcPts val="2400"/>
              </a:lnSpc>
              <a:spcBef>
                <a:spcPts val="0"/>
              </a:spcBef>
              <a:spcAft>
                <a:spcPts val="0"/>
              </a:spcAft>
              <a:buClrTx/>
              <a:buSzTx/>
              <a:buFont typeface="Arial" panose="020B0604020202020204" pitchFamily="34" charset="0"/>
              <a:buChar char="•"/>
              <a:tabLst/>
              <a:defRPr/>
            </a:pPr>
            <a:r>
              <a:rPr kumimoji="0" lang="en-US" sz="1800" b="0" i="1" u="none" strike="noStrike" kern="1200" cap="none" spc="0" normalizeH="0" baseline="0" noProof="0" dirty="0" err="1">
                <a:ln>
                  <a:noFill/>
                </a:ln>
                <a:effectLst/>
                <a:uLnTx/>
                <a:uFillTx/>
                <a:latin typeface="source-serif-pro"/>
                <a:ea typeface="新細明體"/>
                <a:cs typeface="+mn-cs"/>
              </a:rPr>
              <a:t>xt</a:t>
            </a:r>
            <a:r>
              <a:rPr kumimoji="0" lang="en-US" sz="1800" b="0" i="1" u="none" strike="noStrike" kern="1200" cap="none" spc="0" normalizeH="0" baseline="0" noProof="0" dirty="0">
                <a:ln>
                  <a:noFill/>
                </a:ln>
                <a:effectLst/>
                <a:uLnTx/>
                <a:uFillTx/>
                <a:latin typeface="source-serif-pro"/>
                <a:ea typeface="新細明體"/>
                <a:cs typeface="+mn-cs"/>
              </a:rPr>
              <a:t>​ is the current input.</a:t>
            </a:r>
            <a:endParaRPr kumimoji="0" lang="en-US" sz="1800" b="0" i="0" u="none" strike="noStrike" kern="1200" cap="none" spc="0" normalizeH="0" baseline="0" noProof="0" dirty="0">
              <a:ln>
                <a:noFill/>
              </a:ln>
              <a:effectLst/>
              <a:uLnTx/>
              <a:uFillTx/>
              <a:latin typeface="source-serif-pro"/>
              <a:ea typeface="新細明體"/>
              <a:cs typeface="+mn-cs"/>
            </a:endParaRPr>
          </a:p>
          <a:p>
            <a:pPr marL="0" marR="0" lvl="0" indent="0" algn="l" defTabSz="914400" rtl="0" eaLnBrk="1" fontAlgn="auto" latinLnBrk="0" hangingPunct="1">
              <a:lnSpc>
                <a:spcPts val="2400"/>
              </a:lnSpc>
              <a:spcBef>
                <a:spcPts val="0"/>
              </a:spcBef>
              <a:spcAft>
                <a:spcPts val="0"/>
              </a:spcAft>
              <a:buClrTx/>
              <a:buSzTx/>
              <a:buFont typeface="Arial" panose="020B0604020202020204" pitchFamily="34" charset="0"/>
              <a:buChar char="•"/>
              <a:tabLst/>
              <a:defRPr/>
            </a:pPr>
            <a:r>
              <a:rPr kumimoji="0" lang="en-US" sz="1800" b="0" i="1" u="none" strike="noStrike" kern="1200" cap="none" spc="0" normalizeH="0" baseline="0" noProof="0" dirty="0" err="1">
                <a:ln>
                  <a:noFill/>
                </a:ln>
                <a:effectLst/>
                <a:uLnTx/>
                <a:uFillTx/>
                <a:latin typeface="source-serif-pro"/>
                <a:ea typeface="新細明體"/>
                <a:cs typeface="+mn-cs"/>
              </a:rPr>
              <a:t>br</a:t>
            </a:r>
            <a:r>
              <a:rPr kumimoji="0" lang="en-US" sz="1800" b="0" i="1" u="none" strike="noStrike" kern="1200" cap="none" spc="0" normalizeH="0" baseline="0" noProof="0" dirty="0">
                <a:ln>
                  <a:noFill/>
                </a:ln>
                <a:effectLst/>
                <a:uLnTx/>
                <a:uFillTx/>
                <a:latin typeface="source-serif-pro"/>
                <a:ea typeface="新細明體"/>
                <a:cs typeface="+mn-cs"/>
              </a:rPr>
              <a:t> is the bias term.</a:t>
            </a:r>
            <a:endParaRPr kumimoji="0" lang="en-US" sz="1800" b="0" i="0" u="none" strike="noStrike" kern="1200" cap="none" spc="0" normalizeH="0" baseline="0" noProof="0" dirty="0">
              <a:ln>
                <a:noFill/>
              </a:ln>
              <a:effectLst/>
              <a:uLnTx/>
              <a:uFillTx/>
              <a:latin typeface="source-serif-pro"/>
              <a:ea typeface="新細明體"/>
              <a:cs typeface="+mn-cs"/>
            </a:endParaRPr>
          </a:p>
          <a:p>
            <a:pPr marL="0" marR="0" lvl="0" indent="0" algn="l" defTabSz="914400" rtl="0" eaLnBrk="1" fontAlgn="auto" latinLnBrk="0" hangingPunct="1">
              <a:lnSpc>
                <a:spcPts val="2400"/>
              </a:lnSpc>
              <a:spcBef>
                <a:spcPts val="0"/>
              </a:spcBef>
              <a:spcAft>
                <a:spcPts val="0"/>
              </a:spcAft>
              <a:buClrTx/>
              <a:buSzTx/>
              <a:buFont typeface="Arial" panose="020B0604020202020204" pitchFamily="34" charset="0"/>
              <a:buChar char="•"/>
              <a:tabLst/>
              <a:defRPr/>
            </a:pPr>
            <a:r>
              <a:rPr kumimoji="0" lang="en-US" sz="1800" b="0" i="1" u="none" strike="noStrike" kern="1200" cap="none" spc="0" normalizeH="0" baseline="0" noProof="0" dirty="0">
                <a:ln>
                  <a:noFill/>
                </a:ln>
                <a:effectLst/>
                <a:uLnTx/>
                <a:uFillTx/>
                <a:latin typeface="source-serif-pro"/>
                <a:ea typeface="新細明體"/>
                <a:cs typeface="+mn-cs"/>
              </a:rPr>
              <a:t>σ is the sigmoid activation function that outputs a value between 0 and 1.</a:t>
            </a:r>
            <a:endParaRPr kumimoji="0" lang="en-IN" sz="1800" b="0" i="0" u="none" strike="noStrike" kern="1200" cap="none" spc="0" normalizeH="0" baseline="0" noProof="0" dirty="0">
              <a:ln>
                <a:noFill/>
              </a:ln>
              <a:effectLst/>
              <a:uLnTx/>
              <a:uFillTx/>
              <a:latin typeface="Arial"/>
              <a:ea typeface="新細明體"/>
              <a:cs typeface="+mn-cs"/>
            </a:endParaRPr>
          </a:p>
        </p:txBody>
      </p:sp>
      <p:sp>
        <p:nvSpPr>
          <p:cNvPr id="12" name="TextBox 11">
            <a:extLst>
              <a:ext uri="{FF2B5EF4-FFF2-40B4-BE49-F238E27FC236}">
                <a16:creationId xmlns:a16="http://schemas.microsoft.com/office/drawing/2014/main" id="{532D9E06-A36E-7AB9-76DC-D0EE4DB217A2}"/>
              </a:ext>
            </a:extLst>
          </p:cNvPr>
          <p:cNvSpPr txBox="1"/>
          <p:nvPr/>
        </p:nvSpPr>
        <p:spPr>
          <a:xfrm>
            <a:off x="1463040" y="1150402"/>
            <a:ext cx="32573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3366"/>
                </a:solidFill>
                <a:effectLst/>
                <a:uLnTx/>
                <a:uFillTx/>
                <a:latin typeface="Arial"/>
                <a:ea typeface="新細明體"/>
                <a:cs typeface="+mn-cs"/>
              </a:rPr>
              <a:t>rt</a:t>
            </a:r>
            <a:endParaRPr kumimoji="0" lang="en-IN" sz="1800" b="0" i="0" u="none" strike="noStrike" kern="1200" cap="none" spc="0" normalizeH="0" baseline="0" noProof="0" dirty="0">
              <a:ln>
                <a:noFill/>
              </a:ln>
              <a:solidFill>
                <a:srgbClr val="003366"/>
              </a:solidFill>
              <a:effectLst/>
              <a:uLnTx/>
              <a:uFillTx/>
              <a:latin typeface="Arial"/>
              <a:ea typeface="新細明體"/>
              <a:cs typeface="+mn-cs"/>
            </a:endParaRPr>
          </a:p>
        </p:txBody>
      </p:sp>
      <p:sp>
        <p:nvSpPr>
          <p:cNvPr id="18" name="TextBox 17">
            <a:extLst>
              <a:ext uri="{FF2B5EF4-FFF2-40B4-BE49-F238E27FC236}">
                <a16:creationId xmlns:a16="http://schemas.microsoft.com/office/drawing/2014/main" id="{0CEA47C7-0D87-555B-99A3-6C9D5D81A1E5}"/>
              </a:ext>
            </a:extLst>
          </p:cNvPr>
          <p:cNvSpPr txBox="1"/>
          <p:nvPr/>
        </p:nvSpPr>
        <p:spPr>
          <a:xfrm>
            <a:off x="5483858" y="1251856"/>
            <a:ext cx="6708141" cy="584775"/>
          </a:xfrm>
          <a:prstGeom prst="rect">
            <a:avLst/>
          </a:prstGeom>
          <a:noFill/>
          <a:ln>
            <a:solidFill>
              <a:srgbClr val="000000"/>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3366"/>
                </a:solidFill>
                <a:effectLst/>
                <a:uLnTx/>
                <a:uFillTx/>
                <a:latin typeface="Arial"/>
                <a:ea typeface="新細明體"/>
                <a:cs typeface="+mn-cs"/>
              </a:rPr>
              <a:t>A value of 0 means the model forgets everything from the previous hidden state, while a value of 1 means it keeps all the information.</a:t>
            </a:r>
            <a:endParaRPr kumimoji="0" lang="en-IN" sz="1600" b="1" i="0" u="none" strike="noStrike" kern="1200" cap="none" spc="0" normalizeH="0" baseline="0" noProof="0" dirty="0">
              <a:ln>
                <a:noFill/>
              </a:ln>
              <a:solidFill>
                <a:srgbClr val="003366"/>
              </a:solidFill>
              <a:effectLst/>
              <a:uLnTx/>
              <a:uFillTx/>
              <a:latin typeface="Arial"/>
              <a:ea typeface="新細明體"/>
              <a:cs typeface="+mn-cs"/>
            </a:endParaRPr>
          </a:p>
        </p:txBody>
      </p:sp>
      <p:pic>
        <p:nvPicPr>
          <p:cNvPr id="9" name="Picture 8">
            <a:extLst>
              <a:ext uri="{FF2B5EF4-FFF2-40B4-BE49-F238E27FC236}">
                <a16:creationId xmlns:a16="http://schemas.microsoft.com/office/drawing/2014/main" id="{4C01A0B4-6652-64B5-ACFC-1E1F2B1470D8}"/>
              </a:ext>
            </a:extLst>
          </p:cNvPr>
          <p:cNvPicPr>
            <a:picLocks noChangeAspect="1"/>
          </p:cNvPicPr>
          <p:nvPr/>
        </p:nvPicPr>
        <p:blipFill>
          <a:blip r:embed="rId2"/>
          <a:stretch>
            <a:fillRect/>
          </a:stretch>
        </p:blipFill>
        <p:spPr>
          <a:xfrm>
            <a:off x="224887" y="2324025"/>
            <a:ext cx="5486596" cy="4406975"/>
          </a:xfrm>
          <a:prstGeom prst="rect">
            <a:avLst/>
          </a:prstGeom>
        </p:spPr>
      </p:pic>
    </p:spTree>
    <p:extLst>
      <p:ext uri="{BB962C8B-B14F-4D97-AF65-F5344CB8AC3E}">
        <p14:creationId xmlns:p14="http://schemas.microsoft.com/office/powerpoint/2010/main" val="324955863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EDFCA-0A50-0E9A-14C4-EB999C77C928}"/>
              </a:ext>
            </a:extLst>
          </p:cNvPr>
          <p:cNvSpPr>
            <a:spLocks noGrp="1"/>
          </p:cNvSpPr>
          <p:nvPr>
            <p:ph type="title"/>
          </p:nvPr>
        </p:nvSpPr>
        <p:spPr>
          <a:xfrm>
            <a:off x="1016000" y="762000"/>
            <a:ext cx="5892800" cy="1143000"/>
          </a:xfrm>
        </p:spPr>
        <p:txBody>
          <a:bodyPr/>
          <a:lstStyle/>
          <a:p>
            <a:r>
              <a:rPr lang="en-US" dirty="0"/>
              <a:t>Fully Gated GRU</a:t>
            </a:r>
            <a:endParaRPr lang="en-IN" dirty="0"/>
          </a:p>
        </p:txBody>
      </p:sp>
      <p:sp>
        <p:nvSpPr>
          <p:cNvPr id="3" name="Content Placeholder 2">
            <a:extLst>
              <a:ext uri="{FF2B5EF4-FFF2-40B4-BE49-F238E27FC236}">
                <a16:creationId xmlns:a16="http://schemas.microsoft.com/office/drawing/2014/main" id="{8927FFDD-CD36-D892-7732-560D2C9EB64D}"/>
              </a:ext>
            </a:extLst>
          </p:cNvPr>
          <p:cNvSpPr>
            <a:spLocks noGrp="1"/>
          </p:cNvSpPr>
          <p:nvPr>
            <p:ph idx="1"/>
          </p:nvPr>
        </p:nvSpPr>
        <p:spPr>
          <a:xfrm>
            <a:off x="5175953" y="2364283"/>
            <a:ext cx="7015089" cy="4441135"/>
          </a:xfrm>
          <a:ln>
            <a:solidFill>
              <a:srgbClr val="000000"/>
            </a:solidFill>
          </a:ln>
        </p:spPr>
        <p:txBody>
          <a:bodyPr/>
          <a:lstStyle/>
          <a:p>
            <a:pPr marL="0" indent="0">
              <a:buNone/>
            </a:pPr>
            <a:r>
              <a:rPr lang="en-US" sz="1800" b="1" dirty="0"/>
              <a:t>The Update Gate</a:t>
            </a:r>
          </a:p>
          <a:p>
            <a:pPr marL="182563" indent="-182563"/>
            <a:r>
              <a:rPr lang="en-US" sz="1800" dirty="0"/>
              <a:t>The </a:t>
            </a:r>
            <a:r>
              <a:rPr lang="en-US" sz="1800" b="1" dirty="0"/>
              <a:t>update gate</a:t>
            </a:r>
            <a:r>
              <a:rPr lang="en-US" sz="1800" dirty="0"/>
              <a:t> decides </a:t>
            </a:r>
            <a:r>
              <a:rPr lang="en-US" sz="1800" b="1" dirty="0"/>
              <a:t>how much of the new information should be passed to the current hidden state</a:t>
            </a:r>
            <a:r>
              <a:rPr lang="en-US" sz="1800" dirty="0"/>
              <a:t> and </a:t>
            </a:r>
            <a:r>
              <a:rPr lang="en-US" sz="1800" b="1" dirty="0"/>
              <a:t>how much of the previous state should be retained. </a:t>
            </a:r>
            <a:r>
              <a:rPr lang="en-US" sz="1800" dirty="0"/>
              <a:t>This gate essentially controls </a:t>
            </a:r>
            <a:r>
              <a:rPr lang="en-US" sz="1800" b="1" dirty="0"/>
              <a:t>how much memory from the past should be kept </a:t>
            </a:r>
            <a:r>
              <a:rPr lang="en-US" sz="1800" dirty="0"/>
              <a:t>and </a:t>
            </a:r>
            <a:r>
              <a:rPr lang="en-US" sz="1800" b="1" dirty="0"/>
              <a:t>how much should be updated with the new input.</a:t>
            </a:r>
          </a:p>
          <a:p>
            <a:r>
              <a:rPr lang="en-US" sz="1800" b="1" dirty="0"/>
              <a:t>Mathematical Formula</a:t>
            </a:r>
            <a:r>
              <a:rPr lang="en-US" sz="1800" dirty="0"/>
              <a:t>:</a:t>
            </a:r>
            <a:br>
              <a:rPr lang="en-US" sz="1800" dirty="0"/>
            </a:br>
            <a:r>
              <a:rPr lang="en-US" sz="1800" b="1" dirty="0" err="1"/>
              <a:t>zt</a:t>
            </a:r>
            <a:r>
              <a:rPr lang="en-US" sz="1800" b="1" dirty="0"/>
              <a:t> = σ ( </a:t>
            </a:r>
            <a:r>
              <a:rPr lang="en-US" sz="1800" b="1" dirty="0" err="1"/>
              <a:t>Wz</a:t>
            </a:r>
            <a:r>
              <a:rPr lang="en-US" sz="1800" b="1" dirty="0"/>
              <a:t> ⋅ [ ht−1 , </a:t>
            </a:r>
            <a:r>
              <a:rPr lang="en-US" sz="1800" b="1" dirty="0" err="1"/>
              <a:t>xt</a:t>
            </a:r>
            <a:r>
              <a:rPr lang="en-US" sz="1800" b="1" dirty="0"/>
              <a:t> ] + </a:t>
            </a:r>
            <a:r>
              <a:rPr lang="en-US" sz="1800" b="1" dirty="0" err="1"/>
              <a:t>bz</a:t>
            </a:r>
            <a:r>
              <a:rPr lang="en-US" sz="1800" b="1" dirty="0"/>
              <a:t> )</a:t>
            </a:r>
            <a:endParaRPr lang="en-US" sz="1800" dirty="0"/>
          </a:p>
          <a:p>
            <a:pPr marL="0" indent="0">
              <a:buNone/>
            </a:pPr>
            <a:r>
              <a:rPr lang="en-US" sz="1800" dirty="0"/>
              <a:t>Where:</a:t>
            </a:r>
          </a:p>
          <a:p>
            <a:pPr marL="365125" indent="0">
              <a:buNone/>
            </a:pPr>
            <a:r>
              <a:rPr lang="en-US" sz="1800" i="1" dirty="0" err="1"/>
              <a:t>zt</a:t>
            </a:r>
            <a:r>
              <a:rPr lang="en-US" sz="1800" i="1" dirty="0"/>
              <a:t>​ is the update gate value at time step </a:t>
            </a:r>
            <a:r>
              <a:rPr lang="en-US" sz="1800" i="1" dirty="0" err="1"/>
              <a:t>ttt</a:t>
            </a:r>
            <a:r>
              <a:rPr lang="en-US" sz="1800" i="1" dirty="0"/>
              <a:t>.</a:t>
            </a:r>
            <a:endParaRPr lang="en-US" sz="1800" dirty="0"/>
          </a:p>
          <a:p>
            <a:pPr marL="365125" indent="0">
              <a:buNone/>
            </a:pPr>
            <a:r>
              <a:rPr lang="en-US" sz="1800" i="1" dirty="0" err="1"/>
              <a:t>Wz</a:t>
            </a:r>
            <a:r>
              <a:rPr lang="en-US" sz="1800" i="1" dirty="0"/>
              <a:t>​ is the weight for the update gate.</a:t>
            </a:r>
            <a:endParaRPr lang="en-US" sz="1800" dirty="0"/>
          </a:p>
          <a:p>
            <a:pPr marL="365125" indent="0">
              <a:buNone/>
            </a:pPr>
            <a:r>
              <a:rPr lang="en-US" sz="1800" i="1" dirty="0"/>
              <a:t>ht−1 is the previous hidden state.</a:t>
            </a:r>
            <a:endParaRPr lang="en-US" sz="1800" dirty="0"/>
          </a:p>
          <a:p>
            <a:pPr marL="365125" indent="0">
              <a:buNone/>
            </a:pPr>
            <a:r>
              <a:rPr lang="en-US" sz="1800" i="1" dirty="0" err="1"/>
              <a:t>xt</a:t>
            </a:r>
            <a:r>
              <a:rPr lang="en-US" sz="1800" i="1" dirty="0"/>
              <a:t> is the current input.</a:t>
            </a:r>
            <a:endParaRPr lang="en-US" sz="1800" dirty="0"/>
          </a:p>
          <a:p>
            <a:pPr marL="365125" indent="0">
              <a:buNone/>
            </a:pPr>
            <a:r>
              <a:rPr lang="en-US" sz="1800" i="1" dirty="0" err="1"/>
              <a:t>bz</a:t>
            </a:r>
            <a:r>
              <a:rPr lang="en-US" sz="1800" i="1" dirty="0"/>
              <a:t>​ is the bias term.</a:t>
            </a:r>
          </a:p>
          <a:p>
            <a:pPr marL="365125" indent="0">
              <a:buNone/>
            </a:pPr>
            <a:endParaRPr lang="en-US" sz="1800" dirty="0"/>
          </a:p>
        </p:txBody>
      </p:sp>
      <p:sp>
        <p:nvSpPr>
          <p:cNvPr id="4" name="Slide Number Placeholder 3">
            <a:extLst>
              <a:ext uri="{FF2B5EF4-FFF2-40B4-BE49-F238E27FC236}">
                <a16:creationId xmlns:a16="http://schemas.microsoft.com/office/drawing/2014/main" id="{44775FDC-092D-F6F5-5D28-13E89D0FA063}"/>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AD681D7-8A59-4380-9311-10B86FF921AA}" type="slidenum">
              <a:rPr kumimoji="0" lang="en-US" altLang="zh-TW" sz="2600" b="1" i="0" u="none" strike="noStrike" kern="1200" cap="none" spc="0" normalizeH="0" baseline="0" noProof="0" smtClean="0">
                <a:ln>
                  <a:noFill/>
                </a:ln>
                <a:solidFill>
                  <a:srgbClr val="FFFFFF"/>
                </a:solidFill>
                <a:effectLst/>
                <a:uLnTx/>
                <a:uFillTx/>
                <a:latin typeface="Arial"/>
                <a:ea typeface="新細明體" panose="02020500000000000000" pitchFamily="18" charset="-120"/>
                <a:cs typeface="+mn-cs"/>
              </a:rPr>
              <a:pPr marL="0" marR="0" lvl="0" indent="0" algn="l" defTabSz="914400" rtl="0" eaLnBrk="1" fontAlgn="auto" latinLnBrk="0" hangingPunct="1">
                <a:lnSpc>
                  <a:spcPct val="100000"/>
                </a:lnSpc>
                <a:spcBef>
                  <a:spcPts val="0"/>
                </a:spcBef>
                <a:spcAft>
                  <a:spcPts val="0"/>
                </a:spcAft>
                <a:buClrTx/>
                <a:buSzTx/>
                <a:buFontTx/>
                <a:buNone/>
                <a:tabLst/>
                <a:defRPr/>
              </a:pPr>
              <a:t>51</a:t>
            </a:fld>
            <a:endParaRPr kumimoji="0" lang="en-US" altLang="zh-TW" sz="2600" b="1" i="0" u="none" strike="noStrike" kern="1200" cap="none" spc="0" normalizeH="0" baseline="0" noProof="0">
              <a:ln>
                <a:noFill/>
              </a:ln>
              <a:solidFill>
                <a:srgbClr val="FFFFFF"/>
              </a:solidFill>
              <a:effectLst/>
              <a:uLnTx/>
              <a:uFillTx/>
              <a:latin typeface="Arial"/>
              <a:ea typeface="新細明體" panose="02020500000000000000" pitchFamily="18" charset="-120"/>
              <a:cs typeface="+mn-cs"/>
            </a:endParaRPr>
          </a:p>
        </p:txBody>
      </p:sp>
      <p:sp>
        <p:nvSpPr>
          <p:cNvPr id="10" name="TextBox 9">
            <a:extLst>
              <a:ext uri="{FF2B5EF4-FFF2-40B4-BE49-F238E27FC236}">
                <a16:creationId xmlns:a16="http://schemas.microsoft.com/office/drawing/2014/main" id="{D9607303-C061-8D7D-6CD6-ABD292B7DB72}"/>
              </a:ext>
            </a:extLst>
          </p:cNvPr>
          <p:cNvSpPr txBox="1"/>
          <p:nvPr/>
        </p:nvSpPr>
        <p:spPr>
          <a:xfrm>
            <a:off x="6908800" y="929595"/>
            <a:ext cx="5283200" cy="1015663"/>
          </a:xfrm>
          <a:prstGeom prst="rect">
            <a:avLst/>
          </a:prstGeom>
          <a:noFill/>
          <a:ln>
            <a:solidFill>
              <a:srgbClr val="000000"/>
            </a:solidFill>
          </a:ln>
        </p:spPr>
        <p:txBody>
          <a:bodyPr wrap="square">
            <a:spAutoFit/>
          </a:bodyPr>
          <a:lstStyle/>
          <a:p>
            <a:pPr marL="0" marR="0" lvl="0" indent="0" algn="l" defTabSz="914400" rtl="0" eaLnBrk="0" fontAlgn="base" latinLnBrk="0" hangingPunct="0">
              <a:lnSpc>
                <a:spcPct val="100000"/>
              </a:lnSpc>
              <a:spcBef>
                <a:spcPct val="20000"/>
              </a:spcBef>
              <a:spcAft>
                <a:spcPct val="0"/>
              </a:spcAft>
              <a:buClr>
                <a:srgbClr val="003366"/>
              </a:buClr>
              <a:buSzPct val="75000"/>
              <a:buFont typeface="Wingdings" panose="05000000000000000000" pitchFamily="2" charset="2"/>
              <a:buNone/>
              <a:tabLst/>
              <a:defRPr/>
            </a:pPr>
            <a:r>
              <a:rPr kumimoji="1" lang="en-US" sz="1500" b="1" i="0" u="none" strike="noStrike" kern="1200" cap="none" spc="0" normalizeH="0" baseline="0" noProof="0" dirty="0">
                <a:ln>
                  <a:noFill/>
                </a:ln>
                <a:solidFill>
                  <a:srgbClr val="003366"/>
                </a:solidFill>
                <a:effectLst/>
                <a:uLnTx/>
                <a:uFillTx/>
                <a:latin typeface="Arial"/>
                <a:ea typeface="PMingLiU" panose="02020500000000000000" pitchFamily="18" charset="-120"/>
                <a:cs typeface="+mn-cs"/>
              </a:rPr>
              <a:t>The output of this gate is also between 0 and 1. A value of 0 means the model relies entirely on the previous hidden state, and a value of 1 means it relies entirely on the new input.</a:t>
            </a:r>
            <a:endParaRPr kumimoji="1" lang="en-IN" sz="1500" b="1" i="0" u="none" strike="noStrike" kern="1200" cap="none" spc="0" normalizeH="0" baseline="0" noProof="0" dirty="0">
              <a:ln>
                <a:noFill/>
              </a:ln>
              <a:solidFill>
                <a:srgbClr val="003366"/>
              </a:solidFill>
              <a:effectLst/>
              <a:uLnTx/>
              <a:uFillTx/>
              <a:latin typeface="Arial"/>
              <a:ea typeface="PMingLiU" panose="02020500000000000000" pitchFamily="18" charset="-120"/>
              <a:cs typeface="+mn-cs"/>
            </a:endParaRPr>
          </a:p>
        </p:txBody>
      </p:sp>
      <p:pic>
        <p:nvPicPr>
          <p:cNvPr id="9" name="Picture 8">
            <a:extLst>
              <a:ext uri="{FF2B5EF4-FFF2-40B4-BE49-F238E27FC236}">
                <a16:creationId xmlns:a16="http://schemas.microsoft.com/office/drawing/2014/main" id="{A75FD412-D305-5D8D-7653-B0873A451D5C}"/>
              </a:ext>
            </a:extLst>
          </p:cNvPr>
          <p:cNvPicPr>
            <a:picLocks noChangeAspect="1"/>
          </p:cNvPicPr>
          <p:nvPr/>
        </p:nvPicPr>
        <p:blipFill>
          <a:blip r:embed="rId2"/>
          <a:stretch>
            <a:fillRect/>
          </a:stretch>
        </p:blipFill>
        <p:spPr>
          <a:xfrm>
            <a:off x="0" y="2324025"/>
            <a:ext cx="5175953" cy="4481393"/>
          </a:xfrm>
          <a:prstGeom prst="rect">
            <a:avLst/>
          </a:prstGeom>
        </p:spPr>
      </p:pic>
    </p:spTree>
    <p:extLst>
      <p:ext uri="{BB962C8B-B14F-4D97-AF65-F5344CB8AC3E}">
        <p14:creationId xmlns:p14="http://schemas.microsoft.com/office/powerpoint/2010/main" val="245118014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5479E5-798B-FC66-9973-8242FB45851A}"/>
              </a:ext>
            </a:extLst>
          </p:cNvPr>
          <p:cNvSpPr>
            <a:spLocks noGrp="1"/>
          </p:cNvSpPr>
          <p:nvPr>
            <p:ph type="title"/>
          </p:nvPr>
        </p:nvSpPr>
        <p:spPr>
          <a:xfrm>
            <a:off x="1016000" y="762000"/>
            <a:ext cx="5401733" cy="1143000"/>
          </a:xfrm>
        </p:spPr>
        <p:txBody>
          <a:bodyPr/>
          <a:lstStyle/>
          <a:p>
            <a:r>
              <a:rPr lang="en-US" dirty="0"/>
              <a:t>Fully Gated GRU</a:t>
            </a:r>
            <a:endParaRPr lang="en-IN" dirty="0"/>
          </a:p>
        </p:txBody>
      </p:sp>
      <p:sp>
        <p:nvSpPr>
          <p:cNvPr id="3" name="Content Placeholder 2">
            <a:extLst>
              <a:ext uri="{FF2B5EF4-FFF2-40B4-BE49-F238E27FC236}">
                <a16:creationId xmlns:a16="http://schemas.microsoft.com/office/drawing/2014/main" id="{ED5CC707-D4DA-6D24-EA74-F2BCBF1377D0}"/>
              </a:ext>
            </a:extLst>
          </p:cNvPr>
          <p:cNvSpPr>
            <a:spLocks noGrp="1"/>
          </p:cNvSpPr>
          <p:nvPr>
            <p:ph idx="1"/>
          </p:nvPr>
        </p:nvSpPr>
        <p:spPr>
          <a:xfrm>
            <a:off x="5176911" y="2311401"/>
            <a:ext cx="6902905" cy="4546599"/>
          </a:xfrm>
          <a:ln>
            <a:solidFill>
              <a:srgbClr val="000000"/>
            </a:solidFill>
          </a:ln>
        </p:spPr>
        <p:txBody>
          <a:bodyPr/>
          <a:lstStyle/>
          <a:p>
            <a:pPr marL="0" indent="0" algn="l">
              <a:lnSpc>
                <a:spcPts val="2400"/>
              </a:lnSpc>
              <a:buNone/>
            </a:pPr>
            <a:r>
              <a:rPr lang="en-US" sz="2000" b="0" i="0" dirty="0">
                <a:effectLst/>
                <a:latin typeface="source-serif-pro"/>
              </a:rPr>
              <a:t>The candidate hidden state is the </a:t>
            </a:r>
            <a:r>
              <a:rPr lang="en-US" sz="2000" b="1" i="0" dirty="0">
                <a:effectLst/>
                <a:latin typeface="source-serif-pro"/>
              </a:rPr>
              <a:t>potential new memory </a:t>
            </a:r>
            <a:r>
              <a:rPr lang="en-US" sz="2000" b="0" i="0" dirty="0">
                <a:effectLst/>
                <a:latin typeface="source-serif-pro"/>
              </a:rPr>
              <a:t>that </a:t>
            </a:r>
            <a:r>
              <a:rPr lang="en-US" sz="2000" b="1" i="0" dirty="0">
                <a:effectLst/>
                <a:latin typeface="source-serif-pro"/>
              </a:rPr>
              <a:t>will be considered for updating the current hidden state</a:t>
            </a:r>
            <a:r>
              <a:rPr lang="en-US" sz="2000" b="0" i="0" dirty="0">
                <a:effectLst/>
                <a:latin typeface="source-serif-pro"/>
              </a:rPr>
              <a:t>. The </a:t>
            </a:r>
            <a:r>
              <a:rPr lang="en-US" sz="2000" b="1" i="0" dirty="0">
                <a:effectLst/>
                <a:latin typeface="source-serif-pro"/>
              </a:rPr>
              <a:t>model generates a candidate value based on the current input and the previous hidden state</a:t>
            </a:r>
            <a:r>
              <a:rPr lang="en-US" sz="2000" b="0" i="0" dirty="0">
                <a:effectLst/>
                <a:latin typeface="source-serif-pro"/>
              </a:rPr>
              <a:t>, but </a:t>
            </a:r>
            <a:r>
              <a:rPr lang="en-US" sz="2000" b="1" i="0" dirty="0">
                <a:effectLst/>
                <a:latin typeface="source-serif-pro"/>
              </a:rPr>
              <a:t>it only uses this new candidate when it is combined with the update gate.</a:t>
            </a:r>
          </a:p>
          <a:p>
            <a:pPr>
              <a:lnSpc>
                <a:spcPts val="2400"/>
              </a:lnSpc>
              <a:buNone/>
            </a:pPr>
            <a:r>
              <a:rPr lang="en-US" sz="2000" b="1" i="0" dirty="0">
                <a:effectLst/>
                <a:latin typeface="source-serif-pro"/>
              </a:rPr>
              <a:t>Mathematical Formula</a:t>
            </a:r>
            <a:r>
              <a:rPr lang="en-US" sz="2000" b="0" i="0" dirty="0">
                <a:effectLst/>
                <a:latin typeface="source-serif-pro"/>
              </a:rPr>
              <a:t>:</a:t>
            </a:r>
            <a:br>
              <a:rPr lang="en-US" sz="2000" b="0" i="0" dirty="0">
                <a:effectLst/>
                <a:latin typeface="source-serif-pro"/>
              </a:rPr>
            </a:br>
            <a:r>
              <a:rPr lang="en-US" sz="2000" b="1" dirty="0" err="1">
                <a:latin typeface="source-serif-pro"/>
              </a:rPr>
              <a:t>h~t</a:t>
            </a:r>
            <a:r>
              <a:rPr lang="en-US" sz="2000" b="1" dirty="0">
                <a:latin typeface="source-serif-pro"/>
              </a:rPr>
              <a:t> = </a:t>
            </a:r>
            <a:r>
              <a:rPr lang="en-US" sz="2000" b="1" i="0" dirty="0">
                <a:effectLst/>
                <a:latin typeface="source-serif-pro"/>
              </a:rPr>
              <a:t>tanh ⁡( </a:t>
            </a:r>
            <a:r>
              <a:rPr lang="en-US" sz="2000" b="1" i="0" dirty="0" err="1">
                <a:effectLst/>
                <a:latin typeface="source-serif-pro"/>
              </a:rPr>
              <a:t>Wh</a:t>
            </a:r>
            <a:r>
              <a:rPr lang="en-US" sz="2000" b="1" i="0" dirty="0">
                <a:effectLst/>
                <a:latin typeface="source-serif-pro"/>
              </a:rPr>
              <a:t> ⋅ [ rt ⋅ ht−1 , </a:t>
            </a:r>
            <a:r>
              <a:rPr lang="en-US" sz="2000" b="1" i="0" dirty="0" err="1">
                <a:effectLst/>
                <a:latin typeface="source-serif-pro"/>
              </a:rPr>
              <a:t>xt</a:t>
            </a:r>
            <a:r>
              <a:rPr lang="en-US" sz="2000" b="1" i="0" dirty="0">
                <a:effectLst/>
                <a:latin typeface="source-serif-pro"/>
              </a:rPr>
              <a:t> ] + </a:t>
            </a:r>
            <a:r>
              <a:rPr lang="en-US" sz="2000" b="1" i="0" dirty="0" err="1">
                <a:effectLst/>
                <a:latin typeface="source-serif-pro"/>
              </a:rPr>
              <a:t>bh</a:t>
            </a:r>
            <a:r>
              <a:rPr lang="en-US" sz="2000" b="1" i="0" dirty="0">
                <a:effectLst/>
                <a:latin typeface="source-serif-pro"/>
              </a:rPr>
              <a:t> )</a:t>
            </a:r>
            <a:endParaRPr lang="en-US" sz="2000" b="0" i="0" dirty="0">
              <a:effectLst/>
              <a:latin typeface="source-serif-pro"/>
            </a:endParaRPr>
          </a:p>
          <a:p>
            <a:pPr algn="l">
              <a:lnSpc>
                <a:spcPts val="2400"/>
              </a:lnSpc>
              <a:buNone/>
            </a:pPr>
            <a:r>
              <a:rPr lang="en-US" sz="2000" b="0" i="0" dirty="0">
                <a:effectLst/>
                <a:latin typeface="source-serif-pro"/>
              </a:rPr>
              <a:t>Where:</a:t>
            </a:r>
          </a:p>
          <a:p>
            <a:pPr marL="84138" indent="0">
              <a:lnSpc>
                <a:spcPts val="2400"/>
              </a:lnSpc>
              <a:buNone/>
            </a:pPr>
            <a:r>
              <a:rPr lang="en-US" sz="2000" dirty="0" err="1">
                <a:latin typeface="source-serif-pro"/>
              </a:rPr>
              <a:t>h~t</a:t>
            </a:r>
            <a:r>
              <a:rPr lang="en-US" sz="2000" b="1" dirty="0">
                <a:latin typeface="source-serif-pro"/>
              </a:rPr>
              <a:t> </a:t>
            </a:r>
            <a:r>
              <a:rPr lang="en-US" sz="2000" b="0" i="1" dirty="0">
                <a:effectLst/>
                <a:latin typeface="source-serif-pro"/>
              </a:rPr>
              <a:t>is the candidate hidden state.</a:t>
            </a:r>
            <a:endParaRPr lang="en-US" sz="2000" b="0" i="0" dirty="0">
              <a:effectLst/>
              <a:latin typeface="source-serif-pro"/>
            </a:endParaRPr>
          </a:p>
          <a:p>
            <a:pPr marL="84138" indent="0" algn="l">
              <a:lnSpc>
                <a:spcPts val="2400"/>
              </a:lnSpc>
              <a:buNone/>
            </a:pPr>
            <a:r>
              <a:rPr lang="en-US" sz="2000" b="0" i="1" dirty="0" err="1">
                <a:effectLst/>
                <a:latin typeface="source-serif-pro"/>
              </a:rPr>
              <a:t>Wh</a:t>
            </a:r>
            <a:r>
              <a:rPr lang="en-US" sz="2000" b="0" i="1" dirty="0">
                <a:effectLst/>
                <a:latin typeface="source-serif-pro"/>
              </a:rPr>
              <a:t> is the weight for the candidate hidden state.</a:t>
            </a:r>
            <a:endParaRPr lang="en-US" sz="2000" b="0" i="0" dirty="0">
              <a:effectLst/>
              <a:latin typeface="source-serif-pro"/>
            </a:endParaRPr>
          </a:p>
          <a:p>
            <a:pPr marL="84138" indent="0" algn="l">
              <a:lnSpc>
                <a:spcPts val="2400"/>
              </a:lnSpc>
              <a:buNone/>
            </a:pPr>
            <a:r>
              <a:rPr lang="en-US" sz="2000" b="0" i="1" dirty="0">
                <a:effectLst/>
                <a:latin typeface="source-serif-pro"/>
              </a:rPr>
              <a:t>rt is the reset gate value.</a:t>
            </a:r>
            <a:endParaRPr lang="en-US" sz="2000" b="0" i="0" dirty="0">
              <a:effectLst/>
              <a:latin typeface="source-serif-pro"/>
            </a:endParaRPr>
          </a:p>
          <a:p>
            <a:pPr marL="84138" indent="0" algn="l">
              <a:lnSpc>
                <a:spcPts val="2400"/>
              </a:lnSpc>
              <a:buNone/>
            </a:pPr>
            <a:r>
              <a:rPr lang="en-US" sz="2000" b="0" i="1" dirty="0">
                <a:effectLst/>
                <a:latin typeface="source-serif-pro"/>
              </a:rPr>
              <a:t>tanh⁡ is the hyperbolic tangent activation function, which helps scale the output between -1 and 1.</a:t>
            </a:r>
            <a:endParaRPr lang="en-IN" dirty="0"/>
          </a:p>
        </p:txBody>
      </p:sp>
      <p:sp>
        <p:nvSpPr>
          <p:cNvPr id="4" name="Slide Number Placeholder 3">
            <a:extLst>
              <a:ext uri="{FF2B5EF4-FFF2-40B4-BE49-F238E27FC236}">
                <a16:creationId xmlns:a16="http://schemas.microsoft.com/office/drawing/2014/main" id="{7C23412C-2A5F-9767-97F5-17F13186E523}"/>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AD681D7-8A59-4380-9311-10B86FF921AA}" type="slidenum">
              <a:rPr kumimoji="0" lang="en-US" altLang="zh-TW" sz="2600" b="1" i="0" u="none" strike="noStrike" kern="1200" cap="none" spc="0" normalizeH="0" baseline="0" noProof="0" smtClean="0">
                <a:ln>
                  <a:noFill/>
                </a:ln>
                <a:solidFill>
                  <a:srgbClr val="FFFFFF"/>
                </a:solidFill>
                <a:effectLst/>
                <a:uLnTx/>
                <a:uFillTx/>
                <a:latin typeface="Arial"/>
                <a:ea typeface="新細明體" panose="02020500000000000000" pitchFamily="18" charset="-120"/>
                <a:cs typeface="+mn-cs"/>
              </a:rPr>
              <a:pPr marL="0" marR="0" lvl="0" indent="0" algn="l" defTabSz="914400" rtl="0" eaLnBrk="1" fontAlgn="auto" latinLnBrk="0" hangingPunct="1">
                <a:lnSpc>
                  <a:spcPct val="100000"/>
                </a:lnSpc>
                <a:spcBef>
                  <a:spcPts val="0"/>
                </a:spcBef>
                <a:spcAft>
                  <a:spcPts val="0"/>
                </a:spcAft>
                <a:buClrTx/>
                <a:buSzTx/>
                <a:buFontTx/>
                <a:buNone/>
                <a:tabLst/>
                <a:defRPr/>
              </a:pPr>
              <a:t>52</a:t>
            </a:fld>
            <a:endParaRPr kumimoji="0" lang="en-US" altLang="zh-TW" sz="2600" b="1" i="0" u="none" strike="noStrike" kern="1200" cap="none" spc="0" normalizeH="0" baseline="0" noProof="0">
              <a:ln>
                <a:noFill/>
              </a:ln>
              <a:solidFill>
                <a:srgbClr val="FFFFFF"/>
              </a:solidFill>
              <a:effectLst/>
              <a:uLnTx/>
              <a:uFillTx/>
              <a:latin typeface="Arial"/>
              <a:ea typeface="新細明體" panose="02020500000000000000" pitchFamily="18" charset="-120"/>
              <a:cs typeface="+mn-cs"/>
            </a:endParaRPr>
          </a:p>
        </p:txBody>
      </p:sp>
      <p:sp>
        <p:nvSpPr>
          <p:cNvPr id="6" name="TextBox 5">
            <a:extLst>
              <a:ext uri="{FF2B5EF4-FFF2-40B4-BE49-F238E27FC236}">
                <a16:creationId xmlns:a16="http://schemas.microsoft.com/office/drawing/2014/main" id="{35E47E1C-FC94-5BD5-CB17-E2CCB0DE9DE5}"/>
              </a:ext>
            </a:extLst>
          </p:cNvPr>
          <p:cNvSpPr txBox="1"/>
          <p:nvPr/>
        </p:nvSpPr>
        <p:spPr>
          <a:xfrm>
            <a:off x="6865033" y="581561"/>
            <a:ext cx="5214783" cy="1323439"/>
          </a:xfrm>
          <a:prstGeom prst="rect">
            <a:avLst/>
          </a:prstGeom>
          <a:noFill/>
          <a:ln>
            <a:solidFill>
              <a:srgbClr val="000000"/>
            </a:solidFill>
          </a:ln>
        </p:spPr>
        <p:txBody>
          <a:bodyPr wrap="square">
            <a:spAutoFit/>
          </a:bodyPr>
          <a:lstStyle/>
          <a:p>
            <a:pPr marL="0" marR="0" lvl="0" indent="0" algn="l" defTabSz="914400" rtl="0" eaLnBrk="0" fontAlgn="base" latinLnBrk="0" hangingPunct="0">
              <a:lnSpc>
                <a:spcPts val="2400"/>
              </a:lnSpc>
              <a:spcBef>
                <a:spcPct val="20000"/>
              </a:spcBef>
              <a:spcAft>
                <a:spcPct val="0"/>
              </a:spcAft>
              <a:buClr>
                <a:srgbClr val="003366"/>
              </a:buClr>
              <a:buSzPct val="75000"/>
              <a:buFont typeface="Wingdings" panose="05000000000000000000" pitchFamily="2" charset="2"/>
              <a:buNone/>
              <a:tabLst/>
              <a:defRPr/>
            </a:pPr>
            <a:r>
              <a:rPr kumimoji="1" lang="en-US" sz="2000" b="0" i="0" u="none" strike="noStrike" kern="1200" cap="none" spc="0" normalizeH="0" baseline="0" noProof="0" dirty="0">
                <a:ln>
                  <a:noFill/>
                </a:ln>
                <a:effectLst/>
                <a:uLnTx/>
                <a:uFillTx/>
                <a:latin typeface="source-serif-pro"/>
                <a:ea typeface="PMingLiU" panose="02020500000000000000" pitchFamily="18" charset="-120"/>
                <a:cs typeface="+mn-cs"/>
              </a:rPr>
              <a:t>The reset gate rt plays a key role in controlling </a:t>
            </a:r>
            <a:r>
              <a:rPr kumimoji="1" lang="en-US" sz="2000" b="1" i="0" u="none" strike="noStrike" kern="1200" cap="none" spc="0" normalizeH="0" baseline="0" noProof="0" dirty="0">
                <a:ln>
                  <a:noFill/>
                </a:ln>
                <a:effectLst/>
                <a:uLnTx/>
                <a:uFillTx/>
                <a:latin typeface="source-serif-pro"/>
                <a:ea typeface="PMingLiU" panose="02020500000000000000" pitchFamily="18" charset="-120"/>
                <a:cs typeface="+mn-cs"/>
              </a:rPr>
              <a:t>how much of the previous hidden state should be involved when generating the candidate hidden state</a:t>
            </a:r>
            <a:r>
              <a:rPr kumimoji="1" lang="en-US" sz="2000" b="0" i="0" u="none" strike="noStrike" kern="1200" cap="none" spc="0" normalizeH="0" baseline="0" noProof="0" dirty="0">
                <a:ln>
                  <a:noFill/>
                </a:ln>
                <a:effectLst/>
                <a:uLnTx/>
                <a:uFillTx/>
                <a:latin typeface="source-serif-pro"/>
                <a:ea typeface="PMingLiU" panose="02020500000000000000" pitchFamily="18" charset="-120"/>
                <a:cs typeface="+mn-cs"/>
              </a:rPr>
              <a:t>.</a:t>
            </a:r>
          </a:p>
        </p:txBody>
      </p:sp>
      <p:pic>
        <p:nvPicPr>
          <p:cNvPr id="9" name="Picture 8">
            <a:extLst>
              <a:ext uri="{FF2B5EF4-FFF2-40B4-BE49-F238E27FC236}">
                <a16:creationId xmlns:a16="http://schemas.microsoft.com/office/drawing/2014/main" id="{EF030863-5EC9-2395-4F85-345F306ECFFA}"/>
              </a:ext>
            </a:extLst>
          </p:cNvPr>
          <p:cNvPicPr>
            <a:picLocks noChangeAspect="1"/>
          </p:cNvPicPr>
          <p:nvPr/>
        </p:nvPicPr>
        <p:blipFill>
          <a:blip r:embed="rId2"/>
          <a:stretch>
            <a:fillRect/>
          </a:stretch>
        </p:blipFill>
        <p:spPr>
          <a:xfrm>
            <a:off x="0" y="2311401"/>
            <a:ext cx="5176911" cy="4546599"/>
          </a:xfrm>
          <a:prstGeom prst="rect">
            <a:avLst/>
          </a:prstGeom>
        </p:spPr>
      </p:pic>
    </p:spTree>
    <p:extLst>
      <p:ext uri="{BB962C8B-B14F-4D97-AF65-F5344CB8AC3E}">
        <p14:creationId xmlns:p14="http://schemas.microsoft.com/office/powerpoint/2010/main" val="28651315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C93DF-10FD-4115-A6CA-4B484F11108F}"/>
              </a:ext>
            </a:extLst>
          </p:cNvPr>
          <p:cNvSpPr>
            <a:spLocks noGrp="1"/>
          </p:cNvSpPr>
          <p:nvPr>
            <p:ph type="title"/>
          </p:nvPr>
        </p:nvSpPr>
        <p:spPr>
          <a:xfrm>
            <a:off x="1016000" y="762000"/>
            <a:ext cx="5080000" cy="1143000"/>
          </a:xfrm>
        </p:spPr>
        <p:txBody>
          <a:bodyPr/>
          <a:lstStyle/>
          <a:p>
            <a:r>
              <a:rPr lang="en-US" dirty="0"/>
              <a:t>Fully Gated GRU</a:t>
            </a:r>
            <a:endParaRPr lang="en-IN" dirty="0"/>
          </a:p>
        </p:txBody>
      </p:sp>
      <p:sp>
        <p:nvSpPr>
          <p:cNvPr id="3" name="Content Placeholder 2">
            <a:extLst>
              <a:ext uri="{FF2B5EF4-FFF2-40B4-BE49-F238E27FC236}">
                <a16:creationId xmlns:a16="http://schemas.microsoft.com/office/drawing/2014/main" id="{9FA09B43-ECE2-0348-367F-AF01E41881C8}"/>
              </a:ext>
            </a:extLst>
          </p:cNvPr>
          <p:cNvSpPr>
            <a:spLocks noGrp="1"/>
          </p:cNvSpPr>
          <p:nvPr>
            <p:ph idx="1"/>
          </p:nvPr>
        </p:nvSpPr>
        <p:spPr>
          <a:xfrm>
            <a:off x="5926667" y="2309990"/>
            <a:ext cx="6265333" cy="4493895"/>
          </a:xfrm>
          <a:ln>
            <a:solidFill>
              <a:srgbClr val="000000"/>
            </a:solidFill>
          </a:ln>
        </p:spPr>
        <p:txBody>
          <a:bodyPr/>
          <a:lstStyle/>
          <a:p>
            <a:pPr algn="l">
              <a:lnSpc>
                <a:spcPts val="1800"/>
              </a:lnSpc>
              <a:buNone/>
            </a:pPr>
            <a:r>
              <a:rPr lang="en-US" sz="2000" b="1" i="0" dirty="0">
                <a:effectLst/>
                <a:latin typeface="sohne"/>
              </a:rPr>
              <a:t>The Final Hidden State</a:t>
            </a:r>
          </a:p>
          <a:p>
            <a:pPr marL="0" indent="0" algn="l">
              <a:lnSpc>
                <a:spcPts val="2400"/>
              </a:lnSpc>
              <a:buNone/>
            </a:pPr>
            <a:r>
              <a:rPr lang="en-US" sz="2000" b="0" i="0" dirty="0">
                <a:effectLst/>
                <a:latin typeface="source-serif-pro"/>
              </a:rPr>
              <a:t>Finally, the model </a:t>
            </a:r>
            <a:r>
              <a:rPr lang="en-US" sz="2000" b="1" i="0" dirty="0">
                <a:effectLst/>
                <a:latin typeface="source-serif-pro"/>
              </a:rPr>
              <a:t>combines the candidate hidden state with the previous hidden state</a:t>
            </a:r>
            <a:r>
              <a:rPr lang="en-US" sz="2000" b="0" i="0" dirty="0">
                <a:effectLst/>
                <a:latin typeface="source-serif-pro"/>
              </a:rPr>
              <a:t>, guided by the update gate. The final hidden state is a </a:t>
            </a:r>
            <a:r>
              <a:rPr lang="en-US" sz="2000" b="1" i="0" dirty="0">
                <a:effectLst/>
                <a:latin typeface="source-serif-pro"/>
              </a:rPr>
              <a:t>blend of the previous memory and the new candidate memory</a:t>
            </a:r>
            <a:r>
              <a:rPr lang="en-US" sz="2000" b="0" i="0" dirty="0">
                <a:effectLst/>
                <a:latin typeface="source-serif-pro"/>
              </a:rPr>
              <a:t>.</a:t>
            </a:r>
          </a:p>
          <a:p>
            <a:pPr>
              <a:lnSpc>
                <a:spcPts val="2400"/>
              </a:lnSpc>
              <a:buNone/>
            </a:pPr>
            <a:r>
              <a:rPr lang="en-US" sz="2000" b="1" i="0" dirty="0">
                <a:effectLst/>
                <a:latin typeface="source-serif-pro"/>
              </a:rPr>
              <a:t>Mathematical Formula</a:t>
            </a:r>
            <a:r>
              <a:rPr lang="en-US" sz="2000" b="0" i="0" dirty="0">
                <a:effectLst/>
                <a:latin typeface="source-serif-pro"/>
              </a:rPr>
              <a:t>:</a:t>
            </a:r>
            <a:br>
              <a:rPr lang="en-US" sz="2000" b="0" i="0" dirty="0">
                <a:effectLst/>
                <a:latin typeface="source-serif-pro"/>
              </a:rPr>
            </a:br>
            <a:r>
              <a:rPr lang="en-US" sz="2000" b="1" i="0" dirty="0" err="1">
                <a:effectLst/>
                <a:latin typeface="source-serif-pro"/>
              </a:rPr>
              <a:t>ht</a:t>
            </a:r>
            <a:r>
              <a:rPr lang="en-US" sz="2000" b="1" i="0" dirty="0">
                <a:effectLst/>
                <a:latin typeface="source-serif-pro"/>
              </a:rPr>
              <a:t> = </a:t>
            </a:r>
            <a:r>
              <a:rPr lang="en-US" sz="2000" b="1" dirty="0">
                <a:latin typeface="source-serif-pro"/>
              </a:rPr>
              <a:t>( 1 − </a:t>
            </a:r>
            <a:r>
              <a:rPr lang="en-US" sz="2000" b="1" dirty="0" err="1">
                <a:latin typeface="source-serif-pro"/>
              </a:rPr>
              <a:t>zt</a:t>
            </a:r>
            <a:r>
              <a:rPr lang="en-US" sz="2000" b="1" dirty="0">
                <a:latin typeface="source-serif-pro"/>
              </a:rPr>
              <a:t> ) </a:t>
            </a:r>
            <a:r>
              <a:rPr lang="en-US" sz="2000" b="1" i="0" dirty="0">
                <a:effectLst/>
                <a:latin typeface="source-serif-pro"/>
              </a:rPr>
              <a:t>⋅ ht−1 + </a:t>
            </a:r>
            <a:r>
              <a:rPr lang="en-US" sz="2000" b="1" dirty="0" err="1">
                <a:latin typeface="source-serif-pro"/>
              </a:rPr>
              <a:t>zt</a:t>
            </a:r>
            <a:r>
              <a:rPr lang="en-US" sz="2000" b="1" dirty="0">
                <a:latin typeface="source-serif-pro"/>
              </a:rPr>
              <a:t> </a:t>
            </a:r>
            <a:r>
              <a:rPr lang="en-US" sz="2000" b="1" i="0" dirty="0">
                <a:effectLst/>
                <a:latin typeface="source-serif-pro"/>
              </a:rPr>
              <a:t>⋅ </a:t>
            </a:r>
            <a:r>
              <a:rPr lang="en-US" sz="2000" b="1" i="0" dirty="0" err="1">
                <a:effectLst/>
                <a:latin typeface="source-serif-pro"/>
              </a:rPr>
              <a:t>h~t</a:t>
            </a:r>
            <a:endParaRPr lang="en-US" sz="2000" b="0" i="0" dirty="0">
              <a:effectLst/>
              <a:latin typeface="source-serif-pro"/>
            </a:endParaRPr>
          </a:p>
          <a:p>
            <a:pPr algn="l">
              <a:lnSpc>
                <a:spcPts val="2400"/>
              </a:lnSpc>
              <a:buNone/>
            </a:pPr>
            <a:r>
              <a:rPr lang="en-US" sz="2000" b="0" i="0" dirty="0">
                <a:effectLst/>
                <a:latin typeface="source-serif-pro"/>
              </a:rPr>
              <a:t>Where:</a:t>
            </a:r>
          </a:p>
          <a:p>
            <a:pPr algn="l">
              <a:lnSpc>
                <a:spcPts val="2400"/>
              </a:lnSpc>
              <a:buFont typeface="Arial" panose="020B0604020202020204" pitchFamily="34" charset="0"/>
              <a:buChar char="•"/>
            </a:pPr>
            <a:r>
              <a:rPr lang="en-US" sz="2000" b="0" i="1" dirty="0" err="1">
                <a:effectLst/>
                <a:latin typeface="source-serif-pro"/>
              </a:rPr>
              <a:t>ht</a:t>
            </a:r>
            <a:r>
              <a:rPr lang="en-US" sz="2000" b="0" i="1" dirty="0">
                <a:effectLst/>
                <a:latin typeface="source-serif-pro"/>
              </a:rPr>
              <a:t>​ is the final hidden state at time step t.</a:t>
            </a:r>
            <a:endParaRPr lang="en-US" sz="2000" b="0" i="0" dirty="0">
              <a:effectLst/>
              <a:latin typeface="source-serif-pro"/>
            </a:endParaRPr>
          </a:p>
          <a:p>
            <a:pPr algn="l">
              <a:lnSpc>
                <a:spcPts val="2400"/>
              </a:lnSpc>
              <a:buFont typeface="Arial" panose="020B0604020202020204" pitchFamily="34" charset="0"/>
              <a:buChar char="•"/>
            </a:pPr>
            <a:r>
              <a:rPr lang="en-US" sz="2000" b="0" i="1" dirty="0" err="1">
                <a:effectLst/>
                <a:latin typeface="source-serif-pro"/>
              </a:rPr>
              <a:t>zt</a:t>
            </a:r>
            <a:r>
              <a:rPr lang="en-US" sz="2000" b="0" i="1" dirty="0">
                <a:effectLst/>
                <a:latin typeface="source-serif-pro"/>
              </a:rPr>
              <a:t>​ is the update gate value.</a:t>
            </a:r>
            <a:endParaRPr lang="en-US" sz="2000" b="0" i="0" dirty="0">
              <a:effectLst/>
              <a:latin typeface="source-serif-pro"/>
            </a:endParaRPr>
          </a:p>
          <a:p>
            <a:pPr algn="l">
              <a:lnSpc>
                <a:spcPts val="2400"/>
              </a:lnSpc>
              <a:buFont typeface="Arial" panose="020B0604020202020204" pitchFamily="34" charset="0"/>
              <a:buChar char="•"/>
            </a:pPr>
            <a:r>
              <a:rPr lang="en-US" sz="2000" b="0" i="1" dirty="0">
                <a:effectLst/>
                <a:latin typeface="source-serif-pro"/>
              </a:rPr>
              <a:t>ht−1​ is the previous hidden state.</a:t>
            </a:r>
            <a:endParaRPr lang="en-US" sz="2000" b="0" i="0" dirty="0">
              <a:effectLst/>
              <a:latin typeface="source-serif-pro"/>
            </a:endParaRPr>
          </a:p>
          <a:p>
            <a:pPr algn="l">
              <a:lnSpc>
                <a:spcPts val="2400"/>
              </a:lnSpc>
              <a:buFont typeface="Arial" panose="020B0604020202020204" pitchFamily="34" charset="0"/>
              <a:buChar char="•"/>
            </a:pPr>
            <a:r>
              <a:rPr lang="en-US" sz="2000" b="0" i="1" dirty="0" err="1">
                <a:effectLst/>
                <a:latin typeface="source-serif-pro"/>
              </a:rPr>
              <a:t>h~t</a:t>
            </a:r>
            <a:r>
              <a:rPr lang="en-US" sz="2000" b="0" i="1" dirty="0">
                <a:effectLst/>
                <a:latin typeface="source-serif-pro"/>
              </a:rPr>
              <a:t>​ is the candidate hidden state.</a:t>
            </a:r>
            <a:endParaRPr lang="en-US" sz="2000" b="0" i="0" dirty="0">
              <a:effectLst/>
              <a:latin typeface="source-serif-pro"/>
            </a:endParaRPr>
          </a:p>
          <a:p>
            <a:endParaRPr lang="en-IN" dirty="0"/>
          </a:p>
        </p:txBody>
      </p:sp>
      <p:sp>
        <p:nvSpPr>
          <p:cNvPr id="4" name="Slide Number Placeholder 3">
            <a:extLst>
              <a:ext uri="{FF2B5EF4-FFF2-40B4-BE49-F238E27FC236}">
                <a16:creationId xmlns:a16="http://schemas.microsoft.com/office/drawing/2014/main" id="{870043AE-EC08-454B-0096-8FE79B6A79D2}"/>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AD681D7-8A59-4380-9311-10B86FF921AA}" type="slidenum">
              <a:rPr kumimoji="0" lang="en-US" altLang="zh-TW" sz="2600" b="1" i="0" u="none" strike="noStrike" kern="1200" cap="none" spc="0" normalizeH="0" baseline="0" noProof="0" smtClean="0">
                <a:ln>
                  <a:noFill/>
                </a:ln>
                <a:solidFill>
                  <a:srgbClr val="FFFFFF"/>
                </a:solidFill>
                <a:effectLst/>
                <a:uLnTx/>
                <a:uFillTx/>
                <a:latin typeface="Arial"/>
                <a:ea typeface="新細明體" panose="02020500000000000000" pitchFamily="18" charset="-120"/>
                <a:cs typeface="+mn-cs"/>
              </a:rPr>
              <a:pPr marL="0" marR="0" lvl="0" indent="0" algn="l" defTabSz="914400" rtl="0" eaLnBrk="1" fontAlgn="auto" latinLnBrk="0" hangingPunct="1">
                <a:lnSpc>
                  <a:spcPct val="100000"/>
                </a:lnSpc>
                <a:spcBef>
                  <a:spcPts val="0"/>
                </a:spcBef>
                <a:spcAft>
                  <a:spcPts val="0"/>
                </a:spcAft>
                <a:buClrTx/>
                <a:buSzTx/>
                <a:buFontTx/>
                <a:buNone/>
                <a:tabLst/>
                <a:defRPr/>
              </a:pPr>
              <a:t>53</a:t>
            </a:fld>
            <a:endParaRPr kumimoji="0" lang="en-US" altLang="zh-TW" sz="2600" b="1" i="0" u="none" strike="noStrike" kern="1200" cap="none" spc="0" normalizeH="0" baseline="0" noProof="0">
              <a:ln>
                <a:noFill/>
              </a:ln>
              <a:solidFill>
                <a:srgbClr val="FFFFFF"/>
              </a:solidFill>
              <a:effectLst/>
              <a:uLnTx/>
              <a:uFillTx/>
              <a:latin typeface="Arial"/>
              <a:ea typeface="新細明體" panose="02020500000000000000" pitchFamily="18" charset="-120"/>
              <a:cs typeface="+mn-cs"/>
            </a:endParaRPr>
          </a:p>
        </p:txBody>
      </p:sp>
      <p:sp>
        <p:nvSpPr>
          <p:cNvPr id="6" name="TextBox 5">
            <a:extLst>
              <a:ext uri="{FF2B5EF4-FFF2-40B4-BE49-F238E27FC236}">
                <a16:creationId xmlns:a16="http://schemas.microsoft.com/office/drawing/2014/main" id="{4F87888E-BD2C-AF15-91B5-EB9C34384FE9}"/>
              </a:ext>
            </a:extLst>
          </p:cNvPr>
          <p:cNvSpPr txBox="1"/>
          <p:nvPr/>
        </p:nvSpPr>
        <p:spPr>
          <a:xfrm>
            <a:off x="6468534" y="1197114"/>
            <a:ext cx="5588000" cy="707886"/>
          </a:xfrm>
          <a:prstGeom prst="rect">
            <a:avLst/>
          </a:prstGeom>
          <a:noFill/>
          <a:ln>
            <a:solidFill>
              <a:srgbClr val="000000"/>
            </a:solidFill>
          </a:ln>
        </p:spPr>
        <p:txBody>
          <a:bodyPr wrap="square">
            <a:spAutoFit/>
          </a:bodyPr>
          <a:lstStyle/>
          <a:p>
            <a:pPr marL="0" marR="0" lvl="0" indent="0" algn="l" defTabSz="914400" rtl="0" eaLnBrk="0" fontAlgn="base" latinLnBrk="0" hangingPunct="0">
              <a:lnSpc>
                <a:spcPts val="2400"/>
              </a:lnSpc>
              <a:spcBef>
                <a:spcPct val="20000"/>
              </a:spcBef>
              <a:spcAft>
                <a:spcPct val="0"/>
              </a:spcAft>
              <a:buClr>
                <a:srgbClr val="003366"/>
              </a:buClr>
              <a:buSzPct val="75000"/>
              <a:buFont typeface="Wingdings" panose="05000000000000000000" pitchFamily="2" charset="2"/>
              <a:buNone/>
              <a:tabLst/>
              <a:defRPr/>
            </a:pPr>
            <a:r>
              <a:rPr kumimoji="1" lang="en-US" sz="2000" b="1" i="0" u="none" strike="noStrike" kern="1200" cap="none" spc="0" normalizeH="0" baseline="0" noProof="0" dirty="0">
                <a:ln>
                  <a:noFill/>
                </a:ln>
                <a:solidFill>
                  <a:srgbClr val="FF0000"/>
                </a:solidFill>
                <a:effectLst/>
                <a:uLnTx/>
                <a:uFillTx/>
                <a:latin typeface="source-serif-pro"/>
                <a:ea typeface="PMingLiU" panose="02020500000000000000" pitchFamily="18" charset="-120"/>
                <a:cs typeface="+mn-cs"/>
              </a:rPr>
              <a:t>The result is a hidden state that incorporates the relevant parts of both the past and the present.</a:t>
            </a:r>
          </a:p>
        </p:txBody>
      </p:sp>
      <p:pic>
        <p:nvPicPr>
          <p:cNvPr id="10" name="Picture 9">
            <a:extLst>
              <a:ext uri="{FF2B5EF4-FFF2-40B4-BE49-F238E27FC236}">
                <a16:creationId xmlns:a16="http://schemas.microsoft.com/office/drawing/2014/main" id="{8519ABC3-2131-CCCE-B0DA-B917E0FFEE00}"/>
              </a:ext>
            </a:extLst>
          </p:cNvPr>
          <p:cNvPicPr>
            <a:picLocks noChangeAspect="1"/>
          </p:cNvPicPr>
          <p:nvPr/>
        </p:nvPicPr>
        <p:blipFill>
          <a:blip r:embed="rId2"/>
          <a:stretch>
            <a:fillRect/>
          </a:stretch>
        </p:blipFill>
        <p:spPr>
          <a:xfrm>
            <a:off x="0" y="2324025"/>
            <a:ext cx="5926667" cy="4533975"/>
          </a:xfrm>
          <a:prstGeom prst="rect">
            <a:avLst/>
          </a:prstGeom>
        </p:spPr>
      </p:pic>
    </p:spTree>
    <p:extLst>
      <p:ext uri="{BB962C8B-B14F-4D97-AF65-F5344CB8AC3E}">
        <p14:creationId xmlns:p14="http://schemas.microsoft.com/office/powerpoint/2010/main" val="334446847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2E0327-9FE4-04F0-A241-F35BF9AE36DC}"/>
              </a:ext>
            </a:extLst>
          </p:cNvPr>
          <p:cNvSpPr>
            <a:spLocks noGrp="1"/>
          </p:cNvSpPr>
          <p:nvPr>
            <p:ph type="title"/>
          </p:nvPr>
        </p:nvSpPr>
        <p:spPr/>
        <p:txBody>
          <a:bodyPr/>
          <a:lstStyle/>
          <a:p>
            <a:r>
              <a:rPr lang="en-IN" dirty="0"/>
              <a:t>Fully Gated GRU Working </a:t>
            </a:r>
          </a:p>
        </p:txBody>
      </p:sp>
      <p:sp>
        <p:nvSpPr>
          <p:cNvPr id="3" name="Content Placeholder 2">
            <a:extLst>
              <a:ext uri="{FF2B5EF4-FFF2-40B4-BE49-F238E27FC236}">
                <a16:creationId xmlns:a16="http://schemas.microsoft.com/office/drawing/2014/main" id="{48515171-B1E4-2CD9-C1CC-728171086330}"/>
              </a:ext>
            </a:extLst>
          </p:cNvPr>
          <p:cNvSpPr>
            <a:spLocks noGrp="1"/>
          </p:cNvSpPr>
          <p:nvPr>
            <p:ph idx="1"/>
          </p:nvPr>
        </p:nvSpPr>
        <p:spPr>
          <a:xfrm>
            <a:off x="1117601" y="2362201"/>
            <a:ext cx="10924344" cy="4368799"/>
          </a:xfrm>
          <a:ln>
            <a:solidFill>
              <a:schemeClr val="tx1"/>
            </a:solidFill>
          </a:ln>
        </p:spPr>
        <p:txBody>
          <a:bodyPr/>
          <a:lstStyle/>
          <a:p>
            <a:pPr algn="l">
              <a:lnSpc>
                <a:spcPts val="2250"/>
              </a:lnSpc>
              <a:buNone/>
            </a:pPr>
            <a:r>
              <a:rPr kumimoji="0" lang="en-US" sz="1800" b="1" dirty="0">
                <a:solidFill>
                  <a:srgbClr val="003366"/>
                </a:solidFill>
                <a:latin typeface="Arial"/>
                <a:ea typeface="新細明體"/>
              </a:rPr>
              <a:t>Steps in Working of GRU - </a:t>
            </a:r>
          </a:p>
          <a:p>
            <a:pPr marL="534988" indent="-169863" algn="l">
              <a:lnSpc>
                <a:spcPct val="200000"/>
              </a:lnSpc>
              <a:buFont typeface="+mj-lt"/>
              <a:buAutoNum type="arabicPeriod"/>
            </a:pPr>
            <a:r>
              <a:rPr kumimoji="0" lang="en-US" sz="1600" b="1" dirty="0">
                <a:solidFill>
                  <a:srgbClr val="003366"/>
                </a:solidFill>
                <a:latin typeface="Arial"/>
                <a:ea typeface="新細明體"/>
              </a:rPr>
              <a:t>Calculate rt (Reset gate)</a:t>
            </a:r>
          </a:p>
          <a:p>
            <a:pPr marL="534988" indent="-169863" algn="l">
              <a:lnSpc>
                <a:spcPct val="200000"/>
              </a:lnSpc>
              <a:buFont typeface="+mj-lt"/>
              <a:buAutoNum type="arabicPeriod"/>
            </a:pPr>
            <a:r>
              <a:rPr kumimoji="0" lang="en-US" sz="1600" b="1" dirty="0">
                <a:solidFill>
                  <a:srgbClr val="003366"/>
                </a:solidFill>
                <a:latin typeface="Arial"/>
                <a:ea typeface="新細明體"/>
              </a:rPr>
              <a:t>Calculate </a:t>
            </a:r>
            <a:r>
              <a:rPr kumimoji="0" lang="en-US" sz="1600" b="1" dirty="0" err="1">
                <a:solidFill>
                  <a:srgbClr val="003366"/>
                </a:solidFill>
                <a:latin typeface="Arial"/>
                <a:ea typeface="新細明體"/>
              </a:rPr>
              <a:t>htbar</a:t>
            </a:r>
            <a:r>
              <a:rPr kumimoji="0" lang="en-US" sz="1600" b="1" dirty="0">
                <a:solidFill>
                  <a:srgbClr val="003366"/>
                </a:solidFill>
                <a:latin typeface="Arial"/>
                <a:ea typeface="新細明體"/>
              </a:rPr>
              <a:t> (Candidate hidden state)</a:t>
            </a:r>
          </a:p>
          <a:p>
            <a:pPr marL="534988" indent="-169863" algn="l">
              <a:lnSpc>
                <a:spcPct val="200000"/>
              </a:lnSpc>
              <a:buFont typeface="+mj-lt"/>
              <a:buAutoNum type="arabicPeriod"/>
            </a:pPr>
            <a:r>
              <a:rPr kumimoji="0" lang="en-US" sz="1600" b="1" dirty="0">
                <a:solidFill>
                  <a:srgbClr val="003366"/>
                </a:solidFill>
                <a:latin typeface="Arial"/>
                <a:ea typeface="新細明體"/>
              </a:rPr>
              <a:t>Calculate </a:t>
            </a:r>
            <a:r>
              <a:rPr kumimoji="0" lang="en-US" sz="1600" b="1" dirty="0" err="1">
                <a:solidFill>
                  <a:srgbClr val="003366"/>
                </a:solidFill>
                <a:latin typeface="Arial"/>
                <a:ea typeface="新細明體"/>
              </a:rPr>
              <a:t>Zt</a:t>
            </a:r>
            <a:r>
              <a:rPr kumimoji="0" lang="en-US" sz="1600" b="1" dirty="0">
                <a:solidFill>
                  <a:srgbClr val="003366"/>
                </a:solidFill>
                <a:latin typeface="Arial"/>
                <a:ea typeface="新細明體"/>
              </a:rPr>
              <a:t> (Update gate)</a:t>
            </a:r>
          </a:p>
          <a:p>
            <a:pPr marL="534988" indent="-169863" algn="l">
              <a:lnSpc>
                <a:spcPct val="200000"/>
              </a:lnSpc>
              <a:buFont typeface="+mj-lt"/>
              <a:buAutoNum type="arabicPeriod"/>
            </a:pPr>
            <a:r>
              <a:rPr kumimoji="0" lang="en-US" sz="1600" b="1" dirty="0">
                <a:solidFill>
                  <a:srgbClr val="003366"/>
                </a:solidFill>
                <a:latin typeface="Arial"/>
                <a:ea typeface="新細明體"/>
              </a:rPr>
              <a:t>Calculate </a:t>
            </a:r>
            <a:r>
              <a:rPr kumimoji="0" lang="en-US" sz="1600" b="1" dirty="0" err="1">
                <a:solidFill>
                  <a:srgbClr val="003366"/>
                </a:solidFill>
                <a:latin typeface="Arial"/>
                <a:ea typeface="新細明體"/>
              </a:rPr>
              <a:t>ht</a:t>
            </a:r>
            <a:r>
              <a:rPr kumimoji="0" lang="en-US" sz="1600" b="1" dirty="0">
                <a:solidFill>
                  <a:srgbClr val="003366"/>
                </a:solidFill>
                <a:latin typeface="Arial"/>
                <a:ea typeface="新細明體"/>
              </a:rPr>
              <a:t> (Current hidden state)</a:t>
            </a:r>
          </a:p>
          <a:p>
            <a:endParaRPr lang="en-IN" dirty="0"/>
          </a:p>
        </p:txBody>
      </p:sp>
      <p:sp>
        <p:nvSpPr>
          <p:cNvPr id="4" name="Slide Number Placeholder 3">
            <a:extLst>
              <a:ext uri="{FF2B5EF4-FFF2-40B4-BE49-F238E27FC236}">
                <a16:creationId xmlns:a16="http://schemas.microsoft.com/office/drawing/2014/main" id="{3A67750F-939F-B46E-E777-1BA5E45C442E}"/>
              </a:ext>
            </a:extLst>
          </p:cNvPr>
          <p:cNvSpPr>
            <a:spLocks noGrp="1"/>
          </p:cNvSpPr>
          <p:nvPr>
            <p:ph type="sldNum" sz="quarter" idx="12"/>
          </p:nvPr>
        </p:nvSpPr>
        <p:spPr/>
        <p:txBody>
          <a:bodyPr/>
          <a:lstStyle/>
          <a:p>
            <a:pPr>
              <a:defRPr/>
            </a:pPr>
            <a:fld id="{9AD681D7-8A59-4380-9311-10B86FF921AA}" type="slidenum">
              <a:rPr lang="en-US" altLang="zh-TW" smtClean="0"/>
              <a:pPr>
                <a:defRPr/>
              </a:pPr>
              <a:t>54</a:t>
            </a:fld>
            <a:endParaRPr lang="en-US" altLang="zh-TW"/>
          </a:p>
        </p:txBody>
      </p:sp>
    </p:spTree>
    <p:extLst>
      <p:ext uri="{BB962C8B-B14F-4D97-AF65-F5344CB8AC3E}">
        <p14:creationId xmlns:p14="http://schemas.microsoft.com/office/powerpoint/2010/main" val="213771102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1109F-4B6E-B7DA-ACC5-F8A92C67A67F}"/>
              </a:ext>
            </a:extLst>
          </p:cNvPr>
          <p:cNvSpPr>
            <a:spLocks noGrp="1"/>
          </p:cNvSpPr>
          <p:nvPr>
            <p:ph type="title"/>
          </p:nvPr>
        </p:nvSpPr>
        <p:spPr/>
        <p:txBody>
          <a:bodyPr/>
          <a:lstStyle/>
          <a:p>
            <a:r>
              <a:rPr lang="en-IN" dirty="0"/>
              <a:t>Simple GRU Vs. Fully Gated GRU </a:t>
            </a:r>
          </a:p>
        </p:txBody>
      </p:sp>
      <p:sp>
        <p:nvSpPr>
          <p:cNvPr id="4" name="Slide Number Placeholder 3">
            <a:extLst>
              <a:ext uri="{FF2B5EF4-FFF2-40B4-BE49-F238E27FC236}">
                <a16:creationId xmlns:a16="http://schemas.microsoft.com/office/drawing/2014/main" id="{18373590-1D27-1A17-EBDA-558D8B5308A1}"/>
              </a:ext>
            </a:extLst>
          </p:cNvPr>
          <p:cNvSpPr>
            <a:spLocks noGrp="1"/>
          </p:cNvSpPr>
          <p:nvPr>
            <p:ph type="sldNum" sz="quarter" idx="12"/>
          </p:nvPr>
        </p:nvSpPr>
        <p:spPr/>
        <p:txBody>
          <a:bodyPr/>
          <a:lstStyle/>
          <a:p>
            <a:pPr>
              <a:defRPr/>
            </a:pPr>
            <a:fld id="{9AD681D7-8A59-4380-9311-10B86FF921AA}" type="slidenum">
              <a:rPr lang="en-US" altLang="zh-TW" smtClean="0"/>
              <a:pPr>
                <a:defRPr/>
              </a:pPr>
              <a:t>55</a:t>
            </a:fld>
            <a:endParaRPr lang="en-US" altLang="zh-TW"/>
          </a:p>
        </p:txBody>
      </p:sp>
      <p:graphicFrame>
        <p:nvGraphicFramePr>
          <p:cNvPr id="21" name="Table 20">
            <a:extLst>
              <a:ext uri="{FF2B5EF4-FFF2-40B4-BE49-F238E27FC236}">
                <a16:creationId xmlns:a16="http://schemas.microsoft.com/office/drawing/2014/main" id="{EAFA4E05-4294-DA5A-7633-1894FA1B1D0C}"/>
              </a:ext>
            </a:extLst>
          </p:cNvPr>
          <p:cNvGraphicFramePr>
            <a:graphicFrameLocks noGrp="1"/>
          </p:cNvGraphicFramePr>
          <p:nvPr>
            <p:extLst>
              <p:ext uri="{D42A27DB-BD31-4B8C-83A1-F6EECF244321}">
                <p14:modId xmlns:p14="http://schemas.microsoft.com/office/powerpoint/2010/main" val="65006493"/>
              </p:ext>
            </p:extLst>
          </p:nvPr>
        </p:nvGraphicFramePr>
        <p:xfrm>
          <a:off x="1103241" y="2381653"/>
          <a:ext cx="10868364" cy="4384493"/>
        </p:xfrm>
        <a:graphic>
          <a:graphicData uri="http://schemas.openxmlformats.org/drawingml/2006/table">
            <a:tbl>
              <a:tblPr/>
              <a:tblGrid>
                <a:gridCol w="2315208">
                  <a:extLst>
                    <a:ext uri="{9D8B030D-6E8A-4147-A177-3AD203B41FA5}">
                      <a16:colId xmlns:a16="http://schemas.microsoft.com/office/drawing/2014/main" val="2206421566"/>
                    </a:ext>
                  </a:extLst>
                </a:gridCol>
                <a:gridCol w="3629465">
                  <a:extLst>
                    <a:ext uri="{9D8B030D-6E8A-4147-A177-3AD203B41FA5}">
                      <a16:colId xmlns:a16="http://schemas.microsoft.com/office/drawing/2014/main" val="2292508104"/>
                    </a:ext>
                  </a:extLst>
                </a:gridCol>
                <a:gridCol w="4923691">
                  <a:extLst>
                    <a:ext uri="{9D8B030D-6E8A-4147-A177-3AD203B41FA5}">
                      <a16:colId xmlns:a16="http://schemas.microsoft.com/office/drawing/2014/main" val="2813544991"/>
                    </a:ext>
                  </a:extLst>
                </a:gridCol>
              </a:tblGrid>
              <a:tr h="495530">
                <a:tc>
                  <a:txBody>
                    <a:bodyPr/>
                    <a:lstStyle/>
                    <a:p>
                      <a:pPr>
                        <a:buNone/>
                      </a:pPr>
                      <a:r>
                        <a:rPr lang="en-IN" sz="1600" b="1" kern="1200" dirty="0">
                          <a:solidFill>
                            <a:schemeClr val="tx1"/>
                          </a:solidFill>
                          <a:effectLst/>
                          <a:latin typeface="+mn-lt"/>
                          <a:ea typeface="+mn-ea"/>
                          <a:cs typeface="+mn-cs"/>
                        </a:rPr>
                        <a:t>Feature</a:t>
                      </a:r>
                    </a:p>
                  </a:txBody>
                  <a:tcPr marL="41846" marR="41846" marT="20923" marB="2092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kern="1200" dirty="0">
                          <a:solidFill>
                            <a:schemeClr val="tx1"/>
                          </a:solidFill>
                          <a:effectLst/>
                          <a:latin typeface="+mn-lt"/>
                          <a:ea typeface="+mn-ea"/>
                          <a:cs typeface="+mn-cs"/>
                        </a:rPr>
                        <a:t>Simple GRU</a:t>
                      </a:r>
                    </a:p>
                    <a:p>
                      <a:pPr>
                        <a:buNone/>
                      </a:pPr>
                      <a:endParaRPr lang="en-IN" sz="1600" b="1" kern="1200" dirty="0">
                        <a:solidFill>
                          <a:schemeClr val="tx1"/>
                        </a:solidFill>
                        <a:effectLst/>
                        <a:latin typeface="+mn-lt"/>
                        <a:ea typeface="+mn-ea"/>
                        <a:cs typeface="+mn-cs"/>
                      </a:endParaRPr>
                    </a:p>
                  </a:txBody>
                  <a:tcPr marL="41846" marR="41846" marT="20923" marB="2092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kern="1200" dirty="0">
                          <a:solidFill>
                            <a:schemeClr val="tx1"/>
                          </a:solidFill>
                          <a:effectLst/>
                          <a:latin typeface="+mn-lt"/>
                          <a:ea typeface="+mn-ea"/>
                          <a:cs typeface="+mn-cs"/>
                        </a:rPr>
                        <a:t>Fully Gated GRU</a:t>
                      </a:r>
                    </a:p>
                  </a:txBody>
                  <a:tcPr marL="41846" marR="41846" marT="20923" marB="2092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39375469"/>
                  </a:ext>
                </a:extLst>
              </a:tr>
              <a:tr h="432542">
                <a:tc>
                  <a:txBody>
                    <a:bodyPr/>
                    <a:lstStyle/>
                    <a:p>
                      <a:pPr>
                        <a:buNone/>
                      </a:pPr>
                      <a:r>
                        <a:rPr lang="en-IN" sz="1600" b="1" kern="1200" dirty="0">
                          <a:solidFill>
                            <a:schemeClr val="tx1"/>
                          </a:solidFill>
                          <a:effectLst/>
                          <a:latin typeface="+mn-lt"/>
                          <a:ea typeface="+mn-ea"/>
                          <a:cs typeface="+mn-cs"/>
                        </a:rPr>
                        <a:t>Gates</a:t>
                      </a:r>
                    </a:p>
                  </a:txBody>
                  <a:tcPr marL="41846" marR="41846" marT="20923" marB="2092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0" kern="1200" dirty="0">
                          <a:solidFill>
                            <a:schemeClr val="tx1"/>
                          </a:solidFill>
                          <a:effectLst/>
                          <a:latin typeface="+mn-lt"/>
                          <a:ea typeface="+mn-ea"/>
                          <a:cs typeface="+mn-cs"/>
                        </a:rPr>
                        <a:t>Only Update Gate (</a:t>
                      </a:r>
                      <a:r>
                        <a:rPr lang="en-US" sz="1600" b="0" kern="1200" dirty="0" err="1">
                          <a:solidFill>
                            <a:schemeClr val="tx1"/>
                          </a:solidFill>
                          <a:effectLst/>
                          <a:latin typeface="+mn-lt"/>
                          <a:ea typeface="+mn-ea"/>
                          <a:cs typeface="+mn-cs"/>
                        </a:rPr>
                        <a:t>zt</a:t>
                      </a:r>
                      <a:r>
                        <a:rPr lang="en-US" sz="1600" b="0" kern="1200" dirty="0">
                          <a:solidFill>
                            <a:schemeClr val="tx1"/>
                          </a:solidFill>
                          <a:effectLst/>
                          <a:latin typeface="+mn-lt"/>
                          <a:ea typeface="+mn-ea"/>
                          <a:cs typeface="+mn-cs"/>
                        </a:rPr>
                        <a:t>​)</a:t>
                      </a:r>
                    </a:p>
                  </a:txBody>
                  <a:tcPr marL="41846" marR="41846" marT="20923" marB="2092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0" kern="1200" dirty="0">
                          <a:solidFill>
                            <a:schemeClr val="tx1"/>
                          </a:solidFill>
                          <a:effectLst/>
                          <a:latin typeface="+mn-lt"/>
                          <a:ea typeface="+mn-ea"/>
                          <a:cs typeface="+mn-cs"/>
                        </a:rPr>
                        <a:t>Update Gate (</a:t>
                      </a:r>
                      <a:r>
                        <a:rPr lang="en-IN" sz="1600" b="0" kern="1200" dirty="0" err="1">
                          <a:solidFill>
                            <a:schemeClr val="tx1"/>
                          </a:solidFill>
                          <a:effectLst/>
                          <a:latin typeface="+mn-lt"/>
                          <a:ea typeface="+mn-ea"/>
                          <a:cs typeface="+mn-cs"/>
                        </a:rPr>
                        <a:t>zt</a:t>
                      </a:r>
                      <a:r>
                        <a:rPr lang="en-IN" sz="1600" b="0" kern="1200" dirty="0">
                          <a:solidFill>
                            <a:schemeClr val="tx1"/>
                          </a:solidFill>
                          <a:effectLst/>
                          <a:latin typeface="+mn-lt"/>
                          <a:ea typeface="+mn-ea"/>
                          <a:cs typeface="+mn-cs"/>
                        </a:rPr>
                        <a:t>​) + Reset Gate (rt​)</a:t>
                      </a:r>
                    </a:p>
                  </a:txBody>
                  <a:tcPr marL="41846" marR="41846" marT="20923" marB="2092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1293464"/>
                  </a:ext>
                </a:extLst>
              </a:tr>
              <a:tr h="1111348">
                <a:tc>
                  <a:txBody>
                    <a:bodyPr/>
                    <a:lstStyle/>
                    <a:p>
                      <a:pPr>
                        <a:buNone/>
                      </a:pPr>
                      <a:r>
                        <a:rPr lang="en-IN" sz="1600" b="1" kern="1200" dirty="0">
                          <a:solidFill>
                            <a:schemeClr val="tx1"/>
                          </a:solidFill>
                          <a:effectLst/>
                          <a:latin typeface="+mn-lt"/>
                          <a:ea typeface="+mn-ea"/>
                          <a:cs typeface="+mn-cs"/>
                        </a:rPr>
                        <a:t>Equations</a:t>
                      </a:r>
                    </a:p>
                  </a:txBody>
                  <a:tcPr marL="41846" marR="41846" marT="20923" marB="2092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en-IN" sz="1600" b="0" kern="1200" dirty="0" err="1">
                          <a:solidFill>
                            <a:schemeClr val="tx1"/>
                          </a:solidFill>
                          <a:effectLst/>
                          <a:latin typeface="+mn-lt"/>
                          <a:ea typeface="+mn-ea"/>
                          <a:cs typeface="+mn-cs"/>
                        </a:rPr>
                        <a:t>Zt</a:t>
                      </a:r>
                      <a:r>
                        <a:rPr lang="en-IN" sz="1600" b="0" kern="1200" dirty="0">
                          <a:solidFill>
                            <a:schemeClr val="tx1"/>
                          </a:solidFill>
                          <a:effectLst/>
                          <a:latin typeface="+mn-lt"/>
                          <a:ea typeface="+mn-ea"/>
                          <a:cs typeface="+mn-cs"/>
                        </a:rPr>
                        <a:t> = </a:t>
                      </a:r>
                      <a:r>
                        <a:rPr lang="el-GR" sz="1600" b="0" kern="1200" dirty="0">
                          <a:solidFill>
                            <a:schemeClr val="tx1"/>
                          </a:solidFill>
                          <a:effectLst/>
                          <a:latin typeface="+mn-lt"/>
                          <a:ea typeface="+mn-ea"/>
                          <a:cs typeface="+mn-cs"/>
                        </a:rPr>
                        <a:t>σ</a:t>
                      </a:r>
                      <a:r>
                        <a:rPr lang="en-IN" sz="1600" b="0" kern="1200" dirty="0">
                          <a:solidFill>
                            <a:schemeClr val="tx1"/>
                          </a:solidFill>
                          <a:effectLst/>
                          <a:latin typeface="+mn-lt"/>
                          <a:ea typeface="+mn-ea"/>
                          <a:cs typeface="+mn-cs"/>
                        </a:rPr>
                        <a:t> </a:t>
                      </a:r>
                      <a:r>
                        <a:rPr lang="el-GR" sz="1600" b="0" kern="1200" dirty="0">
                          <a:solidFill>
                            <a:schemeClr val="tx1"/>
                          </a:solidFill>
                          <a:effectLst/>
                          <a:latin typeface="+mn-lt"/>
                          <a:ea typeface="+mn-ea"/>
                          <a:cs typeface="+mn-cs"/>
                        </a:rPr>
                        <a:t>(</a:t>
                      </a:r>
                      <a:r>
                        <a:rPr lang="en-IN" sz="1600" b="0" kern="1200" dirty="0" err="1">
                          <a:solidFill>
                            <a:schemeClr val="tx1"/>
                          </a:solidFill>
                          <a:effectLst/>
                          <a:latin typeface="+mn-lt"/>
                          <a:ea typeface="+mn-ea"/>
                          <a:cs typeface="+mn-cs"/>
                        </a:rPr>
                        <a:t>Wz</a:t>
                      </a:r>
                      <a:r>
                        <a:rPr lang="en-IN" sz="1600" b="0" kern="1200" dirty="0">
                          <a:solidFill>
                            <a:schemeClr val="tx1"/>
                          </a:solidFill>
                          <a:effectLst/>
                          <a:latin typeface="+mn-lt"/>
                          <a:ea typeface="+mn-ea"/>
                          <a:cs typeface="+mn-cs"/>
                        </a:rPr>
                        <a:t> </a:t>
                      </a:r>
                      <a:r>
                        <a:rPr lang="en-IN" sz="1600" b="0" kern="1200" dirty="0" err="1">
                          <a:solidFill>
                            <a:schemeClr val="tx1"/>
                          </a:solidFill>
                          <a:effectLst/>
                          <a:latin typeface="+mn-lt"/>
                          <a:ea typeface="+mn-ea"/>
                          <a:cs typeface="+mn-cs"/>
                        </a:rPr>
                        <a:t>xt</a:t>
                      </a:r>
                      <a:r>
                        <a:rPr lang="en-IN" sz="1600" b="0" kern="1200" dirty="0">
                          <a:solidFill>
                            <a:schemeClr val="tx1"/>
                          </a:solidFill>
                          <a:effectLst/>
                          <a:latin typeface="+mn-lt"/>
                          <a:ea typeface="+mn-ea"/>
                          <a:cs typeface="+mn-cs"/>
                        </a:rPr>
                        <a:t> + Uz ht−1) </a:t>
                      </a:r>
                      <a:br>
                        <a:rPr lang="en-IN" sz="1600" b="0" kern="1200" dirty="0">
                          <a:solidFill>
                            <a:schemeClr val="tx1"/>
                          </a:solidFill>
                          <a:effectLst/>
                          <a:latin typeface="+mn-lt"/>
                          <a:ea typeface="+mn-ea"/>
                          <a:cs typeface="+mn-cs"/>
                        </a:rPr>
                      </a:br>
                      <a:r>
                        <a:rPr lang="en-IN" sz="1600" b="0" kern="1200" dirty="0" err="1">
                          <a:solidFill>
                            <a:schemeClr val="tx1"/>
                          </a:solidFill>
                          <a:effectLst/>
                          <a:latin typeface="+mn-lt"/>
                          <a:ea typeface="+mn-ea"/>
                          <a:cs typeface="+mn-cs"/>
                        </a:rPr>
                        <a:t>h~t</a:t>
                      </a:r>
                      <a:r>
                        <a:rPr lang="en-IN" sz="1600" b="0" kern="1200" dirty="0">
                          <a:solidFill>
                            <a:schemeClr val="tx1"/>
                          </a:solidFill>
                          <a:effectLst/>
                          <a:latin typeface="+mn-lt"/>
                          <a:ea typeface="+mn-ea"/>
                          <a:cs typeface="+mn-cs"/>
                        </a:rPr>
                        <a:t> = tanh ⁡(</a:t>
                      </a:r>
                      <a:r>
                        <a:rPr lang="en-IN" sz="1600" b="0" kern="1200" dirty="0" err="1">
                          <a:solidFill>
                            <a:schemeClr val="tx1"/>
                          </a:solidFill>
                          <a:effectLst/>
                          <a:latin typeface="+mn-lt"/>
                          <a:ea typeface="+mn-ea"/>
                          <a:cs typeface="+mn-cs"/>
                        </a:rPr>
                        <a:t>Wh</a:t>
                      </a:r>
                      <a:r>
                        <a:rPr lang="en-IN" sz="1600" b="0" kern="1200" dirty="0">
                          <a:solidFill>
                            <a:schemeClr val="tx1"/>
                          </a:solidFill>
                          <a:effectLst/>
                          <a:latin typeface="+mn-lt"/>
                          <a:ea typeface="+mn-ea"/>
                          <a:cs typeface="+mn-cs"/>
                        </a:rPr>
                        <a:t> </a:t>
                      </a:r>
                      <a:r>
                        <a:rPr lang="en-IN" sz="1600" b="0" kern="1200" dirty="0" err="1">
                          <a:solidFill>
                            <a:schemeClr val="tx1"/>
                          </a:solidFill>
                          <a:effectLst/>
                          <a:latin typeface="+mn-lt"/>
                          <a:ea typeface="+mn-ea"/>
                          <a:cs typeface="+mn-cs"/>
                        </a:rPr>
                        <a:t>xt</a:t>
                      </a:r>
                      <a:r>
                        <a:rPr lang="en-IN" sz="1600" b="0" kern="1200" dirty="0">
                          <a:solidFill>
                            <a:schemeClr val="tx1"/>
                          </a:solidFill>
                          <a:effectLst/>
                          <a:latin typeface="+mn-lt"/>
                          <a:ea typeface="+mn-ea"/>
                          <a:cs typeface="+mn-cs"/>
                        </a:rPr>
                        <a:t> + Uh ht−1) </a:t>
                      </a:r>
                      <a:br>
                        <a:rPr lang="en-IN" sz="1600" b="0" kern="1200" dirty="0">
                          <a:solidFill>
                            <a:schemeClr val="tx1"/>
                          </a:solidFill>
                          <a:effectLst/>
                          <a:latin typeface="+mn-lt"/>
                          <a:ea typeface="+mn-ea"/>
                          <a:cs typeface="+mn-cs"/>
                        </a:rPr>
                      </a:br>
                      <a:r>
                        <a:rPr lang="en-IN" sz="1600" b="0" kern="1200" dirty="0" err="1">
                          <a:solidFill>
                            <a:schemeClr val="tx1"/>
                          </a:solidFill>
                          <a:effectLst/>
                          <a:latin typeface="+mn-lt"/>
                          <a:ea typeface="+mn-ea"/>
                          <a:cs typeface="+mn-cs"/>
                        </a:rPr>
                        <a:t>ht</a:t>
                      </a:r>
                      <a:r>
                        <a:rPr lang="en-IN" sz="1600" b="0" kern="1200" dirty="0">
                          <a:solidFill>
                            <a:schemeClr val="tx1"/>
                          </a:solidFill>
                          <a:effectLst/>
                          <a:latin typeface="+mn-lt"/>
                          <a:ea typeface="+mn-ea"/>
                          <a:cs typeface="+mn-cs"/>
                        </a:rPr>
                        <a:t> = (1−zt) ht−1 + </a:t>
                      </a:r>
                      <a:r>
                        <a:rPr lang="en-IN" sz="1600" b="0" kern="1200" dirty="0" err="1">
                          <a:solidFill>
                            <a:schemeClr val="tx1"/>
                          </a:solidFill>
                          <a:effectLst/>
                          <a:latin typeface="+mn-lt"/>
                          <a:ea typeface="+mn-ea"/>
                          <a:cs typeface="+mn-cs"/>
                        </a:rPr>
                        <a:t>zt</a:t>
                      </a:r>
                      <a:r>
                        <a:rPr lang="en-IN" sz="1600" b="0" kern="1200" dirty="0">
                          <a:solidFill>
                            <a:schemeClr val="tx1"/>
                          </a:solidFill>
                          <a:effectLst/>
                          <a:latin typeface="+mn-lt"/>
                          <a:ea typeface="+mn-ea"/>
                          <a:cs typeface="+mn-cs"/>
                        </a:rPr>
                        <a:t> </a:t>
                      </a:r>
                      <a:r>
                        <a:rPr lang="en-IN" sz="1600" b="0" kern="1200" dirty="0" err="1">
                          <a:solidFill>
                            <a:schemeClr val="tx1"/>
                          </a:solidFill>
                          <a:effectLst/>
                          <a:latin typeface="+mn-lt"/>
                          <a:ea typeface="+mn-ea"/>
                          <a:cs typeface="+mn-cs"/>
                        </a:rPr>
                        <a:t>h~t</a:t>
                      </a:r>
                      <a:r>
                        <a:rPr lang="en-IN" sz="1600" b="0" kern="1200" dirty="0">
                          <a:solidFill>
                            <a:schemeClr val="tx1"/>
                          </a:solidFill>
                          <a:effectLst/>
                          <a:latin typeface="+mn-lt"/>
                          <a:ea typeface="+mn-ea"/>
                          <a:cs typeface="+mn-cs"/>
                        </a:rPr>
                        <a:t>​</a:t>
                      </a:r>
                    </a:p>
                  </a:txBody>
                  <a:tcPr marL="41846" marR="41846" marT="20923" marB="2092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0" kern="1200" dirty="0" err="1">
                          <a:solidFill>
                            <a:schemeClr val="tx1"/>
                          </a:solidFill>
                          <a:effectLst/>
                          <a:latin typeface="+mn-lt"/>
                          <a:ea typeface="+mn-ea"/>
                          <a:cs typeface="+mn-cs"/>
                        </a:rPr>
                        <a:t>Zt</a:t>
                      </a:r>
                      <a:r>
                        <a:rPr lang="en-IN" sz="1600" b="0" kern="1200" dirty="0">
                          <a:solidFill>
                            <a:schemeClr val="tx1"/>
                          </a:solidFill>
                          <a:effectLst/>
                          <a:latin typeface="+mn-lt"/>
                          <a:ea typeface="+mn-ea"/>
                          <a:cs typeface="+mn-cs"/>
                        </a:rPr>
                        <a:t> = </a:t>
                      </a:r>
                      <a:r>
                        <a:rPr lang="el-GR" sz="1600" b="0" kern="1200" dirty="0">
                          <a:solidFill>
                            <a:schemeClr val="tx1"/>
                          </a:solidFill>
                          <a:effectLst/>
                          <a:latin typeface="+mn-lt"/>
                          <a:ea typeface="+mn-ea"/>
                          <a:cs typeface="+mn-cs"/>
                        </a:rPr>
                        <a:t>σ</a:t>
                      </a:r>
                      <a:r>
                        <a:rPr lang="en-IN" sz="1600" b="0" kern="1200" dirty="0">
                          <a:solidFill>
                            <a:schemeClr val="tx1"/>
                          </a:solidFill>
                          <a:effectLst/>
                          <a:latin typeface="+mn-lt"/>
                          <a:ea typeface="+mn-ea"/>
                          <a:cs typeface="+mn-cs"/>
                        </a:rPr>
                        <a:t> </a:t>
                      </a:r>
                      <a:r>
                        <a:rPr lang="el-GR" sz="1600" b="0" kern="1200" dirty="0">
                          <a:solidFill>
                            <a:schemeClr val="tx1"/>
                          </a:solidFill>
                          <a:effectLst/>
                          <a:latin typeface="+mn-lt"/>
                          <a:ea typeface="+mn-ea"/>
                          <a:cs typeface="+mn-cs"/>
                        </a:rPr>
                        <a:t>(</a:t>
                      </a:r>
                      <a:r>
                        <a:rPr lang="en-IN" sz="1600" b="0" kern="1200" dirty="0" err="1">
                          <a:solidFill>
                            <a:schemeClr val="tx1"/>
                          </a:solidFill>
                          <a:effectLst/>
                          <a:latin typeface="+mn-lt"/>
                          <a:ea typeface="+mn-ea"/>
                          <a:cs typeface="+mn-cs"/>
                        </a:rPr>
                        <a:t>Wz</a:t>
                      </a:r>
                      <a:r>
                        <a:rPr lang="en-IN" sz="1600" b="0" kern="1200" dirty="0">
                          <a:solidFill>
                            <a:schemeClr val="tx1"/>
                          </a:solidFill>
                          <a:effectLst/>
                          <a:latin typeface="+mn-lt"/>
                          <a:ea typeface="+mn-ea"/>
                          <a:cs typeface="+mn-cs"/>
                        </a:rPr>
                        <a:t> </a:t>
                      </a:r>
                      <a:r>
                        <a:rPr lang="en-IN" sz="1600" b="0" kern="1200" dirty="0" err="1">
                          <a:solidFill>
                            <a:schemeClr val="tx1"/>
                          </a:solidFill>
                          <a:effectLst/>
                          <a:latin typeface="+mn-lt"/>
                          <a:ea typeface="+mn-ea"/>
                          <a:cs typeface="+mn-cs"/>
                        </a:rPr>
                        <a:t>xt</a:t>
                      </a:r>
                      <a:r>
                        <a:rPr lang="en-IN" sz="1600" b="0" kern="1200" dirty="0">
                          <a:solidFill>
                            <a:schemeClr val="tx1"/>
                          </a:solidFill>
                          <a:effectLst/>
                          <a:latin typeface="+mn-lt"/>
                          <a:ea typeface="+mn-ea"/>
                          <a:cs typeface="+mn-cs"/>
                        </a:rPr>
                        <a:t> + Uz ht−1) </a:t>
                      </a:r>
                    </a:p>
                    <a:p>
                      <a:pPr>
                        <a:buNone/>
                      </a:pPr>
                      <a:r>
                        <a:rPr lang="en-IN" sz="1600" b="0" kern="1200" dirty="0">
                          <a:solidFill>
                            <a:schemeClr val="tx1"/>
                          </a:solidFill>
                          <a:effectLst/>
                          <a:latin typeface="+mn-lt"/>
                          <a:ea typeface="+mn-ea"/>
                          <a:cs typeface="+mn-cs"/>
                        </a:rPr>
                        <a:t>Rt = </a:t>
                      </a:r>
                      <a:r>
                        <a:rPr lang="el-GR" sz="1600" b="0" kern="1200" dirty="0">
                          <a:solidFill>
                            <a:schemeClr val="tx1"/>
                          </a:solidFill>
                          <a:effectLst/>
                          <a:latin typeface="+mn-lt"/>
                          <a:ea typeface="+mn-ea"/>
                          <a:cs typeface="+mn-cs"/>
                        </a:rPr>
                        <a:t>σ</a:t>
                      </a:r>
                      <a:r>
                        <a:rPr lang="en-IN" sz="1600" b="0" kern="1200" dirty="0">
                          <a:solidFill>
                            <a:schemeClr val="tx1"/>
                          </a:solidFill>
                          <a:effectLst/>
                          <a:latin typeface="+mn-lt"/>
                          <a:ea typeface="+mn-ea"/>
                          <a:cs typeface="+mn-cs"/>
                        </a:rPr>
                        <a:t> </a:t>
                      </a:r>
                      <a:r>
                        <a:rPr lang="el-GR" sz="1600" b="0" kern="1200" dirty="0">
                          <a:solidFill>
                            <a:schemeClr val="tx1"/>
                          </a:solidFill>
                          <a:effectLst/>
                          <a:latin typeface="+mn-lt"/>
                          <a:ea typeface="+mn-ea"/>
                          <a:cs typeface="+mn-cs"/>
                        </a:rPr>
                        <a:t>(</a:t>
                      </a:r>
                      <a:r>
                        <a:rPr lang="en-IN" sz="1600" b="0" kern="1200" dirty="0" err="1">
                          <a:solidFill>
                            <a:schemeClr val="tx1"/>
                          </a:solidFill>
                          <a:effectLst/>
                          <a:latin typeface="+mn-lt"/>
                          <a:ea typeface="+mn-ea"/>
                          <a:cs typeface="+mn-cs"/>
                        </a:rPr>
                        <a:t>Wr</a:t>
                      </a:r>
                      <a:r>
                        <a:rPr lang="en-IN" sz="1600" b="0" kern="1200" dirty="0">
                          <a:solidFill>
                            <a:schemeClr val="tx1"/>
                          </a:solidFill>
                          <a:effectLst/>
                          <a:latin typeface="+mn-lt"/>
                          <a:ea typeface="+mn-ea"/>
                          <a:cs typeface="+mn-cs"/>
                        </a:rPr>
                        <a:t> </a:t>
                      </a:r>
                      <a:r>
                        <a:rPr lang="en-IN" sz="1600" b="0" kern="1200" dirty="0" err="1">
                          <a:solidFill>
                            <a:schemeClr val="tx1"/>
                          </a:solidFill>
                          <a:effectLst/>
                          <a:latin typeface="+mn-lt"/>
                          <a:ea typeface="+mn-ea"/>
                          <a:cs typeface="+mn-cs"/>
                        </a:rPr>
                        <a:t>xt</a:t>
                      </a:r>
                      <a:r>
                        <a:rPr lang="en-IN" sz="1600" b="0" kern="1200" dirty="0">
                          <a:solidFill>
                            <a:schemeClr val="tx1"/>
                          </a:solidFill>
                          <a:effectLst/>
                          <a:latin typeface="+mn-lt"/>
                          <a:ea typeface="+mn-ea"/>
                          <a:cs typeface="+mn-cs"/>
                        </a:rPr>
                        <a:t> + Ur ht−1)</a:t>
                      </a:r>
                      <a:br>
                        <a:rPr lang="en-IN" sz="1600" b="0" kern="1200" dirty="0">
                          <a:solidFill>
                            <a:schemeClr val="tx1"/>
                          </a:solidFill>
                          <a:effectLst/>
                          <a:latin typeface="+mn-lt"/>
                          <a:ea typeface="+mn-ea"/>
                          <a:cs typeface="+mn-cs"/>
                        </a:rPr>
                      </a:br>
                      <a:r>
                        <a:rPr lang="en-IN" sz="1600" b="0" kern="1200" dirty="0" err="1">
                          <a:solidFill>
                            <a:schemeClr val="tx1"/>
                          </a:solidFill>
                          <a:effectLst/>
                          <a:latin typeface="+mn-lt"/>
                          <a:ea typeface="+mn-ea"/>
                          <a:cs typeface="+mn-cs"/>
                        </a:rPr>
                        <a:t>h~t</a:t>
                      </a:r>
                      <a:r>
                        <a:rPr lang="en-IN" sz="1600" b="0" kern="1200" dirty="0">
                          <a:solidFill>
                            <a:schemeClr val="tx1"/>
                          </a:solidFill>
                          <a:effectLst/>
                          <a:latin typeface="+mn-lt"/>
                          <a:ea typeface="+mn-ea"/>
                          <a:cs typeface="+mn-cs"/>
                        </a:rPr>
                        <a:t> = tanh ⁡(</a:t>
                      </a:r>
                      <a:r>
                        <a:rPr lang="en-IN" sz="1600" b="0" kern="1200" dirty="0" err="1">
                          <a:solidFill>
                            <a:schemeClr val="tx1"/>
                          </a:solidFill>
                          <a:effectLst/>
                          <a:latin typeface="+mn-lt"/>
                          <a:ea typeface="+mn-ea"/>
                          <a:cs typeface="+mn-cs"/>
                        </a:rPr>
                        <a:t>Wh</a:t>
                      </a:r>
                      <a:r>
                        <a:rPr lang="en-IN" sz="1600" b="0" kern="1200" dirty="0">
                          <a:solidFill>
                            <a:schemeClr val="tx1"/>
                          </a:solidFill>
                          <a:effectLst/>
                          <a:latin typeface="+mn-lt"/>
                          <a:ea typeface="+mn-ea"/>
                          <a:cs typeface="+mn-cs"/>
                        </a:rPr>
                        <a:t> </a:t>
                      </a:r>
                      <a:r>
                        <a:rPr lang="en-IN" sz="1600" b="0" kern="1200" dirty="0" err="1">
                          <a:solidFill>
                            <a:schemeClr val="tx1"/>
                          </a:solidFill>
                          <a:effectLst/>
                          <a:latin typeface="+mn-lt"/>
                          <a:ea typeface="+mn-ea"/>
                          <a:cs typeface="+mn-cs"/>
                        </a:rPr>
                        <a:t>xt</a:t>
                      </a:r>
                      <a:r>
                        <a:rPr lang="en-IN" sz="1600" b="0" kern="1200" dirty="0">
                          <a:solidFill>
                            <a:schemeClr val="tx1"/>
                          </a:solidFill>
                          <a:effectLst/>
                          <a:latin typeface="+mn-lt"/>
                          <a:ea typeface="+mn-ea"/>
                          <a:cs typeface="+mn-cs"/>
                        </a:rPr>
                        <a:t> + Uh (rt⊙ht−1)) </a:t>
                      </a:r>
                      <a:br>
                        <a:rPr lang="en-IN" sz="1600" b="0" kern="1200" dirty="0">
                          <a:solidFill>
                            <a:schemeClr val="tx1"/>
                          </a:solidFill>
                          <a:effectLst/>
                          <a:latin typeface="+mn-lt"/>
                          <a:ea typeface="+mn-ea"/>
                          <a:cs typeface="+mn-cs"/>
                        </a:rPr>
                      </a:br>
                      <a:r>
                        <a:rPr lang="en-IN" sz="1600" b="0" kern="1200" dirty="0" err="1">
                          <a:solidFill>
                            <a:schemeClr val="tx1"/>
                          </a:solidFill>
                          <a:effectLst/>
                          <a:latin typeface="+mn-lt"/>
                          <a:ea typeface="+mn-ea"/>
                          <a:cs typeface="+mn-cs"/>
                        </a:rPr>
                        <a:t>ht</a:t>
                      </a:r>
                      <a:r>
                        <a:rPr lang="en-IN" sz="1600" b="0" kern="1200" dirty="0">
                          <a:solidFill>
                            <a:schemeClr val="tx1"/>
                          </a:solidFill>
                          <a:effectLst/>
                          <a:latin typeface="+mn-lt"/>
                          <a:ea typeface="+mn-ea"/>
                          <a:cs typeface="+mn-cs"/>
                        </a:rPr>
                        <a:t> = (1−zt) ht−1 + </a:t>
                      </a:r>
                      <a:r>
                        <a:rPr lang="en-IN" sz="1600" b="0" kern="1200" dirty="0" err="1">
                          <a:solidFill>
                            <a:schemeClr val="tx1"/>
                          </a:solidFill>
                          <a:effectLst/>
                          <a:latin typeface="+mn-lt"/>
                          <a:ea typeface="+mn-ea"/>
                          <a:cs typeface="+mn-cs"/>
                        </a:rPr>
                        <a:t>zt</a:t>
                      </a:r>
                      <a:r>
                        <a:rPr lang="en-IN" sz="1600" b="0" kern="1200" dirty="0">
                          <a:solidFill>
                            <a:schemeClr val="tx1"/>
                          </a:solidFill>
                          <a:effectLst/>
                          <a:latin typeface="+mn-lt"/>
                          <a:ea typeface="+mn-ea"/>
                          <a:cs typeface="+mn-cs"/>
                        </a:rPr>
                        <a:t> </a:t>
                      </a:r>
                      <a:r>
                        <a:rPr lang="en-IN" sz="1600" b="0" kern="1200" dirty="0" err="1">
                          <a:solidFill>
                            <a:schemeClr val="tx1"/>
                          </a:solidFill>
                          <a:effectLst/>
                          <a:latin typeface="+mn-lt"/>
                          <a:ea typeface="+mn-ea"/>
                          <a:cs typeface="+mn-cs"/>
                        </a:rPr>
                        <a:t>h~t</a:t>
                      </a:r>
                      <a:r>
                        <a:rPr lang="en-IN" sz="1600" b="0" kern="1200" dirty="0">
                          <a:solidFill>
                            <a:schemeClr val="tx1"/>
                          </a:solidFill>
                          <a:effectLst/>
                          <a:latin typeface="+mn-lt"/>
                          <a:ea typeface="+mn-ea"/>
                          <a:cs typeface="+mn-cs"/>
                        </a:rPr>
                        <a:t> </a:t>
                      </a:r>
                    </a:p>
                  </a:txBody>
                  <a:tcPr marL="41846" marR="41846" marT="20923" marB="2092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2045054"/>
                  </a:ext>
                </a:extLst>
              </a:tr>
              <a:tr h="393896">
                <a:tc>
                  <a:txBody>
                    <a:bodyPr/>
                    <a:lstStyle/>
                    <a:p>
                      <a:pPr>
                        <a:buNone/>
                      </a:pPr>
                      <a:r>
                        <a:rPr lang="en-IN" sz="1600" b="1" kern="1200" dirty="0">
                          <a:solidFill>
                            <a:schemeClr val="tx1"/>
                          </a:solidFill>
                          <a:effectLst/>
                          <a:latin typeface="+mn-lt"/>
                          <a:ea typeface="+mn-ea"/>
                          <a:cs typeface="+mn-cs"/>
                        </a:rPr>
                        <a:t>Control over past info</a:t>
                      </a:r>
                    </a:p>
                  </a:txBody>
                  <a:tcPr marL="41846" marR="41846" marT="20923" marB="2092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0" kern="1200" dirty="0">
                          <a:solidFill>
                            <a:schemeClr val="tx1"/>
                          </a:solidFill>
                          <a:effectLst/>
                          <a:latin typeface="+mn-lt"/>
                          <a:ea typeface="+mn-ea"/>
                          <a:cs typeface="+mn-cs"/>
                        </a:rPr>
                        <a:t>Limited (cannot reset old info)</a:t>
                      </a:r>
                    </a:p>
                  </a:txBody>
                  <a:tcPr marL="41846" marR="41846" marT="20923" marB="2092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0" kern="1200" dirty="0">
                          <a:solidFill>
                            <a:schemeClr val="tx1"/>
                          </a:solidFill>
                          <a:effectLst/>
                          <a:latin typeface="+mn-lt"/>
                          <a:ea typeface="+mn-ea"/>
                          <a:cs typeface="+mn-cs"/>
                        </a:rPr>
                        <a:t>Strong (reset gate allows ignoring irrelevant past info)</a:t>
                      </a:r>
                    </a:p>
                  </a:txBody>
                  <a:tcPr marL="41846" marR="41846" marT="20923" marB="2092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0030212"/>
                  </a:ext>
                </a:extLst>
              </a:tr>
              <a:tr h="450166">
                <a:tc>
                  <a:txBody>
                    <a:bodyPr/>
                    <a:lstStyle/>
                    <a:p>
                      <a:pPr>
                        <a:buNone/>
                      </a:pPr>
                      <a:r>
                        <a:rPr lang="en-IN" sz="1600" b="1" kern="1200" dirty="0">
                          <a:solidFill>
                            <a:schemeClr val="tx1"/>
                          </a:solidFill>
                          <a:effectLst/>
                          <a:latin typeface="+mn-lt"/>
                          <a:ea typeface="+mn-ea"/>
                          <a:cs typeface="+mn-cs"/>
                        </a:rPr>
                        <a:t>Complexity</a:t>
                      </a:r>
                    </a:p>
                  </a:txBody>
                  <a:tcPr marL="41846" marR="41846" marT="20923" marB="2092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0" kern="1200">
                          <a:solidFill>
                            <a:schemeClr val="tx1"/>
                          </a:solidFill>
                          <a:effectLst/>
                          <a:latin typeface="+mn-lt"/>
                          <a:ea typeface="+mn-ea"/>
                          <a:cs typeface="+mn-cs"/>
                        </a:rPr>
                        <a:t>Lower (fewer parameters)</a:t>
                      </a:r>
                    </a:p>
                  </a:txBody>
                  <a:tcPr marL="41846" marR="41846" marT="20923" marB="2092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0" kern="1200" dirty="0">
                          <a:solidFill>
                            <a:schemeClr val="tx1"/>
                          </a:solidFill>
                          <a:effectLst/>
                          <a:latin typeface="+mn-lt"/>
                          <a:ea typeface="+mn-ea"/>
                          <a:cs typeface="+mn-cs"/>
                        </a:rPr>
                        <a:t>Higher (extra gate and parameters)</a:t>
                      </a:r>
                    </a:p>
                  </a:txBody>
                  <a:tcPr marL="41846" marR="41846" marT="20923" marB="2092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0103180"/>
                  </a:ext>
                </a:extLst>
              </a:tr>
              <a:tr h="407963">
                <a:tc>
                  <a:txBody>
                    <a:bodyPr/>
                    <a:lstStyle/>
                    <a:p>
                      <a:pPr>
                        <a:buNone/>
                      </a:pPr>
                      <a:r>
                        <a:rPr lang="en-IN" sz="1600" b="1" kern="1200" dirty="0">
                          <a:solidFill>
                            <a:schemeClr val="tx1"/>
                          </a:solidFill>
                          <a:effectLst/>
                          <a:latin typeface="+mn-lt"/>
                          <a:ea typeface="+mn-ea"/>
                          <a:cs typeface="+mn-cs"/>
                        </a:rPr>
                        <a:t>Performance</a:t>
                      </a:r>
                    </a:p>
                  </a:txBody>
                  <a:tcPr marL="41846" marR="41846" marT="20923" marB="2092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0" kern="1200">
                          <a:solidFill>
                            <a:schemeClr val="tx1"/>
                          </a:solidFill>
                          <a:effectLst/>
                          <a:latin typeface="+mn-lt"/>
                          <a:ea typeface="+mn-ea"/>
                          <a:cs typeface="+mn-cs"/>
                        </a:rPr>
                        <a:t>Good for short dependencies</a:t>
                      </a:r>
                    </a:p>
                  </a:txBody>
                  <a:tcPr marL="41846" marR="41846" marT="20923" marB="2092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0" kern="1200" dirty="0">
                          <a:solidFill>
                            <a:schemeClr val="tx1"/>
                          </a:solidFill>
                          <a:effectLst/>
                          <a:latin typeface="+mn-lt"/>
                          <a:ea typeface="+mn-ea"/>
                          <a:cs typeface="+mn-cs"/>
                        </a:rPr>
                        <a:t>Better for long dependencies and noisy sequences</a:t>
                      </a:r>
                    </a:p>
                  </a:txBody>
                  <a:tcPr marL="41846" marR="41846" marT="20923" marB="2092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09994556"/>
                  </a:ext>
                </a:extLst>
              </a:tr>
              <a:tr h="422031">
                <a:tc>
                  <a:txBody>
                    <a:bodyPr/>
                    <a:lstStyle/>
                    <a:p>
                      <a:pPr>
                        <a:buNone/>
                      </a:pPr>
                      <a:r>
                        <a:rPr lang="en-IN" sz="1600" b="1" kern="1200" dirty="0">
                          <a:solidFill>
                            <a:schemeClr val="tx1"/>
                          </a:solidFill>
                          <a:effectLst/>
                          <a:latin typeface="+mn-lt"/>
                          <a:ea typeface="+mn-ea"/>
                          <a:cs typeface="+mn-cs"/>
                        </a:rPr>
                        <a:t>Vanishing Gradient Problem</a:t>
                      </a:r>
                    </a:p>
                  </a:txBody>
                  <a:tcPr marL="41846" marR="41846" marT="20923" marB="2092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0" kern="1200">
                          <a:solidFill>
                            <a:schemeClr val="tx1"/>
                          </a:solidFill>
                          <a:effectLst/>
                          <a:latin typeface="+mn-lt"/>
                          <a:ea typeface="+mn-ea"/>
                          <a:cs typeface="+mn-cs"/>
                        </a:rPr>
                        <a:t>Reduced (compared to vanilla RNN)</a:t>
                      </a:r>
                    </a:p>
                  </a:txBody>
                  <a:tcPr marL="41846" marR="41846" marT="20923" marB="2092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0" kern="1200" dirty="0">
                          <a:solidFill>
                            <a:schemeClr val="tx1"/>
                          </a:solidFill>
                          <a:effectLst/>
                          <a:latin typeface="+mn-lt"/>
                          <a:ea typeface="+mn-ea"/>
                          <a:cs typeface="+mn-cs"/>
                        </a:rPr>
                        <a:t>Further reduced</a:t>
                      </a:r>
                    </a:p>
                  </a:txBody>
                  <a:tcPr marL="41846" marR="41846" marT="20923" marB="2092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96676878"/>
                  </a:ext>
                </a:extLst>
              </a:tr>
              <a:tr h="292920">
                <a:tc>
                  <a:txBody>
                    <a:bodyPr/>
                    <a:lstStyle/>
                    <a:p>
                      <a:pPr>
                        <a:buNone/>
                      </a:pPr>
                      <a:r>
                        <a:rPr lang="en-IN" sz="1600" b="1" kern="1200" dirty="0">
                          <a:solidFill>
                            <a:schemeClr val="tx1"/>
                          </a:solidFill>
                          <a:effectLst/>
                          <a:latin typeface="+mn-lt"/>
                          <a:ea typeface="+mn-ea"/>
                          <a:cs typeface="+mn-cs"/>
                        </a:rPr>
                        <a:t>Use Cases</a:t>
                      </a:r>
                    </a:p>
                  </a:txBody>
                  <a:tcPr marL="41846" marR="41846" marT="20923" marB="2092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0" kern="1200" dirty="0">
                          <a:solidFill>
                            <a:schemeClr val="tx1"/>
                          </a:solidFill>
                          <a:effectLst/>
                          <a:latin typeface="+mn-lt"/>
                          <a:ea typeface="+mn-ea"/>
                          <a:cs typeface="+mn-cs"/>
                        </a:rPr>
                        <a:t>Small datasets, simple patterns</a:t>
                      </a:r>
                    </a:p>
                    <a:p>
                      <a:pPr>
                        <a:buNone/>
                      </a:pPr>
                      <a:endParaRPr lang="en-IN" sz="1600" b="0" kern="1200" dirty="0">
                        <a:solidFill>
                          <a:schemeClr val="tx1"/>
                        </a:solidFill>
                        <a:effectLst/>
                        <a:latin typeface="+mn-lt"/>
                        <a:ea typeface="+mn-ea"/>
                        <a:cs typeface="+mn-cs"/>
                      </a:endParaRPr>
                    </a:p>
                  </a:txBody>
                  <a:tcPr marL="41846" marR="41846" marT="20923" marB="2092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0" kern="1200" dirty="0">
                          <a:solidFill>
                            <a:schemeClr val="tx1"/>
                          </a:solidFill>
                          <a:effectLst/>
                          <a:latin typeface="+mn-lt"/>
                          <a:ea typeface="+mn-ea"/>
                          <a:cs typeface="+mn-cs"/>
                        </a:rPr>
                        <a:t>Complex sequences, NLP, speech recognition</a:t>
                      </a:r>
                    </a:p>
                  </a:txBody>
                  <a:tcPr marL="41846" marR="41846" marT="20923" marB="2092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96023770"/>
                  </a:ext>
                </a:extLst>
              </a:tr>
            </a:tbl>
          </a:graphicData>
        </a:graphic>
      </p:graphicFrame>
    </p:spTree>
    <p:extLst>
      <p:ext uri="{BB962C8B-B14F-4D97-AF65-F5344CB8AC3E}">
        <p14:creationId xmlns:p14="http://schemas.microsoft.com/office/powerpoint/2010/main" val="39977334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8373E-9108-2CB9-0ED5-78D7A838A25B}"/>
              </a:ext>
            </a:extLst>
          </p:cNvPr>
          <p:cNvSpPr>
            <a:spLocks noGrp="1"/>
          </p:cNvSpPr>
          <p:nvPr>
            <p:ph type="title"/>
          </p:nvPr>
        </p:nvSpPr>
        <p:spPr/>
        <p:txBody>
          <a:bodyPr/>
          <a:lstStyle/>
          <a:p>
            <a:r>
              <a:rPr lang="en-IN" dirty="0"/>
              <a:t>LSTM Vs. Fully Gated GRU </a:t>
            </a:r>
          </a:p>
        </p:txBody>
      </p:sp>
      <p:sp>
        <p:nvSpPr>
          <p:cNvPr id="4" name="Slide Number Placeholder 3">
            <a:extLst>
              <a:ext uri="{FF2B5EF4-FFF2-40B4-BE49-F238E27FC236}">
                <a16:creationId xmlns:a16="http://schemas.microsoft.com/office/drawing/2014/main" id="{F78FD010-D100-7AF5-CC61-B8255B9D9D4D}"/>
              </a:ext>
            </a:extLst>
          </p:cNvPr>
          <p:cNvSpPr>
            <a:spLocks noGrp="1"/>
          </p:cNvSpPr>
          <p:nvPr>
            <p:ph type="sldNum" sz="quarter" idx="12"/>
          </p:nvPr>
        </p:nvSpPr>
        <p:spPr/>
        <p:txBody>
          <a:bodyPr/>
          <a:lstStyle/>
          <a:p>
            <a:pPr>
              <a:defRPr/>
            </a:pPr>
            <a:fld id="{9AD681D7-8A59-4380-9311-10B86FF921AA}" type="slidenum">
              <a:rPr lang="en-US" altLang="zh-TW" smtClean="0"/>
              <a:pPr>
                <a:defRPr/>
              </a:pPr>
              <a:t>56</a:t>
            </a:fld>
            <a:endParaRPr lang="en-US" altLang="zh-TW"/>
          </a:p>
        </p:txBody>
      </p:sp>
      <p:graphicFrame>
        <p:nvGraphicFramePr>
          <p:cNvPr id="3" name="Content Placeholder 2">
            <a:extLst>
              <a:ext uri="{FF2B5EF4-FFF2-40B4-BE49-F238E27FC236}">
                <a16:creationId xmlns:a16="http://schemas.microsoft.com/office/drawing/2014/main" id="{CC23E773-2346-E3BD-2701-E39196EF4E4F}"/>
              </a:ext>
            </a:extLst>
          </p:cNvPr>
          <p:cNvGraphicFramePr>
            <a:graphicFrameLocks noGrp="1"/>
          </p:cNvGraphicFramePr>
          <p:nvPr>
            <p:ph idx="1"/>
            <p:extLst>
              <p:ext uri="{D42A27DB-BD31-4B8C-83A1-F6EECF244321}">
                <p14:modId xmlns:p14="http://schemas.microsoft.com/office/powerpoint/2010/main" val="4177676904"/>
              </p:ext>
            </p:extLst>
          </p:nvPr>
        </p:nvGraphicFramePr>
        <p:xfrm>
          <a:off x="1194191" y="2284334"/>
          <a:ext cx="10749280" cy="4495800"/>
        </p:xfrm>
        <a:graphic>
          <a:graphicData uri="http://schemas.openxmlformats.org/drawingml/2006/table">
            <a:tbl>
              <a:tblPr/>
              <a:tblGrid>
                <a:gridCol w="2176887">
                  <a:extLst>
                    <a:ext uri="{9D8B030D-6E8A-4147-A177-3AD203B41FA5}">
                      <a16:colId xmlns:a16="http://schemas.microsoft.com/office/drawing/2014/main" val="398682132"/>
                    </a:ext>
                  </a:extLst>
                </a:gridCol>
                <a:gridCol w="4225476">
                  <a:extLst>
                    <a:ext uri="{9D8B030D-6E8A-4147-A177-3AD203B41FA5}">
                      <a16:colId xmlns:a16="http://schemas.microsoft.com/office/drawing/2014/main" val="135238770"/>
                    </a:ext>
                  </a:extLst>
                </a:gridCol>
                <a:gridCol w="4346917">
                  <a:extLst>
                    <a:ext uri="{9D8B030D-6E8A-4147-A177-3AD203B41FA5}">
                      <a16:colId xmlns:a16="http://schemas.microsoft.com/office/drawing/2014/main" val="2140829691"/>
                    </a:ext>
                  </a:extLst>
                </a:gridCol>
              </a:tblGrid>
              <a:tr h="0">
                <a:tc>
                  <a:txBody>
                    <a:bodyPr/>
                    <a:lstStyle/>
                    <a:p>
                      <a:pPr algn="l" fontAlgn="base">
                        <a:buNone/>
                      </a:pPr>
                      <a:r>
                        <a:rPr lang="en-IN" sz="1600" b="1" dirty="0">
                          <a:effectLst/>
                        </a:rPr>
                        <a:t>Feature</a:t>
                      </a:r>
                    </a:p>
                  </a:txBody>
                  <a:tcPr marL="38100" marR="38100" marT="95250" marB="952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l" fontAlgn="base">
                        <a:buNone/>
                      </a:pPr>
                      <a:r>
                        <a:rPr lang="en-IN" sz="1600" b="1" dirty="0">
                          <a:effectLst/>
                        </a:rPr>
                        <a:t>LSTM (Long Short-Term Memory)</a:t>
                      </a:r>
                    </a:p>
                  </a:txBody>
                  <a:tcPr marL="95250" marR="95250" marT="95250" marB="952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l" fontAlgn="base">
                        <a:buNone/>
                      </a:pPr>
                      <a:r>
                        <a:rPr lang="en-IN" sz="1600" b="1" dirty="0">
                          <a:effectLst/>
                        </a:rPr>
                        <a:t>GRU (Gated Recurrent Unit)</a:t>
                      </a:r>
                    </a:p>
                    <a:p>
                      <a:pPr algn="l" fontAlgn="base">
                        <a:buNone/>
                      </a:pPr>
                      <a:endParaRPr lang="en-IN" sz="1600" b="1" dirty="0">
                        <a:effectLst/>
                      </a:endParaRPr>
                    </a:p>
                  </a:txBody>
                  <a:tcPr marL="95250" marR="95250" marT="95250" marB="952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extLst>
                  <a:ext uri="{0D108BD9-81ED-4DB2-BD59-A6C34878D82A}">
                    <a16:rowId xmlns:a16="http://schemas.microsoft.com/office/drawing/2014/main" val="3465649318"/>
                  </a:ext>
                </a:extLst>
              </a:tr>
              <a:tr h="0">
                <a:tc>
                  <a:txBody>
                    <a:bodyPr/>
                    <a:lstStyle/>
                    <a:p>
                      <a:pPr algn="l" fontAlgn="base">
                        <a:buNone/>
                      </a:pPr>
                      <a:r>
                        <a:rPr lang="en-IN" sz="1600" b="1" dirty="0">
                          <a:effectLst/>
                        </a:rPr>
                        <a:t>Inputs and Outputs </a:t>
                      </a:r>
                    </a:p>
                  </a:txBody>
                  <a:tcPr marL="38100" marR="38100" marT="66523" marB="6652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l" fontAlgn="ctr">
                        <a:buNone/>
                      </a:pPr>
                      <a:r>
                        <a:rPr lang="en-IN" sz="1600" b="0" dirty="0">
                          <a:effectLst/>
                        </a:rPr>
                        <a:t>3 Inputs and 2 Outputs </a:t>
                      </a:r>
                    </a:p>
                  </a:txBody>
                  <a:tcPr marL="95250" marR="95250" marT="133350" marB="1333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IN" sz="1600" b="0" dirty="0">
                          <a:effectLst/>
                        </a:rPr>
                        <a:t>2 Inputs and 1 Outputs </a:t>
                      </a:r>
                    </a:p>
                  </a:txBody>
                  <a:tcPr marL="95250" marR="95250" marT="133350" marB="1333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776696882"/>
                  </a:ext>
                </a:extLst>
              </a:tr>
              <a:tr h="0">
                <a:tc>
                  <a:txBody>
                    <a:bodyPr/>
                    <a:lstStyle/>
                    <a:p>
                      <a:pPr algn="l" fontAlgn="base">
                        <a:buNone/>
                      </a:pPr>
                      <a:r>
                        <a:rPr lang="en-IN" sz="1600" b="1" dirty="0">
                          <a:effectLst/>
                        </a:rPr>
                        <a:t>Gates</a:t>
                      </a:r>
                    </a:p>
                  </a:txBody>
                  <a:tcPr marL="38100" marR="38100" marT="66523" marB="6652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l" fontAlgn="ctr">
                        <a:buNone/>
                      </a:pPr>
                      <a:r>
                        <a:rPr lang="en-IN" sz="1600" b="0" dirty="0">
                          <a:effectLst/>
                        </a:rPr>
                        <a:t>3 (Input, Forget, Output)</a:t>
                      </a:r>
                    </a:p>
                  </a:txBody>
                  <a:tcPr marL="95250" marR="95250" marT="133350" marB="1333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en-IN" sz="1600" b="0" dirty="0">
                          <a:effectLst/>
                        </a:rPr>
                        <a:t>2 (Update, Reset)</a:t>
                      </a:r>
                    </a:p>
                  </a:txBody>
                  <a:tcPr marL="95250" marR="95250" marT="133350" marB="1333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820579271"/>
                  </a:ext>
                </a:extLst>
              </a:tr>
              <a:tr h="0">
                <a:tc>
                  <a:txBody>
                    <a:bodyPr/>
                    <a:lstStyle/>
                    <a:p>
                      <a:pPr algn="l" fontAlgn="base">
                        <a:buNone/>
                      </a:pPr>
                      <a:r>
                        <a:rPr lang="en-IN" sz="1600" b="1" dirty="0">
                          <a:effectLst/>
                        </a:rPr>
                        <a:t>States</a:t>
                      </a:r>
                    </a:p>
                  </a:txBody>
                  <a:tcPr marL="38100" marR="38100" marT="66523" marB="6652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l" fontAlgn="ctr">
                        <a:buNone/>
                      </a:pPr>
                      <a:r>
                        <a:rPr lang="en-US" sz="1600" b="0" dirty="0">
                          <a:effectLst/>
                        </a:rPr>
                        <a:t>Hidden state and Cell state</a:t>
                      </a:r>
                    </a:p>
                  </a:txBody>
                  <a:tcPr marL="95250" marR="95250" marT="133350" marB="1333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en-IN" sz="1600" b="0" dirty="0">
                          <a:effectLst/>
                        </a:rPr>
                        <a:t>Hidden state </a:t>
                      </a:r>
                    </a:p>
                  </a:txBody>
                  <a:tcPr marL="95250" marR="95250" marT="133350" marB="1333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367411307"/>
                  </a:ext>
                </a:extLst>
              </a:tr>
              <a:tr h="0">
                <a:tc>
                  <a:txBody>
                    <a:bodyPr/>
                    <a:lstStyle/>
                    <a:p>
                      <a:pPr algn="l" fontAlgn="base">
                        <a:buNone/>
                      </a:pPr>
                      <a:r>
                        <a:rPr lang="en-IN" sz="1600" b="1" dirty="0">
                          <a:effectLst/>
                        </a:rPr>
                        <a:t>Parameters</a:t>
                      </a:r>
                    </a:p>
                  </a:txBody>
                  <a:tcPr marL="38100" marR="38100" marT="66523" marB="6652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l" fontAlgn="ctr">
                        <a:buNone/>
                      </a:pPr>
                      <a:r>
                        <a:rPr lang="en-IN" sz="1600" b="1" dirty="0">
                          <a:effectLst/>
                        </a:rPr>
                        <a:t>More parameters</a:t>
                      </a:r>
                    </a:p>
                  </a:txBody>
                  <a:tcPr marL="95250" marR="95250" marT="133350" marB="1333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IN" sz="1600" b="1" dirty="0">
                          <a:effectLst/>
                        </a:rPr>
                        <a:t>Less parameters</a:t>
                      </a:r>
                      <a:endParaRPr lang="en-US" sz="1600" b="1" dirty="0">
                        <a:effectLst/>
                      </a:endParaRPr>
                    </a:p>
                  </a:txBody>
                  <a:tcPr marL="95250" marR="95250" marT="133350" marB="1333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421508674"/>
                  </a:ext>
                </a:extLst>
              </a:tr>
              <a:tr h="0">
                <a:tc>
                  <a:txBody>
                    <a:bodyPr/>
                    <a:lstStyle/>
                    <a:p>
                      <a:pPr algn="l" fontAlgn="base">
                        <a:buNone/>
                      </a:pPr>
                      <a:r>
                        <a:rPr lang="en-IN" sz="1600" b="1" dirty="0">
                          <a:effectLst/>
                        </a:rPr>
                        <a:t>Training Speed</a:t>
                      </a:r>
                    </a:p>
                  </a:txBody>
                  <a:tcPr marL="38100" marR="38100" marT="66523" marB="6652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l" fontAlgn="ctr">
                        <a:buNone/>
                      </a:pPr>
                      <a:r>
                        <a:rPr lang="en-IN" sz="1600" b="1" dirty="0">
                          <a:effectLst/>
                        </a:rPr>
                        <a:t>Slower due to complexity</a:t>
                      </a:r>
                    </a:p>
                  </a:txBody>
                  <a:tcPr marL="95250" marR="95250" marT="133350" marB="1333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en-US" sz="1600" b="1" dirty="0">
                          <a:effectLst/>
                        </a:rPr>
                        <a:t>Faster due to simpler architecture</a:t>
                      </a:r>
                    </a:p>
                  </a:txBody>
                  <a:tcPr marL="95250" marR="95250" marT="133350" marB="1333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4200586690"/>
                  </a:ext>
                </a:extLst>
              </a:tr>
              <a:tr h="0">
                <a:tc>
                  <a:txBody>
                    <a:bodyPr/>
                    <a:lstStyle/>
                    <a:p>
                      <a:pPr algn="l" fontAlgn="base">
                        <a:buNone/>
                      </a:pPr>
                      <a:r>
                        <a:rPr lang="en-IN" sz="1600" b="1">
                          <a:effectLst/>
                        </a:rPr>
                        <a:t>Computational Load</a:t>
                      </a:r>
                    </a:p>
                  </a:txBody>
                  <a:tcPr marL="38100" marR="38100" marT="66523" marB="6652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l" fontAlgn="ctr">
                        <a:buNone/>
                      </a:pPr>
                      <a:r>
                        <a:rPr lang="en-US" sz="1600" b="1" dirty="0">
                          <a:effectLst/>
                        </a:rPr>
                        <a:t>Higher due to more gates and parameters</a:t>
                      </a:r>
                    </a:p>
                  </a:txBody>
                  <a:tcPr marL="95250" marR="95250" marT="133350" marB="1333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en-US" sz="1600" b="1" dirty="0">
                          <a:effectLst/>
                        </a:rPr>
                        <a:t>Lower due to fewer gates and parameters</a:t>
                      </a:r>
                    </a:p>
                  </a:txBody>
                  <a:tcPr marL="95250" marR="95250" marT="133350" marB="1333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308669557"/>
                  </a:ext>
                </a:extLst>
              </a:tr>
              <a:tr h="0">
                <a:tc>
                  <a:txBody>
                    <a:bodyPr/>
                    <a:lstStyle/>
                    <a:p>
                      <a:pPr algn="l" fontAlgn="base">
                        <a:buNone/>
                      </a:pPr>
                      <a:r>
                        <a:rPr lang="en-IN" sz="1600" b="1">
                          <a:effectLst/>
                        </a:rPr>
                        <a:t>Performance</a:t>
                      </a:r>
                    </a:p>
                  </a:txBody>
                  <a:tcPr marL="38100" marR="38100" marT="66523" marB="6652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l" fontAlgn="ctr">
                        <a:buNone/>
                      </a:pPr>
                      <a:r>
                        <a:rPr lang="en-US" sz="1600" b="1" dirty="0">
                          <a:effectLst/>
                        </a:rPr>
                        <a:t>Often better in tasks requiring long-term memory (Complex Tasks). </a:t>
                      </a:r>
                    </a:p>
                  </a:txBody>
                  <a:tcPr marL="95250" marR="95250" marT="133350" marB="1333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en-US" sz="1600" b="1" dirty="0">
                          <a:effectLst/>
                        </a:rPr>
                        <a:t>Performs similarly in many tasks with less complexity.</a:t>
                      </a:r>
                    </a:p>
                  </a:txBody>
                  <a:tcPr marL="95250" marR="95250" marT="133350" marB="1333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4233070099"/>
                  </a:ext>
                </a:extLst>
              </a:tr>
            </a:tbl>
          </a:graphicData>
        </a:graphic>
      </p:graphicFrame>
      <p:sp>
        <p:nvSpPr>
          <p:cNvPr id="6" name="TextBox 5">
            <a:extLst>
              <a:ext uri="{FF2B5EF4-FFF2-40B4-BE49-F238E27FC236}">
                <a16:creationId xmlns:a16="http://schemas.microsoft.com/office/drawing/2014/main" id="{4CB44BCF-4A37-F830-65E1-738F991A2DF1}"/>
              </a:ext>
            </a:extLst>
          </p:cNvPr>
          <p:cNvSpPr txBox="1"/>
          <p:nvPr/>
        </p:nvSpPr>
        <p:spPr>
          <a:xfrm>
            <a:off x="7648135" y="77866"/>
            <a:ext cx="4543865" cy="584775"/>
          </a:xfrm>
          <a:prstGeom prst="rect">
            <a:avLst/>
          </a:prstGeom>
          <a:noFill/>
          <a:ln>
            <a:solidFill>
              <a:schemeClr val="tx1"/>
            </a:solidFill>
          </a:ln>
        </p:spPr>
        <p:txBody>
          <a:bodyPr wrap="square">
            <a:spAutoFit/>
          </a:bodyPr>
          <a:lstStyle/>
          <a:p>
            <a:r>
              <a:rPr lang="en-IN" sz="1600" dirty="0"/>
              <a:t>https://medium.com/@abhishekjainindore24/all-about-gru-gated-recurring-unit-d8990b2724cf</a:t>
            </a:r>
          </a:p>
        </p:txBody>
      </p:sp>
      <p:sp>
        <p:nvSpPr>
          <p:cNvPr id="7" name="TextBox 6">
            <a:extLst>
              <a:ext uri="{FF2B5EF4-FFF2-40B4-BE49-F238E27FC236}">
                <a16:creationId xmlns:a16="http://schemas.microsoft.com/office/drawing/2014/main" id="{BA720820-4C3D-C027-4CF8-08A2BDE03F98}"/>
              </a:ext>
            </a:extLst>
          </p:cNvPr>
          <p:cNvSpPr txBox="1"/>
          <p:nvPr/>
        </p:nvSpPr>
        <p:spPr>
          <a:xfrm>
            <a:off x="4332849" y="158323"/>
            <a:ext cx="3172150" cy="338554"/>
          </a:xfrm>
          <a:prstGeom prst="rect">
            <a:avLst/>
          </a:prstGeom>
          <a:noFill/>
        </p:spPr>
        <p:txBody>
          <a:bodyPr wrap="none" rtlCol="0">
            <a:spAutoFit/>
          </a:bodyPr>
          <a:lstStyle/>
          <a:p>
            <a:r>
              <a:rPr lang="en-IN" sz="1600" b="1" dirty="0"/>
              <a:t>Working of GRU given nicely   </a:t>
            </a:r>
          </a:p>
        </p:txBody>
      </p:sp>
      <p:cxnSp>
        <p:nvCxnSpPr>
          <p:cNvPr id="9" name="Straight Arrow Connector 8">
            <a:extLst>
              <a:ext uri="{FF2B5EF4-FFF2-40B4-BE49-F238E27FC236}">
                <a16:creationId xmlns:a16="http://schemas.microsoft.com/office/drawing/2014/main" id="{D92C8B8D-870C-B30F-954C-BD55BA327432}"/>
              </a:ext>
            </a:extLst>
          </p:cNvPr>
          <p:cNvCxnSpPr>
            <a:endCxn id="7" idx="3"/>
          </p:cNvCxnSpPr>
          <p:nvPr/>
        </p:nvCxnSpPr>
        <p:spPr bwMode="auto">
          <a:xfrm>
            <a:off x="7216726" y="327600"/>
            <a:ext cx="288273" cy="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79412232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82C977-4A9B-56E1-7258-5877D8624858}"/>
              </a:ext>
            </a:extLst>
          </p:cNvPr>
          <p:cNvSpPr>
            <a:spLocks noGrp="1"/>
          </p:cNvSpPr>
          <p:nvPr>
            <p:ph type="title"/>
          </p:nvPr>
        </p:nvSpPr>
        <p:spPr/>
        <p:txBody>
          <a:bodyPr/>
          <a:lstStyle/>
          <a:p>
            <a:r>
              <a:rPr lang="en-IN" dirty="0"/>
              <a:t>LSTM</a:t>
            </a:r>
          </a:p>
        </p:txBody>
      </p:sp>
      <p:sp>
        <p:nvSpPr>
          <p:cNvPr id="3" name="Content Placeholder 2">
            <a:extLst>
              <a:ext uri="{FF2B5EF4-FFF2-40B4-BE49-F238E27FC236}">
                <a16:creationId xmlns:a16="http://schemas.microsoft.com/office/drawing/2014/main" id="{9384B29E-0FDE-4D34-EC39-CC1B148CEDCC}"/>
              </a:ext>
            </a:extLst>
          </p:cNvPr>
          <p:cNvSpPr>
            <a:spLocks noGrp="1"/>
          </p:cNvSpPr>
          <p:nvPr>
            <p:ph idx="1"/>
          </p:nvPr>
        </p:nvSpPr>
        <p:spPr>
          <a:xfrm>
            <a:off x="1117601" y="2362201"/>
            <a:ext cx="11074399" cy="2744371"/>
          </a:xfrm>
          <a:ln>
            <a:solidFill>
              <a:schemeClr val="tx1"/>
            </a:solidFill>
          </a:ln>
        </p:spPr>
        <p:txBody>
          <a:bodyPr/>
          <a:lstStyle/>
          <a:p>
            <a:r>
              <a:rPr lang="en-IN" sz="1600" dirty="0">
                <a:hlinkClick r:id="rId2"/>
              </a:rPr>
              <a:t>https://www.javatpoint.com/keras-recurrent-neural-networks</a:t>
            </a:r>
            <a:endParaRPr lang="en-IN" sz="1600" dirty="0"/>
          </a:p>
          <a:p>
            <a:r>
              <a:rPr lang="en-IN" sz="1600" dirty="0">
                <a:hlinkClick r:id="rId3"/>
              </a:rPr>
              <a:t>https://medium.com/@humble_bee/rnn-recurrent-neural-networks-lstm-842ba7205bbf</a:t>
            </a:r>
            <a:endParaRPr lang="en-IN" sz="1600" dirty="0"/>
          </a:p>
          <a:p>
            <a:r>
              <a:rPr lang="en-IN" sz="1600" dirty="0">
                <a:hlinkClick r:id="rId4"/>
              </a:rPr>
              <a:t>https://colah.github.io/posts/2015-08-Understanding-LSTMs/</a:t>
            </a:r>
            <a:endParaRPr lang="en-IN" sz="1600" dirty="0"/>
          </a:p>
          <a:p>
            <a:r>
              <a:rPr lang="en-IN" sz="1600" dirty="0">
                <a:hlinkClick r:id="rId5"/>
              </a:rPr>
              <a:t>https://builtin.com/data-science/recurrent-neural-networks-and-lstm#:~:text=Simply%20put%3A%20Recurrent%20neural%20networks%20add%20the%20immediate%20past%20to,things%20other%20algorithms%20can’t</a:t>
            </a:r>
            <a:r>
              <a:rPr lang="en-IN" sz="1600" dirty="0"/>
              <a:t>.</a:t>
            </a:r>
          </a:p>
          <a:p>
            <a:r>
              <a:rPr lang="en-IN" sz="1600" dirty="0">
                <a:hlinkClick r:id="rId6"/>
              </a:rPr>
              <a:t>https://www.geeksforgeeks.org/introduction-to-recurrent-neural-network/</a:t>
            </a:r>
            <a:endParaRPr lang="en-IN" sz="1600" dirty="0"/>
          </a:p>
          <a:p>
            <a:r>
              <a:rPr lang="en-IN" sz="1600" dirty="0">
                <a:hlinkClick r:id="rId7"/>
              </a:rPr>
              <a:t>https://www.analyticsvidhya.com/blog/2022/03/a-brief-overview-of-recurrent-neural-networks-rnn/</a:t>
            </a:r>
            <a:endParaRPr lang="en-IN" sz="1600" dirty="0"/>
          </a:p>
          <a:p>
            <a:r>
              <a:rPr lang="en-IN" sz="1600" dirty="0">
                <a:hlinkClick r:id="rId8"/>
              </a:rPr>
              <a:t>https://stanford.edu/~shervine/teaching/cs-230/cheatsheet-recurrent-neural-networks</a:t>
            </a:r>
            <a:endParaRPr lang="en-IN" sz="1600" dirty="0"/>
          </a:p>
        </p:txBody>
      </p:sp>
      <p:sp>
        <p:nvSpPr>
          <p:cNvPr id="4" name="Slide Number Placeholder 3">
            <a:extLst>
              <a:ext uri="{FF2B5EF4-FFF2-40B4-BE49-F238E27FC236}">
                <a16:creationId xmlns:a16="http://schemas.microsoft.com/office/drawing/2014/main" id="{F1ACA33D-2E3A-E2B9-0E3D-3924878C9E5A}"/>
              </a:ext>
            </a:extLst>
          </p:cNvPr>
          <p:cNvSpPr>
            <a:spLocks noGrp="1"/>
          </p:cNvSpPr>
          <p:nvPr>
            <p:ph type="sldNum" sz="quarter" idx="12"/>
          </p:nvPr>
        </p:nvSpPr>
        <p:spPr/>
        <p:txBody>
          <a:bodyPr/>
          <a:lstStyle/>
          <a:p>
            <a:pPr>
              <a:defRPr/>
            </a:pPr>
            <a:fld id="{9AD681D7-8A59-4380-9311-10B86FF921AA}" type="slidenum">
              <a:rPr lang="en-US" altLang="zh-TW" smtClean="0"/>
              <a:pPr>
                <a:defRPr/>
              </a:pPr>
              <a:t>57</a:t>
            </a:fld>
            <a:endParaRPr lang="en-US" altLang="zh-TW"/>
          </a:p>
        </p:txBody>
      </p:sp>
    </p:spTree>
    <p:extLst>
      <p:ext uri="{BB962C8B-B14F-4D97-AF65-F5344CB8AC3E}">
        <p14:creationId xmlns:p14="http://schemas.microsoft.com/office/powerpoint/2010/main" val="363959435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9FBE6AC-AC2F-7CE6-FC9B-E0FE22076BC2}"/>
              </a:ext>
            </a:extLst>
          </p:cNvPr>
          <p:cNvPicPr>
            <a:picLocks noChangeAspect="1"/>
          </p:cNvPicPr>
          <p:nvPr/>
        </p:nvPicPr>
        <p:blipFill>
          <a:blip r:embed="rId2"/>
          <a:stretch>
            <a:fillRect/>
          </a:stretch>
        </p:blipFill>
        <p:spPr>
          <a:xfrm>
            <a:off x="10436518" y="220393"/>
            <a:ext cx="1478964" cy="1661159"/>
          </a:xfrm>
          <a:prstGeom prst="rect">
            <a:avLst/>
          </a:prstGeom>
          <a:ln>
            <a:solidFill>
              <a:srgbClr val="1D1D1D"/>
            </a:solidFill>
          </a:ln>
        </p:spPr>
      </p:pic>
      <p:sp>
        <p:nvSpPr>
          <p:cNvPr id="2" name="Title 1">
            <a:extLst>
              <a:ext uri="{FF2B5EF4-FFF2-40B4-BE49-F238E27FC236}">
                <a16:creationId xmlns:a16="http://schemas.microsoft.com/office/drawing/2014/main" id="{E24C6AF9-7FAD-F5E1-E408-F25F39E9E055}"/>
              </a:ext>
            </a:extLst>
          </p:cNvPr>
          <p:cNvSpPr>
            <a:spLocks noGrp="1"/>
          </p:cNvSpPr>
          <p:nvPr>
            <p:ph type="title"/>
          </p:nvPr>
        </p:nvSpPr>
        <p:spPr/>
        <p:txBody>
          <a:bodyPr/>
          <a:lstStyle/>
          <a:p>
            <a:r>
              <a:rPr lang="en-IN" dirty="0"/>
              <a:t>LSTM</a:t>
            </a:r>
          </a:p>
        </p:txBody>
      </p:sp>
      <p:sp>
        <p:nvSpPr>
          <p:cNvPr id="3" name="Content Placeholder 2">
            <a:extLst>
              <a:ext uri="{FF2B5EF4-FFF2-40B4-BE49-F238E27FC236}">
                <a16:creationId xmlns:a16="http://schemas.microsoft.com/office/drawing/2014/main" id="{3A5A9574-5B78-8562-3DED-71E62E5FA32F}"/>
              </a:ext>
            </a:extLst>
          </p:cNvPr>
          <p:cNvSpPr>
            <a:spLocks noGrp="1"/>
          </p:cNvSpPr>
          <p:nvPr>
            <p:ph idx="1"/>
          </p:nvPr>
        </p:nvSpPr>
        <p:spPr>
          <a:xfrm>
            <a:off x="1117601" y="2362201"/>
            <a:ext cx="10938411" cy="4249614"/>
          </a:xfrm>
          <a:ln>
            <a:solidFill>
              <a:srgbClr val="000000"/>
            </a:solidFill>
          </a:ln>
        </p:spPr>
        <p:txBody>
          <a:bodyPr/>
          <a:lstStyle/>
          <a:p>
            <a:r>
              <a:rPr lang="en-US" sz="1800" dirty="0">
                <a:ea typeface="+mn-ea"/>
              </a:rPr>
              <a:t>Hidden state (hₜ ₋ ₁) and cell input (xₜ) data is used to control what to do with memory (cell state) cₜ : </a:t>
            </a:r>
            <a:r>
              <a:rPr lang="en-US" sz="1800" b="1" dirty="0">
                <a:ea typeface="+mn-ea"/>
              </a:rPr>
              <a:t>to forget or to write new information.</a:t>
            </a:r>
          </a:p>
          <a:p>
            <a:r>
              <a:rPr lang="en-US" sz="1800" dirty="0">
                <a:ea typeface="+mn-ea"/>
              </a:rPr>
              <a:t>We decide what to do with memory </a:t>
            </a:r>
            <a:r>
              <a:rPr lang="en-US" sz="1800" b="1" dirty="0">
                <a:ea typeface="+mn-ea"/>
              </a:rPr>
              <a:t>knowing about previous cell output (hidden state) and current input and we do this using gates.</a:t>
            </a:r>
          </a:p>
          <a:p>
            <a:r>
              <a:rPr lang="en-US" sz="1800" b="1" dirty="0">
                <a:ea typeface="+mn-ea"/>
              </a:rPr>
              <a:t>Gates are a way to optionally let information through</a:t>
            </a:r>
            <a:r>
              <a:rPr lang="en-US" sz="1800" dirty="0">
                <a:ea typeface="+mn-ea"/>
              </a:rPr>
              <a:t>. They are composed out of a </a:t>
            </a:r>
            <a:r>
              <a:rPr lang="en-US" sz="1800" b="1" dirty="0">
                <a:ea typeface="+mn-ea"/>
              </a:rPr>
              <a:t>sigmoid neural net layer and a point-wise multiplication operation.</a:t>
            </a:r>
          </a:p>
          <a:p>
            <a:r>
              <a:rPr lang="en-US" sz="1800" b="1" dirty="0">
                <a:ea typeface="+mn-ea"/>
              </a:rPr>
              <a:t>LSTM Gate</a:t>
            </a:r>
          </a:p>
          <a:p>
            <a:r>
              <a:rPr lang="en-US" sz="1800" dirty="0">
                <a:ea typeface="+mn-ea"/>
              </a:rPr>
              <a:t>The sigmoid layer outputs numbers between zero and one, describing how much of each component should be let through.</a:t>
            </a:r>
          </a:p>
          <a:p>
            <a:r>
              <a:rPr lang="en-US" sz="1800" dirty="0">
                <a:ea typeface="+mn-ea"/>
              </a:rPr>
              <a:t>A value of </a:t>
            </a:r>
            <a:r>
              <a:rPr lang="en-US" sz="1800" b="1" dirty="0">
                <a:ea typeface="+mn-ea"/>
              </a:rPr>
              <a:t>zero means “let nothing through,” </a:t>
            </a:r>
            <a:r>
              <a:rPr lang="en-US" sz="1800" dirty="0">
                <a:ea typeface="+mn-ea"/>
              </a:rPr>
              <a:t>while a value of </a:t>
            </a:r>
            <a:r>
              <a:rPr lang="en-US" sz="1800" b="1" dirty="0">
                <a:ea typeface="+mn-ea"/>
              </a:rPr>
              <a:t>one means “let everything through!”</a:t>
            </a:r>
          </a:p>
          <a:p>
            <a:r>
              <a:rPr lang="en-US" sz="1800" dirty="0">
                <a:ea typeface="+mn-ea"/>
              </a:rPr>
              <a:t>An LSTM has </a:t>
            </a:r>
            <a:r>
              <a:rPr lang="en-US" sz="1800" b="1" dirty="0">
                <a:ea typeface="+mn-ea"/>
              </a:rPr>
              <a:t>three of these gates</a:t>
            </a:r>
            <a:r>
              <a:rPr lang="en-US" sz="1800" dirty="0">
                <a:ea typeface="+mn-ea"/>
              </a:rPr>
              <a:t>, </a:t>
            </a:r>
            <a:r>
              <a:rPr lang="en-US" sz="1800" b="1" dirty="0">
                <a:ea typeface="+mn-ea"/>
              </a:rPr>
              <a:t>to protect and control the cell state.</a:t>
            </a:r>
            <a:endParaRPr lang="en-IN" sz="1800" b="1" dirty="0">
              <a:ea typeface="+mn-ea"/>
            </a:endParaRPr>
          </a:p>
        </p:txBody>
      </p:sp>
      <p:sp>
        <p:nvSpPr>
          <p:cNvPr id="4" name="Slide Number Placeholder 3">
            <a:extLst>
              <a:ext uri="{FF2B5EF4-FFF2-40B4-BE49-F238E27FC236}">
                <a16:creationId xmlns:a16="http://schemas.microsoft.com/office/drawing/2014/main" id="{FBCAADF8-E0EC-7A34-61DC-E1BF2E056F74}"/>
              </a:ext>
            </a:extLst>
          </p:cNvPr>
          <p:cNvSpPr>
            <a:spLocks noGrp="1"/>
          </p:cNvSpPr>
          <p:nvPr>
            <p:ph type="sldNum" sz="quarter" idx="12"/>
          </p:nvPr>
        </p:nvSpPr>
        <p:spPr/>
        <p:txBody>
          <a:bodyPr/>
          <a:lstStyle/>
          <a:p>
            <a:pPr>
              <a:defRPr/>
            </a:pPr>
            <a:fld id="{9AD681D7-8A59-4380-9311-10B86FF921AA}" type="slidenum">
              <a:rPr lang="en-US" altLang="zh-TW" smtClean="0"/>
              <a:pPr>
                <a:defRPr/>
              </a:pPr>
              <a:t>58</a:t>
            </a:fld>
            <a:endParaRPr lang="en-US" altLang="zh-TW"/>
          </a:p>
        </p:txBody>
      </p:sp>
    </p:spTree>
    <p:extLst>
      <p:ext uri="{BB962C8B-B14F-4D97-AF65-F5344CB8AC3E}">
        <p14:creationId xmlns:p14="http://schemas.microsoft.com/office/powerpoint/2010/main" val="59878535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D6574-6D01-4971-9CF1-3EC582496B81}"/>
              </a:ext>
            </a:extLst>
          </p:cNvPr>
          <p:cNvSpPr>
            <a:spLocks noGrp="1"/>
          </p:cNvSpPr>
          <p:nvPr>
            <p:ph type="title"/>
          </p:nvPr>
        </p:nvSpPr>
        <p:spPr/>
        <p:txBody>
          <a:bodyPr/>
          <a:lstStyle/>
          <a:p>
            <a:endParaRPr lang="en-IN" dirty="0"/>
          </a:p>
        </p:txBody>
      </p:sp>
      <p:sp>
        <p:nvSpPr>
          <p:cNvPr id="4" name="Slide Number Placeholder 3">
            <a:extLst>
              <a:ext uri="{FF2B5EF4-FFF2-40B4-BE49-F238E27FC236}">
                <a16:creationId xmlns:a16="http://schemas.microsoft.com/office/drawing/2014/main" id="{50BC4BE5-31FB-45E8-A238-4621B9DACA60}"/>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AD681D7-8A59-4380-9311-10B86FF921AA}" type="slidenum">
              <a:rPr kumimoji="0" lang="en-US" altLang="zh-TW" sz="2600" b="1" i="0" u="none" strike="noStrike" kern="1200" cap="none" spc="0" normalizeH="0" baseline="0" noProof="0" smtClean="0">
                <a:ln>
                  <a:noFill/>
                </a:ln>
                <a:solidFill>
                  <a:srgbClr val="FFFFFF"/>
                </a:solidFill>
                <a:effectLst/>
                <a:uLnTx/>
                <a:uFillTx/>
                <a:latin typeface="Arial"/>
                <a:ea typeface="新細明體" panose="02020500000000000000" pitchFamily="18" charset="-120"/>
                <a:cs typeface="+mn-cs"/>
              </a:rPr>
              <a:pPr marL="0" marR="0" lvl="0" indent="0" algn="l" defTabSz="914400" rtl="0" eaLnBrk="1" fontAlgn="auto" latinLnBrk="0" hangingPunct="1">
                <a:lnSpc>
                  <a:spcPct val="100000"/>
                </a:lnSpc>
                <a:spcBef>
                  <a:spcPts val="0"/>
                </a:spcBef>
                <a:spcAft>
                  <a:spcPts val="0"/>
                </a:spcAft>
                <a:buClrTx/>
                <a:buSzTx/>
                <a:buFontTx/>
                <a:buNone/>
                <a:tabLst/>
                <a:defRPr/>
              </a:pPr>
              <a:t>59</a:t>
            </a:fld>
            <a:endParaRPr kumimoji="0" lang="en-US" altLang="zh-TW" sz="2600" b="1" i="0" u="none" strike="noStrike" kern="1200" cap="none" spc="0" normalizeH="0" baseline="0" noProof="0">
              <a:ln>
                <a:noFill/>
              </a:ln>
              <a:solidFill>
                <a:srgbClr val="FFFFFF"/>
              </a:solidFill>
              <a:effectLst/>
              <a:uLnTx/>
              <a:uFillTx/>
              <a:latin typeface="Arial"/>
              <a:ea typeface="新細明體" panose="02020500000000000000" pitchFamily="18" charset="-120"/>
              <a:cs typeface="+mn-cs"/>
            </a:endParaRPr>
          </a:p>
        </p:txBody>
      </p:sp>
      <p:graphicFrame>
        <p:nvGraphicFramePr>
          <p:cNvPr id="5" name="Content Placeholder 4">
            <a:extLst>
              <a:ext uri="{FF2B5EF4-FFF2-40B4-BE49-F238E27FC236}">
                <a16:creationId xmlns:a16="http://schemas.microsoft.com/office/drawing/2014/main" id="{1329A379-10D5-EDB7-6E06-FB3E947FC504}"/>
              </a:ext>
            </a:extLst>
          </p:cNvPr>
          <p:cNvGraphicFramePr>
            <a:graphicFrameLocks noGrp="1"/>
          </p:cNvGraphicFramePr>
          <p:nvPr>
            <p:ph idx="1"/>
            <p:extLst>
              <p:ext uri="{D42A27DB-BD31-4B8C-83A1-F6EECF244321}">
                <p14:modId xmlns:p14="http://schemas.microsoft.com/office/powerpoint/2010/main" val="4137584527"/>
              </p:ext>
            </p:extLst>
          </p:nvPr>
        </p:nvGraphicFramePr>
        <p:xfrm>
          <a:off x="0" y="0"/>
          <a:ext cx="12079816" cy="7613613"/>
        </p:xfrm>
        <a:graphic>
          <a:graphicData uri="http://schemas.openxmlformats.org/drawingml/2006/table">
            <a:tbl>
              <a:tblPr/>
              <a:tblGrid>
                <a:gridCol w="2799471">
                  <a:extLst>
                    <a:ext uri="{9D8B030D-6E8A-4147-A177-3AD203B41FA5}">
                      <a16:colId xmlns:a16="http://schemas.microsoft.com/office/drawing/2014/main" val="4152545085"/>
                    </a:ext>
                  </a:extLst>
                </a:gridCol>
                <a:gridCol w="3240437">
                  <a:extLst>
                    <a:ext uri="{9D8B030D-6E8A-4147-A177-3AD203B41FA5}">
                      <a16:colId xmlns:a16="http://schemas.microsoft.com/office/drawing/2014/main" val="69840620"/>
                    </a:ext>
                  </a:extLst>
                </a:gridCol>
                <a:gridCol w="3019954">
                  <a:extLst>
                    <a:ext uri="{9D8B030D-6E8A-4147-A177-3AD203B41FA5}">
                      <a16:colId xmlns:a16="http://schemas.microsoft.com/office/drawing/2014/main" val="2918541371"/>
                    </a:ext>
                  </a:extLst>
                </a:gridCol>
                <a:gridCol w="3019954">
                  <a:extLst>
                    <a:ext uri="{9D8B030D-6E8A-4147-A177-3AD203B41FA5}">
                      <a16:colId xmlns:a16="http://schemas.microsoft.com/office/drawing/2014/main" val="2596997520"/>
                    </a:ext>
                  </a:extLst>
                </a:gridCol>
              </a:tblGrid>
              <a:tr h="714319">
                <a:tc>
                  <a:txBody>
                    <a:bodyPr/>
                    <a:lstStyle/>
                    <a:p>
                      <a:pPr algn="ctr" fontAlgn="ctr"/>
                      <a:r>
                        <a:rPr lang="en-IN" sz="1800" b="1" i="1" kern="1200" dirty="0">
                          <a:solidFill>
                            <a:schemeClr val="bg1"/>
                          </a:solidFill>
                          <a:effectLst/>
                          <a:latin typeface="+mn-lt"/>
                          <a:ea typeface="+mn-ea"/>
                          <a:cs typeface="+mn-cs"/>
                        </a:rPr>
                        <a:t>Aspect</a:t>
                      </a:r>
                    </a:p>
                  </a:txBody>
                  <a:tcPr marL="51158" marR="51158" marT="71621" marB="7162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tc>
                  <a:txBody>
                    <a:bodyPr/>
                    <a:lstStyle/>
                    <a:p>
                      <a:pPr algn="ctr" fontAlgn="ctr"/>
                      <a:r>
                        <a:rPr lang="en-IN" sz="1800" b="1" i="1" dirty="0">
                          <a:solidFill>
                            <a:schemeClr val="bg1"/>
                          </a:solidFill>
                          <a:effectLst/>
                        </a:rPr>
                        <a:t>ANN</a:t>
                      </a:r>
                      <a:endParaRPr lang="en-IN" sz="1800" b="1" dirty="0">
                        <a:solidFill>
                          <a:schemeClr val="bg1"/>
                        </a:solidFill>
                        <a:effectLst/>
                      </a:endParaRPr>
                    </a:p>
                  </a:txBody>
                  <a:tcPr marL="51158" marR="51158" marT="71621" marB="7162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tc>
                  <a:txBody>
                    <a:bodyPr/>
                    <a:lstStyle/>
                    <a:p>
                      <a:pPr algn="ctr" fontAlgn="ctr"/>
                      <a:r>
                        <a:rPr lang="en-IN" sz="1800" b="1" i="1" dirty="0">
                          <a:solidFill>
                            <a:schemeClr val="bg1"/>
                          </a:solidFill>
                          <a:effectLst/>
                        </a:rPr>
                        <a:t>CNN</a:t>
                      </a:r>
                      <a:endParaRPr lang="en-IN" sz="1800" b="1" dirty="0">
                        <a:solidFill>
                          <a:schemeClr val="bg1"/>
                        </a:solidFill>
                        <a:effectLst/>
                      </a:endParaRPr>
                    </a:p>
                  </a:txBody>
                  <a:tcPr marL="51158" marR="51158" marT="71621" marB="7162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tc>
                  <a:txBody>
                    <a:bodyPr/>
                    <a:lstStyle/>
                    <a:p>
                      <a:pPr algn="ctr" fontAlgn="ctr"/>
                      <a:r>
                        <a:rPr lang="en-IN" sz="1800" b="1" i="1" dirty="0">
                          <a:solidFill>
                            <a:schemeClr val="bg1"/>
                          </a:solidFill>
                          <a:effectLst/>
                        </a:rPr>
                        <a:t>RNN</a:t>
                      </a:r>
                      <a:endParaRPr lang="en-IN" sz="1800" b="1" dirty="0">
                        <a:solidFill>
                          <a:schemeClr val="bg1"/>
                        </a:solidFill>
                        <a:effectLst/>
                      </a:endParaRPr>
                    </a:p>
                  </a:txBody>
                  <a:tcPr marL="51158" marR="51158" marT="71621" marB="71621" anchor="ctr">
                    <a:lnL w="2858" cap="flat" cmpd="sng" algn="ctr">
                      <a:solidFill>
                        <a:srgbClr val="DFDFDF"/>
                      </a:solidFill>
                      <a:prstDash val="solid"/>
                      <a:round/>
                      <a:headEnd type="none" w="med" len="med"/>
                      <a:tailEnd type="none" w="med" len="med"/>
                    </a:lnL>
                    <a:lnB w="2858" cap="flat" cmpd="sng" algn="ctr">
                      <a:solidFill>
                        <a:srgbClr val="DFDFDF"/>
                      </a:solidFill>
                      <a:prstDash val="solid"/>
                      <a:round/>
                      <a:headEnd type="none" w="med" len="med"/>
                      <a:tailEnd type="none" w="med" len="med"/>
                    </a:lnB>
                    <a:solidFill>
                      <a:srgbClr val="1D1D1D"/>
                    </a:solidFill>
                  </a:tcPr>
                </a:tc>
                <a:extLst>
                  <a:ext uri="{0D108BD9-81ED-4DB2-BD59-A6C34878D82A}">
                    <a16:rowId xmlns:a16="http://schemas.microsoft.com/office/drawing/2014/main" val="593275563"/>
                  </a:ext>
                </a:extLst>
              </a:tr>
              <a:tr h="438967">
                <a:tc>
                  <a:txBody>
                    <a:bodyPr/>
                    <a:lstStyle/>
                    <a:p>
                      <a:pPr algn="ctr" fontAlgn="ctr"/>
                      <a:r>
                        <a:rPr lang="en-IN" sz="1800" b="1" dirty="0">
                          <a:solidFill>
                            <a:schemeClr val="bg1"/>
                          </a:solidFill>
                          <a:effectLst/>
                        </a:rPr>
                        <a:t>Type of Data</a:t>
                      </a:r>
                      <a:endParaRPr lang="en-IN" sz="1800" b="0" dirty="0">
                        <a:solidFill>
                          <a:schemeClr val="bg1"/>
                        </a:solidFill>
                        <a:effectLst/>
                      </a:endParaRPr>
                    </a:p>
                  </a:txBody>
                  <a:tcPr marL="51158" marR="51158" marT="71621" marB="7162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tc>
                  <a:txBody>
                    <a:bodyPr/>
                    <a:lstStyle/>
                    <a:p>
                      <a:pPr algn="ctr" fontAlgn="ctr"/>
                      <a:r>
                        <a:rPr lang="en-IN" sz="1800" b="0" dirty="0">
                          <a:solidFill>
                            <a:schemeClr val="bg1"/>
                          </a:solidFill>
                          <a:effectLst/>
                        </a:rPr>
                        <a:t>Tabular Data, Text Data</a:t>
                      </a:r>
                    </a:p>
                  </a:txBody>
                  <a:tcPr marL="51158" marR="51158" marT="71621" marB="7162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tc>
                  <a:txBody>
                    <a:bodyPr/>
                    <a:lstStyle/>
                    <a:p>
                      <a:pPr algn="ctr" fontAlgn="ctr"/>
                      <a:r>
                        <a:rPr lang="en-IN" sz="1800" b="0">
                          <a:solidFill>
                            <a:schemeClr val="bg1"/>
                          </a:solidFill>
                          <a:effectLst/>
                        </a:rPr>
                        <a:t>Image Data</a:t>
                      </a:r>
                    </a:p>
                  </a:txBody>
                  <a:tcPr marL="51158" marR="51158" marT="71621" marB="7162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tc>
                  <a:txBody>
                    <a:bodyPr/>
                    <a:lstStyle/>
                    <a:p>
                      <a:pPr algn="ctr" fontAlgn="ctr"/>
                      <a:r>
                        <a:rPr lang="en-IN" sz="1800" b="0">
                          <a:solidFill>
                            <a:schemeClr val="bg1"/>
                          </a:solidFill>
                          <a:effectLst/>
                        </a:rPr>
                        <a:t>Sequence data</a:t>
                      </a:r>
                    </a:p>
                  </a:txBody>
                  <a:tcPr marL="51158" marR="51158" marT="71621" marB="7162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extLst>
                  <a:ext uri="{0D108BD9-81ED-4DB2-BD59-A6C34878D82A}">
                    <a16:rowId xmlns:a16="http://schemas.microsoft.com/office/drawing/2014/main" val="2861345461"/>
                  </a:ext>
                </a:extLst>
              </a:tr>
              <a:tr h="438967">
                <a:tc>
                  <a:txBody>
                    <a:bodyPr/>
                    <a:lstStyle/>
                    <a:p>
                      <a:pPr algn="ctr" fontAlgn="ctr"/>
                      <a:r>
                        <a:rPr lang="en-IN" sz="1800" b="1" dirty="0">
                          <a:solidFill>
                            <a:schemeClr val="bg1"/>
                          </a:solidFill>
                          <a:effectLst/>
                        </a:rPr>
                        <a:t>Parameter Sharing</a:t>
                      </a:r>
                      <a:endParaRPr lang="en-IN" sz="1800" b="0" dirty="0">
                        <a:solidFill>
                          <a:schemeClr val="bg1"/>
                        </a:solidFill>
                        <a:effectLst/>
                      </a:endParaRPr>
                    </a:p>
                  </a:txBody>
                  <a:tcPr marL="51158" marR="51158" marT="71621" marB="7162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tc>
                  <a:txBody>
                    <a:bodyPr/>
                    <a:lstStyle/>
                    <a:p>
                      <a:pPr algn="ctr" fontAlgn="ctr"/>
                      <a:r>
                        <a:rPr lang="en-IN" sz="1800" b="0" dirty="0">
                          <a:solidFill>
                            <a:schemeClr val="bg1"/>
                          </a:solidFill>
                          <a:effectLst/>
                        </a:rPr>
                        <a:t>No</a:t>
                      </a:r>
                    </a:p>
                  </a:txBody>
                  <a:tcPr marL="51158" marR="51158" marT="71621" marB="7162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tc>
                  <a:txBody>
                    <a:bodyPr/>
                    <a:lstStyle/>
                    <a:p>
                      <a:pPr algn="ctr" fontAlgn="ctr"/>
                      <a:r>
                        <a:rPr lang="en-IN" sz="1800" b="0">
                          <a:solidFill>
                            <a:schemeClr val="bg1"/>
                          </a:solidFill>
                          <a:effectLst/>
                        </a:rPr>
                        <a:t>Yes</a:t>
                      </a:r>
                    </a:p>
                  </a:txBody>
                  <a:tcPr marL="51158" marR="51158" marT="71621" marB="7162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tc>
                  <a:txBody>
                    <a:bodyPr/>
                    <a:lstStyle/>
                    <a:p>
                      <a:pPr algn="ctr" fontAlgn="ctr"/>
                      <a:r>
                        <a:rPr lang="en-IN" sz="1800" b="0">
                          <a:solidFill>
                            <a:schemeClr val="bg1"/>
                          </a:solidFill>
                          <a:effectLst/>
                        </a:rPr>
                        <a:t>Yes</a:t>
                      </a:r>
                    </a:p>
                  </a:txBody>
                  <a:tcPr marL="51158" marR="51158" marT="71621" marB="7162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extLst>
                  <a:ext uri="{0D108BD9-81ED-4DB2-BD59-A6C34878D82A}">
                    <a16:rowId xmlns:a16="http://schemas.microsoft.com/office/drawing/2014/main" val="2671568115"/>
                  </a:ext>
                </a:extLst>
              </a:tr>
              <a:tr h="438967">
                <a:tc>
                  <a:txBody>
                    <a:bodyPr/>
                    <a:lstStyle/>
                    <a:p>
                      <a:pPr algn="ctr" fontAlgn="ctr"/>
                      <a:r>
                        <a:rPr lang="en-IN" sz="1800" b="1" dirty="0">
                          <a:solidFill>
                            <a:schemeClr val="bg1"/>
                          </a:solidFill>
                          <a:effectLst/>
                        </a:rPr>
                        <a:t>Fixed Length input</a:t>
                      </a:r>
                      <a:endParaRPr lang="en-IN" sz="1800" b="0" dirty="0">
                        <a:solidFill>
                          <a:schemeClr val="bg1"/>
                        </a:solidFill>
                        <a:effectLst/>
                      </a:endParaRPr>
                    </a:p>
                  </a:txBody>
                  <a:tcPr marL="51158" marR="51158" marT="71621" marB="7162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tc>
                  <a:txBody>
                    <a:bodyPr/>
                    <a:lstStyle/>
                    <a:p>
                      <a:pPr algn="ctr" fontAlgn="ctr"/>
                      <a:r>
                        <a:rPr lang="en-IN" sz="1800" b="0" dirty="0">
                          <a:solidFill>
                            <a:schemeClr val="bg1"/>
                          </a:solidFill>
                          <a:effectLst/>
                        </a:rPr>
                        <a:t>Yes</a:t>
                      </a:r>
                    </a:p>
                  </a:txBody>
                  <a:tcPr marL="51158" marR="51158" marT="71621" marB="7162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tc>
                  <a:txBody>
                    <a:bodyPr/>
                    <a:lstStyle/>
                    <a:p>
                      <a:pPr algn="ctr" fontAlgn="ctr"/>
                      <a:r>
                        <a:rPr lang="en-IN" sz="1800" b="0">
                          <a:solidFill>
                            <a:schemeClr val="bg1"/>
                          </a:solidFill>
                          <a:effectLst/>
                        </a:rPr>
                        <a:t>Yes</a:t>
                      </a:r>
                    </a:p>
                  </a:txBody>
                  <a:tcPr marL="51158" marR="51158" marT="71621" marB="7162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tc>
                  <a:txBody>
                    <a:bodyPr/>
                    <a:lstStyle/>
                    <a:p>
                      <a:pPr algn="ctr" fontAlgn="ctr"/>
                      <a:r>
                        <a:rPr lang="en-IN" sz="1800" b="0">
                          <a:solidFill>
                            <a:schemeClr val="bg1"/>
                          </a:solidFill>
                          <a:effectLst/>
                        </a:rPr>
                        <a:t>No</a:t>
                      </a:r>
                    </a:p>
                  </a:txBody>
                  <a:tcPr marL="51158" marR="51158" marT="71621" marB="7162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extLst>
                  <a:ext uri="{0D108BD9-81ED-4DB2-BD59-A6C34878D82A}">
                    <a16:rowId xmlns:a16="http://schemas.microsoft.com/office/drawing/2014/main" val="3370396294"/>
                  </a:ext>
                </a:extLst>
              </a:tr>
              <a:tr h="438967">
                <a:tc>
                  <a:txBody>
                    <a:bodyPr/>
                    <a:lstStyle/>
                    <a:p>
                      <a:pPr algn="ctr" fontAlgn="ctr"/>
                      <a:r>
                        <a:rPr lang="en-IN" sz="1800" b="1">
                          <a:solidFill>
                            <a:schemeClr val="bg1"/>
                          </a:solidFill>
                          <a:effectLst/>
                        </a:rPr>
                        <a:t>Recurrent Connections</a:t>
                      </a:r>
                      <a:endParaRPr lang="en-IN" sz="1800" b="0">
                        <a:solidFill>
                          <a:schemeClr val="bg1"/>
                        </a:solidFill>
                        <a:effectLst/>
                      </a:endParaRPr>
                    </a:p>
                  </a:txBody>
                  <a:tcPr marL="51158" marR="51158" marT="71621" marB="7162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tc>
                  <a:txBody>
                    <a:bodyPr/>
                    <a:lstStyle/>
                    <a:p>
                      <a:pPr algn="ctr" fontAlgn="ctr"/>
                      <a:r>
                        <a:rPr lang="en-IN" sz="1800" b="0" dirty="0">
                          <a:solidFill>
                            <a:schemeClr val="bg1"/>
                          </a:solidFill>
                          <a:effectLst/>
                        </a:rPr>
                        <a:t>No</a:t>
                      </a:r>
                    </a:p>
                  </a:txBody>
                  <a:tcPr marL="51158" marR="51158" marT="71621" marB="7162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tc>
                  <a:txBody>
                    <a:bodyPr/>
                    <a:lstStyle/>
                    <a:p>
                      <a:pPr algn="ctr" fontAlgn="ctr"/>
                      <a:r>
                        <a:rPr lang="en-IN" sz="1800" b="0" dirty="0">
                          <a:solidFill>
                            <a:schemeClr val="bg1"/>
                          </a:solidFill>
                          <a:effectLst/>
                        </a:rPr>
                        <a:t>No</a:t>
                      </a:r>
                    </a:p>
                  </a:txBody>
                  <a:tcPr marL="51158" marR="51158" marT="71621" marB="7162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tc>
                  <a:txBody>
                    <a:bodyPr/>
                    <a:lstStyle/>
                    <a:p>
                      <a:pPr algn="ctr" fontAlgn="ctr"/>
                      <a:r>
                        <a:rPr lang="en-IN" sz="1800" b="0">
                          <a:solidFill>
                            <a:schemeClr val="bg1"/>
                          </a:solidFill>
                          <a:effectLst/>
                        </a:rPr>
                        <a:t>Yes</a:t>
                      </a:r>
                    </a:p>
                  </a:txBody>
                  <a:tcPr marL="51158" marR="51158" marT="71621" marB="7162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extLst>
                  <a:ext uri="{0D108BD9-81ED-4DB2-BD59-A6C34878D82A}">
                    <a16:rowId xmlns:a16="http://schemas.microsoft.com/office/drawing/2014/main" val="1298159286"/>
                  </a:ext>
                </a:extLst>
              </a:tr>
              <a:tr h="714319">
                <a:tc>
                  <a:txBody>
                    <a:bodyPr/>
                    <a:lstStyle/>
                    <a:p>
                      <a:pPr algn="ctr" fontAlgn="ctr"/>
                      <a:r>
                        <a:rPr lang="en-IN" sz="1800" b="1">
                          <a:solidFill>
                            <a:schemeClr val="bg1"/>
                          </a:solidFill>
                          <a:effectLst/>
                        </a:rPr>
                        <a:t>Vanishing and Exploding Gradient</a:t>
                      </a:r>
                      <a:endParaRPr lang="en-IN" sz="1800" b="0">
                        <a:solidFill>
                          <a:schemeClr val="bg1"/>
                        </a:solidFill>
                        <a:effectLst/>
                      </a:endParaRPr>
                    </a:p>
                  </a:txBody>
                  <a:tcPr marL="51158" marR="51158" marT="71621" marB="7162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tc>
                  <a:txBody>
                    <a:bodyPr/>
                    <a:lstStyle/>
                    <a:p>
                      <a:pPr algn="ctr" fontAlgn="ctr"/>
                      <a:r>
                        <a:rPr lang="en-IN" sz="1800" b="0" dirty="0">
                          <a:solidFill>
                            <a:schemeClr val="bg1"/>
                          </a:solidFill>
                          <a:effectLst/>
                        </a:rPr>
                        <a:t>Yes</a:t>
                      </a:r>
                    </a:p>
                  </a:txBody>
                  <a:tcPr marL="51158" marR="51158" marT="71621" marB="7162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tc>
                  <a:txBody>
                    <a:bodyPr/>
                    <a:lstStyle/>
                    <a:p>
                      <a:pPr algn="ctr" fontAlgn="ctr"/>
                      <a:r>
                        <a:rPr lang="en-IN" sz="1800" b="0" dirty="0">
                          <a:solidFill>
                            <a:schemeClr val="bg1"/>
                          </a:solidFill>
                          <a:effectLst/>
                        </a:rPr>
                        <a:t>Yes</a:t>
                      </a:r>
                    </a:p>
                  </a:txBody>
                  <a:tcPr marL="51158" marR="51158" marT="71621" marB="7162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tc>
                  <a:txBody>
                    <a:bodyPr/>
                    <a:lstStyle/>
                    <a:p>
                      <a:pPr algn="ctr" fontAlgn="ctr"/>
                      <a:r>
                        <a:rPr lang="en-IN" sz="1800" b="0">
                          <a:solidFill>
                            <a:schemeClr val="bg1"/>
                          </a:solidFill>
                          <a:effectLst/>
                        </a:rPr>
                        <a:t>Yes</a:t>
                      </a:r>
                    </a:p>
                  </a:txBody>
                  <a:tcPr marL="51158" marR="51158" marT="71621" marB="7162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extLst>
                  <a:ext uri="{0D108BD9-81ED-4DB2-BD59-A6C34878D82A}">
                    <a16:rowId xmlns:a16="http://schemas.microsoft.com/office/drawing/2014/main" val="1954742923"/>
                  </a:ext>
                </a:extLst>
              </a:tr>
              <a:tr h="438967">
                <a:tc>
                  <a:txBody>
                    <a:bodyPr/>
                    <a:lstStyle/>
                    <a:p>
                      <a:pPr algn="ctr" fontAlgn="ctr"/>
                      <a:r>
                        <a:rPr lang="en-IN" sz="1800" b="1">
                          <a:solidFill>
                            <a:schemeClr val="bg1"/>
                          </a:solidFill>
                          <a:effectLst/>
                        </a:rPr>
                        <a:t>Spatial Relationship</a:t>
                      </a:r>
                      <a:endParaRPr lang="en-IN" sz="1800" b="0">
                        <a:solidFill>
                          <a:schemeClr val="bg1"/>
                        </a:solidFill>
                        <a:effectLst/>
                      </a:endParaRPr>
                    </a:p>
                  </a:txBody>
                  <a:tcPr marL="51158" marR="51158" marT="71621" marB="7162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tc>
                  <a:txBody>
                    <a:bodyPr/>
                    <a:lstStyle/>
                    <a:p>
                      <a:pPr algn="ctr" fontAlgn="ctr"/>
                      <a:r>
                        <a:rPr lang="en-IN" sz="1800" b="0">
                          <a:solidFill>
                            <a:schemeClr val="bg1"/>
                          </a:solidFill>
                          <a:effectLst/>
                        </a:rPr>
                        <a:t>No</a:t>
                      </a:r>
                    </a:p>
                  </a:txBody>
                  <a:tcPr marL="51158" marR="51158" marT="71621" marB="7162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tc>
                  <a:txBody>
                    <a:bodyPr/>
                    <a:lstStyle/>
                    <a:p>
                      <a:pPr algn="ctr" fontAlgn="ctr"/>
                      <a:r>
                        <a:rPr lang="en-IN" sz="1800" b="0" dirty="0">
                          <a:solidFill>
                            <a:schemeClr val="bg1"/>
                          </a:solidFill>
                          <a:effectLst/>
                        </a:rPr>
                        <a:t>Yes</a:t>
                      </a:r>
                    </a:p>
                  </a:txBody>
                  <a:tcPr marL="51158" marR="51158" marT="71621" marB="7162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tc>
                  <a:txBody>
                    <a:bodyPr/>
                    <a:lstStyle/>
                    <a:p>
                      <a:pPr algn="ctr" fontAlgn="ctr"/>
                      <a:r>
                        <a:rPr lang="en-IN" sz="1800" b="0">
                          <a:solidFill>
                            <a:schemeClr val="bg1"/>
                          </a:solidFill>
                          <a:effectLst/>
                        </a:rPr>
                        <a:t>No</a:t>
                      </a:r>
                    </a:p>
                  </a:txBody>
                  <a:tcPr marL="51158" marR="51158" marT="71621" marB="7162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extLst>
                  <a:ext uri="{0D108BD9-81ED-4DB2-BD59-A6C34878D82A}">
                    <a16:rowId xmlns:a16="http://schemas.microsoft.com/office/drawing/2014/main" val="362192491"/>
                  </a:ext>
                </a:extLst>
              </a:tr>
              <a:tr h="997535">
                <a:tc>
                  <a:txBody>
                    <a:bodyPr/>
                    <a:lstStyle/>
                    <a:p>
                      <a:pPr algn="ctr" fontAlgn="ctr"/>
                      <a:r>
                        <a:rPr lang="en-IN" sz="1800" b="1">
                          <a:solidFill>
                            <a:schemeClr val="bg1"/>
                          </a:solidFill>
                          <a:effectLst/>
                        </a:rPr>
                        <a:t>Performance</a:t>
                      </a:r>
                      <a:endParaRPr lang="en-IN" sz="1800" b="0">
                        <a:solidFill>
                          <a:schemeClr val="bg1"/>
                        </a:solidFill>
                        <a:effectLst/>
                      </a:endParaRPr>
                    </a:p>
                  </a:txBody>
                  <a:tcPr marL="51158" marR="51158" marT="71621" marB="7162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tc>
                  <a:txBody>
                    <a:bodyPr/>
                    <a:lstStyle/>
                    <a:p>
                      <a:pPr algn="l" fontAlgn="ctr"/>
                      <a:r>
                        <a:rPr lang="en-US" sz="1800" b="0" dirty="0">
                          <a:solidFill>
                            <a:schemeClr val="bg1"/>
                          </a:solidFill>
                          <a:effectLst/>
                        </a:rPr>
                        <a:t>ANN is considered to be less powerful than CNN, RNN.</a:t>
                      </a:r>
                    </a:p>
                  </a:txBody>
                  <a:tcPr marL="51158" marR="51158" marT="71621" marB="7162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tc>
                  <a:txBody>
                    <a:bodyPr/>
                    <a:lstStyle/>
                    <a:p>
                      <a:pPr algn="l" fontAlgn="ctr"/>
                      <a:r>
                        <a:rPr lang="en-US" sz="1800" b="0" dirty="0">
                          <a:solidFill>
                            <a:schemeClr val="bg1"/>
                          </a:solidFill>
                          <a:effectLst/>
                        </a:rPr>
                        <a:t>CNN is considered to be more powerful than ANN, RNN.</a:t>
                      </a:r>
                    </a:p>
                  </a:txBody>
                  <a:tcPr marL="51158" marR="51158" marT="71621" marB="7162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tc>
                  <a:txBody>
                    <a:bodyPr/>
                    <a:lstStyle/>
                    <a:p>
                      <a:pPr algn="l" fontAlgn="ctr"/>
                      <a:r>
                        <a:rPr lang="en-US" sz="1800" b="0">
                          <a:solidFill>
                            <a:schemeClr val="bg1"/>
                          </a:solidFill>
                          <a:effectLst/>
                        </a:rPr>
                        <a:t>RNN includes less feature compatibility when compared to CNN.</a:t>
                      </a:r>
                    </a:p>
                  </a:txBody>
                  <a:tcPr marL="51158" marR="51158" marT="71621" marB="7162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extLst>
                  <a:ext uri="{0D108BD9-81ED-4DB2-BD59-A6C34878D82A}">
                    <a16:rowId xmlns:a16="http://schemas.microsoft.com/office/drawing/2014/main" val="4135415133"/>
                  </a:ext>
                </a:extLst>
              </a:tr>
              <a:tr h="997535">
                <a:tc>
                  <a:txBody>
                    <a:bodyPr/>
                    <a:lstStyle/>
                    <a:p>
                      <a:pPr algn="ctr" fontAlgn="ctr"/>
                      <a:r>
                        <a:rPr lang="en-IN" sz="1800" b="1">
                          <a:solidFill>
                            <a:schemeClr val="bg1"/>
                          </a:solidFill>
                          <a:effectLst/>
                        </a:rPr>
                        <a:t>Application</a:t>
                      </a:r>
                      <a:endParaRPr lang="en-IN" sz="1800" b="0">
                        <a:solidFill>
                          <a:schemeClr val="bg1"/>
                        </a:solidFill>
                        <a:effectLst/>
                      </a:endParaRPr>
                    </a:p>
                  </a:txBody>
                  <a:tcPr marL="51158" marR="51158" marT="71621" marB="7162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tc>
                  <a:txBody>
                    <a:bodyPr/>
                    <a:lstStyle/>
                    <a:p>
                      <a:pPr algn="l" fontAlgn="ctr"/>
                      <a:r>
                        <a:rPr lang="en-US" sz="1800" b="0">
                          <a:solidFill>
                            <a:schemeClr val="bg1"/>
                          </a:solidFill>
                          <a:effectLst/>
                        </a:rPr>
                        <a:t>Facial recognition and Computer vision.</a:t>
                      </a:r>
                    </a:p>
                  </a:txBody>
                  <a:tcPr marL="51158" marR="51158" marT="71621" marB="7162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tc>
                  <a:txBody>
                    <a:bodyPr/>
                    <a:lstStyle/>
                    <a:p>
                      <a:pPr algn="l" fontAlgn="ctr"/>
                      <a:r>
                        <a:rPr lang="en-US" sz="1800" b="0" dirty="0">
                          <a:solidFill>
                            <a:schemeClr val="bg1"/>
                          </a:solidFill>
                          <a:effectLst/>
                        </a:rPr>
                        <a:t>Facial recognition, text digitization and Natural language processing.</a:t>
                      </a:r>
                    </a:p>
                  </a:txBody>
                  <a:tcPr marL="51158" marR="51158" marT="71621" marB="7162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tc>
                  <a:txBody>
                    <a:bodyPr/>
                    <a:lstStyle/>
                    <a:p>
                      <a:pPr algn="l" fontAlgn="ctr"/>
                      <a:r>
                        <a:rPr lang="en-IN" sz="1800" b="0" dirty="0">
                          <a:solidFill>
                            <a:schemeClr val="bg1"/>
                          </a:solidFill>
                          <a:effectLst/>
                        </a:rPr>
                        <a:t>Text-to-speech conversions.</a:t>
                      </a:r>
                    </a:p>
                  </a:txBody>
                  <a:tcPr marL="51158" marR="51158" marT="71621" marB="7162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extLst>
                  <a:ext uri="{0D108BD9-81ED-4DB2-BD59-A6C34878D82A}">
                    <a16:rowId xmlns:a16="http://schemas.microsoft.com/office/drawing/2014/main" val="371918020"/>
                  </a:ext>
                </a:extLst>
              </a:tr>
              <a:tr h="997535">
                <a:tc>
                  <a:txBody>
                    <a:bodyPr/>
                    <a:lstStyle/>
                    <a:p>
                      <a:pPr algn="ctr" fontAlgn="ctr"/>
                      <a:r>
                        <a:rPr lang="en-IN" sz="1800" b="1">
                          <a:solidFill>
                            <a:schemeClr val="bg1"/>
                          </a:solidFill>
                          <a:effectLst/>
                        </a:rPr>
                        <a:t>Main advantages</a:t>
                      </a:r>
                      <a:endParaRPr lang="en-IN" sz="1800" b="0">
                        <a:solidFill>
                          <a:schemeClr val="bg1"/>
                        </a:solidFill>
                        <a:effectLst/>
                      </a:endParaRPr>
                    </a:p>
                  </a:txBody>
                  <a:tcPr marL="51158" marR="51158" marT="71621" marB="7162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tc>
                  <a:txBody>
                    <a:bodyPr/>
                    <a:lstStyle/>
                    <a:p>
                      <a:pPr algn="l" fontAlgn="ctr"/>
                      <a:r>
                        <a:rPr lang="en-US" sz="1800" b="0">
                          <a:solidFill>
                            <a:schemeClr val="bg1"/>
                          </a:solidFill>
                          <a:effectLst/>
                        </a:rPr>
                        <a:t>Having fault tolerance, Ability to work with incomplete knowledge.</a:t>
                      </a:r>
                    </a:p>
                  </a:txBody>
                  <a:tcPr marL="51158" marR="51158" marT="71621" marB="7162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tc>
                  <a:txBody>
                    <a:bodyPr/>
                    <a:lstStyle/>
                    <a:p>
                      <a:pPr algn="l" fontAlgn="ctr"/>
                      <a:r>
                        <a:rPr lang="en-US" sz="1800" b="0" dirty="0">
                          <a:solidFill>
                            <a:schemeClr val="bg1"/>
                          </a:solidFill>
                          <a:effectLst/>
                        </a:rPr>
                        <a:t>High accuracy in image recognition problems, Weight sharing.</a:t>
                      </a:r>
                    </a:p>
                  </a:txBody>
                  <a:tcPr marL="51158" marR="51158" marT="71621" marB="7162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tc>
                  <a:txBody>
                    <a:bodyPr/>
                    <a:lstStyle/>
                    <a:p>
                      <a:pPr algn="l" fontAlgn="ctr"/>
                      <a:r>
                        <a:rPr lang="en-US" sz="1800" b="0" dirty="0">
                          <a:solidFill>
                            <a:schemeClr val="bg1"/>
                          </a:solidFill>
                          <a:effectLst/>
                        </a:rPr>
                        <a:t>Remembers each and every information, Time series prediction.</a:t>
                      </a:r>
                    </a:p>
                  </a:txBody>
                  <a:tcPr marL="51158" marR="51158" marT="71621" marB="7162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extLst>
                  <a:ext uri="{0D108BD9-81ED-4DB2-BD59-A6C34878D82A}">
                    <a16:rowId xmlns:a16="http://schemas.microsoft.com/office/drawing/2014/main" val="2940919328"/>
                  </a:ext>
                </a:extLst>
              </a:tr>
              <a:tr h="997535">
                <a:tc>
                  <a:txBody>
                    <a:bodyPr/>
                    <a:lstStyle/>
                    <a:p>
                      <a:pPr algn="ctr" fontAlgn="ctr"/>
                      <a:r>
                        <a:rPr lang="en-IN" sz="1800" b="1">
                          <a:solidFill>
                            <a:schemeClr val="bg1"/>
                          </a:solidFill>
                          <a:effectLst/>
                        </a:rPr>
                        <a:t>Disadvantages</a:t>
                      </a:r>
                      <a:endParaRPr lang="en-IN" sz="1800" b="0">
                        <a:solidFill>
                          <a:schemeClr val="bg1"/>
                        </a:solidFill>
                        <a:effectLst/>
                      </a:endParaRPr>
                    </a:p>
                  </a:txBody>
                  <a:tcPr marL="51158" marR="51158" marT="71621" marB="7162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tc>
                  <a:txBody>
                    <a:bodyPr/>
                    <a:lstStyle/>
                    <a:p>
                      <a:pPr algn="l" fontAlgn="ctr"/>
                      <a:r>
                        <a:rPr lang="en-US" sz="1800" b="0">
                          <a:solidFill>
                            <a:schemeClr val="bg1"/>
                          </a:solidFill>
                          <a:effectLst/>
                        </a:rPr>
                        <a:t>Hardware dependence, Unexplained behavior of the network.</a:t>
                      </a:r>
                    </a:p>
                  </a:txBody>
                  <a:tcPr marL="51158" marR="51158" marT="71621" marB="7162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tc>
                  <a:txBody>
                    <a:bodyPr/>
                    <a:lstStyle/>
                    <a:p>
                      <a:pPr algn="l" fontAlgn="ctr"/>
                      <a:r>
                        <a:rPr lang="en-US" sz="1800" b="0" dirty="0">
                          <a:solidFill>
                            <a:schemeClr val="bg1"/>
                          </a:solidFill>
                          <a:effectLst/>
                        </a:rPr>
                        <a:t>Large training data needed, don’t encode the position and orientation of object.</a:t>
                      </a:r>
                    </a:p>
                  </a:txBody>
                  <a:tcPr marL="51158" marR="51158" marT="71621" marB="7162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tc>
                  <a:txBody>
                    <a:bodyPr/>
                    <a:lstStyle/>
                    <a:p>
                      <a:pPr algn="l" fontAlgn="ctr"/>
                      <a:r>
                        <a:rPr lang="en-IN" sz="1800" b="0" dirty="0">
                          <a:solidFill>
                            <a:schemeClr val="bg1"/>
                          </a:solidFill>
                          <a:effectLst/>
                        </a:rPr>
                        <a:t>Gradient vanishing, exploding gradient.</a:t>
                      </a:r>
                    </a:p>
                  </a:txBody>
                  <a:tcPr marL="51158" marR="51158" marT="71621" marB="7162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extLst>
                  <a:ext uri="{0D108BD9-81ED-4DB2-BD59-A6C34878D82A}">
                    <a16:rowId xmlns:a16="http://schemas.microsoft.com/office/drawing/2014/main" val="386398162"/>
                  </a:ext>
                </a:extLst>
              </a:tr>
            </a:tbl>
          </a:graphicData>
        </a:graphic>
      </p:graphicFrame>
    </p:spTree>
    <p:extLst>
      <p:ext uri="{BB962C8B-B14F-4D97-AF65-F5344CB8AC3E}">
        <p14:creationId xmlns:p14="http://schemas.microsoft.com/office/powerpoint/2010/main" val="159605086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0EA82-45D6-1D3F-39C2-E5BAA83EA570}"/>
              </a:ext>
            </a:extLst>
          </p:cNvPr>
          <p:cNvSpPr>
            <a:spLocks noGrp="1"/>
          </p:cNvSpPr>
          <p:nvPr>
            <p:ph type="title"/>
          </p:nvPr>
        </p:nvSpPr>
        <p:spPr/>
        <p:txBody>
          <a:bodyPr/>
          <a:lstStyle/>
          <a:p>
            <a:endParaRPr lang="en-IN"/>
          </a:p>
        </p:txBody>
      </p:sp>
      <p:sp>
        <p:nvSpPr>
          <p:cNvPr id="4" name="Slide Number Placeholder 3">
            <a:extLst>
              <a:ext uri="{FF2B5EF4-FFF2-40B4-BE49-F238E27FC236}">
                <a16:creationId xmlns:a16="http://schemas.microsoft.com/office/drawing/2014/main" id="{38F8968F-E903-D181-659D-1B3936C0D626}"/>
              </a:ext>
            </a:extLst>
          </p:cNvPr>
          <p:cNvSpPr>
            <a:spLocks noGrp="1"/>
          </p:cNvSpPr>
          <p:nvPr>
            <p:ph type="sldNum" sz="quarter" idx="12"/>
          </p:nvPr>
        </p:nvSpPr>
        <p:spPr/>
        <p:txBody>
          <a:bodyPr/>
          <a:lstStyle/>
          <a:p>
            <a:pPr>
              <a:defRPr/>
            </a:pPr>
            <a:fld id="{9AD681D7-8A59-4380-9311-10B86FF921AA}" type="slidenum">
              <a:rPr lang="en-US" altLang="zh-TW" smtClean="0"/>
              <a:pPr>
                <a:defRPr/>
              </a:pPr>
              <a:t>60</a:t>
            </a:fld>
            <a:endParaRPr lang="en-US" altLang="zh-TW"/>
          </a:p>
        </p:txBody>
      </p:sp>
      <p:graphicFrame>
        <p:nvGraphicFramePr>
          <p:cNvPr id="7" name="Content Placeholder 6">
            <a:extLst>
              <a:ext uri="{FF2B5EF4-FFF2-40B4-BE49-F238E27FC236}">
                <a16:creationId xmlns:a16="http://schemas.microsoft.com/office/drawing/2014/main" id="{564EDF1B-5ED4-CD16-B88F-715C784E477D}"/>
              </a:ext>
            </a:extLst>
          </p:cNvPr>
          <p:cNvGraphicFramePr>
            <a:graphicFrameLocks noGrp="1"/>
          </p:cNvGraphicFramePr>
          <p:nvPr>
            <p:ph idx="1"/>
            <p:extLst>
              <p:ext uri="{D42A27DB-BD31-4B8C-83A1-F6EECF244321}">
                <p14:modId xmlns:p14="http://schemas.microsoft.com/office/powerpoint/2010/main" val="1625572564"/>
              </p:ext>
            </p:extLst>
          </p:nvPr>
        </p:nvGraphicFramePr>
        <p:xfrm>
          <a:off x="112184" y="127001"/>
          <a:ext cx="11967632" cy="6603999"/>
        </p:xfrm>
        <a:graphic>
          <a:graphicData uri="http://schemas.openxmlformats.org/drawingml/2006/table">
            <a:tbl>
              <a:tblPr/>
              <a:tblGrid>
                <a:gridCol w="1899018">
                  <a:extLst>
                    <a:ext uri="{9D8B030D-6E8A-4147-A177-3AD203B41FA5}">
                      <a16:colId xmlns:a16="http://schemas.microsoft.com/office/drawing/2014/main" val="2187556092"/>
                    </a:ext>
                  </a:extLst>
                </a:gridCol>
                <a:gridCol w="3279491">
                  <a:extLst>
                    <a:ext uri="{9D8B030D-6E8A-4147-A177-3AD203B41FA5}">
                      <a16:colId xmlns:a16="http://schemas.microsoft.com/office/drawing/2014/main" val="3084001097"/>
                    </a:ext>
                  </a:extLst>
                </a:gridCol>
                <a:gridCol w="3480862">
                  <a:extLst>
                    <a:ext uri="{9D8B030D-6E8A-4147-A177-3AD203B41FA5}">
                      <a16:colId xmlns:a16="http://schemas.microsoft.com/office/drawing/2014/main" val="1898990185"/>
                    </a:ext>
                  </a:extLst>
                </a:gridCol>
                <a:gridCol w="3308261">
                  <a:extLst>
                    <a:ext uri="{9D8B030D-6E8A-4147-A177-3AD203B41FA5}">
                      <a16:colId xmlns:a16="http://schemas.microsoft.com/office/drawing/2014/main" val="1909773667"/>
                    </a:ext>
                  </a:extLst>
                </a:gridCol>
              </a:tblGrid>
              <a:tr h="541567">
                <a:tc>
                  <a:txBody>
                    <a:bodyPr/>
                    <a:lstStyle/>
                    <a:p>
                      <a:pPr algn="l"/>
                      <a:r>
                        <a:rPr lang="en-IN" sz="1800" b="1" dirty="0">
                          <a:effectLst/>
                        </a:rPr>
                        <a:t>Aspect</a:t>
                      </a:r>
                    </a:p>
                  </a:txBody>
                  <a:tcPr marL="15390" marR="15390" marT="7695" marB="7695">
                    <a:lnL w="12700" cap="flat" cmpd="sng" algn="ctr">
                      <a:solidFill>
                        <a:srgbClr val="E04ECD"/>
                      </a:solidFill>
                      <a:prstDash val="solid"/>
                      <a:round/>
                      <a:headEnd type="none" w="med" len="med"/>
                      <a:tailEnd type="none" w="med" len="med"/>
                    </a:lnL>
                    <a:lnR w="12700" cap="flat" cmpd="sng" algn="ctr">
                      <a:solidFill>
                        <a:srgbClr val="C04CCD"/>
                      </a:solidFill>
                      <a:prstDash val="solid"/>
                      <a:round/>
                      <a:headEnd type="none" w="med" len="med"/>
                      <a:tailEnd type="none" w="med" len="med"/>
                    </a:lnR>
                    <a:lnT w="12700" cap="flat" cmpd="sng" algn="ctr">
                      <a:solidFill>
                        <a:srgbClr val="E04ECD"/>
                      </a:solidFill>
                      <a:prstDash val="solid"/>
                      <a:round/>
                      <a:headEnd type="none" w="med" len="med"/>
                      <a:tailEnd type="none" w="med" len="med"/>
                    </a:lnT>
                    <a:lnB w="12700" cap="flat" cmpd="sng" algn="ctr">
                      <a:solidFill>
                        <a:srgbClr val="604ECD"/>
                      </a:solidFill>
                      <a:prstDash val="solid"/>
                      <a:round/>
                      <a:headEnd type="none" w="med" len="med"/>
                      <a:tailEnd type="none" w="med" len="med"/>
                    </a:lnB>
                    <a:solidFill>
                      <a:srgbClr val="FFFFFF"/>
                    </a:solidFill>
                  </a:tcPr>
                </a:tc>
                <a:tc>
                  <a:txBody>
                    <a:bodyPr/>
                    <a:lstStyle/>
                    <a:p>
                      <a:pPr algn="l"/>
                      <a:r>
                        <a:rPr lang="en-IN" sz="1800" b="1" dirty="0">
                          <a:effectLst/>
                        </a:rPr>
                        <a:t>ANN</a:t>
                      </a:r>
                    </a:p>
                  </a:txBody>
                  <a:tcPr marL="15390" marR="15390" marT="7695" marB="7695">
                    <a:lnL w="12700" cap="flat" cmpd="sng" algn="ctr">
                      <a:solidFill>
                        <a:srgbClr val="C04CCD"/>
                      </a:solidFill>
                      <a:prstDash val="solid"/>
                      <a:round/>
                      <a:headEnd type="none" w="med" len="med"/>
                      <a:tailEnd type="none" w="med" len="med"/>
                    </a:lnL>
                    <a:lnR w="12700" cap="flat" cmpd="sng" algn="ctr">
                      <a:solidFill>
                        <a:srgbClr val="E04DCD"/>
                      </a:solidFill>
                      <a:prstDash val="solid"/>
                      <a:round/>
                      <a:headEnd type="none" w="med" len="med"/>
                      <a:tailEnd type="none" w="med" len="med"/>
                    </a:lnR>
                    <a:lnT w="12700" cap="flat" cmpd="sng" algn="ctr">
                      <a:solidFill>
                        <a:srgbClr val="C04CCD"/>
                      </a:solidFill>
                      <a:prstDash val="solid"/>
                      <a:round/>
                      <a:headEnd type="none" w="med" len="med"/>
                      <a:tailEnd type="none" w="med" len="med"/>
                    </a:lnT>
                    <a:lnB w="12700" cap="flat" cmpd="sng" algn="ctr">
                      <a:solidFill>
                        <a:srgbClr val="604CCD"/>
                      </a:solidFill>
                      <a:prstDash val="solid"/>
                      <a:round/>
                      <a:headEnd type="none" w="med" len="med"/>
                      <a:tailEnd type="none" w="med" len="med"/>
                    </a:lnB>
                    <a:solidFill>
                      <a:srgbClr val="FFFFFF"/>
                    </a:solidFill>
                  </a:tcPr>
                </a:tc>
                <a:tc>
                  <a:txBody>
                    <a:bodyPr/>
                    <a:lstStyle/>
                    <a:p>
                      <a:pPr algn="l"/>
                      <a:r>
                        <a:rPr lang="en-IN" sz="1800" b="1" dirty="0">
                          <a:effectLst/>
                        </a:rPr>
                        <a:t>CNN</a:t>
                      </a:r>
                    </a:p>
                  </a:txBody>
                  <a:tcPr marL="15390" marR="15390" marT="7695" marB="7695">
                    <a:lnL w="12700" cap="flat" cmpd="sng" algn="ctr">
                      <a:solidFill>
                        <a:srgbClr val="E04DCD"/>
                      </a:solidFill>
                      <a:prstDash val="solid"/>
                      <a:round/>
                      <a:headEnd type="none" w="med" len="med"/>
                      <a:tailEnd type="none" w="med" len="med"/>
                    </a:lnL>
                    <a:lnR w="12700" cap="flat" cmpd="sng" algn="ctr">
                      <a:solidFill>
                        <a:srgbClr val="E047CD"/>
                      </a:solidFill>
                      <a:prstDash val="solid"/>
                      <a:round/>
                      <a:headEnd type="none" w="med" len="med"/>
                      <a:tailEnd type="none" w="med" len="med"/>
                    </a:lnR>
                    <a:lnT w="12700" cap="flat" cmpd="sng" algn="ctr">
                      <a:solidFill>
                        <a:srgbClr val="E04DCD"/>
                      </a:solidFill>
                      <a:prstDash val="solid"/>
                      <a:round/>
                      <a:headEnd type="none" w="med" len="med"/>
                      <a:tailEnd type="none" w="med" len="med"/>
                    </a:lnT>
                    <a:lnB w="12700" cap="flat" cmpd="sng" algn="ctr">
                      <a:solidFill>
                        <a:srgbClr val="004DCD"/>
                      </a:solidFill>
                      <a:prstDash val="solid"/>
                      <a:round/>
                      <a:headEnd type="none" w="med" len="med"/>
                      <a:tailEnd type="none" w="med" len="med"/>
                    </a:lnB>
                    <a:solidFill>
                      <a:srgbClr val="FFFFFF"/>
                    </a:solidFill>
                  </a:tcPr>
                </a:tc>
                <a:tc>
                  <a:txBody>
                    <a:bodyPr/>
                    <a:lstStyle/>
                    <a:p>
                      <a:pPr algn="l"/>
                      <a:r>
                        <a:rPr lang="en-IN" sz="1800" b="1" dirty="0">
                          <a:effectLst/>
                        </a:rPr>
                        <a:t>RNN</a:t>
                      </a:r>
                    </a:p>
                  </a:txBody>
                  <a:tcPr marL="15390" marR="15390" marT="7695" marB="7695">
                    <a:lnL w="12700" cap="flat" cmpd="sng" algn="ctr">
                      <a:solidFill>
                        <a:srgbClr val="E047CD"/>
                      </a:solidFill>
                      <a:prstDash val="solid"/>
                      <a:round/>
                      <a:headEnd type="none" w="med" len="med"/>
                      <a:tailEnd type="none" w="med" len="med"/>
                    </a:lnL>
                    <a:lnR w="12700" cap="flat" cmpd="sng" algn="ctr">
                      <a:solidFill>
                        <a:srgbClr val="E047CD"/>
                      </a:solidFill>
                      <a:prstDash val="solid"/>
                      <a:round/>
                      <a:headEnd type="none" w="med" len="med"/>
                      <a:tailEnd type="none" w="med" len="med"/>
                    </a:lnR>
                    <a:lnT w="12700" cap="flat" cmpd="sng" algn="ctr">
                      <a:solidFill>
                        <a:srgbClr val="E047CD"/>
                      </a:solidFill>
                      <a:prstDash val="solid"/>
                      <a:round/>
                      <a:headEnd type="none" w="med" len="med"/>
                      <a:tailEnd type="none" w="med" len="med"/>
                    </a:lnT>
                    <a:lnB w="12700" cap="flat" cmpd="sng" algn="ctr">
                      <a:solidFill>
                        <a:srgbClr val="8047CD"/>
                      </a:solidFill>
                      <a:prstDash val="solid"/>
                      <a:round/>
                      <a:headEnd type="none" w="med" len="med"/>
                      <a:tailEnd type="none" w="med" len="med"/>
                    </a:lnB>
                    <a:solidFill>
                      <a:srgbClr val="FFFFFF"/>
                    </a:solidFill>
                  </a:tcPr>
                </a:tc>
                <a:extLst>
                  <a:ext uri="{0D108BD9-81ED-4DB2-BD59-A6C34878D82A}">
                    <a16:rowId xmlns:a16="http://schemas.microsoft.com/office/drawing/2014/main" val="3908447754"/>
                  </a:ext>
                </a:extLst>
              </a:tr>
              <a:tr h="1158565">
                <a:tc>
                  <a:txBody>
                    <a:bodyPr/>
                    <a:lstStyle/>
                    <a:p>
                      <a:r>
                        <a:rPr lang="en-US" sz="1800" b="1" dirty="0">
                          <a:effectLst/>
                          <a:latin typeface="+mn-lt"/>
                        </a:rPr>
                        <a:t>Structure and Components / Loop Mechanism</a:t>
                      </a:r>
                    </a:p>
                  </a:txBody>
                  <a:tcPr marL="15390" marR="15390" marT="7695" marB="7695">
                    <a:lnL w="12700" cap="flat" cmpd="sng" algn="ctr">
                      <a:solidFill>
                        <a:srgbClr val="604ECD"/>
                      </a:solidFill>
                      <a:prstDash val="solid"/>
                      <a:round/>
                      <a:headEnd type="none" w="med" len="med"/>
                      <a:tailEnd type="none" w="med" len="med"/>
                    </a:lnL>
                    <a:lnR w="12700" cap="flat" cmpd="sng" algn="ctr">
                      <a:solidFill>
                        <a:srgbClr val="604CCD"/>
                      </a:solidFill>
                      <a:prstDash val="solid"/>
                      <a:round/>
                      <a:headEnd type="none" w="med" len="med"/>
                      <a:tailEnd type="none" w="med" len="med"/>
                    </a:lnR>
                    <a:lnT w="12700" cap="flat" cmpd="sng" algn="ctr">
                      <a:solidFill>
                        <a:srgbClr val="604ECD"/>
                      </a:solidFill>
                      <a:prstDash val="solid"/>
                      <a:round/>
                      <a:headEnd type="none" w="med" len="med"/>
                      <a:tailEnd type="none" w="med" len="med"/>
                    </a:lnT>
                    <a:lnB w="12700" cap="flat" cmpd="sng" algn="ctr">
                      <a:solidFill>
                        <a:srgbClr val="C04ACD"/>
                      </a:solidFill>
                      <a:prstDash val="solid"/>
                      <a:round/>
                      <a:headEnd type="none" w="med" len="med"/>
                      <a:tailEnd type="none" w="med" len="med"/>
                    </a:lnB>
                    <a:solidFill>
                      <a:srgbClr val="FFFFFF"/>
                    </a:solidFill>
                  </a:tcPr>
                </a:tc>
                <a:tc>
                  <a:txBody>
                    <a:bodyPr/>
                    <a:lstStyle/>
                    <a:p>
                      <a:r>
                        <a:rPr lang="en-US" sz="1800" dirty="0">
                          <a:effectLst/>
                          <a:latin typeface="+mn-lt"/>
                        </a:rPr>
                        <a:t>Consist of input, hidden, and output layers. Neurons in each layer connect to those in the next layer.</a:t>
                      </a:r>
                    </a:p>
                  </a:txBody>
                  <a:tcPr marL="15390" marR="15390" marT="7695" marB="7695">
                    <a:lnL w="12700" cap="flat" cmpd="sng" algn="ctr">
                      <a:solidFill>
                        <a:srgbClr val="604CCD"/>
                      </a:solidFill>
                      <a:prstDash val="solid"/>
                      <a:round/>
                      <a:headEnd type="none" w="med" len="med"/>
                      <a:tailEnd type="none" w="med" len="med"/>
                    </a:lnL>
                    <a:lnR w="12700" cap="flat" cmpd="sng" algn="ctr">
                      <a:solidFill>
                        <a:srgbClr val="004DCD"/>
                      </a:solidFill>
                      <a:prstDash val="solid"/>
                      <a:round/>
                      <a:headEnd type="none" w="med" len="med"/>
                      <a:tailEnd type="none" w="med" len="med"/>
                    </a:lnR>
                    <a:lnT w="12700" cap="flat" cmpd="sng" algn="ctr">
                      <a:solidFill>
                        <a:srgbClr val="604CCD"/>
                      </a:solidFill>
                      <a:prstDash val="solid"/>
                      <a:round/>
                      <a:headEnd type="none" w="med" len="med"/>
                      <a:tailEnd type="none" w="med" len="med"/>
                    </a:lnT>
                    <a:lnB w="12700" cap="flat" cmpd="sng" algn="ctr">
                      <a:solidFill>
                        <a:srgbClr val="6048CD"/>
                      </a:solidFill>
                      <a:prstDash val="solid"/>
                      <a:round/>
                      <a:headEnd type="none" w="med" len="med"/>
                      <a:tailEnd type="none" w="med" len="med"/>
                    </a:lnB>
                    <a:solidFill>
                      <a:srgbClr val="FFFFFF"/>
                    </a:solidFill>
                  </a:tcPr>
                </a:tc>
                <a:tc>
                  <a:txBody>
                    <a:bodyPr/>
                    <a:lstStyle/>
                    <a:p>
                      <a:r>
                        <a:rPr lang="en-US" sz="1800">
                          <a:effectLst/>
                          <a:latin typeface="+mn-lt"/>
                        </a:rPr>
                        <a:t>Composed of convolutional, pooling, and fully connected layers. Uses filters to detect spatial features in data.</a:t>
                      </a:r>
                    </a:p>
                  </a:txBody>
                  <a:tcPr marL="15390" marR="15390" marT="7695" marB="7695">
                    <a:lnL w="12700" cap="flat" cmpd="sng" algn="ctr">
                      <a:solidFill>
                        <a:srgbClr val="004DCD"/>
                      </a:solidFill>
                      <a:prstDash val="solid"/>
                      <a:round/>
                      <a:headEnd type="none" w="med" len="med"/>
                      <a:tailEnd type="none" w="med" len="med"/>
                    </a:lnL>
                    <a:lnR w="12700" cap="flat" cmpd="sng" algn="ctr">
                      <a:solidFill>
                        <a:srgbClr val="8047CD"/>
                      </a:solidFill>
                      <a:prstDash val="solid"/>
                      <a:round/>
                      <a:headEnd type="none" w="med" len="med"/>
                      <a:tailEnd type="none" w="med" len="med"/>
                    </a:lnR>
                    <a:lnT w="12700" cap="flat" cmpd="sng" algn="ctr">
                      <a:solidFill>
                        <a:srgbClr val="004DCD"/>
                      </a:solidFill>
                      <a:prstDash val="solid"/>
                      <a:round/>
                      <a:headEnd type="none" w="med" len="med"/>
                      <a:tailEnd type="none" w="med" len="med"/>
                    </a:lnT>
                    <a:lnB w="12700" cap="flat" cmpd="sng" algn="ctr">
                      <a:solidFill>
                        <a:srgbClr val="204DCD"/>
                      </a:solidFill>
                      <a:prstDash val="solid"/>
                      <a:round/>
                      <a:headEnd type="none" w="med" len="med"/>
                      <a:tailEnd type="none" w="med" len="med"/>
                    </a:lnB>
                    <a:solidFill>
                      <a:srgbClr val="FFFFFF"/>
                    </a:solidFill>
                  </a:tcPr>
                </a:tc>
                <a:tc>
                  <a:txBody>
                    <a:bodyPr/>
                    <a:lstStyle/>
                    <a:p>
                      <a:r>
                        <a:rPr lang="en-US" sz="1800">
                          <a:effectLst/>
                          <a:latin typeface="+mn-lt"/>
                        </a:rPr>
                        <a:t>Contains loops allowing information to pass from one step to the next, maintaining a ‘memory’ of previous inputs.</a:t>
                      </a:r>
                    </a:p>
                  </a:txBody>
                  <a:tcPr marL="15390" marR="15390" marT="7695" marB="7695">
                    <a:lnL w="12700" cap="flat" cmpd="sng" algn="ctr">
                      <a:solidFill>
                        <a:srgbClr val="8047CD"/>
                      </a:solidFill>
                      <a:prstDash val="solid"/>
                      <a:round/>
                      <a:headEnd type="none" w="med" len="med"/>
                      <a:tailEnd type="none" w="med" len="med"/>
                    </a:lnL>
                    <a:lnR w="12700" cap="flat" cmpd="sng" algn="ctr">
                      <a:solidFill>
                        <a:srgbClr val="8047CD"/>
                      </a:solidFill>
                      <a:prstDash val="solid"/>
                      <a:round/>
                      <a:headEnd type="none" w="med" len="med"/>
                      <a:tailEnd type="none" w="med" len="med"/>
                    </a:lnR>
                    <a:lnT w="12700" cap="flat" cmpd="sng" algn="ctr">
                      <a:solidFill>
                        <a:srgbClr val="8047CD"/>
                      </a:solidFill>
                      <a:prstDash val="solid"/>
                      <a:round/>
                      <a:headEnd type="none" w="med" len="med"/>
                      <a:tailEnd type="none" w="med" len="med"/>
                    </a:lnT>
                    <a:lnB w="12700" cap="flat" cmpd="sng" algn="ctr">
                      <a:solidFill>
                        <a:srgbClr val="E04ECD"/>
                      </a:solidFill>
                      <a:prstDash val="solid"/>
                      <a:round/>
                      <a:headEnd type="none" w="med" len="med"/>
                      <a:tailEnd type="none" w="med" len="med"/>
                    </a:lnB>
                    <a:solidFill>
                      <a:srgbClr val="FFFFFF"/>
                    </a:solidFill>
                  </a:tcPr>
                </a:tc>
                <a:extLst>
                  <a:ext uri="{0D108BD9-81ED-4DB2-BD59-A6C34878D82A}">
                    <a16:rowId xmlns:a16="http://schemas.microsoft.com/office/drawing/2014/main" val="2856516757"/>
                  </a:ext>
                </a:extLst>
              </a:tr>
              <a:tr h="1444199">
                <a:tc>
                  <a:txBody>
                    <a:bodyPr/>
                    <a:lstStyle/>
                    <a:p>
                      <a:r>
                        <a:rPr lang="en-IN" sz="1800" b="1" dirty="0">
                          <a:effectLst/>
                          <a:latin typeface="+mn-lt"/>
                        </a:rPr>
                        <a:t>Working Mechanism</a:t>
                      </a:r>
                    </a:p>
                  </a:txBody>
                  <a:tcPr marL="15390" marR="15390" marT="7695" marB="7695">
                    <a:lnL w="12700" cap="flat" cmpd="sng" algn="ctr">
                      <a:solidFill>
                        <a:srgbClr val="C04ACD"/>
                      </a:solidFill>
                      <a:prstDash val="solid"/>
                      <a:round/>
                      <a:headEnd type="none" w="med" len="med"/>
                      <a:tailEnd type="none" w="med" len="med"/>
                    </a:lnL>
                    <a:lnR w="12700" cap="flat" cmpd="sng" algn="ctr">
                      <a:solidFill>
                        <a:srgbClr val="6048CD"/>
                      </a:solidFill>
                      <a:prstDash val="solid"/>
                      <a:round/>
                      <a:headEnd type="none" w="med" len="med"/>
                      <a:tailEnd type="none" w="med" len="med"/>
                    </a:lnR>
                    <a:lnT w="12700" cap="flat" cmpd="sng" algn="ctr">
                      <a:solidFill>
                        <a:srgbClr val="C04ACD"/>
                      </a:solidFill>
                      <a:prstDash val="solid"/>
                      <a:round/>
                      <a:headEnd type="none" w="med" len="med"/>
                      <a:tailEnd type="none" w="med" len="med"/>
                    </a:lnT>
                    <a:lnB w="12700" cap="flat" cmpd="sng" algn="ctr">
                      <a:solidFill>
                        <a:srgbClr val="404CCD"/>
                      </a:solidFill>
                      <a:prstDash val="solid"/>
                      <a:round/>
                      <a:headEnd type="none" w="med" len="med"/>
                      <a:tailEnd type="none" w="med" len="med"/>
                    </a:lnB>
                    <a:solidFill>
                      <a:srgbClr val="FFFFFF"/>
                    </a:solidFill>
                  </a:tcPr>
                </a:tc>
                <a:tc>
                  <a:txBody>
                    <a:bodyPr/>
                    <a:lstStyle/>
                    <a:p>
                      <a:r>
                        <a:rPr lang="en-US" sz="1800" dirty="0">
                          <a:effectLst/>
                          <a:latin typeface="+mn-lt"/>
                        </a:rPr>
                        <a:t>Processes inputs through layers. Each neuron applies a function to inputs, passing the result to the next layer.</a:t>
                      </a:r>
                    </a:p>
                  </a:txBody>
                  <a:tcPr marL="15390" marR="15390" marT="7695" marB="7695">
                    <a:lnL w="12700" cap="flat" cmpd="sng" algn="ctr">
                      <a:solidFill>
                        <a:srgbClr val="6048CD"/>
                      </a:solidFill>
                      <a:prstDash val="solid"/>
                      <a:round/>
                      <a:headEnd type="none" w="med" len="med"/>
                      <a:tailEnd type="none" w="med" len="med"/>
                    </a:lnL>
                    <a:lnR w="12700" cap="flat" cmpd="sng" algn="ctr">
                      <a:solidFill>
                        <a:srgbClr val="204DCD"/>
                      </a:solidFill>
                      <a:prstDash val="solid"/>
                      <a:round/>
                      <a:headEnd type="none" w="med" len="med"/>
                      <a:tailEnd type="none" w="med" len="med"/>
                    </a:lnR>
                    <a:lnT w="12700" cap="flat" cmpd="sng" algn="ctr">
                      <a:solidFill>
                        <a:srgbClr val="6048CD"/>
                      </a:solidFill>
                      <a:prstDash val="solid"/>
                      <a:round/>
                      <a:headEnd type="none" w="med" len="med"/>
                      <a:tailEnd type="none" w="med" len="med"/>
                    </a:lnT>
                    <a:lnB w="12700" cap="flat" cmpd="sng" algn="ctr">
                      <a:solidFill>
                        <a:srgbClr val="204DCD"/>
                      </a:solidFill>
                      <a:prstDash val="solid"/>
                      <a:round/>
                      <a:headEnd type="none" w="med" len="med"/>
                      <a:tailEnd type="none" w="med" len="med"/>
                    </a:lnB>
                    <a:solidFill>
                      <a:srgbClr val="FFFFFF"/>
                    </a:solidFill>
                  </a:tcPr>
                </a:tc>
                <a:tc>
                  <a:txBody>
                    <a:bodyPr/>
                    <a:lstStyle/>
                    <a:p>
                      <a:r>
                        <a:rPr lang="en-US" sz="1800" dirty="0">
                          <a:effectLst/>
                          <a:latin typeface="+mn-lt"/>
                        </a:rPr>
                        <a:t>Applies convolutional filters to input data, reducing dimensions with pooling layers, followed by classification.</a:t>
                      </a:r>
                    </a:p>
                  </a:txBody>
                  <a:tcPr marL="15390" marR="15390" marT="7695" marB="7695">
                    <a:lnL w="12700" cap="flat" cmpd="sng" algn="ctr">
                      <a:solidFill>
                        <a:srgbClr val="204DCD"/>
                      </a:solidFill>
                      <a:prstDash val="solid"/>
                      <a:round/>
                      <a:headEnd type="none" w="med" len="med"/>
                      <a:tailEnd type="none" w="med" len="med"/>
                    </a:lnL>
                    <a:lnR w="12700" cap="flat" cmpd="sng" algn="ctr">
                      <a:solidFill>
                        <a:srgbClr val="E04ECD"/>
                      </a:solidFill>
                      <a:prstDash val="solid"/>
                      <a:round/>
                      <a:headEnd type="none" w="med" len="med"/>
                      <a:tailEnd type="none" w="med" len="med"/>
                    </a:lnR>
                    <a:lnT w="12700" cap="flat" cmpd="sng" algn="ctr">
                      <a:solidFill>
                        <a:srgbClr val="204DCD"/>
                      </a:solidFill>
                      <a:prstDash val="solid"/>
                      <a:round/>
                      <a:headEnd type="none" w="med" len="med"/>
                      <a:tailEnd type="none" w="med" len="med"/>
                    </a:lnT>
                    <a:lnB w="12700" cap="flat" cmpd="sng" algn="ctr">
                      <a:solidFill>
                        <a:srgbClr val="E04ECD"/>
                      </a:solidFill>
                      <a:prstDash val="solid"/>
                      <a:round/>
                      <a:headEnd type="none" w="med" len="med"/>
                      <a:tailEnd type="none" w="med" len="med"/>
                    </a:lnB>
                    <a:solidFill>
                      <a:srgbClr val="FFFFFF"/>
                    </a:solidFill>
                  </a:tcPr>
                </a:tc>
                <a:tc>
                  <a:txBody>
                    <a:bodyPr/>
                    <a:lstStyle/>
                    <a:p>
                      <a:r>
                        <a:rPr lang="en-US" sz="1800">
                          <a:effectLst/>
                          <a:latin typeface="+mn-lt"/>
                        </a:rPr>
                        <a:t>Maintains hidden states to capture temporal dependencies, processes sequential data, and uses recurrent connections.</a:t>
                      </a:r>
                    </a:p>
                  </a:txBody>
                  <a:tcPr marL="15390" marR="15390" marT="7695" marB="7695">
                    <a:lnL w="12700" cap="flat" cmpd="sng" algn="ctr">
                      <a:solidFill>
                        <a:srgbClr val="E04ECD"/>
                      </a:solidFill>
                      <a:prstDash val="solid"/>
                      <a:round/>
                      <a:headEnd type="none" w="med" len="med"/>
                      <a:tailEnd type="none" w="med" len="med"/>
                    </a:lnL>
                    <a:lnR w="12700" cap="flat" cmpd="sng" algn="ctr">
                      <a:solidFill>
                        <a:srgbClr val="E04ECD"/>
                      </a:solidFill>
                      <a:prstDash val="solid"/>
                      <a:round/>
                      <a:headEnd type="none" w="med" len="med"/>
                      <a:tailEnd type="none" w="med" len="med"/>
                    </a:lnR>
                    <a:lnT w="12700" cap="flat" cmpd="sng" algn="ctr">
                      <a:solidFill>
                        <a:srgbClr val="E04ECD"/>
                      </a:solidFill>
                      <a:prstDash val="solid"/>
                      <a:round/>
                      <a:headEnd type="none" w="med" len="med"/>
                      <a:tailEnd type="none" w="med" len="med"/>
                    </a:lnT>
                    <a:lnB w="12700" cap="flat" cmpd="sng" algn="ctr">
                      <a:solidFill>
                        <a:srgbClr val="8054CD"/>
                      </a:solidFill>
                      <a:prstDash val="solid"/>
                      <a:round/>
                      <a:headEnd type="none" w="med" len="med"/>
                      <a:tailEnd type="none" w="med" len="med"/>
                    </a:lnB>
                    <a:solidFill>
                      <a:srgbClr val="FFFFFF"/>
                    </a:solidFill>
                  </a:tcPr>
                </a:tc>
                <a:extLst>
                  <a:ext uri="{0D108BD9-81ED-4DB2-BD59-A6C34878D82A}">
                    <a16:rowId xmlns:a16="http://schemas.microsoft.com/office/drawing/2014/main" val="2892731847"/>
                  </a:ext>
                </a:extLst>
              </a:tr>
              <a:tr h="2015469">
                <a:tc>
                  <a:txBody>
                    <a:bodyPr/>
                    <a:lstStyle/>
                    <a:p>
                      <a:r>
                        <a:rPr lang="en-IN" sz="1800" b="1" dirty="0">
                          <a:effectLst/>
                          <a:latin typeface="+mn-lt"/>
                        </a:rPr>
                        <a:t>Advantages and Disadvantages</a:t>
                      </a:r>
                    </a:p>
                  </a:txBody>
                  <a:tcPr marL="15390" marR="15390" marT="7695" marB="7695">
                    <a:lnL w="12700" cap="flat" cmpd="sng" algn="ctr">
                      <a:solidFill>
                        <a:srgbClr val="404CCD"/>
                      </a:solidFill>
                      <a:prstDash val="solid"/>
                      <a:round/>
                      <a:headEnd type="none" w="med" len="med"/>
                      <a:tailEnd type="none" w="med" len="med"/>
                    </a:lnL>
                    <a:lnR w="12700" cap="flat" cmpd="sng" algn="ctr">
                      <a:solidFill>
                        <a:srgbClr val="204DCD"/>
                      </a:solidFill>
                      <a:prstDash val="solid"/>
                      <a:round/>
                      <a:headEnd type="none" w="med" len="med"/>
                      <a:tailEnd type="none" w="med" len="med"/>
                    </a:lnR>
                    <a:lnT w="12700" cap="flat" cmpd="sng" algn="ctr">
                      <a:solidFill>
                        <a:srgbClr val="404CCD"/>
                      </a:solidFill>
                      <a:prstDash val="solid"/>
                      <a:round/>
                      <a:headEnd type="none" w="med" len="med"/>
                      <a:tailEnd type="none" w="med" len="med"/>
                    </a:lnT>
                    <a:lnB w="12700" cap="flat" cmpd="sng" algn="ctr">
                      <a:solidFill>
                        <a:srgbClr val="4056CD"/>
                      </a:solidFill>
                      <a:prstDash val="solid"/>
                      <a:round/>
                      <a:headEnd type="none" w="med" len="med"/>
                      <a:tailEnd type="none" w="med" len="med"/>
                    </a:lnB>
                    <a:solidFill>
                      <a:srgbClr val="FFFFFF"/>
                    </a:solidFill>
                  </a:tcPr>
                </a:tc>
                <a:tc>
                  <a:txBody>
                    <a:bodyPr/>
                    <a:lstStyle/>
                    <a:p>
                      <a:r>
                        <a:rPr lang="en-US" sz="1800" b="1" dirty="0">
                          <a:effectLst/>
                          <a:latin typeface="+mn-lt"/>
                        </a:rPr>
                        <a:t>Advantages:</a:t>
                      </a:r>
                      <a:r>
                        <a:rPr lang="en-US" sz="1800" dirty="0">
                          <a:effectLst/>
                          <a:latin typeface="+mn-lt"/>
                        </a:rPr>
                        <a:t> Flexible,</a:t>
                      </a:r>
                    </a:p>
                    <a:p>
                      <a:r>
                        <a:rPr lang="en-US" sz="1800" dirty="0">
                          <a:effectLst/>
                          <a:latin typeface="+mn-lt"/>
                        </a:rPr>
                        <a:t> learns complex patterns. </a:t>
                      </a:r>
                      <a:r>
                        <a:rPr lang="en-US" sz="1800" b="1" dirty="0">
                          <a:effectLst/>
                          <a:latin typeface="+mn-lt"/>
                        </a:rPr>
                        <a:t>Disadvantages:</a:t>
                      </a:r>
                      <a:r>
                        <a:rPr lang="en-US" sz="1800" dirty="0">
                          <a:effectLst/>
                          <a:latin typeface="+mn-lt"/>
                        </a:rPr>
                        <a:t> Requires large data, </a:t>
                      </a:r>
                    </a:p>
                    <a:p>
                      <a:r>
                        <a:rPr lang="en-US" sz="1800" dirty="0">
                          <a:effectLst/>
                          <a:latin typeface="+mn-lt"/>
                        </a:rPr>
                        <a:t>can be slow to train, </a:t>
                      </a:r>
                    </a:p>
                    <a:p>
                      <a:r>
                        <a:rPr lang="en-US" sz="1800" dirty="0">
                          <a:effectLst/>
                          <a:latin typeface="+mn-lt"/>
                        </a:rPr>
                        <a:t>difficult to interpret.</a:t>
                      </a:r>
                    </a:p>
                  </a:txBody>
                  <a:tcPr marL="15390" marR="15390" marT="7695" marB="7695">
                    <a:lnL w="12700" cap="flat" cmpd="sng" algn="ctr">
                      <a:solidFill>
                        <a:srgbClr val="204DCD"/>
                      </a:solidFill>
                      <a:prstDash val="solid"/>
                      <a:round/>
                      <a:headEnd type="none" w="med" len="med"/>
                      <a:tailEnd type="none" w="med" len="med"/>
                    </a:lnL>
                    <a:lnR w="12700" cap="flat" cmpd="sng" algn="ctr">
                      <a:solidFill>
                        <a:srgbClr val="E04ECD"/>
                      </a:solidFill>
                      <a:prstDash val="solid"/>
                      <a:round/>
                      <a:headEnd type="none" w="med" len="med"/>
                      <a:tailEnd type="none" w="med" len="med"/>
                    </a:lnR>
                    <a:lnT w="12700" cap="flat" cmpd="sng" algn="ctr">
                      <a:solidFill>
                        <a:srgbClr val="204DCD"/>
                      </a:solidFill>
                      <a:prstDash val="solid"/>
                      <a:round/>
                      <a:headEnd type="none" w="med" len="med"/>
                      <a:tailEnd type="none" w="med" len="med"/>
                    </a:lnT>
                    <a:lnB w="12700" cap="flat" cmpd="sng" algn="ctr">
                      <a:solidFill>
                        <a:srgbClr val="0057CD"/>
                      </a:solidFill>
                      <a:prstDash val="solid"/>
                      <a:round/>
                      <a:headEnd type="none" w="med" len="med"/>
                      <a:tailEnd type="none" w="med" len="med"/>
                    </a:lnB>
                    <a:solidFill>
                      <a:srgbClr val="FFFFFF"/>
                    </a:solidFill>
                  </a:tcPr>
                </a:tc>
                <a:tc>
                  <a:txBody>
                    <a:bodyPr/>
                    <a:lstStyle/>
                    <a:p>
                      <a:r>
                        <a:rPr lang="en-US" sz="1800" b="1" dirty="0">
                          <a:effectLst/>
                          <a:latin typeface="+mn-lt"/>
                        </a:rPr>
                        <a:t>Advantages: </a:t>
                      </a:r>
                      <a:r>
                        <a:rPr lang="en-US" sz="1800" dirty="0">
                          <a:effectLst/>
                          <a:latin typeface="+mn-lt"/>
                        </a:rPr>
                        <a:t>High accuracy in image tasks, automatic feature extraction. </a:t>
                      </a:r>
                    </a:p>
                    <a:p>
                      <a:r>
                        <a:rPr lang="en-US" sz="1800" b="1" dirty="0">
                          <a:effectLst/>
                          <a:latin typeface="+mn-lt"/>
                        </a:rPr>
                        <a:t>Disadvantages: </a:t>
                      </a:r>
                      <a:r>
                        <a:rPr lang="en-US" sz="1800" dirty="0">
                          <a:effectLst/>
                          <a:latin typeface="+mn-lt"/>
                        </a:rPr>
                        <a:t>Computationally intensive, requires significant GPU resources, struggles with spatially invariant data.</a:t>
                      </a:r>
                    </a:p>
                  </a:txBody>
                  <a:tcPr marL="15390" marR="15390" marT="7695" marB="7695">
                    <a:lnL w="12700" cap="flat" cmpd="sng" algn="ctr">
                      <a:solidFill>
                        <a:srgbClr val="E04ECD"/>
                      </a:solidFill>
                      <a:prstDash val="solid"/>
                      <a:round/>
                      <a:headEnd type="none" w="med" len="med"/>
                      <a:tailEnd type="none" w="med" len="med"/>
                    </a:lnL>
                    <a:lnR w="12700" cap="flat" cmpd="sng" algn="ctr">
                      <a:solidFill>
                        <a:srgbClr val="8054CD"/>
                      </a:solidFill>
                      <a:prstDash val="solid"/>
                      <a:round/>
                      <a:headEnd type="none" w="med" len="med"/>
                      <a:tailEnd type="none" w="med" len="med"/>
                    </a:lnR>
                    <a:lnT w="12700" cap="flat" cmpd="sng" algn="ctr">
                      <a:solidFill>
                        <a:srgbClr val="E04ECD"/>
                      </a:solidFill>
                      <a:prstDash val="solid"/>
                      <a:round/>
                      <a:headEnd type="none" w="med" len="med"/>
                      <a:tailEnd type="none" w="med" len="med"/>
                    </a:lnT>
                    <a:lnB w="12700" cap="flat" cmpd="sng" algn="ctr">
                      <a:solidFill>
                        <a:srgbClr val="8050CD"/>
                      </a:solidFill>
                      <a:prstDash val="solid"/>
                      <a:round/>
                      <a:headEnd type="none" w="med" len="med"/>
                      <a:tailEnd type="none" w="med" len="med"/>
                    </a:lnB>
                    <a:solidFill>
                      <a:srgbClr val="FFFFFF"/>
                    </a:solidFill>
                  </a:tcPr>
                </a:tc>
                <a:tc>
                  <a:txBody>
                    <a:bodyPr/>
                    <a:lstStyle/>
                    <a:p>
                      <a:r>
                        <a:rPr lang="en-US" sz="1800" b="1" dirty="0">
                          <a:effectLst/>
                          <a:latin typeface="+mn-lt"/>
                        </a:rPr>
                        <a:t>Advantages:</a:t>
                      </a:r>
                      <a:r>
                        <a:rPr lang="en-US" sz="1800" dirty="0">
                          <a:effectLst/>
                          <a:latin typeface="+mn-lt"/>
                        </a:rPr>
                        <a:t> Effective for sequential data, learns temporal dependencies.</a:t>
                      </a:r>
                    </a:p>
                    <a:p>
                      <a:r>
                        <a:rPr lang="en-US" sz="1800" b="1" dirty="0">
                          <a:effectLst/>
                          <a:latin typeface="+mn-lt"/>
                        </a:rPr>
                        <a:t>Disadvantages: </a:t>
                      </a:r>
                      <a:r>
                        <a:rPr lang="en-US" sz="1800" dirty="0">
                          <a:effectLst/>
                          <a:latin typeface="+mn-lt"/>
                        </a:rPr>
                        <a:t>Slow, complex training, prone to vanishing and exploding gradient issues.</a:t>
                      </a:r>
                    </a:p>
                  </a:txBody>
                  <a:tcPr marL="15390" marR="15390" marT="7695" marB="7695">
                    <a:lnL w="12700" cap="flat" cmpd="sng" algn="ctr">
                      <a:solidFill>
                        <a:srgbClr val="8054CD"/>
                      </a:solidFill>
                      <a:prstDash val="solid"/>
                      <a:round/>
                      <a:headEnd type="none" w="med" len="med"/>
                      <a:tailEnd type="none" w="med" len="med"/>
                    </a:lnL>
                    <a:lnR w="12700" cap="flat" cmpd="sng" algn="ctr">
                      <a:solidFill>
                        <a:srgbClr val="8054CD"/>
                      </a:solidFill>
                      <a:prstDash val="solid"/>
                      <a:round/>
                      <a:headEnd type="none" w="med" len="med"/>
                      <a:tailEnd type="none" w="med" len="med"/>
                    </a:lnR>
                    <a:lnT w="12700" cap="flat" cmpd="sng" algn="ctr">
                      <a:solidFill>
                        <a:srgbClr val="8054CD"/>
                      </a:solidFill>
                      <a:prstDash val="solid"/>
                      <a:round/>
                      <a:headEnd type="none" w="med" len="med"/>
                      <a:tailEnd type="none" w="med" len="med"/>
                    </a:lnT>
                    <a:lnB w="12700" cap="flat" cmpd="sng" algn="ctr">
                      <a:solidFill>
                        <a:srgbClr val="C055CD"/>
                      </a:solidFill>
                      <a:prstDash val="solid"/>
                      <a:round/>
                      <a:headEnd type="none" w="med" len="med"/>
                      <a:tailEnd type="none" w="med" len="med"/>
                    </a:lnB>
                    <a:solidFill>
                      <a:srgbClr val="FFFFFF"/>
                    </a:solidFill>
                  </a:tcPr>
                </a:tc>
                <a:extLst>
                  <a:ext uri="{0D108BD9-81ED-4DB2-BD59-A6C34878D82A}">
                    <a16:rowId xmlns:a16="http://schemas.microsoft.com/office/drawing/2014/main" val="3908789016"/>
                  </a:ext>
                </a:extLst>
              </a:tr>
              <a:tr h="1444199">
                <a:tc>
                  <a:txBody>
                    <a:bodyPr/>
                    <a:lstStyle/>
                    <a:p>
                      <a:r>
                        <a:rPr lang="en-IN" sz="1800" b="1" dirty="0">
                          <a:effectLst/>
                          <a:latin typeface="+mn-lt"/>
                        </a:rPr>
                        <a:t>Training and Performance</a:t>
                      </a:r>
                    </a:p>
                  </a:txBody>
                  <a:tcPr marL="15390" marR="15390" marT="7695" marB="7695">
                    <a:lnL w="12700" cap="flat" cmpd="sng" algn="ctr">
                      <a:solidFill>
                        <a:srgbClr val="2055CD"/>
                      </a:solidFill>
                      <a:prstDash val="solid"/>
                      <a:round/>
                      <a:headEnd type="none" w="med" len="med"/>
                      <a:tailEnd type="none" w="med" len="med"/>
                    </a:lnL>
                    <a:lnR w="12700" cap="flat" cmpd="sng" algn="ctr">
                      <a:solidFill>
                        <a:srgbClr val="205BCD"/>
                      </a:solidFill>
                      <a:prstDash val="solid"/>
                      <a:round/>
                      <a:headEnd type="none" w="med" len="med"/>
                      <a:tailEnd type="none" w="med" len="med"/>
                    </a:lnR>
                    <a:lnT w="12700" cap="flat" cmpd="sng" algn="ctr">
                      <a:solidFill>
                        <a:srgbClr val="4056CD"/>
                      </a:solidFill>
                      <a:prstDash val="solid"/>
                      <a:round/>
                      <a:headEnd type="none" w="med" len="med"/>
                      <a:tailEnd type="none" w="med" len="med"/>
                    </a:lnT>
                    <a:lnB w="12700" cap="flat" cmpd="sng" algn="ctr">
                      <a:solidFill>
                        <a:srgbClr val="2055CD"/>
                      </a:solidFill>
                      <a:prstDash val="solid"/>
                      <a:round/>
                      <a:headEnd type="none" w="med" len="med"/>
                      <a:tailEnd type="none" w="med" len="med"/>
                    </a:lnB>
                    <a:solidFill>
                      <a:srgbClr val="FFFFFF"/>
                    </a:solidFill>
                  </a:tcPr>
                </a:tc>
                <a:tc>
                  <a:txBody>
                    <a:bodyPr/>
                    <a:lstStyle/>
                    <a:p>
                      <a:r>
                        <a:rPr lang="en-US" sz="1800">
                          <a:effectLst/>
                          <a:latin typeface="+mn-lt"/>
                        </a:rPr>
                        <a:t>Requires large datasets, training can be slow. Performance varies based on complexity and size of the network</a:t>
                      </a:r>
                    </a:p>
                  </a:txBody>
                  <a:tcPr marL="15390" marR="15390" marT="7695" marB="7695">
                    <a:lnL w="12700" cap="flat" cmpd="sng" algn="ctr">
                      <a:solidFill>
                        <a:srgbClr val="205BCD"/>
                      </a:solidFill>
                      <a:prstDash val="solid"/>
                      <a:round/>
                      <a:headEnd type="none" w="med" len="med"/>
                      <a:tailEnd type="none" w="med" len="med"/>
                    </a:lnL>
                    <a:lnR w="12700" cap="flat" cmpd="sng" algn="ctr">
                      <a:solidFill>
                        <a:srgbClr val="8059CD"/>
                      </a:solidFill>
                      <a:prstDash val="solid"/>
                      <a:round/>
                      <a:headEnd type="none" w="med" len="med"/>
                      <a:tailEnd type="none" w="med" len="med"/>
                    </a:lnR>
                    <a:lnT w="12700" cap="flat" cmpd="sng" algn="ctr">
                      <a:solidFill>
                        <a:srgbClr val="0057CD"/>
                      </a:solidFill>
                      <a:prstDash val="solid"/>
                      <a:round/>
                      <a:headEnd type="none" w="med" len="med"/>
                      <a:tailEnd type="none" w="med" len="med"/>
                    </a:lnT>
                    <a:lnB w="12700" cap="flat" cmpd="sng" algn="ctr">
                      <a:solidFill>
                        <a:srgbClr val="205BCD"/>
                      </a:solidFill>
                      <a:prstDash val="solid"/>
                      <a:round/>
                      <a:headEnd type="none" w="med" len="med"/>
                      <a:tailEnd type="none" w="med" len="med"/>
                    </a:lnB>
                    <a:solidFill>
                      <a:srgbClr val="FFFFFF"/>
                    </a:solidFill>
                  </a:tcPr>
                </a:tc>
                <a:tc>
                  <a:txBody>
                    <a:bodyPr/>
                    <a:lstStyle/>
                    <a:p>
                      <a:r>
                        <a:rPr lang="en-US" sz="1800">
                          <a:effectLst/>
                          <a:latin typeface="+mn-lt"/>
                        </a:rPr>
                        <a:t>Training is computationally intensive, requires significant GPU resources. Excels in feature extraction from spatial data</a:t>
                      </a:r>
                    </a:p>
                  </a:txBody>
                  <a:tcPr marL="15390" marR="15390" marT="7695" marB="7695">
                    <a:lnL w="12700" cap="flat" cmpd="sng" algn="ctr">
                      <a:solidFill>
                        <a:srgbClr val="8059CD"/>
                      </a:solidFill>
                      <a:prstDash val="solid"/>
                      <a:round/>
                      <a:headEnd type="none" w="med" len="med"/>
                      <a:tailEnd type="none" w="med" len="med"/>
                    </a:lnL>
                    <a:lnR w="12700" cap="flat" cmpd="sng" algn="ctr">
                      <a:solidFill>
                        <a:srgbClr val="A05BCD"/>
                      </a:solidFill>
                      <a:prstDash val="solid"/>
                      <a:round/>
                      <a:headEnd type="none" w="med" len="med"/>
                      <a:tailEnd type="none" w="med" len="med"/>
                    </a:lnR>
                    <a:lnT w="12700" cap="flat" cmpd="sng" algn="ctr">
                      <a:solidFill>
                        <a:srgbClr val="8050CD"/>
                      </a:solidFill>
                      <a:prstDash val="solid"/>
                      <a:round/>
                      <a:headEnd type="none" w="med" len="med"/>
                      <a:tailEnd type="none" w="med" len="med"/>
                    </a:lnT>
                    <a:lnB w="12700" cap="flat" cmpd="sng" algn="ctr">
                      <a:solidFill>
                        <a:srgbClr val="8059CD"/>
                      </a:solidFill>
                      <a:prstDash val="solid"/>
                      <a:round/>
                      <a:headEnd type="none" w="med" len="med"/>
                      <a:tailEnd type="none" w="med" len="med"/>
                    </a:lnB>
                    <a:solidFill>
                      <a:srgbClr val="FFFFFF"/>
                    </a:solidFill>
                  </a:tcPr>
                </a:tc>
                <a:tc>
                  <a:txBody>
                    <a:bodyPr/>
                    <a:lstStyle/>
                    <a:p>
                      <a:r>
                        <a:rPr lang="en-US" sz="1800" dirty="0">
                          <a:effectLst/>
                          <a:latin typeface="+mn-lt"/>
                        </a:rPr>
                        <a:t>Training can be complex and slow due to long-term dependency issues. Faces vanishing/exploding gradient problems</a:t>
                      </a:r>
                    </a:p>
                  </a:txBody>
                  <a:tcPr marL="15390" marR="15390" marT="7695" marB="7695">
                    <a:lnL w="12700" cap="flat" cmpd="sng" algn="ctr">
                      <a:solidFill>
                        <a:srgbClr val="A05BCD"/>
                      </a:solidFill>
                      <a:prstDash val="solid"/>
                      <a:round/>
                      <a:headEnd type="none" w="med" len="med"/>
                      <a:tailEnd type="none" w="med" len="med"/>
                    </a:lnL>
                    <a:lnR w="12700" cap="flat" cmpd="sng" algn="ctr">
                      <a:solidFill>
                        <a:srgbClr val="A05BCD"/>
                      </a:solidFill>
                      <a:prstDash val="solid"/>
                      <a:round/>
                      <a:headEnd type="none" w="med" len="med"/>
                      <a:tailEnd type="none" w="med" len="med"/>
                    </a:lnR>
                    <a:lnT w="12700" cap="flat" cmpd="sng" algn="ctr">
                      <a:solidFill>
                        <a:srgbClr val="C055CD"/>
                      </a:solidFill>
                      <a:prstDash val="solid"/>
                      <a:round/>
                      <a:headEnd type="none" w="med" len="med"/>
                      <a:tailEnd type="none" w="med" len="med"/>
                    </a:lnT>
                    <a:lnB w="12700" cap="flat" cmpd="sng" algn="ctr">
                      <a:solidFill>
                        <a:srgbClr val="A05BCD"/>
                      </a:solidFill>
                      <a:prstDash val="solid"/>
                      <a:round/>
                      <a:headEnd type="none" w="med" len="med"/>
                      <a:tailEnd type="none" w="med" len="med"/>
                    </a:lnB>
                    <a:solidFill>
                      <a:srgbClr val="FFFFFF"/>
                    </a:solidFill>
                  </a:tcPr>
                </a:tc>
                <a:extLst>
                  <a:ext uri="{0D108BD9-81ED-4DB2-BD59-A6C34878D82A}">
                    <a16:rowId xmlns:a16="http://schemas.microsoft.com/office/drawing/2014/main" val="847830189"/>
                  </a:ext>
                </a:extLst>
              </a:tr>
            </a:tbl>
          </a:graphicData>
        </a:graphic>
      </p:graphicFrame>
    </p:spTree>
    <p:extLst>
      <p:ext uri="{BB962C8B-B14F-4D97-AF65-F5344CB8AC3E}">
        <p14:creationId xmlns:p14="http://schemas.microsoft.com/office/powerpoint/2010/main" val="136700732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1E22D-AC11-60B8-61E8-943D821B853C}"/>
              </a:ext>
            </a:extLst>
          </p:cNvPr>
          <p:cNvSpPr>
            <a:spLocks noGrp="1"/>
          </p:cNvSpPr>
          <p:nvPr>
            <p:ph type="title"/>
          </p:nvPr>
        </p:nvSpPr>
        <p:spPr/>
        <p:txBody>
          <a:bodyPr/>
          <a:lstStyle/>
          <a:p>
            <a:endParaRPr lang="en-IN" dirty="0"/>
          </a:p>
        </p:txBody>
      </p:sp>
      <p:graphicFrame>
        <p:nvGraphicFramePr>
          <p:cNvPr id="5" name="Content Placeholder 4">
            <a:extLst>
              <a:ext uri="{FF2B5EF4-FFF2-40B4-BE49-F238E27FC236}">
                <a16:creationId xmlns:a16="http://schemas.microsoft.com/office/drawing/2014/main" id="{1F205362-A375-C0E5-E100-52A886D2247D}"/>
              </a:ext>
            </a:extLst>
          </p:cNvPr>
          <p:cNvGraphicFramePr>
            <a:graphicFrameLocks noGrp="1"/>
          </p:cNvGraphicFramePr>
          <p:nvPr>
            <p:ph idx="1"/>
            <p:extLst>
              <p:ext uri="{D42A27DB-BD31-4B8C-83A1-F6EECF244321}">
                <p14:modId xmlns:p14="http://schemas.microsoft.com/office/powerpoint/2010/main" val="1553047605"/>
              </p:ext>
            </p:extLst>
          </p:nvPr>
        </p:nvGraphicFramePr>
        <p:xfrm>
          <a:off x="112184" y="127000"/>
          <a:ext cx="11967632" cy="6604000"/>
        </p:xfrm>
        <a:graphic>
          <a:graphicData uri="http://schemas.openxmlformats.org/drawingml/2006/table">
            <a:tbl>
              <a:tblPr/>
              <a:tblGrid>
                <a:gridCol w="2120603">
                  <a:extLst>
                    <a:ext uri="{9D8B030D-6E8A-4147-A177-3AD203B41FA5}">
                      <a16:colId xmlns:a16="http://schemas.microsoft.com/office/drawing/2014/main" val="1573575967"/>
                    </a:ext>
                  </a:extLst>
                </a:gridCol>
                <a:gridCol w="3159017">
                  <a:extLst>
                    <a:ext uri="{9D8B030D-6E8A-4147-A177-3AD203B41FA5}">
                      <a16:colId xmlns:a16="http://schemas.microsoft.com/office/drawing/2014/main" val="2823736852"/>
                    </a:ext>
                  </a:extLst>
                </a:gridCol>
                <a:gridCol w="3173248">
                  <a:extLst>
                    <a:ext uri="{9D8B030D-6E8A-4147-A177-3AD203B41FA5}">
                      <a16:colId xmlns:a16="http://schemas.microsoft.com/office/drawing/2014/main" val="3428180972"/>
                    </a:ext>
                  </a:extLst>
                </a:gridCol>
                <a:gridCol w="3514764">
                  <a:extLst>
                    <a:ext uri="{9D8B030D-6E8A-4147-A177-3AD203B41FA5}">
                      <a16:colId xmlns:a16="http://schemas.microsoft.com/office/drawing/2014/main" val="1110075446"/>
                    </a:ext>
                  </a:extLst>
                </a:gridCol>
              </a:tblGrid>
              <a:tr h="605551">
                <a:tc>
                  <a:txBody>
                    <a:bodyPr/>
                    <a:lstStyle/>
                    <a:p>
                      <a:pPr algn="l"/>
                      <a:r>
                        <a:rPr lang="en-IN" sz="2000" b="1" dirty="0">
                          <a:effectLst/>
                        </a:rPr>
                        <a:t>Aspect</a:t>
                      </a:r>
                    </a:p>
                  </a:txBody>
                  <a:tcPr marL="15390" marR="15390" marT="7695" marB="7695">
                    <a:lnL w="12700" cap="flat" cmpd="sng" algn="ctr">
                      <a:solidFill>
                        <a:srgbClr val="80A44E"/>
                      </a:solidFill>
                      <a:prstDash val="solid"/>
                      <a:round/>
                      <a:headEnd type="none" w="med" len="med"/>
                      <a:tailEnd type="none" w="med" len="med"/>
                    </a:lnL>
                    <a:lnR w="12700" cap="flat" cmpd="sng" algn="ctr">
                      <a:solidFill>
                        <a:srgbClr val="20A84E"/>
                      </a:solidFill>
                      <a:prstDash val="solid"/>
                      <a:round/>
                      <a:headEnd type="none" w="med" len="med"/>
                      <a:tailEnd type="none" w="med" len="med"/>
                    </a:lnR>
                    <a:lnT w="12700" cap="flat" cmpd="sng" algn="ctr">
                      <a:solidFill>
                        <a:srgbClr val="80A44E"/>
                      </a:solidFill>
                      <a:prstDash val="solid"/>
                      <a:round/>
                      <a:headEnd type="none" w="med" len="med"/>
                      <a:tailEnd type="none" w="med" len="med"/>
                    </a:lnT>
                    <a:lnB w="12700" cap="flat" cmpd="sng" algn="ctr">
                      <a:solidFill>
                        <a:srgbClr val="C0A54E"/>
                      </a:solidFill>
                      <a:prstDash val="solid"/>
                      <a:round/>
                      <a:headEnd type="none" w="med" len="med"/>
                      <a:tailEnd type="none" w="med" len="med"/>
                    </a:lnB>
                    <a:solidFill>
                      <a:srgbClr val="FFFFFF"/>
                    </a:solidFill>
                  </a:tcPr>
                </a:tc>
                <a:tc>
                  <a:txBody>
                    <a:bodyPr/>
                    <a:lstStyle/>
                    <a:p>
                      <a:pPr algn="l"/>
                      <a:r>
                        <a:rPr lang="en-IN" sz="2000" b="1" dirty="0">
                          <a:effectLst/>
                        </a:rPr>
                        <a:t>ANN</a:t>
                      </a:r>
                    </a:p>
                  </a:txBody>
                  <a:tcPr marL="15390" marR="15390" marT="7695" marB="7695">
                    <a:lnL w="12700" cap="flat" cmpd="sng" algn="ctr">
                      <a:solidFill>
                        <a:srgbClr val="20A84E"/>
                      </a:solidFill>
                      <a:prstDash val="solid"/>
                      <a:round/>
                      <a:headEnd type="none" w="med" len="med"/>
                      <a:tailEnd type="none" w="med" len="med"/>
                    </a:lnL>
                    <a:lnR w="12700" cap="flat" cmpd="sng" algn="ctr">
                      <a:solidFill>
                        <a:srgbClr val="E0A74E"/>
                      </a:solidFill>
                      <a:prstDash val="solid"/>
                      <a:round/>
                      <a:headEnd type="none" w="med" len="med"/>
                      <a:tailEnd type="none" w="med" len="med"/>
                    </a:lnR>
                    <a:lnT w="12700" cap="flat" cmpd="sng" algn="ctr">
                      <a:solidFill>
                        <a:srgbClr val="20A84E"/>
                      </a:solidFill>
                      <a:prstDash val="solid"/>
                      <a:round/>
                      <a:headEnd type="none" w="med" len="med"/>
                      <a:tailEnd type="none" w="med" len="med"/>
                    </a:lnT>
                    <a:lnB w="12700" cap="flat" cmpd="sng" algn="ctr">
                      <a:solidFill>
                        <a:srgbClr val="00A94E"/>
                      </a:solidFill>
                      <a:prstDash val="solid"/>
                      <a:round/>
                      <a:headEnd type="none" w="med" len="med"/>
                      <a:tailEnd type="none" w="med" len="med"/>
                    </a:lnB>
                    <a:solidFill>
                      <a:srgbClr val="FFFFFF"/>
                    </a:solidFill>
                  </a:tcPr>
                </a:tc>
                <a:tc>
                  <a:txBody>
                    <a:bodyPr/>
                    <a:lstStyle/>
                    <a:p>
                      <a:pPr algn="l"/>
                      <a:r>
                        <a:rPr lang="en-IN" sz="2000" b="1" dirty="0">
                          <a:effectLst/>
                        </a:rPr>
                        <a:t>CNN</a:t>
                      </a:r>
                    </a:p>
                  </a:txBody>
                  <a:tcPr marL="15390" marR="15390" marT="7695" marB="7695">
                    <a:lnL w="12700" cap="flat" cmpd="sng" algn="ctr">
                      <a:solidFill>
                        <a:srgbClr val="E0A74E"/>
                      </a:solidFill>
                      <a:prstDash val="solid"/>
                      <a:round/>
                      <a:headEnd type="none" w="med" len="med"/>
                      <a:tailEnd type="none" w="med" len="med"/>
                    </a:lnL>
                    <a:lnR w="12700" cap="flat" cmpd="sng" algn="ctr">
                      <a:solidFill>
                        <a:srgbClr val="00A64E"/>
                      </a:solidFill>
                      <a:prstDash val="solid"/>
                      <a:round/>
                      <a:headEnd type="none" w="med" len="med"/>
                      <a:tailEnd type="none" w="med" len="med"/>
                    </a:lnR>
                    <a:lnT w="12700" cap="flat" cmpd="sng" algn="ctr">
                      <a:solidFill>
                        <a:srgbClr val="E0A74E"/>
                      </a:solidFill>
                      <a:prstDash val="solid"/>
                      <a:round/>
                      <a:headEnd type="none" w="med" len="med"/>
                      <a:tailEnd type="none" w="med" len="med"/>
                    </a:lnT>
                    <a:lnB w="12700" cap="flat" cmpd="sng" algn="ctr">
                      <a:solidFill>
                        <a:srgbClr val="60A74E"/>
                      </a:solidFill>
                      <a:prstDash val="solid"/>
                      <a:round/>
                      <a:headEnd type="none" w="med" len="med"/>
                      <a:tailEnd type="none" w="med" len="med"/>
                    </a:lnB>
                    <a:solidFill>
                      <a:srgbClr val="FFFFFF"/>
                    </a:solidFill>
                  </a:tcPr>
                </a:tc>
                <a:tc>
                  <a:txBody>
                    <a:bodyPr/>
                    <a:lstStyle/>
                    <a:p>
                      <a:pPr algn="l"/>
                      <a:r>
                        <a:rPr lang="en-IN" sz="2000" b="1" dirty="0">
                          <a:effectLst/>
                        </a:rPr>
                        <a:t>RNN</a:t>
                      </a:r>
                    </a:p>
                  </a:txBody>
                  <a:tcPr marL="15390" marR="15390" marT="7695" marB="7695">
                    <a:lnL w="12700" cap="flat" cmpd="sng" algn="ctr">
                      <a:solidFill>
                        <a:srgbClr val="00A64E"/>
                      </a:solidFill>
                      <a:prstDash val="solid"/>
                      <a:round/>
                      <a:headEnd type="none" w="med" len="med"/>
                      <a:tailEnd type="none" w="med" len="med"/>
                    </a:lnL>
                    <a:lnR w="12700" cap="flat" cmpd="sng" algn="ctr">
                      <a:solidFill>
                        <a:srgbClr val="00A64E"/>
                      </a:solidFill>
                      <a:prstDash val="solid"/>
                      <a:round/>
                      <a:headEnd type="none" w="med" len="med"/>
                      <a:tailEnd type="none" w="med" len="med"/>
                    </a:lnR>
                    <a:lnT w="12700" cap="flat" cmpd="sng" algn="ctr">
                      <a:solidFill>
                        <a:srgbClr val="00A64E"/>
                      </a:solidFill>
                      <a:prstDash val="solid"/>
                      <a:round/>
                      <a:headEnd type="none" w="med" len="med"/>
                      <a:tailEnd type="none" w="med" len="med"/>
                    </a:lnT>
                    <a:lnB w="12700" cap="flat" cmpd="sng" algn="ctr">
                      <a:solidFill>
                        <a:srgbClr val="20A74E"/>
                      </a:solidFill>
                      <a:prstDash val="solid"/>
                      <a:round/>
                      <a:headEnd type="none" w="med" len="med"/>
                      <a:tailEnd type="none" w="med" len="med"/>
                    </a:lnB>
                    <a:solidFill>
                      <a:srgbClr val="FFFFFF"/>
                    </a:solidFill>
                  </a:tcPr>
                </a:tc>
                <a:extLst>
                  <a:ext uri="{0D108BD9-81ED-4DB2-BD59-A6C34878D82A}">
                    <a16:rowId xmlns:a16="http://schemas.microsoft.com/office/drawing/2014/main" val="714970948"/>
                  </a:ext>
                </a:extLst>
              </a:tr>
              <a:tr h="1577709">
                <a:tc>
                  <a:txBody>
                    <a:bodyPr/>
                    <a:lstStyle/>
                    <a:p>
                      <a:r>
                        <a:rPr lang="en-IN" sz="2000" b="1" dirty="0">
                          <a:effectLst/>
                        </a:rPr>
                        <a:t>Common Applications</a:t>
                      </a:r>
                    </a:p>
                  </a:txBody>
                  <a:tcPr marL="15390" marR="15390" marT="7695" marB="7695">
                    <a:lnL w="12700" cap="flat" cmpd="sng" algn="ctr">
                      <a:solidFill>
                        <a:srgbClr val="E0AF4E"/>
                      </a:solidFill>
                      <a:prstDash val="solid"/>
                      <a:round/>
                      <a:headEnd type="none" w="med" len="med"/>
                      <a:tailEnd type="none" w="med" len="med"/>
                    </a:lnL>
                    <a:lnR w="12700" cap="flat" cmpd="sng" algn="ctr">
                      <a:solidFill>
                        <a:srgbClr val="A0AB4E"/>
                      </a:solidFill>
                      <a:prstDash val="solid"/>
                      <a:round/>
                      <a:headEnd type="none" w="med" len="med"/>
                      <a:tailEnd type="none" w="med" len="med"/>
                    </a:lnR>
                    <a:lnT w="12700" cap="flat" cmpd="sng" algn="ctr">
                      <a:solidFill>
                        <a:srgbClr val="C0A54E"/>
                      </a:solidFill>
                      <a:prstDash val="solid"/>
                      <a:round/>
                      <a:headEnd type="none" w="med" len="med"/>
                      <a:tailEnd type="none" w="med" len="med"/>
                    </a:lnT>
                    <a:lnB w="12700" cap="flat" cmpd="sng" algn="ctr">
                      <a:solidFill>
                        <a:srgbClr val="E0AB4E"/>
                      </a:solidFill>
                      <a:prstDash val="solid"/>
                      <a:round/>
                      <a:headEnd type="none" w="med" len="med"/>
                      <a:tailEnd type="none" w="med" len="med"/>
                    </a:lnB>
                    <a:solidFill>
                      <a:srgbClr val="FFFFFF"/>
                    </a:solidFill>
                  </a:tcPr>
                </a:tc>
                <a:tc>
                  <a:txBody>
                    <a:bodyPr/>
                    <a:lstStyle/>
                    <a:p>
                      <a:r>
                        <a:rPr lang="en-US" sz="2000">
                          <a:effectLst/>
                        </a:rPr>
                        <a:t>Image classification, speech recognition, recommendation systems, financial forecasting.</a:t>
                      </a:r>
                    </a:p>
                  </a:txBody>
                  <a:tcPr marL="15390" marR="15390" marT="7695" marB="7695">
                    <a:lnL w="12700" cap="flat" cmpd="sng" algn="ctr">
                      <a:solidFill>
                        <a:srgbClr val="A0AB4E"/>
                      </a:solidFill>
                      <a:prstDash val="solid"/>
                      <a:round/>
                      <a:headEnd type="none" w="med" len="med"/>
                      <a:tailEnd type="none" w="med" len="med"/>
                    </a:lnL>
                    <a:lnR w="12700" cap="flat" cmpd="sng" algn="ctr">
                      <a:solidFill>
                        <a:srgbClr val="20B04E"/>
                      </a:solidFill>
                      <a:prstDash val="solid"/>
                      <a:round/>
                      <a:headEnd type="none" w="med" len="med"/>
                      <a:tailEnd type="none" w="med" len="med"/>
                    </a:lnR>
                    <a:lnT w="12700" cap="flat" cmpd="sng" algn="ctr">
                      <a:solidFill>
                        <a:srgbClr val="00A94E"/>
                      </a:solidFill>
                      <a:prstDash val="solid"/>
                      <a:round/>
                      <a:headEnd type="none" w="med" len="med"/>
                      <a:tailEnd type="none" w="med" len="med"/>
                    </a:lnT>
                    <a:lnB w="12700" cap="flat" cmpd="sng" algn="ctr">
                      <a:solidFill>
                        <a:srgbClr val="A0AB4E"/>
                      </a:solidFill>
                      <a:prstDash val="solid"/>
                      <a:round/>
                      <a:headEnd type="none" w="med" len="med"/>
                      <a:tailEnd type="none" w="med" len="med"/>
                    </a:lnB>
                    <a:solidFill>
                      <a:srgbClr val="FFFFFF"/>
                    </a:solidFill>
                  </a:tcPr>
                </a:tc>
                <a:tc>
                  <a:txBody>
                    <a:bodyPr/>
                    <a:lstStyle/>
                    <a:p>
                      <a:r>
                        <a:rPr lang="en-US" sz="2000">
                          <a:effectLst/>
                        </a:rPr>
                        <a:t>Image and video recognition, medical image analysis, autonomous driving systems, object detection.</a:t>
                      </a:r>
                    </a:p>
                  </a:txBody>
                  <a:tcPr marL="15390" marR="15390" marT="7695" marB="7695">
                    <a:lnL w="12700" cap="flat" cmpd="sng" algn="ctr">
                      <a:solidFill>
                        <a:srgbClr val="20B04E"/>
                      </a:solidFill>
                      <a:prstDash val="solid"/>
                      <a:round/>
                      <a:headEnd type="none" w="med" len="med"/>
                      <a:tailEnd type="none" w="med" len="med"/>
                    </a:lnL>
                    <a:lnR w="12700" cap="flat" cmpd="sng" algn="ctr">
                      <a:solidFill>
                        <a:srgbClr val="A0AD4E"/>
                      </a:solidFill>
                      <a:prstDash val="solid"/>
                      <a:round/>
                      <a:headEnd type="none" w="med" len="med"/>
                      <a:tailEnd type="none" w="med" len="med"/>
                    </a:lnR>
                    <a:lnT w="12700" cap="flat" cmpd="sng" algn="ctr">
                      <a:solidFill>
                        <a:srgbClr val="60A74E"/>
                      </a:solidFill>
                      <a:prstDash val="solid"/>
                      <a:round/>
                      <a:headEnd type="none" w="med" len="med"/>
                      <a:tailEnd type="none" w="med" len="med"/>
                    </a:lnT>
                    <a:lnB w="12700" cap="flat" cmpd="sng" algn="ctr">
                      <a:solidFill>
                        <a:srgbClr val="60AB4E"/>
                      </a:solidFill>
                      <a:prstDash val="solid"/>
                      <a:round/>
                      <a:headEnd type="none" w="med" len="med"/>
                      <a:tailEnd type="none" w="med" len="med"/>
                    </a:lnB>
                    <a:solidFill>
                      <a:srgbClr val="FFFFFF"/>
                    </a:solidFill>
                  </a:tcPr>
                </a:tc>
                <a:tc>
                  <a:txBody>
                    <a:bodyPr/>
                    <a:lstStyle/>
                    <a:p>
                      <a:r>
                        <a:rPr lang="en-US" sz="2000" dirty="0">
                          <a:effectLst/>
                        </a:rPr>
                        <a:t>Time series prediction, natural language processing, speech recognition, machine translation, sentiment analysis.</a:t>
                      </a:r>
                    </a:p>
                  </a:txBody>
                  <a:tcPr marL="15390" marR="15390" marT="7695" marB="7695">
                    <a:lnL w="12700" cap="flat" cmpd="sng" algn="ctr">
                      <a:solidFill>
                        <a:srgbClr val="A0AD4E"/>
                      </a:solidFill>
                      <a:prstDash val="solid"/>
                      <a:round/>
                      <a:headEnd type="none" w="med" len="med"/>
                      <a:tailEnd type="none" w="med" len="med"/>
                    </a:lnL>
                    <a:lnR w="12700" cap="flat" cmpd="sng" algn="ctr">
                      <a:solidFill>
                        <a:srgbClr val="A0AD4E"/>
                      </a:solidFill>
                      <a:prstDash val="solid"/>
                      <a:round/>
                      <a:headEnd type="none" w="med" len="med"/>
                      <a:tailEnd type="none" w="med" len="med"/>
                    </a:lnR>
                    <a:lnT w="12700" cap="flat" cmpd="sng" algn="ctr">
                      <a:solidFill>
                        <a:srgbClr val="20A74E"/>
                      </a:solidFill>
                      <a:prstDash val="solid"/>
                      <a:round/>
                      <a:headEnd type="none" w="med" len="med"/>
                      <a:tailEnd type="none" w="med" len="med"/>
                    </a:lnT>
                    <a:lnB w="12700" cap="flat" cmpd="sng" algn="ctr">
                      <a:solidFill>
                        <a:srgbClr val="20AA4E"/>
                      </a:solidFill>
                      <a:prstDash val="solid"/>
                      <a:round/>
                      <a:headEnd type="none" w="med" len="med"/>
                      <a:tailEnd type="none" w="med" len="med"/>
                    </a:lnB>
                    <a:solidFill>
                      <a:srgbClr val="FFFFFF"/>
                    </a:solidFill>
                  </a:tcPr>
                </a:tc>
                <a:extLst>
                  <a:ext uri="{0D108BD9-81ED-4DB2-BD59-A6C34878D82A}">
                    <a16:rowId xmlns:a16="http://schemas.microsoft.com/office/drawing/2014/main" val="301074130"/>
                  </a:ext>
                </a:extLst>
              </a:tr>
              <a:tr h="1577709">
                <a:tc>
                  <a:txBody>
                    <a:bodyPr/>
                    <a:lstStyle/>
                    <a:p>
                      <a:r>
                        <a:rPr lang="en-IN" sz="2000" b="1" dirty="0">
                          <a:effectLst/>
                        </a:rPr>
                        <a:t>Key Differences in Architecture</a:t>
                      </a:r>
                    </a:p>
                  </a:txBody>
                  <a:tcPr marL="15390" marR="15390" marT="7695" marB="7695">
                    <a:lnL w="12700" cap="flat" cmpd="sng" algn="ctr">
                      <a:solidFill>
                        <a:srgbClr val="E0AB4E"/>
                      </a:solidFill>
                      <a:prstDash val="solid"/>
                      <a:round/>
                      <a:headEnd type="none" w="med" len="med"/>
                      <a:tailEnd type="none" w="med" len="med"/>
                    </a:lnL>
                    <a:lnR w="12700" cap="flat" cmpd="sng" algn="ctr">
                      <a:solidFill>
                        <a:srgbClr val="A0AB4E"/>
                      </a:solidFill>
                      <a:prstDash val="solid"/>
                      <a:round/>
                      <a:headEnd type="none" w="med" len="med"/>
                      <a:tailEnd type="none" w="med" len="med"/>
                    </a:lnR>
                    <a:lnT w="12700" cap="flat" cmpd="sng" algn="ctr">
                      <a:solidFill>
                        <a:srgbClr val="E0AB4E"/>
                      </a:solidFill>
                      <a:prstDash val="solid"/>
                      <a:round/>
                      <a:headEnd type="none" w="med" len="med"/>
                      <a:tailEnd type="none" w="med" len="med"/>
                    </a:lnT>
                    <a:lnB w="12700" cap="flat" cmpd="sng" algn="ctr">
                      <a:solidFill>
                        <a:srgbClr val="A0AA4E"/>
                      </a:solidFill>
                      <a:prstDash val="solid"/>
                      <a:round/>
                      <a:headEnd type="none" w="med" len="med"/>
                      <a:tailEnd type="none" w="med" len="med"/>
                    </a:lnB>
                    <a:solidFill>
                      <a:srgbClr val="FFFFFF"/>
                    </a:solidFill>
                  </a:tcPr>
                </a:tc>
                <a:tc>
                  <a:txBody>
                    <a:bodyPr/>
                    <a:lstStyle/>
                    <a:p>
                      <a:r>
                        <a:rPr lang="en-US" sz="2000">
                          <a:effectLst/>
                        </a:rPr>
                        <a:t>Consist of feedforward layers (input, hidden, output)</a:t>
                      </a:r>
                    </a:p>
                  </a:txBody>
                  <a:tcPr marL="15390" marR="15390" marT="7695" marB="7695">
                    <a:lnL w="12700" cap="flat" cmpd="sng" algn="ctr">
                      <a:solidFill>
                        <a:srgbClr val="A0AB4E"/>
                      </a:solidFill>
                      <a:prstDash val="solid"/>
                      <a:round/>
                      <a:headEnd type="none" w="med" len="med"/>
                      <a:tailEnd type="none" w="med" len="med"/>
                    </a:lnL>
                    <a:lnR w="12700" cap="flat" cmpd="sng" algn="ctr">
                      <a:solidFill>
                        <a:srgbClr val="60AB4E"/>
                      </a:solidFill>
                      <a:prstDash val="solid"/>
                      <a:round/>
                      <a:headEnd type="none" w="med" len="med"/>
                      <a:tailEnd type="none" w="med" len="med"/>
                    </a:lnR>
                    <a:lnT w="12700" cap="flat" cmpd="sng" algn="ctr">
                      <a:solidFill>
                        <a:srgbClr val="A0AB4E"/>
                      </a:solidFill>
                      <a:prstDash val="solid"/>
                      <a:round/>
                      <a:headEnd type="none" w="med" len="med"/>
                      <a:tailEnd type="none" w="med" len="med"/>
                    </a:lnT>
                    <a:lnB w="12700" cap="flat" cmpd="sng" algn="ctr">
                      <a:solidFill>
                        <a:srgbClr val="80B14E"/>
                      </a:solidFill>
                      <a:prstDash val="solid"/>
                      <a:round/>
                      <a:headEnd type="none" w="med" len="med"/>
                      <a:tailEnd type="none" w="med" len="med"/>
                    </a:lnB>
                    <a:solidFill>
                      <a:srgbClr val="FFFFFF"/>
                    </a:solidFill>
                  </a:tcPr>
                </a:tc>
                <a:tc>
                  <a:txBody>
                    <a:bodyPr/>
                    <a:lstStyle/>
                    <a:p>
                      <a:r>
                        <a:rPr lang="en-US" sz="2000">
                          <a:effectLst/>
                        </a:rPr>
                        <a:t>Composed of convolutional layers, pooling layers, and fully connected layers</a:t>
                      </a:r>
                    </a:p>
                  </a:txBody>
                  <a:tcPr marL="15390" marR="15390" marT="7695" marB="7695">
                    <a:lnL w="12700" cap="flat" cmpd="sng" algn="ctr">
                      <a:solidFill>
                        <a:srgbClr val="60AB4E"/>
                      </a:solidFill>
                      <a:prstDash val="solid"/>
                      <a:round/>
                      <a:headEnd type="none" w="med" len="med"/>
                      <a:tailEnd type="none" w="med" len="med"/>
                    </a:lnL>
                    <a:lnR w="12700" cap="flat" cmpd="sng" algn="ctr">
                      <a:solidFill>
                        <a:srgbClr val="20AA4E"/>
                      </a:solidFill>
                      <a:prstDash val="solid"/>
                      <a:round/>
                      <a:headEnd type="none" w="med" len="med"/>
                      <a:tailEnd type="none" w="med" len="med"/>
                    </a:lnR>
                    <a:lnT w="12700" cap="flat" cmpd="sng" algn="ctr">
                      <a:solidFill>
                        <a:srgbClr val="60AB4E"/>
                      </a:solidFill>
                      <a:prstDash val="solid"/>
                      <a:round/>
                      <a:headEnd type="none" w="med" len="med"/>
                      <a:tailEnd type="none" w="med" len="med"/>
                    </a:lnT>
                    <a:lnB w="12700" cap="flat" cmpd="sng" algn="ctr">
                      <a:solidFill>
                        <a:srgbClr val="A0A94E"/>
                      </a:solidFill>
                      <a:prstDash val="solid"/>
                      <a:round/>
                      <a:headEnd type="none" w="med" len="med"/>
                      <a:tailEnd type="none" w="med" len="med"/>
                    </a:lnB>
                    <a:solidFill>
                      <a:srgbClr val="FFFFFF"/>
                    </a:solidFill>
                  </a:tcPr>
                </a:tc>
                <a:tc>
                  <a:txBody>
                    <a:bodyPr/>
                    <a:lstStyle/>
                    <a:p>
                      <a:r>
                        <a:rPr lang="en-US" sz="2000" dirty="0">
                          <a:effectLst/>
                        </a:rPr>
                        <a:t>Contains loops for feedback, allowing information to be passed from one step to the next, maintaining temporal dependencies</a:t>
                      </a:r>
                    </a:p>
                  </a:txBody>
                  <a:tcPr marL="15390" marR="15390" marT="7695" marB="7695">
                    <a:lnL w="12700" cap="flat" cmpd="sng" algn="ctr">
                      <a:solidFill>
                        <a:srgbClr val="20AA4E"/>
                      </a:solidFill>
                      <a:prstDash val="solid"/>
                      <a:round/>
                      <a:headEnd type="none" w="med" len="med"/>
                      <a:tailEnd type="none" w="med" len="med"/>
                    </a:lnL>
                    <a:lnR w="12700" cap="flat" cmpd="sng" algn="ctr">
                      <a:solidFill>
                        <a:srgbClr val="20AA4E"/>
                      </a:solidFill>
                      <a:prstDash val="solid"/>
                      <a:round/>
                      <a:headEnd type="none" w="med" len="med"/>
                      <a:tailEnd type="none" w="med" len="med"/>
                    </a:lnR>
                    <a:lnT w="12700" cap="flat" cmpd="sng" algn="ctr">
                      <a:solidFill>
                        <a:srgbClr val="20AA4E"/>
                      </a:solidFill>
                      <a:prstDash val="solid"/>
                      <a:round/>
                      <a:headEnd type="none" w="med" len="med"/>
                      <a:tailEnd type="none" w="med" len="med"/>
                    </a:lnT>
                    <a:lnB w="12700" cap="flat" cmpd="sng" algn="ctr">
                      <a:solidFill>
                        <a:srgbClr val="60AC4E"/>
                      </a:solidFill>
                      <a:prstDash val="solid"/>
                      <a:round/>
                      <a:headEnd type="none" w="med" len="med"/>
                      <a:tailEnd type="none" w="med" len="med"/>
                    </a:lnB>
                    <a:solidFill>
                      <a:srgbClr val="FFFFFF"/>
                    </a:solidFill>
                  </a:tcPr>
                </a:tc>
                <a:extLst>
                  <a:ext uri="{0D108BD9-81ED-4DB2-BD59-A6C34878D82A}">
                    <a16:rowId xmlns:a16="http://schemas.microsoft.com/office/drawing/2014/main" val="1522580423"/>
                  </a:ext>
                </a:extLst>
              </a:tr>
              <a:tr h="1265322">
                <a:tc>
                  <a:txBody>
                    <a:bodyPr/>
                    <a:lstStyle/>
                    <a:p>
                      <a:r>
                        <a:rPr lang="en-IN" sz="2000" b="1" dirty="0">
                          <a:effectLst/>
                        </a:rPr>
                        <a:t>Data Types and Input Handling</a:t>
                      </a:r>
                    </a:p>
                  </a:txBody>
                  <a:tcPr marL="15390" marR="15390" marT="7695" marB="7695">
                    <a:lnL w="12700" cap="flat" cmpd="sng" algn="ctr">
                      <a:solidFill>
                        <a:srgbClr val="A0AA4E"/>
                      </a:solidFill>
                      <a:prstDash val="solid"/>
                      <a:round/>
                      <a:headEnd type="none" w="med" len="med"/>
                      <a:tailEnd type="none" w="med" len="med"/>
                    </a:lnL>
                    <a:lnR w="12700" cap="flat" cmpd="sng" algn="ctr">
                      <a:solidFill>
                        <a:srgbClr val="80B14E"/>
                      </a:solidFill>
                      <a:prstDash val="solid"/>
                      <a:round/>
                      <a:headEnd type="none" w="med" len="med"/>
                      <a:tailEnd type="none" w="med" len="med"/>
                    </a:lnR>
                    <a:lnT w="12700" cap="flat" cmpd="sng" algn="ctr">
                      <a:solidFill>
                        <a:srgbClr val="A0AA4E"/>
                      </a:solidFill>
                      <a:prstDash val="solid"/>
                      <a:round/>
                      <a:headEnd type="none" w="med" len="med"/>
                      <a:tailEnd type="none" w="med" len="med"/>
                    </a:lnT>
                    <a:lnB w="12700" cap="flat" cmpd="sng" algn="ctr">
                      <a:solidFill>
                        <a:srgbClr val="E0AC4E"/>
                      </a:solidFill>
                      <a:prstDash val="solid"/>
                      <a:round/>
                      <a:headEnd type="none" w="med" len="med"/>
                      <a:tailEnd type="none" w="med" len="med"/>
                    </a:lnB>
                    <a:solidFill>
                      <a:srgbClr val="FFFFFF"/>
                    </a:solidFill>
                  </a:tcPr>
                </a:tc>
                <a:tc>
                  <a:txBody>
                    <a:bodyPr/>
                    <a:lstStyle/>
                    <a:p>
                      <a:r>
                        <a:rPr lang="en-US" sz="2000">
                          <a:effectLst/>
                        </a:rPr>
                        <a:t>Handles tabular data, text, and numerical data. Uses flattened input vectors</a:t>
                      </a:r>
                    </a:p>
                  </a:txBody>
                  <a:tcPr marL="15390" marR="15390" marT="7695" marB="7695">
                    <a:lnL w="12700" cap="flat" cmpd="sng" algn="ctr">
                      <a:solidFill>
                        <a:srgbClr val="80B14E"/>
                      </a:solidFill>
                      <a:prstDash val="solid"/>
                      <a:round/>
                      <a:headEnd type="none" w="med" len="med"/>
                      <a:tailEnd type="none" w="med" len="med"/>
                    </a:lnL>
                    <a:lnR w="12700" cap="flat" cmpd="sng" algn="ctr">
                      <a:solidFill>
                        <a:srgbClr val="A0A94E"/>
                      </a:solidFill>
                      <a:prstDash val="solid"/>
                      <a:round/>
                      <a:headEnd type="none" w="med" len="med"/>
                      <a:tailEnd type="none" w="med" len="med"/>
                    </a:lnR>
                    <a:lnT w="12700" cap="flat" cmpd="sng" algn="ctr">
                      <a:solidFill>
                        <a:srgbClr val="80B14E"/>
                      </a:solidFill>
                      <a:prstDash val="solid"/>
                      <a:round/>
                      <a:headEnd type="none" w="med" len="med"/>
                      <a:tailEnd type="none" w="med" len="med"/>
                    </a:lnT>
                    <a:lnB w="12700" cap="flat" cmpd="sng" algn="ctr">
                      <a:solidFill>
                        <a:srgbClr val="A0AC4E"/>
                      </a:solidFill>
                      <a:prstDash val="solid"/>
                      <a:round/>
                      <a:headEnd type="none" w="med" len="med"/>
                      <a:tailEnd type="none" w="med" len="med"/>
                    </a:lnB>
                    <a:solidFill>
                      <a:srgbClr val="FFFFFF"/>
                    </a:solidFill>
                  </a:tcPr>
                </a:tc>
                <a:tc>
                  <a:txBody>
                    <a:bodyPr/>
                    <a:lstStyle/>
                    <a:p>
                      <a:r>
                        <a:rPr lang="en-US" sz="2000">
                          <a:effectLst/>
                        </a:rPr>
                        <a:t>Primarily processes image and video data. Handles 2D grid-like structures</a:t>
                      </a:r>
                    </a:p>
                  </a:txBody>
                  <a:tcPr marL="15390" marR="15390" marT="7695" marB="7695">
                    <a:lnL w="12700" cap="flat" cmpd="sng" algn="ctr">
                      <a:solidFill>
                        <a:srgbClr val="A0A94E"/>
                      </a:solidFill>
                      <a:prstDash val="solid"/>
                      <a:round/>
                      <a:headEnd type="none" w="med" len="med"/>
                      <a:tailEnd type="none" w="med" len="med"/>
                    </a:lnL>
                    <a:lnR w="12700" cap="flat" cmpd="sng" algn="ctr">
                      <a:solidFill>
                        <a:srgbClr val="60AC4E"/>
                      </a:solidFill>
                      <a:prstDash val="solid"/>
                      <a:round/>
                      <a:headEnd type="none" w="med" len="med"/>
                      <a:tailEnd type="none" w="med" len="med"/>
                    </a:lnR>
                    <a:lnT w="12700" cap="flat" cmpd="sng" algn="ctr">
                      <a:solidFill>
                        <a:srgbClr val="A0A94E"/>
                      </a:solidFill>
                      <a:prstDash val="solid"/>
                      <a:round/>
                      <a:headEnd type="none" w="med" len="med"/>
                      <a:tailEnd type="none" w="med" len="med"/>
                    </a:lnT>
                    <a:lnB w="12700" cap="flat" cmpd="sng" algn="ctr">
                      <a:solidFill>
                        <a:srgbClr val="40AF4E"/>
                      </a:solidFill>
                      <a:prstDash val="solid"/>
                      <a:round/>
                      <a:headEnd type="none" w="med" len="med"/>
                      <a:tailEnd type="none" w="med" len="med"/>
                    </a:lnB>
                    <a:solidFill>
                      <a:srgbClr val="FFFFFF"/>
                    </a:solidFill>
                  </a:tcPr>
                </a:tc>
                <a:tc>
                  <a:txBody>
                    <a:bodyPr/>
                    <a:lstStyle/>
                    <a:p>
                      <a:r>
                        <a:rPr lang="en-US" sz="2000" dirty="0">
                          <a:effectLst/>
                        </a:rPr>
                        <a:t>Specializes in sequential data like time series, text, and speech. Handles variable-length sequences</a:t>
                      </a:r>
                    </a:p>
                  </a:txBody>
                  <a:tcPr marL="15390" marR="15390" marT="7695" marB="7695">
                    <a:lnL w="12700" cap="flat" cmpd="sng" algn="ctr">
                      <a:solidFill>
                        <a:srgbClr val="60AC4E"/>
                      </a:solidFill>
                      <a:prstDash val="solid"/>
                      <a:round/>
                      <a:headEnd type="none" w="med" len="med"/>
                      <a:tailEnd type="none" w="med" len="med"/>
                    </a:lnL>
                    <a:lnR w="12700" cap="flat" cmpd="sng" algn="ctr">
                      <a:solidFill>
                        <a:srgbClr val="60AC4E"/>
                      </a:solidFill>
                      <a:prstDash val="solid"/>
                      <a:round/>
                      <a:headEnd type="none" w="med" len="med"/>
                      <a:tailEnd type="none" w="med" len="med"/>
                    </a:lnR>
                    <a:lnT w="12700" cap="flat" cmpd="sng" algn="ctr">
                      <a:solidFill>
                        <a:srgbClr val="60AC4E"/>
                      </a:solidFill>
                      <a:prstDash val="solid"/>
                      <a:round/>
                      <a:headEnd type="none" w="med" len="med"/>
                      <a:tailEnd type="none" w="med" len="med"/>
                    </a:lnT>
                    <a:lnB w="12700" cap="flat" cmpd="sng" algn="ctr">
                      <a:solidFill>
                        <a:srgbClr val="60AE4E"/>
                      </a:solidFill>
                      <a:prstDash val="solid"/>
                      <a:round/>
                      <a:headEnd type="none" w="med" len="med"/>
                      <a:tailEnd type="none" w="med" len="med"/>
                    </a:lnB>
                    <a:solidFill>
                      <a:srgbClr val="FFFFFF"/>
                    </a:solidFill>
                  </a:tcPr>
                </a:tc>
                <a:extLst>
                  <a:ext uri="{0D108BD9-81ED-4DB2-BD59-A6C34878D82A}">
                    <a16:rowId xmlns:a16="http://schemas.microsoft.com/office/drawing/2014/main" val="140129022"/>
                  </a:ext>
                </a:extLst>
              </a:tr>
              <a:tr h="1577709">
                <a:tc>
                  <a:txBody>
                    <a:bodyPr/>
                    <a:lstStyle/>
                    <a:p>
                      <a:r>
                        <a:rPr lang="en-IN" sz="2000" b="1" dirty="0">
                          <a:effectLst/>
                        </a:rPr>
                        <a:t>Training and Performance</a:t>
                      </a:r>
                    </a:p>
                  </a:txBody>
                  <a:tcPr marL="15390" marR="15390" marT="7695" marB="7695">
                    <a:lnL w="12700" cap="flat" cmpd="sng" algn="ctr">
                      <a:solidFill>
                        <a:srgbClr val="E0AC4E"/>
                      </a:solidFill>
                      <a:prstDash val="solid"/>
                      <a:round/>
                      <a:headEnd type="none" w="med" len="med"/>
                      <a:tailEnd type="none" w="med" len="med"/>
                    </a:lnL>
                    <a:lnR w="12700" cap="flat" cmpd="sng" algn="ctr">
                      <a:solidFill>
                        <a:srgbClr val="A0AC4E"/>
                      </a:solidFill>
                      <a:prstDash val="solid"/>
                      <a:round/>
                      <a:headEnd type="none" w="med" len="med"/>
                      <a:tailEnd type="none" w="med" len="med"/>
                    </a:lnR>
                    <a:lnT w="12700" cap="flat" cmpd="sng" algn="ctr">
                      <a:solidFill>
                        <a:srgbClr val="E0AC4E"/>
                      </a:solidFill>
                      <a:prstDash val="solid"/>
                      <a:round/>
                      <a:headEnd type="none" w="med" len="med"/>
                      <a:tailEnd type="none" w="med" len="med"/>
                    </a:lnT>
                    <a:lnB w="12700" cap="flat" cmpd="sng" algn="ctr">
                      <a:solidFill>
                        <a:srgbClr val="E0AC4E"/>
                      </a:solidFill>
                      <a:prstDash val="solid"/>
                      <a:round/>
                      <a:headEnd type="none" w="med" len="med"/>
                      <a:tailEnd type="none" w="med" len="med"/>
                    </a:lnB>
                    <a:solidFill>
                      <a:srgbClr val="FFFFFF"/>
                    </a:solidFill>
                  </a:tcPr>
                </a:tc>
                <a:tc>
                  <a:txBody>
                    <a:bodyPr/>
                    <a:lstStyle/>
                    <a:p>
                      <a:r>
                        <a:rPr lang="en-US" sz="2000">
                          <a:effectLst/>
                        </a:rPr>
                        <a:t>Requires large datasets, training can be slow. Performance varies based on complexity and size of the network</a:t>
                      </a:r>
                    </a:p>
                  </a:txBody>
                  <a:tcPr marL="15390" marR="15390" marT="7695" marB="7695">
                    <a:lnL w="12700" cap="flat" cmpd="sng" algn="ctr">
                      <a:solidFill>
                        <a:srgbClr val="A0AC4E"/>
                      </a:solidFill>
                      <a:prstDash val="solid"/>
                      <a:round/>
                      <a:headEnd type="none" w="med" len="med"/>
                      <a:tailEnd type="none" w="med" len="med"/>
                    </a:lnL>
                    <a:lnR w="12700" cap="flat" cmpd="sng" algn="ctr">
                      <a:solidFill>
                        <a:srgbClr val="40AF4E"/>
                      </a:solidFill>
                      <a:prstDash val="solid"/>
                      <a:round/>
                      <a:headEnd type="none" w="med" len="med"/>
                      <a:tailEnd type="none" w="med" len="med"/>
                    </a:lnR>
                    <a:lnT w="12700" cap="flat" cmpd="sng" algn="ctr">
                      <a:solidFill>
                        <a:srgbClr val="A0AC4E"/>
                      </a:solidFill>
                      <a:prstDash val="solid"/>
                      <a:round/>
                      <a:headEnd type="none" w="med" len="med"/>
                      <a:tailEnd type="none" w="med" len="med"/>
                    </a:lnT>
                    <a:lnB w="12700" cap="flat" cmpd="sng" algn="ctr">
                      <a:solidFill>
                        <a:srgbClr val="A0AC4E"/>
                      </a:solidFill>
                      <a:prstDash val="solid"/>
                      <a:round/>
                      <a:headEnd type="none" w="med" len="med"/>
                      <a:tailEnd type="none" w="med" len="med"/>
                    </a:lnB>
                    <a:solidFill>
                      <a:srgbClr val="FFFFFF"/>
                    </a:solidFill>
                  </a:tcPr>
                </a:tc>
                <a:tc>
                  <a:txBody>
                    <a:bodyPr/>
                    <a:lstStyle/>
                    <a:p>
                      <a:r>
                        <a:rPr lang="en-US" sz="2000">
                          <a:effectLst/>
                        </a:rPr>
                        <a:t>Training is computationally intensive, requires significant GPU resources. Excels in feature extraction from spatial data</a:t>
                      </a:r>
                    </a:p>
                  </a:txBody>
                  <a:tcPr marL="15390" marR="15390" marT="7695" marB="7695">
                    <a:lnL w="12700" cap="flat" cmpd="sng" algn="ctr">
                      <a:solidFill>
                        <a:srgbClr val="40AF4E"/>
                      </a:solidFill>
                      <a:prstDash val="solid"/>
                      <a:round/>
                      <a:headEnd type="none" w="med" len="med"/>
                      <a:tailEnd type="none" w="med" len="med"/>
                    </a:lnL>
                    <a:lnR w="12700" cap="flat" cmpd="sng" algn="ctr">
                      <a:solidFill>
                        <a:srgbClr val="60AE4E"/>
                      </a:solidFill>
                      <a:prstDash val="solid"/>
                      <a:round/>
                      <a:headEnd type="none" w="med" len="med"/>
                      <a:tailEnd type="none" w="med" len="med"/>
                    </a:lnR>
                    <a:lnT w="12700" cap="flat" cmpd="sng" algn="ctr">
                      <a:solidFill>
                        <a:srgbClr val="40AF4E"/>
                      </a:solidFill>
                      <a:prstDash val="solid"/>
                      <a:round/>
                      <a:headEnd type="none" w="med" len="med"/>
                      <a:tailEnd type="none" w="med" len="med"/>
                    </a:lnT>
                    <a:lnB w="12700" cap="flat" cmpd="sng" algn="ctr">
                      <a:solidFill>
                        <a:srgbClr val="40AF4E"/>
                      </a:solidFill>
                      <a:prstDash val="solid"/>
                      <a:round/>
                      <a:headEnd type="none" w="med" len="med"/>
                      <a:tailEnd type="none" w="med" len="med"/>
                    </a:lnB>
                    <a:solidFill>
                      <a:srgbClr val="FFFFFF"/>
                    </a:solidFill>
                  </a:tcPr>
                </a:tc>
                <a:tc>
                  <a:txBody>
                    <a:bodyPr/>
                    <a:lstStyle/>
                    <a:p>
                      <a:r>
                        <a:rPr lang="en-US" sz="2000" dirty="0">
                          <a:effectLst/>
                        </a:rPr>
                        <a:t>Training can be complex and slow due to long-term dependency issues. Faces vanishing/exploding gradient problems</a:t>
                      </a:r>
                    </a:p>
                  </a:txBody>
                  <a:tcPr marL="15390" marR="15390" marT="7695" marB="7695">
                    <a:lnL w="12700" cap="flat" cmpd="sng" algn="ctr">
                      <a:solidFill>
                        <a:srgbClr val="60AE4E"/>
                      </a:solidFill>
                      <a:prstDash val="solid"/>
                      <a:round/>
                      <a:headEnd type="none" w="med" len="med"/>
                      <a:tailEnd type="none" w="med" len="med"/>
                    </a:lnL>
                    <a:lnR w="12700" cap="flat" cmpd="sng" algn="ctr">
                      <a:solidFill>
                        <a:srgbClr val="60AE4E"/>
                      </a:solidFill>
                      <a:prstDash val="solid"/>
                      <a:round/>
                      <a:headEnd type="none" w="med" len="med"/>
                      <a:tailEnd type="none" w="med" len="med"/>
                    </a:lnR>
                    <a:lnT w="12700" cap="flat" cmpd="sng" algn="ctr">
                      <a:solidFill>
                        <a:srgbClr val="60AE4E"/>
                      </a:solidFill>
                      <a:prstDash val="solid"/>
                      <a:round/>
                      <a:headEnd type="none" w="med" len="med"/>
                      <a:tailEnd type="none" w="med" len="med"/>
                    </a:lnT>
                    <a:lnB w="12700" cap="flat" cmpd="sng" algn="ctr">
                      <a:solidFill>
                        <a:srgbClr val="60AE4E"/>
                      </a:solidFill>
                      <a:prstDash val="solid"/>
                      <a:round/>
                      <a:headEnd type="none" w="med" len="med"/>
                      <a:tailEnd type="none" w="med" len="med"/>
                    </a:lnB>
                    <a:solidFill>
                      <a:srgbClr val="FFFFFF"/>
                    </a:solidFill>
                  </a:tcPr>
                </a:tc>
                <a:extLst>
                  <a:ext uri="{0D108BD9-81ED-4DB2-BD59-A6C34878D82A}">
                    <a16:rowId xmlns:a16="http://schemas.microsoft.com/office/drawing/2014/main" val="197884524"/>
                  </a:ext>
                </a:extLst>
              </a:tr>
            </a:tbl>
          </a:graphicData>
        </a:graphic>
      </p:graphicFrame>
      <p:sp>
        <p:nvSpPr>
          <p:cNvPr id="4" name="Slide Number Placeholder 3">
            <a:extLst>
              <a:ext uri="{FF2B5EF4-FFF2-40B4-BE49-F238E27FC236}">
                <a16:creationId xmlns:a16="http://schemas.microsoft.com/office/drawing/2014/main" id="{58DA2FC6-B362-6DC8-42B7-0FDE2BCC537E}"/>
              </a:ext>
            </a:extLst>
          </p:cNvPr>
          <p:cNvSpPr>
            <a:spLocks noGrp="1"/>
          </p:cNvSpPr>
          <p:nvPr>
            <p:ph type="sldNum" sz="quarter" idx="12"/>
          </p:nvPr>
        </p:nvSpPr>
        <p:spPr/>
        <p:txBody>
          <a:bodyPr/>
          <a:lstStyle/>
          <a:p>
            <a:pPr>
              <a:defRPr/>
            </a:pPr>
            <a:fld id="{9AD681D7-8A59-4380-9311-10B86FF921AA}" type="slidenum">
              <a:rPr lang="en-US" altLang="zh-TW" smtClean="0"/>
              <a:pPr>
                <a:defRPr/>
              </a:pPr>
              <a:t>61</a:t>
            </a:fld>
            <a:endParaRPr lang="en-US" altLang="zh-TW"/>
          </a:p>
        </p:txBody>
      </p:sp>
    </p:spTree>
    <p:extLst>
      <p:ext uri="{BB962C8B-B14F-4D97-AF65-F5344CB8AC3E}">
        <p14:creationId xmlns:p14="http://schemas.microsoft.com/office/powerpoint/2010/main" val="9419445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10340F-2A06-EF16-A65D-BC1FCF34B332}"/>
              </a:ext>
            </a:extLst>
          </p:cNvPr>
          <p:cNvSpPr>
            <a:spLocks noGrp="1"/>
          </p:cNvSpPr>
          <p:nvPr>
            <p:ph idx="1"/>
          </p:nvPr>
        </p:nvSpPr>
        <p:spPr>
          <a:xfrm>
            <a:off x="1117601" y="2362202"/>
            <a:ext cx="10924344" cy="1815904"/>
          </a:xfrm>
          <a:ln>
            <a:solidFill>
              <a:schemeClr val="tx1"/>
            </a:solidFill>
          </a:ln>
        </p:spPr>
        <p:txBody>
          <a:bodyPr/>
          <a:lstStyle/>
          <a:p>
            <a:r>
              <a:rPr lang="en-IN" sz="2000" dirty="0"/>
              <a:t>https://www.softwebsolutions.com/resources/difference-between-cnn-rnn-ann.html</a:t>
            </a:r>
          </a:p>
          <a:p>
            <a:r>
              <a:rPr lang="en-IN" sz="2000" dirty="0">
                <a:hlinkClick r:id="rId2"/>
              </a:rPr>
              <a:t>https://www.analyticsvidhya.com/blog/2024/05/ann-vs-cnn-vs-rnn/</a:t>
            </a:r>
            <a:endParaRPr lang="en-IN" sz="2000" dirty="0"/>
          </a:p>
          <a:p>
            <a:r>
              <a:rPr lang="en-IN" sz="2000" dirty="0">
                <a:hlinkClick r:id="rId3"/>
              </a:rPr>
              <a:t>https://www.naukri.com/code360/library/ann-vs-cnn-vs-rnn</a:t>
            </a:r>
            <a:endParaRPr lang="en-IN" sz="2000" dirty="0"/>
          </a:p>
          <a:p>
            <a:r>
              <a:rPr lang="en-IN" sz="2000" dirty="0">
                <a:hlinkClick r:id="rId4"/>
              </a:rPr>
              <a:t>https://www.softwebsolutions.com/resources/difference-between-cnn-rnn-ann.html</a:t>
            </a:r>
            <a:endParaRPr lang="en-IN" sz="2000" dirty="0"/>
          </a:p>
        </p:txBody>
      </p:sp>
      <p:sp>
        <p:nvSpPr>
          <p:cNvPr id="4" name="Slide Number Placeholder 3">
            <a:extLst>
              <a:ext uri="{FF2B5EF4-FFF2-40B4-BE49-F238E27FC236}">
                <a16:creationId xmlns:a16="http://schemas.microsoft.com/office/drawing/2014/main" id="{31F41491-9BF1-E71C-2BC3-327D2C8FAF61}"/>
              </a:ext>
            </a:extLst>
          </p:cNvPr>
          <p:cNvSpPr>
            <a:spLocks noGrp="1"/>
          </p:cNvSpPr>
          <p:nvPr>
            <p:ph type="sldNum" sz="quarter" idx="12"/>
          </p:nvPr>
        </p:nvSpPr>
        <p:spPr/>
        <p:txBody>
          <a:bodyPr/>
          <a:lstStyle/>
          <a:p>
            <a:pPr>
              <a:defRPr/>
            </a:pPr>
            <a:fld id="{9AD681D7-8A59-4380-9311-10B86FF921AA}" type="slidenum">
              <a:rPr lang="en-US" altLang="zh-TW" smtClean="0"/>
              <a:pPr>
                <a:defRPr/>
              </a:pPr>
              <a:t>62</a:t>
            </a:fld>
            <a:endParaRPr lang="en-US" altLang="zh-TW"/>
          </a:p>
        </p:txBody>
      </p:sp>
    </p:spTree>
    <p:extLst>
      <p:ext uri="{BB962C8B-B14F-4D97-AF65-F5344CB8AC3E}">
        <p14:creationId xmlns:p14="http://schemas.microsoft.com/office/powerpoint/2010/main" val="1760590785"/>
      </p:ext>
    </p:extLst>
  </p:cSld>
  <p:clrMapOvr>
    <a:masterClrMapping/>
  </p:clrMapOvr>
</p:sld>
</file>

<file path=ppt/theme/theme1.xml><?xml version="1.0" encoding="utf-8"?>
<a:theme xmlns:a="http://schemas.openxmlformats.org/drawingml/2006/main" name="Soaring">
  <a:themeElements>
    <a:clrScheme name="Soaring 1">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FF0033"/>
      </a:hlink>
      <a:folHlink>
        <a:srgbClr val="FFFF00"/>
      </a:folHlink>
    </a:clrScheme>
    <a:fontScheme name="Soaring">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en-US" sz="36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en-US" sz="36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Soaring 1">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FF0033"/>
        </a:hlink>
        <a:folHlink>
          <a:srgbClr val="FFFF00"/>
        </a:folHlink>
      </a:clrScheme>
      <a:clrMap bg1="dk2" tx1="lt1" bg2="dk1" tx2="lt2" accent1="accent1" accent2="accent2" accent3="accent3" accent4="accent4" accent5="accent5" accent6="accent6" hlink="hlink" folHlink="folHlink"/>
    </a:extraClrScheme>
    <a:extraClrScheme>
      <a:clrScheme name="Soaring 2">
        <a:dk1>
          <a:srgbClr val="000000"/>
        </a:dk1>
        <a:lt1>
          <a:srgbClr val="FFFFFF"/>
        </a:lt1>
        <a:dk2>
          <a:srgbClr val="000000"/>
        </a:dk2>
        <a:lt2>
          <a:srgbClr val="CCECFF"/>
        </a:lt2>
        <a:accent1>
          <a:srgbClr val="6699FF"/>
        </a:accent1>
        <a:accent2>
          <a:srgbClr val="66CCFF"/>
        </a:accent2>
        <a:accent3>
          <a:srgbClr val="FFFFFF"/>
        </a:accent3>
        <a:accent4>
          <a:srgbClr val="000000"/>
        </a:accent4>
        <a:accent5>
          <a:srgbClr val="B8CAFF"/>
        </a:accent5>
        <a:accent6>
          <a:srgbClr val="5CB9E7"/>
        </a:accent6>
        <a:hlink>
          <a:srgbClr val="CC99FF"/>
        </a:hlink>
        <a:folHlink>
          <a:srgbClr val="00CCCC"/>
        </a:folHlink>
      </a:clrScheme>
      <a:clrMap bg1="lt1" tx1="dk1" bg2="lt2" tx2="dk2" accent1="accent1" accent2="accent2" accent3="accent3" accent4="accent4" accent5="accent5" accent6="accent6" hlink="hlink" folHlink="folHlink"/>
    </a:extraClrScheme>
    <a:extraClrScheme>
      <a:clrScheme name="Soaring 3">
        <a:dk1>
          <a:srgbClr val="000000"/>
        </a:dk1>
        <a:lt1>
          <a:srgbClr val="FFFFFF"/>
        </a:lt1>
        <a:dk2>
          <a:srgbClr val="000000"/>
        </a:dk2>
        <a:lt2>
          <a:srgbClr val="FFFFFF"/>
        </a:lt2>
        <a:accent1>
          <a:srgbClr val="CBCBCB"/>
        </a:accent1>
        <a:accent2>
          <a:srgbClr val="EAEAEA"/>
        </a:accent2>
        <a:accent3>
          <a:srgbClr val="FFFFFF"/>
        </a:accent3>
        <a:accent4>
          <a:srgbClr val="000000"/>
        </a:accent4>
        <a:accent5>
          <a:srgbClr val="E2E2E2"/>
        </a:accent5>
        <a:accent6>
          <a:srgbClr val="D4D4D4"/>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Soaring 4">
        <a:dk1>
          <a:srgbClr val="000000"/>
        </a:dk1>
        <a:lt1>
          <a:srgbClr val="FFFFFF"/>
        </a:lt1>
        <a:dk2>
          <a:srgbClr val="008080"/>
        </a:dk2>
        <a:lt2>
          <a:srgbClr val="FFCC66"/>
        </a:lt2>
        <a:accent1>
          <a:srgbClr val="0099CC"/>
        </a:accent1>
        <a:accent2>
          <a:srgbClr val="009999"/>
        </a:accent2>
        <a:accent3>
          <a:srgbClr val="AAC0C0"/>
        </a:accent3>
        <a:accent4>
          <a:srgbClr val="DADADA"/>
        </a:accent4>
        <a:accent5>
          <a:srgbClr val="AACAE2"/>
        </a:accent5>
        <a:accent6>
          <a:srgbClr val="008A8A"/>
        </a:accent6>
        <a:hlink>
          <a:srgbClr val="6600CC"/>
        </a:hlink>
        <a:folHlink>
          <a:srgbClr val="FFFF00"/>
        </a:folHlink>
      </a:clrScheme>
      <a:clrMap bg1="dk2" tx1="lt1" bg2="dk1" tx2="lt2" accent1="accent1" accent2="accent2" accent3="accent3" accent4="accent4" accent5="accent5" accent6="accent6" hlink="hlink" folHlink="folHlink"/>
    </a:extraClrScheme>
    <a:extraClrScheme>
      <a:clrScheme name="Soaring 5">
        <a:dk1>
          <a:srgbClr val="000000"/>
        </a:dk1>
        <a:lt1>
          <a:srgbClr val="FFFFFF"/>
        </a:lt1>
        <a:dk2>
          <a:srgbClr val="993300"/>
        </a:dk2>
        <a:lt2>
          <a:srgbClr val="FFCC66"/>
        </a:lt2>
        <a:accent1>
          <a:srgbClr val="FF6633"/>
        </a:accent1>
        <a:accent2>
          <a:srgbClr val="CC6600"/>
        </a:accent2>
        <a:accent3>
          <a:srgbClr val="CAADAA"/>
        </a:accent3>
        <a:accent4>
          <a:srgbClr val="DADADA"/>
        </a:accent4>
        <a:accent5>
          <a:srgbClr val="FFB8AD"/>
        </a:accent5>
        <a:accent6>
          <a:srgbClr val="B95C00"/>
        </a:accent6>
        <a:hlink>
          <a:srgbClr val="CC0000"/>
        </a:hlink>
        <a:folHlink>
          <a:srgbClr val="FFFF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apsules">
  <a:themeElements>
    <a:clrScheme name="Capsules 1">
      <a:dk1>
        <a:srgbClr val="003366"/>
      </a:dk1>
      <a:lt1>
        <a:srgbClr val="FFFFFF"/>
      </a:lt1>
      <a:dk2>
        <a:srgbClr val="006666"/>
      </a:dk2>
      <a:lt2>
        <a:srgbClr val="666699"/>
      </a:lt2>
      <a:accent1>
        <a:srgbClr val="33CCCC"/>
      </a:accent1>
      <a:accent2>
        <a:srgbClr val="99CC99"/>
      </a:accent2>
      <a:accent3>
        <a:srgbClr val="FFFFFF"/>
      </a:accent3>
      <a:accent4>
        <a:srgbClr val="002A56"/>
      </a:accent4>
      <a:accent5>
        <a:srgbClr val="ADE2E2"/>
      </a:accent5>
      <a:accent6>
        <a:srgbClr val="8AB98A"/>
      </a:accent6>
      <a:hlink>
        <a:srgbClr val="003366"/>
      </a:hlink>
      <a:folHlink>
        <a:srgbClr val="CC99FF"/>
      </a:folHlink>
    </a:clrScheme>
    <a:fontScheme name="Capsules">
      <a:majorFont>
        <a:latin typeface="Arial"/>
        <a:ea typeface="新細明體"/>
        <a:cs typeface=""/>
      </a:majorFont>
      <a:minorFont>
        <a:latin typeface="Arial"/>
        <a:ea typeface="新細明體"/>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TW" altLang="en-US" sz="1800" b="0" i="0" u="none" strike="noStrike" cap="none" normalizeH="0" baseline="0" smtClean="0">
            <a:ln>
              <a:noFill/>
            </a:ln>
            <a:solidFill>
              <a:schemeClr val="tx1"/>
            </a:solidFill>
            <a:effectLst/>
            <a:latin typeface="Arial" panose="020B0604020202020204" pitchFamily="34" charset="0"/>
            <a:ea typeface="新細明體" panose="02020500000000000000" pitchFamily="18" charset="-12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TW" altLang="en-US" sz="1800" b="0" i="0" u="none" strike="noStrike" cap="none" normalizeH="0" baseline="0" smtClean="0">
            <a:ln>
              <a:noFill/>
            </a:ln>
            <a:solidFill>
              <a:schemeClr val="tx1"/>
            </a:solidFill>
            <a:effectLst/>
            <a:latin typeface="Arial" panose="020B0604020202020204" pitchFamily="34" charset="0"/>
            <a:ea typeface="新細明體" panose="02020500000000000000" pitchFamily="18" charset="-120"/>
          </a:defRPr>
        </a:defPPr>
      </a:lstStyle>
    </a:lnDef>
  </a:objectDefaults>
  <a:extraClrSchemeLst>
    <a:extraClrScheme>
      <a:clrScheme name="Capsules 1">
        <a:dk1>
          <a:srgbClr val="003366"/>
        </a:dk1>
        <a:lt1>
          <a:srgbClr val="FFFFFF"/>
        </a:lt1>
        <a:dk2>
          <a:srgbClr val="006666"/>
        </a:dk2>
        <a:lt2>
          <a:srgbClr val="666699"/>
        </a:lt2>
        <a:accent1>
          <a:srgbClr val="33CCCC"/>
        </a:accent1>
        <a:accent2>
          <a:srgbClr val="99CC99"/>
        </a:accent2>
        <a:accent3>
          <a:srgbClr val="FFFFFF"/>
        </a:accent3>
        <a:accent4>
          <a:srgbClr val="002A56"/>
        </a:accent4>
        <a:accent5>
          <a:srgbClr val="ADE2E2"/>
        </a:accent5>
        <a:accent6>
          <a:srgbClr val="8AB98A"/>
        </a:accent6>
        <a:hlink>
          <a:srgbClr val="003366"/>
        </a:hlink>
        <a:folHlink>
          <a:srgbClr val="CC99FF"/>
        </a:folHlink>
      </a:clrScheme>
      <a:clrMap bg1="lt1" tx1="dk1" bg2="lt2" tx2="dk2" accent1="accent1" accent2="accent2" accent3="accent3" accent4="accent4" accent5="accent5" accent6="accent6" hlink="hlink" folHlink="folHlink"/>
    </a:extraClrScheme>
    <a:extraClrScheme>
      <a:clrScheme name="Capsules 2">
        <a:dk1>
          <a:srgbClr val="000000"/>
        </a:dk1>
        <a:lt1>
          <a:srgbClr val="FFFFFF"/>
        </a:lt1>
        <a:dk2>
          <a:srgbClr val="000000"/>
        </a:dk2>
        <a:lt2>
          <a:srgbClr val="808000"/>
        </a:lt2>
        <a:accent1>
          <a:srgbClr val="FFCC99"/>
        </a:accent1>
        <a:accent2>
          <a:srgbClr val="99CC00"/>
        </a:accent2>
        <a:accent3>
          <a:srgbClr val="FFFFFF"/>
        </a:accent3>
        <a:accent4>
          <a:srgbClr val="000000"/>
        </a:accent4>
        <a:accent5>
          <a:srgbClr val="FFE2CA"/>
        </a:accent5>
        <a:accent6>
          <a:srgbClr val="8AB900"/>
        </a:accent6>
        <a:hlink>
          <a:srgbClr val="336600"/>
        </a:hlink>
        <a:folHlink>
          <a:srgbClr val="FFCC00"/>
        </a:folHlink>
      </a:clrScheme>
      <a:clrMap bg1="lt1" tx1="dk1" bg2="lt2" tx2="dk2" accent1="accent1" accent2="accent2" accent3="accent3" accent4="accent4" accent5="accent5" accent6="accent6" hlink="hlink" folHlink="folHlink"/>
    </a:extraClrScheme>
    <a:extraClrScheme>
      <a:clrScheme name="Capsules 3">
        <a:dk1>
          <a:srgbClr val="006699"/>
        </a:dk1>
        <a:lt1>
          <a:srgbClr val="FFFFFF"/>
        </a:lt1>
        <a:dk2>
          <a:srgbClr val="6699FF"/>
        </a:dk2>
        <a:lt2>
          <a:srgbClr val="FFFFFF"/>
        </a:lt2>
        <a:accent1>
          <a:srgbClr val="33CCCC"/>
        </a:accent1>
        <a:accent2>
          <a:srgbClr val="006699"/>
        </a:accent2>
        <a:accent3>
          <a:srgbClr val="B8CAFF"/>
        </a:accent3>
        <a:accent4>
          <a:srgbClr val="DADADA"/>
        </a:accent4>
        <a:accent5>
          <a:srgbClr val="ADE2E2"/>
        </a:accent5>
        <a:accent6>
          <a:srgbClr val="005C8A"/>
        </a:accent6>
        <a:hlink>
          <a:srgbClr val="99CC00"/>
        </a:hlink>
        <a:folHlink>
          <a:srgbClr val="FFFFCC"/>
        </a:folHlink>
      </a:clrScheme>
      <a:clrMap bg1="dk2" tx1="lt1" bg2="dk1" tx2="lt2" accent1="accent1" accent2="accent2" accent3="accent3" accent4="accent4" accent5="accent5" accent6="accent6" hlink="hlink" folHlink="folHlink"/>
    </a:extraClrScheme>
    <a:extraClrScheme>
      <a:clrScheme name="Capsules 4">
        <a:dk1>
          <a:srgbClr val="000000"/>
        </a:dk1>
        <a:lt1>
          <a:srgbClr val="FFFFFF"/>
        </a:lt1>
        <a:dk2>
          <a:srgbClr val="9900CC"/>
        </a:dk2>
        <a:lt2>
          <a:srgbClr val="006600"/>
        </a:lt2>
        <a:accent1>
          <a:srgbClr val="33CC33"/>
        </a:accent1>
        <a:accent2>
          <a:srgbClr val="FFCC66"/>
        </a:accent2>
        <a:accent3>
          <a:srgbClr val="FFFFFF"/>
        </a:accent3>
        <a:accent4>
          <a:srgbClr val="000000"/>
        </a:accent4>
        <a:accent5>
          <a:srgbClr val="ADE2AD"/>
        </a:accent5>
        <a:accent6>
          <a:srgbClr val="E7B95C"/>
        </a:accent6>
        <a:hlink>
          <a:srgbClr val="0033CC"/>
        </a:hlink>
        <a:folHlink>
          <a:srgbClr val="CC0066"/>
        </a:folHlink>
      </a:clrScheme>
      <a:clrMap bg1="lt1" tx1="dk1" bg2="lt2" tx2="dk2" accent1="accent1" accent2="accent2" accent3="accent3" accent4="accent4" accent5="accent5" accent6="accent6" hlink="hlink" folHlink="folHlink"/>
    </a:extraClrScheme>
    <a:extraClrScheme>
      <a:clrScheme name="Capsules 5">
        <a:dk1>
          <a:srgbClr val="000066"/>
        </a:dk1>
        <a:lt1>
          <a:srgbClr val="FFFFFF"/>
        </a:lt1>
        <a:dk2>
          <a:srgbClr val="336699"/>
        </a:dk2>
        <a:lt2>
          <a:srgbClr val="FFFFEB"/>
        </a:lt2>
        <a:accent1>
          <a:srgbClr val="99CCFF"/>
        </a:accent1>
        <a:accent2>
          <a:srgbClr val="9999FF"/>
        </a:accent2>
        <a:accent3>
          <a:srgbClr val="ADB8CA"/>
        </a:accent3>
        <a:accent4>
          <a:srgbClr val="DADADA"/>
        </a:accent4>
        <a:accent5>
          <a:srgbClr val="CAE2FF"/>
        </a:accent5>
        <a:accent6>
          <a:srgbClr val="8A8AE7"/>
        </a:accent6>
        <a:hlink>
          <a:srgbClr val="CCCCFF"/>
        </a:hlink>
        <a:folHlink>
          <a:srgbClr val="C68DFF"/>
        </a:folHlink>
      </a:clrScheme>
      <a:clrMap bg1="dk2" tx1="lt1" bg2="dk1" tx2="lt2" accent1="accent1" accent2="accent2" accent3="accent3" accent4="accent4" accent5="accent5" accent6="accent6" hlink="hlink" folHlink="folHlink"/>
    </a:extraClrScheme>
    <a:extraClrScheme>
      <a:clrScheme name="Capsules 6">
        <a:dk1>
          <a:srgbClr val="808000"/>
        </a:dk1>
        <a:lt1>
          <a:srgbClr val="FFFFFF"/>
        </a:lt1>
        <a:dk2>
          <a:srgbClr val="006666"/>
        </a:dk2>
        <a:lt2>
          <a:srgbClr val="FFFFFF"/>
        </a:lt2>
        <a:accent1>
          <a:srgbClr val="FFCC66"/>
        </a:accent1>
        <a:accent2>
          <a:srgbClr val="00ACA8"/>
        </a:accent2>
        <a:accent3>
          <a:srgbClr val="AAB8B8"/>
        </a:accent3>
        <a:accent4>
          <a:srgbClr val="DADADA"/>
        </a:accent4>
        <a:accent5>
          <a:srgbClr val="FFE2B8"/>
        </a:accent5>
        <a:accent6>
          <a:srgbClr val="009B98"/>
        </a:accent6>
        <a:hlink>
          <a:srgbClr val="CCCC00"/>
        </a:hlink>
        <a:folHlink>
          <a:srgbClr val="33CCCC"/>
        </a:folHlink>
      </a:clrScheme>
      <a:clrMap bg1="dk2" tx1="lt1" bg2="dk1" tx2="lt2" accent1="accent1" accent2="accent2" accent3="accent3" accent4="accent4" accent5="accent5" accent6="accent6" hlink="hlink" folHlink="folHlink"/>
    </a:extraClrScheme>
    <a:extraClrScheme>
      <a:clrScheme name="Capsules 7">
        <a:dk1>
          <a:srgbClr val="FFFFCC"/>
        </a:dk1>
        <a:lt1>
          <a:srgbClr val="FFFFFF"/>
        </a:lt1>
        <a:dk2>
          <a:srgbClr val="660033"/>
        </a:dk2>
        <a:lt2>
          <a:srgbClr val="FFFFFF"/>
        </a:lt2>
        <a:accent1>
          <a:srgbClr val="FF9900"/>
        </a:accent1>
        <a:accent2>
          <a:srgbClr val="CC3300"/>
        </a:accent2>
        <a:accent3>
          <a:srgbClr val="B8AAAD"/>
        </a:accent3>
        <a:accent4>
          <a:srgbClr val="DADADA"/>
        </a:accent4>
        <a:accent5>
          <a:srgbClr val="FFCAAA"/>
        </a:accent5>
        <a:accent6>
          <a:srgbClr val="B92D00"/>
        </a:accent6>
        <a:hlink>
          <a:srgbClr val="FFCC00"/>
        </a:hlink>
        <a:folHlink>
          <a:srgbClr val="FFCC99"/>
        </a:folHlink>
      </a:clrScheme>
      <a:clrMap bg1="dk2" tx1="lt1" bg2="dk1" tx2="lt2" accent1="accent1" accent2="accent2" accent3="accent3" accent4="accent4" accent5="accent5" accent6="accent6" hlink="hlink" folHlink="folHlink"/>
    </a:extraClrScheme>
    <a:extraClrScheme>
      <a:clrScheme name="Capsules 8">
        <a:dk1>
          <a:srgbClr val="FF0000"/>
        </a:dk1>
        <a:lt1>
          <a:srgbClr val="FFFFFF"/>
        </a:lt1>
        <a:dk2>
          <a:srgbClr val="000000"/>
        </a:dk2>
        <a:lt2>
          <a:srgbClr val="FFFFFF"/>
        </a:lt2>
        <a:accent1>
          <a:srgbClr val="FFCC00"/>
        </a:accent1>
        <a:accent2>
          <a:srgbClr val="CC3300"/>
        </a:accent2>
        <a:accent3>
          <a:srgbClr val="AAAAAA"/>
        </a:accent3>
        <a:accent4>
          <a:srgbClr val="DADADA"/>
        </a:accent4>
        <a:accent5>
          <a:srgbClr val="FFE2AA"/>
        </a:accent5>
        <a:accent6>
          <a:srgbClr val="B92D00"/>
        </a:accent6>
        <a:hlink>
          <a:srgbClr val="FF6600"/>
        </a:hlink>
        <a:folHlink>
          <a:srgbClr val="FF7C8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dd95c1cf-b5d2-4c72-8251-bdd7845b8e51"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2FE48CAB004A144B868A716FC6650EC" ma:contentTypeVersion="12" ma:contentTypeDescription="Create a new document." ma:contentTypeScope="" ma:versionID="5202a85330019e0b43cefdc34835e1ee">
  <xsd:schema xmlns:xsd="http://www.w3.org/2001/XMLSchema" xmlns:xs="http://www.w3.org/2001/XMLSchema" xmlns:p="http://schemas.microsoft.com/office/2006/metadata/properties" xmlns:ns3="dd95c1cf-b5d2-4c72-8251-bdd7845b8e51" targetNamespace="http://schemas.microsoft.com/office/2006/metadata/properties" ma:root="true" ma:fieldsID="ad1e944ac5458dc4461d8bc0ac8037ed" ns3:_="">
    <xsd:import namespace="dd95c1cf-b5d2-4c72-8251-bdd7845b8e51"/>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earchProperties" minOccurs="0"/>
                <xsd:element ref="ns3:MediaServiceDateTaken" minOccurs="0"/>
                <xsd:element ref="ns3:MediaServiceBillingMetadata" minOccurs="0"/>
                <xsd:element ref="ns3:MediaServiceSystemTags" minOccurs="0"/>
                <xsd:element ref="ns3:MediaServiceGenerationTime" minOccurs="0"/>
                <xsd:element ref="ns3:MediaServiceEventHashCode" minOccurs="0"/>
                <xsd:element ref="ns3:MediaLengthInSeconds" minOccurs="0"/>
                <xsd:element ref="ns3:MediaServiceOCR"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d95c1cf-b5d2-4c72-8251-bdd7845b8e5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BillingMetadata" ma:index="13" nillable="true" ma:displayName="MediaServiceBillingMetadata" ma:hidden="true" ma:internalName="MediaServiceBillingMetadata" ma:readOnly="true">
      <xsd:simpleType>
        <xsd:restriction base="dms:Note"/>
      </xsd:simpleType>
    </xsd:element>
    <xsd:element name="MediaServiceSystemTags" ma:index="14" nillable="true" ma:displayName="MediaServiceSystemTags" ma:hidden="true" ma:internalName="MediaServiceSystemTags" ma:readOnly="true">
      <xsd:simpleType>
        <xsd:restriction base="dms:Note"/>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OCR" ma:index="18" nillable="true" ma:displayName="Extracted Text" ma:internalName="MediaServiceOCR" ma:readOnly="true">
      <xsd:simpleType>
        <xsd:restriction base="dms:Note">
          <xsd:maxLength value="255"/>
        </xsd:restriction>
      </xsd:simpleType>
    </xsd:element>
    <xsd:element name="_activity" ma:index="19"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7B7981F-2E6A-4646-97CA-A674FB8C3098}">
  <ds:schemaRefs>
    <ds:schemaRef ds:uri="http://schemas.microsoft.com/sharepoint/v3/contenttype/forms"/>
  </ds:schemaRefs>
</ds:datastoreItem>
</file>

<file path=customXml/itemProps2.xml><?xml version="1.0" encoding="utf-8"?>
<ds:datastoreItem xmlns:ds="http://schemas.openxmlformats.org/officeDocument/2006/customXml" ds:itemID="{D0429C25-84C2-4956-9E25-8BD0AED66C96}">
  <ds:schemaRefs>
    <ds:schemaRef ds:uri="http://purl.org/dc/dcmitype/"/>
    <ds:schemaRef ds:uri="http://purl.org/dc/terms/"/>
    <ds:schemaRef ds:uri="http://purl.org/dc/elements/1.1/"/>
    <ds:schemaRef ds:uri="http://schemas.openxmlformats.org/package/2006/metadata/core-properties"/>
    <ds:schemaRef ds:uri="http://schemas.microsoft.com/office/2006/documentManagement/types"/>
    <ds:schemaRef ds:uri="http://www.w3.org/XML/1998/namespace"/>
    <ds:schemaRef ds:uri="http://schemas.microsoft.com/office/infopath/2007/PartnerControls"/>
    <ds:schemaRef ds:uri="dd95c1cf-b5d2-4c72-8251-bdd7845b8e51"/>
    <ds:schemaRef ds:uri="http://schemas.microsoft.com/office/2006/metadata/properties"/>
  </ds:schemaRefs>
</ds:datastoreItem>
</file>

<file path=customXml/itemProps3.xml><?xml version="1.0" encoding="utf-8"?>
<ds:datastoreItem xmlns:ds="http://schemas.openxmlformats.org/officeDocument/2006/customXml" ds:itemID="{A69C6D72-770A-4556-811B-D4B51E25864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d95c1cf-b5d2-4c72-8251-bdd7845b8e5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70369</TotalTime>
  <Words>7741</Words>
  <Application>Microsoft Office PowerPoint</Application>
  <PresentationFormat>Widescreen</PresentationFormat>
  <Paragraphs>632</Paragraphs>
  <Slides>62</Slides>
  <Notes>0</Notes>
  <HiddenSlides>0</HiddenSlides>
  <MMClips>0</MMClips>
  <ScaleCrop>false</ScaleCrop>
  <HeadingPairs>
    <vt:vector size="6" baseType="variant">
      <vt:variant>
        <vt:lpstr>Fonts Used</vt:lpstr>
      </vt:variant>
      <vt:variant>
        <vt:i4>14</vt:i4>
      </vt:variant>
      <vt:variant>
        <vt:lpstr>Theme</vt:lpstr>
      </vt:variant>
      <vt:variant>
        <vt:i4>2</vt:i4>
      </vt:variant>
      <vt:variant>
        <vt:lpstr>Slide Titles</vt:lpstr>
      </vt:variant>
      <vt:variant>
        <vt:i4>62</vt:i4>
      </vt:variant>
    </vt:vector>
  </HeadingPairs>
  <TitlesOfParts>
    <vt:vector size="78" baseType="lpstr">
      <vt:lpstr>PMingLiU</vt:lpstr>
      <vt:lpstr>Arial</vt:lpstr>
      <vt:lpstr>Calibri</vt:lpstr>
      <vt:lpstr>Cambria Math</vt:lpstr>
      <vt:lpstr>CMS</vt:lpstr>
      <vt:lpstr>Courier New</vt:lpstr>
      <vt:lpstr>Helvetica</vt:lpstr>
      <vt:lpstr>Merriweather Sans</vt:lpstr>
      <vt:lpstr>Segoe UI</vt:lpstr>
      <vt:lpstr>sohne</vt:lpstr>
      <vt:lpstr>source-serif-pro</vt:lpstr>
      <vt:lpstr>Studio-Feixen-Sans</vt:lpstr>
      <vt:lpstr>Times New Roman</vt:lpstr>
      <vt:lpstr>Wingdings</vt:lpstr>
      <vt:lpstr>Soaring</vt:lpstr>
      <vt:lpstr>Capsules</vt:lpstr>
      <vt:lpstr>RECURRENT NEURAL NETWORKS (UNIT-4)</vt:lpstr>
      <vt:lpstr>Sequential Data/Time Series Data </vt:lpstr>
      <vt:lpstr>Sequential Data/Time Series Data </vt:lpstr>
      <vt:lpstr>FNN Vs. RNN </vt:lpstr>
      <vt:lpstr>FNN Vs. RNN </vt:lpstr>
      <vt:lpstr>Why Recurrent Neural Networks? </vt:lpstr>
      <vt:lpstr>Recurrent Neural Networks</vt:lpstr>
      <vt:lpstr>Simple RNN</vt:lpstr>
      <vt:lpstr>Simple RNN Architecture</vt:lpstr>
      <vt:lpstr>Commonly used Activation Functions</vt:lpstr>
      <vt:lpstr>Steps for Training a Simple RNN</vt:lpstr>
      <vt:lpstr>Computation in Training a Simple RNN</vt:lpstr>
      <vt:lpstr>Computation in Training a Simple RNN</vt:lpstr>
      <vt:lpstr>Simple RNN Architecture Variations Based on Parameter Sharing </vt:lpstr>
      <vt:lpstr>Simple RNN Architecture Variations Based on Inputs and Outputs</vt:lpstr>
      <vt:lpstr>Advantages of Simple RNN</vt:lpstr>
      <vt:lpstr>Disadvantages of Simple RNN</vt:lpstr>
      <vt:lpstr>Disadvantages of Simple RNN</vt:lpstr>
      <vt:lpstr>Disadvantages of Simple RNN</vt:lpstr>
      <vt:lpstr>Problem of Vanishing Gradient</vt:lpstr>
      <vt:lpstr>Problem of Vanishing Gradient</vt:lpstr>
      <vt:lpstr>Batch Normalization</vt:lpstr>
      <vt:lpstr>Batch Normalization</vt:lpstr>
      <vt:lpstr>Batch Normalization</vt:lpstr>
      <vt:lpstr>Residual network  </vt:lpstr>
      <vt:lpstr> Residual network</vt:lpstr>
      <vt:lpstr> Residual network</vt:lpstr>
      <vt:lpstr>Problem of Exploding Gradient</vt:lpstr>
      <vt:lpstr>Seminar Topics</vt:lpstr>
      <vt:lpstr>Long Short Term Memory</vt:lpstr>
      <vt:lpstr>Long Short Term Memory</vt:lpstr>
      <vt:lpstr>PowerPoint Presentation</vt:lpstr>
      <vt:lpstr>                                              LSTM Gates</vt:lpstr>
      <vt:lpstr>PowerPoint Presentation</vt:lpstr>
      <vt:lpstr>PowerPoint Presentation</vt:lpstr>
      <vt:lpstr>Step-by-step Approach to Understand LSTM </vt:lpstr>
      <vt:lpstr>Step-by-step approach to understand LSTM </vt:lpstr>
      <vt:lpstr>Step-by-step approach to understand LSTM </vt:lpstr>
      <vt:lpstr>Step-by-step approach to understand LSTM </vt:lpstr>
      <vt:lpstr>Step-by-step approach to understand LSTM </vt:lpstr>
      <vt:lpstr>LSTM</vt:lpstr>
      <vt:lpstr>Variants of LSTM -1 </vt:lpstr>
      <vt:lpstr>Variants of LSTM -2</vt:lpstr>
      <vt:lpstr>Variants of LSTM -3 </vt:lpstr>
      <vt:lpstr>Fully Gated Unit</vt:lpstr>
      <vt:lpstr>Gated Recurrent Unit</vt:lpstr>
      <vt:lpstr>RNN, LSTM and GRU</vt:lpstr>
      <vt:lpstr>RNN, LSTM and GRU</vt:lpstr>
      <vt:lpstr>Simple GRU</vt:lpstr>
      <vt:lpstr>Fully Gated GRU</vt:lpstr>
      <vt:lpstr>Fully Gated GRU</vt:lpstr>
      <vt:lpstr>Fully Gated GRU</vt:lpstr>
      <vt:lpstr>Fully Gated GRU</vt:lpstr>
      <vt:lpstr>Fully Gated GRU Working </vt:lpstr>
      <vt:lpstr>Simple GRU Vs. Fully Gated GRU </vt:lpstr>
      <vt:lpstr>LSTM Vs. Fully Gated GRU </vt:lpstr>
      <vt:lpstr>LSTM</vt:lpstr>
      <vt:lpstr>LSTM</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Neural Networks</dc:title>
  <dc:creator>Supriya Patil</dc:creator>
  <cp:lastModifiedBy>SUPRIYA</cp:lastModifiedBy>
  <cp:revision>66</cp:revision>
  <dcterms:created xsi:type="dcterms:W3CDTF">2021-08-21T04:01:17Z</dcterms:created>
  <dcterms:modified xsi:type="dcterms:W3CDTF">2025-09-04T03:43:31Z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0x01010082FE48CAB004A144B868A716FC6650EC</vt:lpwstr>
  </property>
</Properties>
</file>