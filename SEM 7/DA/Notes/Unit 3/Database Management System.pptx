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86"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D644BAC-4C61-4A9B-8BC8-49565FEB7045}" type="datetimeFigureOut">
              <a:rPr lang="en-IN" smtClean="0"/>
              <a:t>24-10-2025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F76129F6-937D-4FEB-967F-2338B89C85AA}"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559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644BAC-4C61-4A9B-8BC8-49565FEB7045}" type="datetimeFigureOut">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29F6-937D-4FEB-967F-2338B89C85AA}" type="slidenum">
              <a:rPr lang="en-IN" smtClean="0"/>
              <a:t>‹#›</a:t>
            </a:fld>
            <a:endParaRPr lang="en-IN"/>
          </a:p>
        </p:txBody>
      </p:sp>
    </p:spTree>
    <p:extLst>
      <p:ext uri="{BB962C8B-B14F-4D97-AF65-F5344CB8AC3E}">
        <p14:creationId xmlns:p14="http://schemas.microsoft.com/office/powerpoint/2010/main" val="458017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644BAC-4C61-4A9B-8BC8-49565FEB7045}" type="datetimeFigureOut">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29F6-937D-4FEB-967F-2338B89C85AA}"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2314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644BAC-4C61-4A9B-8BC8-49565FEB7045}" type="datetimeFigureOut">
              <a:rPr lang="en-IN" smtClean="0"/>
              <a:t>24-10-2025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6129F6-937D-4FEB-967F-2338B89C85AA}" type="slidenum">
              <a:rPr lang="en-IN" smtClean="0"/>
              <a:t>‹#›</a:t>
            </a:fld>
            <a:endParaRPr lang="en-IN"/>
          </a:p>
        </p:txBody>
      </p:sp>
    </p:spTree>
    <p:extLst>
      <p:ext uri="{BB962C8B-B14F-4D97-AF65-F5344CB8AC3E}">
        <p14:creationId xmlns:p14="http://schemas.microsoft.com/office/powerpoint/2010/main" val="370944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644BAC-4C61-4A9B-8BC8-49565FEB7045}" type="datetimeFigureOut">
              <a:rPr lang="en-IN" smtClean="0"/>
              <a:t>24-10-2025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76129F6-937D-4FEB-967F-2338B89C85AA}"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4331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644BAC-4C61-4A9B-8BC8-49565FEB7045}" type="datetimeFigureOut">
              <a:rPr lang="en-IN" smtClean="0"/>
              <a:t>24-10-2025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76129F6-937D-4FEB-967F-2338B89C85AA}"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6118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644BAC-4C61-4A9B-8BC8-49565FEB7045}" type="datetimeFigureOut">
              <a:rPr lang="en-IN" smtClean="0"/>
              <a:t>24-10-2025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76129F6-937D-4FEB-967F-2338B89C85AA}" type="slidenum">
              <a:rPr lang="en-IN" smtClean="0"/>
              <a:t>‹#›</a:t>
            </a:fld>
            <a:endParaRPr lang="en-IN"/>
          </a:p>
        </p:txBody>
      </p:sp>
    </p:spTree>
    <p:extLst>
      <p:ext uri="{BB962C8B-B14F-4D97-AF65-F5344CB8AC3E}">
        <p14:creationId xmlns:p14="http://schemas.microsoft.com/office/powerpoint/2010/main" val="1059985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644BAC-4C61-4A9B-8BC8-49565FEB7045}" type="datetimeFigureOut">
              <a:rPr lang="en-IN" smtClean="0"/>
              <a:t>24-10-2025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6129F6-937D-4FEB-967F-2338B89C85AA}"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7980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644BAC-4C61-4A9B-8BC8-49565FEB7045}" type="datetimeFigureOut">
              <a:rPr lang="en-IN" smtClean="0"/>
              <a:t>24-10-2025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6129F6-937D-4FEB-967F-2338B89C85AA}" type="slidenum">
              <a:rPr lang="en-IN" smtClean="0"/>
              <a:t>‹#›</a:t>
            </a:fld>
            <a:endParaRPr lang="en-IN"/>
          </a:p>
        </p:txBody>
      </p:sp>
    </p:spTree>
    <p:extLst>
      <p:ext uri="{BB962C8B-B14F-4D97-AF65-F5344CB8AC3E}">
        <p14:creationId xmlns:p14="http://schemas.microsoft.com/office/powerpoint/2010/main" val="546196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644BAC-4C61-4A9B-8BC8-49565FEB7045}" type="datetimeFigureOut">
              <a:rPr lang="en-IN" smtClean="0"/>
              <a:t>24-10-2025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76129F6-937D-4FEB-967F-2338B89C85AA}" type="slidenum">
              <a:rPr lang="en-IN" smtClean="0"/>
              <a:t>‹#›</a:t>
            </a:fld>
            <a:endParaRPr lang="en-IN"/>
          </a:p>
        </p:txBody>
      </p:sp>
    </p:spTree>
    <p:extLst>
      <p:ext uri="{BB962C8B-B14F-4D97-AF65-F5344CB8AC3E}">
        <p14:creationId xmlns:p14="http://schemas.microsoft.com/office/powerpoint/2010/main" val="2710842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644BAC-4C61-4A9B-8BC8-49565FEB7045}" type="datetimeFigureOut">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29F6-937D-4FEB-967F-2338B89C85AA}"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3703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644BAC-4C61-4A9B-8BC8-49565FEB7045}" type="datetimeFigureOut">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29F6-937D-4FEB-967F-2338B89C85AA}"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3028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644BAC-4C61-4A9B-8BC8-49565FEB7045}" type="datetimeFigureOut">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29F6-937D-4FEB-967F-2338B89C85AA}" type="slidenum">
              <a:rPr lang="en-IN" smtClean="0"/>
              <a:t>‹#›</a:t>
            </a:fld>
            <a:endParaRPr lang="en-IN"/>
          </a:p>
        </p:txBody>
      </p:sp>
    </p:spTree>
    <p:extLst>
      <p:ext uri="{BB962C8B-B14F-4D97-AF65-F5344CB8AC3E}">
        <p14:creationId xmlns:p14="http://schemas.microsoft.com/office/powerpoint/2010/main" val="33202515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644BAC-4C61-4A9B-8BC8-49565FEB7045}" type="datetimeFigureOut">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29F6-937D-4FEB-967F-2338B89C85AA}"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4313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644BAC-4C61-4A9B-8BC8-49565FEB7045}" type="datetimeFigureOut">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29F6-937D-4FEB-967F-2338B89C85AA}"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65247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644BAC-4C61-4A9B-8BC8-49565FEB7045}" type="datetimeFigureOut">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29F6-937D-4FEB-967F-2338B89C85AA}"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95695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644BAC-4C61-4A9B-8BC8-49565FEB7045}" type="datetimeFigureOut">
              <a:rPr lang="en-IN" smtClean="0"/>
              <a:t>24-10-2025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76129F6-937D-4FEB-967F-2338B89C85AA}"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3506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D644BAC-4C61-4A9B-8BC8-49565FEB7045}" type="datetimeFigureOut">
              <a:rPr lang="en-IN" smtClean="0"/>
              <a:t>24-10-2025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76129F6-937D-4FEB-967F-2338B89C85AA}" type="slidenum">
              <a:rPr lang="en-IN" smtClean="0"/>
              <a:t>‹#›</a:t>
            </a:fld>
            <a:endParaRPr lang="en-IN"/>
          </a:p>
        </p:txBody>
      </p:sp>
    </p:spTree>
    <p:extLst>
      <p:ext uri="{BB962C8B-B14F-4D97-AF65-F5344CB8AC3E}">
        <p14:creationId xmlns:p14="http://schemas.microsoft.com/office/powerpoint/2010/main" val="15361220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181AB-D185-8673-ED78-735C68B97594}"/>
              </a:ext>
            </a:extLst>
          </p:cNvPr>
          <p:cNvSpPr>
            <a:spLocks noGrp="1"/>
          </p:cNvSpPr>
          <p:nvPr>
            <p:ph type="ctrTitle"/>
          </p:nvPr>
        </p:nvSpPr>
        <p:spPr/>
        <p:txBody>
          <a:bodyPr/>
          <a:lstStyle/>
          <a:p>
            <a:r>
              <a:rPr lang="en-US" sz="4400" b="1" dirty="0">
                <a:latin typeface="Times New Roman" panose="02020603050405020304" pitchFamily="18" charset="0"/>
                <a:cs typeface="Times New Roman" panose="02020603050405020304" pitchFamily="18" charset="0"/>
              </a:rPr>
              <a:t>Database Management System</a:t>
            </a:r>
            <a:endParaRPr lang="en-I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FABD0C4-E4B8-BE87-A2A1-B9D7D340F471}"/>
              </a:ext>
            </a:extLst>
          </p:cNvPr>
          <p:cNvSpPr>
            <a:spLocks noGrp="1"/>
          </p:cNvSpPr>
          <p:nvPr>
            <p:ph type="subTitle" idx="1"/>
          </p:nvPr>
        </p:nvSpPr>
        <p:spPr>
          <a:xfrm>
            <a:off x="2692398" y="3657597"/>
            <a:ext cx="6927463" cy="1782150"/>
          </a:xfrm>
        </p:spPr>
        <p:txBody>
          <a:bodyPr>
            <a:normAutofit lnSpcReduction="10000"/>
          </a:bodyPr>
          <a:lstStyle/>
          <a:p>
            <a:r>
              <a:rPr lang="en-US" b="1" dirty="0">
                <a:latin typeface="Times New Roman" panose="02020603050405020304" pitchFamily="18" charset="0"/>
                <a:cs typeface="Times New Roman" panose="02020603050405020304" pitchFamily="18" charset="0"/>
              </a:rPr>
              <a:t>Mr. Shrikrishna Anand Narvekar</a:t>
            </a:r>
          </a:p>
          <a:p>
            <a:r>
              <a:rPr lang="en-US" dirty="0">
                <a:latin typeface="Times New Roman" panose="02020603050405020304" pitchFamily="18" charset="0"/>
                <a:cs typeface="Times New Roman" panose="02020603050405020304" pitchFamily="18" charset="0"/>
              </a:rPr>
              <a:t>Assitant Professor</a:t>
            </a:r>
          </a:p>
          <a:p>
            <a:r>
              <a:rPr lang="en-US" dirty="0">
                <a:latin typeface="Times New Roman" panose="02020603050405020304" pitchFamily="18" charset="0"/>
                <a:cs typeface="Times New Roman" panose="02020603050405020304" pitchFamily="18" charset="0"/>
              </a:rPr>
              <a:t>Computer Engineering department</a:t>
            </a:r>
          </a:p>
          <a:p>
            <a:r>
              <a:rPr lang="en-US" dirty="0">
                <a:latin typeface="Times New Roman" panose="02020603050405020304" pitchFamily="18" charset="0"/>
                <a:cs typeface="Times New Roman" panose="02020603050405020304" pitchFamily="18" charset="0"/>
              </a:rPr>
              <a:t>Agnel Institute of Technology and Design</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31262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C00D2-FEC4-138F-95EB-D35960CCFFC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 to database 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4DE947E-D000-A310-0189-7C63A4064467}"/>
              </a:ext>
            </a:extLst>
          </p:cNvPr>
          <p:cNvSpPr>
            <a:spLocks noGrp="1"/>
          </p:cNvSpPr>
          <p:nvPr>
            <p:ph idx="1"/>
          </p:nvPr>
        </p:nvSpPr>
        <p:spPr/>
        <p:txBody>
          <a:bodyPr>
            <a:normAutofit lnSpcReduction="10000"/>
          </a:bodyPr>
          <a:lstStyle/>
          <a:p>
            <a:r>
              <a:rPr lang="en-US" dirty="0">
                <a:solidFill>
                  <a:schemeClr val="tx1"/>
                </a:solidFill>
                <a:latin typeface="Times New Roman" panose="02020603050405020304" pitchFamily="18" charset="0"/>
                <a:cs typeface="Times New Roman" panose="02020603050405020304" pitchFamily="18" charset="0"/>
              </a:rPr>
              <a:t>Database management system consist of two parts:</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Database </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Management system</a:t>
            </a:r>
          </a:p>
          <a:p>
            <a:pPr marL="0" indent="0">
              <a:buNone/>
            </a:pPr>
            <a:r>
              <a:rPr lang="en-IN" dirty="0">
                <a:solidFill>
                  <a:schemeClr val="tx1"/>
                </a:solidFill>
                <a:latin typeface="Times New Roman" panose="02020603050405020304" pitchFamily="18" charset="0"/>
                <a:cs typeface="Times New Roman" panose="02020603050405020304" pitchFamily="18" charset="0"/>
              </a:rPr>
              <a:t>To understand what is database let’s first understand what is data?</a:t>
            </a:r>
          </a:p>
          <a:p>
            <a:r>
              <a:rPr lang="en-IN" dirty="0">
                <a:solidFill>
                  <a:schemeClr val="tx1"/>
                </a:solidFill>
                <a:latin typeface="Times New Roman" panose="02020603050405020304" pitchFamily="18" charset="0"/>
                <a:cs typeface="Times New Roman" panose="02020603050405020304" pitchFamily="18" charset="0"/>
              </a:rPr>
              <a:t>Data is a </a:t>
            </a:r>
            <a:r>
              <a:rPr lang="en-IN" b="1" dirty="0">
                <a:solidFill>
                  <a:srgbClr val="FF0000"/>
                </a:solidFill>
                <a:latin typeface="Times New Roman" panose="02020603050405020304" pitchFamily="18" charset="0"/>
                <a:cs typeface="Times New Roman" panose="02020603050405020304" pitchFamily="18" charset="0"/>
              </a:rPr>
              <a:t>raw and unprocessed fact  </a:t>
            </a:r>
            <a:r>
              <a:rPr lang="en-IN" dirty="0">
                <a:solidFill>
                  <a:schemeClr val="tx1"/>
                </a:solidFill>
                <a:latin typeface="Times New Roman" panose="02020603050405020304" pitchFamily="18" charset="0"/>
                <a:cs typeface="Times New Roman" panose="02020603050405020304" pitchFamily="18" charset="0"/>
              </a:rPr>
              <a:t>that has been organized and processed and interpreted to make sense</a:t>
            </a:r>
          </a:p>
          <a:p>
            <a:r>
              <a:rPr lang="en-IN" dirty="0" err="1">
                <a:solidFill>
                  <a:schemeClr val="tx1"/>
                </a:solidFill>
                <a:latin typeface="Times New Roman" panose="02020603050405020304" pitchFamily="18" charset="0"/>
                <a:cs typeface="Times New Roman" panose="02020603050405020304" pitchFamily="18" charset="0"/>
              </a:rPr>
              <a:t>E.g</a:t>
            </a:r>
            <a:r>
              <a:rPr lang="en-IN" dirty="0">
                <a:solidFill>
                  <a:schemeClr val="tx1"/>
                </a:solidFill>
                <a:latin typeface="Times New Roman" panose="02020603050405020304" pitchFamily="18" charset="0"/>
                <a:cs typeface="Times New Roman" panose="02020603050405020304" pitchFamily="18" charset="0"/>
              </a:rPr>
              <a:t> 1, ABC, 19  has no particular meaning</a:t>
            </a:r>
          </a:p>
          <a:p>
            <a:pPr marL="0" indent="0">
              <a:buNone/>
            </a:pP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2896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06AC2-0B7A-7C48-8EA8-B9250596DCF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 to database system</a:t>
            </a:r>
            <a:endParaRPr lang="en-IN" dirty="0"/>
          </a:p>
        </p:txBody>
      </p:sp>
      <p:sp>
        <p:nvSpPr>
          <p:cNvPr id="3" name="Content Placeholder 2">
            <a:extLst>
              <a:ext uri="{FF2B5EF4-FFF2-40B4-BE49-F238E27FC236}">
                <a16:creationId xmlns:a16="http://schemas.microsoft.com/office/drawing/2014/main" id="{487106BF-2030-32CA-4A62-AA1166364B6D}"/>
              </a:ext>
            </a:extLst>
          </p:cNvPr>
          <p:cNvSpPr>
            <a:spLocks noGrp="1"/>
          </p:cNvSpPr>
          <p:nvPr>
            <p:ph idx="1"/>
          </p:nvPr>
        </p:nvSpPr>
        <p:spPr>
          <a:xfrm>
            <a:off x="1370046" y="2556932"/>
            <a:ext cx="9601196" cy="3318936"/>
          </a:xfrm>
        </p:spPr>
        <p:txBody>
          <a:bodyPr/>
          <a:lstStyle/>
          <a:p>
            <a:r>
              <a:rPr lang="en-US" b="1" dirty="0">
                <a:latin typeface="Times New Roman" panose="02020603050405020304" pitchFamily="18" charset="0"/>
                <a:cs typeface="Times New Roman" panose="02020603050405020304" pitchFamily="18" charset="0"/>
              </a:rPr>
              <a:t>Record: </a:t>
            </a:r>
            <a:r>
              <a:rPr lang="en-US" dirty="0">
                <a:latin typeface="Times New Roman" panose="02020603050405020304" pitchFamily="18" charset="0"/>
                <a:cs typeface="Times New Roman" panose="02020603050405020304" pitchFamily="18" charset="0"/>
              </a:rPr>
              <a:t>It is collection of related data item</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Table or relation: </a:t>
            </a:r>
            <a:r>
              <a:rPr lang="en-IN" dirty="0">
                <a:latin typeface="Times New Roman" panose="02020603050405020304" pitchFamily="18" charset="0"/>
                <a:cs typeface="Times New Roman" panose="02020603050405020304" pitchFamily="18" charset="0"/>
              </a:rPr>
              <a:t>Collection of related records</a:t>
            </a:r>
          </a:p>
          <a:p>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82017C4-E89D-441D-E878-695006D32E60}"/>
              </a:ext>
            </a:extLst>
          </p:cNvPr>
          <p:cNvPicPr>
            <a:picLocks noChangeAspect="1"/>
          </p:cNvPicPr>
          <p:nvPr/>
        </p:nvPicPr>
        <p:blipFill>
          <a:blip r:embed="rId2"/>
          <a:stretch>
            <a:fillRect/>
          </a:stretch>
        </p:blipFill>
        <p:spPr>
          <a:xfrm>
            <a:off x="3436192" y="3086100"/>
            <a:ext cx="2800350" cy="685800"/>
          </a:xfrm>
          <a:prstGeom prst="rect">
            <a:avLst/>
          </a:prstGeom>
        </p:spPr>
      </p:pic>
      <p:pic>
        <p:nvPicPr>
          <p:cNvPr id="7" name="Picture 6">
            <a:extLst>
              <a:ext uri="{FF2B5EF4-FFF2-40B4-BE49-F238E27FC236}">
                <a16:creationId xmlns:a16="http://schemas.microsoft.com/office/drawing/2014/main" id="{FDFB574A-D0DA-84A4-3DD5-1A876AFA654F}"/>
              </a:ext>
            </a:extLst>
          </p:cNvPr>
          <p:cNvPicPr>
            <a:picLocks noChangeAspect="1"/>
          </p:cNvPicPr>
          <p:nvPr/>
        </p:nvPicPr>
        <p:blipFill>
          <a:blip r:embed="rId3"/>
          <a:stretch>
            <a:fillRect/>
          </a:stretch>
        </p:blipFill>
        <p:spPr>
          <a:xfrm>
            <a:off x="3528526" y="4570943"/>
            <a:ext cx="2895600" cy="1304925"/>
          </a:xfrm>
          <a:prstGeom prst="rect">
            <a:avLst/>
          </a:prstGeom>
        </p:spPr>
      </p:pic>
    </p:spTree>
    <p:extLst>
      <p:ext uri="{BB962C8B-B14F-4D97-AF65-F5344CB8AC3E}">
        <p14:creationId xmlns:p14="http://schemas.microsoft.com/office/powerpoint/2010/main" val="349150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C6296-E4D7-9D2B-001A-BA86FF6502D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 to database system</a:t>
            </a:r>
            <a:endParaRPr lang="en-IN" dirty="0"/>
          </a:p>
        </p:txBody>
      </p:sp>
      <p:sp>
        <p:nvSpPr>
          <p:cNvPr id="3" name="Content Placeholder 2">
            <a:extLst>
              <a:ext uri="{FF2B5EF4-FFF2-40B4-BE49-F238E27FC236}">
                <a16:creationId xmlns:a16="http://schemas.microsoft.com/office/drawing/2014/main" id="{B9212772-0B3B-983D-68A2-89E5466C70C1}"/>
              </a:ext>
            </a:extLst>
          </p:cNvPr>
          <p:cNvSpPr>
            <a:spLocks noGrp="1"/>
          </p:cNvSpPr>
          <p:nvPr>
            <p:ph idx="1"/>
          </p:nvPr>
        </p:nvSpPr>
        <p:spPr>
          <a:xfrm>
            <a:off x="1295402" y="2556932"/>
            <a:ext cx="9601196" cy="3318936"/>
          </a:xfrm>
        </p:spPr>
        <p:txBody>
          <a:bodyPr/>
          <a:lstStyle/>
          <a:p>
            <a:r>
              <a:rPr lang="en-US" b="1" dirty="0">
                <a:latin typeface="Times New Roman" panose="02020603050405020304" pitchFamily="18" charset="0"/>
                <a:cs typeface="Times New Roman" panose="02020603050405020304" pitchFamily="18" charset="0"/>
              </a:rPr>
              <a:t>Databases: </a:t>
            </a:r>
            <a:r>
              <a:rPr lang="en-US" dirty="0">
                <a:latin typeface="Times New Roman" panose="02020603050405020304" pitchFamily="18" charset="0"/>
                <a:cs typeface="Times New Roman" panose="02020603050405020304" pitchFamily="18" charset="0"/>
              </a:rPr>
              <a:t>Collection of related relations</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94B491D-FE5B-2BCC-BE90-B6AF961C0BD2}"/>
              </a:ext>
            </a:extLst>
          </p:cNvPr>
          <p:cNvPicPr>
            <a:picLocks noChangeAspect="1"/>
          </p:cNvPicPr>
          <p:nvPr/>
        </p:nvPicPr>
        <p:blipFill>
          <a:blip r:embed="rId2"/>
          <a:stretch>
            <a:fillRect/>
          </a:stretch>
        </p:blipFill>
        <p:spPr>
          <a:xfrm>
            <a:off x="2836798" y="2982103"/>
            <a:ext cx="6219825" cy="3562350"/>
          </a:xfrm>
          <a:prstGeom prst="rect">
            <a:avLst/>
          </a:prstGeom>
        </p:spPr>
      </p:pic>
    </p:spTree>
    <p:extLst>
      <p:ext uri="{BB962C8B-B14F-4D97-AF65-F5344CB8AC3E}">
        <p14:creationId xmlns:p14="http://schemas.microsoft.com/office/powerpoint/2010/main" val="634718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C589F-0008-62B3-D41A-3923618499E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Traditional File 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371FAB-2FB6-9844-73BC-2DEA30D220FB}"/>
              </a:ext>
            </a:extLst>
          </p:cNvPr>
          <p:cNvSpPr>
            <a:spLocks noGrp="1"/>
          </p:cNvSpPr>
          <p:nvPr>
            <p:ph idx="1"/>
          </p:nvPr>
        </p:nvSpPr>
        <p:spPr>
          <a:xfrm>
            <a:off x="1295401" y="2556932"/>
            <a:ext cx="4985753" cy="3628810"/>
          </a:xfrm>
        </p:spPr>
        <p:txBody>
          <a:bodyPr>
            <a:normAutofit fontScale="92500"/>
          </a:bodyPr>
          <a:lstStyle/>
          <a:p>
            <a:r>
              <a:rPr lang="en-US" b="1" dirty="0">
                <a:latin typeface="Times New Roman" panose="02020603050405020304" pitchFamily="18" charset="0"/>
                <a:cs typeface="Times New Roman" panose="02020603050405020304" pitchFamily="18" charset="0"/>
              </a:rPr>
              <a:t>Traditional File Processing System:</a:t>
            </a:r>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Library Applications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Examination Applications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Registration Applications</a:t>
            </a:r>
            <a:r>
              <a:rPr lang="en-US" dirty="0">
                <a:latin typeface="Times New Roman" panose="02020603050405020304" pitchFamily="18" charset="0"/>
                <a:cs typeface="Times New Roman" panose="02020603050405020304" pitchFamily="18" charset="0"/>
              </a:rPr>
              <a:t>, are shown as independent systems, each with its own data files. These systems appear to manage their own datasets, which creates a number of challenges in terms of data redundancy, inconsistency, and inefficiency.</a:t>
            </a:r>
            <a:endParaRPr lang="en-IN" dirty="0">
              <a:latin typeface="Times New Roman" panose="02020603050405020304" pitchFamily="18" charset="0"/>
              <a:cs typeface="Times New Roman" panose="02020603050405020304" pitchFamily="18" charset="0"/>
            </a:endParaRPr>
          </a:p>
        </p:txBody>
      </p:sp>
      <p:pic>
        <p:nvPicPr>
          <p:cNvPr id="4" name="Picture 3" descr="What is Traditional File Processing System And Its Characteristics">
            <a:extLst>
              <a:ext uri="{FF2B5EF4-FFF2-40B4-BE49-F238E27FC236}">
                <a16:creationId xmlns:a16="http://schemas.microsoft.com/office/drawing/2014/main" id="{2247681B-A945-98E4-A1DB-4837570CFD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867"/>
          <a:stretch/>
        </p:blipFill>
        <p:spPr bwMode="auto">
          <a:xfrm>
            <a:off x="6281154" y="2247057"/>
            <a:ext cx="5172075" cy="3938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916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2C427-7DB1-C17F-C443-FFA948A0EA2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is database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425154-B0FD-C973-FA09-D3A58854CD5B}"/>
              </a:ext>
            </a:extLst>
          </p:cNvPr>
          <p:cNvSpPr>
            <a:spLocks noGrp="1"/>
          </p:cNvSpPr>
          <p:nvPr>
            <p:ph idx="1"/>
          </p:nvPr>
        </p:nvSpPr>
        <p:spPr>
          <a:xfrm>
            <a:off x="1295401" y="2556932"/>
            <a:ext cx="3603170" cy="3479974"/>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A database in a DBMS could be viewed by lots of different people with different responsibilities.</a:t>
            </a:r>
          </a:p>
          <a:p>
            <a:r>
              <a:rPr lang="en-US" sz="2000" dirty="0">
                <a:solidFill>
                  <a:schemeClr val="tx1"/>
                </a:solidFill>
                <a:latin typeface="Times New Roman" panose="02020603050405020304" pitchFamily="18" charset="0"/>
                <a:cs typeface="Times New Roman" panose="02020603050405020304" pitchFamily="18" charset="0"/>
              </a:rPr>
              <a:t>Each employee in the company will have different levels of access to the database with</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their own customized </a:t>
            </a:r>
            <a:r>
              <a:rPr lang="en-US" sz="2000" b="1" dirty="0">
                <a:solidFill>
                  <a:schemeClr val="tx1"/>
                </a:solidFill>
                <a:latin typeface="Times New Roman" panose="02020603050405020304" pitchFamily="18" charset="0"/>
                <a:cs typeface="Times New Roman" panose="02020603050405020304" pitchFamily="18" charset="0"/>
              </a:rPr>
              <a:t>front-end </a:t>
            </a:r>
            <a:r>
              <a:rPr lang="en-US" sz="2000" dirty="0">
                <a:solidFill>
                  <a:schemeClr val="tx1"/>
                </a:solidFill>
                <a:latin typeface="Times New Roman" panose="02020603050405020304" pitchFamily="18" charset="0"/>
                <a:cs typeface="Times New Roman" panose="02020603050405020304" pitchFamily="18" charset="0"/>
              </a:rPr>
              <a:t>application</a:t>
            </a: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5E74402-02CF-EE9F-CA67-121D2E9367A6}"/>
              </a:ext>
            </a:extLst>
          </p:cNvPr>
          <p:cNvPicPr>
            <a:picLocks noChangeAspect="1"/>
          </p:cNvPicPr>
          <p:nvPr/>
        </p:nvPicPr>
        <p:blipFill>
          <a:blip r:embed="rId2"/>
          <a:stretch>
            <a:fillRect/>
          </a:stretch>
        </p:blipFill>
        <p:spPr>
          <a:xfrm>
            <a:off x="4979093" y="2285999"/>
            <a:ext cx="6448028" cy="3823692"/>
          </a:xfrm>
          <a:prstGeom prst="rect">
            <a:avLst/>
          </a:prstGeom>
        </p:spPr>
      </p:pic>
    </p:spTree>
    <p:extLst>
      <p:ext uri="{BB962C8B-B14F-4D97-AF65-F5344CB8AC3E}">
        <p14:creationId xmlns:p14="http://schemas.microsoft.com/office/powerpoint/2010/main" val="4024744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A5350-1EE3-01A4-1A95-3494A3E402F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Purpose of a Database 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7BC409-952C-1FDE-A00B-68995B126CE5}"/>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Data Integration</a:t>
            </a:r>
          </a:p>
          <a:p>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Data Redundancy and Inconsistency</a:t>
            </a:r>
            <a:endParaRPr lang="en-IN" kern="100" dirty="0">
              <a:latin typeface="Times New Roman" panose="02020603050405020304" pitchFamily="18" charset="0"/>
              <a:ea typeface="Calibri" panose="020F0502020204030204" pitchFamily="34" charset="0"/>
              <a:cs typeface="Times New Roman" panose="02020603050405020304" pitchFamily="18" charset="0"/>
            </a:endParaRPr>
          </a:p>
          <a:p>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Data Independence</a:t>
            </a:r>
          </a:p>
          <a:p>
            <a:r>
              <a:rPr lang="en-IN" dirty="0">
                <a:latin typeface="Times New Roman" panose="02020603050405020304" pitchFamily="18" charset="0"/>
                <a:cs typeface="Times New Roman" panose="02020603050405020304" pitchFamily="18" charset="0"/>
              </a:rPr>
              <a:t>Efficient data access</a:t>
            </a:r>
          </a:p>
          <a:p>
            <a:r>
              <a:rPr lang="en-IN" dirty="0">
                <a:latin typeface="Times New Roman" panose="02020603050405020304" pitchFamily="18" charset="0"/>
                <a:cs typeface="Times New Roman" panose="02020603050405020304" pitchFamily="18" charset="0"/>
              </a:rPr>
              <a:t>Security and Authorization</a:t>
            </a:r>
          </a:p>
          <a:p>
            <a:r>
              <a:rPr lang="en-IN" dirty="0">
                <a:latin typeface="Times New Roman" panose="02020603050405020304" pitchFamily="18" charset="0"/>
                <a:cs typeface="Times New Roman" panose="02020603050405020304" pitchFamily="18" charset="0"/>
              </a:rPr>
              <a:t>Backup and recovery</a:t>
            </a:r>
          </a:p>
        </p:txBody>
      </p:sp>
    </p:spTree>
    <p:extLst>
      <p:ext uri="{BB962C8B-B14F-4D97-AF65-F5344CB8AC3E}">
        <p14:creationId xmlns:p14="http://schemas.microsoft.com/office/powerpoint/2010/main" val="3592959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41D01-EABC-5872-E4C4-C2C32B3B6D8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Database system and its Applications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5C3F5A-9E8C-69BF-B2B4-A63F473F7DF4}"/>
              </a:ext>
            </a:extLst>
          </p:cNvPr>
          <p:cNvSpPr>
            <a:spLocks noGrp="1"/>
          </p:cNvSpPr>
          <p:nvPr>
            <p:ph idx="1"/>
          </p:nvPr>
        </p:nvSpPr>
        <p:spPr>
          <a:xfrm>
            <a:off x="1295400" y="2556931"/>
            <a:ext cx="9836019" cy="3834537"/>
          </a:xfrm>
        </p:spPr>
        <p:txBody>
          <a:bodyPr>
            <a:normAutofit fontScale="85000" lnSpcReduction="10000"/>
          </a:bodyPr>
          <a:lstStyle/>
          <a:p>
            <a:pPr>
              <a:lnSpc>
                <a:spcPct val="150000"/>
              </a:lnSpc>
            </a:pPr>
            <a:r>
              <a:rPr lang="en-US" sz="2600" b="1" dirty="0">
                <a:solidFill>
                  <a:srgbClr val="000000"/>
                </a:solidFill>
                <a:effectLst/>
                <a:latin typeface="Times New Roman" panose="02020603050405020304" pitchFamily="18" charset="0"/>
                <a:cs typeface="Times New Roman" panose="02020603050405020304" pitchFamily="18" charset="0"/>
              </a:rPr>
              <a:t>Banking: </a:t>
            </a:r>
            <a:r>
              <a:rPr lang="en-US" sz="2600" b="0" i="0" dirty="0">
                <a:solidFill>
                  <a:srgbClr val="000000"/>
                </a:solidFill>
                <a:effectLst/>
                <a:latin typeface="Times New Roman" panose="02020603050405020304" pitchFamily="18" charset="0"/>
                <a:cs typeface="Times New Roman" panose="02020603050405020304" pitchFamily="18" charset="0"/>
              </a:rPr>
              <a:t>For customer information, accounts, loans, and banking transactions.</a:t>
            </a:r>
            <a:endParaRPr lang="en-US" sz="2600"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sz="2600" b="1" dirty="0">
                <a:solidFill>
                  <a:srgbClr val="000000"/>
                </a:solidFill>
                <a:effectLst/>
                <a:latin typeface="Times New Roman" panose="02020603050405020304" pitchFamily="18" charset="0"/>
                <a:cs typeface="Times New Roman" panose="02020603050405020304" pitchFamily="18" charset="0"/>
              </a:rPr>
              <a:t>Credit card transactions: </a:t>
            </a:r>
            <a:r>
              <a:rPr lang="en-US" sz="2600" b="0" i="0" dirty="0">
                <a:solidFill>
                  <a:srgbClr val="000000"/>
                </a:solidFill>
                <a:effectLst/>
                <a:latin typeface="Times New Roman" panose="02020603050405020304" pitchFamily="18" charset="0"/>
                <a:cs typeface="Times New Roman" panose="02020603050405020304" pitchFamily="18" charset="0"/>
              </a:rPr>
              <a:t>For purchases on credit cards and generation of monthly statements.</a:t>
            </a:r>
            <a:endParaRPr lang="en-US" sz="2600"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sz="2600" b="1" dirty="0">
                <a:solidFill>
                  <a:srgbClr val="000000"/>
                </a:solidFill>
                <a:effectLst/>
                <a:latin typeface="Times New Roman" panose="02020603050405020304" pitchFamily="18" charset="0"/>
                <a:cs typeface="Times New Roman" panose="02020603050405020304" pitchFamily="18" charset="0"/>
              </a:rPr>
              <a:t>Finance: </a:t>
            </a:r>
            <a:r>
              <a:rPr lang="en-US" sz="2600" b="0" i="0" dirty="0">
                <a:solidFill>
                  <a:srgbClr val="000000"/>
                </a:solidFill>
                <a:effectLst/>
                <a:latin typeface="Times New Roman" panose="02020603050405020304" pitchFamily="18" charset="0"/>
                <a:cs typeface="Times New Roman" panose="02020603050405020304" pitchFamily="18" charset="0"/>
              </a:rPr>
              <a:t>For storing information about holdings, sales, and purchases of financial instruments such a stocks and bonds; also for storing real-time market data to enable online trading by customers and automated trading by the firm.</a:t>
            </a:r>
            <a:endParaRPr lang="en-US" sz="2600" dirty="0">
              <a:solidFill>
                <a:srgbClr val="00000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36882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9593D-071A-513D-B3D8-53EA705BAB5C}"/>
              </a:ext>
            </a:extLst>
          </p:cNvPr>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Database system and its Applications</a:t>
            </a:r>
            <a:endParaRPr lang="en-IN"/>
          </a:p>
        </p:txBody>
      </p:sp>
      <p:sp>
        <p:nvSpPr>
          <p:cNvPr id="3" name="Content Placeholder 2">
            <a:extLst>
              <a:ext uri="{FF2B5EF4-FFF2-40B4-BE49-F238E27FC236}">
                <a16:creationId xmlns:a16="http://schemas.microsoft.com/office/drawing/2014/main" id="{9C075445-D66D-6AA3-ABEE-92C573768577}"/>
              </a:ext>
            </a:extLst>
          </p:cNvPr>
          <p:cNvSpPr>
            <a:spLocks noGrp="1"/>
          </p:cNvSpPr>
          <p:nvPr>
            <p:ph idx="1"/>
          </p:nvPr>
        </p:nvSpPr>
        <p:spPr/>
        <p:txBody>
          <a:bodyPr>
            <a:normAutofit fontScale="85000" lnSpcReduction="20000"/>
          </a:bodyPr>
          <a:lstStyle/>
          <a:p>
            <a:pPr>
              <a:lnSpc>
                <a:spcPct val="150000"/>
              </a:lnSpc>
            </a:pPr>
            <a:r>
              <a:rPr lang="en-US" sz="2400" b="1" dirty="0">
                <a:solidFill>
                  <a:srgbClr val="000000"/>
                </a:solidFill>
                <a:effectLst/>
                <a:latin typeface="Times New Roman" panose="02020603050405020304" pitchFamily="18" charset="0"/>
                <a:cs typeface="Times New Roman" panose="02020603050405020304" pitchFamily="18" charset="0"/>
              </a:rPr>
              <a:t>Universities: </a:t>
            </a:r>
            <a:r>
              <a:rPr lang="en-US" sz="2400" b="0" i="0" dirty="0">
                <a:solidFill>
                  <a:srgbClr val="000000"/>
                </a:solidFill>
                <a:effectLst/>
                <a:latin typeface="Times New Roman" panose="02020603050405020304" pitchFamily="18" charset="0"/>
                <a:cs typeface="Times New Roman" panose="02020603050405020304" pitchFamily="18" charset="0"/>
              </a:rPr>
              <a:t>For student information, course registrations, and grades (in addition to standard enterprise information such as human resources and accounting).</a:t>
            </a:r>
            <a:endParaRPr lang="en-US" sz="2400"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sz="2400" b="1" dirty="0">
                <a:solidFill>
                  <a:srgbClr val="000000"/>
                </a:solidFill>
                <a:effectLst/>
                <a:latin typeface="Times New Roman" panose="02020603050405020304" pitchFamily="18" charset="0"/>
                <a:cs typeface="Times New Roman" panose="02020603050405020304" pitchFamily="18" charset="0"/>
              </a:rPr>
              <a:t>Airlines: </a:t>
            </a:r>
            <a:r>
              <a:rPr lang="en-US" sz="2400" b="0" i="0" dirty="0">
                <a:solidFill>
                  <a:srgbClr val="000000"/>
                </a:solidFill>
                <a:effectLst/>
                <a:latin typeface="Times New Roman" panose="02020603050405020304" pitchFamily="18" charset="0"/>
                <a:cs typeface="Times New Roman" panose="02020603050405020304" pitchFamily="18" charset="0"/>
              </a:rPr>
              <a:t>For reservations and schedule information. Airlines were among the first to use databases in a geographically distributed manner.</a:t>
            </a:r>
            <a:endParaRPr lang="en-US" sz="2400"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sz="2400" b="1" dirty="0">
                <a:solidFill>
                  <a:srgbClr val="000000"/>
                </a:solidFill>
                <a:effectLst/>
                <a:latin typeface="Times New Roman" panose="02020603050405020304" pitchFamily="18" charset="0"/>
                <a:cs typeface="Times New Roman" panose="02020603050405020304" pitchFamily="18" charset="0"/>
              </a:rPr>
              <a:t>Telecommunication: </a:t>
            </a:r>
            <a:r>
              <a:rPr lang="en-US" sz="2400" b="0" i="0" dirty="0">
                <a:solidFill>
                  <a:srgbClr val="000000"/>
                </a:solidFill>
                <a:effectLst/>
                <a:latin typeface="Times New Roman" panose="02020603050405020304" pitchFamily="18" charset="0"/>
                <a:cs typeface="Times New Roman" panose="02020603050405020304" pitchFamily="18" charset="0"/>
              </a:rPr>
              <a:t>For keeping records of calls made, generating monthly bills, maintaining balances on prepaid calling cards, and storing information about the communication networks.</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95263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60C4-86AC-3A7C-DC54-527DEBF09F2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View of the Data</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3F7A38-3295-41EB-0313-AF79B1FE2812}"/>
              </a:ext>
            </a:extLst>
          </p:cNvPr>
          <p:cNvSpPr>
            <a:spLocks noGrp="1"/>
          </p:cNvSpPr>
          <p:nvPr>
            <p:ph idx="1"/>
          </p:nvPr>
        </p:nvSpPr>
        <p:spPr>
          <a:xfrm>
            <a:off x="1295402" y="2556931"/>
            <a:ext cx="4881464" cy="4077133"/>
          </a:xfrm>
        </p:spPr>
        <p:txBody>
          <a:bodyPr>
            <a:normAutofit fontScale="85000" lnSpcReduction="10000"/>
          </a:bodyPr>
          <a:lstStyle/>
          <a:p>
            <a:r>
              <a:rPr lang="en-US" sz="2400" b="0" i="0" dirty="0">
                <a:solidFill>
                  <a:srgbClr val="000000"/>
                </a:solidFill>
                <a:effectLst/>
                <a:latin typeface="Times New Roman" panose="02020603050405020304" pitchFamily="18" charset="0"/>
                <a:cs typeface="Times New Roman" panose="02020603050405020304" pitchFamily="18" charset="0"/>
              </a:rPr>
              <a:t>Database system provides users with an </a:t>
            </a:r>
            <a:r>
              <a:rPr lang="en-US" sz="2400" b="0" i="1" dirty="0">
                <a:solidFill>
                  <a:srgbClr val="000000"/>
                </a:solidFill>
                <a:effectLst/>
                <a:latin typeface="Times New Roman" panose="02020603050405020304" pitchFamily="18" charset="0"/>
                <a:cs typeface="Times New Roman" panose="02020603050405020304" pitchFamily="18" charset="0"/>
              </a:rPr>
              <a:t>abstract </a:t>
            </a:r>
            <a:r>
              <a:rPr lang="en-US" sz="2400" b="0" i="0" dirty="0">
                <a:solidFill>
                  <a:srgbClr val="000000"/>
                </a:solidFill>
                <a:effectLst/>
                <a:latin typeface="Times New Roman" panose="02020603050405020304" pitchFamily="18" charset="0"/>
                <a:cs typeface="Times New Roman" panose="02020603050405020304" pitchFamily="18" charset="0"/>
              </a:rPr>
              <a:t>view of the data.</a:t>
            </a:r>
            <a:endParaRPr lang="en-US" sz="2400" dirty="0">
              <a:solidFill>
                <a:srgbClr val="000000"/>
              </a:solidFill>
              <a:latin typeface="Times New Roman" panose="02020603050405020304" pitchFamily="18" charset="0"/>
              <a:cs typeface="Times New Roman" panose="02020603050405020304" pitchFamily="18" charset="0"/>
            </a:endParaRPr>
          </a:p>
          <a:p>
            <a:r>
              <a:rPr lang="en-US" sz="2400" b="0" i="0" dirty="0">
                <a:solidFill>
                  <a:srgbClr val="000000"/>
                </a:solidFill>
                <a:effectLst/>
                <a:latin typeface="Times New Roman" panose="02020603050405020304" pitchFamily="18" charset="0"/>
                <a:cs typeface="Times New Roman" panose="02020603050405020304" pitchFamily="18" charset="0"/>
              </a:rPr>
              <a:t>T</a:t>
            </a:r>
            <a:r>
              <a:rPr lang="en-US" sz="2400" dirty="0">
                <a:solidFill>
                  <a:srgbClr val="000000"/>
                </a:solidFill>
                <a:latin typeface="Times New Roman" panose="02020603050405020304" pitchFamily="18" charset="0"/>
                <a:cs typeface="Times New Roman" panose="02020603050405020304" pitchFamily="18" charset="0"/>
              </a:rPr>
              <a:t>he </a:t>
            </a:r>
            <a:r>
              <a:rPr lang="en-US" sz="2400" b="0" i="0" dirty="0">
                <a:solidFill>
                  <a:srgbClr val="000000"/>
                </a:solidFill>
                <a:effectLst/>
                <a:latin typeface="Times New Roman" panose="02020603050405020304" pitchFamily="18" charset="0"/>
                <a:cs typeface="Times New Roman" panose="02020603050405020304" pitchFamily="18" charset="0"/>
              </a:rPr>
              <a:t>system hides certain details of how the data are stored and maintained.</a:t>
            </a:r>
            <a:r>
              <a:rPr lang="en-US" dirty="0">
                <a:latin typeface="Times New Roman" panose="02020603050405020304" pitchFamily="18" charset="0"/>
                <a:cs typeface="Times New Roman" panose="02020603050405020304" pitchFamily="18" charset="0"/>
              </a:rPr>
              <a:t> </a:t>
            </a:r>
          </a:p>
          <a:p>
            <a:r>
              <a:rPr lang="en-IN" sz="2400" b="1" i="0" dirty="0">
                <a:solidFill>
                  <a:srgbClr val="000000"/>
                </a:solidFill>
                <a:effectLst/>
                <a:latin typeface="Times New Roman" panose="02020603050405020304" pitchFamily="18" charset="0"/>
                <a:cs typeface="Times New Roman" panose="02020603050405020304" pitchFamily="18" charset="0"/>
              </a:rPr>
              <a:t>Data Abstraction</a:t>
            </a:r>
            <a:r>
              <a:rPr lang="en-IN" dirty="0">
                <a:latin typeface="Times New Roman" panose="02020603050405020304" pitchFamily="18" charset="0"/>
                <a:cs typeface="Times New Roman" panose="02020603050405020304" pitchFamily="18" charset="0"/>
              </a:rPr>
              <a:t> </a:t>
            </a:r>
          </a:p>
          <a:p>
            <a:r>
              <a:rPr lang="en-US" sz="2400" b="0" i="0" dirty="0">
                <a:solidFill>
                  <a:srgbClr val="000000"/>
                </a:solidFill>
                <a:effectLst/>
                <a:latin typeface="Times New Roman" panose="02020603050405020304" pitchFamily="18" charset="0"/>
                <a:cs typeface="Times New Roman" panose="02020603050405020304" pitchFamily="18" charset="0"/>
              </a:rPr>
              <a:t>For the system to be usable, it must retrieve data efficiently</a:t>
            </a:r>
            <a:r>
              <a:rPr lang="en-US" dirty="0">
                <a:latin typeface="Times New Roman" panose="02020603050405020304" pitchFamily="18" charset="0"/>
                <a:cs typeface="Times New Roman" panose="02020603050405020304" pitchFamily="18" charset="0"/>
              </a:rPr>
              <a:t> </a:t>
            </a:r>
          </a:p>
          <a:p>
            <a:r>
              <a:rPr lang="en-US" sz="2400" b="0" i="0" dirty="0">
                <a:solidFill>
                  <a:srgbClr val="000000"/>
                </a:solidFill>
                <a:effectLst/>
                <a:latin typeface="Times New Roman" panose="02020603050405020304" pitchFamily="18" charset="0"/>
                <a:cs typeface="Times New Roman" panose="02020603050405020304" pitchFamily="18" charset="0"/>
              </a:rPr>
              <a:t>Use complex data structures to represent data in the database</a:t>
            </a:r>
            <a:r>
              <a:rPr lang="en-US" dirty="0">
                <a:latin typeface="Times New Roman" panose="02020603050405020304" pitchFamily="18" charset="0"/>
                <a:cs typeface="Times New Roman" panose="02020603050405020304" pitchFamily="18" charset="0"/>
              </a:rPr>
              <a:t> </a:t>
            </a:r>
          </a:p>
          <a:p>
            <a:r>
              <a:rPr lang="en-US" sz="2400" dirty="0">
                <a:solidFill>
                  <a:srgbClr val="000000"/>
                </a:solidFill>
                <a:latin typeface="Times New Roman" panose="02020603050405020304" pitchFamily="18" charset="0"/>
                <a:cs typeface="Times New Roman" panose="02020603050405020304" pitchFamily="18" charset="0"/>
              </a:rPr>
              <a:t>D</a:t>
            </a:r>
            <a:r>
              <a:rPr lang="en-US" sz="2400" b="0" i="0" dirty="0">
                <a:solidFill>
                  <a:srgbClr val="000000"/>
                </a:solidFill>
                <a:effectLst/>
                <a:latin typeface="Times New Roman" panose="02020603050405020304" pitchFamily="18" charset="0"/>
                <a:cs typeface="Times New Roman" panose="02020603050405020304" pitchFamily="18" charset="0"/>
              </a:rPr>
              <a:t>evelopers hide the complexity from users through several levels of abstraction</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7F5A5AF-39E3-0761-F06B-A8330081E056}"/>
              </a:ext>
            </a:extLst>
          </p:cNvPr>
          <p:cNvPicPr>
            <a:picLocks noChangeAspect="1"/>
          </p:cNvPicPr>
          <p:nvPr/>
        </p:nvPicPr>
        <p:blipFill>
          <a:blip r:embed="rId2"/>
          <a:stretch>
            <a:fillRect/>
          </a:stretch>
        </p:blipFill>
        <p:spPr>
          <a:xfrm>
            <a:off x="6389466" y="2556930"/>
            <a:ext cx="4629987" cy="3739181"/>
          </a:xfrm>
          <a:prstGeom prst="rect">
            <a:avLst/>
          </a:prstGeom>
        </p:spPr>
      </p:pic>
    </p:spTree>
    <p:extLst>
      <p:ext uri="{BB962C8B-B14F-4D97-AF65-F5344CB8AC3E}">
        <p14:creationId xmlns:p14="http://schemas.microsoft.com/office/powerpoint/2010/main" val="867937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4C8CD-60DF-9C39-4769-AECDAAE34ED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Abstraction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E95FF84-BB20-7D14-B124-88ACCBFD0711}"/>
              </a:ext>
            </a:extLst>
          </p:cNvPr>
          <p:cNvSpPr>
            <a:spLocks noGrp="1"/>
          </p:cNvSpPr>
          <p:nvPr>
            <p:ph idx="1"/>
          </p:nvPr>
        </p:nvSpPr>
        <p:spPr/>
        <p:txBody>
          <a:bodyPr>
            <a:normAutofit fontScale="55000" lnSpcReduction="20000"/>
          </a:bodyPr>
          <a:lstStyle/>
          <a:p>
            <a:r>
              <a:rPr lang="en-US" sz="4000" b="1" i="0" dirty="0">
                <a:solidFill>
                  <a:srgbClr val="000000"/>
                </a:solidFill>
                <a:effectLst/>
                <a:latin typeface="Times New Roman" panose="02020603050405020304" pitchFamily="18" charset="0"/>
                <a:cs typeface="Times New Roman" panose="02020603050405020304" pitchFamily="18" charset="0"/>
              </a:rPr>
              <a:t>Physical level (or Internal View / Schema)</a:t>
            </a:r>
            <a:r>
              <a:rPr lang="en-US" sz="4000" dirty="0">
                <a:latin typeface="Times New Roman" panose="02020603050405020304" pitchFamily="18" charset="0"/>
                <a:cs typeface="Times New Roman" panose="02020603050405020304" pitchFamily="18" charset="0"/>
              </a:rPr>
              <a:t> </a:t>
            </a:r>
          </a:p>
          <a:p>
            <a:pPr lvl="1"/>
            <a:r>
              <a:rPr lang="en-US" sz="4000" dirty="0">
                <a:solidFill>
                  <a:srgbClr val="000000"/>
                </a:solidFill>
                <a:latin typeface="Times New Roman" panose="02020603050405020304" pitchFamily="18" charset="0"/>
                <a:cs typeface="Times New Roman" panose="02020603050405020304" pitchFamily="18" charset="0"/>
              </a:rPr>
              <a:t>D</a:t>
            </a:r>
            <a:r>
              <a:rPr lang="en-US" sz="4000" b="0" i="0" dirty="0">
                <a:solidFill>
                  <a:srgbClr val="000000"/>
                </a:solidFill>
                <a:effectLst/>
                <a:latin typeface="Times New Roman" panose="02020603050405020304" pitchFamily="18" charset="0"/>
                <a:cs typeface="Times New Roman" panose="02020603050405020304" pitchFamily="18" charset="0"/>
              </a:rPr>
              <a:t>escribes </a:t>
            </a:r>
            <a:r>
              <a:rPr lang="en-US" sz="4000" b="0" i="1" dirty="0">
                <a:solidFill>
                  <a:srgbClr val="000000"/>
                </a:solidFill>
                <a:effectLst/>
                <a:latin typeface="Times New Roman" panose="02020603050405020304" pitchFamily="18" charset="0"/>
                <a:cs typeface="Times New Roman" panose="02020603050405020304" pitchFamily="18" charset="0"/>
              </a:rPr>
              <a:t>how </a:t>
            </a:r>
            <a:r>
              <a:rPr lang="en-US" sz="4000" b="0" i="0" dirty="0">
                <a:solidFill>
                  <a:srgbClr val="000000"/>
                </a:solidFill>
                <a:effectLst/>
                <a:latin typeface="Times New Roman" panose="02020603050405020304" pitchFamily="18" charset="0"/>
                <a:cs typeface="Times New Roman" panose="02020603050405020304" pitchFamily="18" charset="0"/>
              </a:rPr>
              <a:t>the data are actually stored</a:t>
            </a:r>
            <a:r>
              <a:rPr lang="en-US" sz="4000" dirty="0">
                <a:solidFill>
                  <a:srgbClr val="000000"/>
                </a:solidFill>
                <a:latin typeface="Times New Roman" panose="02020603050405020304" pitchFamily="18" charset="0"/>
                <a:cs typeface="Times New Roman" panose="02020603050405020304" pitchFamily="18" charset="0"/>
              </a:rPr>
              <a:t> in the file system.</a:t>
            </a:r>
          </a:p>
          <a:p>
            <a:r>
              <a:rPr lang="en-US" sz="4000" b="1" i="0" dirty="0">
                <a:solidFill>
                  <a:srgbClr val="000000"/>
                </a:solidFill>
                <a:effectLst/>
                <a:latin typeface="Times New Roman" panose="02020603050405020304" pitchFamily="18" charset="0"/>
                <a:cs typeface="Times New Roman" panose="02020603050405020304" pitchFamily="18" charset="0"/>
              </a:rPr>
              <a:t>Logical level (or Conceptual View / Schema)</a:t>
            </a:r>
            <a:r>
              <a:rPr lang="en-US" sz="4000" dirty="0">
                <a:latin typeface="Times New Roman" panose="02020603050405020304" pitchFamily="18" charset="0"/>
                <a:cs typeface="Times New Roman" panose="02020603050405020304" pitchFamily="18" charset="0"/>
              </a:rPr>
              <a:t> </a:t>
            </a:r>
          </a:p>
          <a:p>
            <a:pPr lvl="1"/>
            <a:r>
              <a:rPr lang="en-US" sz="4000" b="0" i="0" dirty="0">
                <a:solidFill>
                  <a:srgbClr val="000000"/>
                </a:solidFill>
                <a:effectLst/>
                <a:latin typeface="Times New Roman" panose="02020603050405020304" pitchFamily="18" charset="0"/>
                <a:cs typeface="Times New Roman" panose="02020603050405020304" pitchFamily="18" charset="0"/>
              </a:rPr>
              <a:t>describes </a:t>
            </a:r>
            <a:r>
              <a:rPr lang="en-US" sz="4000" b="0" i="1" dirty="0">
                <a:solidFill>
                  <a:srgbClr val="000000"/>
                </a:solidFill>
                <a:effectLst/>
                <a:latin typeface="Times New Roman" panose="02020603050405020304" pitchFamily="18" charset="0"/>
                <a:cs typeface="Times New Roman" panose="02020603050405020304" pitchFamily="18" charset="0"/>
              </a:rPr>
              <a:t>what </a:t>
            </a:r>
            <a:r>
              <a:rPr lang="en-US" sz="4000" b="0" i="0" dirty="0">
                <a:solidFill>
                  <a:srgbClr val="000000"/>
                </a:solidFill>
                <a:effectLst/>
                <a:latin typeface="Times New Roman" panose="02020603050405020304" pitchFamily="18" charset="0"/>
                <a:cs typeface="Times New Roman" panose="02020603050405020304" pitchFamily="18" charset="0"/>
              </a:rPr>
              <a:t>data are stored in the database, and what relationships exist among those data. </a:t>
            </a:r>
          </a:p>
          <a:p>
            <a:r>
              <a:rPr lang="en-US" sz="4000" b="1" i="0" dirty="0">
                <a:solidFill>
                  <a:srgbClr val="000000"/>
                </a:solidFill>
                <a:effectLst/>
                <a:latin typeface="Times New Roman" panose="02020603050405020304" pitchFamily="18" charset="0"/>
                <a:cs typeface="Times New Roman" panose="02020603050405020304" pitchFamily="18" charset="0"/>
              </a:rPr>
              <a:t>View level (or External View / Schema):</a:t>
            </a:r>
            <a:r>
              <a:rPr lang="en-US" sz="4000" dirty="0">
                <a:latin typeface="Times New Roman" panose="02020603050405020304" pitchFamily="18" charset="0"/>
                <a:cs typeface="Times New Roman" panose="02020603050405020304" pitchFamily="18" charset="0"/>
              </a:rPr>
              <a:t> </a:t>
            </a:r>
          </a:p>
          <a:p>
            <a:pPr lvl="1"/>
            <a:r>
              <a:rPr lang="en-US" sz="4000" b="0" i="0" dirty="0">
                <a:solidFill>
                  <a:srgbClr val="000000"/>
                </a:solidFill>
                <a:effectLst/>
                <a:latin typeface="Times New Roman" panose="02020603050405020304" pitchFamily="18" charset="0"/>
                <a:cs typeface="Times New Roman" panose="02020603050405020304" pitchFamily="18" charset="0"/>
              </a:rPr>
              <a:t>simplify their interaction with the system. </a:t>
            </a:r>
            <a:br>
              <a:rPr lang="en-US" sz="4000" dirty="0">
                <a:latin typeface="Times New Roman" panose="02020603050405020304" pitchFamily="18" charset="0"/>
                <a:cs typeface="Times New Roman" panose="02020603050405020304" pitchFamily="18" charset="0"/>
              </a:rPr>
            </a:br>
            <a:br>
              <a:rPr lang="en-US"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94431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CA374-E175-2745-CC00-F70EA7A787E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Abstraction</a:t>
            </a:r>
            <a:endParaRPr lang="en-IN" dirty="0"/>
          </a:p>
        </p:txBody>
      </p:sp>
      <p:pic>
        <p:nvPicPr>
          <p:cNvPr id="4" name="Content Placeholder 3">
            <a:extLst>
              <a:ext uri="{FF2B5EF4-FFF2-40B4-BE49-F238E27FC236}">
                <a16:creationId xmlns:a16="http://schemas.microsoft.com/office/drawing/2014/main" id="{8C811C56-C125-12F1-F763-DDFFDEA2F664}"/>
              </a:ext>
            </a:extLst>
          </p:cNvPr>
          <p:cNvPicPr>
            <a:picLocks noGrp="1" noChangeAspect="1"/>
          </p:cNvPicPr>
          <p:nvPr>
            <p:ph idx="1"/>
          </p:nvPr>
        </p:nvPicPr>
        <p:blipFill>
          <a:blip r:embed="rId2"/>
          <a:stretch>
            <a:fillRect/>
          </a:stretch>
        </p:blipFill>
        <p:spPr>
          <a:xfrm>
            <a:off x="1427389" y="2767012"/>
            <a:ext cx="3067050" cy="1323975"/>
          </a:xfrm>
          <a:prstGeom prst="rect">
            <a:avLst/>
          </a:prstGeom>
        </p:spPr>
      </p:pic>
      <p:sp>
        <p:nvSpPr>
          <p:cNvPr id="6" name="TextBox 5">
            <a:extLst>
              <a:ext uri="{FF2B5EF4-FFF2-40B4-BE49-F238E27FC236}">
                <a16:creationId xmlns:a16="http://schemas.microsoft.com/office/drawing/2014/main" id="{FAA4B6E5-7AA0-0EED-600B-3087F5C02842}"/>
              </a:ext>
            </a:extLst>
          </p:cNvPr>
          <p:cNvSpPr txBox="1"/>
          <p:nvPr/>
        </p:nvSpPr>
        <p:spPr>
          <a:xfrm>
            <a:off x="4639455" y="2595571"/>
            <a:ext cx="6116216" cy="1292662"/>
          </a:xfrm>
          <a:prstGeom prst="rect">
            <a:avLst/>
          </a:prstGeom>
          <a:noFill/>
        </p:spPr>
        <p:txBody>
          <a:bodyPr wrap="square">
            <a:spAutoFit/>
          </a:bodyPr>
          <a:lstStyle/>
          <a:p>
            <a:r>
              <a:rPr lang="en-US" sz="2000" b="0" i="1" dirty="0">
                <a:solidFill>
                  <a:srgbClr val="000000"/>
                </a:solidFill>
                <a:effectLst/>
                <a:latin typeface="Times New Roman" panose="02020603050405020304" pitchFamily="18" charset="0"/>
                <a:cs typeface="Times New Roman" panose="02020603050405020304" pitchFamily="18" charset="0"/>
              </a:rPr>
              <a:t>instructor</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1" dirty="0">
                <a:solidFill>
                  <a:srgbClr val="000000"/>
                </a:solidFill>
                <a:effectLst/>
                <a:latin typeface="Times New Roman" panose="02020603050405020304" pitchFamily="18" charset="0"/>
                <a:cs typeface="Times New Roman" panose="02020603050405020304" pitchFamily="18" charset="0"/>
              </a:rPr>
              <a:t>department</a:t>
            </a:r>
            <a:r>
              <a:rPr lang="en-US" sz="2000" b="0" i="0" dirty="0">
                <a:solidFill>
                  <a:srgbClr val="000000"/>
                </a:solidFill>
                <a:effectLst/>
                <a:latin typeface="Times New Roman" panose="02020603050405020304" pitchFamily="18" charset="0"/>
                <a:cs typeface="Times New Roman" panose="02020603050405020304" pitchFamily="18" charset="0"/>
              </a:rPr>
              <a:t>, or </a:t>
            </a:r>
            <a:r>
              <a:rPr lang="en-US" sz="2000" b="0" i="1" dirty="0">
                <a:solidFill>
                  <a:srgbClr val="000000"/>
                </a:solidFill>
                <a:effectLst/>
                <a:latin typeface="Times New Roman" panose="02020603050405020304" pitchFamily="18" charset="0"/>
                <a:cs typeface="Times New Roman" panose="02020603050405020304" pitchFamily="18" charset="0"/>
              </a:rPr>
              <a:t>student </a:t>
            </a:r>
            <a:r>
              <a:rPr lang="en-US" sz="2000" b="0" i="0" dirty="0">
                <a:solidFill>
                  <a:srgbClr val="000000"/>
                </a:solidFill>
                <a:effectLst/>
                <a:latin typeface="Times New Roman" panose="02020603050405020304" pitchFamily="18" charset="0"/>
                <a:cs typeface="Times New Roman" panose="02020603050405020304" pitchFamily="18" charset="0"/>
              </a:rPr>
              <a:t>record can be described as a block of consecutive</a:t>
            </a: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storage locations</a:t>
            </a:r>
            <a:r>
              <a:rPr lang="en-US" sz="2000" dirty="0">
                <a:latin typeface="Times New Roman" panose="02020603050405020304" pitchFamily="18" charset="0"/>
                <a:cs typeface="Times New Roman" panose="02020603050405020304" pitchFamily="18" charset="0"/>
              </a:rPr>
              <a:t> – low level</a:t>
            </a:r>
            <a:br>
              <a:rPr lang="en-US" dirty="0"/>
            </a:br>
            <a:endParaRPr lang="en-IN" dirty="0"/>
          </a:p>
        </p:txBody>
      </p:sp>
      <p:sp>
        <p:nvSpPr>
          <p:cNvPr id="8" name="TextBox 7">
            <a:extLst>
              <a:ext uri="{FF2B5EF4-FFF2-40B4-BE49-F238E27FC236}">
                <a16:creationId xmlns:a16="http://schemas.microsoft.com/office/drawing/2014/main" id="{55022254-D7E6-1E87-495A-4FED7FBD03D6}"/>
              </a:ext>
            </a:extLst>
          </p:cNvPr>
          <p:cNvSpPr txBox="1"/>
          <p:nvPr/>
        </p:nvSpPr>
        <p:spPr>
          <a:xfrm>
            <a:off x="4494440" y="3888231"/>
            <a:ext cx="6907568" cy="923330"/>
          </a:xfrm>
          <a:prstGeom prst="rect">
            <a:avLst/>
          </a:prstGeom>
          <a:noFill/>
        </p:spPr>
        <p:txBody>
          <a:bodyPr wrap="square">
            <a:spAutoFit/>
          </a:bodyPr>
          <a:lstStyle/>
          <a:p>
            <a:r>
              <a:rPr lang="en-US" dirty="0">
                <a:solidFill>
                  <a:srgbClr val="000000"/>
                </a:solidFill>
                <a:latin typeface="Times New Roman" panose="02020603050405020304" pitchFamily="18" charset="0"/>
                <a:cs typeface="Times New Roman" panose="02020603050405020304" pitchFamily="18" charset="0"/>
              </a:rPr>
              <a:t>E</a:t>
            </a:r>
            <a:r>
              <a:rPr lang="en-US" sz="1800" b="0" i="0" dirty="0">
                <a:solidFill>
                  <a:srgbClr val="000000"/>
                </a:solidFill>
                <a:effectLst/>
                <a:latin typeface="Times New Roman" panose="02020603050405020304" pitchFamily="18" charset="0"/>
                <a:cs typeface="Times New Roman" panose="02020603050405020304" pitchFamily="18" charset="0"/>
              </a:rPr>
              <a:t>ach such record is described by a type definition, as in the previous code segment, and the</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interrelationship of these record types is defined as well.- Logical level</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09A2A82-75A9-EB06-2BFF-A8749CBF25C2}"/>
              </a:ext>
            </a:extLst>
          </p:cNvPr>
          <p:cNvSpPr txBox="1"/>
          <p:nvPr/>
        </p:nvSpPr>
        <p:spPr>
          <a:xfrm>
            <a:off x="4639455" y="5009452"/>
            <a:ext cx="6116216" cy="707886"/>
          </a:xfrm>
          <a:prstGeom prst="rect">
            <a:avLst/>
          </a:prstGeom>
          <a:noFill/>
        </p:spPr>
        <p:txBody>
          <a:bodyPr wrap="square">
            <a:spAutoFit/>
          </a:bodyPr>
          <a:lstStyle/>
          <a:p>
            <a:r>
              <a:rPr lang="en-US" sz="2000" b="0" i="0" dirty="0">
                <a:solidFill>
                  <a:srgbClr val="000000"/>
                </a:solidFill>
                <a:effectLst/>
                <a:latin typeface="Times New Roman" panose="02020603050405020304" pitchFamily="18" charset="0"/>
                <a:cs typeface="Times New Roman" panose="02020603050405020304" pitchFamily="18" charset="0"/>
              </a:rPr>
              <a:t>View level, computer users see a set of application programs that hide details of the data types</a:t>
            </a: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468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9BA30-7627-261F-4699-D8FA25AAB359}"/>
              </a:ext>
            </a:extLst>
          </p:cNvPr>
          <p:cNvSpPr>
            <a:spLocks noGrp="1"/>
          </p:cNvSpPr>
          <p:nvPr>
            <p:ph type="title"/>
          </p:nvPr>
        </p:nvSpPr>
        <p:spPr>
          <a:xfrm>
            <a:off x="996821" y="506271"/>
            <a:ext cx="9601196" cy="1303867"/>
          </a:xfrm>
        </p:spPr>
        <p:txBody>
          <a:bodyPr/>
          <a:lstStyle/>
          <a:p>
            <a:r>
              <a:rPr lang="en-US" b="1" dirty="0">
                <a:latin typeface="Times New Roman" panose="02020603050405020304" pitchFamily="18" charset="0"/>
                <a:cs typeface="Times New Roman" panose="02020603050405020304" pitchFamily="18" charset="0"/>
              </a:rPr>
              <a:t>Data Models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E5B718-281D-A21F-CF6C-C93397611978}"/>
              </a:ext>
            </a:extLst>
          </p:cNvPr>
          <p:cNvSpPr>
            <a:spLocks noGrp="1"/>
          </p:cNvSpPr>
          <p:nvPr>
            <p:ph idx="1"/>
          </p:nvPr>
        </p:nvSpPr>
        <p:spPr>
          <a:xfrm>
            <a:off x="996821" y="1894460"/>
            <a:ext cx="5254689" cy="3657256"/>
          </a:xfrm>
        </p:spPr>
        <p:txBody>
          <a:bodyPr>
            <a:noAutofit/>
          </a:bodyPr>
          <a:lstStyle/>
          <a:p>
            <a:r>
              <a:rPr lang="en-US" sz="2000" b="1" dirty="0">
                <a:latin typeface="Times New Roman" panose="02020603050405020304" pitchFamily="18" charset="0"/>
                <a:cs typeface="Times New Roman" panose="02020603050405020304" pitchFamily="18" charset="0"/>
              </a:rPr>
              <a:t>Data model</a:t>
            </a:r>
            <a:r>
              <a:rPr lang="en-US" sz="2000"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a collection of conceptual tools for describing data, data relationships, data semantics, and consistency constraints.</a:t>
            </a:r>
          </a:p>
          <a:p>
            <a:pPr lvl="1"/>
            <a:r>
              <a:rPr lang="en-IN" dirty="0">
                <a:latin typeface="Times New Roman" panose="02020603050405020304" pitchFamily="18" charset="0"/>
                <a:cs typeface="Times New Roman" panose="02020603050405020304" pitchFamily="18" charset="0"/>
              </a:rPr>
              <a:t>D</a:t>
            </a:r>
            <a:r>
              <a:rPr lang="en-IN" b="0" i="0" u="none" strike="noStrike" baseline="0" dirty="0">
                <a:latin typeface="Times New Roman" panose="02020603050405020304" pitchFamily="18" charset="0"/>
                <a:cs typeface="Times New Roman" panose="02020603050405020304" pitchFamily="18" charset="0"/>
              </a:rPr>
              <a:t>escribe the </a:t>
            </a:r>
            <a:r>
              <a:rPr lang="en-US" b="0" i="0" u="none" strike="noStrike" baseline="0" dirty="0">
                <a:latin typeface="Times New Roman" panose="02020603050405020304" pitchFamily="18" charset="0"/>
                <a:cs typeface="Times New Roman" panose="02020603050405020304" pitchFamily="18" charset="0"/>
              </a:rPr>
              <a:t>design of a database at the physical, logical, and view levels.</a:t>
            </a:r>
          </a:p>
          <a:p>
            <a:r>
              <a:rPr lang="en-IN" sz="2000" b="1" dirty="0">
                <a:latin typeface="Times New Roman" panose="02020603050405020304" pitchFamily="18" charset="0"/>
                <a:cs typeface="Times New Roman" panose="02020603050405020304" pitchFamily="18" charset="0"/>
              </a:rPr>
              <a:t>Categories of data models</a:t>
            </a:r>
          </a:p>
          <a:p>
            <a:r>
              <a:rPr lang="en-IN" sz="2000" b="1" dirty="0">
                <a:latin typeface="Times New Roman" panose="02020603050405020304" pitchFamily="18" charset="0"/>
                <a:cs typeface="Times New Roman" panose="02020603050405020304" pitchFamily="18" charset="0"/>
              </a:rPr>
              <a:t>Relational models</a:t>
            </a:r>
          </a:p>
          <a:p>
            <a:pPr lvl="1"/>
            <a:r>
              <a:rPr lang="en-US" dirty="0">
                <a:solidFill>
                  <a:schemeClr val="tx1"/>
                </a:solidFill>
                <a:latin typeface="Times New Roman" panose="02020603050405020304" pitchFamily="18" charset="0"/>
                <a:cs typeface="Times New Roman" panose="02020603050405020304" pitchFamily="18" charset="0"/>
              </a:rPr>
              <a:t>U</a:t>
            </a:r>
            <a:r>
              <a:rPr lang="en-US" b="0" i="0" u="none" strike="noStrike" baseline="0" dirty="0">
                <a:solidFill>
                  <a:schemeClr val="tx1"/>
                </a:solidFill>
                <a:latin typeface="Times New Roman" panose="02020603050405020304" pitchFamily="18" charset="0"/>
                <a:cs typeface="Times New Roman" panose="02020603050405020304" pitchFamily="18" charset="0"/>
              </a:rPr>
              <a:t>ses a collection of tables to represent both data and the </a:t>
            </a:r>
            <a:r>
              <a:rPr lang="en-IN" b="0" i="0" u="none" strike="noStrike" baseline="0" dirty="0">
                <a:solidFill>
                  <a:schemeClr val="tx1"/>
                </a:solidFill>
                <a:latin typeface="Times New Roman" panose="02020603050405020304" pitchFamily="18" charset="0"/>
                <a:cs typeface="Times New Roman" panose="02020603050405020304" pitchFamily="18" charset="0"/>
              </a:rPr>
              <a:t>relationships among those data</a:t>
            </a:r>
          </a:p>
          <a:p>
            <a:pPr lvl="1"/>
            <a:r>
              <a:rPr lang="en-IN" b="0" i="0" u="none" strike="noStrike" baseline="0" dirty="0">
                <a:solidFill>
                  <a:schemeClr val="tx1"/>
                </a:solidFill>
                <a:latin typeface="Times New Roman" panose="02020603050405020304" pitchFamily="18" charset="0"/>
                <a:cs typeface="Times New Roman" panose="02020603050405020304" pitchFamily="18" charset="0"/>
              </a:rPr>
              <a:t>Also known as record-based model</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F0822FC-E8E3-C7CF-7540-EBD47613B909}"/>
              </a:ext>
            </a:extLst>
          </p:cNvPr>
          <p:cNvSpPr txBox="1"/>
          <p:nvPr/>
        </p:nvSpPr>
        <p:spPr>
          <a:xfrm>
            <a:off x="6839338" y="2836506"/>
            <a:ext cx="4282752" cy="2862322"/>
          </a:xfrm>
          <a:prstGeom prst="rect">
            <a:avLst/>
          </a:prstGeom>
          <a:noFill/>
        </p:spPr>
        <p:txBody>
          <a:bodyPr wrap="square" rtlCol="0">
            <a:spAutoFit/>
          </a:bodyPr>
          <a:lstStyle/>
          <a:p>
            <a:pPr marL="1200150" lvl="2"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
            </a:r>
            <a:r>
              <a:rPr lang="en-US" b="0" i="0" u="none" strike="noStrike" baseline="0" dirty="0">
                <a:latin typeface="Times New Roman" panose="02020603050405020304" pitchFamily="18" charset="0"/>
                <a:cs typeface="Times New Roman" panose="02020603050405020304" pitchFamily="18" charset="0"/>
              </a:rPr>
              <a:t>atabase is structured in fixed-format records of several </a:t>
            </a:r>
            <a:r>
              <a:rPr lang="en-IN" b="0" i="0" u="none" strike="noStrike" baseline="0" dirty="0">
                <a:latin typeface="Times New Roman" panose="02020603050405020304" pitchFamily="18" charset="0"/>
                <a:cs typeface="Times New Roman" panose="02020603050405020304" pitchFamily="18" charset="0"/>
              </a:rPr>
              <a:t>types.</a:t>
            </a:r>
          </a:p>
          <a:p>
            <a:pPr marL="1200150" lvl="2" indent="-285750">
              <a:buFont typeface="Arial" panose="020B0604020202020204" pitchFamily="34" charset="0"/>
              <a:buChar char="•"/>
            </a:pPr>
            <a:r>
              <a:rPr lang="en-US" sz="1800" b="0" i="0" u="none" strike="noStrike" baseline="0" dirty="0">
                <a:latin typeface="Times New Roman" panose="02020603050405020304" pitchFamily="18" charset="0"/>
                <a:cs typeface="Times New Roman" panose="02020603050405020304" pitchFamily="18" charset="0"/>
              </a:rPr>
              <a:t>Each table contains records of a particular type.</a:t>
            </a:r>
            <a:endParaRPr lang="en-IN" sz="18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US" b="0" i="0" u="none" strike="noStrike" baseline="0" dirty="0">
                <a:latin typeface="Times New Roman" panose="02020603050405020304" pitchFamily="18" charset="0"/>
                <a:cs typeface="Times New Roman" panose="02020603050405020304" pitchFamily="18" charset="0"/>
              </a:rPr>
              <a:t>Each record type defines a fixed number of fields, or attributes. </a:t>
            </a:r>
          </a:p>
          <a:p>
            <a:pPr marL="1200150" lvl="2" indent="-285750">
              <a:buFont typeface="Arial" panose="020B0604020202020204" pitchFamily="34" charset="0"/>
              <a:buChar char="•"/>
            </a:pPr>
            <a:r>
              <a:rPr lang="en-US" b="0" i="0" u="none" strike="noStrike" baseline="0" dirty="0">
                <a:latin typeface="Times New Roman" panose="02020603050405020304" pitchFamily="18" charset="0"/>
                <a:cs typeface="Times New Roman" panose="02020603050405020304" pitchFamily="18" charset="0"/>
              </a:rPr>
              <a:t>The columns of the table correspond to the attributes of the record type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3969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DFE32-ADA2-4BD8-1661-48362F88733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Models</a:t>
            </a:r>
            <a:endParaRPr lang="en-IN" dirty="0"/>
          </a:p>
        </p:txBody>
      </p:sp>
      <p:sp>
        <p:nvSpPr>
          <p:cNvPr id="3" name="Content Placeholder 2">
            <a:extLst>
              <a:ext uri="{FF2B5EF4-FFF2-40B4-BE49-F238E27FC236}">
                <a16:creationId xmlns:a16="http://schemas.microsoft.com/office/drawing/2014/main" id="{EF19DE62-EE2D-D89B-B64C-466CB53ED1A4}"/>
              </a:ext>
            </a:extLst>
          </p:cNvPr>
          <p:cNvSpPr>
            <a:spLocks noGrp="1"/>
          </p:cNvSpPr>
          <p:nvPr>
            <p:ph idx="1"/>
          </p:nvPr>
        </p:nvSpPr>
        <p:spPr/>
        <p:txBody>
          <a:bodyPr/>
          <a:lstStyle/>
          <a:p>
            <a:pPr algn="l"/>
            <a:r>
              <a:rPr lang="en-US" sz="2200" b="1" i="0" u="none" strike="noStrike" baseline="0" dirty="0">
                <a:latin typeface="Times New Roman" panose="02020603050405020304" pitchFamily="18" charset="0"/>
                <a:cs typeface="Times New Roman" panose="02020603050405020304" pitchFamily="18" charset="0"/>
              </a:rPr>
              <a:t>Entity-Relationship Model</a:t>
            </a:r>
            <a:r>
              <a:rPr lang="en-US" sz="2200" b="0" i="0" u="none" strike="noStrike" baseline="0" dirty="0">
                <a:latin typeface="Times New Roman" panose="02020603050405020304" pitchFamily="18" charset="0"/>
                <a:cs typeface="Times New Roman" panose="02020603050405020304" pitchFamily="18" charset="0"/>
              </a:rPr>
              <a:t>. </a:t>
            </a:r>
          </a:p>
          <a:p>
            <a:pPr lvl="1"/>
            <a:r>
              <a:rPr lang="en-US" sz="2200" dirty="0">
                <a:latin typeface="Times New Roman" panose="02020603050405020304" pitchFamily="18" charset="0"/>
                <a:cs typeface="Times New Roman" panose="02020603050405020304" pitchFamily="18" charset="0"/>
              </a:rPr>
              <a:t>C</a:t>
            </a:r>
            <a:r>
              <a:rPr lang="en-US" sz="2200" b="0" i="0" u="none" strike="noStrike" baseline="0" dirty="0">
                <a:latin typeface="Times New Roman" panose="02020603050405020304" pitchFamily="18" charset="0"/>
                <a:cs typeface="Times New Roman" panose="02020603050405020304" pitchFamily="18" charset="0"/>
              </a:rPr>
              <a:t>ollection of basic objects, called </a:t>
            </a:r>
            <a:r>
              <a:rPr lang="en-US" sz="2200" b="0" i="1" u="none" strike="noStrike" baseline="0" dirty="0">
                <a:latin typeface="Times New Roman" panose="02020603050405020304" pitchFamily="18" charset="0"/>
                <a:cs typeface="Times New Roman" panose="02020603050405020304" pitchFamily="18" charset="0"/>
              </a:rPr>
              <a:t>entities</a:t>
            </a:r>
            <a:r>
              <a:rPr lang="en-US" sz="2200" b="0" i="0" u="none" strike="noStrike" baseline="0" dirty="0">
                <a:latin typeface="Times New Roman" panose="02020603050405020304" pitchFamily="18" charset="0"/>
                <a:cs typeface="Times New Roman" panose="02020603050405020304" pitchFamily="18" charset="0"/>
              </a:rPr>
              <a:t>, and </a:t>
            </a:r>
            <a:r>
              <a:rPr lang="en-US" sz="2200" b="0" i="1" u="none" strike="noStrike" baseline="0" dirty="0">
                <a:latin typeface="Times New Roman" panose="02020603050405020304" pitchFamily="18" charset="0"/>
                <a:cs typeface="Times New Roman" panose="02020603050405020304" pitchFamily="18" charset="0"/>
              </a:rPr>
              <a:t>relationships </a:t>
            </a:r>
            <a:r>
              <a:rPr lang="en-US" sz="2200" b="0" i="0" u="none" strike="noStrike" baseline="0" dirty="0">
                <a:latin typeface="Times New Roman" panose="02020603050405020304" pitchFamily="18" charset="0"/>
                <a:cs typeface="Times New Roman" panose="02020603050405020304" pitchFamily="18" charset="0"/>
              </a:rPr>
              <a:t>among these objects.</a:t>
            </a:r>
          </a:p>
          <a:p>
            <a:pPr lvl="1"/>
            <a:r>
              <a:rPr lang="en-US" sz="2200" b="0" i="0" u="none" strike="noStrike" baseline="0" dirty="0">
                <a:latin typeface="Times New Roman" panose="02020603050405020304" pitchFamily="18" charset="0"/>
                <a:cs typeface="Times New Roman" panose="02020603050405020304" pitchFamily="18" charset="0"/>
              </a:rPr>
              <a:t>An entity is a “thing” or “object” in the real world that is distinguishable from other objects. </a:t>
            </a:r>
          </a:p>
          <a:p>
            <a:pPr lvl="1"/>
            <a:r>
              <a:rPr lang="en-US" sz="2200" b="0" i="0" u="none" strike="noStrike" baseline="0" dirty="0">
                <a:latin typeface="Times New Roman" panose="02020603050405020304" pitchFamily="18" charset="0"/>
                <a:cs typeface="Times New Roman" panose="02020603050405020304" pitchFamily="18" charset="0"/>
              </a:rPr>
              <a:t>The entity relationship</a:t>
            </a:r>
            <a:r>
              <a:rPr lang="en-US" sz="2200" dirty="0">
                <a:latin typeface="Times New Roman" panose="02020603050405020304" pitchFamily="18" charset="0"/>
                <a:cs typeface="Times New Roman" panose="02020603050405020304" pitchFamily="18" charset="0"/>
              </a:rPr>
              <a:t> </a:t>
            </a:r>
            <a:r>
              <a:rPr lang="en-US" sz="2200" b="0" i="0" u="none" strike="noStrike" baseline="0" dirty="0">
                <a:latin typeface="Times New Roman" panose="02020603050405020304" pitchFamily="18" charset="0"/>
                <a:cs typeface="Times New Roman" panose="02020603050405020304" pitchFamily="18" charset="0"/>
              </a:rPr>
              <a:t>model is widely used in database design.</a:t>
            </a:r>
          </a:p>
          <a:p>
            <a:endParaRPr lang="en-IN" dirty="0"/>
          </a:p>
        </p:txBody>
      </p:sp>
    </p:spTree>
    <p:extLst>
      <p:ext uri="{BB962C8B-B14F-4D97-AF65-F5344CB8AC3E}">
        <p14:creationId xmlns:p14="http://schemas.microsoft.com/office/powerpoint/2010/main" val="3950127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795E1-1282-EAB6-A5A1-B42444DB06B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Models</a:t>
            </a:r>
            <a:endParaRPr lang="en-IN" dirty="0"/>
          </a:p>
        </p:txBody>
      </p:sp>
      <p:sp>
        <p:nvSpPr>
          <p:cNvPr id="3" name="Content Placeholder 2">
            <a:extLst>
              <a:ext uri="{FF2B5EF4-FFF2-40B4-BE49-F238E27FC236}">
                <a16:creationId xmlns:a16="http://schemas.microsoft.com/office/drawing/2014/main" id="{C43E0711-A75F-38EC-BD99-DB940EAE1BE7}"/>
              </a:ext>
            </a:extLst>
          </p:cNvPr>
          <p:cNvSpPr>
            <a:spLocks noGrp="1"/>
          </p:cNvSpPr>
          <p:nvPr>
            <p:ph idx="1"/>
          </p:nvPr>
        </p:nvSpPr>
        <p:spPr/>
        <p:txBody>
          <a:bodyPr>
            <a:noAutofit/>
          </a:bodyPr>
          <a:lstStyle/>
          <a:p>
            <a:pPr algn="l"/>
            <a:r>
              <a:rPr lang="en-US" sz="2200" b="1" i="0" u="none" strike="noStrike" baseline="0" dirty="0">
                <a:latin typeface="Times New Roman" panose="02020603050405020304" pitchFamily="18" charset="0"/>
                <a:cs typeface="Times New Roman" panose="02020603050405020304" pitchFamily="18" charset="0"/>
              </a:rPr>
              <a:t>Object-Based Data Model</a:t>
            </a:r>
            <a:r>
              <a:rPr lang="en-US" sz="2200" b="0" i="0" u="none" strike="noStrike" baseline="0" dirty="0">
                <a:latin typeface="Times New Roman" panose="02020603050405020304" pitchFamily="18" charset="0"/>
                <a:cs typeface="Times New Roman" panose="02020603050405020304" pitchFamily="18" charset="0"/>
              </a:rPr>
              <a:t>. </a:t>
            </a:r>
          </a:p>
          <a:p>
            <a:pPr lvl="1"/>
            <a:r>
              <a:rPr lang="en-US" sz="2200" dirty="0">
                <a:latin typeface="Times New Roman" panose="02020603050405020304" pitchFamily="18" charset="0"/>
                <a:cs typeface="Times New Roman" panose="02020603050405020304" pitchFamily="18" charset="0"/>
              </a:rPr>
              <a:t>E</a:t>
            </a:r>
            <a:r>
              <a:rPr lang="en-US" sz="2200" b="0" i="0" u="none" strike="noStrike" baseline="0" dirty="0">
                <a:latin typeface="Times New Roman" panose="02020603050405020304" pitchFamily="18" charset="0"/>
                <a:cs typeface="Times New Roman" panose="02020603050405020304" pitchFamily="18" charset="0"/>
              </a:rPr>
              <a:t>xtending the E-R model with notions of encapsulation, methods (functions), and object identity. </a:t>
            </a:r>
          </a:p>
          <a:p>
            <a:pPr lvl="1"/>
            <a:r>
              <a:rPr lang="en-US" sz="2200" b="0" i="0" u="none" strike="noStrike" baseline="0" dirty="0">
                <a:latin typeface="Times New Roman" panose="02020603050405020304" pitchFamily="18" charset="0"/>
                <a:cs typeface="Times New Roman" panose="02020603050405020304" pitchFamily="18" charset="0"/>
              </a:rPr>
              <a:t>The object-relational data model combines features of the object-oriented data model and relational </a:t>
            </a:r>
            <a:r>
              <a:rPr lang="en-IN" sz="2200" b="0" i="0" u="none" strike="noStrike" baseline="0" dirty="0">
                <a:latin typeface="Times New Roman" panose="02020603050405020304" pitchFamily="18" charset="0"/>
                <a:cs typeface="Times New Roman" panose="02020603050405020304" pitchFamily="18" charset="0"/>
              </a:rPr>
              <a:t>data model</a:t>
            </a:r>
          </a:p>
        </p:txBody>
      </p:sp>
    </p:spTree>
    <p:extLst>
      <p:ext uri="{BB962C8B-B14F-4D97-AF65-F5344CB8AC3E}">
        <p14:creationId xmlns:p14="http://schemas.microsoft.com/office/powerpoint/2010/main" val="2694286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F029D-E694-5D3E-1D05-8A24DBF2171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Models</a:t>
            </a:r>
            <a:endParaRPr lang="en-IN" dirty="0"/>
          </a:p>
        </p:txBody>
      </p:sp>
      <p:sp>
        <p:nvSpPr>
          <p:cNvPr id="3" name="Content Placeholder 2">
            <a:extLst>
              <a:ext uri="{FF2B5EF4-FFF2-40B4-BE49-F238E27FC236}">
                <a16:creationId xmlns:a16="http://schemas.microsoft.com/office/drawing/2014/main" id="{0644B8A0-3049-371E-339B-281963B7361C}"/>
              </a:ext>
            </a:extLst>
          </p:cNvPr>
          <p:cNvSpPr>
            <a:spLocks noGrp="1"/>
          </p:cNvSpPr>
          <p:nvPr>
            <p:ph idx="1"/>
          </p:nvPr>
        </p:nvSpPr>
        <p:spPr/>
        <p:txBody>
          <a:bodyPr/>
          <a:lstStyle/>
          <a:p>
            <a:pPr algn="l"/>
            <a:r>
              <a:rPr lang="en-US" sz="2200" b="1" i="0" u="none" strike="noStrike" baseline="0" dirty="0">
                <a:latin typeface="Times New Roman" panose="02020603050405020304" pitchFamily="18" charset="0"/>
                <a:cs typeface="Times New Roman" panose="02020603050405020304" pitchFamily="18" charset="0"/>
              </a:rPr>
              <a:t>Semi-structured Data Model</a:t>
            </a:r>
            <a:r>
              <a:rPr lang="en-US" sz="2200" b="0" i="0" u="none" strike="noStrike" baseline="0" dirty="0">
                <a:latin typeface="Times New Roman" panose="02020603050405020304" pitchFamily="18" charset="0"/>
                <a:cs typeface="Times New Roman" panose="02020603050405020304" pitchFamily="18" charset="0"/>
              </a:rPr>
              <a:t>. </a:t>
            </a:r>
          </a:p>
          <a:p>
            <a:pPr lvl="1"/>
            <a:r>
              <a:rPr lang="en-US" sz="2200" b="0" i="0" u="none" strike="noStrike" baseline="0" dirty="0">
                <a:latin typeface="Times New Roman" panose="02020603050405020304" pitchFamily="18" charset="0"/>
                <a:cs typeface="Times New Roman" panose="02020603050405020304" pitchFamily="18" charset="0"/>
              </a:rPr>
              <a:t>The semi-structured data model permits the specification of data where individual data items of the same type may have different sets of attributes. </a:t>
            </a:r>
          </a:p>
          <a:p>
            <a:pPr lvl="1"/>
            <a:r>
              <a:rPr lang="en-US" sz="2200" b="0" i="0" u="none" strike="noStrike" baseline="0" dirty="0">
                <a:latin typeface="Times New Roman" panose="02020603050405020304" pitchFamily="18" charset="0"/>
                <a:cs typeface="Times New Roman" panose="02020603050405020304" pitchFamily="18" charset="0"/>
              </a:rPr>
              <a:t>This is in contrast to the data models mentioned earlier, where every data item of a particular type must have the same set of attributes. </a:t>
            </a:r>
          </a:p>
          <a:p>
            <a:pPr lvl="1"/>
            <a:r>
              <a:rPr lang="en-US" sz="2200" b="0" i="0" u="none" strike="noStrike" baseline="0" dirty="0">
                <a:latin typeface="Times New Roman" panose="02020603050405020304" pitchFamily="18" charset="0"/>
                <a:cs typeface="Times New Roman" panose="02020603050405020304" pitchFamily="18" charset="0"/>
              </a:rPr>
              <a:t>The</a:t>
            </a:r>
            <a:r>
              <a:rPr lang="en-US" sz="2200" dirty="0">
                <a:latin typeface="Times New Roman" panose="02020603050405020304" pitchFamily="18" charset="0"/>
                <a:cs typeface="Times New Roman" panose="02020603050405020304" pitchFamily="18" charset="0"/>
              </a:rPr>
              <a:t> </a:t>
            </a:r>
            <a:r>
              <a:rPr lang="en-US" sz="2200" b="1" i="0" u="none" strike="noStrike" baseline="0" dirty="0">
                <a:latin typeface="Times New Roman" panose="02020603050405020304" pitchFamily="18" charset="0"/>
                <a:cs typeface="Times New Roman" panose="02020603050405020304" pitchFamily="18" charset="0"/>
              </a:rPr>
              <a:t>Extensible Markup Language (XML) </a:t>
            </a:r>
            <a:r>
              <a:rPr lang="en-US" sz="2200" b="0" i="0" u="none" strike="noStrike" baseline="0" dirty="0">
                <a:latin typeface="Times New Roman" panose="02020603050405020304" pitchFamily="18" charset="0"/>
                <a:cs typeface="Times New Roman" panose="02020603050405020304" pitchFamily="18" charset="0"/>
              </a:rPr>
              <a:t>is widely used to represent semi-structured data</a:t>
            </a:r>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96442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94CFD-E693-CD5D-6028-AFB1B8B0D0F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Database languages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FBB199-3A80-79E1-7A64-F619492B9EA7}"/>
              </a:ext>
            </a:extLst>
          </p:cNvPr>
          <p:cNvSpPr>
            <a:spLocks noGrp="1"/>
          </p:cNvSpPr>
          <p:nvPr>
            <p:ph idx="1"/>
          </p:nvPr>
        </p:nvSpPr>
        <p:spPr/>
        <p:txBody>
          <a:bodyPr>
            <a:normAutofit lnSpcReduction="10000"/>
          </a:bodyPr>
          <a:lstStyle/>
          <a:p>
            <a:r>
              <a:rPr lang="en-US" sz="2200" b="1" dirty="0">
                <a:solidFill>
                  <a:schemeClr val="tx1"/>
                </a:solidFill>
                <a:latin typeface="Times New Roman" panose="02020603050405020304" pitchFamily="18" charset="0"/>
                <a:cs typeface="Times New Roman" panose="02020603050405020304" pitchFamily="18" charset="0"/>
              </a:rPr>
              <a:t>Data Manipulation Language (DML)</a:t>
            </a:r>
            <a:r>
              <a:rPr lang="en-US" sz="2200" dirty="0">
                <a:solidFill>
                  <a:schemeClr val="tx1"/>
                </a:solidFill>
                <a:latin typeface="Times New Roman" panose="02020603050405020304" pitchFamily="18" charset="0"/>
                <a:cs typeface="Times New Roman" panose="02020603050405020304" pitchFamily="18" charset="0"/>
              </a:rPr>
              <a:t>: This is a type of language used to work with data that is organized in a database. It helps users to do things like access, add, remove, or change data.</a:t>
            </a:r>
          </a:p>
          <a:p>
            <a:r>
              <a:rPr lang="en-US" sz="2200" b="1" dirty="0">
                <a:latin typeface="Times New Roman" panose="02020603050405020304" pitchFamily="18" charset="0"/>
                <a:cs typeface="Times New Roman" panose="02020603050405020304" pitchFamily="18" charset="0"/>
              </a:rPr>
              <a:t>Ways to access or change data</a:t>
            </a:r>
            <a:r>
              <a:rPr lang="en-US" sz="2200" dirty="0">
                <a:latin typeface="Times New Roman" panose="02020603050405020304" pitchFamily="18" charset="0"/>
                <a:cs typeface="Times New Roman" panose="02020603050405020304" pitchFamily="18" charset="0"/>
              </a:rPr>
              <a:t>:</a:t>
            </a:r>
          </a:p>
          <a:p>
            <a:pPr>
              <a:buFont typeface="+mj-lt"/>
              <a:buAutoNum type="arabicPeriod"/>
            </a:pPr>
            <a:r>
              <a:rPr lang="en-US" sz="2200" b="1" dirty="0">
                <a:latin typeface="Times New Roman" panose="02020603050405020304" pitchFamily="18" charset="0"/>
                <a:cs typeface="Times New Roman" panose="02020603050405020304" pitchFamily="18" charset="0"/>
              </a:rPr>
              <a:t>Retrieve data</a:t>
            </a:r>
            <a:r>
              <a:rPr lang="en-US" sz="2200" dirty="0">
                <a:latin typeface="Times New Roman" panose="02020603050405020304" pitchFamily="18" charset="0"/>
                <a:cs typeface="Times New Roman" panose="02020603050405020304" pitchFamily="18" charset="0"/>
              </a:rPr>
              <a:t>: You can look up information that is stored in the database.</a:t>
            </a:r>
          </a:p>
          <a:p>
            <a:pPr>
              <a:buFont typeface="+mj-lt"/>
              <a:buAutoNum type="arabicPeriod"/>
            </a:pPr>
            <a:r>
              <a:rPr lang="en-US" sz="2200" b="1" dirty="0">
                <a:latin typeface="Times New Roman" panose="02020603050405020304" pitchFamily="18" charset="0"/>
                <a:cs typeface="Times New Roman" panose="02020603050405020304" pitchFamily="18" charset="0"/>
              </a:rPr>
              <a:t>Insert data</a:t>
            </a:r>
            <a:r>
              <a:rPr lang="en-US" sz="2200" dirty="0">
                <a:latin typeface="Times New Roman" panose="02020603050405020304" pitchFamily="18" charset="0"/>
                <a:cs typeface="Times New Roman" panose="02020603050405020304" pitchFamily="18" charset="0"/>
              </a:rPr>
              <a:t>: You can add new information to the database.</a:t>
            </a:r>
          </a:p>
          <a:p>
            <a:pPr>
              <a:buFont typeface="+mj-lt"/>
              <a:buAutoNum type="arabicPeriod"/>
            </a:pPr>
            <a:r>
              <a:rPr lang="en-US" sz="2200" b="1" dirty="0">
                <a:latin typeface="Times New Roman" panose="02020603050405020304" pitchFamily="18" charset="0"/>
                <a:cs typeface="Times New Roman" panose="02020603050405020304" pitchFamily="18" charset="0"/>
              </a:rPr>
              <a:t>Delete data</a:t>
            </a:r>
            <a:r>
              <a:rPr lang="en-US" sz="2200" dirty="0">
                <a:latin typeface="Times New Roman" panose="02020603050405020304" pitchFamily="18" charset="0"/>
                <a:cs typeface="Times New Roman" panose="02020603050405020304" pitchFamily="18" charset="0"/>
              </a:rPr>
              <a:t>: You can remove information from the database.</a:t>
            </a:r>
          </a:p>
          <a:p>
            <a:pPr>
              <a:buFont typeface="+mj-lt"/>
              <a:buAutoNum type="arabicPeriod"/>
            </a:pPr>
            <a:r>
              <a:rPr lang="en-US" sz="2200" b="1" dirty="0">
                <a:latin typeface="Times New Roman" panose="02020603050405020304" pitchFamily="18" charset="0"/>
                <a:cs typeface="Times New Roman" panose="02020603050405020304" pitchFamily="18" charset="0"/>
              </a:rPr>
              <a:t>Modify data</a:t>
            </a:r>
            <a:r>
              <a:rPr lang="en-US" sz="2200" dirty="0">
                <a:latin typeface="Times New Roman" panose="02020603050405020304" pitchFamily="18" charset="0"/>
                <a:cs typeface="Times New Roman" panose="02020603050405020304" pitchFamily="18" charset="0"/>
              </a:rPr>
              <a:t>: You can update or change existing information in the database.</a:t>
            </a:r>
          </a:p>
          <a:p>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9066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34DDD-6002-ECD4-4B77-8027EDA1E80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DML</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F4177E-9210-90E2-C402-CF89DCAEB0D5}"/>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Procedural DML</a:t>
            </a:r>
            <a:r>
              <a:rPr lang="en-US" dirty="0">
                <a:solidFill>
                  <a:schemeClr val="tx1"/>
                </a:solidFill>
                <a:latin typeface="Times New Roman" panose="02020603050405020304" pitchFamily="18" charset="0"/>
                <a:cs typeface="Times New Roman" panose="02020603050405020304" pitchFamily="18" charset="0"/>
              </a:rPr>
              <a:t>: You need to tell the system both </a:t>
            </a:r>
            <a:r>
              <a:rPr lang="en-US" i="1" dirty="0">
                <a:solidFill>
                  <a:schemeClr val="tx1"/>
                </a:solidFill>
                <a:latin typeface="Times New Roman" panose="02020603050405020304" pitchFamily="18" charset="0"/>
                <a:cs typeface="Times New Roman" panose="02020603050405020304" pitchFamily="18" charset="0"/>
              </a:rPr>
              <a:t>what</a:t>
            </a:r>
            <a:r>
              <a:rPr lang="en-US" dirty="0">
                <a:solidFill>
                  <a:schemeClr val="tx1"/>
                </a:solidFill>
                <a:latin typeface="Times New Roman" panose="02020603050405020304" pitchFamily="18" charset="0"/>
                <a:cs typeface="Times New Roman" panose="02020603050405020304" pitchFamily="18" charset="0"/>
              </a:rPr>
              <a:t> data you want and </a:t>
            </a:r>
            <a:r>
              <a:rPr lang="en-US" i="1" dirty="0">
                <a:solidFill>
                  <a:schemeClr val="tx1"/>
                </a:solidFill>
                <a:latin typeface="Times New Roman" panose="02020603050405020304" pitchFamily="18" charset="0"/>
                <a:cs typeface="Times New Roman" panose="02020603050405020304" pitchFamily="18" charset="0"/>
              </a:rPr>
              <a:t>how</a:t>
            </a:r>
            <a:r>
              <a:rPr lang="en-US" dirty="0">
                <a:solidFill>
                  <a:schemeClr val="tx1"/>
                </a:solidFill>
                <a:latin typeface="Times New Roman" panose="02020603050405020304" pitchFamily="18" charset="0"/>
                <a:cs typeface="Times New Roman" panose="02020603050405020304" pitchFamily="18" charset="0"/>
              </a:rPr>
              <a:t> to get it.</a:t>
            </a:r>
          </a:p>
          <a:p>
            <a:r>
              <a:rPr lang="en-US" b="1" dirty="0">
                <a:solidFill>
                  <a:schemeClr val="tx1"/>
                </a:solidFill>
                <a:latin typeface="Times New Roman" panose="02020603050405020304" pitchFamily="18" charset="0"/>
                <a:cs typeface="Times New Roman" panose="02020603050405020304" pitchFamily="18" charset="0"/>
              </a:rPr>
              <a:t>Declarative DML(Non procedural DML</a:t>
            </a:r>
            <a:r>
              <a:rPr lang="en-US" sz="2200" b="1" dirty="0">
                <a:solidFill>
                  <a:schemeClr val="tx1"/>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You only need to tell the system </a:t>
            </a:r>
            <a:r>
              <a:rPr lang="en-US" sz="2200" i="1" dirty="0">
                <a:latin typeface="Times New Roman" panose="02020603050405020304" pitchFamily="18" charset="0"/>
                <a:cs typeface="Times New Roman" panose="02020603050405020304" pitchFamily="18" charset="0"/>
              </a:rPr>
              <a:t>what</a:t>
            </a:r>
            <a:r>
              <a:rPr lang="en-US" sz="2200" dirty="0">
                <a:latin typeface="Times New Roman" panose="02020603050405020304" pitchFamily="18" charset="0"/>
                <a:cs typeface="Times New Roman" panose="02020603050405020304" pitchFamily="18" charset="0"/>
              </a:rPr>
              <a:t> data you want, and the system will figure out </a:t>
            </a:r>
            <a:r>
              <a:rPr lang="en-US" sz="2200" i="1" dirty="0">
                <a:latin typeface="Times New Roman" panose="02020603050405020304" pitchFamily="18" charset="0"/>
                <a:cs typeface="Times New Roman" panose="02020603050405020304" pitchFamily="18" charset="0"/>
              </a:rPr>
              <a:t>how</a:t>
            </a:r>
            <a:r>
              <a:rPr lang="en-US" sz="2200" dirty="0">
                <a:latin typeface="Times New Roman" panose="02020603050405020304" pitchFamily="18" charset="0"/>
                <a:cs typeface="Times New Roman" panose="02020603050405020304" pitchFamily="18" charset="0"/>
              </a:rPr>
              <a:t> to get it for you</a:t>
            </a:r>
            <a:r>
              <a:rPr lang="en-US" sz="2200" dirty="0"/>
              <a:t>.</a:t>
            </a:r>
          </a:p>
          <a:p>
            <a:r>
              <a:rPr lang="en-US" sz="2200" b="1" dirty="0">
                <a:solidFill>
                  <a:schemeClr val="tx1"/>
                </a:solidFill>
                <a:latin typeface="Times New Roman" panose="02020603050405020304" pitchFamily="18" charset="0"/>
                <a:cs typeface="Times New Roman" panose="02020603050405020304" pitchFamily="18" charset="0"/>
              </a:rPr>
              <a:t>Query</a:t>
            </a:r>
            <a:r>
              <a:rPr lang="en-US" sz="2200" dirty="0">
                <a:solidFill>
                  <a:schemeClr val="tx1"/>
                </a:solidFill>
                <a:latin typeface="Times New Roman" panose="02020603050405020304" pitchFamily="18" charset="0"/>
                <a:cs typeface="Times New Roman" panose="02020603050405020304" pitchFamily="18" charset="0"/>
              </a:rPr>
              <a:t>: A query is a specific request you make to the database to get certain information. The part of DML that deals with getting data is called a </a:t>
            </a:r>
            <a:r>
              <a:rPr lang="en-US" sz="2200" b="1" dirty="0">
                <a:solidFill>
                  <a:schemeClr val="tx1"/>
                </a:solidFill>
                <a:latin typeface="Times New Roman" panose="02020603050405020304" pitchFamily="18" charset="0"/>
                <a:cs typeface="Times New Roman" panose="02020603050405020304" pitchFamily="18" charset="0"/>
              </a:rPr>
              <a:t>query language</a:t>
            </a:r>
            <a:r>
              <a:rPr lang="en-US" sz="2200" dirty="0">
                <a:solidFill>
                  <a:schemeClr val="tx1"/>
                </a:solidFill>
                <a:latin typeface="Times New Roman" panose="02020603050405020304" pitchFamily="18" charset="0"/>
                <a:cs typeface="Times New Roman" panose="02020603050405020304" pitchFamily="18" charset="0"/>
              </a:rPr>
              <a:t>.</a:t>
            </a:r>
          </a:p>
          <a:p>
            <a:endParaRPr lang="en-IN" sz="2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0015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8DBE1-C218-58F9-8174-D6B913FC050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Definition language(DDL)</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C8EB54-7EE7-8457-BCDC-3BEAF1620997}"/>
              </a:ext>
            </a:extLst>
          </p:cNvPr>
          <p:cNvSpPr>
            <a:spLocks noGrp="1"/>
          </p:cNvSpPr>
          <p:nvPr>
            <p:ph idx="1"/>
          </p:nvPr>
        </p:nvSpPr>
        <p:spPr>
          <a:xfrm>
            <a:off x="1295400" y="2556931"/>
            <a:ext cx="10066505" cy="3824413"/>
          </a:xfrm>
        </p:spPr>
        <p:txBody>
          <a:bodyPr>
            <a:normAutofit lnSpcReduction="10000"/>
          </a:bodyPr>
          <a:lstStyle/>
          <a:p>
            <a:r>
              <a:rPr lang="en-US" sz="2200" b="1" dirty="0">
                <a:latin typeface="Times New Roman" panose="02020603050405020304" pitchFamily="18" charset="0"/>
                <a:cs typeface="Times New Roman" panose="02020603050405020304" pitchFamily="18" charset="0"/>
              </a:rPr>
              <a:t>Data-definition language: </a:t>
            </a:r>
            <a:r>
              <a:rPr lang="en-US" sz="2200" dirty="0">
                <a:latin typeface="Times New Roman" panose="02020603050405020304" pitchFamily="18" charset="0"/>
                <a:cs typeface="Times New Roman" panose="02020603050405020304" pitchFamily="18" charset="0"/>
              </a:rPr>
              <a:t>This is a type of language used to define or describe the structure of a database. In other words, it's used to define what the database looks like and how the data will be organized.</a:t>
            </a:r>
          </a:p>
          <a:p>
            <a:r>
              <a:rPr lang="en-US" sz="2200" b="1" dirty="0">
                <a:latin typeface="Times New Roman" panose="02020603050405020304" pitchFamily="18" charset="0"/>
                <a:cs typeface="Times New Roman" panose="02020603050405020304" pitchFamily="18" charset="0"/>
              </a:rPr>
              <a:t>Other properties of data: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Besides organizing data, DDL can also define additional properties, like constraints (rules) on the data to ensure it follows certain rules or formats.</a:t>
            </a:r>
          </a:p>
          <a:p>
            <a:r>
              <a:rPr lang="en-IN" sz="2200" b="1" dirty="0">
                <a:latin typeface="Times New Roman" panose="02020603050405020304" pitchFamily="18" charset="0"/>
                <a:cs typeface="Times New Roman" panose="02020603050405020304" pitchFamily="18" charset="0"/>
              </a:rPr>
              <a:t>Data storage and access methods: </a:t>
            </a:r>
            <a:r>
              <a:rPr lang="en-IN" sz="2200" dirty="0">
                <a:latin typeface="Times New Roman" panose="02020603050405020304" pitchFamily="18" charset="0"/>
                <a:cs typeface="Times New Roman" panose="02020603050405020304" pitchFamily="18" charset="0"/>
              </a:rPr>
              <a:t>DDL specify how data will stored and how it will be accessed. </a:t>
            </a:r>
            <a:r>
              <a:rPr lang="en-US" sz="2200" dirty="0">
                <a:latin typeface="Times New Roman" panose="02020603050405020304" pitchFamily="18" charset="0"/>
                <a:cs typeface="Times New Roman" panose="02020603050405020304" pitchFamily="18" charset="0"/>
              </a:rPr>
              <a:t>It does this through a set of statements that tell the database system what methods or techniques to use.</a:t>
            </a:r>
          </a:p>
          <a:p>
            <a:r>
              <a:rPr lang="en-US" sz="2200" b="1" dirty="0">
                <a:latin typeface="Times New Roman" panose="02020603050405020304" pitchFamily="18" charset="0"/>
                <a:cs typeface="Times New Roman" panose="02020603050405020304" pitchFamily="18" charset="0"/>
              </a:rPr>
              <a:t>Hidden details: </a:t>
            </a:r>
            <a:r>
              <a:rPr lang="en-US" sz="2200" dirty="0">
                <a:latin typeface="Times New Roman" panose="02020603050405020304" pitchFamily="18" charset="0"/>
                <a:cs typeface="Times New Roman" panose="02020603050405020304" pitchFamily="18" charset="0"/>
              </a:rPr>
              <a:t>Technical details of the database not visible to the user</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6972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1FD2A-1576-2C34-AE4B-F34824CDD8E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Definition language(DDL)</a:t>
            </a:r>
            <a:endParaRPr lang="en-IN" dirty="0"/>
          </a:p>
        </p:txBody>
      </p:sp>
      <p:sp>
        <p:nvSpPr>
          <p:cNvPr id="3" name="Content Placeholder 2">
            <a:extLst>
              <a:ext uri="{FF2B5EF4-FFF2-40B4-BE49-F238E27FC236}">
                <a16:creationId xmlns:a16="http://schemas.microsoft.com/office/drawing/2014/main" id="{8D12AB9D-582D-1EC7-2019-D919F981382E}"/>
              </a:ext>
            </a:extLst>
          </p:cNvPr>
          <p:cNvSpPr>
            <a:spLocks noGrp="1"/>
          </p:cNvSpPr>
          <p:nvPr>
            <p:ph idx="1"/>
          </p:nvPr>
        </p:nvSpPr>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Consistency Constraints</a:t>
            </a:r>
            <a:r>
              <a:rPr lang="en-US" dirty="0">
                <a:latin typeface="Times New Roman" panose="02020603050405020304" pitchFamily="18" charset="0"/>
                <a:cs typeface="Times New Roman" panose="02020603050405020304" pitchFamily="18" charset="0"/>
              </a:rPr>
              <a:t>: The data in a database must follow certain rules to ensure that it stays accurate and consistent.</a:t>
            </a:r>
          </a:p>
          <a:p>
            <a:pPr>
              <a:buFont typeface="+mj-lt"/>
              <a:buAutoNum type="arabicPeriod"/>
            </a:pPr>
            <a:r>
              <a:rPr lang="en-US" b="1" dirty="0">
                <a:latin typeface="Times New Roman" panose="02020603050405020304" pitchFamily="18" charset="0"/>
                <a:cs typeface="Times New Roman" panose="02020603050405020304" pitchFamily="18" charset="0"/>
              </a:rPr>
              <a:t>Domain Constraints</a:t>
            </a:r>
            <a:r>
              <a:rPr lang="en-US" dirty="0">
                <a:latin typeface="Times New Roman" panose="02020603050405020304" pitchFamily="18" charset="0"/>
                <a:cs typeface="Times New Roman" panose="02020603050405020304" pitchFamily="18" charset="0"/>
              </a:rPr>
              <a:t>: Every piece of data (called an attribute) must belong to a specific type or category, like numbers, letters, or dates. For example, a phone number must only contain numbers.</a:t>
            </a:r>
          </a:p>
          <a:p>
            <a:pPr>
              <a:buFont typeface="+mj-lt"/>
              <a:buAutoNum type="arabicPeriod"/>
            </a:pPr>
            <a:r>
              <a:rPr lang="en-US" b="1" dirty="0">
                <a:latin typeface="Times New Roman" panose="02020603050405020304" pitchFamily="18" charset="0"/>
                <a:cs typeface="Times New Roman" panose="02020603050405020304" pitchFamily="18" charset="0"/>
              </a:rPr>
              <a:t>Referential Integrity</a:t>
            </a:r>
            <a:r>
              <a:rPr lang="en-US" dirty="0">
                <a:latin typeface="Times New Roman" panose="02020603050405020304" pitchFamily="18" charset="0"/>
                <a:cs typeface="Times New Roman" panose="02020603050405020304" pitchFamily="18" charset="0"/>
              </a:rPr>
              <a:t>: Sometimes, we need to ensure that data in one part of the database matches data in another part. For example, if a table stores customer orders, the customer ID in that table must match a customer in the customer table.</a:t>
            </a:r>
          </a:p>
          <a:p>
            <a:endParaRPr lang="en-IN" dirty="0"/>
          </a:p>
        </p:txBody>
      </p:sp>
    </p:spTree>
    <p:extLst>
      <p:ext uri="{BB962C8B-B14F-4D97-AF65-F5344CB8AC3E}">
        <p14:creationId xmlns:p14="http://schemas.microsoft.com/office/powerpoint/2010/main" val="2396447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CF9C1-1576-366A-FF56-8259BFD3DE3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Definition language(DDL)</a:t>
            </a:r>
            <a:endParaRPr lang="en-IN" dirty="0"/>
          </a:p>
        </p:txBody>
      </p:sp>
      <p:sp>
        <p:nvSpPr>
          <p:cNvPr id="3" name="Content Placeholder 2">
            <a:extLst>
              <a:ext uri="{FF2B5EF4-FFF2-40B4-BE49-F238E27FC236}">
                <a16:creationId xmlns:a16="http://schemas.microsoft.com/office/drawing/2014/main" id="{7A2937BF-94A2-91D4-8E67-5E0B8A003FDF}"/>
              </a:ext>
            </a:extLst>
          </p:cNvPr>
          <p:cNvSpPr>
            <a:spLocks noGrp="1"/>
          </p:cNvSpPr>
          <p:nvPr>
            <p:ph idx="1"/>
          </p:nvPr>
        </p:nvSpPr>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Assertions: </a:t>
            </a:r>
            <a:r>
              <a:rPr lang="en-US" dirty="0">
                <a:latin typeface="Times New Roman" panose="02020603050405020304" pitchFamily="18" charset="0"/>
                <a:cs typeface="Times New Roman" panose="02020603050405020304" pitchFamily="18" charset="0"/>
              </a:rPr>
              <a:t>These are specific conditions or rules that must always be true for the database. For instance, an employee’s salary should always be positive.</a:t>
            </a:r>
          </a:p>
          <a:p>
            <a:r>
              <a:rPr lang="en-US" b="1" dirty="0" err="1">
                <a:latin typeface="Times New Roman" panose="02020603050405020304" pitchFamily="18" charset="0"/>
                <a:cs typeface="Times New Roman" panose="02020603050405020304" pitchFamily="18" charset="0"/>
              </a:rPr>
              <a:t>Authorizaton</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Not all users can access or change everything in database</a:t>
            </a:r>
          </a:p>
          <a:p>
            <a:pPr lvl="2"/>
            <a:r>
              <a:rPr lang="en-US" sz="2400" b="1" i="0" dirty="0">
                <a:solidFill>
                  <a:srgbClr val="000000"/>
                </a:solidFill>
                <a:effectLst/>
                <a:latin typeface="Times New Roman" panose="02020603050405020304" pitchFamily="18" charset="0"/>
                <a:cs typeface="Times New Roman" panose="02020603050405020304" pitchFamily="18" charset="0"/>
              </a:rPr>
              <a:t>read authorization</a:t>
            </a:r>
            <a:r>
              <a:rPr lang="en-US" sz="2400" b="0" i="0" dirty="0">
                <a:solidFill>
                  <a:srgbClr val="000000"/>
                </a:solidFill>
                <a:effectLst/>
                <a:latin typeface="Times New Roman" panose="02020603050405020304" pitchFamily="18" charset="0"/>
                <a:cs typeface="Times New Roman" panose="02020603050405020304" pitchFamily="18" charset="0"/>
              </a:rPr>
              <a:t>, which allows reading, but not modification, of data; </a:t>
            </a:r>
          </a:p>
          <a:p>
            <a:pPr lvl="2"/>
            <a:r>
              <a:rPr lang="en-US" sz="2400" b="1" i="0" dirty="0">
                <a:solidFill>
                  <a:srgbClr val="000000"/>
                </a:solidFill>
                <a:effectLst/>
                <a:latin typeface="Times New Roman" panose="02020603050405020304" pitchFamily="18" charset="0"/>
                <a:cs typeface="Times New Roman" panose="02020603050405020304" pitchFamily="18" charset="0"/>
              </a:rPr>
              <a:t>Insert</a:t>
            </a:r>
            <a:r>
              <a:rPr lang="en-US" sz="2400" b="1" dirty="0">
                <a:solidFill>
                  <a:srgbClr val="000000"/>
                </a:solidFill>
                <a:latin typeface="Times New Roman" panose="02020603050405020304" pitchFamily="18" charset="0"/>
                <a:cs typeface="Times New Roman" panose="02020603050405020304" pitchFamily="18" charset="0"/>
              </a:rPr>
              <a:t> </a:t>
            </a:r>
            <a:r>
              <a:rPr lang="en-US" sz="2400" b="1" i="0" dirty="0">
                <a:solidFill>
                  <a:srgbClr val="000000"/>
                </a:solidFill>
                <a:effectLst/>
                <a:latin typeface="Times New Roman" panose="02020603050405020304" pitchFamily="18" charset="0"/>
                <a:cs typeface="Times New Roman" panose="02020603050405020304" pitchFamily="18" charset="0"/>
              </a:rPr>
              <a:t>authorization</a:t>
            </a:r>
            <a:r>
              <a:rPr lang="en-US" sz="2400" b="0" i="0" dirty="0">
                <a:solidFill>
                  <a:srgbClr val="000000"/>
                </a:solidFill>
                <a:effectLst/>
                <a:latin typeface="Times New Roman" panose="02020603050405020304" pitchFamily="18" charset="0"/>
                <a:cs typeface="Times New Roman" panose="02020603050405020304" pitchFamily="18" charset="0"/>
              </a:rPr>
              <a:t>, which allows insertion of new data, but not modification of existing data; </a:t>
            </a:r>
          </a:p>
          <a:p>
            <a:pPr lvl="2"/>
            <a:r>
              <a:rPr lang="en-US" sz="2400" b="1" i="0" dirty="0">
                <a:solidFill>
                  <a:srgbClr val="000000"/>
                </a:solidFill>
                <a:effectLst/>
                <a:latin typeface="Times New Roman" panose="02020603050405020304" pitchFamily="18" charset="0"/>
                <a:cs typeface="Times New Roman" panose="02020603050405020304" pitchFamily="18" charset="0"/>
              </a:rPr>
              <a:t>update authorization</a:t>
            </a:r>
            <a:r>
              <a:rPr lang="en-US" sz="2400" b="0" i="0" dirty="0">
                <a:solidFill>
                  <a:srgbClr val="000000"/>
                </a:solidFill>
                <a:effectLst/>
                <a:latin typeface="Times New Roman" panose="02020603050405020304" pitchFamily="18" charset="0"/>
                <a:cs typeface="Times New Roman" panose="02020603050405020304" pitchFamily="18" charset="0"/>
              </a:rPr>
              <a:t>, which allows modification, but not deletion, of data; </a:t>
            </a:r>
            <a:endParaRPr lang="en-US" sz="2400" dirty="0">
              <a:solidFill>
                <a:srgbClr val="000000"/>
              </a:solidFill>
              <a:latin typeface="Times New Roman" panose="02020603050405020304" pitchFamily="18" charset="0"/>
              <a:cs typeface="Times New Roman" panose="02020603050405020304" pitchFamily="18" charset="0"/>
            </a:endParaRPr>
          </a:p>
          <a:p>
            <a:pPr lvl="2"/>
            <a:r>
              <a:rPr lang="en-US" sz="2400" b="1" i="0" dirty="0">
                <a:solidFill>
                  <a:srgbClr val="000000"/>
                </a:solidFill>
                <a:effectLst/>
                <a:latin typeface="Times New Roman" panose="02020603050405020304" pitchFamily="18" charset="0"/>
                <a:cs typeface="Times New Roman" panose="02020603050405020304" pitchFamily="18" charset="0"/>
              </a:rPr>
              <a:t>delete authorization</a:t>
            </a:r>
            <a:r>
              <a:rPr lang="en-US" sz="2400" b="0" i="0" dirty="0">
                <a:solidFill>
                  <a:srgbClr val="000000"/>
                </a:solidFill>
                <a:effectLst/>
                <a:latin typeface="Times New Roman" panose="02020603050405020304" pitchFamily="18" charset="0"/>
                <a:cs typeface="Times New Roman" panose="02020603050405020304" pitchFamily="18" charset="0"/>
              </a:rPr>
              <a:t>, which allows deletion of data. </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8714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0EF9E-564C-30A2-0261-B1E55B1129A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Dictionary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2A932E-2319-2411-C57B-D28B3D7FD4DC}"/>
              </a:ext>
            </a:extLst>
          </p:cNvPr>
          <p:cNvSpPr>
            <a:spLocks noGrp="1"/>
          </p:cNvSpPr>
          <p:nvPr>
            <p:ph idx="1"/>
          </p:nvPr>
        </p:nvSpPr>
        <p:spPr/>
        <p:txBody>
          <a:bodyPr>
            <a:normAutofit/>
          </a:bodyPr>
          <a:lstStyle/>
          <a:p>
            <a:r>
              <a:rPr lang="en-US" sz="2200" dirty="0">
                <a:latin typeface="Times New Roman" panose="02020603050405020304" pitchFamily="18" charset="0"/>
                <a:cs typeface="Times New Roman" panose="02020603050405020304" pitchFamily="18" charset="0"/>
              </a:rPr>
              <a:t>A </a:t>
            </a:r>
            <a:r>
              <a:rPr lang="en-US" sz="2200" b="1" dirty="0">
                <a:latin typeface="Times New Roman" panose="02020603050405020304" pitchFamily="18" charset="0"/>
                <a:cs typeface="Times New Roman" panose="02020603050405020304" pitchFamily="18" charset="0"/>
              </a:rPr>
              <a:t>Data Dictionary</a:t>
            </a:r>
            <a:r>
              <a:rPr lang="en-US" sz="2200" dirty="0">
                <a:latin typeface="Times New Roman" panose="02020603050405020304" pitchFamily="18" charset="0"/>
                <a:cs typeface="Times New Roman" panose="02020603050405020304" pitchFamily="18" charset="0"/>
              </a:rPr>
              <a:t> is a part of a database system (DBMS) that holds details about the data, like what kind of data is stored and how different pieces of data are related to each other.</a:t>
            </a:r>
          </a:p>
          <a:p>
            <a:r>
              <a:rPr lang="en-US" sz="2200" dirty="0">
                <a:latin typeface="Times New Roman" panose="02020603050405020304" pitchFamily="18" charset="0"/>
                <a:cs typeface="Times New Roman" panose="02020603050405020304" pitchFamily="18" charset="0"/>
              </a:rPr>
              <a:t>There are two main types of dictionaries</a:t>
            </a:r>
          </a:p>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Integrated data dictionary: </a:t>
            </a:r>
            <a:r>
              <a:rPr lang="en-IN" sz="2200" dirty="0">
                <a:latin typeface="Times New Roman" panose="02020603050405020304" pitchFamily="18" charset="0"/>
                <a:cs typeface="Times New Roman" panose="02020603050405020304" pitchFamily="18" charset="0"/>
              </a:rPr>
              <a:t>This comes with the database system itself and only deals with data managed by DBMS</a:t>
            </a:r>
          </a:p>
          <a:p>
            <a:pPr>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Standalone data dictionary: </a:t>
            </a:r>
            <a:r>
              <a:rPr lang="en-IN" sz="2200" dirty="0">
                <a:latin typeface="Times New Roman" panose="02020603050405020304" pitchFamily="18" charset="0"/>
                <a:cs typeface="Times New Roman" panose="02020603050405020304" pitchFamily="18" charset="0"/>
              </a:rPr>
              <a:t>This is provided by third party and can be used to manage data from other organizations as well</a:t>
            </a:r>
          </a:p>
        </p:txBody>
      </p:sp>
    </p:spTree>
    <p:extLst>
      <p:ext uri="{BB962C8B-B14F-4D97-AF65-F5344CB8AC3E}">
        <p14:creationId xmlns:p14="http://schemas.microsoft.com/office/powerpoint/2010/main" val="3438778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2028-F1F4-1641-90CA-273C4EB2A88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Dictionary</a:t>
            </a:r>
            <a:endParaRPr lang="en-IN" dirty="0"/>
          </a:p>
        </p:txBody>
      </p:sp>
      <p:sp>
        <p:nvSpPr>
          <p:cNvPr id="3" name="Content Placeholder 2">
            <a:extLst>
              <a:ext uri="{FF2B5EF4-FFF2-40B4-BE49-F238E27FC236}">
                <a16:creationId xmlns:a16="http://schemas.microsoft.com/office/drawing/2014/main" id="{884AF636-7DE8-1CD0-073F-01796EBC9195}"/>
              </a:ext>
            </a:extLst>
          </p:cNvPr>
          <p:cNvSpPr>
            <a:spLocks noGrp="1"/>
          </p:cNvSpPr>
          <p:nvPr>
            <p:ph idx="1"/>
          </p:nvPr>
        </p:nvSpPr>
        <p:spPr/>
        <p:txBody>
          <a:bodyPr>
            <a:normAutofit lnSpcReduction="10000"/>
          </a:bodyPr>
          <a:lstStyle/>
          <a:p>
            <a:r>
              <a:rPr lang="en-US" sz="2200" dirty="0">
                <a:latin typeface="Times New Roman" panose="02020603050405020304" pitchFamily="18" charset="0"/>
                <a:cs typeface="Times New Roman" panose="02020603050405020304" pitchFamily="18" charset="0"/>
              </a:rPr>
              <a:t>Dictionaries can be active as well as passive</a:t>
            </a:r>
          </a:p>
          <a:p>
            <a:r>
              <a:rPr lang="en-US" sz="2200" b="1" dirty="0">
                <a:latin typeface="Times New Roman" panose="02020603050405020304" pitchFamily="18" charset="0"/>
                <a:cs typeface="Times New Roman" panose="02020603050405020304" pitchFamily="18" charset="0"/>
              </a:rPr>
              <a:t>Active data dictionary: </a:t>
            </a:r>
            <a:r>
              <a:rPr lang="en-US" sz="2200" dirty="0">
                <a:latin typeface="Times New Roman" panose="02020603050405020304" pitchFamily="18" charset="0"/>
                <a:cs typeface="Times New Roman" panose="02020603050405020304" pitchFamily="18" charset="0"/>
              </a:rPr>
              <a:t>Automatically updated whenever database is accessed it means it always has most current information </a:t>
            </a:r>
          </a:p>
          <a:p>
            <a:r>
              <a:rPr lang="en-US" sz="2200" b="1" dirty="0">
                <a:latin typeface="Times New Roman" panose="02020603050405020304" pitchFamily="18" charset="0"/>
                <a:cs typeface="Times New Roman" panose="02020603050405020304" pitchFamily="18" charset="0"/>
              </a:rPr>
              <a:t>Passive Data Dictionary</a:t>
            </a:r>
            <a:r>
              <a:rPr lang="en-US" sz="2200" dirty="0">
                <a:latin typeface="Times New Roman" panose="02020603050405020304" pitchFamily="18" charset="0"/>
                <a:cs typeface="Times New Roman" panose="02020603050405020304" pitchFamily="18" charset="0"/>
              </a:rPr>
              <a:t>: It doesn’t update by itself. You need to run a process (like a batch process) to refresh it.</a:t>
            </a:r>
          </a:p>
          <a:p>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main function</a:t>
            </a:r>
            <a:r>
              <a:rPr lang="en-US" sz="2200" dirty="0">
                <a:latin typeface="Times New Roman" panose="02020603050405020304" pitchFamily="18" charset="0"/>
                <a:cs typeface="Times New Roman" panose="02020603050405020304" pitchFamily="18" charset="0"/>
              </a:rPr>
              <a:t> of a </a:t>
            </a:r>
            <a:r>
              <a:rPr lang="en-US" sz="2200" b="1" dirty="0">
                <a:latin typeface="Times New Roman" panose="02020603050405020304" pitchFamily="18" charset="0"/>
                <a:cs typeface="Times New Roman" panose="02020603050405020304" pitchFamily="18" charset="0"/>
              </a:rPr>
              <a:t>data dictionary</a:t>
            </a:r>
            <a:r>
              <a:rPr lang="en-US" sz="2200" dirty="0">
                <a:latin typeface="Times New Roman" panose="02020603050405020304" pitchFamily="18" charset="0"/>
                <a:cs typeface="Times New Roman" panose="02020603050405020304" pitchFamily="18" charset="0"/>
              </a:rPr>
              <a:t> is to store descriptions of all the parts (or objects) that work with the database. This helps everyone involved, such as database designers and users, to better understand and communicate about the data.</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32561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9C8AA-0E03-AC82-8BA9-F1941FFD664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dictionary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1F5668-DB12-EA57-1C3E-D23C48C090F9}"/>
              </a:ext>
            </a:extLst>
          </p:cNvPr>
          <p:cNvSpPr>
            <a:spLocks noGrp="1"/>
          </p:cNvSpPr>
          <p:nvPr>
            <p:ph idx="1"/>
          </p:nvPr>
        </p:nvSpPr>
        <p:spPr>
          <a:xfrm>
            <a:off x="1295402" y="2370319"/>
            <a:ext cx="9601196" cy="3318936"/>
          </a:xfrm>
        </p:spPr>
        <p:txBody>
          <a:bodyPr>
            <a:noAutofit/>
          </a:bodyPr>
          <a:lstStyle/>
          <a:p>
            <a:r>
              <a:rPr lang="en-US" sz="2200" dirty="0">
                <a:latin typeface="Times New Roman" panose="02020603050405020304" pitchFamily="18" charset="0"/>
                <a:cs typeface="Times New Roman" panose="02020603050405020304" pitchFamily="18" charset="0"/>
              </a:rPr>
              <a:t>A data dictionary typically stores information about:</a:t>
            </a:r>
          </a:p>
          <a:p>
            <a:r>
              <a:rPr lang="en-US" sz="2200" b="1" dirty="0">
                <a:latin typeface="Times New Roman" panose="02020603050405020304" pitchFamily="18" charset="0"/>
                <a:cs typeface="Times New Roman" panose="02020603050405020304" pitchFamily="18" charset="0"/>
              </a:rPr>
              <a:t>Tables</a:t>
            </a:r>
            <a:r>
              <a:rPr lang="en-US" sz="2200" dirty="0">
                <a:latin typeface="Times New Roman" panose="02020603050405020304" pitchFamily="18" charset="0"/>
                <a:cs typeface="Times New Roman" panose="02020603050405020304" pitchFamily="18" charset="0"/>
              </a:rPr>
              <a:t>: Details about how data is organized in rows and columns.</a:t>
            </a:r>
          </a:p>
          <a:p>
            <a:r>
              <a:rPr lang="en-US" sz="2200" b="1" dirty="0">
                <a:latin typeface="Times New Roman" panose="02020603050405020304" pitchFamily="18" charset="0"/>
                <a:cs typeface="Times New Roman" panose="02020603050405020304" pitchFamily="18" charset="0"/>
              </a:rPr>
              <a:t>Fields/Attributes</a:t>
            </a:r>
            <a:r>
              <a:rPr lang="en-US" sz="2200" dirty="0">
                <a:latin typeface="Times New Roman" panose="02020603050405020304" pitchFamily="18" charset="0"/>
                <a:cs typeface="Times New Roman" panose="02020603050405020304" pitchFamily="18" charset="0"/>
              </a:rPr>
              <a:t>: Descriptions of each column in the tables, like their names and data types (e.g., numbers, text, dates).</a:t>
            </a:r>
          </a:p>
          <a:p>
            <a:r>
              <a:rPr lang="en-IN" sz="2200" dirty="0">
                <a:latin typeface="Times New Roman" panose="02020603050405020304" pitchFamily="18" charset="0"/>
                <a:cs typeface="Times New Roman" panose="02020603050405020304" pitchFamily="18" charset="0"/>
              </a:rPr>
              <a:t>Indexes:</a:t>
            </a:r>
            <a:r>
              <a:rPr lang="en-US" sz="2200" dirty="0">
                <a:latin typeface="Times New Roman" panose="02020603050405020304" pitchFamily="18" charset="0"/>
                <a:cs typeface="Times New Roman" panose="02020603050405020304" pitchFamily="18" charset="0"/>
              </a:rPr>
              <a:t>Information about how the data is sorted or organized for faster searches.</a:t>
            </a:r>
          </a:p>
          <a:p>
            <a:r>
              <a:rPr lang="en-US" sz="2200" b="1" dirty="0">
                <a:latin typeface="Times New Roman" panose="02020603050405020304" pitchFamily="18" charset="0"/>
                <a:cs typeface="Times New Roman" panose="02020603050405020304" pitchFamily="18" charset="0"/>
              </a:rPr>
              <a:t>Relationships</a:t>
            </a:r>
            <a:r>
              <a:rPr lang="en-US" sz="2200" dirty="0">
                <a:latin typeface="Times New Roman" panose="02020603050405020304" pitchFamily="18" charset="0"/>
                <a:cs typeface="Times New Roman" panose="02020603050405020304" pitchFamily="18" charset="0"/>
              </a:rPr>
              <a:t>: How different tables or objects in the database are connected to each other.</a:t>
            </a:r>
          </a:p>
          <a:p>
            <a:r>
              <a:rPr lang="en-US" sz="2200" b="1" dirty="0">
                <a:latin typeface="Times New Roman" panose="02020603050405020304" pitchFamily="18" charset="0"/>
                <a:cs typeface="Times New Roman" panose="02020603050405020304" pitchFamily="18" charset="0"/>
              </a:rPr>
              <a:t>Users and Permissions</a:t>
            </a:r>
            <a:r>
              <a:rPr lang="en-US" sz="2200" dirty="0">
                <a:latin typeface="Times New Roman" panose="02020603050405020304" pitchFamily="18" charset="0"/>
                <a:cs typeface="Times New Roman" panose="02020603050405020304" pitchFamily="18" charset="0"/>
              </a:rPr>
              <a:t>: Who can access or modify the data, and what actions they are allowed to perform (read, write, update, delete).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5128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6058F-6ADE-721A-9717-5ECB743165AF}"/>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Database administrator and Database users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8BC3B5-FBBC-171D-A95B-D7D4D7808394}"/>
              </a:ext>
            </a:extLst>
          </p:cNvPr>
          <p:cNvSpPr>
            <a:spLocks noGrp="1"/>
          </p:cNvSpPr>
          <p:nvPr>
            <p:ph idx="1"/>
          </p:nvPr>
        </p:nvSpPr>
        <p:spPr/>
        <p:txBody>
          <a:bodyPr>
            <a:normAutofit/>
          </a:bodyPr>
          <a:lstStyle/>
          <a:p>
            <a:r>
              <a:rPr lang="en-US" sz="2200" b="1" dirty="0">
                <a:latin typeface="Times New Roman" panose="02020603050405020304" pitchFamily="18" charset="0"/>
                <a:cs typeface="Times New Roman" panose="02020603050405020304" pitchFamily="18" charset="0"/>
              </a:rPr>
              <a:t>Types of database users </a:t>
            </a:r>
          </a:p>
          <a:p>
            <a:pPr marL="457200" indent="-457200">
              <a:buFont typeface="+mj-lt"/>
              <a:buAutoNum type="arabicPeriod"/>
            </a:pPr>
            <a:r>
              <a:rPr lang="en-IN" sz="2200" b="1" dirty="0">
                <a:latin typeface="Times New Roman" panose="02020603050405020304" pitchFamily="18" charset="0"/>
                <a:cs typeface="Times New Roman" panose="02020603050405020304" pitchFamily="18" charset="0"/>
              </a:rPr>
              <a:t>Naive users: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These are everyday users who aren't experts.</a:t>
            </a:r>
          </a:p>
          <a:p>
            <a:r>
              <a:rPr lang="en-US" sz="2000" dirty="0">
                <a:solidFill>
                  <a:schemeClr val="tx1"/>
                </a:solidFill>
                <a:latin typeface="Times New Roman" panose="02020603050405020304" pitchFamily="18" charset="0"/>
                <a:cs typeface="Times New Roman" panose="02020603050405020304" pitchFamily="18" charset="0"/>
              </a:rPr>
              <a:t>They use </a:t>
            </a:r>
            <a:r>
              <a:rPr lang="en-US" sz="2000" b="1" dirty="0">
                <a:solidFill>
                  <a:schemeClr val="tx1"/>
                </a:solidFill>
                <a:latin typeface="Times New Roman" panose="02020603050405020304" pitchFamily="18" charset="0"/>
                <a:cs typeface="Times New Roman" panose="02020603050405020304" pitchFamily="18" charset="0"/>
              </a:rPr>
              <a:t>pre-built application programs</a:t>
            </a:r>
            <a:r>
              <a:rPr lang="en-US" sz="2000" dirty="0">
                <a:solidFill>
                  <a:schemeClr val="tx1"/>
                </a:solidFill>
                <a:latin typeface="Times New Roman" panose="02020603050405020304" pitchFamily="18" charset="0"/>
                <a:cs typeface="Times New Roman" panose="02020603050405020304" pitchFamily="18" charset="0"/>
              </a:rPr>
              <a:t> (like forms or apps) to work with the database</a:t>
            </a:r>
            <a:r>
              <a:rPr lang="en-US" sz="1600" dirty="0"/>
              <a:t>.</a:t>
            </a:r>
          </a:p>
          <a:p>
            <a:r>
              <a:rPr lang="en-US" sz="2200" dirty="0">
                <a:solidFill>
                  <a:schemeClr val="tx1"/>
                </a:solidFill>
                <a:latin typeface="Times New Roman" panose="02020603050405020304" pitchFamily="18" charset="0"/>
                <a:cs typeface="Times New Roman" panose="02020603050405020304" pitchFamily="18" charset="0"/>
              </a:rPr>
              <a:t>For example, when someone uses an app to check their bank balance, they are a naive user.</a:t>
            </a:r>
          </a:p>
          <a:p>
            <a:pPr marL="457200" indent="-457200">
              <a:buFont typeface="+mj-lt"/>
              <a:buAutoNum type="arabicPeriod"/>
            </a:pPr>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2665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456B5-F5B0-601F-6CB7-09DF013CC7FF}"/>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Database administrator and Database users</a:t>
            </a:r>
            <a:endParaRPr lang="en-IN" dirty="0"/>
          </a:p>
        </p:txBody>
      </p:sp>
      <p:sp>
        <p:nvSpPr>
          <p:cNvPr id="3" name="Content Placeholder 2">
            <a:extLst>
              <a:ext uri="{FF2B5EF4-FFF2-40B4-BE49-F238E27FC236}">
                <a16:creationId xmlns:a16="http://schemas.microsoft.com/office/drawing/2014/main" id="{FDFD9348-0EDE-2BB6-2AAF-94B9238C1983}"/>
              </a:ext>
            </a:extLst>
          </p:cNvPr>
          <p:cNvSpPr>
            <a:spLocks noGrp="1"/>
          </p:cNvSpPr>
          <p:nvPr>
            <p:ph idx="1"/>
          </p:nvPr>
        </p:nvSpPr>
        <p:spPr/>
        <p:txBody>
          <a:bodyPr>
            <a:normAutofit fontScale="92500"/>
          </a:bodyPr>
          <a:lstStyle/>
          <a:p>
            <a:pPr marL="0" indent="0">
              <a:buNone/>
            </a:pPr>
            <a:r>
              <a:rPr lang="en-US" sz="2200" b="1" i="0" dirty="0">
                <a:solidFill>
                  <a:srgbClr val="000000"/>
                </a:solidFill>
                <a:effectLst/>
                <a:latin typeface="Times New Roman" panose="02020603050405020304" pitchFamily="18" charset="0"/>
                <a:cs typeface="Times New Roman" panose="02020603050405020304" pitchFamily="18" charset="0"/>
              </a:rPr>
              <a:t>2. Application programmers </a:t>
            </a:r>
            <a:r>
              <a:rPr lang="en-US" sz="2200" b="0" i="0" dirty="0">
                <a:solidFill>
                  <a:srgbClr val="000000"/>
                </a:solidFill>
                <a:effectLst/>
                <a:latin typeface="Times New Roman" panose="02020603050405020304" pitchFamily="18" charset="0"/>
                <a:cs typeface="Times New Roman" panose="02020603050405020304" pitchFamily="18" charset="0"/>
              </a:rPr>
              <a:t>are computer professionals who write application programs. Application programmers can choose from many tools to develop user interfaces.</a:t>
            </a:r>
          </a:p>
          <a:p>
            <a:pPr marL="0" indent="0">
              <a:buNone/>
            </a:pPr>
            <a:r>
              <a:rPr lang="en-US" sz="2200" dirty="0">
                <a:solidFill>
                  <a:srgbClr val="000000"/>
                </a:solidFill>
                <a:latin typeface="Times New Roman" panose="02020603050405020304" pitchFamily="18" charset="0"/>
                <a:cs typeface="Times New Roman" panose="02020603050405020304" pitchFamily="18" charset="0"/>
              </a:rPr>
              <a:t>3. </a:t>
            </a:r>
            <a:r>
              <a:rPr lang="en-US" sz="2200" b="1" dirty="0">
                <a:solidFill>
                  <a:schemeClr val="tx1"/>
                </a:solidFill>
                <a:latin typeface="Times New Roman" panose="02020603050405020304" pitchFamily="18" charset="0"/>
                <a:cs typeface="Times New Roman" panose="02020603050405020304" pitchFamily="18" charset="0"/>
              </a:rPr>
              <a:t>Sophisticated users: </a:t>
            </a:r>
          </a:p>
          <a:p>
            <a:r>
              <a:rPr lang="en-US" sz="2200" dirty="0">
                <a:solidFill>
                  <a:schemeClr val="tx1"/>
                </a:solidFill>
                <a:latin typeface="Times New Roman" panose="02020603050405020304" pitchFamily="18" charset="0"/>
                <a:cs typeface="Times New Roman" panose="02020603050405020304" pitchFamily="18" charset="0"/>
              </a:rPr>
              <a:t>These users are more skilled.</a:t>
            </a:r>
            <a:endParaRPr lang="en-US" sz="2200" b="1" dirty="0">
              <a:solidFill>
                <a:schemeClr val="tx1"/>
              </a:solidFill>
              <a:latin typeface="Times New Roman" panose="02020603050405020304" pitchFamily="18" charset="0"/>
              <a:cs typeface="Times New Roman" panose="02020603050405020304" pitchFamily="18" charset="0"/>
            </a:endParaRPr>
          </a:p>
          <a:p>
            <a:r>
              <a:rPr lang="en-US" sz="2200" dirty="0">
                <a:solidFill>
                  <a:schemeClr val="tx1"/>
                </a:solidFill>
                <a:latin typeface="Times New Roman" panose="02020603050405020304" pitchFamily="18" charset="0"/>
                <a:cs typeface="Times New Roman" panose="02020603050405020304" pitchFamily="18" charset="0"/>
              </a:rPr>
              <a:t>They don't write full programs but use a </a:t>
            </a:r>
            <a:r>
              <a:rPr lang="en-US" sz="2200" b="1" dirty="0">
                <a:solidFill>
                  <a:schemeClr val="tx1"/>
                </a:solidFill>
                <a:latin typeface="Times New Roman" panose="02020603050405020304" pitchFamily="18" charset="0"/>
                <a:cs typeface="Times New Roman" panose="02020603050405020304" pitchFamily="18" charset="0"/>
              </a:rPr>
              <a:t>query language</a:t>
            </a:r>
            <a:r>
              <a:rPr lang="en-US" sz="2200" dirty="0">
                <a:solidFill>
                  <a:schemeClr val="tx1"/>
                </a:solidFill>
                <a:latin typeface="Times New Roman" panose="02020603050405020304" pitchFamily="18" charset="0"/>
                <a:cs typeface="Times New Roman" panose="02020603050405020304" pitchFamily="18" charset="0"/>
              </a:rPr>
              <a:t> (like SQL) to ask the database questions and get the data they need.</a:t>
            </a:r>
          </a:p>
          <a:p>
            <a:r>
              <a:rPr lang="en-US" sz="2200" dirty="0">
                <a:solidFill>
                  <a:schemeClr val="tx1"/>
                </a:solidFill>
                <a:latin typeface="Times New Roman" panose="02020603050405020304" pitchFamily="18" charset="0"/>
                <a:cs typeface="Times New Roman" panose="02020603050405020304" pitchFamily="18" charset="0"/>
              </a:rPr>
              <a:t>They send their queries to a system called the </a:t>
            </a:r>
            <a:r>
              <a:rPr lang="en-US" sz="2200" b="1" dirty="0">
                <a:solidFill>
                  <a:schemeClr val="tx1"/>
                </a:solidFill>
                <a:latin typeface="Times New Roman" panose="02020603050405020304" pitchFamily="18" charset="0"/>
                <a:cs typeface="Times New Roman" panose="02020603050405020304" pitchFamily="18" charset="0"/>
              </a:rPr>
              <a:t>query processor</a:t>
            </a:r>
            <a:r>
              <a:rPr lang="en-US" sz="2200" dirty="0">
                <a:solidFill>
                  <a:schemeClr val="tx1"/>
                </a:solidFill>
                <a:latin typeface="Times New Roman" panose="02020603050405020304" pitchFamily="18" charset="0"/>
                <a:cs typeface="Times New Roman" panose="02020603050405020304" pitchFamily="18" charset="0"/>
              </a:rPr>
              <a:t>, which handles the request.</a:t>
            </a:r>
            <a:endParaRPr lang="en-US" sz="2200" b="1" i="0" dirty="0">
              <a:solidFill>
                <a:schemeClr val="tx1"/>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12337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6EF1-33CB-F416-BCF7-50A06C61569B}"/>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Database administrator and Database users</a:t>
            </a:r>
            <a:endParaRPr lang="en-IN" dirty="0"/>
          </a:p>
        </p:txBody>
      </p:sp>
      <p:sp>
        <p:nvSpPr>
          <p:cNvPr id="3" name="Content Placeholder 2">
            <a:extLst>
              <a:ext uri="{FF2B5EF4-FFF2-40B4-BE49-F238E27FC236}">
                <a16:creationId xmlns:a16="http://schemas.microsoft.com/office/drawing/2014/main" id="{D46175B3-693C-B537-F02A-3CDA185777C5}"/>
              </a:ext>
            </a:extLst>
          </p:cNvPr>
          <p:cNvSpPr>
            <a:spLocks noGrp="1"/>
          </p:cNvSpPr>
          <p:nvPr>
            <p:ph idx="1"/>
          </p:nvPr>
        </p:nvSpPr>
        <p:spPr/>
        <p:txBody>
          <a:bodyPr>
            <a:normAutofit/>
          </a:bodyPr>
          <a:lstStyle/>
          <a:p>
            <a:r>
              <a:rPr lang="en-US" sz="2200" b="1" i="0" dirty="0">
                <a:solidFill>
                  <a:srgbClr val="000000"/>
                </a:solidFill>
                <a:effectLst/>
                <a:latin typeface="Times New Roman" panose="02020603050405020304" pitchFamily="18" charset="0"/>
                <a:cs typeface="Times New Roman" panose="02020603050405020304" pitchFamily="18" charset="0"/>
              </a:rPr>
              <a:t>Specialized users </a:t>
            </a:r>
            <a:r>
              <a:rPr lang="en-US" sz="2200" b="0" i="0" dirty="0">
                <a:solidFill>
                  <a:srgbClr val="000000"/>
                </a:solidFill>
                <a:effectLst/>
                <a:latin typeface="Times New Roman" panose="02020603050405020304" pitchFamily="18" charset="0"/>
                <a:cs typeface="Times New Roman" panose="02020603050405020304" pitchFamily="18" charset="0"/>
              </a:rPr>
              <a:t>are sophisticated users who write specialized database applications that do not fit into the traditional data-processing framework</a:t>
            </a:r>
            <a:r>
              <a:rPr lang="en-US" sz="2200" dirty="0">
                <a:latin typeface="Times New Roman" panose="02020603050405020304" pitchFamily="18" charset="0"/>
                <a:cs typeface="Times New Roman" panose="02020603050405020304" pitchFamily="18" charset="0"/>
              </a:rPr>
              <a:t> </a:t>
            </a:r>
          </a:p>
          <a:p>
            <a:r>
              <a:rPr lang="en-US" sz="2200" b="1" dirty="0">
                <a:latin typeface="Times New Roman" panose="02020603050405020304" pitchFamily="18" charset="0"/>
                <a:cs typeface="Times New Roman" panose="02020603050405020304" pitchFamily="18" charset="0"/>
              </a:rPr>
              <a:t>OLAP tools</a:t>
            </a:r>
            <a:r>
              <a:rPr lang="en-US" sz="2200" dirty="0">
                <a:latin typeface="Times New Roman" panose="02020603050405020304" pitchFamily="18" charset="0"/>
                <a:cs typeface="Times New Roman" panose="02020603050405020304" pitchFamily="18" charset="0"/>
              </a:rPr>
              <a:t> (Online Analytical Processing): These tools are helpful for analyst</a:t>
            </a:r>
          </a:p>
          <a:p>
            <a:r>
              <a:rPr lang="en-US" sz="2200" dirty="0">
                <a:latin typeface="Times New Roman" panose="02020603050405020304" pitchFamily="18" charset="0"/>
                <a:cs typeface="Times New Roman" panose="02020603050405020304" pitchFamily="18" charset="0"/>
              </a:rPr>
              <a:t>They allow users to look at data from different perspectives and create </a:t>
            </a:r>
            <a:r>
              <a:rPr lang="en-US" sz="2200" b="1" dirty="0">
                <a:latin typeface="Times New Roman" panose="02020603050405020304" pitchFamily="18" charset="0"/>
                <a:cs typeface="Times New Roman" panose="02020603050405020304" pitchFamily="18" charset="0"/>
              </a:rPr>
              <a:t>summaries</a:t>
            </a:r>
            <a:r>
              <a:rPr lang="en-US" sz="2200" dirty="0">
                <a:latin typeface="Times New Roman" panose="02020603050405020304" pitchFamily="18" charset="0"/>
                <a:cs typeface="Times New Roman" panose="02020603050405020304" pitchFamily="18" charset="0"/>
              </a:rPr>
              <a:t> or reports easily, which simplifies the analysis of large amounts of data.</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0629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95B26-337E-E04A-97A0-C588BD33886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Database system Architecture</a:t>
            </a:r>
            <a:endParaRPr lang="en-IN"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11E6E966-7625-4712-C6AB-1941C8FD69D2}"/>
              </a:ext>
            </a:extLst>
          </p:cNvPr>
          <p:cNvPicPr>
            <a:picLocks noGrp="1" noChangeAspect="1"/>
          </p:cNvPicPr>
          <p:nvPr>
            <p:ph idx="1"/>
          </p:nvPr>
        </p:nvPicPr>
        <p:blipFill>
          <a:blip r:embed="rId2"/>
          <a:stretch>
            <a:fillRect/>
          </a:stretch>
        </p:blipFill>
        <p:spPr>
          <a:xfrm>
            <a:off x="2803035" y="2212231"/>
            <a:ext cx="6891471" cy="4346154"/>
          </a:xfrm>
          <a:prstGeom prst="rect">
            <a:avLst/>
          </a:prstGeom>
        </p:spPr>
      </p:pic>
    </p:spTree>
    <p:extLst>
      <p:ext uri="{BB962C8B-B14F-4D97-AF65-F5344CB8AC3E}">
        <p14:creationId xmlns:p14="http://schemas.microsoft.com/office/powerpoint/2010/main" val="19700449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322</TotalTime>
  <Words>1905</Words>
  <Application>Microsoft Office PowerPoint</Application>
  <PresentationFormat>Widescreen</PresentationFormat>
  <Paragraphs>145</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Garamond</vt:lpstr>
      <vt:lpstr>Times New Roman</vt:lpstr>
      <vt:lpstr>Wingdings</vt:lpstr>
      <vt:lpstr>Organic</vt:lpstr>
      <vt:lpstr>Database Management System</vt:lpstr>
      <vt:lpstr>Introduction to database system</vt:lpstr>
      <vt:lpstr>Introduction to database system</vt:lpstr>
      <vt:lpstr>Introduction to database system</vt:lpstr>
      <vt:lpstr>Traditional File system</vt:lpstr>
      <vt:lpstr>What is database</vt:lpstr>
      <vt:lpstr>Purpose of a Database System</vt:lpstr>
      <vt:lpstr>Database system and its Applications</vt:lpstr>
      <vt:lpstr>Database system and its Applications</vt:lpstr>
      <vt:lpstr>View of the Data</vt:lpstr>
      <vt:lpstr>Data Abstraction</vt:lpstr>
      <vt:lpstr>Data Abstraction</vt:lpstr>
      <vt:lpstr>Data Models</vt:lpstr>
      <vt:lpstr>Data Models</vt:lpstr>
      <vt:lpstr>Data Models</vt:lpstr>
      <vt:lpstr>Data Models</vt:lpstr>
      <vt:lpstr>Database languages</vt:lpstr>
      <vt:lpstr>Types of DML</vt:lpstr>
      <vt:lpstr>Data Definition language(DDL)</vt:lpstr>
      <vt:lpstr>Data Definition language(DDL)</vt:lpstr>
      <vt:lpstr>Data Definition language(DDL)</vt:lpstr>
      <vt:lpstr>Data Dictionary</vt:lpstr>
      <vt:lpstr>Data Dictionary</vt:lpstr>
      <vt:lpstr>Data dictionary</vt:lpstr>
      <vt:lpstr>Database administrator and Database users</vt:lpstr>
      <vt:lpstr>Database administrator and Database users</vt:lpstr>
      <vt:lpstr>Database administrator and Database users</vt:lpstr>
      <vt:lpstr>Database system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11</cp:revision>
  <dcterms:created xsi:type="dcterms:W3CDTF">2024-10-03T10:44:22Z</dcterms:created>
  <dcterms:modified xsi:type="dcterms:W3CDTF">2025-10-24T04:28:02Z</dcterms:modified>
</cp:coreProperties>
</file>