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58" r:id="rId3"/>
    <p:sldId id="283" r:id="rId4"/>
    <p:sldId id="259" r:id="rId5"/>
    <p:sldId id="260" r:id="rId6"/>
    <p:sldId id="261" r:id="rId7"/>
    <p:sldId id="262" r:id="rId8"/>
    <p:sldId id="263" r:id="rId9"/>
    <p:sldId id="264" r:id="rId10"/>
    <p:sldId id="265" r:id="rId11"/>
    <p:sldId id="284" r:id="rId12"/>
    <p:sldId id="266" r:id="rId13"/>
    <p:sldId id="285" r:id="rId14"/>
    <p:sldId id="286" r:id="rId15"/>
    <p:sldId id="267" r:id="rId16"/>
    <p:sldId id="272" r:id="rId17"/>
    <p:sldId id="273" r:id="rId18"/>
    <p:sldId id="274" r:id="rId19"/>
    <p:sldId id="275" r:id="rId20"/>
    <p:sldId id="276" r:id="rId21"/>
    <p:sldId id="277" r:id="rId22"/>
    <p:sldId id="278" r:id="rId23"/>
    <p:sldId id="279" r:id="rId24"/>
    <p:sldId id="280" r:id="rId25"/>
    <p:sldId id="281" r:id="rId26"/>
    <p:sldId id="271" r:id="rId27"/>
    <p:sldId id="268" r:id="rId28"/>
    <p:sldId id="287" r:id="rId29"/>
    <p:sldId id="269" r:id="rId30"/>
    <p:sldId id="27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56" autoAdjust="0"/>
  </p:normalViewPr>
  <p:slideViewPr>
    <p:cSldViewPr snapToGrid="0">
      <p:cViewPr varScale="1">
        <p:scale>
          <a:sx n="35" d="100"/>
          <a:sy n="35" d="100"/>
        </p:scale>
        <p:origin x="259"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E7A373-410F-4440-819F-0851596B6152}" type="datetimeFigureOut">
              <a:rPr lang="en-IN" smtClean="0"/>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5681C-0426-4F9B-A96F-A4FA758E8E1D}" type="slidenum">
              <a:rPr lang="en-IN" smtClean="0"/>
              <a:t>‹#›</a:t>
            </a:fld>
            <a:endParaRPr lang="en-IN"/>
          </a:p>
        </p:txBody>
      </p:sp>
    </p:spTree>
    <p:extLst>
      <p:ext uri="{BB962C8B-B14F-4D97-AF65-F5344CB8AC3E}">
        <p14:creationId xmlns:p14="http://schemas.microsoft.com/office/powerpoint/2010/main" val="3333808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Schema Flexibility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Unlike RDBMS, which require a predefined schema (table structure), NoSQL databases are schema-less. This allows for more flexibility in data storage, especially when dealing with unstructured or semi-structured data. You can store different types of data without needing to modify the schema every time.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Horizontal Scalability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NoSQL databases are designed to scale horizontally across multiple servers. This is in contrast to RDBMS, which usually scale vertically (by adding more resources to a single machine). Horizontal scaling means you can distribute data across many machines, which helps manage large datasets efficiently.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No Joins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Traditional SQL databases often rely on join operations to fetch data from multiple related tables. NoSQL databases tend to avoid joins for better performance, especially when working with distributed data. Instead, they might store related data in a denormalized form (i.e., all in one place).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High Availability and Fault Tolerance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Many NoSQL systems are designed with fault tolerance in mind. They automatically replicate data across multiple nodes so that even if some nodes fail, the system remains available.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Handling Big Data</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NoSQL is specifically designed to handle Big Data scenarios—large, complex datasets that grow rapidly, where RDBMS struggle with scale.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Examples of NoSQL Databases: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MongoDB (Document Store)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MongoDB stores data in flexible, JSON-like documents, making it ideal for semi-structured data. Documents can have varying fields, meaning you can store data with different structures in the same collection.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 Use Case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 product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catalog</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for an e-commerce store. Each product can have different attributes like name, description, price, size, etc. MongoDB can handle the fact that some products may have extra fields like "color" or "brand" without modifying the database schema.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Cassandra (Wide-Column Store)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Cassandra is a distributed NoSQL database designed for scalability and high availability, without compromising on performance. It uses a wide-column model, where data is stored in rows, each of which can have a variable number of columns.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 Use Case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Logging massive amounts of user activity in real-time across a distributed application. Cassandra’s architecture allows you to scale horizontally by adding more nodes to handle growing data volumes.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Redis (Key-Value Store)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Redis is a key-value store where data is stored as key-value pairs. It's in-memory, which makes it incredibly fast, suitable for caching and session management.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 Use Case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Caching frequently accessed data in a web application to reduce the load on the main database. For example, storing user session data or caching the results of API calls.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Neo4j (Graph Database)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Neo4j is a graph database that excels in representing and querying complex relationships between entities. Data is stored as nodes and edges, which is ideal for use cases involving relationships.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 Use Case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Social networks, where users are connected by various types of relationships (friends, followers). Neo4j can easily model and traverse these relationships for efficient querying.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HBase (Wide-Column Store on Hadoop)</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HBase is a column-oriented database that runs on top of the Hadoop Distributed File System (HDFS). It's used for real-time read/write access to Big Data.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 Use Case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Storing the entire set of historical stock prices for real-time queries and analysis, where you need fast access to large amounts of time-series data.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6C5681C-0426-4F9B-A96F-A4FA758E8E1D}" type="slidenum">
              <a:rPr lang="en-IN" smtClean="0"/>
              <a:t>2</a:t>
            </a:fld>
            <a:endParaRPr lang="en-IN"/>
          </a:p>
        </p:txBody>
      </p:sp>
    </p:spTree>
    <p:extLst>
      <p:ext uri="{BB962C8B-B14F-4D97-AF65-F5344CB8AC3E}">
        <p14:creationId xmlns:p14="http://schemas.microsoft.com/office/powerpoint/2010/main" val="672797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 Massive Parallelization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Scenario</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You need a system that can handle massive amounts of read and write operations in parallel.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Why NoSQL</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NoSQL databases like Cassandra or MongoDB are designed to handle horizontal scaling, meaning they can distribute data across multiple servers (nodes). This allows for massive parallel processing, where many operations can be handled simultaneously, increasing throughput.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An online gaming platform that handles millions of player interactions concurrently.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2. High Read and Write Throughput with Low Latency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Scenario</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The system requires fast data ingestion and retrieval with minimal delay.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Why NoSQL</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Databases like Redis (key-value store) or Cassandra (wide-column store) offer extremely low-latency reads and writes. These databases are optimized for scenarios where the application needs to handle frequent, high-speed data interactions.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Real-time bidding in ad networks where decisions need to be made in milliseconds.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3. Cost-Effectiveness (Cheap Hardware over Big Iron)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Scenario</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You want to scale using affordable, commodity hardware rather than investing in expensive, high-performance systems (big iron).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Why NoSQL</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NoSQL databases scale horizontally, meaning you can add more inexpensive servers to the system as data grows, rather than upgrading to more powerful hardware. This leads to cost savings and flexibility in scaling infrastructure.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Social media platforms or streaming services that grow rapidly and require storage across numerous servers without the overhead of expensive data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centers</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4. Data Models that Fit NoSQL Paradigms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Scenario</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Your data fits one of the NoSQL data models (key-value, document, wide-column, or graph).</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Key-Value Stores</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Use for simple data retrieval by key (e.g., Redis).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Document Stores</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Use when your data is semi-structured or varied (e.g., MongoDB).</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Wide-Column Stores</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Use when handling time-series or logging data (e.g., Cassandra).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Graph Databases</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Use for complex relationships between data entities (e.g., Neo4j).</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Why NoSQL</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Each NoSQL model is designed to handle specific types of data efficiently. If your data can be easily represented by one of these models, a NoSQL database will likely provide better performance than a relational database.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 recommendation engine for e-commerce that needs to handle user preferences, product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catalogs</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and browsing histories.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5. No Need for ACID Transactions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Scenario</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Your application doesn't require strong ACID (Atomicity, Consistency, Isolation, Durability) compliance and can tolerate eventual consistency.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Why NoSQL</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Most NoSQL databases are eventually consistent, meaning they prioritize availability and partition tolerance over immediate consistency. If strong transactional guarantees are not critical, NoSQL databases provide better performance and scalability.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 social media feed where updates can propagate across servers without needing instant consistency.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6. No Need for Complex Transactions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Scenario</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Your application doesn't require complex multi-step transactions that are common in financial systems or banking applications.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Why NoSQL</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NoSQL databases are built to handle simple, fast operations without the overhead of maintaining complex transactional integrity across multiple entities.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Logging systems, chat applications, or IoT sensor data collection, where each piece of data can be written independently without needing cross-data consistency.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7. Flexible Schema Requirements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Scenario</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Your data structure is not fixed, and it may evolve over time with new fields, different data types, and variations in data format.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Why NoSQL</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Schema-less databases like MongoDB (document store) allow you to store data in a flexible format, without needing to define the structure upfront. This is beneficial when your data model changes frequently.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 product </a:t>
            </a:r>
            <a:r>
              <a:rPr lang="en-IN" sz="1200" kern="100" dirty="0" err="1">
                <a:effectLst/>
                <a:latin typeface="Times New Roman" panose="02020603050405020304" pitchFamily="18" charset="0"/>
                <a:ea typeface="Calibri" panose="020F0502020204030204" pitchFamily="34" charset="0"/>
                <a:cs typeface="Times New Roman" panose="02020603050405020304" pitchFamily="18" charset="0"/>
              </a:rPr>
              <a:t>catalog</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for an e-commerce platform where products may have different sets of attributes (e.g., size, color, brand).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6C5681C-0426-4F9B-A96F-A4FA758E8E1D}" type="slidenum">
              <a:rPr lang="en-IN" smtClean="0"/>
              <a:t>4</a:t>
            </a:fld>
            <a:endParaRPr lang="en-IN"/>
          </a:p>
        </p:txBody>
      </p:sp>
    </p:spTree>
    <p:extLst>
      <p:ext uri="{BB962C8B-B14F-4D97-AF65-F5344CB8AC3E}">
        <p14:creationId xmlns:p14="http://schemas.microsoft.com/office/powerpoint/2010/main" val="315267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1. Consistency (C)</a:t>
            </a:r>
            <a:endParaRPr lang="en-IN" sz="1200" kern="1200" dirty="0">
              <a:solidFill>
                <a:schemeClr val="tx1"/>
              </a:solidFill>
              <a:effectLst/>
              <a:latin typeface="+mn-lt"/>
              <a:ea typeface="+mn-ea"/>
              <a:cs typeface="+mn-cs"/>
            </a:endParaRPr>
          </a:p>
          <a:p>
            <a:pPr lvl="0"/>
            <a:r>
              <a:rPr lang="en-IN" sz="1200" b="1" kern="1200" dirty="0">
                <a:solidFill>
                  <a:schemeClr val="tx1"/>
                </a:solidFill>
                <a:effectLst/>
                <a:latin typeface="+mn-lt"/>
                <a:ea typeface="+mn-ea"/>
                <a:cs typeface="+mn-cs"/>
              </a:rPr>
              <a:t>Simple Explanation</a:t>
            </a:r>
            <a:r>
              <a:rPr lang="en-IN" sz="1200" kern="1200" dirty="0">
                <a:solidFill>
                  <a:schemeClr val="tx1"/>
                </a:solidFill>
                <a:effectLst/>
                <a:latin typeface="+mn-lt"/>
                <a:ea typeface="+mn-ea"/>
                <a:cs typeface="+mn-cs"/>
              </a:rPr>
              <a:t>: Every time you read data from the system, you get the same, up-to-date information, no matter which server (or node) you ask.</a:t>
            </a:r>
          </a:p>
          <a:p>
            <a:pPr lvl="0"/>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Imagine a bank where if you deposit money, every branch of the bank instantly knows your new balance. Every server has the same information at all times.</a:t>
            </a:r>
          </a:p>
          <a:p>
            <a:pPr lvl="0"/>
            <a:r>
              <a:rPr lang="en-IN" sz="1200" b="1" kern="1200" dirty="0">
                <a:solidFill>
                  <a:schemeClr val="tx1"/>
                </a:solidFill>
                <a:effectLst/>
                <a:latin typeface="+mn-lt"/>
                <a:ea typeface="+mn-ea"/>
                <a:cs typeface="+mn-cs"/>
              </a:rPr>
              <a:t>Challenge</a:t>
            </a:r>
            <a:r>
              <a:rPr lang="en-IN" sz="1200" kern="1200" dirty="0">
                <a:solidFill>
                  <a:schemeClr val="tx1"/>
                </a:solidFill>
                <a:effectLst/>
                <a:latin typeface="+mn-lt"/>
                <a:ea typeface="+mn-ea"/>
                <a:cs typeface="+mn-cs"/>
              </a:rPr>
              <a:t>: Ensuring that every node has the latest data can slow things down, especially in large, distributed systems.</a:t>
            </a:r>
          </a:p>
          <a:p>
            <a:r>
              <a:rPr lang="en-IN" sz="1200" b="1" kern="1200" dirty="0">
                <a:solidFill>
                  <a:schemeClr val="tx1"/>
                </a:solidFill>
                <a:effectLst/>
                <a:latin typeface="+mn-lt"/>
                <a:ea typeface="+mn-ea"/>
                <a:cs typeface="+mn-cs"/>
              </a:rPr>
              <a:t>2. Availability (A)</a:t>
            </a:r>
            <a:endParaRPr lang="en-IN" sz="1200" kern="1200" dirty="0">
              <a:solidFill>
                <a:schemeClr val="tx1"/>
              </a:solidFill>
              <a:effectLst/>
              <a:latin typeface="+mn-lt"/>
              <a:ea typeface="+mn-ea"/>
              <a:cs typeface="+mn-cs"/>
            </a:endParaRPr>
          </a:p>
          <a:p>
            <a:pPr lvl="0"/>
            <a:r>
              <a:rPr lang="en-IN" sz="1200" b="1" kern="1200" dirty="0">
                <a:solidFill>
                  <a:schemeClr val="tx1"/>
                </a:solidFill>
                <a:effectLst/>
                <a:latin typeface="+mn-lt"/>
                <a:ea typeface="+mn-ea"/>
                <a:cs typeface="+mn-cs"/>
              </a:rPr>
              <a:t>Simple Explanation</a:t>
            </a:r>
            <a:r>
              <a:rPr lang="en-IN" sz="1200" kern="1200" dirty="0">
                <a:solidFill>
                  <a:schemeClr val="tx1"/>
                </a:solidFill>
                <a:effectLst/>
                <a:latin typeface="+mn-lt"/>
                <a:ea typeface="+mn-ea"/>
                <a:cs typeface="+mn-cs"/>
              </a:rPr>
              <a:t>: The system is always up and running. Even if some parts of it fail, the system continues to work, and you can still get responses.</a:t>
            </a:r>
          </a:p>
          <a:p>
            <a:pPr lvl="0"/>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If one server goes down or is being updated, another one takes over, and the system keeps running without you noticing any downtime.</a:t>
            </a:r>
          </a:p>
          <a:p>
            <a:pPr lvl="0"/>
            <a:r>
              <a:rPr lang="en-IN" sz="1200" b="1" kern="1200" dirty="0">
                <a:solidFill>
                  <a:schemeClr val="tx1"/>
                </a:solidFill>
                <a:effectLst/>
                <a:latin typeface="+mn-lt"/>
                <a:ea typeface="+mn-ea"/>
                <a:cs typeface="+mn-cs"/>
              </a:rPr>
              <a:t>Challenge</a:t>
            </a:r>
            <a:r>
              <a:rPr lang="en-IN" sz="1200" kern="1200" dirty="0">
                <a:solidFill>
                  <a:schemeClr val="tx1"/>
                </a:solidFill>
                <a:effectLst/>
                <a:latin typeface="+mn-lt"/>
                <a:ea typeface="+mn-ea"/>
                <a:cs typeface="+mn-cs"/>
              </a:rPr>
              <a:t>: Ensuring high availability often means sacrificing strict consistency, because it's difficult to ensure all servers have the latest data when some are down or disconnected.</a:t>
            </a:r>
          </a:p>
          <a:p>
            <a:r>
              <a:rPr lang="en-IN" sz="1200" b="1" kern="1200" dirty="0">
                <a:solidFill>
                  <a:schemeClr val="tx1"/>
                </a:solidFill>
                <a:effectLst/>
                <a:latin typeface="+mn-lt"/>
                <a:ea typeface="+mn-ea"/>
                <a:cs typeface="+mn-cs"/>
              </a:rPr>
              <a:t>3. Partition Tolerance (P)</a:t>
            </a:r>
            <a:endParaRPr lang="en-IN" sz="1200" kern="1200" dirty="0">
              <a:solidFill>
                <a:schemeClr val="tx1"/>
              </a:solidFill>
              <a:effectLst/>
              <a:latin typeface="+mn-lt"/>
              <a:ea typeface="+mn-ea"/>
              <a:cs typeface="+mn-cs"/>
            </a:endParaRPr>
          </a:p>
          <a:p>
            <a:pPr lvl="0"/>
            <a:r>
              <a:rPr lang="en-IN" sz="1200" b="1" kern="1200" dirty="0">
                <a:solidFill>
                  <a:schemeClr val="tx1"/>
                </a:solidFill>
                <a:effectLst/>
                <a:latin typeface="+mn-lt"/>
                <a:ea typeface="+mn-ea"/>
                <a:cs typeface="+mn-cs"/>
              </a:rPr>
              <a:t>Simple Explanation</a:t>
            </a:r>
            <a:r>
              <a:rPr lang="en-IN" sz="1200" kern="1200" dirty="0">
                <a:solidFill>
                  <a:schemeClr val="tx1"/>
                </a:solidFill>
                <a:effectLst/>
                <a:latin typeface="+mn-lt"/>
                <a:ea typeface="+mn-ea"/>
                <a:cs typeface="+mn-cs"/>
              </a:rPr>
              <a:t>: The system keeps working even if communication between parts of it (servers) is broken or slow. It can handle network issues without shutting down.</a:t>
            </a:r>
          </a:p>
          <a:p>
            <a:pPr lvl="0"/>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If one data </a:t>
            </a:r>
            <a:r>
              <a:rPr lang="en-IN" sz="1200" kern="1200" dirty="0" err="1">
                <a:solidFill>
                  <a:schemeClr val="tx1"/>
                </a:solidFill>
                <a:effectLst/>
                <a:latin typeface="+mn-lt"/>
                <a:ea typeface="+mn-ea"/>
                <a:cs typeface="+mn-cs"/>
              </a:rPr>
              <a:t>center</a:t>
            </a:r>
            <a:r>
              <a:rPr lang="en-IN" sz="1200" kern="1200" dirty="0">
                <a:solidFill>
                  <a:schemeClr val="tx1"/>
                </a:solidFill>
                <a:effectLst/>
                <a:latin typeface="+mn-lt"/>
                <a:ea typeface="+mn-ea"/>
                <a:cs typeface="+mn-cs"/>
              </a:rPr>
              <a:t> can't communicate with another due to a network issue, the system still works, though the data might not be perfectly synced.</a:t>
            </a:r>
          </a:p>
          <a:p>
            <a:pPr lvl="0"/>
            <a:r>
              <a:rPr lang="en-IN" sz="1200" b="1" kern="1200" dirty="0">
                <a:solidFill>
                  <a:schemeClr val="tx1"/>
                </a:solidFill>
                <a:effectLst/>
                <a:latin typeface="+mn-lt"/>
                <a:ea typeface="+mn-ea"/>
                <a:cs typeface="+mn-cs"/>
              </a:rPr>
              <a:t>Challenge</a:t>
            </a:r>
            <a:r>
              <a:rPr lang="en-IN" sz="1200" kern="1200" dirty="0">
                <a:solidFill>
                  <a:schemeClr val="tx1"/>
                </a:solidFill>
                <a:effectLst/>
                <a:latin typeface="+mn-lt"/>
                <a:ea typeface="+mn-ea"/>
                <a:cs typeface="+mn-cs"/>
              </a:rPr>
              <a:t>: Partition tolerance is critical for large distributed systems, but achieving it can make it harder to guarantee both availability and consistency.</a:t>
            </a:r>
          </a:p>
          <a:p>
            <a:endParaRPr lang="en-IN" dirty="0"/>
          </a:p>
        </p:txBody>
      </p:sp>
      <p:sp>
        <p:nvSpPr>
          <p:cNvPr id="4" name="Slide Number Placeholder 3"/>
          <p:cNvSpPr>
            <a:spLocks noGrp="1"/>
          </p:cNvSpPr>
          <p:nvPr>
            <p:ph type="sldNum" sz="quarter" idx="5"/>
          </p:nvPr>
        </p:nvSpPr>
        <p:spPr/>
        <p:txBody>
          <a:bodyPr/>
          <a:lstStyle/>
          <a:p>
            <a:fld id="{56C5681C-0426-4F9B-A96F-A4FA758E8E1D}" type="slidenum">
              <a:rPr lang="en-IN" smtClean="0"/>
              <a:t>5</a:t>
            </a:fld>
            <a:endParaRPr lang="en-IN"/>
          </a:p>
        </p:txBody>
      </p:sp>
    </p:spTree>
    <p:extLst>
      <p:ext uri="{BB962C8B-B14F-4D97-AF65-F5344CB8AC3E}">
        <p14:creationId xmlns:p14="http://schemas.microsoft.com/office/powerpoint/2010/main" val="2087456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C5681C-0426-4F9B-A96F-A4FA758E8E1D}" type="slidenum">
              <a:rPr lang="en-IN" smtClean="0"/>
              <a:t>6</a:t>
            </a:fld>
            <a:endParaRPr lang="en-IN"/>
          </a:p>
        </p:txBody>
      </p:sp>
    </p:spTree>
    <p:extLst>
      <p:ext uri="{BB962C8B-B14F-4D97-AF65-F5344CB8AC3E}">
        <p14:creationId xmlns:p14="http://schemas.microsoft.com/office/powerpoint/2010/main" val="637043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6C5681C-0426-4F9B-A96F-A4FA758E8E1D}" type="slidenum">
              <a:rPr lang="en-IN" smtClean="0"/>
              <a:t>9</a:t>
            </a:fld>
            <a:endParaRPr lang="en-IN"/>
          </a:p>
        </p:txBody>
      </p:sp>
    </p:spTree>
    <p:extLst>
      <p:ext uri="{BB962C8B-B14F-4D97-AF65-F5344CB8AC3E}">
        <p14:creationId xmlns:p14="http://schemas.microsoft.com/office/powerpoint/2010/main" val="1098238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C5681C-0426-4F9B-A96F-A4FA758E8E1D}" type="slidenum">
              <a:rPr lang="en-IN" smtClean="0"/>
              <a:t>10</a:t>
            </a:fld>
            <a:endParaRPr lang="en-IN"/>
          </a:p>
        </p:txBody>
      </p:sp>
    </p:spTree>
    <p:extLst>
      <p:ext uri="{BB962C8B-B14F-4D97-AF65-F5344CB8AC3E}">
        <p14:creationId xmlns:p14="http://schemas.microsoft.com/office/powerpoint/2010/main" val="2430211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C5681C-0426-4F9B-A96F-A4FA758E8E1D}" type="slidenum">
              <a:rPr lang="en-IN" smtClean="0"/>
              <a:t>17</a:t>
            </a:fld>
            <a:endParaRPr lang="en-IN"/>
          </a:p>
        </p:txBody>
      </p:sp>
    </p:spTree>
    <p:extLst>
      <p:ext uri="{BB962C8B-B14F-4D97-AF65-F5344CB8AC3E}">
        <p14:creationId xmlns:p14="http://schemas.microsoft.com/office/powerpoint/2010/main" val="783699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1. Scalability</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Horizontal Scaling</a:t>
            </a:r>
            <a:r>
              <a:rPr lang="en-IN" sz="1200" kern="1200" dirty="0">
                <a:solidFill>
                  <a:schemeClr val="tx1"/>
                </a:solidFill>
                <a:effectLst/>
                <a:latin typeface="+mn-lt"/>
                <a:ea typeface="+mn-ea"/>
                <a:cs typeface="+mn-cs"/>
              </a:rPr>
              <a:t>: NoSQL databases are designed to scale horizontally across many servers, meaning they can handle massive amounts of data by adding more servers rather than upgrading a single powerful machine.</a:t>
            </a:r>
          </a:p>
          <a:p>
            <a:r>
              <a:rPr lang="en-IN" sz="1200" b="1" kern="1200" dirty="0">
                <a:solidFill>
                  <a:schemeClr val="tx1"/>
                </a:solidFill>
                <a:effectLst/>
                <a:latin typeface="+mn-lt"/>
                <a:ea typeface="+mn-ea"/>
                <a:cs typeface="+mn-cs"/>
              </a:rPr>
              <a:t>Benefit</a:t>
            </a:r>
            <a:r>
              <a:rPr lang="en-IN" sz="1200" kern="1200" dirty="0">
                <a:solidFill>
                  <a:schemeClr val="tx1"/>
                </a:solidFill>
                <a:effectLst/>
                <a:latin typeface="+mn-lt"/>
                <a:ea typeface="+mn-ea"/>
                <a:cs typeface="+mn-cs"/>
              </a:rPr>
              <a:t>: This makes it easier and more cost-effective to handle growing datasets without major downtime or restructuring.</a:t>
            </a:r>
          </a:p>
          <a:p>
            <a:r>
              <a:rPr lang="en-IN" sz="1200" b="1" kern="1200" dirty="0">
                <a:solidFill>
                  <a:schemeClr val="tx1"/>
                </a:solidFill>
                <a:effectLst/>
                <a:latin typeface="+mn-lt"/>
                <a:ea typeface="+mn-ea"/>
                <a:cs typeface="+mn-cs"/>
              </a:rPr>
              <a:t>2. Flexibility in Schema</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Dynamic Schema</a:t>
            </a:r>
            <a:r>
              <a:rPr lang="en-IN" sz="1200" kern="1200" dirty="0">
                <a:solidFill>
                  <a:schemeClr val="tx1"/>
                </a:solidFill>
                <a:effectLst/>
                <a:latin typeface="+mn-lt"/>
                <a:ea typeface="+mn-ea"/>
                <a:cs typeface="+mn-cs"/>
              </a:rPr>
              <a:t>: NoSQL databases allow for a flexible, schema-less structure, meaning you don’t need to define the structure of your data upfront.</a:t>
            </a:r>
          </a:p>
          <a:p>
            <a:r>
              <a:rPr lang="en-IN" sz="1200" b="1" kern="1200" dirty="0">
                <a:solidFill>
                  <a:schemeClr val="tx1"/>
                </a:solidFill>
                <a:effectLst/>
                <a:latin typeface="+mn-lt"/>
                <a:ea typeface="+mn-ea"/>
                <a:cs typeface="+mn-cs"/>
              </a:rPr>
              <a:t>Benefit</a:t>
            </a:r>
            <a:r>
              <a:rPr lang="en-IN" sz="1200" kern="1200" dirty="0">
                <a:solidFill>
                  <a:schemeClr val="tx1"/>
                </a:solidFill>
                <a:effectLst/>
                <a:latin typeface="+mn-lt"/>
                <a:ea typeface="+mn-ea"/>
                <a:cs typeface="+mn-cs"/>
              </a:rPr>
              <a:t>: You can easily modify the data structure on the fly, making it ideal for unstructured or semi-structured data like JSON or XML, where the format of data may evolve over time.</a:t>
            </a:r>
          </a:p>
          <a:p>
            <a:r>
              <a:rPr lang="en-IN" sz="1200" b="1" kern="1200" dirty="0">
                <a:solidFill>
                  <a:schemeClr val="tx1"/>
                </a:solidFill>
                <a:effectLst/>
                <a:latin typeface="+mn-lt"/>
                <a:ea typeface="+mn-ea"/>
                <a:cs typeface="+mn-cs"/>
              </a:rPr>
              <a:t>3. High Availability and Fault Tolerance</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Built for Distributed Systems</a:t>
            </a:r>
            <a:r>
              <a:rPr lang="en-IN" sz="1200" kern="1200" dirty="0">
                <a:solidFill>
                  <a:schemeClr val="tx1"/>
                </a:solidFill>
                <a:effectLst/>
                <a:latin typeface="+mn-lt"/>
                <a:ea typeface="+mn-ea"/>
                <a:cs typeface="+mn-cs"/>
              </a:rPr>
              <a:t>: NoSQL databases typically provide strong support for distributed systems, making them more resilient to failures.</a:t>
            </a:r>
          </a:p>
          <a:p>
            <a:r>
              <a:rPr lang="en-IN" sz="1200" b="1" kern="1200" dirty="0">
                <a:solidFill>
                  <a:schemeClr val="tx1"/>
                </a:solidFill>
                <a:effectLst/>
                <a:latin typeface="+mn-lt"/>
                <a:ea typeface="+mn-ea"/>
                <a:cs typeface="+mn-cs"/>
              </a:rPr>
              <a:t>Benefit</a:t>
            </a:r>
            <a:r>
              <a:rPr lang="en-IN" sz="1200" kern="1200" dirty="0">
                <a:solidFill>
                  <a:schemeClr val="tx1"/>
                </a:solidFill>
                <a:effectLst/>
                <a:latin typeface="+mn-lt"/>
                <a:ea typeface="+mn-ea"/>
                <a:cs typeface="+mn-cs"/>
              </a:rPr>
              <a:t>: Data is often replicated across multiple nodes, ensuring that if one node fails, the system remains available.</a:t>
            </a:r>
          </a:p>
          <a:p>
            <a:r>
              <a:rPr lang="en-IN" sz="1200" b="1" kern="1200" dirty="0">
                <a:solidFill>
                  <a:schemeClr val="tx1"/>
                </a:solidFill>
                <a:effectLst/>
                <a:latin typeface="+mn-lt"/>
                <a:ea typeface="+mn-ea"/>
                <a:cs typeface="+mn-cs"/>
              </a:rPr>
              <a:t>4. Better Performance for Certain Use Cases</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Optimized for Specific Workloads</a:t>
            </a:r>
            <a:r>
              <a:rPr lang="en-IN" sz="1200" kern="1200" dirty="0">
                <a:solidFill>
                  <a:schemeClr val="tx1"/>
                </a:solidFill>
                <a:effectLst/>
                <a:latin typeface="+mn-lt"/>
                <a:ea typeface="+mn-ea"/>
                <a:cs typeface="+mn-cs"/>
              </a:rPr>
              <a:t>: NoSQL databases are often optimized for specific types of operations like fast reads and writes, especially with large datasets.</a:t>
            </a:r>
          </a:p>
          <a:p>
            <a:r>
              <a:rPr lang="en-IN" sz="1200" b="1" kern="1200" dirty="0">
                <a:solidFill>
                  <a:schemeClr val="tx1"/>
                </a:solidFill>
                <a:effectLst/>
                <a:latin typeface="+mn-lt"/>
                <a:ea typeface="+mn-ea"/>
                <a:cs typeface="+mn-cs"/>
              </a:rPr>
              <a:t>Benefit</a:t>
            </a:r>
            <a:r>
              <a:rPr lang="en-IN" sz="1200" kern="1200" dirty="0">
                <a:solidFill>
                  <a:schemeClr val="tx1"/>
                </a:solidFill>
                <a:effectLst/>
                <a:latin typeface="+mn-lt"/>
                <a:ea typeface="+mn-ea"/>
                <a:cs typeface="+mn-cs"/>
              </a:rPr>
              <a:t>: This results in lower latency and faster performance, particularly for applications that require high-throughput operations, such as real-time data analytics, caching, and content delivery.</a:t>
            </a:r>
          </a:p>
          <a:p>
            <a:r>
              <a:rPr lang="en-IN" sz="1200" b="1" kern="1200" dirty="0">
                <a:solidFill>
                  <a:schemeClr val="tx1"/>
                </a:solidFill>
                <a:effectLst/>
                <a:latin typeface="+mn-lt"/>
                <a:ea typeface="+mn-ea"/>
                <a:cs typeface="+mn-cs"/>
              </a:rPr>
              <a:t>5.Handling Large Volumes of Data</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Big Data-Friendly</a:t>
            </a:r>
            <a:r>
              <a:rPr lang="en-IN" sz="1200" kern="1200" dirty="0">
                <a:solidFill>
                  <a:schemeClr val="tx1"/>
                </a:solidFill>
                <a:effectLst/>
                <a:latin typeface="+mn-lt"/>
                <a:ea typeface="+mn-ea"/>
                <a:cs typeface="+mn-cs"/>
              </a:rPr>
              <a:t>: NoSQL databases are well-suited for handling large volumes of unstructured or semi-structured data, such as social media posts, sensor data, logs, or multimedia content.</a:t>
            </a:r>
          </a:p>
          <a:p>
            <a:r>
              <a:rPr lang="en-IN" sz="1200" b="1" kern="1200" dirty="0">
                <a:solidFill>
                  <a:schemeClr val="tx1"/>
                </a:solidFill>
                <a:effectLst/>
                <a:latin typeface="+mn-lt"/>
                <a:ea typeface="+mn-ea"/>
                <a:cs typeface="+mn-cs"/>
              </a:rPr>
              <a:t>Benefit</a:t>
            </a:r>
            <a:r>
              <a:rPr lang="en-IN" sz="1200" kern="1200" dirty="0">
                <a:solidFill>
                  <a:schemeClr val="tx1"/>
                </a:solidFill>
                <a:effectLst/>
                <a:latin typeface="+mn-lt"/>
                <a:ea typeface="+mn-ea"/>
                <a:cs typeface="+mn-cs"/>
              </a:rPr>
              <a:t>: This makes them ideal for modern big data applications like IoT, social networking, and recommendation systems.</a:t>
            </a:r>
          </a:p>
          <a:p>
            <a:r>
              <a:rPr lang="en-IN" sz="1200" b="1" kern="1200" dirty="0">
                <a:solidFill>
                  <a:schemeClr val="tx1"/>
                </a:solidFill>
                <a:effectLst/>
                <a:latin typeface="+mn-lt"/>
                <a:ea typeface="+mn-ea"/>
                <a:cs typeface="+mn-cs"/>
              </a:rPr>
              <a:t>6.Distributed Architecture</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Data Distribution Across Servers</a:t>
            </a:r>
            <a:r>
              <a:rPr lang="en-IN" sz="1200" kern="1200" dirty="0">
                <a:solidFill>
                  <a:schemeClr val="tx1"/>
                </a:solidFill>
                <a:effectLst/>
                <a:latin typeface="+mn-lt"/>
                <a:ea typeface="+mn-ea"/>
                <a:cs typeface="+mn-cs"/>
              </a:rPr>
              <a:t>: NoSQL databases are designed to distribute data across multiple servers or data </a:t>
            </a:r>
            <a:r>
              <a:rPr lang="en-IN" sz="1200" kern="1200" dirty="0" err="1">
                <a:solidFill>
                  <a:schemeClr val="tx1"/>
                </a:solidFill>
                <a:effectLst/>
                <a:latin typeface="+mn-lt"/>
                <a:ea typeface="+mn-ea"/>
                <a:cs typeface="+mn-cs"/>
              </a:rPr>
              <a:t>centers</a:t>
            </a:r>
            <a:r>
              <a:rPr lang="en-IN" sz="1200" kern="1200" dirty="0">
                <a:solidFill>
                  <a:schemeClr val="tx1"/>
                </a:solidFill>
                <a:effectLst/>
                <a:latin typeface="+mn-lt"/>
                <a:ea typeface="+mn-ea"/>
                <a:cs typeface="+mn-cs"/>
              </a:rPr>
              <a:t>.</a:t>
            </a:r>
          </a:p>
          <a:p>
            <a:r>
              <a:rPr lang="en-IN" sz="1200" b="1" kern="1200" dirty="0">
                <a:solidFill>
                  <a:schemeClr val="tx1"/>
                </a:solidFill>
                <a:effectLst/>
                <a:latin typeface="+mn-lt"/>
                <a:ea typeface="+mn-ea"/>
                <a:cs typeface="+mn-cs"/>
              </a:rPr>
              <a:t>Benefit</a:t>
            </a:r>
            <a:r>
              <a:rPr lang="en-IN" sz="1200" kern="1200" dirty="0">
                <a:solidFill>
                  <a:schemeClr val="tx1"/>
                </a:solidFill>
                <a:effectLst/>
                <a:latin typeface="+mn-lt"/>
                <a:ea typeface="+mn-ea"/>
                <a:cs typeface="+mn-cs"/>
              </a:rPr>
              <a:t>: This ensures data redundancy, improved reliability, and the ability to handle geographically distributed users with lower latency.</a:t>
            </a:r>
          </a:p>
          <a:p>
            <a:endParaRPr lang="en-IN" dirty="0"/>
          </a:p>
        </p:txBody>
      </p:sp>
      <p:sp>
        <p:nvSpPr>
          <p:cNvPr id="4" name="Slide Number Placeholder 3"/>
          <p:cNvSpPr>
            <a:spLocks noGrp="1"/>
          </p:cNvSpPr>
          <p:nvPr>
            <p:ph type="sldNum" sz="quarter" idx="5"/>
          </p:nvPr>
        </p:nvSpPr>
        <p:spPr/>
        <p:txBody>
          <a:bodyPr/>
          <a:lstStyle/>
          <a:p>
            <a:fld id="{56C5681C-0426-4F9B-A96F-A4FA758E8E1D}" type="slidenum">
              <a:rPr lang="en-IN" smtClean="0"/>
              <a:t>27</a:t>
            </a:fld>
            <a:endParaRPr lang="en-IN"/>
          </a:p>
        </p:txBody>
      </p:sp>
    </p:spTree>
    <p:extLst>
      <p:ext uri="{BB962C8B-B14F-4D97-AF65-F5344CB8AC3E}">
        <p14:creationId xmlns:p14="http://schemas.microsoft.com/office/powerpoint/2010/main" val="32439552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D3C4CEB-CE62-4B44-AF38-28E57FAE4C5A}"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387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spTree>
    <p:extLst>
      <p:ext uri="{BB962C8B-B14F-4D97-AF65-F5344CB8AC3E}">
        <p14:creationId xmlns:p14="http://schemas.microsoft.com/office/powerpoint/2010/main" val="4150273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6801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E86327-E04D-4A08-A08D-6B3E2C0EF508}"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3C4CEB-CE62-4B44-AF38-28E57FAE4C5A}" type="slidenum">
              <a:rPr lang="en-IN" smtClean="0"/>
              <a:t>‹#›</a:t>
            </a:fld>
            <a:endParaRPr lang="en-IN"/>
          </a:p>
        </p:txBody>
      </p:sp>
    </p:spTree>
    <p:extLst>
      <p:ext uri="{BB962C8B-B14F-4D97-AF65-F5344CB8AC3E}">
        <p14:creationId xmlns:p14="http://schemas.microsoft.com/office/powerpoint/2010/main" val="257307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E86327-E04D-4A08-A08D-6B3E2C0EF508}" type="datetimeFigureOut">
              <a:rPr lang="en-IN" smtClean="0"/>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3C4CEB-CE62-4B44-AF38-28E57FAE4C5A}"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237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E86327-E04D-4A08-A08D-6B3E2C0EF508}" type="datetimeFigureOut">
              <a:rPr lang="en-IN" smtClean="0"/>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3C4CEB-CE62-4B44-AF38-28E57FAE4C5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12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86327-E04D-4A08-A08D-6B3E2C0EF508}" type="datetimeFigureOut">
              <a:rPr lang="en-IN" smtClean="0"/>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3C4CEB-CE62-4B44-AF38-28E57FAE4C5A}" type="slidenum">
              <a:rPr lang="en-IN" smtClean="0"/>
              <a:t>‹#›</a:t>
            </a:fld>
            <a:endParaRPr lang="en-IN"/>
          </a:p>
        </p:txBody>
      </p:sp>
    </p:spTree>
    <p:extLst>
      <p:ext uri="{BB962C8B-B14F-4D97-AF65-F5344CB8AC3E}">
        <p14:creationId xmlns:p14="http://schemas.microsoft.com/office/powerpoint/2010/main" val="2664377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E86327-E04D-4A08-A08D-6B3E2C0EF508}"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3C4CEB-CE62-4B44-AF38-28E57FAE4C5A}"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4458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E86327-E04D-4A08-A08D-6B3E2C0EF508}"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3C4CEB-CE62-4B44-AF38-28E57FAE4C5A}" type="slidenum">
              <a:rPr lang="en-IN" smtClean="0"/>
              <a:t>‹#›</a:t>
            </a:fld>
            <a:endParaRPr lang="en-IN"/>
          </a:p>
        </p:txBody>
      </p:sp>
    </p:spTree>
    <p:extLst>
      <p:ext uri="{BB962C8B-B14F-4D97-AF65-F5344CB8AC3E}">
        <p14:creationId xmlns:p14="http://schemas.microsoft.com/office/powerpoint/2010/main" val="3564314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E86327-E04D-4A08-A08D-6B3E2C0EF508}"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3C4CEB-CE62-4B44-AF38-28E57FAE4C5A}" type="slidenum">
              <a:rPr lang="en-IN" smtClean="0"/>
              <a:t>‹#›</a:t>
            </a:fld>
            <a:endParaRPr lang="en-IN"/>
          </a:p>
        </p:txBody>
      </p:sp>
    </p:spTree>
    <p:extLst>
      <p:ext uri="{BB962C8B-B14F-4D97-AF65-F5344CB8AC3E}">
        <p14:creationId xmlns:p14="http://schemas.microsoft.com/office/powerpoint/2010/main" val="3975779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2282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027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spTree>
    <p:extLst>
      <p:ext uri="{BB962C8B-B14F-4D97-AF65-F5344CB8AC3E}">
        <p14:creationId xmlns:p14="http://schemas.microsoft.com/office/powerpoint/2010/main" val="4283121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18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499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3393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86327-E04D-4A08-A08D-6B3E2C0EF50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3C4CEB-CE62-4B44-AF38-28E57FAE4C5A}"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2476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E86327-E04D-4A08-A08D-6B3E2C0EF508}" type="datetimeFigureOut">
              <a:rPr lang="en-IN" smtClean="0"/>
              <a:t>31-10-2025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3C4CEB-CE62-4B44-AF38-28E57FAE4C5A}" type="slidenum">
              <a:rPr lang="en-IN" smtClean="0"/>
              <a:t>‹#›</a:t>
            </a:fld>
            <a:endParaRPr lang="en-IN"/>
          </a:p>
        </p:txBody>
      </p:sp>
    </p:spTree>
    <p:extLst>
      <p:ext uri="{BB962C8B-B14F-4D97-AF65-F5344CB8AC3E}">
        <p14:creationId xmlns:p14="http://schemas.microsoft.com/office/powerpoint/2010/main" val="21174084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ylladb.com/resources/what-is-nosq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mailto:priya@gmail.com" TargetMode="External"/><Relationship Id="rId2" Type="http://schemas.openxmlformats.org/officeDocument/2006/relationships/hyperlink" Target="mailto:raj@gmail.com" TargetMode="External"/><Relationship Id="rId1" Type="http://schemas.openxmlformats.org/officeDocument/2006/relationships/slideLayout" Target="../slideLayouts/slideLayout2.xml"/><Relationship Id="rId4" Type="http://schemas.openxmlformats.org/officeDocument/2006/relationships/hyperlink" Target="mailto:sameer@gmail.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9C557-DE02-0A0C-DD6A-2109434F4305}"/>
              </a:ext>
            </a:extLst>
          </p:cNvPr>
          <p:cNvSpPr>
            <a:spLocks noGrp="1"/>
          </p:cNvSpPr>
          <p:nvPr>
            <p:ph type="ctrTitle"/>
          </p:nvPr>
        </p:nvSpPr>
        <p:spPr>
          <a:xfrm>
            <a:off x="2692398" y="1684870"/>
            <a:ext cx="6815669" cy="1515533"/>
          </a:xfrm>
        </p:spPr>
        <p:txBody>
          <a:bodyPr/>
          <a:lstStyle/>
          <a:p>
            <a:r>
              <a:rPr lang="en-US" sz="4400" b="1" dirty="0">
                <a:latin typeface="Times New Roman" panose="02020603050405020304" pitchFamily="18" charset="0"/>
                <a:cs typeface="Times New Roman" panose="02020603050405020304" pitchFamily="18" charset="0"/>
              </a:rPr>
              <a:t>Introduction to NoSQL Database</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8261D8F-0CE7-9C05-6B8D-9AC1CC0332A9}"/>
              </a:ext>
            </a:extLst>
          </p:cNvPr>
          <p:cNvSpPr>
            <a:spLocks noGrp="1"/>
          </p:cNvSpPr>
          <p:nvPr>
            <p:ph type="subTitle" idx="1"/>
          </p:nvPr>
        </p:nvSpPr>
        <p:spPr>
          <a:xfrm>
            <a:off x="2692398" y="3657596"/>
            <a:ext cx="6955455" cy="1735497"/>
          </a:xfrm>
        </p:spPr>
        <p:txBody>
          <a:bodyPr>
            <a:normAutofit fontScale="925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870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3C2B5-E36F-7C21-45FD-6F92FEFF244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NoSQL?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029A69-13BF-011A-B348-69BE122D0E40}"/>
              </a:ext>
            </a:extLst>
          </p:cNvPr>
          <p:cNvSpPr>
            <a:spLocks noGrp="1"/>
          </p:cNvSpPr>
          <p:nvPr>
            <p:ph idx="1"/>
          </p:nvPr>
        </p:nvSpPr>
        <p:spPr/>
        <p:txBody>
          <a:bodyPr>
            <a:normAutofit/>
          </a:bodyPr>
          <a:lstStyle/>
          <a:p>
            <a:r>
              <a:rPr lang="en-IN" sz="2200" dirty="0">
                <a:effectLst/>
                <a:latin typeface="Times New Roman" panose="02020603050405020304" pitchFamily="18" charset="0"/>
                <a:ea typeface="Calibri" panose="020F0502020204030204" pitchFamily="34" charset="0"/>
              </a:rPr>
              <a:t>These databases are often used when data is too large, too varied, or generated too quickly for conventional SQL databases to handle efficiently.</a:t>
            </a:r>
          </a:p>
          <a:p>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Key Qualities of NoSQL Databases:</a:t>
            </a:r>
          </a:p>
          <a:p>
            <a:pPr marL="342900" indent="-342900">
              <a:buFont typeface="+mj-lt"/>
              <a:buAutoNum type="arabicPeriod"/>
            </a:pPr>
            <a:r>
              <a:rPr lang="en-IN" sz="1800" b="1" kern="100" dirty="0">
                <a:latin typeface="Times New Roman" panose="02020603050405020304" pitchFamily="18" charset="0"/>
                <a:ea typeface="Calibri" panose="020F0502020204030204" pitchFamily="34" charset="0"/>
                <a:cs typeface="Times New Roman" panose="02020603050405020304" pitchFamily="18" charset="0"/>
              </a:rPr>
              <a:t>Schema flexibility</a:t>
            </a:r>
          </a:p>
          <a:p>
            <a:pPr marL="342900" indent="-342900">
              <a:buFont typeface="+mj-lt"/>
              <a:buAutoNum type="arabicPeriod"/>
            </a:pPr>
            <a:r>
              <a:rPr lang="en-IN" sz="1800" b="1" dirty="0">
                <a:effectLst/>
                <a:latin typeface="Times New Roman" panose="02020603050405020304" pitchFamily="18" charset="0"/>
                <a:ea typeface="Calibri" panose="020F0502020204030204" pitchFamily="34" charset="0"/>
              </a:rPr>
              <a:t>Horizontal Scalability</a:t>
            </a:r>
            <a:endParaRPr lang="en-IN" sz="1800" b="1" kern="1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mj-lt"/>
              <a:buAutoNum type="arabicPeriod"/>
            </a:pPr>
            <a:r>
              <a:rPr lang="en-IN" sz="1800" b="1" dirty="0">
                <a:effectLst/>
                <a:latin typeface="Times New Roman" panose="02020603050405020304" pitchFamily="18" charset="0"/>
                <a:ea typeface="Calibri" panose="020F0502020204030204" pitchFamily="34" charset="0"/>
              </a:rPr>
              <a:t>No Joins</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mj-lt"/>
              <a:buAutoNum type="arabicPeriod"/>
            </a:pPr>
            <a:r>
              <a:rPr lang="en-IN" sz="1800" b="1" dirty="0">
                <a:effectLst/>
                <a:latin typeface="Times New Roman" panose="02020603050405020304" pitchFamily="18" charset="0"/>
                <a:ea typeface="Calibri" panose="020F0502020204030204" pitchFamily="34" charset="0"/>
              </a:rPr>
              <a:t>High Availability and Fault Tolerance</a:t>
            </a:r>
            <a:endParaRPr lang="en-IN" sz="1800" b="1" kern="1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mj-lt"/>
              <a:buAutoNum type="arabicPeriod"/>
            </a:pPr>
            <a:r>
              <a:rPr lang="en-IN" sz="1800" b="1" dirty="0">
                <a:effectLst/>
                <a:latin typeface="Times New Roman" panose="02020603050405020304" pitchFamily="18" charset="0"/>
                <a:ea typeface="Calibri" panose="020F0502020204030204" pitchFamily="34" charset="0"/>
              </a:rPr>
              <a:t>Handling Big Data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200" dirty="0"/>
          </a:p>
        </p:txBody>
      </p:sp>
    </p:spTree>
    <p:extLst>
      <p:ext uri="{BB962C8B-B14F-4D97-AF65-F5344CB8AC3E}">
        <p14:creationId xmlns:p14="http://schemas.microsoft.com/office/powerpoint/2010/main" val="3997222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6417D-A349-4794-A3D7-4C6658A0E5C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When NoSQL Outperforms RDBMS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92A29E-E6FA-CFB8-D80E-2BA619FCAE24}"/>
              </a:ext>
            </a:extLst>
          </p:cNvPr>
          <p:cNvSpPr>
            <a:spLocks noGrp="1"/>
          </p:cNvSpPr>
          <p:nvPr>
            <p:ph idx="1"/>
          </p:nvPr>
        </p:nvSpPr>
        <p:spPr>
          <a:xfrm>
            <a:off x="1295400" y="2556932"/>
            <a:ext cx="9957317" cy="3759892"/>
          </a:xfrm>
        </p:spPr>
        <p:txBody>
          <a:bodyPr>
            <a:normAutofit/>
          </a:bodyPr>
          <a:lstStyle/>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Unstructured and semi-structured data: </a:t>
            </a:r>
            <a:r>
              <a:rPr lang="en-IN" dirty="0">
                <a:solidFill>
                  <a:schemeClr val="tx1"/>
                </a:solidFill>
                <a:latin typeface="Times New Roman" panose="02020603050405020304" pitchFamily="18" charset="0"/>
                <a:cs typeface="Times New Roman" panose="02020603050405020304" pitchFamily="18" charset="0"/>
              </a:rPr>
              <a:t>When you're dealing with data that doesn't fit neatly into tables </a:t>
            </a:r>
            <a:endParaRPr lang="en-US"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Scalability:</a:t>
            </a:r>
            <a:r>
              <a:rPr lang="en-IN" dirty="0">
                <a:solidFill>
                  <a:schemeClr val="tx1"/>
                </a:solidFill>
                <a:latin typeface="Times New Roman" panose="02020603050405020304" pitchFamily="18" charset="0"/>
                <a:cs typeface="Times New Roman" panose="02020603050405020304" pitchFamily="18" charset="0"/>
              </a:rPr>
              <a:t> NoSQL databases can scale horizontally to accommodate the growth</a:t>
            </a:r>
            <a:endParaRPr lang="en-US"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Distributed system: </a:t>
            </a:r>
            <a:r>
              <a:rPr lang="en-US" dirty="0">
                <a:solidFill>
                  <a:schemeClr val="tx1"/>
                </a:solidFill>
                <a:latin typeface="Times New Roman" panose="02020603050405020304" pitchFamily="18" charset="0"/>
                <a:cs typeface="Times New Roman" panose="02020603050405020304" pitchFamily="18" charset="0"/>
              </a:rPr>
              <a:t>When data is spread across multiple location, </a:t>
            </a:r>
            <a:r>
              <a:rPr lang="en-IN" dirty="0">
                <a:solidFill>
                  <a:schemeClr val="tx1"/>
                </a:solidFill>
                <a:latin typeface="Times New Roman" panose="02020603050405020304" pitchFamily="18" charset="0"/>
                <a:cs typeface="Times New Roman" panose="02020603050405020304" pitchFamily="18" charset="0"/>
              </a:rPr>
              <a:t>NoSQL databases are built to handle the complexities of replication and partitioning</a:t>
            </a:r>
            <a:endParaRPr lang="en-US"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High-speed ingestion: </a:t>
            </a:r>
            <a:r>
              <a:rPr lang="en-IN" dirty="0">
                <a:solidFill>
                  <a:schemeClr val="tx1"/>
                </a:solidFill>
                <a:latin typeface="Times New Roman" panose="02020603050405020304" pitchFamily="18" charset="0"/>
                <a:cs typeface="Times New Roman" panose="02020603050405020304" pitchFamily="18" charset="0"/>
              </a:rPr>
              <a:t>NoSQL databases like Cassandra or MongoDB are designed for high write throughput</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68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AE27F-C2AC-F3F8-311B-AB94E804A9D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When to use NoSQL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090E18-A658-ADC5-D94A-011C6A45AA7D}"/>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Below are the key scenarios when we can use NoSQL</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Massive parallelization</a:t>
            </a:r>
          </a:p>
          <a:p>
            <a:pPr marL="457200" indent="-457200">
              <a:buFont typeface="+mj-lt"/>
              <a:buAutoNum type="arabicPeriod"/>
            </a:pPr>
            <a:r>
              <a:rPr lang="en-IN" sz="22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High Read and Write Throughput with Low Latency</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Cost-Effectiveness</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Data Models that fit NoSQL Paradigm</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No Need for ACID Transactions</a:t>
            </a:r>
          </a:p>
        </p:txBody>
      </p:sp>
    </p:spTree>
    <p:extLst>
      <p:ext uri="{BB962C8B-B14F-4D97-AF65-F5344CB8AC3E}">
        <p14:creationId xmlns:p14="http://schemas.microsoft.com/office/powerpoint/2010/main" val="760714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3C2E2-F65C-D2B6-E893-B005B77918A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CAP Theorem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6147062-FD9B-1904-CAEA-E368A2878C09}"/>
              </a:ext>
            </a:extLst>
          </p:cNvPr>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The CAP theorem explains the trade-offs in distributed databases by focusing on three key aspects: </a:t>
            </a:r>
            <a:r>
              <a:rPr lang="en-US" sz="2200" b="1" dirty="0">
                <a:latin typeface="Times New Roman" panose="02020603050405020304" pitchFamily="18" charset="0"/>
                <a:cs typeface="Times New Roman" panose="02020603050405020304" pitchFamily="18" charset="0"/>
              </a:rPr>
              <a:t>Consistency</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Availability</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Partition Tolerance</a:t>
            </a:r>
            <a:r>
              <a:rPr lang="en-US" sz="2200" dirty="0">
                <a:latin typeface="Times New Roman" panose="02020603050405020304" pitchFamily="18" charset="0"/>
                <a:cs typeface="Times New Roman" panose="02020603050405020304" pitchFamily="18" charset="0"/>
              </a:rPr>
              <a:t>. </a:t>
            </a:r>
          </a:p>
          <a:p>
            <a:r>
              <a:rPr lang="en-US" sz="2200" b="1" u="sng" dirty="0">
                <a:solidFill>
                  <a:srgbClr val="C00000"/>
                </a:solidFill>
                <a:latin typeface="Times New Roman" panose="02020603050405020304" pitchFamily="18" charset="0"/>
                <a:cs typeface="Times New Roman" panose="02020603050405020304" pitchFamily="18" charset="0"/>
              </a:rPr>
              <a:t>C</a:t>
            </a:r>
            <a:r>
              <a:rPr lang="en-US" sz="2200" dirty="0">
                <a:solidFill>
                  <a:srgbClr val="C00000"/>
                </a:solidFill>
                <a:latin typeface="Times New Roman" panose="02020603050405020304" pitchFamily="18" charset="0"/>
                <a:cs typeface="Times New Roman" panose="02020603050405020304" pitchFamily="18" charset="0"/>
              </a:rPr>
              <a:t>onsistency</a:t>
            </a:r>
            <a:r>
              <a:rPr lang="en-US" sz="2200" dirty="0">
                <a:latin typeface="Times New Roman" panose="02020603050405020304" pitchFamily="18" charset="0"/>
                <a:cs typeface="Times New Roman" panose="02020603050405020304" pitchFamily="18" charset="0"/>
              </a:rPr>
              <a:t>: every node always sees the same data at any given instance (i.e., strict consistency)</a:t>
            </a:r>
          </a:p>
          <a:p>
            <a:r>
              <a:rPr lang="en-US" sz="2200" b="1" u="sng" dirty="0">
                <a:solidFill>
                  <a:srgbClr val="C00000"/>
                </a:solidFill>
                <a:latin typeface="Times New Roman" panose="02020603050405020304" pitchFamily="18" charset="0"/>
                <a:cs typeface="Times New Roman" panose="02020603050405020304" pitchFamily="18" charset="0"/>
              </a:rPr>
              <a:t>A</a:t>
            </a:r>
            <a:r>
              <a:rPr lang="en-US" sz="2200" dirty="0">
                <a:solidFill>
                  <a:srgbClr val="C00000"/>
                </a:solidFill>
                <a:latin typeface="Times New Roman" panose="02020603050405020304" pitchFamily="18" charset="0"/>
                <a:cs typeface="Times New Roman" panose="02020603050405020304" pitchFamily="18" charset="0"/>
              </a:rPr>
              <a:t>vailability</a:t>
            </a:r>
            <a:r>
              <a:rPr lang="en-US" sz="2200" dirty="0">
                <a:latin typeface="Times New Roman" panose="02020603050405020304" pitchFamily="18" charset="0"/>
                <a:cs typeface="Times New Roman" panose="02020603050405020304" pitchFamily="18" charset="0"/>
              </a:rPr>
              <a:t>: the system continues to operate, even if nodes in a cluster crash, or some hardware or software parts are down due to upgrades</a:t>
            </a:r>
          </a:p>
          <a:p>
            <a:r>
              <a:rPr lang="en-US" sz="2200" b="1" u="sng" dirty="0">
                <a:solidFill>
                  <a:srgbClr val="C00000"/>
                </a:solidFill>
                <a:latin typeface="Times New Roman" panose="02020603050405020304" pitchFamily="18" charset="0"/>
                <a:cs typeface="Times New Roman" panose="02020603050405020304" pitchFamily="18" charset="0"/>
              </a:rPr>
              <a:t>P</a:t>
            </a:r>
            <a:r>
              <a:rPr lang="en-US" sz="2200" dirty="0">
                <a:solidFill>
                  <a:srgbClr val="C00000"/>
                </a:solidFill>
                <a:latin typeface="Times New Roman" panose="02020603050405020304" pitchFamily="18" charset="0"/>
                <a:cs typeface="Times New Roman" panose="02020603050405020304" pitchFamily="18" charset="0"/>
              </a:rPr>
              <a:t>artition Tolerance</a:t>
            </a:r>
            <a:r>
              <a:rPr lang="en-US" sz="2200" dirty="0">
                <a:latin typeface="Times New Roman" panose="02020603050405020304" pitchFamily="18" charset="0"/>
                <a:cs typeface="Times New Roman" panose="02020603050405020304" pitchFamily="18" charset="0"/>
              </a:rPr>
              <a:t>: the system continues to operate in the presence of network partitions</a:t>
            </a:r>
          </a:p>
          <a:p>
            <a:endParaRPr lang="en-US" sz="2400" dirty="0"/>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729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DA9D-99C9-E191-BAF9-864E9ACF1A3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CAP Theorem</a:t>
            </a:r>
            <a:endParaRPr lang="en-IN" dirty="0"/>
          </a:p>
        </p:txBody>
      </p:sp>
      <p:sp>
        <p:nvSpPr>
          <p:cNvPr id="3" name="Content Placeholder 2">
            <a:extLst>
              <a:ext uri="{FF2B5EF4-FFF2-40B4-BE49-F238E27FC236}">
                <a16:creationId xmlns:a16="http://schemas.microsoft.com/office/drawing/2014/main" id="{1E6B290C-B2AD-87D7-B8F4-D3D128A1E205}"/>
              </a:ext>
            </a:extLst>
          </p:cNvPr>
          <p:cNvSpPr>
            <a:spLocks noGrp="1"/>
          </p:cNvSpPr>
          <p:nvPr>
            <p:ph idx="1"/>
          </p:nvPr>
        </p:nvSpPr>
        <p:spPr/>
        <p:txBody>
          <a:bodyPr/>
          <a:lstStyle/>
          <a:p>
            <a:r>
              <a:rPr lang="en-IN" sz="2200" dirty="0">
                <a:effectLst/>
                <a:latin typeface="Times New Roman" panose="02020603050405020304" pitchFamily="18" charset="0"/>
                <a:ea typeface="Calibri" panose="020F0502020204030204" pitchFamily="34" charset="0"/>
              </a:rPr>
              <a:t>The CAP theorem says a distributed system can only provide </a:t>
            </a:r>
            <a:r>
              <a:rPr lang="en-IN" sz="2200" b="1" dirty="0">
                <a:effectLst/>
                <a:latin typeface="Times New Roman" panose="02020603050405020304" pitchFamily="18" charset="0"/>
                <a:ea typeface="Calibri" panose="020F0502020204030204" pitchFamily="34" charset="0"/>
              </a:rPr>
              <a:t>two</a:t>
            </a:r>
            <a:r>
              <a:rPr lang="en-IN" sz="2200" dirty="0">
                <a:effectLst/>
                <a:latin typeface="Times New Roman" panose="02020603050405020304" pitchFamily="18" charset="0"/>
                <a:ea typeface="Calibri" panose="020F0502020204030204" pitchFamily="34" charset="0"/>
              </a:rPr>
              <a:t> out of these three guarantees at any time. </a:t>
            </a:r>
          </a:p>
          <a:p>
            <a:pPr marL="342900" lvl="0" indent="-342900">
              <a:lnSpc>
                <a:spcPct val="107000"/>
              </a:lnSpc>
              <a:spcAft>
                <a:spcPts val="800"/>
              </a:spcAft>
              <a:buFont typeface="+mj-lt"/>
              <a:buAutoNum type="arabicPeriod"/>
              <a:tabLst>
                <a:tab pos="4572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CA (Consistency + Availability)</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System ensures all nodes have the same data and the system is always up, but it won't work well if parts of the network go down.</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Traditional databases like SQL in a non-distributed system.</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72586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E8CBF-EE0A-58F5-19C9-B2AA11C5115F}"/>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CAP Theorem</a:t>
            </a:r>
            <a:endParaRPr lang="en-IN" dirty="0"/>
          </a:p>
        </p:txBody>
      </p:sp>
      <p:sp>
        <p:nvSpPr>
          <p:cNvPr id="3" name="Content Placeholder 2">
            <a:extLst>
              <a:ext uri="{FF2B5EF4-FFF2-40B4-BE49-F238E27FC236}">
                <a16:creationId xmlns:a16="http://schemas.microsoft.com/office/drawing/2014/main" id="{173E210F-4FDF-D104-D2FF-9431F192506F}"/>
              </a:ext>
            </a:extLst>
          </p:cNvPr>
          <p:cNvSpPr>
            <a:spLocks noGrp="1"/>
          </p:cNvSpPr>
          <p:nvPr>
            <p:ph idx="1"/>
          </p:nvPr>
        </p:nvSpPr>
        <p:spPr/>
        <p:txBody>
          <a:bodyPr>
            <a:normAutofit lnSpcReduction="10000"/>
          </a:bodyPr>
          <a:lstStyle/>
          <a:p>
            <a:pPr marL="342900" lvl="0" indent="-342900">
              <a:lnSpc>
                <a:spcPct val="107000"/>
              </a:lnSpc>
              <a:spcAft>
                <a:spcPts val="800"/>
              </a:spcAft>
              <a:buFont typeface="+mj-lt"/>
              <a:buAutoNum type="arabicPeriod"/>
              <a:tabLst>
                <a:tab pos="4572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CP (Consistency + Partition Tolerance)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System ensures data consistency and can handle network issues, but you might lose some availability (it may go offline during network partitions).</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Systems like HBase or MongoDB.</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AP (Availability + Partition Tolerance)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System remains available and handles network issues, but the data might not be consistent across all nodes at all times (eventual consistency).</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Systems like Cassandra or DynamoDB.</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24856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01291-C11D-B72D-EF81-B3CAF6F0F2D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Large scale databases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14F5D6-2D32-E35A-0DF1-ECD39E08CF9F}"/>
              </a:ext>
            </a:extLst>
          </p:cNvPr>
          <p:cNvSpPr>
            <a:spLocks noGrp="1"/>
          </p:cNvSpPr>
          <p:nvPr>
            <p:ph idx="1"/>
          </p:nvPr>
        </p:nvSpPr>
        <p:spPr/>
        <p:txBody>
          <a:bodyPr>
            <a:normAutofit lnSpcReduction="10000"/>
          </a:bodyPr>
          <a:lstStyle/>
          <a:p>
            <a:pPr>
              <a:buFont typeface="Wingdings" pitchFamily="2" charset="2"/>
              <a:buChar char="§"/>
            </a:pPr>
            <a:r>
              <a:rPr lang="en-US" sz="2200" dirty="0">
                <a:solidFill>
                  <a:schemeClr val="tx1"/>
                </a:solidFill>
                <a:latin typeface="Times New Roman" panose="02020603050405020304" pitchFamily="18" charset="0"/>
                <a:cs typeface="Times New Roman" panose="02020603050405020304" pitchFamily="18" charset="0"/>
              </a:rPr>
              <a:t>When companies such as Google and Amazon were designing large-scale databases, 24/7 </a:t>
            </a:r>
            <a:r>
              <a:rPr lang="en-US" sz="2200" b="1" dirty="0">
                <a:solidFill>
                  <a:schemeClr val="tx1"/>
                </a:solidFill>
                <a:latin typeface="Times New Roman" panose="02020603050405020304" pitchFamily="18" charset="0"/>
                <a:cs typeface="Times New Roman" panose="02020603050405020304" pitchFamily="18" charset="0"/>
              </a:rPr>
              <a:t>Availability</a:t>
            </a:r>
            <a:r>
              <a:rPr lang="en-US" sz="2200" dirty="0">
                <a:solidFill>
                  <a:schemeClr val="tx1"/>
                </a:solidFill>
                <a:latin typeface="Times New Roman" panose="02020603050405020304" pitchFamily="18" charset="0"/>
                <a:cs typeface="Times New Roman" panose="02020603050405020304" pitchFamily="18" charset="0"/>
              </a:rPr>
              <a:t> was a key </a:t>
            </a:r>
          </a:p>
          <a:p>
            <a:pPr lvl="1">
              <a:buFont typeface="Wingdings" pitchFamily="2" charset="2"/>
              <a:buChar char="§"/>
            </a:pPr>
            <a:r>
              <a:rPr lang="en-US" sz="2200" dirty="0">
                <a:solidFill>
                  <a:schemeClr val="tx1"/>
                </a:solidFill>
                <a:latin typeface="Times New Roman" panose="02020603050405020304" pitchFamily="18" charset="0"/>
                <a:cs typeface="Times New Roman" panose="02020603050405020304" pitchFamily="18" charset="0"/>
              </a:rPr>
              <a:t>A few minutes of downtime means lost revenue</a:t>
            </a:r>
          </a:p>
          <a:p>
            <a:pPr>
              <a:buFont typeface="Wingdings" pitchFamily="2" charset="2"/>
              <a:buChar char="§"/>
            </a:pPr>
            <a:r>
              <a:rPr lang="en-US" sz="2200" dirty="0">
                <a:solidFill>
                  <a:schemeClr val="tx1"/>
                </a:solidFill>
                <a:latin typeface="Times New Roman" panose="02020603050405020304" pitchFamily="18" charset="0"/>
                <a:cs typeface="Times New Roman" panose="02020603050405020304" pitchFamily="18" charset="0"/>
              </a:rPr>
              <a:t>When </a:t>
            </a:r>
            <a:r>
              <a:rPr lang="en-US" sz="2200" i="1" dirty="0">
                <a:solidFill>
                  <a:schemeClr val="tx1"/>
                </a:solidFill>
                <a:latin typeface="Times New Roman" panose="02020603050405020304" pitchFamily="18" charset="0"/>
                <a:cs typeface="Times New Roman" panose="02020603050405020304" pitchFamily="18" charset="0"/>
              </a:rPr>
              <a:t>horizontally</a:t>
            </a:r>
            <a:r>
              <a:rPr lang="en-US" sz="2200" dirty="0">
                <a:solidFill>
                  <a:schemeClr val="tx1"/>
                </a:solidFill>
                <a:latin typeface="Times New Roman" panose="02020603050405020304" pitchFamily="18" charset="0"/>
                <a:cs typeface="Times New Roman" panose="02020603050405020304" pitchFamily="18" charset="0"/>
              </a:rPr>
              <a:t> scaling databases to 1000s of machines, the likelihood of a node or a network failure </a:t>
            </a:r>
            <a:br>
              <a:rPr lang="en-US" sz="22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increases tremendously </a:t>
            </a:r>
          </a:p>
          <a:p>
            <a:pPr>
              <a:buFont typeface="Wingdings" pitchFamily="2" charset="2"/>
              <a:buChar char="§"/>
            </a:pPr>
            <a:r>
              <a:rPr lang="en-US" sz="2200" dirty="0">
                <a:solidFill>
                  <a:schemeClr val="tx1"/>
                </a:solidFill>
                <a:latin typeface="Times New Roman" panose="02020603050405020304" pitchFamily="18" charset="0"/>
                <a:cs typeface="Times New Roman" panose="02020603050405020304" pitchFamily="18" charset="0"/>
              </a:rPr>
              <a:t>Therefore, in order to have </a:t>
            </a:r>
            <a:r>
              <a:rPr lang="en-US" sz="2200" b="1" dirty="0">
                <a:solidFill>
                  <a:schemeClr val="tx1"/>
                </a:solidFill>
                <a:latin typeface="Times New Roman" panose="02020603050405020304" pitchFamily="18" charset="0"/>
                <a:cs typeface="Times New Roman" panose="02020603050405020304" pitchFamily="18" charset="0"/>
              </a:rPr>
              <a:t>strong guarantees on Availability and Partition Tolerance</a:t>
            </a:r>
            <a:r>
              <a:rPr lang="en-US" sz="2200" dirty="0">
                <a:solidFill>
                  <a:schemeClr val="tx1"/>
                </a:solidFill>
                <a:latin typeface="Times New Roman" panose="02020603050405020304" pitchFamily="18" charset="0"/>
                <a:cs typeface="Times New Roman" panose="02020603050405020304" pitchFamily="18" charset="0"/>
              </a:rPr>
              <a:t>, they had to sacrifice </a:t>
            </a:r>
            <a:r>
              <a:rPr lang="en-US" sz="2200" b="1" dirty="0">
                <a:solidFill>
                  <a:schemeClr val="tx1"/>
                </a:solidFill>
                <a:latin typeface="Times New Roman" panose="02020603050405020304" pitchFamily="18" charset="0"/>
                <a:cs typeface="Times New Roman" panose="02020603050405020304" pitchFamily="18" charset="0"/>
              </a:rPr>
              <a:t>“strict” Consistency </a:t>
            </a:r>
            <a:r>
              <a:rPr lang="en-US" sz="2200" dirty="0">
                <a:solidFill>
                  <a:schemeClr val="tx1"/>
                </a:solidFill>
                <a:latin typeface="Times New Roman" panose="02020603050405020304" pitchFamily="18" charset="0"/>
                <a:cs typeface="Times New Roman" panose="02020603050405020304" pitchFamily="18" charset="0"/>
              </a:rPr>
              <a:t>(</a:t>
            </a:r>
            <a:r>
              <a:rPr lang="en-US" sz="2200" i="1" dirty="0">
                <a:solidFill>
                  <a:schemeClr val="tx1"/>
                </a:solidFill>
                <a:latin typeface="Times New Roman" panose="02020603050405020304" pitchFamily="18" charset="0"/>
                <a:cs typeface="Times New Roman" panose="02020603050405020304" pitchFamily="18" charset="0"/>
              </a:rPr>
              <a:t>implied by the CAP theorem</a:t>
            </a:r>
            <a:r>
              <a:rPr lang="en-US" sz="2200" dirty="0">
                <a:solidFill>
                  <a:schemeClr val="tx1"/>
                </a:solidFill>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490621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DAE2B-BD4D-FEC2-5AEF-E39BE5BE478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Trade-off consistency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60208B-5F9B-34A9-4C6F-181CAC13B392}"/>
              </a:ext>
            </a:extLst>
          </p:cNvPr>
          <p:cNvSpPr>
            <a:spLocks noGrp="1"/>
          </p:cNvSpPr>
          <p:nvPr>
            <p:ph idx="1"/>
          </p:nvPr>
        </p:nvSpPr>
        <p:spPr/>
        <p:txBody>
          <a:bodyPr/>
          <a:lstStyle/>
          <a:p>
            <a:pPr>
              <a:buFont typeface="Wingdings" pitchFamily="2" charset="2"/>
              <a:buChar char="§"/>
            </a:pPr>
            <a:r>
              <a:rPr lang="en-US" sz="2200" dirty="0">
                <a:solidFill>
                  <a:schemeClr val="tx1"/>
                </a:solidFill>
                <a:latin typeface="Times New Roman" panose="02020603050405020304" pitchFamily="18" charset="0"/>
                <a:cs typeface="Times New Roman" panose="02020603050405020304" pitchFamily="18" charset="0"/>
              </a:rPr>
              <a:t>Maintaining consistency should balance between the strictness of consistency versus availability/scalability</a:t>
            </a:r>
          </a:p>
          <a:p>
            <a:pPr lvl="1">
              <a:buFont typeface="Wingdings" pitchFamily="2" charset="2"/>
              <a:buChar char="§"/>
            </a:pPr>
            <a:r>
              <a:rPr lang="en-US" sz="2200" dirty="0">
                <a:solidFill>
                  <a:schemeClr val="tx1"/>
                </a:solidFill>
                <a:latin typeface="Times New Roman" panose="02020603050405020304" pitchFamily="18" charset="0"/>
                <a:cs typeface="Times New Roman" panose="02020603050405020304" pitchFamily="18" charset="0"/>
              </a:rPr>
              <a:t>Good-enough consistency </a:t>
            </a:r>
            <a:r>
              <a:rPr lang="en-US" sz="2200" i="1" u="sng" dirty="0">
                <a:solidFill>
                  <a:schemeClr val="tx1"/>
                </a:solidFill>
                <a:latin typeface="Times New Roman" panose="02020603050405020304" pitchFamily="18" charset="0"/>
                <a:cs typeface="Times New Roman" panose="02020603050405020304" pitchFamily="18" charset="0"/>
              </a:rPr>
              <a:t>depends on your application</a:t>
            </a:r>
          </a:p>
          <a:p>
            <a:endParaRPr lang="en-IN" dirty="0"/>
          </a:p>
        </p:txBody>
      </p:sp>
      <p:sp>
        <p:nvSpPr>
          <p:cNvPr id="4" name="Left-Right Arrow 3">
            <a:extLst>
              <a:ext uri="{FF2B5EF4-FFF2-40B4-BE49-F238E27FC236}">
                <a16:creationId xmlns:a16="http://schemas.microsoft.com/office/drawing/2014/main" id="{B050A776-7D71-2765-943A-19DAF4565FBA}"/>
              </a:ext>
            </a:extLst>
          </p:cNvPr>
          <p:cNvSpPr/>
          <p:nvPr/>
        </p:nvSpPr>
        <p:spPr>
          <a:xfrm>
            <a:off x="2934089" y="4102543"/>
            <a:ext cx="5372100" cy="713348"/>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dirty="0"/>
          </a:p>
        </p:txBody>
      </p:sp>
      <p:sp>
        <p:nvSpPr>
          <p:cNvPr id="6" name="TextBox 5">
            <a:extLst>
              <a:ext uri="{FF2B5EF4-FFF2-40B4-BE49-F238E27FC236}">
                <a16:creationId xmlns:a16="http://schemas.microsoft.com/office/drawing/2014/main" id="{97024D0B-D707-2478-1C8C-9523D5860832}"/>
              </a:ext>
            </a:extLst>
          </p:cNvPr>
          <p:cNvSpPr txBox="1"/>
          <p:nvPr/>
        </p:nvSpPr>
        <p:spPr>
          <a:xfrm>
            <a:off x="1494064" y="3757768"/>
            <a:ext cx="1714500" cy="646331"/>
          </a:xfrm>
          <a:prstGeom prst="rect">
            <a:avLst/>
          </a:prstGeom>
          <a:noFill/>
        </p:spPr>
        <p:txBody>
          <a:bodyPr wrap="square" rtlCol="0">
            <a:spAutoFit/>
          </a:bodyPr>
          <a:lstStyle/>
          <a:p>
            <a:pPr lvl="0" algn="ctr"/>
            <a:r>
              <a:rPr lang="en-US" b="1" dirty="0">
                <a:solidFill>
                  <a:srgbClr val="0000FF"/>
                </a:solidFill>
                <a:latin typeface="Times New Roman" panose="02020603050405020304" pitchFamily="18" charset="0"/>
                <a:cs typeface="Times New Roman" panose="02020603050405020304" pitchFamily="18" charset="0"/>
              </a:rPr>
              <a:t>Loose Consistency</a:t>
            </a:r>
          </a:p>
        </p:txBody>
      </p:sp>
      <p:sp>
        <p:nvSpPr>
          <p:cNvPr id="7" name="TextBox 6">
            <a:extLst>
              <a:ext uri="{FF2B5EF4-FFF2-40B4-BE49-F238E27FC236}">
                <a16:creationId xmlns:a16="http://schemas.microsoft.com/office/drawing/2014/main" id="{B9A5CD10-4537-42A6-1D7E-AA1BB72B037D}"/>
              </a:ext>
            </a:extLst>
          </p:cNvPr>
          <p:cNvSpPr txBox="1"/>
          <p:nvPr/>
        </p:nvSpPr>
        <p:spPr>
          <a:xfrm>
            <a:off x="8093334" y="3897153"/>
            <a:ext cx="1714500" cy="646331"/>
          </a:xfrm>
          <a:prstGeom prst="rect">
            <a:avLst/>
          </a:prstGeom>
          <a:noFill/>
        </p:spPr>
        <p:txBody>
          <a:bodyPr wrap="square" rtlCol="0">
            <a:spAutoFit/>
          </a:bodyPr>
          <a:lstStyle/>
          <a:p>
            <a:pPr lvl="0" algn="ctr"/>
            <a:r>
              <a:rPr lang="en-US" b="1" dirty="0">
                <a:solidFill>
                  <a:srgbClr val="0000FF"/>
                </a:solidFill>
                <a:latin typeface="Times New Roman" panose="02020603050405020304" pitchFamily="18" charset="0"/>
                <a:cs typeface="Times New Roman" panose="02020603050405020304" pitchFamily="18" charset="0"/>
              </a:rPr>
              <a:t>Strict Consistency</a:t>
            </a:r>
          </a:p>
        </p:txBody>
      </p:sp>
      <p:pic>
        <p:nvPicPr>
          <p:cNvPr id="8" name="Picture 2" descr="C:\Documents and Settings\dd\Local Settings\Temporary Internet Files\Content.IE5\2JSTM34V\MM900288870[1].gif">
            <a:extLst>
              <a:ext uri="{FF2B5EF4-FFF2-40B4-BE49-F238E27FC236}">
                <a16:creationId xmlns:a16="http://schemas.microsoft.com/office/drawing/2014/main" id="{5C97B31E-7261-F4E2-705F-94DBF721613E}"/>
              </a:ext>
            </a:extLst>
          </p:cNvPr>
          <p:cNvPicPr>
            <a:picLocks noChangeAspect="1" noChangeArrowheads="1" noCrop="1"/>
          </p:cNvPicPr>
          <p:nvPr/>
        </p:nvPicPr>
        <p:blipFill>
          <a:blip r:embed="rId3" cstate="print"/>
          <a:srcRect/>
          <a:stretch>
            <a:fillRect/>
          </a:stretch>
        </p:blipFill>
        <p:spPr bwMode="auto">
          <a:xfrm>
            <a:off x="3708260" y="3771764"/>
            <a:ext cx="464344" cy="607219"/>
          </a:xfrm>
          <a:prstGeom prst="rect">
            <a:avLst/>
          </a:prstGeom>
          <a:noFill/>
        </p:spPr>
      </p:pic>
      <p:sp>
        <p:nvSpPr>
          <p:cNvPr id="9" name="Rectangle 8">
            <a:extLst>
              <a:ext uri="{FF2B5EF4-FFF2-40B4-BE49-F238E27FC236}">
                <a16:creationId xmlns:a16="http://schemas.microsoft.com/office/drawing/2014/main" id="{686C379F-91F7-8CA6-1738-D4FAAEF9EADE}"/>
              </a:ext>
            </a:extLst>
          </p:cNvPr>
          <p:cNvSpPr/>
          <p:nvPr/>
        </p:nvSpPr>
        <p:spPr>
          <a:xfrm>
            <a:off x="2495940" y="5002116"/>
            <a:ext cx="2234680" cy="646331"/>
          </a:xfrm>
          <a:prstGeom prst="rect">
            <a:avLst/>
          </a:prstGeom>
        </p:spPr>
        <p:txBody>
          <a:bodyPr wrap="square">
            <a:spAutoFit/>
          </a:bodyPr>
          <a:lstStyle/>
          <a:p>
            <a:pPr marL="88106" indent="-88106"/>
            <a:r>
              <a:rPr lang="en-US" dirty="0">
                <a:latin typeface="Times New Roman" panose="02020603050405020304" pitchFamily="18" charset="0"/>
                <a:cs typeface="Times New Roman" panose="02020603050405020304" pitchFamily="18" charset="0"/>
              </a:rPr>
              <a:t>Easier to implement, and is efficient </a:t>
            </a:r>
          </a:p>
        </p:txBody>
      </p:sp>
      <p:sp>
        <p:nvSpPr>
          <p:cNvPr id="10" name="Rectangle 9">
            <a:extLst>
              <a:ext uri="{FF2B5EF4-FFF2-40B4-BE49-F238E27FC236}">
                <a16:creationId xmlns:a16="http://schemas.microsoft.com/office/drawing/2014/main" id="{40AAE622-E0B3-2C80-F1E8-E5346ED49FB0}"/>
              </a:ext>
            </a:extLst>
          </p:cNvPr>
          <p:cNvSpPr/>
          <p:nvPr/>
        </p:nvSpPr>
        <p:spPr>
          <a:xfrm>
            <a:off x="6871996" y="5002116"/>
            <a:ext cx="2457450" cy="923330"/>
          </a:xfrm>
          <a:prstGeom prst="rect">
            <a:avLst/>
          </a:prstGeom>
        </p:spPr>
        <p:txBody>
          <a:bodyPr wrap="square">
            <a:spAutoFit/>
          </a:bodyPr>
          <a:lstStyle/>
          <a:p>
            <a:pPr marL="4763" lvl="1" indent="-4763" algn="ctr"/>
            <a:r>
              <a:rPr lang="en-US" dirty="0">
                <a:latin typeface="Times New Roman" panose="02020603050405020304" pitchFamily="18" charset="0"/>
                <a:cs typeface="Times New Roman" panose="02020603050405020304" pitchFamily="18" charset="0"/>
              </a:rPr>
              <a:t>Generally hard to implement, and is inefficient</a:t>
            </a:r>
          </a:p>
        </p:txBody>
      </p:sp>
    </p:spTree>
    <p:extLst>
      <p:ext uri="{BB962C8B-B14F-4D97-AF65-F5344CB8AC3E}">
        <p14:creationId xmlns:p14="http://schemas.microsoft.com/office/powerpoint/2010/main" val="115115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63" presetClass="path" presetSubtype="0" accel="50000" decel="50000" fill="hold" nodeType="withEffect">
                                  <p:stCondLst>
                                    <p:cond delay="0"/>
                                  </p:stCondLst>
                                  <p:childTnLst>
                                    <p:animMotion origin="layout" path="M 2.91667E-6 -2.96296E-6 L 0.34948 0.00348 " pathEditMode="relative" rAng="0" ptsTypes="AA">
                                      <p:cBhvr>
                                        <p:cTn id="8" dur="2000" fill="hold"/>
                                        <p:tgtEl>
                                          <p:spTgt spid="8"/>
                                        </p:tgtEl>
                                        <p:attrNameLst>
                                          <p:attrName>ppt_x</p:attrName>
                                          <p:attrName>ppt_y</p:attrName>
                                        </p:attrNameLst>
                                      </p:cBhvr>
                                      <p:rCtr x="17474" y="162"/>
                                    </p:animMotion>
                                  </p:childTnLst>
                                </p:cTn>
                              </p:par>
                            </p:childTnLst>
                          </p:cTn>
                        </p:par>
                        <p:par>
                          <p:cTn id="9" fill="hold">
                            <p:stCondLst>
                              <p:cond delay="2000"/>
                            </p:stCondLst>
                            <p:childTnLst>
                              <p:par>
                                <p:cTn id="10" presetID="35" presetClass="path" presetSubtype="0" accel="50000" decel="50000" fill="hold" nodeType="afterEffect">
                                  <p:stCondLst>
                                    <p:cond delay="0"/>
                                  </p:stCondLst>
                                  <p:childTnLst>
                                    <p:animMotion origin="layout" path="M 0.34948 0.00348 L 0.11614 0.00348 " pathEditMode="relative" rAng="0" ptsTypes="AA">
                                      <p:cBhvr>
                                        <p:cTn id="11" dur="2000" fill="hold"/>
                                        <p:tgtEl>
                                          <p:spTgt spid="8"/>
                                        </p:tgtEl>
                                        <p:attrNameLst>
                                          <p:attrName>ppt_x</p:attrName>
                                          <p:attrName>ppt_y</p:attrName>
                                        </p:attrNameLst>
                                      </p:cBhvr>
                                      <p:rCtr x="-116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CECA-FBBE-7856-9CD5-1D93FE52CC56}"/>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Types and examples of NoSQL Database and performance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35A0FA-727E-0A3E-54AB-E85CB716B12E}"/>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There are 4 main types of NoSQL Database</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Key-Value Store: </a:t>
            </a:r>
            <a:r>
              <a:rPr lang="en-US" sz="2200" dirty="0">
                <a:solidFill>
                  <a:schemeClr val="tx1"/>
                </a:solidFill>
                <a:latin typeface="Times New Roman" panose="02020603050405020304" pitchFamily="18" charset="0"/>
                <a:cs typeface="Times New Roman" panose="02020603050405020304" pitchFamily="18" charset="0"/>
              </a:rPr>
              <a:t>Designed for storing data in schema-less way. Data is stored as key-value pairs where each key is unique, and its corresponding value can be any type of data(</a:t>
            </a:r>
            <a:r>
              <a:rPr lang="en-US" sz="2200" dirty="0" err="1">
                <a:solidFill>
                  <a:schemeClr val="tx1"/>
                </a:solidFill>
                <a:latin typeface="Times New Roman" panose="02020603050405020304" pitchFamily="18" charset="0"/>
                <a:cs typeface="Times New Roman" panose="02020603050405020304" pitchFamily="18" charset="0"/>
              </a:rPr>
              <a:t>eg</a:t>
            </a:r>
            <a:r>
              <a:rPr lang="en-US" sz="2200" dirty="0">
                <a:solidFill>
                  <a:schemeClr val="tx1"/>
                </a:solidFill>
                <a:latin typeface="Times New Roman" panose="02020603050405020304" pitchFamily="18" charset="0"/>
                <a:cs typeface="Times New Roman" panose="02020603050405020304" pitchFamily="18" charset="0"/>
              </a:rPr>
              <a:t>: strings, numbers and even more complex objects).</a:t>
            </a:r>
          </a:p>
          <a:p>
            <a:pPr marL="457200" indent="-457200" algn="just">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Wide column database: </a:t>
            </a:r>
            <a:r>
              <a:rPr lang="en-US" sz="2200" b="0" i="0" dirty="0">
                <a:solidFill>
                  <a:schemeClr val="tx1"/>
                </a:solidFill>
                <a:effectLst/>
                <a:latin typeface="Times New Roman" panose="02020603050405020304" pitchFamily="18" charset="0"/>
                <a:cs typeface="Times New Roman" panose="02020603050405020304" pitchFamily="18" charset="0"/>
              </a:rPr>
              <a:t>A wide-column database is a type of </a:t>
            </a:r>
            <a:r>
              <a:rPr lang="en-US" sz="2200" b="0" i="0" u="none"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NoSQL database</a:t>
            </a:r>
            <a:r>
              <a:rPr lang="en-US" sz="2200" b="0" i="0" dirty="0">
                <a:solidFill>
                  <a:schemeClr val="tx1"/>
                </a:solidFill>
                <a:effectLst/>
                <a:latin typeface="Times New Roman" panose="02020603050405020304" pitchFamily="18" charset="0"/>
                <a:cs typeface="Times New Roman" panose="02020603050405020304" pitchFamily="18" charset="0"/>
              </a:rPr>
              <a:t> in which the names and format of the columns can vary across rows, even within the same table. Wide-column databases are also known as column family databases.</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033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oSQL Database Types: Understanding the Differences">
            <a:extLst>
              <a:ext uri="{FF2B5EF4-FFF2-40B4-BE49-F238E27FC236}">
                <a16:creationId xmlns:a16="http://schemas.microsoft.com/office/drawing/2014/main" id="{83139B06-4FD0-81A9-1DC6-833F94999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1088" y="771525"/>
            <a:ext cx="3838575" cy="26574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o4j : The Graph Database - GeeksforGeeks">
            <a:extLst>
              <a:ext uri="{FF2B5EF4-FFF2-40B4-BE49-F238E27FC236}">
                <a16:creationId xmlns:a16="http://schemas.microsoft.com/office/drawing/2014/main" id="{79573FE0-D255-0D34-3A26-52DE20C5504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96612" y="616696"/>
            <a:ext cx="4640571"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615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A3759-8244-EC05-DCA9-AAA102A776C3}"/>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How does wide column store database differ from relational database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B3D67F-2649-19E1-C564-CAB9CFD68167}"/>
              </a:ext>
            </a:extLst>
          </p:cNvPr>
          <p:cNvSpPr>
            <a:spLocks noGrp="1"/>
          </p:cNvSpPr>
          <p:nvPr>
            <p:ph idx="1"/>
          </p:nvPr>
        </p:nvSpPr>
        <p:spPr/>
        <p:txBody>
          <a:bodyPr>
            <a:normAutofit fontScale="92500" lnSpcReduction="10000"/>
          </a:bodyPr>
          <a:lstStyle/>
          <a:p>
            <a:pPr algn="just"/>
            <a:r>
              <a:rPr lang="en-US" b="0" i="0" dirty="0">
                <a:solidFill>
                  <a:schemeClr val="tx1"/>
                </a:solidFill>
                <a:effectLst/>
                <a:latin typeface="Times New Roman" panose="02020603050405020304" pitchFamily="18" charset="0"/>
                <a:cs typeface="Times New Roman" panose="02020603050405020304" pitchFamily="18" charset="0"/>
              </a:rPr>
              <a:t>A relational database management system (RDBMS) stores data in a table with rows that all span a number of columns. If one row needs an additional column, that column must be added to the entire table, with null or default values provided for all the other rows</a:t>
            </a:r>
          </a:p>
          <a:p>
            <a:pPr algn="just"/>
            <a:r>
              <a:rPr lang="en-US" b="0" i="0" dirty="0">
                <a:solidFill>
                  <a:schemeClr val="tx1"/>
                </a:solidFill>
                <a:effectLst/>
                <a:latin typeface="Times New Roman" panose="02020603050405020304" pitchFamily="18" charset="0"/>
                <a:cs typeface="Times New Roman" panose="02020603050405020304" pitchFamily="18" charset="0"/>
              </a:rPr>
              <a:t>Wide-column NoSQL databases still have the concept of rows, but reading or writing a row of data consists of reading or writing the individual columns. A column is only written if there’s a data element for it. Each data element can be referenced by the row key, but querying for a value is optimized like querying an index in a RDBMS, rather than a slow table scan.</a:t>
            </a:r>
          </a:p>
          <a:p>
            <a:endParaRPr lang="en-IN" dirty="0"/>
          </a:p>
        </p:txBody>
      </p:sp>
    </p:spTree>
    <p:extLst>
      <p:ext uri="{BB962C8B-B14F-4D97-AF65-F5344CB8AC3E}">
        <p14:creationId xmlns:p14="http://schemas.microsoft.com/office/powerpoint/2010/main" val="1684134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6D9D3F1-5CDB-2CAB-D97C-7497DDF8C144}"/>
              </a:ext>
            </a:extLst>
          </p:cNvPr>
          <p:cNvGraphicFramePr>
            <a:graphicFrameLocks noGrp="1"/>
          </p:cNvGraphicFramePr>
          <p:nvPr>
            <p:extLst>
              <p:ext uri="{D42A27DB-BD31-4B8C-83A1-F6EECF244321}">
                <p14:modId xmlns:p14="http://schemas.microsoft.com/office/powerpoint/2010/main" val="2144651055"/>
              </p:ext>
            </p:extLst>
          </p:nvPr>
        </p:nvGraphicFramePr>
        <p:xfrm>
          <a:off x="1052804" y="716486"/>
          <a:ext cx="10106605" cy="1840102"/>
        </p:xfrm>
        <a:graphic>
          <a:graphicData uri="http://schemas.openxmlformats.org/drawingml/2006/table">
            <a:tbl>
              <a:tblPr/>
              <a:tblGrid>
                <a:gridCol w="2021321">
                  <a:extLst>
                    <a:ext uri="{9D8B030D-6E8A-4147-A177-3AD203B41FA5}">
                      <a16:colId xmlns:a16="http://schemas.microsoft.com/office/drawing/2014/main" val="3647339425"/>
                    </a:ext>
                  </a:extLst>
                </a:gridCol>
                <a:gridCol w="2021321">
                  <a:extLst>
                    <a:ext uri="{9D8B030D-6E8A-4147-A177-3AD203B41FA5}">
                      <a16:colId xmlns:a16="http://schemas.microsoft.com/office/drawing/2014/main" val="809615471"/>
                    </a:ext>
                  </a:extLst>
                </a:gridCol>
                <a:gridCol w="2021321">
                  <a:extLst>
                    <a:ext uri="{9D8B030D-6E8A-4147-A177-3AD203B41FA5}">
                      <a16:colId xmlns:a16="http://schemas.microsoft.com/office/drawing/2014/main" val="2491250035"/>
                    </a:ext>
                  </a:extLst>
                </a:gridCol>
                <a:gridCol w="2021321">
                  <a:extLst>
                    <a:ext uri="{9D8B030D-6E8A-4147-A177-3AD203B41FA5}">
                      <a16:colId xmlns:a16="http://schemas.microsoft.com/office/drawing/2014/main" val="3600277884"/>
                    </a:ext>
                  </a:extLst>
                </a:gridCol>
                <a:gridCol w="2021321">
                  <a:extLst>
                    <a:ext uri="{9D8B030D-6E8A-4147-A177-3AD203B41FA5}">
                      <a16:colId xmlns:a16="http://schemas.microsoft.com/office/drawing/2014/main" val="3374591717"/>
                    </a:ext>
                  </a:extLst>
                </a:gridCol>
              </a:tblGrid>
              <a:tr h="387390">
                <a:tc>
                  <a:txBody>
                    <a:bodyPr/>
                    <a:lstStyle/>
                    <a:p>
                      <a:pPr>
                        <a:buNone/>
                      </a:pPr>
                      <a:r>
                        <a:rPr lang="en-IN">
                          <a:solidFill>
                            <a:schemeClr val="tx1"/>
                          </a:solidFill>
                          <a:latin typeface="Times New Roman" panose="02020603050405020304" pitchFamily="18" charset="0"/>
                          <a:cs typeface="Times New Roman" panose="02020603050405020304" pitchFamily="18" charset="0"/>
                        </a:rPr>
                        <a:t>Customer_ID</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Name</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Email</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Last_Order_Date</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Loyalty_Points</a:t>
                      </a:r>
                    </a:p>
                  </a:txBody>
                  <a:tcPr anchor="ctr">
                    <a:lnL>
                      <a:noFill/>
                    </a:lnL>
                    <a:lnR>
                      <a:noFill/>
                    </a:lnR>
                    <a:lnT>
                      <a:noFill/>
                    </a:lnT>
                    <a:lnB>
                      <a:noFill/>
                    </a:lnB>
                    <a:noFill/>
                  </a:tcPr>
                </a:tc>
                <a:extLst>
                  <a:ext uri="{0D108BD9-81ED-4DB2-BD59-A6C34878D82A}">
                    <a16:rowId xmlns:a16="http://schemas.microsoft.com/office/drawing/2014/main" val="4077766008"/>
                  </a:ext>
                </a:extLst>
              </a:tr>
              <a:tr h="387390">
                <a:tc>
                  <a:txBody>
                    <a:bodyPr/>
                    <a:lstStyle/>
                    <a:p>
                      <a:pPr>
                        <a:buNone/>
                      </a:pPr>
                      <a:r>
                        <a:rPr lang="en-IN">
                          <a:solidFill>
                            <a:schemeClr val="tx1"/>
                          </a:solidFill>
                          <a:latin typeface="Times New Roman" panose="02020603050405020304" pitchFamily="18" charset="0"/>
                          <a:cs typeface="Times New Roman" panose="02020603050405020304" pitchFamily="18" charset="0"/>
                        </a:rPr>
                        <a:t>101</a:t>
                      </a:r>
                    </a:p>
                  </a:txBody>
                  <a:tcPr anchor="ctr">
                    <a:lnL>
                      <a:noFill/>
                    </a:lnL>
                    <a:lnR>
                      <a:noFill/>
                    </a:lnR>
                    <a:lnT>
                      <a:noFill/>
                    </a:lnT>
                    <a:lnB>
                      <a:noFill/>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Raj</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raj@gmail.com</a:t>
                      </a:r>
                      <a:endParaRPr lang="en-IN">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2025-10-30</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120</a:t>
                      </a:r>
                    </a:p>
                  </a:txBody>
                  <a:tcPr anchor="ctr">
                    <a:lnL>
                      <a:noFill/>
                    </a:lnL>
                    <a:lnR>
                      <a:noFill/>
                    </a:lnR>
                    <a:lnT>
                      <a:noFill/>
                    </a:lnT>
                    <a:lnB>
                      <a:noFill/>
                    </a:lnB>
                    <a:noFill/>
                  </a:tcPr>
                </a:tc>
                <a:extLst>
                  <a:ext uri="{0D108BD9-81ED-4DB2-BD59-A6C34878D82A}">
                    <a16:rowId xmlns:a16="http://schemas.microsoft.com/office/drawing/2014/main" val="2629297097"/>
                  </a:ext>
                </a:extLst>
              </a:tr>
              <a:tr h="387390">
                <a:tc>
                  <a:txBody>
                    <a:bodyPr/>
                    <a:lstStyle/>
                    <a:p>
                      <a:pPr>
                        <a:buNone/>
                      </a:pPr>
                      <a:r>
                        <a:rPr lang="en-IN">
                          <a:solidFill>
                            <a:schemeClr val="tx1"/>
                          </a:solidFill>
                          <a:latin typeface="Times New Roman" panose="02020603050405020304" pitchFamily="18" charset="0"/>
                          <a:cs typeface="Times New Roman" panose="02020603050405020304" pitchFamily="18" charset="0"/>
                        </a:rPr>
                        <a:t>102</a:t>
                      </a:r>
                    </a:p>
                  </a:txBody>
                  <a:tcPr anchor="ctr">
                    <a:lnL>
                      <a:noFill/>
                    </a:lnL>
                    <a:lnR>
                      <a:noFill/>
                    </a:lnR>
                    <a:lnT>
                      <a:noFill/>
                    </a:lnT>
                    <a:lnB>
                      <a:noFill/>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Priya</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priya@gmail.com</a:t>
                      </a:r>
                      <a:endParaRPr lang="en-IN">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2025-10-25</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90</a:t>
                      </a:r>
                    </a:p>
                  </a:txBody>
                  <a:tcPr anchor="ctr">
                    <a:lnL>
                      <a:noFill/>
                    </a:lnL>
                    <a:lnR>
                      <a:noFill/>
                    </a:lnR>
                    <a:lnT>
                      <a:noFill/>
                    </a:lnT>
                    <a:lnB>
                      <a:noFill/>
                    </a:lnB>
                    <a:noFill/>
                  </a:tcPr>
                </a:tc>
                <a:extLst>
                  <a:ext uri="{0D108BD9-81ED-4DB2-BD59-A6C34878D82A}">
                    <a16:rowId xmlns:a16="http://schemas.microsoft.com/office/drawing/2014/main" val="2545545922"/>
                  </a:ext>
                </a:extLst>
              </a:tr>
              <a:tr h="677932">
                <a:tc>
                  <a:txBody>
                    <a:bodyPr/>
                    <a:lstStyle/>
                    <a:p>
                      <a:pPr>
                        <a:buNone/>
                      </a:pPr>
                      <a:r>
                        <a:rPr lang="en-IN">
                          <a:solidFill>
                            <a:schemeClr val="tx1"/>
                          </a:solidFill>
                          <a:latin typeface="Times New Roman" panose="02020603050405020304" pitchFamily="18" charset="0"/>
                          <a:cs typeface="Times New Roman" panose="02020603050405020304" pitchFamily="18" charset="0"/>
                        </a:rPr>
                        <a:t>103</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Sameer</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sameer@gmail.com</a:t>
                      </a:r>
                      <a:endParaRPr lang="en-IN">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NULL</a:t>
                      </a:r>
                    </a:p>
                  </a:txBody>
                  <a:tcPr anchor="ctr">
                    <a:lnL>
                      <a:noFill/>
                    </a:lnL>
                    <a:lnR>
                      <a:noFill/>
                    </a:lnR>
                    <a:lnT>
                      <a:noFill/>
                    </a:lnT>
                    <a:lnB>
                      <a:noFill/>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NULL</a:t>
                      </a:r>
                    </a:p>
                  </a:txBody>
                  <a:tcPr anchor="ctr">
                    <a:lnL>
                      <a:noFill/>
                    </a:lnL>
                    <a:lnR>
                      <a:noFill/>
                    </a:lnR>
                    <a:lnT>
                      <a:noFill/>
                    </a:lnT>
                    <a:lnB>
                      <a:noFill/>
                    </a:lnB>
                    <a:noFill/>
                  </a:tcPr>
                </a:tc>
                <a:extLst>
                  <a:ext uri="{0D108BD9-81ED-4DB2-BD59-A6C34878D82A}">
                    <a16:rowId xmlns:a16="http://schemas.microsoft.com/office/drawing/2014/main" val="707684501"/>
                  </a:ext>
                </a:extLst>
              </a:tr>
            </a:tbl>
          </a:graphicData>
        </a:graphic>
      </p:graphicFrame>
      <p:sp>
        <p:nvSpPr>
          <p:cNvPr id="5" name="TextBox 4">
            <a:extLst>
              <a:ext uri="{FF2B5EF4-FFF2-40B4-BE49-F238E27FC236}">
                <a16:creationId xmlns:a16="http://schemas.microsoft.com/office/drawing/2014/main" id="{49F89F20-F914-8B1B-9D47-9BD9FFFD9B6A}"/>
              </a:ext>
            </a:extLst>
          </p:cNvPr>
          <p:cNvSpPr txBox="1"/>
          <p:nvPr/>
        </p:nvSpPr>
        <p:spPr>
          <a:xfrm>
            <a:off x="1166327" y="2808514"/>
            <a:ext cx="8697894"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If you later decide to </a:t>
            </a:r>
            <a:r>
              <a:rPr lang="en-US" b="1" dirty="0">
                <a:latin typeface="Times New Roman" panose="02020603050405020304" pitchFamily="18" charset="0"/>
                <a:cs typeface="Times New Roman" panose="02020603050405020304" pitchFamily="18" charset="0"/>
              </a:rPr>
              <a:t>store an additional column</a:t>
            </a:r>
            <a:r>
              <a:rPr lang="en-US" dirty="0">
                <a:latin typeface="Times New Roman" panose="02020603050405020304" pitchFamily="18" charset="0"/>
                <a:cs typeface="Times New Roman" panose="02020603050405020304" pitchFamily="18" charset="0"/>
              </a:rPr>
              <a:t> — say, </a:t>
            </a:r>
            <a:r>
              <a:rPr lang="en-US" dirty="0" err="1">
                <a:latin typeface="Times New Roman" panose="02020603050405020304" pitchFamily="18" charset="0"/>
                <a:cs typeface="Times New Roman" panose="02020603050405020304" pitchFamily="18" charset="0"/>
              </a:rPr>
              <a:t>Membership_Tier</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then this column must be </a:t>
            </a:r>
            <a:r>
              <a:rPr lang="en-US" b="1" dirty="0">
                <a:latin typeface="Times New Roman" panose="02020603050405020304" pitchFamily="18" charset="0"/>
                <a:cs typeface="Times New Roman" panose="02020603050405020304" pitchFamily="18" charset="0"/>
              </a:rPr>
              <a:t>added to the entire table</a:t>
            </a:r>
            <a:r>
              <a:rPr lang="en-US" dirty="0">
                <a:latin typeface="Times New Roman" panose="02020603050405020304" pitchFamily="18" charset="0"/>
                <a:cs typeface="Times New Roman" panose="02020603050405020304" pitchFamily="18" charset="0"/>
              </a:rPr>
              <a:t>, even if some rows don’t have that data.</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46830C7-FD67-5EE6-25A4-8D9B50E78BF6}"/>
              </a:ext>
            </a:extLst>
          </p:cNvPr>
          <p:cNvGraphicFramePr>
            <a:graphicFrameLocks noGrp="1"/>
          </p:cNvGraphicFramePr>
          <p:nvPr>
            <p:extLst>
              <p:ext uri="{D42A27DB-BD31-4B8C-83A1-F6EECF244321}">
                <p14:modId xmlns:p14="http://schemas.microsoft.com/office/powerpoint/2010/main" val="1263478425"/>
              </p:ext>
            </p:extLst>
          </p:nvPr>
        </p:nvGraphicFramePr>
        <p:xfrm>
          <a:off x="1166326" y="3429000"/>
          <a:ext cx="9993084" cy="2286000"/>
        </p:xfrm>
        <a:graphic>
          <a:graphicData uri="http://schemas.openxmlformats.org/drawingml/2006/table">
            <a:tbl>
              <a:tblPr/>
              <a:tblGrid>
                <a:gridCol w="1665514">
                  <a:extLst>
                    <a:ext uri="{9D8B030D-6E8A-4147-A177-3AD203B41FA5}">
                      <a16:colId xmlns:a16="http://schemas.microsoft.com/office/drawing/2014/main" val="1982251995"/>
                    </a:ext>
                  </a:extLst>
                </a:gridCol>
                <a:gridCol w="1665514">
                  <a:extLst>
                    <a:ext uri="{9D8B030D-6E8A-4147-A177-3AD203B41FA5}">
                      <a16:colId xmlns:a16="http://schemas.microsoft.com/office/drawing/2014/main" val="1420790117"/>
                    </a:ext>
                  </a:extLst>
                </a:gridCol>
                <a:gridCol w="1665514">
                  <a:extLst>
                    <a:ext uri="{9D8B030D-6E8A-4147-A177-3AD203B41FA5}">
                      <a16:colId xmlns:a16="http://schemas.microsoft.com/office/drawing/2014/main" val="1130408332"/>
                    </a:ext>
                  </a:extLst>
                </a:gridCol>
                <a:gridCol w="1665514">
                  <a:extLst>
                    <a:ext uri="{9D8B030D-6E8A-4147-A177-3AD203B41FA5}">
                      <a16:colId xmlns:a16="http://schemas.microsoft.com/office/drawing/2014/main" val="3380650793"/>
                    </a:ext>
                  </a:extLst>
                </a:gridCol>
                <a:gridCol w="1665514">
                  <a:extLst>
                    <a:ext uri="{9D8B030D-6E8A-4147-A177-3AD203B41FA5}">
                      <a16:colId xmlns:a16="http://schemas.microsoft.com/office/drawing/2014/main" val="797683324"/>
                    </a:ext>
                  </a:extLst>
                </a:gridCol>
                <a:gridCol w="1665514">
                  <a:extLst>
                    <a:ext uri="{9D8B030D-6E8A-4147-A177-3AD203B41FA5}">
                      <a16:colId xmlns:a16="http://schemas.microsoft.com/office/drawing/2014/main" val="2943825100"/>
                    </a:ext>
                  </a:extLst>
                </a:gridCol>
              </a:tblGrid>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Customer_ID</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Name</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Email</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Last_Order_Date</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Loyalty_Points</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Membership_Tier</a:t>
                      </a:r>
                    </a:p>
                  </a:txBody>
                  <a:tcPr anchor="ctr">
                    <a:lnL>
                      <a:noFill/>
                    </a:lnL>
                    <a:lnR>
                      <a:noFill/>
                    </a:lnR>
                    <a:lnT>
                      <a:noFill/>
                    </a:lnT>
                    <a:lnB>
                      <a:noFill/>
                    </a:lnB>
                    <a:noFill/>
                  </a:tcPr>
                </a:tc>
                <a:extLst>
                  <a:ext uri="{0D108BD9-81ED-4DB2-BD59-A6C34878D82A}">
                    <a16:rowId xmlns:a16="http://schemas.microsoft.com/office/drawing/2014/main" val="2757006630"/>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101</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Raj</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raj@gmail.com</a:t>
                      </a:r>
                      <a:endParaRPr lang="en-IN">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2025-10-30</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120</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Gold</a:t>
                      </a:r>
                    </a:p>
                  </a:txBody>
                  <a:tcPr anchor="ctr">
                    <a:lnL>
                      <a:noFill/>
                    </a:lnL>
                    <a:lnR>
                      <a:noFill/>
                    </a:lnR>
                    <a:lnT>
                      <a:noFill/>
                    </a:lnT>
                    <a:lnB>
                      <a:noFill/>
                    </a:lnB>
                    <a:noFill/>
                  </a:tcPr>
                </a:tc>
                <a:extLst>
                  <a:ext uri="{0D108BD9-81ED-4DB2-BD59-A6C34878D82A}">
                    <a16:rowId xmlns:a16="http://schemas.microsoft.com/office/drawing/2014/main" val="1106549420"/>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102</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Priya</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priya@gmail.com</a:t>
                      </a:r>
                      <a:endParaRPr lang="en-IN">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2025-10-25</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90</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Silver</a:t>
                      </a:r>
                    </a:p>
                  </a:txBody>
                  <a:tcPr anchor="ctr">
                    <a:lnL>
                      <a:noFill/>
                    </a:lnL>
                    <a:lnR>
                      <a:noFill/>
                    </a:lnR>
                    <a:lnT>
                      <a:noFill/>
                    </a:lnT>
                    <a:lnB>
                      <a:noFill/>
                    </a:lnB>
                    <a:noFill/>
                  </a:tcPr>
                </a:tc>
                <a:extLst>
                  <a:ext uri="{0D108BD9-81ED-4DB2-BD59-A6C34878D82A}">
                    <a16:rowId xmlns:a16="http://schemas.microsoft.com/office/drawing/2014/main" val="2719439286"/>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103</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Sameer</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sameer@gmail.com</a:t>
                      </a:r>
                      <a:endParaRPr lang="en-IN">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NULL</a:t>
                      </a:r>
                    </a:p>
                  </a:txBody>
                  <a:tcPr anchor="ctr">
                    <a:lnL>
                      <a:noFill/>
                    </a:lnL>
                    <a:lnR>
                      <a:noFill/>
                    </a:lnR>
                    <a:lnT>
                      <a:noFill/>
                    </a:lnT>
                    <a:lnB>
                      <a:noFill/>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NULL</a:t>
                      </a:r>
                    </a:p>
                  </a:txBody>
                  <a:tcPr anchor="ctr">
                    <a:lnL>
                      <a:noFill/>
                    </a:lnL>
                    <a:lnR>
                      <a:noFill/>
                    </a:lnR>
                    <a:lnT>
                      <a:noFill/>
                    </a:lnT>
                    <a:lnB>
                      <a:noFill/>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NULL</a:t>
                      </a:r>
                    </a:p>
                  </a:txBody>
                  <a:tcPr anchor="ctr">
                    <a:lnL>
                      <a:noFill/>
                    </a:lnL>
                    <a:lnR>
                      <a:noFill/>
                    </a:lnR>
                    <a:lnT>
                      <a:noFill/>
                    </a:lnT>
                    <a:lnB>
                      <a:noFill/>
                    </a:lnB>
                    <a:noFill/>
                  </a:tcPr>
                </a:tc>
                <a:extLst>
                  <a:ext uri="{0D108BD9-81ED-4DB2-BD59-A6C34878D82A}">
                    <a16:rowId xmlns:a16="http://schemas.microsoft.com/office/drawing/2014/main" val="1813906541"/>
                  </a:ext>
                </a:extLst>
              </a:tr>
            </a:tbl>
          </a:graphicData>
        </a:graphic>
      </p:graphicFrame>
    </p:spTree>
    <p:extLst>
      <p:ext uri="{BB962C8B-B14F-4D97-AF65-F5344CB8AC3E}">
        <p14:creationId xmlns:p14="http://schemas.microsoft.com/office/powerpoint/2010/main" val="379576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D199B5-5C78-0791-14C8-597E17E0BD0E}"/>
              </a:ext>
            </a:extLst>
          </p:cNvPr>
          <p:cNvSpPr>
            <a:spLocks noGrp="1"/>
          </p:cNvSpPr>
          <p:nvPr>
            <p:ph idx="1"/>
          </p:nvPr>
        </p:nvSpPr>
        <p:spPr>
          <a:xfrm>
            <a:off x="1063690" y="877078"/>
            <a:ext cx="10114383" cy="1324946"/>
          </a:xfrm>
        </p:spPr>
        <p:txBody>
          <a:bodyPr/>
          <a:lstStyle/>
          <a:p>
            <a:r>
              <a:rPr lang="en-US" sz="2200" b="1" dirty="0">
                <a:latin typeface="Times New Roman" panose="02020603050405020304" pitchFamily="18" charset="0"/>
                <a:cs typeface="Times New Roman" panose="02020603050405020304" pitchFamily="18" charset="0"/>
              </a:rPr>
              <a:t>In a Wide-Column NoSQL Database (like Cassandra or HBase)</a:t>
            </a:r>
          </a:p>
          <a:p>
            <a:r>
              <a:rPr lang="en-US" sz="2200" dirty="0">
                <a:latin typeface="Times New Roman" panose="02020603050405020304" pitchFamily="18" charset="0"/>
                <a:cs typeface="Times New Roman" panose="02020603050405020304" pitchFamily="18" charset="0"/>
              </a:rPr>
              <a:t>Here, data is stored more flexibly — as </a:t>
            </a:r>
            <a:r>
              <a:rPr lang="en-US" sz="2200" b="1" dirty="0">
                <a:latin typeface="Times New Roman" panose="02020603050405020304" pitchFamily="18" charset="0"/>
                <a:cs typeface="Times New Roman" panose="02020603050405020304" pitchFamily="18" charset="0"/>
              </a:rPr>
              <a:t>rows with variable columns</a:t>
            </a:r>
            <a:r>
              <a:rPr lang="en-US" sz="2200" dirty="0">
                <a:latin typeface="Times New Roman" panose="02020603050405020304" pitchFamily="18" charset="0"/>
                <a:cs typeface="Times New Roman" panose="02020603050405020304" pitchFamily="18" charset="0"/>
              </a:rPr>
              <a:t>, grouped into </a:t>
            </a:r>
            <a:r>
              <a:rPr lang="en-US" sz="2200" b="1" dirty="0">
                <a:latin typeface="Times New Roman" panose="02020603050405020304" pitchFamily="18" charset="0"/>
                <a:cs typeface="Times New Roman" panose="02020603050405020304" pitchFamily="18" charset="0"/>
              </a:rPr>
              <a:t>column families</a:t>
            </a:r>
            <a:r>
              <a:rPr lang="en-US" sz="2200" dirty="0">
                <a:latin typeface="Times New Roman" panose="02020603050405020304" pitchFamily="18" charset="0"/>
                <a:cs typeface="Times New Roman" panose="02020603050405020304" pitchFamily="18" charset="0"/>
              </a:rPr>
              <a:t>.</a:t>
            </a:r>
          </a:p>
          <a:p>
            <a:endParaRPr lang="en-IN" dirty="0"/>
          </a:p>
        </p:txBody>
      </p:sp>
      <p:sp>
        <p:nvSpPr>
          <p:cNvPr id="5" name="TextBox 4">
            <a:extLst>
              <a:ext uri="{FF2B5EF4-FFF2-40B4-BE49-F238E27FC236}">
                <a16:creationId xmlns:a16="http://schemas.microsoft.com/office/drawing/2014/main" id="{51EB1BE1-D831-9E79-1448-13001D0C4299}"/>
              </a:ext>
            </a:extLst>
          </p:cNvPr>
          <p:cNvSpPr txBox="1"/>
          <p:nvPr/>
        </p:nvSpPr>
        <p:spPr>
          <a:xfrm>
            <a:off x="1136002" y="2057629"/>
            <a:ext cx="3193402" cy="4247317"/>
          </a:xfrm>
          <a:prstGeom prst="rect">
            <a:avLst/>
          </a:prstGeom>
          <a:noFill/>
        </p:spPr>
        <p:txBody>
          <a:bodyPr wrap="square">
            <a:spAutoFit/>
          </a:bodyPr>
          <a:lstStyle/>
          <a:p>
            <a:r>
              <a:rPr lang="en-IN" dirty="0"/>
              <a:t>Row Key: 101</a:t>
            </a:r>
          </a:p>
          <a:p>
            <a:r>
              <a:rPr lang="en-IN" dirty="0"/>
              <a:t>------------------------------------</a:t>
            </a:r>
          </a:p>
          <a:p>
            <a:r>
              <a:rPr lang="en-IN" dirty="0"/>
              <a:t>Name: Raj</a:t>
            </a:r>
          </a:p>
          <a:p>
            <a:r>
              <a:rPr lang="en-IN" dirty="0"/>
              <a:t>Email: raj@gmail.com</a:t>
            </a:r>
          </a:p>
          <a:p>
            <a:r>
              <a:rPr lang="en-IN" dirty="0" err="1"/>
              <a:t>Last_Order_Date</a:t>
            </a:r>
            <a:r>
              <a:rPr lang="en-IN" dirty="0"/>
              <a:t>: 2025-10-30</a:t>
            </a:r>
          </a:p>
          <a:p>
            <a:r>
              <a:rPr lang="en-IN" dirty="0" err="1"/>
              <a:t>Loyalty_Points</a:t>
            </a:r>
            <a:r>
              <a:rPr lang="en-IN" dirty="0"/>
              <a:t>: 120</a:t>
            </a:r>
          </a:p>
          <a:p>
            <a:r>
              <a:rPr lang="en-IN" dirty="0" err="1"/>
              <a:t>Membership_Tier</a:t>
            </a:r>
            <a:r>
              <a:rPr lang="en-IN" dirty="0"/>
              <a:t>: Gold</a:t>
            </a:r>
          </a:p>
          <a:p>
            <a:endParaRPr lang="en-IN" dirty="0"/>
          </a:p>
          <a:p>
            <a:r>
              <a:rPr lang="en-IN" dirty="0"/>
              <a:t>Row Key: 102</a:t>
            </a:r>
          </a:p>
          <a:p>
            <a:r>
              <a:rPr lang="en-IN" dirty="0"/>
              <a:t>------------------------------------</a:t>
            </a:r>
          </a:p>
          <a:p>
            <a:r>
              <a:rPr lang="en-IN" dirty="0"/>
              <a:t>Name: Priya</a:t>
            </a:r>
          </a:p>
          <a:p>
            <a:r>
              <a:rPr lang="en-IN" dirty="0"/>
              <a:t>Email: priya@gmail.com</a:t>
            </a:r>
          </a:p>
          <a:p>
            <a:r>
              <a:rPr lang="en-IN" dirty="0" err="1"/>
              <a:t>Last_Order_Date</a:t>
            </a:r>
            <a:r>
              <a:rPr lang="en-IN" dirty="0"/>
              <a:t>: 2025-10-25</a:t>
            </a:r>
          </a:p>
          <a:p>
            <a:r>
              <a:rPr lang="en-IN" dirty="0" err="1"/>
              <a:t>Loyalty_Points</a:t>
            </a:r>
            <a:r>
              <a:rPr lang="en-IN" dirty="0"/>
              <a:t>: 90</a:t>
            </a:r>
          </a:p>
          <a:p>
            <a:endParaRPr lang="en-IN" dirty="0"/>
          </a:p>
        </p:txBody>
      </p:sp>
      <p:sp>
        <p:nvSpPr>
          <p:cNvPr id="6" name="TextBox 5">
            <a:extLst>
              <a:ext uri="{FF2B5EF4-FFF2-40B4-BE49-F238E27FC236}">
                <a16:creationId xmlns:a16="http://schemas.microsoft.com/office/drawing/2014/main" id="{668E5F51-2560-100D-627E-56C772224EAA}"/>
              </a:ext>
            </a:extLst>
          </p:cNvPr>
          <p:cNvSpPr txBox="1"/>
          <p:nvPr/>
        </p:nvSpPr>
        <p:spPr>
          <a:xfrm>
            <a:off x="4401716" y="2057629"/>
            <a:ext cx="2781531" cy="1477328"/>
          </a:xfrm>
          <a:prstGeom prst="rect">
            <a:avLst/>
          </a:prstGeom>
          <a:noFill/>
        </p:spPr>
        <p:txBody>
          <a:bodyPr wrap="none" rtlCol="0">
            <a:spAutoFit/>
          </a:bodyPr>
          <a:lstStyle/>
          <a:p>
            <a:r>
              <a:rPr lang="en-IN" dirty="0"/>
              <a:t>Row Key: 103</a:t>
            </a:r>
          </a:p>
          <a:p>
            <a:r>
              <a:rPr lang="en-IN" dirty="0"/>
              <a:t>------------------------------------</a:t>
            </a:r>
          </a:p>
          <a:p>
            <a:r>
              <a:rPr lang="en-IN" dirty="0"/>
              <a:t>Name: Sameer</a:t>
            </a:r>
          </a:p>
          <a:p>
            <a:r>
              <a:rPr lang="en-IN" dirty="0"/>
              <a:t>Email: sameer@gmail.com</a:t>
            </a:r>
          </a:p>
          <a:p>
            <a:endParaRPr lang="en-IN" dirty="0"/>
          </a:p>
        </p:txBody>
      </p:sp>
    </p:spTree>
    <p:extLst>
      <p:ext uri="{BB962C8B-B14F-4D97-AF65-F5344CB8AC3E}">
        <p14:creationId xmlns:p14="http://schemas.microsoft.com/office/powerpoint/2010/main" val="1178921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8E01F-9F57-80CE-4DA3-57638FD27FED}"/>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Types and examples of NoSQL Database and performance</a:t>
            </a:r>
            <a:endParaRPr lang="en-IN" dirty="0"/>
          </a:p>
        </p:txBody>
      </p:sp>
      <p:sp>
        <p:nvSpPr>
          <p:cNvPr id="3" name="Content Placeholder 2">
            <a:extLst>
              <a:ext uri="{FF2B5EF4-FFF2-40B4-BE49-F238E27FC236}">
                <a16:creationId xmlns:a16="http://schemas.microsoft.com/office/drawing/2014/main" id="{C8731802-EEE6-3D69-6D1A-C9A36A31C5F8}"/>
              </a:ext>
            </a:extLst>
          </p:cNvPr>
          <p:cNvSpPr>
            <a:spLocks noGrp="1"/>
          </p:cNvSpPr>
          <p:nvPr>
            <p:ph idx="1"/>
          </p:nvPr>
        </p:nvSpPr>
        <p:spPr/>
        <p:txBody>
          <a:bodyPr>
            <a:normAutofit/>
          </a:bodyPr>
          <a:lstStyle/>
          <a:p>
            <a:pPr marL="0" indent="0">
              <a:buNone/>
            </a:pPr>
            <a:r>
              <a:rPr lang="en-US" sz="2200" b="1" dirty="0">
                <a:solidFill>
                  <a:schemeClr val="tx1"/>
                </a:solidFill>
                <a:latin typeface="Times New Roman" panose="02020603050405020304" pitchFamily="18" charset="0"/>
                <a:cs typeface="Times New Roman" panose="02020603050405020304" pitchFamily="18" charset="0"/>
              </a:rPr>
              <a:t>3. Document database: </a:t>
            </a:r>
            <a:r>
              <a:rPr lang="en-US" sz="2200" dirty="0">
                <a:solidFill>
                  <a:schemeClr val="tx1"/>
                </a:solidFill>
                <a:latin typeface="Times New Roman" panose="02020603050405020304" pitchFamily="18" charset="0"/>
                <a:cs typeface="Times New Roman" panose="02020603050405020304" pitchFamily="18" charset="0"/>
              </a:rPr>
              <a:t>These databases store data as documents (typically in formats like JSON or BSON). Each document can have a flexible schema, allowing for varying structures of data within the same collection.</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It is best for semi-structured data when flexibility is needed for the data model</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4. </a:t>
            </a:r>
            <a:r>
              <a:rPr lang="en-US" sz="2200" b="1" dirty="0">
                <a:solidFill>
                  <a:schemeClr val="tx1"/>
                </a:solidFill>
                <a:latin typeface="Times New Roman" panose="02020603050405020304" pitchFamily="18" charset="0"/>
                <a:cs typeface="Times New Roman" panose="02020603050405020304" pitchFamily="18" charset="0"/>
              </a:rPr>
              <a:t>Graph Database: </a:t>
            </a:r>
            <a:r>
              <a:rPr lang="en-US" sz="2200" dirty="0">
                <a:solidFill>
                  <a:schemeClr val="tx1"/>
                </a:solidFill>
                <a:latin typeface="Times New Roman" panose="02020603050405020304" pitchFamily="18" charset="0"/>
                <a:cs typeface="Times New Roman" panose="02020603050405020304" pitchFamily="18" charset="0"/>
              </a:rPr>
              <a:t>These databases are designed to store and manage data that is highly interconnected. Data is stored as nodes and edges, which represent entities and their relationships. It works on relationship-based storage, making it ideal for recommendation systems and fraud detection systems for social networks.</a:t>
            </a:r>
          </a:p>
          <a:p>
            <a:pPr marL="457200" indent="-457200">
              <a:buFont typeface="+mj-lt"/>
              <a:buAutoNum type="arabicPeriod"/>
            </a:pPr>
            <a:endParaRPr lang="en-US"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890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4EA14-869C-6E20-37A7-C1468341BAB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Key-Value Stores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FA0CD0-F01B-C176-ABEF-B3F11B649A56}"/>
              </a:ext>
            </a:extLst>
          </p:cNvPr>
          <p:cNvSpPr>
            <a:spLocks noGrp="1"/>
          </p:cNvSpPr>
          <p:nvPr>
            <p:ph idx="1"/>
          </p:nvPr>
        </p:nvSpPr>
        <p:spPr>
          <a:xfrm>
            <a:off x="1295401" y="2556933"/>
            <a:ext cx="11487538" cy="2784198"/>
          </a:xfrm>
        </p:spPr>
        <p:txBody>
          <a:bodyPr/>
          <a:lstStyle/>
          <a:p>
            <a:r>
              <a:rPr lang="en-US" sz="2200" dirty="0">
                <a:latin typeface="Times New Roman" panose="02020603050405020304" pitchFamily="18" charset="0"/>
                <a:cs typeface="Times New Roman" panose="02020603050405020304" pitchFamily="18" charset="0"/>
              </a:rPr>
              <a:t>A key-value store is a schema-less NoSQL model in which data objects are associated with distinct character strings called </a:t>
            </a:r>
            <a:r>
              <a:rPr lang="en-US" sz="2200" b="1" dirty="0">
                <a:latin typeface="Times New Roman" panose="02020603050405020304" pitchFamily="18" charset="0"/>
                <a:cs typeface="Times New Roman" panose="02020603050405020304" pitchFamily="18" charset="0"/>
              </a:rPr>
              <a:t>keys</a:t>
            </a:r>
            <a:r>
              <a:rPr lang="en-US" sz="2200" dirty="0">
                <a:latin typeface="Times New Roman" panose="02020603050405020304" pitchFamily="18" charset="0"/>
                <a:cs typeface="Times New Roman" panose="02020603050405020304" pitchFamily="18" charset="0"/>
              </a:rPr>
              <a:t>, similar to the data structure known as a hash table.</a:t>
            </a:r>
          </a:p>
          <a:p>
            <a:r>
              <a:rPr lang="en-US" sz="2200" dirty="0">
                <a:latin typeface="Times New Roman" panose="02020603050405020304" pitchFamily="18" charset="0"/>
                <a:cs typeface="Times New Roman" panose="02020603050405020304" pitchFamily="18" charset="0"/>
              </a:rPr>
              <a:t>Unique keys are employed to both identify entities and to locate attribute information </a:t>
            </a:r>
          </a:p>
          <a:p>
            <a:r>
              <a:rPr lang="en-US" sz="2200" dirty="0">
                <a:latin typeface="Times New Roman" panose="02020603050405020304" pitchFamily="18" charset="0"/>
                <a:cs typeface="Times New Roman" panose="02020603050405020304" pitchFamily="18" charset="0"/>
              </a:rPr>
              <a:t>about those entities.</a:t>
            </a:r>
            <a:endParaRPr lang="en-IN" sz="2200"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D1FB477-BA8F-6B84-C134-53D191A73E10}"/>
              </a:ext>
            </a:extLst>
          </p:cNvPr>
          <p:cNvPicPr>
            <a:picLocks noChangeAspect="1"/>
          </p:cNvPicPr>
          <p:nvPr/>
        </p:nvPicPr>
        <p:blipFill>
          <a:blip r:embed="rId2"/>
          <a:stretch>
            <a:fillRect/>
          </a:stretch>
        </p:blipFill>
        <p:spPr>
          <a:xfrm>
            <a:off x="3955336" y="3792893"/>
            <a:ext cx="6346503" cy="2677240"/>
          </a:xfrm>
          <a:prstGeom prst="rect">
            <a:avLst/>
          </a:prstGeom>
        </p:spPr>
      </p:pic>
    </p:spTree>
    <p:extLst>
      <p:ext uri="{BB962C8B-B14F-4D97-AF65-F5344CB8AC3E}">
        <p14:creationId xmlns:p14="http://schemas.microsoft.com/office/powerpoint/2010/main" val="1959660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C543-E45D-1A13-2139-96B9B3CBF78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Key-Value Stores</a:t>
            </a:r>
            <a:endParaRPr lang="en-IN" dirty="0"/>
          </a:p>
        </p:txBody>
      </p:sp>
      <p:sp>
        <p:nvSpPr>
          <p:cNvPr id="3" name="Content Placeholder 2">
            <a:extLst>
              <a:ext uri="{FF2B5EF4-FFF2-40B4-BE49-F238E27FC236}">
                <a16:creationId xmlns:a16="http://schemas.microsoft.com/office/drawing/2014/main" id="{DD38DC45-610F-246D-6886-A5D8F80FB878}"/>
              </a:ext>
            </a:extLst>
          </p:cNvPr>
          <p:cNvSpPr>
            <a:spLocks noGrp="1"/>
          </p:cNvSpPr>
          <p:nvPr>
            <p:ph idx="1"/>
          </p:nvPr>
        </p:nvSpPr>
        <p:spPr>
          <a:xfrm>
            <a:off x="1295401" y="2556931"/>
            <a:ext cx="9938656" cy="3713239"/>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The key-value store does not impose any constraints about data typing or data structure. </a:t>
            </a:r>
          </a:p>
          <a:p>
            <a:r>
              <a:rPr lang="en-US" dirty="0">
                <a:latin typeface="Times New Roman" panose="02020603050405020304" pitchFamily="18" charset="0"/>
                <a:cs typeface="Times New Roman" panose="02020603050405020304" pitchFamily="18" charset="0"/>
              </a:rPr>
              <a:t>However, it's up to the </a:t>
            </a:r>
            <a:r>
              <a:rPr lang="en-US" b="1" dirty="0">
                <a:latin typeface="Times New Roman" panose="02020603050405020304" pitchFamily="18" charset="0"/>
                <a:cs typeface="Times New Roman" panose="02020603050405020304" pitchFamily="18" charset="0"/>
              </a:rPr>
              <a:t>application using the data</a:t>
            </a:r>
            <a:r>
              <a:rPr lang="en-US" dirty="0">
                <a:latin typeface="Times New Roman" panose="02020603050405020304" pitchFamily="18" charset="0"/>
                <a:cs typeface="Times New Roman" panose="02020603050405020304" pitchFamily="18" charset="0"/>
              </a:rPr>
              <a:t> to understand what the data means and how it’s organized. The system just stores the data, but the application has to know how to read and interpret it correctly.</a:t>
            </a:r>
          </a:p>
          <a:p>
            <a:r>
              <a:rPr lang="en-US" dirty="0">
                <a:latin typeface="Times New Roman" panose="02020603050405020304" pitchFamily="18" charset="0"/>
                <a:cs typeface="Times New Roman" panose="02020603050405020304" pitchFamily="18" charset="0"/>
              </a:rPr>
              <a:t>The core operations performed on a key-value store include :</a:t>
            </a:r>
          </a:p>
          <a:p>
            <a:pPr lvl="1"/>
            <a:r>
              <a:rPr lang="en-US" sz="2400" dirty="0">
                <a:latin typeface="Times New Roman" panose="02020603050405020304" pitchFamily="18" charset="0"/>
                <a:cs typeface="Times New Roman" panose="02020603050405020304" pitchFamily="18" charset="0"/>
              </a:rPr>
              <a:t>Get(key) : It returns the value associated with the provided key.</a:t>
            </a:r>
          </a:p>
          <a:p>
            <a:pPr lvl="1"/>
            <a:r>
              <a:rPr lang="en-US" sz="2400" dirty="0">
                <a:latin typeface="Times New Roman" panose="02020603050405020304" pitchFamily="18" charset="0"/>
                <a:cs typeface="Times New Roman" panose="02020603050405020304" pitchFamily="18" charset="0"/>
              </a:rPr>
              <a:t>Put(key, value) : It associates the value with the key.</a:t>
            </a:r>
          </a:p>
          <a:p>
            <a:pPr lvl="1"/>
            <a:r>
              <a:rPr lang="en-US" sz="2400" dirty="0">
                <a:latin typeface="Times New Roman" panose="02020603050405020304" pitchFamily="18" charset="0"/>
                <a:cs typeface="Times New Roman" panose="02020603050405020304" pitchFamily="18" charset="0"/>
              </a:rPr>
              <a:t>Multi-get(key1, key2, .. , </a:t>
            </a:r>
            <a:r>
              <a:rPr lang="en-US" sz="2400" dirty="0" err="1">
                <a:latin typeface="Times New Roman" panose="02020603050405020304" pitchFamily="18" charset="0"/>
                <a:cs typeface="Times New Roman" panose="02020603050405020304" pitchFamily="18" charset="0"/>
              </a:rPr>
              <a:t>keyN</a:t>
            </a:r>
            <a:r>
              <a:rPr lang="en-US" sz="2400" dirty="0">
                <a:latin typeface="Times New Roman" panose="02020603050405020304" pitchFamily="18" charset="0"/>
                <a:cs typeface="Times New Roman" panose="02020603050405020304" pitchFamily="18" charset="0"/>
              </a:rPr>
              <a:t>) : It returns the list of values associated with the list of keys.</a:t>
            </a:r>
          </a:p>
          <a:p>
            <a:pPr lvl="1"/>
            <a:r>
              <a:rPr lang="en-US" sz="2400" dirty="0">
                <a:latin typeface="Times New Roman" panose="02020603050405020304" pitchFamily="18" charset="0"/>
                <a:cs typeface="Times New Roman" panose="02020603050405020304" pitchFamily="18" charset="0"/>
              </a:rPr>
              <a:t>Delete(key) : It removes the entry for the key from the data store.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965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00E2A-6A1F-336F-2139-5652CAA769C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Drawbacks of Key value pair</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5F7592-893E-4501-D01D-84D74FEB5723}"/>
              </a:ext>
            </a:extLst>
          </p:cNvPr>
          <p:cNvSpPr>
            <a:spLocks noGrp="1"/>
          </p:cNvSpPr>
          <p:nvPr>
            <p:ph idx="1"/>
          </p:nvPr>
        </p:nvSpPr>
        <p:spPr/>
        <p:txBody>
          <a:bodyPr/>
          <a:lstStyle/>
          <a:p>
            <a:r>
              <a:rPr lang="en-US" sz="2200" dirty="0">
                <a:solidFill>
                  <a:schemeClr val="tx1"/>
                </a:solidFill>
                <a:latin typeface="Times New Roman" panose="02020603050405020304" pitchFamily="18" charset="0"/>
                <a:cs typeface="Times New Roman" panose="02020603050405020304" pitchFamily="18" charset="0"/>
              </a:rPr>
              <a:t>This model does not provide any kind of traditional database capabilities.</a:t>
            </a:r>
          </a:p>
          <a:p>
            <a:pPr lvl="1"/>
            <a:r>
              <a:rPr lang="en-US" sz="2200" dirty="0">
                <a:solidFill>
                  <a:schemeClr val="tx1"/>
                </a:solidFill>
                <a:latin typeface="Times New Roman" panose="02020603050405020304" pitchFamily="18" charset="0"/>
                <a:cs typeface="Times New Roman" panose="02020603050405020304" pitchFamily="18" charset="0"/>
              </a:rPr>
              <a:t>Those capabilities must be provided by the application itself.</a:t>
            </a:r>
          </a:p>
          <a:p>
            <a:r>
              <a:rPr lang="en-US" sz="2200" dirty="0">
                <a:solidFill>
                  <a:schemeClr val="tx1"/>
                </a:solidFill>
                <a:latin typeface="Times New Roman" panose="02020603050405020304" pitchFamily="18" charset="0"/>
                <a:cs typeface="Times New Roman" panose="02020603050405020304" pitchFamily="18" charset="0"/>
              </a:rPr>
              <a:t>As the volume of data increases, maintaining unique values as keys may become more difficult.</a:t>
            </a:r>
          </a:p>
          <a:p>
            <a:r>
              <a:rPr lang="en-US" sz="2200" dirty="0">
                <a:solidFill>
                  <a:schemeClr val="tx1"/>
                </a:solidFill>
                <a:latin typeface="Times New Roman" panose="02020603050405020304" pitchFamily="18" charset="0"/>
                <a:cs typeface="Times New Roman" panose="02020603050405020304" pitchFamily="18" charset="0"/>
              </a:rPr>
              <a:t>One of the most significant shortcomings of the Key-Value model is a poor applicability to cases that require processing of key ranges.</a:t>
            </a:r>
            <a:endParaRPr lang="en-IN" sz="22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84901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7330-9342-F345-BA9B-F0EF598BBF9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Document stores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8900AC-D68B-5F35-DF63-985BE39FD59B}"/>
              </a:ext>
            </a:extLst>
          </p:cNvPr>
          <p:cNvSpPr>
            <a:spLocks noGrp="1"/>
          </p:cNvSpPr>
          <p:nvPr>
            <p:ph idx="1"/>
          </p:nvPr>
        </p:nvSpPr>
        <p:spPr/>
        <p:txBody>
          <a:bodyPr/>
          <a:lstStyle/>
          <a:p>
            <a:r>
              <a:rPr lang="en-US" sz="2200" dirty="0">
                <a:solidFill>
                  <a:schemeClr val="tx1"/>
                </a:solidFill>
                <a:latin typeface="Times New Roman" panose="02020603050405020304" pitchFamily="18" charset="0"/>
                <a:cs typeface="Times New Roman" panose="02020603050405020304" pitchFamily="18" charset="0"/>
              </a:rPr>
              <a:t>A document store is similar to a key-value store in that stored objects are character-string keys. </a:t>
            </a:r>
          </a:p>
          <a:p>
            <a:pPr lvl="1"/>
            <a:r>
              <a:rPr lang="en-US" sz="2200" dirty="0">
                <a:solidFill>
                  <a:schemeClr val="tx1"/>
                </a:solidFill>
                <a:latin typeface="Times New Roman" panose="02020603050405020304" pitchFamily="18" charset="0"/>
                <a:cs typeface="Times New Roman" panose="02020603050405020304" pitchFamily="18" charset="0"/>
              </a:rPr>
              <a:t>The difference is that the values being stored, which are referred to as "documents," provide some structure and encoding of the managed data. </a:t>
            </a:r>
          </a:p>
          <a:p>
            <a:pPr lvl="1"/>
            <a:r>
              <a:rPr lang="en-US" sz="2200" dirty="0">
                <a:solidFill>
                  <a:schemeClr val="tx1"/>
                </a:solidFill>
                <a:latin typeface="Times New Roman" panose="02020603050405020304" pitchFamily="18" charset="0"/>
                <a:cs typeface="Times New Roman" panose="02020603050405020304" pitchFamily="18" charset="0"/>
              </a:rPr>
              <a:t>There are different standard encodings, including XML (Extensible Markup Language), JSON (Java Script Object Notation), BSON (which is a binary encoding of JSON objects).</a:t>
            </a:r>
          </a:p>
          <a:p>
            <a:endParaRPr lang="en-IN" dirty="0"/>
          </a:p>
        </p:txBody>
      </p:sp>
    </p:spTree>
    <p:extLst>
      <p:ext uri="{BB962C8B-B14F-4D97-AF65-F5344CB8AC3E}">
        <p14:creationId xmlns:p14="http://schemas.microsoft.com/office/powerpoint/2010/main" val="369655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4C062-2F7E-8E1C-62DC-9246D1C78E5E}"/>
              </a:ext>
            </a:extLst>
          </p:cNvPr>
          <p:cNvSpPr>
            <a:spLocks noGrp="1"/>
          </p:cNvSpPr>
          <p:nvPr>
            <p:ph type="title"/>
          </p:nvPr>
        </p:nvSpPr>
        <p:spPr/>
        <p:txBody>
          <a:bodyPr/>
          <a:lstStyle/>
          <a:p>
            <a:r>
              <a:rPr lang="en-GB" altLang="en-US" b="1" dirty="0">
                <a:latin typeface="Times New Roman" panose="02020603050405020304" pitchFamily="18" charset="0"/>
                <a:cs typeface="Times New Roman" panose="02020603050405020304" pitchFamily="18" charset="0"/>
              </a:rPr>
              <a:t>Document-based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C9B638-06FE-AB2E-0BDD-EABEA7E9DA3C}"/>
              </a:ext>
            </a:extLst>
          </p:cNvPr>
          <p:cNvSpPr>
            <a:spLocks noGrp="1"/>
          </p:cNvSpPr>
          <p:nvPr>
            <p:ph idx="1"/>
          </p:nvPr>
        </p:nvSpPr>
        <p:spPr>
          <a:xfrm>
            <a:off x="1295401" y="2556931"/>
            <a:ext cx="5842517" cy="4011819"/>
          </a:xfrm>
        </p:spPr>
        <p:txBody>
          <a:bodyPr>
            <a:normAutofit lnSpcReduction="10000"/>
          </a:bodyPr>
          <a:lstStyle/>
          <a:p>
            <a:pPr eaLnBrk="1" hangingPunct="1"/>
            <a:r>
              <a:rPr lang="en-GB" altLang="en-US" sz="2200" dirty="0"/>
              <a:t>Example: (MongoDB) document</a:t>
            </a:r>
          </a:p>
          <a:p>
            <a:pPr lvl="1" eaLnBrk="1" hangingPunct="1"/>
            <a:r>
              <a:rPr lang="en-GB" altLang="en-US" sz="2200" dirty="0"/>
              <a:t>{</a:t>
            </a:r>
            <a:r>
              <a:rPr lang="en-GB" altLang="en-US" sz="2200" dirty="0" err="1"/>
              <a:t>Name:"Jaroslav</a:t>
            </a:r>
            <a:r>
              <a:rPr lang="en-GB" altLang="en-US" sz="2200" dirty="0"/>
              <a:t>", </a:t>
            </a:r>
          </a:p>
          <a:p>
            <a:pPr lvl="2" eaLnBrk="1" hangingPunct="1">
              <a:buFont typeface="Wingdings" panose="05000000000000000000" pitchFamily="2" charset="2"/>
              <a:buNone/>
            </a:pPr>
            <a:r>
              <a:rPr lang="en-GB" altLang="en-US" sz="2200" dirty="0"/>
              <a:t>Address:"</a:t>
            </a:r>
            <a:r>
              <a:rPr lang="en-GB" altLang="en-US" sz="2200" dirty="0" err="1"/>
              <a:t>Malostranske</a:t>
            </a:r>
            <a:r>
              <a:rPr lang="en-GB" altLang="en-US" sz="2200" dirty="0"/>
              <a:t> </a:t>
            </a:r>
            <a:r>
              <a:rPr lang="en-GB" altLang="en-US" sz="2200" dirty="0" err="1"/>
              <a:t>nám</a:t>
            </a:r>
            <a:r>
              <a:rPr lang="en-GB" altLang="en-US" sz="2200" dirty="0"/>
              <a:t>. 25, 118 00 Praha 1”,</a:t>
            </a:r>
          </a:p>
          <a:p>
            <a:pPr lvl="2" eaLnBrk="1" hangingPunct="1">
              <a:buFont typeface="Wingdings" panose="05000000000000000000" pitchFamily="2" charset="2"/>
              <a:buNone/>
            </a:pPr>
            <a:r>
              <a:rPr lang="en-GB" altLang="en-US" sz="2200" dirty="0"/>
              <a:t>Grandchildren: {Claire: "7", Barbara: "6", "Magda: "3", "Kirsten: "1", "Otis: "3", Richard: "1“}</a:t>
            </a:r>
          </a:p>
          <a:p>
            <a:pPr lvl="2" eaLnBrk="1" hangingPunct="1">
              <a:buFont typeface="Wingdings" panose="05000000000000000000" pitchFamily="2" charset="2"/>
              <a:buNone/>
            </a:pPr>
            <a:r>
              <a:rPr lang="en-GB" altLang="en-US" sz="2200" dirty="0"/>
              <a:t>Phones: [ “123-456-7890”, “234-567-8963” ]</a:t>
            </a:r>
          </a:p>
          <a:p>
            <a:pPr lvl="2" eaLnBrk="1" hangingPunct="1">
              <a:buFont typeface="Wingdings" panose="05000000000000000000" pitchFamily="2" charset="2"/>
              <a:buNone/>
            </a:pPr>
            <a:r>
              <a:rPr lang="en-GB" altLang="en-US" sz="2200" dirty="0"/>
              <a:t>}</a:t>
            </a:r>
          </a:p>
          <a:p>
            <a:endParaRPr lang="en-IN" dirty="0"/>
          </a:p>
        </p:txBody>
      </p:sp>
    </p:spTree>
    <p:extLst>
      <p:ext uri="{BB962C8B-B14F-4D97-AF65-F5344CB8AC3E}">
        <p14:creationId xmlns:p14="http://schemas.microsoft.com/office/powerpoint/2010/main" val="2321008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C177-A3A1-30FB-B1C5-4A7D777084F3}"/>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Difference between Key-value store ad document store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9E5417-4A86-E816-3EBB-426C3CD0812C}"/>
              </a:ext>
            </a:extLst>
          </p:cNvPr>
          <p:cNvSpPr>
            <a:spLocks noGrp="1"/>
          </p:cNvSpPr>
          <p:nvPr>
            <p:ph idx="1"/>
          </p:nvPr>
        </p:nvSpPr>
        <p:spPr>
          <a:xfrm>
            <a:off x="1295401" y="2556932"/>
            <a:ext cx="9882672" cy="3993158"/>
          </a:xfrm>
        </p:spPr>
        <p:txBody>
          <a:bodyPr>
            <a:normAutofit fontScale="77500" lnSpcReduction="20000"/>
          </a:bodyPr>
          <a:lstStyle/>
          <a:p>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key difference</a:t>
            </a:r>
            <a:r>
              <a:rPr lang="en-US" sz="2600" dirty="0">
                <a:latin typeface="Times New Roman" panose="02020603050405020304" pitchFamily="18" charset="0"/>
                <a:cs typeface="Times New Roman" panose="02020603050405020304" pitchFamily="18" charset="0"/>
              </a:rPr>
              <a:t> between a </a:t>
            </a:r>
            <a:r>
              <a:rPr lang="en-US" sz="2600" b="1" dirty="0">
                <a:latin typeface="Times New Roman" panose="02020603050405020304" pitchFamily="18" charset="0"/>
                <a:cs typeface="Times New Roman" panose="02020603050405020304" pitchFamily="18" charset="0"/>
              </a:rPr>
              <a:t>key-value store</a:t>
            </a:r>
            <a:r>
              <a:rPr lang="en-US" sz="2600" dirty="0">
                <a:latin typeface="Times New Roman" panose="02020603050405020304" pitchFamily="18" charset="0"/>
                <a:cs typeface="Times New Roman" panose="02020603050405020304" pitchFamily="18" charset="0"/>
              </a:rPr>
              <a:t> and a </a:t>
            </a:r>
            <a:r>
              <a:rPr lang="en-US" sz="2600" b="1" dirty="0">
                <a:latin typeface="Times New Roman" panose="02020603050405020304" pitchFamily="18" charset="0"/>
                <a:cs typeface="Times New Roman" panose="02020603050405020304" pitchFamily="18" charset="0"/>
              </a:rPr>
              <a:t>document store</a:t>
            </a:r>
            <a:r>
              <a:rPr lang="en-US" sz="2600" dirty="0">
                <a:latin typeface="Times New Roman" panose="02020603050405020304" pitchFamily="18" charset="0"/>
                <a:cs typeface="Times New Roman" panose="02020603050405020304" pitchFamily="18" charset="0"/>
              </a:rPr>
              <a:t> is how they manage and query data:</a:t>
            </a:r>
          </a:p>
          <a:p>
            <a:pPr>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 a </a:t>
            </a:r>
            <a:r>
              <a:rPr lang="en-US" sz="2600" b="1" dirty="0">
                <a:latin typeface="Times New Roman" panose="02020603050405020304" pitchFamily="18" charset="0"/>
                <a:cs typeface="Times New Roman" panose="02020603050405020304" pitchFamily="18" charset="0"/>
              </a:rPr>
              <a:t>key-value store</a:t>
            </a:r>
            <a:r>
              <a:rPr lang="en-US" sz="2600" dirty="0">
                <a:latin typeface="Times New Roman" panose="02020603050405020304" pitchFamily="18" charset="0"/>
                <a:cs typeface="Times New Roman" panose="02020603050405020304" pitchFamily="18" charset="0"/>
              </a:rPr>
              <a:t>, data is stored as a simple pair: a </a:t>
            </a:r>
            <a:r>
              <a:rPr lang="en-US" sz="2600" b="1" dirty="0">
                <a:latin typeface="Times New Roman" panose="02020603050405020304" pitchFamily="18" charset="0"/>
                <a:cs typeface="Times New Roman" panose="02020603050405020304" pitchFamily="18" charset="0"/>
              </a:rPr>
              <a:t>key</a:t>
            </a:r>
            <a:r>
              <a:rPr lang="en-US" sz="2600" dirty="0">
                <a:latin typeface="Times New Roman" panose="02020603050405020304" pitchFamily="18" charset="0"/>
                <a:cs typeface="Times New Roman" panose="02020603050405020304" pitchFamily="18" charset="0"/>
              </a:rPr>
              <a:t> (unique identifier) and a </a:t>
            </a:r>
            <a:r>
              <a:rPr lang="en-US" sz="2600" b="1" dirty="0">
                <a:latin typeface="Times New Roman" panose="02020603050405020304" pitchFamily="18" charset="0"/>
                <a:cs typeface="Times New Roman" panose="02020603050405020304" pitchFamily="18" charset="0"/>
              </a:rPr>
              <a:t>value</a:t>
            </a:r>
            <a:r>
              <a:rPr lang="en-US" sz="2600" dirty="0">
                <a:latin typeface="Times New Roman" panose="02020603050405020304" pitchFamily="18" charset="0"/>
                <a:cs typeface="Times New Roman" panose="02020603050405020304" pitchFamily="18" charset="0"/>
              </a:rPr>
              <a:t> (data), without any additional information or structure. You can only retrieve data by the key, and there’s no built-in way to query based on the value or its contents.</a:t>
            </a:r>
          </a:p>
          <a:p>
            <a:pPr marL="742950" lvl="1" indent="-285750">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Example</a:t>
            </a:r>
            <a:r>
              <a:rPr lang="en-US" sz="2600" dirty="0">
                <a:latin typeface="Times New Roman" panose="02020603050405020304" pitchFamily="18" charset="0"/>
                <a:cs typeface="Times New Roman" panose="02020603050405020304" pitchFamily="18" charset="0"/>
              </a:rPr>
              <a:t>: A dictionary where you look up items only by their key, not by the data inside.</a:t>
            </a:r>
          </a:p>
          <a:p>
            <a:pPr>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 a </a:t>
            </a:r>
            <a:r>
              <a:rPr lang="en-US" sz="2600" b="1" dirty="0">
                <a:latin typeface="Times New Roman" panose="02020603050405020304" pitchFamily="18" charset="0"/>
                <a:cs typeface="Times New Roman" panose="02020603050405020304" pitchFamily="18" charset="0"/>
              </a:rPr>
              <a:t>document store</a:t>
            </a:r>
            <a:r>
              <a:rPr lang="en-US" sz="2600" dirty="0">
                <a:latin typeface="Times New Roman" panose="02020603050405020304" pitchFamily="18" charset="0"/>
                <a:cs typeface="Times New Roman" panose="02020603050405020304" pitchFamily="18" charset="0"/>
              </a:rPr>
              <a:t>, data is stored in more complex formats like </a:t>
            </a:r>
            <a:r>
              <a:rPr lang="en-US" sz="2600" b="1" dirty="0">
                <a:latin typeface="Times New Roman" panose="02020603050405020304" pitchFamily="18" charset="0"/>
                <a:cs typeface="Times New Roman" panose="02020603050405020304" pitchFamily="18" charset="0"/>
              </a:rPr>
              <a:t>JSON</a:t>
            </a:r>
            <a:r>
              <a:rPr lang="en-US" sz="2600" dirty="0">
                <a:latin typeface="Times New Roman" panose="02020603050405020304" pitchFamily="18" charset="0"/>
                <a:cs typeface="Times New Roman" panose="02020603050405020304" pitchFamily="18" charset="0"/>
              </a:rPr>
              <a:t>  where each document can have fields (attributes) and structures. These fields act as metadata, allowing you to query data based on the document's content (not just the key).</a:t>
            </a:r>
          </a:p>
          <a:p>
            <a:pPr marL="742950" lvl="1" indent="-285750">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Example</a:t>
            </a:r>
            <a:r>
              <a:rPr lang="en-US" sz="2600" dirty="0">
                <a:latin typeface="Times New Roman" panose="02020603050405020304" pitchFamily="18" charset="0"/>
                <a:cs typeface="Times New Roman" panose="02020603050405020304" pitchFamily="18" charset="0"/>
              </a:rPr>
              <a:t>: You can search for all documents where a "name" field is "John" or where a "price" is greater than 100.</a:t>
            </a:r>
          </a:p>
          <a:p>
            <a:endParaRPr lang="en-IN" dirty="0"/>
          </a:p>
        </p:txBody>
      </p:sp>
    </p:spTree>
    <p:extLst>
      <p:ext uri="{BB962C8B-B14F-4D97-AF65-F5344CB8AC3E}">
        <p14:creationId xmlns:p14="http://schemas.microsoft.com/office/powerpoint/2010/main" val="17150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7207E-211E-69D1-2F9F-6F15819C752D}"/>
              </a:ext>
            </a:extLst>
          </p:cNvPr>
          <p:cNvSpPr>
            <a:spLocks noGrp="1"/>
          </p:cNvSpPr>
          <p:nvPr>
            <p:ph type="title"/>
          </p:nvPr>
        </p:nvSpPr>
        <p:spPr/>
        <p:txBody>
          <a:bodyPr/>
          <a:lstStyle/>
          <a:p>
            <a:r>
              <a:rPr lang="en-GB" altLang="en-US" b="1" dirty="0">
                <a:latin typeface="Times New Roman" panose="02020603050405020304" pitchFamily="18" charset="0"/>
                <a:cs typeface="Times New Roman" panose="02020603050405020304" pitchFamily="18" charset="0"/>
              </a:rPr>
              <a:t>Column-based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B2C2C5-F78B-32C8-8A13-181EFB124266}"/>
              </a:ext>
            </a:extLst>
          </p:cNvPr>
          <p:cNvSpPr>
            <a:spLocks noGrp="1"/>
          </p:cNvSpPr>
          <p:nvPr>
            <p:ph idx="1"/>
          </p:nvPr>
        </p:nvSpPr>
        <p:spPr/>
        <p:txBody>
          <a:bodyPr>
            <a:normAutofit fontScale="92500"/>
          </a:bodyPr>
          <a:lstStyle/>
          <a:p>
            <a:pPr marL="182880" indent="-182880" eaLnBrk="1" fontAlgn="auto" hangingPunct="1">
              <a:spcAft>
                <a:spcPts val="0"/>
              </a:spcAft>
              <a:defRPr/>
            </a:pPr>
            <a:r>
              <a:rPr lang="en-GB" altLang="en-US" sz="2600" dirty="0">
                <a:latin typeface="Times New Roman" panose="02020603050405020304" pitchFamily="18" charset="0"/>
                <a:cs typeface="Times New Roman" panose="02020603050405020304" pitchFamily="18" charset="0"/>
              </a:rPr>
              <a:t>Based on Google’s </a:t>
            </a:r>
            <a:r>
              <a:rPr lang="en-GB" altLang="en-US" sz="2600" dirty="0" err="1">
                <a:latin typeface="Times New Roman" panose="02020603050405020304" pitchFamily="18" charset="0"/>
                <a:cs typeface="Times New Roman" panose="02020603050405020304" pitchFamily="18" charset="0"/>
              </a:rPr>
              <a:t>BigTable</a:t>
            </a:r>
            <a:r>
              <a:rPr lang="en-GB" altLang="en-US" sz="2600" dirty="0">
                <a:latin typeface="Times New Roman" panose="02020603050405020304" pitchFamily="18" charset="0"/>
                <a:cs typeface="Times New Roman" panose="02020603050405020304" pitchFamily="18" charset="0"/>
              </a:rPr>
              <a:t> paper</a:t>
            </a:r>
          </a:p>
          <a:p>
            <a:pPr marL="182880" indent="-182880" eaLnBrk="1" fontAlgn="auto" hangingPunct="1">
              <a:spcAft>
                <a:spcPts val="0"/>
              </a:spcAft>
              <a:defRPr/>
            </a:pPr>
            <a:r>
              <a:rPr lang="en-GB" altLang="en-US" sz="2600" dirty="0">
                <a:latin typeface="Times New Roman" panose="02020603050405020304" pitchFamily="18" charset="0"/>
                <a:cs typeface="Times New Roman" panose="02020603050405020304" pitchFamily="18" charset="0"/>
              </a:rPr>
              <a:t>Like column oriented relational databases (store data in column order) but with a twist</a:t>
            </a:r>
          </a:p>
          <a:p>
            <a:pPr marL="182880" indent="-182880" eaLnBrk="1" fontAlgn="auto" hangingPunct="1">
              <a:spcAft>
                <a:spcPts val="0"/>
              </a:spcAft>
              <a:defRPr/>
            </a:pPr>
            <a:r>
              <a:rPr lang="en-GB" altLang="en-US" sz="2600" dirty="0">
                <a:latin typeface="Times New Roman" panose="02020603050405020304" pitchFamily="18" charset="0"/>
                <a:cs typeface="Times New Roman" panose="02020603050405020304" pitchFamily="18" charset="0"/>
              </a:rPr>
              <a:t>Tables similarly to RDBMS, but handle semi-structured</a:t>
            </a:r>
          </a:p>
          <a:p>
            <a:pPr marL="182880" indent="-182880" eaLnBrk="1" fontAlgn="auto" hangingPunct="1">
              <a:spcAft>
                <a:spcPts val="0"/>
              </a:spcAft>
              <a:defRPr/>
            </a:pPr>
            <a:r>
              <a:rPr lang="en-GB" altLang="en-US" sz="2600" dirty="0">
                <a:latin typeface="Times New Roman" panose="02020603050405020304" pitchFamily="18" charset="0"/>
                <a:cs typeface="Times New Roman" panose="02020603050405020304" pitchFamily="18" charset="0"/>
              </a:rPr>
              <a:t>Data model: </a:t>
            </a:r>
          </a:p>
          <a:p>
            <a:pPr lvl="1" indent="-182880" eaLnBrk="1" fontAlgn="auto" hangingPunct="1">
              <a:spcAft>
                <a:spcPts val="0"/>
              </a:spcAft>
              <a:defRPr/>
            </a:pPr>
            <a:r>
              <a:rPr lang="en-GB" altLang="en-US" sz="2200" dirty="0">
                <a:latin typeface="Times New Roman" panose="02020603050405020304" pitchFamily="18" charset="0"/>
                <a:cs typeface="Times New Roman" panose="02020603050405020304" pitchFamily="18" charset="0"/>
              </a:rPr>
              <a:t>Collection of Column Families</a:t>
            </a:r>
          </a:p>
          <a:p>
            <a:pPr lvl="1" indent="-182880" eaLnBrk="1" fontAlgn="auto" hangingPunct="1">
              <a:spcAft>
                <a:spcPts val="0"/>
              </a:spcAft>
              <a:defRPr/>
            </a:pPr>
            <a:r>
              <a:rPr lang="en-GB" altLang="en-US" sz="2200" dirty="0">
                <a:latin typeface="Times New Roman" panose="02020603050405020304" pitchFamily="18" charset="0"/>
                <a:cs typeface="Times New Roman" panose="02020603050405020304" pitchFamily="18" charset="0"/>
                <a:sym typeface="Wingdings" panose="05000000000000000000" pitchFamily="2" charset="2"/>
              </a:rPr>
              <a:t>Column family = (key, value) where value = set of </a:t>
            </a:r>
            <a:r>
              <a:rPr lang="en-GB" altLang="en-US" sz="2200" b="1" dirty="0">
                <a:latin typeface="Times New Roman" panose="02020603050405020304" pitchFamily="18" charset="0"/>
                <a:cs typeface="Times New Roman" panose="02020603050405020304" pitchFamily="18" charset="0"/>
                <a:sym typeface="Wingdings" panose="05000000000000000000" pitchFamily="2" charset="2"/>
              </a:rPr>
              <a:t>related</a:t>
            </a:r>
            <a:r>
              <a:rPr lang="en-GB" altLang="en-US" sz="2200" dirty="0">
                <a:latin typeface="Times New Roman" panose="02020603050405020304" pitchFamily="18" charset="0"/>
                <a:cs typeface="Times New Roman" panose="02020603050405020304" pitchFamily="18" charset="0"/>
                <a:sym typeface="Wingdings" panose="05000000000000000000" pitchFamily="2" charset="2"/>
              </a:rPr>
              <a:t> columns (standard, super) </a:t>
            </a:r>
          </a:p>
          <a:p>
            <a:pPr lvl="1" indent="-182880" eaLnBrk="1" fontAlgn="auto" hangingPunct="1">
              <a:spcAft>
                <a:spcPts val="0"/>
              </a:spcAft>
              <a:defRPr/>
            </a:pPr>
            <a:r>
              <a:rPr lang="en-US" altLang="en-US" sz="2200" dirty="0">
                <a:latin typeface="Times New Roman" panose="02020603050405020304" pitchFamily="18" charset="0"/>
                <a:cs typeface="Times New Roman" panose="02020603050405020304" pitchFamily="18" charset="0"/>
              </a:rPr>
              <a:t>indexed by </a:t>
            </a:r>
            <a:r>
              <a:rPr lang="en-US" altLang="en-US" sz="2200" i="1" dirty="0">
                <a:latin typeface="Times New Roman" panose="02020603050405020304" pitchFamily="18" charset="0"/>
                <a:cs typeface="Times New Roman" panose="02020603050405020304" pitchFamily="18" charset="0"/>
              </a:rPr>
              <a:t>row key</a:t>
            </a:r>
            <a:r>
              <a:rPr lang="en-US" altLang="en-US" sz="2200" dirty="0">
                <a:latin typeface="Times New Roman" panose="02020603050405020304" pitchFamily="18" charset="0"/>
                <a:cs typeface="Times New Roman" panose="02020603050405020304" pitchFamily="18" charset="0"/>
              </a:rPr>
              <a:t>, </a:t>
            </a:r>
            <a:r>
              <a:rPr lang="en-US" altLang="en-US" sz="2200" i="1" dirty="0">
                <a:latin typeface="Times New Roman" panose="02020603050405020304" pitchFamily="18" charset="0"/>
                <a:cs typeface="Times New Roman" panose="02020603050405020304" pitchFamily="18" charset="0"/>
              </a:rPr>
              <a:t>column key </a:t>
            </a:r>
            <a:r>
              <a:rPr lang="en-US" altLang="en-US" sz="2200" dirty="0">
                <a:latin typeface="Times New Roman" panose="02020603050405020304" pitchFamily="18" charset="0"/>
                <a:cs typeface="Times New Roman" panose="02020603050405020304" pitchFamily="18" charset="0"/>
              </a:rPr>
              <a:t>and  </a:t>
            </a:r>
            <a:r>
              <a:rPr lang="en-US" altLang="en-US" sz="2200" i="1" dirty="0">
                <a:latin typeface="Times New Roman" panose="02020603050405020304" pitchFamily="18" charset="0"/>
                <a:cs typeface="Times New Roman" panose="02020603050405020304" pitchFamily="18" charset="0"/>
              </a:rPr>
              <a:t>timestamp </a:t>
            </a:r>
            <a:endParaRPr lang="en-GB" altLang="en-US" sz="2200" i="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79322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30C22-8C40-D2BA-18DE-9772C2FFD066}"/>
              </a:ext>
            </a:extLst>
          </p:cNvPr>
          <p:cNvSpPr>
            <a:spLocks noGrp="1"/>
          </p:cNvSpPr>
          <p:nvPr>
            <p:ph type="title"/>
          </p:nvPr>
        </p:nvSpPr>
        <p:spPr/>
        <p:txBody>
          <a:bodyPr/>
          <a:lstStyle/>
          <a:p>
            <a:r>
              <a:rPr lang="en-GB" altLang="en-US" b="1">
                <a:latin typeface="Times New Roman" panose="02020603050405020304" pitchFamily="18" charset="0"/>
                <a:cs typeface="Times New Roman" panose="02020603050405020304" pitchFamily="18" charset="0"/>
              </a:rPr>
              <a:t>Column-based</a:t>
            </a:r>
            <a:endParaRPr lang="en-IN" dirty="0"/>
          </a:p>
        </p:txBody>
      </p:sp>
      <p:pic>
        <p:nvPicPr>
          <p:cNvPr id="4" name="Picture 1">
            <a:extLst>
              <a:ext uri="{FF2B5EF4-FFF2-40B4-BE49-F238E27FC236}">
                <a16:creationId xmlns:a16="http://schemas.microsoft.com/office/drawing/2014/main" id="{456F19CE-47D3-B6B0-7935-42F6E371FF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0576" t="17171" r="62781" b="62572"/>
          <a:stretch>
            <a:fillRect/>
          </a:stretch>
        </p:blipFill>
        <p:spPr bwMode="auto">
          <a:xfrm>
            <a:off x="2454103" y="2688080"/>
            <a:ext cx="864331" cy="1481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a:extLst>
              <a:ext uri="{FF2B5EF4-FFF2-40B4-BE49-F238E27FC236}">
                <a16:creationId xmlns:a16="http://schemas.microsoft.com/office/drawing/2014/main" id="{955B4820-8541-5C71-28E2-A25B996334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549" t="17134" r="37520" b="60632"/>
          <a:stretch>
            <a:fillRect/>
          </a:stretch>
        </p:blipFill>
        <p:spPr bwMode="auto">
          <a:xfrm>
            <a:off x="6303639" y="2565972"/>
            <a:ext cx="2743200" cy="1323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1">
            <a:extLst>
              <a:ext uri="{FF2B5EF4-FFF2-40B4-BE49-F238E27FC236}">
                <a16:creationId xmlns:a16="http://schemas.microsoft.com/office/drawing/2014/main" id="{CBC4F942-03D1-37E3-3F5B-2408B2AED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264" t="15195" r="28954" b="58298"/>
          <a:stretch>
            <a:fillRect/>
          </a:stretch>
        </p:blipFill>
        <p:spPr bwMode="auto">
          <a:xfrm>
            <a:off x="2577244" y="4223895"/>
            <a:ext cx="2106613" cy="167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a:extLst>
              <a:ext uri="{FF2B5EF4-FFF2-40B4-BE49-F238E27FC236}">
                <a16:creationId xmlns:a16="http://schemas.microsoft.com/office/drawing/2014/main" id="{94C8DCF3-DA40-8ABA-6E90-FC49BF6E7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869" t="54167" r="25117" b="14224"/>
          <a:stretch>
            <a:fillRect/>
          </a:stretch>
        </p:blipFill>
        <p:spPr bwMode="auto">
          <a:xfrm>
            <a:off x="5788023" y="4169920"/>
            <a:ext cx="5108575" cy="1779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4306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2B491-AF1E-4A76-D408-D91FF42AB719}"/>
              </a:ext>
            </a:extLst>
          </p:cNvPr>
          <p:cNvSpPr>
            <a:spLocks noGrp="1"/>
          </p:cNvSpPr>
          <p:nvPr>
            <p:ph type="title"/>
          </p:nvPr>
        </p:nvSpPr>
        <p:spPr/>
        <p:txBody>
          <a:bodyPr/>
          <a:lstStyle/>
          <a:p>
            <a:r>
              <a:rPr lang="en-GB" altLang="en-US" b="1" dirty="0">
                <a:latin typeface="Times New Roman" panose="02020603050405020304" pitchFamily="18" charset="0"/>
                <a:cs typeface="Times New Roman" panose="02020603050405020304" pitchFamily="18" charset="0"/>
              </a:rPr>
              <a:t>Graph-based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C93E8A-458B-4EA6-5F71-66F5168EB398}"/>
              </a:ext>
            </a:extLst>
          </p:cNvPr>
          <p:cNvSpPr>
            <a:spLocks noGrp="1"/>
          </p:cNvSpPr>
          <p:nvPr>
            <p:ph idx="1"/>
          </p:nvPr>
        </p:nvSpPr>
        <p:spPr>
          <a:xfrm>
            <a:off x="1295401" y="2556932"/>
            <a:ext cx="6318379" cy="3318936"/>
          </a:xfrm>
        </p:spPr>
        <p:txBody>
          <a:bodyPr>
            <a:normAutofit fontScale="92500" lnSpcReduction="20000"/>
          </a:bodyPr>
          <a:lstStyle/>
          <a:p>
            <a:pPr eaLnBrk="1" hangingPunct="1"/>
            <a:r>
              <a:rPr lang="en-US" altLang="en-US" dirty="0">
                <a:latin typeface="Times New Roman" panose="02020603050405020304" pitchFamily="18" charset="0"/>
                <a:cs typeface="Times New Roman" panose="02020603050405020304" pitchFamily="18" charset="0"/>
              </a:rPr>
              <a:t>Focus on modeling the structure of data (</a:t>
            </a:r>
            <a:r>
              <a:rPr lang="en-US" altLang="en-US" i="1" dirty="0">
                <a:latin typeface="Times New Roman" panose="02020603050405020304" pitchFamily="18" charset="0"/>
                <a:cs typeface="Times New Roman" panose="02020603050405020304" pitchFamily="18" charset="0"/>
              </a:rPr>
              <a:t>interconnectivity</a:t>
            </a:r>
            <a:r>
              <a:rPr lang="en-US" altLang="en-US" dirty="0">
                <a:latin typeface="Times New Roman" panose="02020603050405020304" pitchFamily="18" charset="0"/>
                <a:cs typeface="Times New Roman" panose="02020603050405020304" pitchFamily="18" charset="0"/>
              </a:rPr>
              <a:t>)</a:t>
            </a:r>
          </a:p>
          <a:p>
            <a:pPr eaLnBrk="1" hangingPunct="1"/>
            <a:r>
              <a:rPr lang="en-US" altLang="en-US" dirty="0">
                <a:latin typeface="Times New Roman" panose="02020603050405020304" pitchFamily="18" charset="0"/>
                <a:cs typeface="Times New Roman" panose="02020603050405020304" pitchFamily="18" charset="0"/>
              </a:rPr>
              <a:t>Scales to the complexity of data</a:t>
            </a:r>
          </a:p>
          <a:p>
            <a:pPr eaLnBrk="1" hangingPunct="1"/>
            <a:r>
              <a:rPr lang="en-US" altLang="en-US" dirty="0">
                <a:latin typeface="Times New Roman" panose="02020603050405020304" pitchFamily="18" charset="0"/>
                <a:cs typeface="Times New Roman" panose="02020603050405020304" pitchFamily="18" charset="0"/>
              </a:rPr>
              <a:t>Inspired by mathematical Graph Theory (G=(E,V)) </a:t>
            </a:r>
          </a:p>
          <a:p>
            <a:pPr eaLnBrk="1" hangingPunct="1"/>
            <a:r>
              <a:rPr lang="en-US" altLang="en-US" dirty="0">
                <a:latin typeface="Times New Roman" panose="02020603050405020304" pitchFamily="18" charset="0"/>
                <a:cs typeface="Times New Roman" panose="02020603050405020304" pitchFamily="18" charset="0"/>
              </a:rPr>
              <a:t>Data model: </a:t>
            </a:r>
          </a:p>
          <a:p>
            <a:pPr lvl="1" eaLnBrk="1" hangingPunct="1"/>
            <a:r>
              <a:rPr lang="en-US" altLang="en-US" dirty="0">
                <a:latin typeface="Times New Roman" panose="02020603050405020304" pitchFamily="18" charset="0"/>
                <a:cs typeface="Times New Roman" panose="02020603050405020304" pitchFamily="18" charset="0"/>
              </a:rPr>
              <a:t>(Property Graph) nodes and edges</a:t>
            </a:r>
          </a:p>
          <a:p>
            <a:pPr lvl="2" eaLnBrk="1" hangingPunct="1"/>
            <a:r>
              <a:rPr lang="en-US" altLang="en-US" dirty="0">
                <a:latin typeface="Times New Roman" panose="02020603050405020304" pitchFamily="18" charset="0"/>
                <a:cs typeface="Times New Roman" panose="02020603050405020304" pitchFamily="18" charset="0"/>
              </a:rPr>
              <a:t>Nodes may have properties  (including ID)</a:t>
            </a:r>
          </a:p>
          <a:p>
            <a:pPr lvl="2" eaLnBrk="1" hangingPunct="1"/>
            <a:r>
              <a:rPr lang="en-US" altLang="en-US" dirty="0">
                <a:latin typeface="Times New Roman" panose="02020603050405020304" pitchFamily="18" charset="0"/>
                <a:cs typeface="Times New Roman" panose="02020603050405020304" pitchFamily="18" charset="0"/>
              </a:rPr>
              <a:t>Edges may have labels or roles</a:t>
            </a:r>
          </a:p>
          <a:p>
            <a:pPr lvl="1" eaLnBrk="1" hangingPunct="1"/>
            <a:r>
              <a:rPr lang="en-US" altLang="en-US" dirty="0">
                <a:latin typeface="Times New Roman" panose="02020603050405020304" pitchFamily="18" charset="0"/>
                <a:cs typeface="Times New Roman" panose="02020603050405020304" pitchFamily="18" charset="0"/>
              </a:rPr>
              <a:t>Key-value pairs on both</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C226806-7A38-6D81-4649-17A7CB7AC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0394" t="15366" r="24377" b="58333"/>
          <a:stretch>
            <a:fillRect/>
          </a:stretch>
        </p:blipFill>
        <p:spPr bwMode="auto">
          <a:xfrm>
            <a:off x="8831912" y="2499826"/>
            <a:ext cx="1804987"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a:extLst>
              <a:ext uri="{FF2B5EF4-FFF2-40B4-BE49-F238E27FC236}">
                <a16:creationId xmlns:a16="http://schemas.microsoft.com/office/drawing/2014/main" id="{BE575129-1BB8-1A3E-FCB3-096B05029E3B}"/>
              </a:ext>
            </a:extLst>
          </p:cNvPr>
          <p:cNvSpPr txBox="1"/>
          <p:nvPr/>
        </p:nvSpPr>
        <p:spPr>
          <a:xfrm>
            <a:off x="7613779" y="4286638"/>
            <a:ext cx="3918857" cy="2215991"/>
          </a:xfrm>
          <a:prstGeom prst="rect">
            <a:avLst/>
          </a:prstGeom>
          <a:noFill/>
        </p:spPr>
        <p:txBody>
          <a:bodyPr wrap="square" rtlCol="0">
            <a:spAutoFit/>
          </a:bodyPr>
          <a:lstStyle/>
          <a:p>
            <a:pPr eaLnBrk="1" hangingPunct="1"/>
            <a:r>
              <a:rPr lang="en-US" altLang="en-US" sz="2000" dirty="0">
                <a:latin typeface="Times New Roman" panose="02020603050405020304" pitchFamily="18" charset="0"/>
                <a:cs typeface="Times New Roman" panose="02020603050405020304" pitchFamily="18" charset="0"/>
              </a:rPr>
              <a:t>Interfaces and query languages vary</a:t>
            </a:r>
          </a:p>
          <a:p>
            <a:pPr eaLnBrk="1" hangingPunct="1"/>
            <a:r>
              <a:rPr lang="en-US" altLang="en-US" sz="2000" i="1" dirty="0">
                <a:latin typeface="Times New Roman" panose="02020603050405020304" pitchFamily="18" charset="0"/>
                <a:cs typeface="Times New Roman" panose="02020603050405020304" pitchFamily="18" charset="0"/>
              </a:rPr>
              <a:t>Single-step</a:t>
            </a:r>
            <a:r>
              <a:rPr lang="en-US" altLang="en-US" sz="2000" dirty="0">
                <a:latin typeface="Times New Roman" panose="02020603050405020304" pitchFamily="18" charset="0"/>
                <a:cs typeface="Times New Roman" panose="02020603050405020304" pitchFamily="18" charset="0"/>
              </a:rPr>
              <a:t> vs </a:t>
            </a:r>
            <a:r>
              <a:rPr lang="en-US" altLang="en-US" sz="2000" i="1" dirty="0">
                <a:latin typeface="Times New Roman" panose="02020603050405020304" pitchFamily="18" charset="0"/>
                <a:cs typeface="Times New Roman" panose="02020603050405020304" pitchFamily="18" charset="0"/>
              </a:rPr>
              <a:t>path expressions </a:t>
            </a:r>
            <a:r>
              <a:rPr lang="en-US" altLang="en-US" sz="2000" dirty="0">
                <a:latin typeface="Times New Roman" panose="02020603050405020304" pitchFamily="18" charset="0"/>
                <a:cs typeface="Times New Roman" panose="02020603050405020304" pitchFamily="18" charset="0"/>
              </a:rPr>
              <a:t>vs </a:t>
            </a:r>
            <a:r>
              <a:rPr lang="en-US" altLang="en-US" sz="2000" i="1" dirty="0">
                <a:latin typeface="Times New Roman" panose="02020603050405020304" pitchFamily="18" charset="0"/>
                <a:cs typeface="Times New Roman" panose="02020603050405020304" pitchFamily="18" charset="0"/>
              </a:rPr>
              <a:t>full recursion</a:t>
            </a:r>
          </a:p>
          <a:p>
            <a:pPr eaLnBrk="1" hangingPunct="1"/>
            <a:r>
              <a:rPr lang="en-US" altLang="en-US" sz="2000" dirty="0">
                <a:latin typeface="Times New Roman" panose="02020603050405020304" pitchFamily="18" charset="0"/>
                <a:cs typeface="Times New Roman" panose="02020603050405020304" pitchFamily="18" charset="0"/>
              </a:rPr>
              <a:t>Example:</a:t>
            </a:r>
          </a:p>
          <a:p>
            <a:pPr lvl="1" eaLnBrk="1" hangingPunct="1"/>
            <a:r>
              <a:rPr lang="en-US" altLang="en-US" sz="2000" dirty="0">
                <a:latin typeface="Times New Roman" panose="02020603050405020304" pitchFamily="18" charset="0"/>
                <a:cs typeface="Times New Roman" panose="02020603050405020304" pitchFamily="18" charset="0"/>
              </a:rPr>
              <a:t>Neo4j, </a:t>
            </a:r>
            <a:r>
              <a:rPr lang="en-US" altLang="en-US" sz="2000" dirty="0" err="1">
                <a:latin typeface="Times New Roman" panose="02020603050405020304" pitchFamily="18" charset="0"/>
                <a:cs typeface="Times New Roman" panose="02020603050405020304" pitchFamily="18" charset="0"/>
              </a:rPr>
              <a:t>FlockDB</a:t>
            </a:r>
            <a:r>
              <a:rPr lang="en-US" altLang="en-US" sz="2000" dirty="0">
                <a:latin typeface="Times New Roman" panose="02020603050405020304" pitchFamily="18" charset="0"/>
                <a:cs typeface="Times New Roman" panose="02020603050405020304" pitchFamily="18" charset="0"/>
              </a:rPr>
              <a:t>, Pregel, </a:t>
            </a:r>
            <a:r>
              <a:rPr lang="en-US" altLang="en-US" sz="2000" dirty="0" err="1">
                <a:latin typeface="Times New Roman" panose="02020603050405020304" pitchFamily="18" charset="0"/>
                <a:cs typeface="Times New Roman" panose="02020603050405020304" pitchFamily="18" charset="0"/>
              </a:rPr>
              <a:t>InfoGrid</a:t>
            </a:r>
            <a:r>
              <a:rPr lang="en-US" altLang="en-US" sz="2000"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3709476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BB9A-5B58-0C7F-16B5-699D581908B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Graph Databases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AE5329-7711-2675-A975-28E34C539A24}"/>
              </a:ext>
            </a:extLst>
          </p:cNvPr>
          <p:cNvSpPr>
            <a:spLocks noGrp="1"/>
          </p:cNvSpPr>
          <p:nvPr>
            <p:ph idx="1"/>
          </p:nvPr>
        </p:nvSpPr>
        <p:spPr>
          <a:xfrm>
            <a:off x="1295401" y="2556932"/>
            <a:ext cx="4256313" cy="3228048"/>
          </a:xfrm>
        </p:spPr>
        <p:txBody>
          <a:bodyPr>
            <a:normAutofit fontScale="92500" lnSpcReduction="10000"/>
          </a:bodyPr>
          <a:lstStyle/>
          <a:p>
            <a:r>
              <a:rPr lang="en-US" sz="2400" dirty="0">
                <a:solidFill>
                  <a:schemeClr val="tx1"/>
                </a:solidFill>
                <a:latin typeface="Times New Roman" panose="02020603050405020304" pitchFamily="18" charset="0"/>
                <a:cs typeface="Times New Roman" panose="02020603050405020304" pitchFamily="18" charset="0"/>
              </a:rPr>
              <a:t>Data are represented as vertices and edges</a:t>
            </a:r>
          </a:p>
          <a:p>
            <a:pPr>
              <a:buFont typeface="Wingdings" pitchFamily="2" charset="2"/>
              <a:buChar char="§"/>
            </a:pPr>
            <a:r>
              <a:rPr lang="en-US" sz="2400" dirty="0">
                <a:solidFill>
                  <a:schemeClr val="tx1"/>
                </a:solidFill>
                <a:latin typeface="Times New Roman" panose="02020603050405020304" pitchFamily="18" charset="0"/>
                <a:cs typeface="Times New Roman" panose="02020603050405020304" pitchFamily="18" charset="0"/>
              </a:rPr>
              <a:t>Graph databases are powerful for graph-like queries (e.g., find the shortest path between two elements)</a:t>
            </a:r>
          </a:p>
          <a:p>
            <a:pPr>
              <a:buFont typeface="Wingdings" pitchFamily="2" charset="2"/>
              <a:buChar char="§"/>
            </a:pPr>
            <a:endParaRPr lang="en-US" sz="2400"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
            </a:pPr>
            <a:r>
              <a:rPr lang="en-US" sz="2400" dirty="0">
                <a:solidFill>
                  <a:schemeClr val="tx1"/>
                </a:solidFill>
                <a:latin typeface="Times New Roman" panose="02020603050405020304" pitchFamily="18" charset="0"/>
                <a:cs typeface="Times New Roman" panose="02020603050405020304" pitchFamily="18" charset="0"/>
              </a:rPr>
              <a:t>E.g., Neo4j and </a:t>
            </a:r>
            <a:r>
              <a:rPr lang="en-US" sz="2400" dirty="0" err="1">
                <a:solidFill>
                  <a:schemeClr val="tx1"/>
                </a:solidFill>
                <a:latin typeface="Times New Roman" panose="02020603050405020304" pitchFamily="18" charset="0"/>
                <a:cs typeface="Times New Roman" panose="02020603050405020304" pitchFamily="18" charset="0"/>
              </a:rPr>
              <a:t>VertexDB</a:t>
            </a:r>
            <a:endParaRPr 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8E90DB76-52ED-E99E-EFF1-BA3E6E4B82A6}"/>
              </a:ext>
            </a:extLst>
          </p:cNvPr>
          <p:cNvPicPr>
            <a:picLocks noChangeAspect="1"/>
          </p:cNvPicPr>
          <p:nvPr/>
        </p:nvPicPr>
        <p:blipFill>
          <a:blip r:embed="rId2"/>
          <a:stretch>
            <a:fillRect/>
          </a:stretch>
        </p:blipFill>
        <p:spPr>
          <a:xfrm>
            <a:off x="5967704" y="2470766"/>
            <a:ext cx="4928894" cy="3598450"/>
          </a:xfrm>
          <a:prstGeom prst="rect">
            <a:avLst/>
          </a:prstGeom>
        </p:spPr>
      </p:pic>
    </p:spTree>
    <p:extLst>
      <p:ext uri="{BB962C8B-B14F-4D97-AF65-F5344CB8AC3E}">
        <p14:creationId xmlns:p14="http://schemas.microsoft.com/office/powerpoint/2010/main" val="283291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DF64B-61C2-38F9-93A5-AC82C554363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NoSQL Data Models In Detail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CAE208-F984-D781-59A8-49572A299283}"/>
              </a:ext>
            </a:extLst>
          </p:cNvPr>
          <p:cNvSpPr>
            <a:spLocks noGrp="1"/>
          </p:cNvSpPr>
          <p:nvPr>
            <p:ph idx="1"/>
          </p:nvPr>
        </p:nvSpPr>
        <p:spPr/>
        <p:txBody>
          <a:bodyPr/>
          <a:lstStyle/>
          <a:p>
            <a:r>
              <a:rPr lang="en-US" sz="2200" dirty="0">
                <a:latin typeface="Times New Roman" panose="02020603050405020304" pitchFamily="18" charset="0"/>
                <a:cs typeface="Times New Roman" panose="02020603050405020304" pitchFamily="18" charset="0"/>
              </a:rPr>
              <a:t>Different Types of NoSQL Data Models are :</a:t>
            </a:r>
          </a:p>
          <a:p>
            <a:pPr marL="914400" lvl="1" indent="-457200">
              <a:buFont typeface="+mj-lt"/>
              <a:buAutoNum type="arabicPeriod"/>
            </a:pPr>
            <a:r>
              <a:rPr lang="en-IN" sz="2200" b="0" i="0" u="none" strike="noStrike" baseline="0" dirty="0">
                <a:solidFill>
                  <a:srgbClr val="131313"/>
                </a:solidFill>
                <a:latin typeface="Times New Roman" panose="02020603050405020304" pitchFamily="18" charset="0"/>
                <a:cs typeface="Times New Roman" panose="02020603050405020304" pitchFamily="18" charset="0"/>
              </a:rPr>
              <a:t>Key-value stores</a:t>
            </a:r>
          </a:p>
          <a:p>
            <a:pPr marL="914400" lvl="1" indent="-457200">
              <a:buFont typeface="+mj-lt"/>
              <a:buAutoNum type="arabicPeriod"/>
            </a:pPr>
            <a:r>
              <a:rPr lang="en-IN" sz="2200" b="0" i="0" u="none" strike="noStrike" baseline="0" dirty="0">
                <a:solidFill>
                  <a:srgbClr val="151515"/>
                </a:solidFill>
                <a:latin typeface="Times New Roman" panose="02020603050405020304" pitchFamily="18" charset="0"/>
                <a:cs typeface="Times New Roman" panose="02020603050405020304" pitchFamily="18" charset="0"/>
              </a:rPr>
              <a:t>Document stores</a:t>
            </a:r>
          </a:p>
          <a:p>
            <a:pPr marL="914400" lvl="1" indent="-457200">
              <a:buFont typeface="+mj-lt"/>
              <a:buAutoNum type="arabicPeriod"/>
            </a:pPr>
            <a:r>
              <a:rPr lang="en-IN" sz="2200" b="0" i="0" u="none" strike="noStrike" baseline="0" dirty="0">
                <a:solidFill>
                  <a:srgbClr val="141414"/>
                </a:solidFill>
                <a:latin typeface="Times New Roman" panose="02020603050405020304" pitchFamily="18" charset="0"/>
                <a:cs typeface="Times New Roman" panose="02020603050405020304" pitchFamily="18" charset="0"/>
              </a:rPr>
              <a:t>Column stores</a:t>
            </a:r>
          </a:p>
          <a:p>
            <a:pPr marL="914400" lvl="1" indent="-457200">
              <a:buFont typeface="+mj-lt"/>
              <a:buAutoNum type="arabicPeriod"/>
            </a:pPr>
            <a:r>
              <a:rPr lang="en-IN" sz="2200" b="0" i="0" u="none" strike="noStrike" baseline="0" dirty="0">
                <a:solidFill>
                  <a:srgbClr val="111111"/>
                </a:solidFill>
                <a:latin typeface="Times New Roman" panose="02020603050405020304" pitchFamily="18" charset="0"/>
                <a:cs typeface="Times New Roman" panose="02020603050405020304" pitchFamily="18" charset="0"/>
              </a:rPr>
              <a:t>Graph Base</a:t>
            </a: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788281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552CC-C126-EBD4-580A-6E386D73EA7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Advantages of NoSQL Databases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69C6D6-098E-D416-829E-3AB0800EFFC7}"/>
              </a:ext>
            </a:extLst>
          </p:cNvPr>
          <p:cNvSpPr>
            <a:spLocks noGrp="1"/>
          </p:cNvSpPr>
          <p:nvPr>
            <p:ph idx="1"/>
          </p:nvPr>
        </p:nvSpPr>
        <p:spPr>
          <a:xfrm>
            <a:off x="1295402" y="2397967"/>
            <a:ext cx="9601196" cy="4217437"/>
          </a:xfrm>
        </p:spPr>
        <p:txBody>
          <a:bodyPr>
            <a:normAutofit/>
          </a:bodyPr>
          <a:lstStyle/>
          <a:p>
            <a:pPr marL="457200" indent="-457200">
              <a:buFont typeface="+mj-lt"/>
              <a:buAutoNum type="arabicPeriod"/>
            </a:pPr>
            <a:r>
              <a:rPr lang="en-US" dirty="0">
                <a:latin typeface="Times New Roman" panose="02020603050405020304" pitchFamily="18" charset="0"/>
                <a:cs typeface="Times New Roman" panose="02020603050405020304" pitchFamily="18" charset="0"/>
              </a:rPr>
              <a:t>Scalability</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Flexibility in schema</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High availability and fault tolerance</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Better performance for certain use cases</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Handling large volumes of data</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Distributed architecture</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Cost effectiveness</a:t>
            </a:r>
          </a:p>
        </p:txBody>
      </p:sp>
    </p:spTree>
    <p:extLst>
      <p:ext uri="{BB962C8B-B14F-4D97-AF65-F5344CB8AC3E}">
        <p14:creationId xmlns:p14="http://schemas.microsoft.com/office/powerpoint/2010/main" val="1804198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708E1-229E-E315-F7D7-115415C11D5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Advantages of NoSQL Databases</a:t>
            </a:r>
            <a:endParaRPr lang="en-IN" dirty="0"/>
          </a:p>
        </p:txBody>
      </p:sp>
      <p:sp>
        <p:nvSpPr>
          <p:cNvPr id="3" name="Content Placeholder 2">
            <a:extLst>
              <a:ext uri="{FF2B5EF4-FFF2-40B4-BE49-F238E27FC236}">
                <a16:creationId xmlns:a16="http://schemas.microsoft.com/office/drawing/2014/main" id="{AF1DEDD3-2B1C-1279-0B58-A5453D63E819}"/>
              </a:ext>
            </a:extLst>
          </p:cNvPr>
          <p:cNvSpPr>
            <a:spLocks noGrp="1"/>
          </p:cNvSpPr>
          <p:nvPr>
            <p:ph idx="1"/>
          </p:nvPr>
        </p:nvSpPr>
        <p:spPr/>
        <p:txBody>
          <a:bodyPr/>
          <a:lstStyle/>
          <a:p>
            <a:pPr marL="457200" indent="-457200">
              <a:buFont typeface="+mj-lt"/>
              <a:buAutoNum type="arabicPeriod"/>
            </a:pPr>
            <a:r>
              <a:rPr lang="en-IN" dirty="0">
                <a:latin typeface="Times New Roman" panose="02020603050405020304" pitchFamily="18" charset="0"/>
                <a:cs typeface="Times New Roman" panose="02020603050405020304" pitchFamily="18" charset="0"/>
              </a:rPr>
              <a:t>Support for cloud and modern application</a:t>
            </a:r>
          </a:p>
          <a:p>
            <a:pPr marL="457200" indent="-457200">
              <a:buFont typeface="+mj-lt"/>
              <a:buAutoNum type="arabicPeriod"/>
            </a:pPr>
            <a:r>
              <a:rPr lang="en-IN" dirty="0">
                <a:latin typeface="Times New Roman" panose="02020603050405020304" pitchFamily="18" charset="0"/>
                <a:cs typeface="Times New Roman" panose="02020603050405020304" pitchFamily="18" charset="0"/>
              </a:rPr>
              <a:t>Fast development cycle</a:t>
            </a:r>
          </a:p>
          <a:p>
            <a:pPr marL="457200" indent="-457200">
              <a:buFont typeface="+mj-lt"/>
              <a:buAutoNum type="arabicPeriod"/>
            </a:pPr>
            <a:r>
              <a:rPr lang="en-IN" dirty="0">
                <a:latin typeface="Times New Roman" panose="02020603050405020304" pitchFamily="18" charset="0"/>
                <a:cs typeface="Times New Roman" panose="02020603050405020304" pitchFamily="18" charset="0"/>
              </a:rPr>
              <a:t>Handling diverse data types</a:t>
            </a:r>
          </a:p>
          <a:p>
            <a:endParaRPr lang="en-IN" dirty="0"/>
          </a:p>
        </p:txBody>
      </p:sp>
    </p:spTree>
    <p:extLst>
      <p:ext uri="{BB962C8B-B14F-4D97-AF65-F5344CB8AC3E}">
        <p14:creationId xmlns:p14="http://schemas.microsoft.com/office/powerpoint/2010/main" val="1564860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22E56-664F-2877-52D7-99BC15B3BDA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SQL Vs NoSQL</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7320448-589F-CC73-733F-D9A5A5EF2718}"/>
              </a:ext>
            </a:extLst>
          </p:cNvPr>
          <p:cNvGraphicFramePr>
            <a:graphicFrameLocks noGrp="1"/>
          </p:cNvGraphicFramePr>
          <p:nvPr>
            <p:ph idx="1"/>
            <p:extLst>
              <p:ext uri="{D42A27DB-BD31-4B8C-83A1-F6EECF244321}">
                <p14:modId xmlns:p14="http://schemas.microsoft.com/office/powerpoint/2010/main" val="2096435928"/>
              </p:ext>
            </p:extLst>
          </p:nvPr>
        </p:nvGraphicFramePr>
        <p:xfrm>
          <a:off x="1296955" y="2081602"/>
          <a:ext cx="9909109" cy="4389120"/>
        </p:xfrm>
        <a:graphic>
          <a:graphicData uri="http://schemas.openxmlformats.org/drawingml/2006/table">
            <a:tbl>
              <a:tblPr firstRow="1" bandRow="1">
                <a:tableStyleId>{5C22544A-7EE6-4342-B048-85BDC9FD1C3A}</a:tableStyleId>
              </a:tblPr>
              <a:tblGrid>
                <a:gridCol w="830425">
                  <a:extLst>
                    <a:ext uri="{9D8B030D-6E8A-4147-A177-3AD203B41FA5}">
                      <a16:colId xmlns:a16="http://schemas.microsoft.com/office/drawing/2014/main" val="3574718060"/>
                    </a:ext>
                  </a:extLst>
                </a:gridCol>
                <a:gridCol w="3916095">
                  <a:extLst>
                    <a:ext uri="{9D8B030D-6E8A-4147-A177-3AD203B41FA5}">
                      <a16:colId xmlns:a16="http://schemas.microsoft.com/office/drawing/2014/main" val="82913795"/>
                    </a:ext>
                  </a:extLst>
                </a:gridCol>
                <a:gridCol w="5162589">
                  <a:extLst>
                    <a:ext uri="{9D8B030D-6E8A-4147-A177-3AD203B41FA5}">
                      <a16:colId xmlns:a16="http://schemas.microsoft.com/office/drawing/2014/main" val="1336203691"/>
                    </a:ext>
                  </a:extLst>
                </a:gridCol>
              </a:tblGrid>
              <a:tr h="338162">
                <a:tc>
                  <a:txBody>
                    <a:bodyPr/>
                    <a:lstStyle/>
                    <a:p>
                      <a:r>
                        <a:rPr lang="en-US" dirty="0">
                          <a:latin typeface="Times New Roman" panose="02020603050405020304" pitchFamily="18" charset="0"/>
                          <a:cs typeface="Times New Roman" panose="02020603050405020304" pitchFamily="18" charset="0"/>
                        </a:rPr>
                        <a:t>No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NoSQL</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2759792"/>
                  </a:ext>
                </a:extLst>
              </a:tr>
              <a:tr h="591783">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 are primarily called as relational databases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NoSQL database are primarily called as non-relational or distributed database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0233223"/>
                  </a:ext>
                </a:extLst>
              </a:tr>
              <a:tr h="845404">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 databases are table based databases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NoSQL databases are document based, key-value pairs, graph databases or wide-column stores.</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2688168"/>
                  </a:ext>
                </a:extLst>
              </a:tr>
              <a:tr h="845404">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 databases have predefined schema</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NoSQL databases have dynamic schema for unstructured data.</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2680869"/>
                  </a:ext>
                </a:extLst>
              </a:tr>
              <a:tr h="338162">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 databases are vertically scalable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NoSQL databases are horizontally scalable.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5517272"/>
                  </a:ext>
                </a:extLst>
              </a:tr>
              <a:tr h="1099026">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 databases uses SQL (structured query language) for defining and manipulating the data</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NoSQL database, queries are focused on collection of documents. Sometimes it is also called as </a:t>
                      </a:r>
                      <a:r>
                        <a:rPr lang="en-US" dirty="0" err="1">
                          <a:latin typeface="Times New Roman" panose="02020603050405020304" pitchFamily="18" charset="0"/>
                          <a:cs typeface="Times New Roman" panose="02020603050405020304" pitchFamily="18" charset="0"/>
                        </a:rPr>
                        <a:t>UnQL</a:t>
                      </a:r>
                      <a:r>
                        <a:rPr lang="en-US" dirty="0">
                          <a:latin typeface="Times New Roman" panose="02020603050405020304" pitchFamily="18" charset="0"/>
                          <a:cs typeface="Times New Roman" panose="02020603050405020304" pitchFamily="18" charset="0"/>
                        </a:rPr>
                        <a:t> (Unstructured Query Language).</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40478255"/>
                  </a:ext>
                </a:extLst>
              </a:tr>
            </a:tbl>
          </a:graphicData>
        </a:graphic>
      </p:graphicFrame>
    </p:spTree>
    <p:extLst>
      <p:ext uri="{BB962C8B-B14F-4D97-AF65-F5344CB8AC3E}">
        <p14:creationId xmlns:p14="http://schemas.microsoft.com/office/powerpoint/2010/main" val="716438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A0C16-BC12-D63C-EF0F-3FBCB54E461D}"/>
              </a:ext>
            </a:extLst>
          </p:cNvPr>
          <p:cNvSpPr>
            <a:spLocks noGrp="1"/>
          </p:cNvSpPr>
          <p:nvPr>
            <p:ph type="title"/>
          </p:nvPr>
        </p:nvSpPr>
        <p:spPr>
          <a:xfrm>
            <a:off x="1295402" y="580916"/>
            <a:ext cx="9601196" cy="1303867"/>
          </a:xfrm>
        </p:spPr>
        <p:txBody>
          <a:bodyPr/>
          <a:lstStyle/>
          <a:p>
            <a:r>
              <a:rPr lang="en-US" b="1" dirty="0">
                <a:latin typeface="Times New Roman" panose="02020603050405020304" pitchFamily="18" charset="0"/>
                <a:cs typeface="Times New Roman" panose="02020603050405020304" pitchFamily="18" charset="0"/>
              </a:rPr>
              <a:t>SQL Vs NoSQL</a:t>
            </a:r>
            <a:endParaRPr lang="en-IN" dirty="0"/>
          </a:p>
        </p:txBody>
      </p:sp>
      <p:graphicFrame>
        <p:nvGraphicFramePr>
          <p:cNvPr id="4" name="Content Placeholder 3">
            <a:extLst>
              <a:ext uri="{FF2B5EF4-FFF2-40B4-BE49-F238E27FC236}">
                <a16:creationId xmlns:a16="http://schemas.microsoft.com/office/drawing/2014/main" id="{26AC4CE0-F6EB-8E19-517F-7527A9F9159E}"/>
              </a:ext>
            </a:extLst>
          </p:cNvPr>
          <p:cNvGraphicFramePr>
            <a:graphicFrameLocks noGrp="1"/>
          </p:cNvGraphicFramePr>
          <p:nvPr>
            <p:ph idx="1"/>
            <p:extLst>
              <p:ext uri="{D42A27DB-BD31-4B8C-83A1-F6EECF244321}">
                <p14:modId xmlns:p14="http://schemas.microsoft.com/office/powerpoint/2010/main" val="3065496052"/>
              </p:ext>
            </p:extLst>
          </p:nvPr>
        </p:nvGraphicFramePr>
        <p:xfrm>
          <a:off x="1295402" y="1978965"/>
          <a:ext cx="10106606" cy="5855612"/>
        </p:xfrm>
        <a:graphic>
          <a:graphicData uri="http://schemas.openxmlformats.org/drawingml/2006/table">
            <a:tbl>
              <a:tblPr firstRow="1" bandRow="1">
                <a:tableStyleId>{5C22544A-7EE6-4342-B048-85BDC9FD1C3A}</a:tableStyleId>
              </a:tblPr>
              <a:tblGrid>
                <a:gridCol w="1180250">
                  <a:extLst>
                    <a:ext uri="{9D8B030D-6E8A-4147-A177-3AD203B41FA5}">
                      <a16:colId xmlns:a16="http://schemas.microsoft.com/office/drawing/2014/main" val="233590032"/>
                    </a:ext>
                  </a:extLst>
                </a:gridCol>
                <a:gridCol w="4052605">
                  <a:extLst>
                    <a:ext uri="{9D8B030D-6E8A-4147-A177-3AD203B41FA5}">
                      <a16:colId xmlns:a16="http://schemas.microsoft.com/office/drawing/2014/main" val="1533616693"/>
                    </a:ext>
                  </a:extLst>
                </a:gridCol>
                <a:gridCol w="4873751">
                  <a:extLst>
                    <a:ext uri="{9D8B030D-6E8A-4147-A177-3AD203B41FA5}">
                      <a16:colId xmlns:a16="http://schemas.microsoft.com/office/drawing/2014/main" val="3291133760"/>
                    </a:ext>
                  </a:extLst>
                </a:gridCol>
              </a:tblGrid>
              <a:tr h="573768">
                <a:tc>
                  <a:txBody>
                    <a:bodyPr/>
                    <a:lstStyle/>
                    <a:p>
                      <a:r>
                        <a:rPr lang="en-US" dirty="0">
                          <a:latin typeface="Times New Roman" panose="02020603050405020304" pitchFamily="18" charset="0"/>
                          <a:cs typeface="Times New Roman" panose="02020603050405020304" pitchFamily="18" charset="0"/>
                        </a:rPr>
                        <a:t>NO</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SQL</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NoSQL</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43403717"/>
                  </a:ext>
                </a:extLst>
              </a:tr>
              <a:tr h="802258">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SQL database examples : </a:t>
                      </a:r>
                      <a:r>
                        <a:rPr lang="en-IN" dirty="0" err="1">
                          <a:latin typeface="Times New Roman" panose="02020603050405020304" pitchFamily="18" charset="0"/>
                          <a:cs typeface="Times New Roman" panose="02020603050405020304" pitchFamily="18" charset="0"/>
                        </a:rPr>
                        <a:t>MySql</a:t>
                      </a:r>
                      <a:r>
                        <a:rPr lang="en-IN" dirty="0">
                          <a:latin typeface="Times New Roman" panose="02020603050405020304" pitchFamily="18" charset="0"/>
                          <a:cs typeface="Times New Roman" panose="02020603050405020304" pitchFamily="18" charset="0"/>
                        </a:rPr>
                        <a:t>, Oracle, </a:t>
                      </a:r>
                      <a:r>
                        <a:rPr lang="en-IN" dirty="0" err="1">
                          <a:latin typeface="Times New Roman" panose="02020603050405020304" pitchFamily="18" charset="0"/>
                          <a:cs typeface="Times New Roman" panose="02020603050405020304" pitchFamily="18" charset="0"/>
                        </a:rPr>
                        <a:t>Sqlite</a:t>
                      </a:r>
                      <a:r>
                        <a:rPr lang="en-IN" dirty="0">
                          <a:latin typeface="Times New Roman" panose="02020603050405020304" pitchFamily="18" charset="0"/>
                          <a:cs typeface="Times New Roman" panose="02020603050405020304" pitchFamily="18" charset="0"/>
                        </a:rPr>
                        <a:t>, Postgres and MS-SQL.</a:t>
                      </a:r>
                    </a:p>
                  </a:txBody>
                  <a:tcPr/>
                </a:tc>
                <a:tc>
                  <a:txBody>
                    <a:bodyPr/>
                    <a:lstStyle/>
                    <a:p>
                      <a:r>
                        <a:rPr lang="en-IN" dirty="0">
                          <a:latin typeface="Times New Roman" panose="02020603050405020304" pitchFamily="18" charset="0"/>
                          <a:cs typeface="Times New Roman" panose="02020603050405020304" pitchFamily="18" charset="0"/>
                        </a:rPr>
                        <a:t>NoSQL database examples : MongoDB, </a:t>
                      </a:r>
                      <a:r>
                        <a:rPr lang="en-IN" dirty="0" err="1">
                          <a:latin typeface="Times New Roman" panose="02020603050405020304" pitchFamily="18" charset="0"/>
                          <a:cs typeface="Times New Roman" panose="02020603050405020304" pitchFamily="18" charset="0"/>
                        </a:rPr>
                        <a:t>BigTable</a:t>
                      </a:r>
                      <a:r>
                        <a:rPr lang="en-IN" dirty="0">
                          <a:latin typeface="Times New Roman" panose="02020603050405020304" pitchFamily="18" charset="0"/>
                          <a:cs typeface="Times New Roman" panose="02020603050405020304" pitchFamily="18" charset="0"/>
                        </a:rPr>
                        <a:t>, Redis, </a:t>
                      </a:r>
                      <a:r>
                        <a:rPr lang="en-IN" dirty="0" err="1">
                          <a:latin typeface="Times New Roman" panose="02020603050405020304" pitchFamily="18" charset="0"/>
                          <a:cs typeface="Times New Roman" panose="02020603050405020304" pitchFamily="18" charset="0"/>
                        </a:rPr>
                        <a:t>RavenDb</a:t>
                      </a:r>
                      <a:r>
                        <a:rPr lang="en-IN" dirty="0">
                          <a:latin typeface="Times New Roman" panose="02020603050405020304" pitchFamily="18" charset="0"/>
                          <a:cs typeface="Times New Roman" panose="02020603050405020304" pitchFamily="18" charset="0"/>
                        </a:rPr>
                        <a:t>, Cassandra, </a:t>
                      </a:r>
                      <a:r>
                        <a:rPr lang="en-IN" dirty="0" err="1">
                          <a:latin typeface="Times New Roman" panose="02020603050405020304" pitchFamily="18" charset="0"/>
                          <a:cs typeface="Times New Roman" panose="02020603050405020304" pitchFamily="18" charset="0"/>
                        </a:rPr>
                        <a:t>Hbase</a:t>
                      </a:r>
                      <a:r>
                        <a:rPr lang="en-IN" dirty="0">
                          <a:latin typeface="Times New Roman" panose="02020603050405020304" pitchFamily="18" charset="0"/>
                          <a:cs typeface="Times New Roman" panose="02020603050405020304" pitchFamily="18" charset="0"/>
                        </a:rPr>
                        <a:t>, Neo4j and </a:t>
                      </a:r>
                      <a:r>
                        <a:rPr lang="en-IN" dirty="0" err="1">
                          <a:latin typeface="Times New Roman" panose="02020603050405020304" pitchFamily="18" charset="0"/>
                          <a:cs typeface="Times New Roman" panose="02020603050405020304" pitchFamily="18" charset="0"/>
                        </a:rPr>
                        <a:t>CouchDb</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45517410"/>
                  </a:ext>
                </a:extLst>
              </a:tr>
              <a:tr h="561580">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 databases are good fit for the complex query intensive environment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NoSQL databases are not good fit for complex queries.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5078224"/>
                  </a:ext>
                </a:extLst>
              </a:tr>
              <a:tr h="802258">
                <a:tc>
                  <a:txBody>
                    <a:bodyPr/>
                    <a:lstStyle/>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SQL databases are not best fit for hierarchical data storage.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NoSQL database fits better for the hierarchical data storage as it follows the key-value pair way of storing data similar to JSON data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2361744"/>
                  </a:ext>
                </a:extLst>
              </a:tr>
              <a:tr h="1283612">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SQL databases are best fit for heavy duty transactional type applications, as it is more stable and promises the atomicity as well as integrity of the data. </a:t>
                      </a:r>
                    </a:p>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NoSQL for transactions purpose, it is still not comparable and stable enough in high load and for complex transactional applications.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73400311"/>
                  </a:ext>
                </a:extLst>
              </a:tr>
              <a:tr h="1283612">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Uses ACID Properties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Uses CAP theorem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6669158"/>
                  </a:ext>
                </a:extLst>
              </a:tr>
            </a:tbl>
          </a:graphicData>
        </a:graphic>
      </p:graphicFrame>
    </p:spTree>
    <p:extLst>
      <p:ext uri="{BB962C8B-B14F-4D97-AF65-F5344CB8AC3E}">
        <p14:creationId xmlns:p14="http://schemas.microsoft.com/office/powerpoint/2010/main" val="117844588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482</TotalTime>
  <Words>4151</Words>
  <Application>Microsoft Office PowerPoint</Application>
  <PresentationFormat>Widescreen</PresentationFormat>
  <Paragraphs>337</Paragraphs>
  <Slides>30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Courier New</vt:lpstr>
      <vt:lpstr>Garamond</vt:lpstr>
      <vt:lpstr>Symbol</vt:lpstr>
      <vt:lpstr>Times New Roman</vt:lpstr>
      <vt:lpstr>Wingdings</vt:lpstr>
      <vt:lpstr>Organic</vt:lpstr>
      <vt:lpstr>Introduction to NoSQL Database</vt:lpstr>
      <vt:lpstr>What is NoSQL?</vt:lpstr>
      <vt:lpstr>When NoSQL Outperforms RDBMS</vt:lpstr>
      <vt:lpstr>When to use NoSQL</vt:lpstr>
      <vt:lpstr>CAP Theorem</vt:lpstr>
      <vt:lpstr>CAP Theorem</vt:lpstr>
      <vt:lpstr>CAP Theorem</vt:lpstr>
      <vt:lpstr>Large scale databases</vt:lpstr>
      <vt:lpstr>Trade-off consistency</vt:lpstr>
      <vt:lpstr>Types and examples of NoSQL Database and performance</vt:lpstr>
      <vt:lpstr>PowerPoint Presentation</vt:lpstr>
      <vt:lpstr>How does wide column store database differ from relational database</vt:lpstr>
      <vt:lpstr>PowerPoint Presentation</vt:lpstr>
      <vt:lpstr>PowerPoint Presentation</vt:lpstr>
      <vt:lpstr>Types and examples of NoSQL Database and performance</vt:lpstr>
      <vt:lpstr>Key-Value Stores</vt:lpstr>
      <vt:lpstr>Key-Value Stores</vt:lpstr>
      <vt:lpstr>Drawbacks of Key value pair</vt:lpstr>
      <vt:lpstr>Document stores</vt:lpstr>
      <vt:lpstr>Document-based</vt:lpstr>
      <vt:lpstr>Difference between Key-value store ad document store</vt:lpstr>
      <vt:lpstr>Column-based</vt:lpstr>
      <vt:lpstr>Column-based</vt:lpstr>
      <vt:lpstr>Graph-based</vt:lpstr>
      <vt:lpstr>Graph Databases</vt:lpstr>
      <vt:lpstr>NoSQL Data Models In Detail</vt:lpstr>
      <vt:lpstr>Advantages of NoSQL Databases</vt:lpstr>
      <vt:lpstr>Advantages of NoSQL Databases</vt:lpstr>
      <vt:lpstr>SQL Vs NoSQL</vt:lpstr>
      <vt:lpstr>SQL Vs NoSQL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11</cp:revision>
  <dcterms:created xsi:type="dcterms:W3CDTF">2024-10-05T03:51:58Z</dcterms:created>
  <dcterms:modified xsi:type="dcterms:W3CDTF">2025-10-31T05:30:44Z</dcterms:modified>
</cp:coreProperties>
</file>