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1" r:id="rId6"/>
    <p:sldId id="260" r:id="rId7"/>
    <p:sldId id="27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  <p:sldId id="274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763" autoAdjust="0"/>
  </p:normalViewPr>
  <p:slideViewPr>
    <p:cSldViewPr snapToGrid="0">
      <p:cViewPr varScale="1">
        <p:scale>
          <a:sx n="77" d="100"/>
          <a:sy n="77" d="100"/>
        </p:scale>
        <p:origin x="9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EFC017-2AE5-4530-93FC-47D13639797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940EDD-FAE8-4840-95D0-B2BDB54A30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667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40EDD-FAE8-4840-95D0-B2BDB54A309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5020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40EDD-FAE8-4840-95D0-B2BDB54A309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1897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 is a programming language and environment developed for statistical analysis by </a:t>
            </a:r>
            <a:r>
              <a:rPr lang="en-US" dirty="0" err="1"/>
              <a:t>practising</a:t>
            </a:r>
            <a:r>
              <a:rPr lang="en-US" dirty="0"/>
              <a:t> statisticians and researchers. It reflects well on a very competent community of computational statisticians. </a:t>
            </a:r>
          </a:p>
          <a:p>
            <a:r>
              <a:rPr lang="en-US" dirty="0"/>
              <a:t>The graphical capabilities of R are outstanding, providing a fully programmable graphics language that surpasses most other statistical and graphical packages.</a:t>
            </a:r>
          </a:p>
          <a:p>
            <a:r>
              <a:rPr lang="en-US" dirty="0"/>
              <a:t>R is free and open source software, allowing anyone to use and, importantly, to modify it. R is licensed under the GNU General Public License, with copyright held by The R Foundation for Statistical Computing. </a:t>
            </a:r>
          </a:p>
          <a:p>
            <a:r>
              <a:rPr lang="en-US" dirty="0"/>
              <a:t>R has no license restrictions (other than ensuring our freedom to use it at our own discretion), and so we can run it anywhere and at any time.</a:t>
            </a:r>
          </a:p>
          <a:p>
            <a:r>
              <a:rPr lang="en-US" dirty="0"/>
              <a:t>Anyone can provide new packages, and the wealth of quality packages available for R is a testament to this approach to software development and sharing.</a:t>
            </a:r>
          </a:p>
          <a:p>
            <a:r>
              <a:rPr lang="en-US" dirty="0"/>
              <a:t>R has over 4800 packages available from multiple repositories specializing in topics like econometrics, data mining, spatial analysis, and bio-informatics. </a:t>
            </a:r>
          </a:p>
          <a:p>
            <a:r>
              <a:rPr lang="en-US" dirty="0"/>
              <a:t>R is cross-platform. R runs on many operating systems and different hardware. It is popularly used on GNU/Linux, Macintosh, and Microsoft Windows, running on both 32 and 64 bit processors. </a:t>
            </a:r>
          </a:p>
          <a:p>
            <a:r>
              <a:rPr lang="en-US" dirty="0"/>
              <a:t>R plays well with many other tools, importing data, for example, from CSV files, SAS, and SPSS, or directly from Microsoft Excel, Microsoft Access, Oracle, MySQL, and SQLite.</a:t>
            </a:r>
          </a:p>
          <a:p>
            <a:r>
              <a:rPr lang="en-US" dirty="0"/>
              <a:t>It can also produce graphics output in PDF, JPG, PNG, and SVG formats, and table output for LATEX and HTML.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40EDD-FAE8-4840-95D0-B2BDB54A309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04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40EDD-FAE8-4840-95D0-B2BDB54A309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07804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1. Scripts: </a:t>
            </a:r>
            <a:r>
              <a:rPr lang="en-US" dirty="0"/>
              <a:t>This is where you write and edit your </a:t>
            </a:r>
            <a:r>
              <a:rPr lang="en-US" b="1" dirty="0"/>
              <a:t>R scripts</a:t>
            </a:r>
            <a:r>
              <a:rPr lang="en-US" dirty="0"/>
              <a:t>, </a:t>
            </a:r>
            <a:r>
              <a:rPr lang="en-US" b="1" dirty="0"/>
              <a:t>R Markdown files</a:t>
            </a:r>
            <a:r>
              <a:rPr lang="en-US" dirty="0"/>
              <a:t>, or </a:t>
            </a:r>
            <a:r>
              <a:rPr lang="en-US" b="1" dirty="0"/>
              <a:t>Notebooks</a:t>
            </a:r>
            <a:r>
              <a:rPr lang="en-US" dirty="0"/>
              <a:t>.</a:t>
            </a:r>
          </a:p>
          <a:p>
            <a:r>
              <a:rPr lang="en-US" b="1" dirty="0"/>
              <a:t>Features:</a:t>
            </a:r>
            <a:endParaRPr lang="en-US" dirty="0"/>
          </a:p>
          <a:p>
            <a:r>
              <a:rPr lang="en-US" dirty="0"/>
              <a:t>You can write multiple lines of R code.</a:t>
            </a:r>
          </a:p>
          <a:p>
            <a:r>
              <a:rPr lang="en-US" dirty="0"/>
              <a:t>Click the </a:t>
            </a:r>
            <a:r>
              <a:rPr lang="en-US" b="1" dirty="0"/>
              <a:t>Run</a:t>
            </a:r>
            <a:r>
              <a:rPr lang="en-US" dirty="0"/>
              <a:t> button or press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Ctrl + Enter</a:t>
            </a:r>
            <a:r>
              <a:rPr lang="en-US" dirty="0"/>
              <a:t> to execute selected lines in the console.</a:t>
            </a:r>
          </a:p>
          <a:p>
            <a:r>
              <a:rPr lang="en-US" dirty="0"/>
              <a:t>Tabs allow you to work with multiple files simultaneously.</a:t>
            </a:r>
          </a:p>
          <a:p>
            <a:r>
              <a:rPr lang="en-US" dirty="0"/>
              <a:t>Supports syntax highlighting, code completion, and commenting.</a:t>
            </a:r>
          </a:p>
          <a:p>
            <a:r>
              <a:rPr lang="en-IN" dirty="0"/>
              <a:t>2. </a:t>
            </a:r>
            <a:r>
              <a:rPr lang="en-US" b="1" dirty="0"/>
              <a:t>2. Console Pane (Bottom-Left)</a:t>
            </a:r>
          </a:p>
          <a:p>
            <a:r>
              <a:rPr lang="en-US" b="1" dirty="0"/>
              <a:t>Purpose:</a:t>
            </a:r>
            <a:br>
              <a:rPr lang="en-US" dirty="0"/>
            </a:br>
            <a:r>
              <a:rPr lang="en-US" dirty="0"/>
              <a:t>This is the </a:t>
            </a:r>
            <a:r>
              <a:rPr lang="en-US" b="1" dirty="0"/>
              <a:t>command-line interface</a:t>
            </a:r>
            <a:r>
              <a:rPr lang="en-US" dirty="0"/>
              <a:t> of R. It’s where R executes the code.</a:t>
            </a:r>
          </a:p>
          <a:p>
            <a:r>
              <a:rPr lang="en-US" b="1" dirty="0"/>
              <a:t>Features:</a:t>
            </a:r>
            <a:endParaRPr lang="en-US" dirty="0"/>
          </a:p>
          <a:p>
            <a:r>
              <a:rPr lang="en-US" dirty="0"/>
              <a:t>Shows immediate output of your commands.</a:t>
            </a:r>
          </a:p>
          <a:p>
            <a:r>
              <a:rPr lang="en-US" dirty="0"/>
              <a:t>You can also type R commands directly here and see results instantly.</a:t>
            </a:r>
          </a:p>
          <a:p>
            <a:r>
              <a:rPr lang="en-US" dirty="0"/>
              <a:t>Displays messages, warnings, and errors.</a:t>
            </a:r>
          </a:p>
          <a:p>
            <a:r>
              <a:rPr lang="en-US" b="1" dirty="0"/>
              <a:t>Purpose:</a:t>
            </a:r>
            <a:br>
              <a:rPr lang="en-US" dirty="0"/>
            </a:br>
            <a:r>
              <a:rPr lang="en-US" dirty="0"/>
              <a:t>This pane helps manage your </a:t>
            </a:r>
            <a:r>
              <a:rPr lang="en-US" b="1" dirty="0"/>
              <a:t>workspace</a:t>
            </a:r>
            <a:r>
              <a:rPr lang="en-US" dirty="0"/>
              <a:t> — everything that’s currently loaded into memory.</a:t>
            </a:r>
          </a:p>
          <a:p>
            <a:r>
              <a:rPr lang="en-US" b="1" dirty="0"/>
              <a:t>Tabs include:</a:t>
            </a:r>
            <a:endParaRPr lang="en-US" dirty="0"/>
          </a:p>
          <a:p>
            <a:r>
              <a:rPr lang="en-US" b="1" dirty="0"/>
              <a:t>Environment:</a:t>
            </a:r>
            <a:r>
              <a:rPr lang="en-US" dirty="0"/>
              <a:t> Lists variables, data frames, and functions created in your session.</a:t>
            </a:r>
          </a:p>
          <a:p>
            <a:r>
              <a:rPr lang="en-US" b="1" dirty="0"/>
              <a:t>History:</a:t>
            </a:r>
            <a:r>
              <a:rPr lang="en-US" dirty="0"/>
              <a:t> Shows all the commands you’ve previously executed.</a:t>
            </a:r>
          </a:p>
          <a:p>
            <a:r>
              <a:rPr lang="en-US" b="1" dirty="0"/>
              <a:t>Connections:</a:t>
            </a:r>
            <a:r>
              <a:rPr lang="en-US" dirty="0"/>
              <a:t> Helps you connect to external databases.</a:t>
            </a:r>
          </a:p>
          <a:p>
            <a:r>
              <a:rPr lang="en-US" b="1" dirty="0"/>
              <a:t>Tutorials:</a:t>
            </a:r>
            <a:r>
              <a:rPr lang="en-US" dirty="0"/>
              <a:t> Offers access to interactive R tutorials (if installed).</a:t>
            </a:r>
          </a:p>
          <a:p>
            <a:r>
              <a:rPr lang="en-US" b="1" dirty="0"/>
              <a:t>4. Files / Plots / Packages / Help / Viewer Pane (Bottom-Right)</a:t>
            </a:r>
          </a:p>
          <a:p>
            <a:r>
              <a:rPr lang="en-US" b="1" dirty="0"/>
              <a:t>Purpose:</a:t>
            </a:r>
            <a:br>
              <a:rPr lang="en-US" dirty="0"/>
            </a:br>
            <a:r>
              <a:rPr lang="en-US" dirty="0"/>
              <a:t>This pane manages </a:t>
            </a:r>
            <a:r>
              <a:rPr lang="en-US" b="1" dirty="0"/>
              <a:t>files, packages, plots, and documentation</a:t>
            </a:r>
            <a:r>
              <a:rPr lang="en-US" dirty="0"/>
              <a:t>.</a:t>
            </a:r>
          </a:p>
          <a:p>
            <a:r>
              <a:rPr lang="en-US" b="1" dirty="0"/>
              <a:t>Tabs include:</a:t>
            </a:r>
            <a:endParaRPr lang="en-US" dirty="0"/>
          </a:p>
          <a:p>
            <a:r>
              <a:rPr lang="en-US" b="1" dirty="0"/>
              <a:t>Files:</a:t>
            </a:r>
            <a:r>
              <a:rPr lang="en-US" dirty="0"/>
              <a:t> Shows files in your current working directory.</a:t>
            </a:r>
          </a:p>
          <a:p>
            <a:r>
              <a:rPr lang="en-US" b="1" dirty="0"/>
              <a:t>Plots:</a:t>
            </a:r>
            <a:r>
              <a:rPr lang="en-US" dirty="0"/>
              <a:t> Displays graphs created with functions like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plot()</a:t>
            </a:r>
            <a:r>
              <a:rPr lang="en-US" dirty="0"/>
              <a:t> or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ggplot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</a:p>
          <a:p>
            <a:r>
              <a:rPr lang="en-US" b="1" dirty="0"/>
              <a:t>Packages:</a:t>
            </a:r>
            <a:r>
              <a:rPr lang="en-US" dirty="0"/>
              <a:t> Lists installed R packages; you can load/unload them here.</a:t>
            </a:r>
          </a:p>
          <a:p>
            <a:r>
              <a:rPr lang="en-US" b="1" dirty="0"/>
              <a:t>Help:</a:t>
            </a:r>
            <a:r>
              <a:rPr lang="en-US" dirty="0"/>
              <a:t> Provides documentation for R functions (e.g., typing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?mean</a:t>
            </a:r>
            <a:r>
              <a:rPr lang="en-US" dirty="0"/>
              <a:t> opens help here).</a:t>
            </a:r>
          </a:p>
          <a:p>
            <a:r>
              <a:rPr lang="en-US" b="1" dirty="0"/>
              <a:t>Viewer:</a:t>
            </a:r>
            <a:r>
              <a:rPr lang="en-US" dirty="0"/>
              <a:t> Used to display web-based outputs such as R Markdown or HTML report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40EDD-FAE8-4840-95D0-B2BDB54A3097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95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110B0606-3DA6-4D12-A46E-AF2C501F6E38}" type="datetime1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r>
              <a:rPr lang="en-IN"/>
              <a:t>Introduction to 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2FAC4C32-67A0-4B1A-97C5-63ECA9383498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1695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C9B2-94A0-4B5D-8BF3-9018EC2C0411}" type="datetime1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Introduction to 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4C32-67A0-4B1A-97C5-63ECA9383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689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575F1-9948-48DC-AC3E-7FA7B582404B}" type="datetime1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Introduction to 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4C32-67A0-4B1A-97C5-63ECA9383498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0385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C69D2-D583-4C80-B012-8A0ABDA00012}" type="datetime1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Introduction to 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4C32-67A0-4B1A-97C5-63ECA9383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202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71E2-9E33-46AB-96C4-84AF17614EE9}" type="datetime1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Introduction to 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4C32-67A0-4B1A-97C5-63ECA9383498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0482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6D76A-BD31-4A67-A71E-1B9F3A5393C0}" type="datetime1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Introduction to 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4C32-67A0-4B1A-97C5-63ECA9383498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8028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2E8CE-F040-4206-A6B2-EAF1CE98C7F6}" type="datetime1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Introduction to 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4C32-67A0-4B1A-97C5-63ECA9383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78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D2151-8AE3-4E62-8ACA-B07907573A70}" type="datetime1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Introduction to 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4C32-67A0-4B1A-97C5-63ECA9383498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966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78501-7CBA-43A8-8F90-785800690723}" type="datetime1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Introduction to 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4C32-67A0-4B1A-97C5-63ECA9383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913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8A2A7-E132-4BB5-92CB-3EAF27E8ED9B}" type="datetime1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Introduction to 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4C32-67A0-4B1A-97C5-63ECA9383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334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BA07B-BEF9-4BE0-8B60-1448E3CD3DB6}" type="datetime1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Introduction to 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4C32-67A0-4B1A-97C5-63ECA9383498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4191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3E5CD-D9B1-4954-A3B8-3FFB3CEADA60}" type="datetime1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Introduction to 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4C32-67A0-4B1A-97C5-63ECA9383498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28919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9CB05-8BC6-4179-9EF5-63696FC08734}" type="datetime1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Introduction to 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4C32-67A0-4B1A-97C5-63ECA9383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6454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142A0-7CC7-4CF2-91C7-F5D4C47DF78B}" type="datetime1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Introduction to 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4C32-67A0-4B1A-97C5-63ECA9383498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69369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969B5-AA39-4A92-9992-85792AE82334}" type="datetime1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Introduction to 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4C32-67A0-4B1A-97C5-63ECA9383498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82020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EF875-564C-4417-BDAE-350B3A3CB360}" type="datetime1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Introduction to 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4C32-67A0-4B1A-97C5-63ECA9383498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52422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0A1A6-C4B8-4A12-A0B9-1AA1075BE29C}" type="datetime1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Introduction to 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4C32-67A0-4B1A-97C5-63ECA9383498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968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EFE652C-F6EF-44F3-A218-38C8E4840791}" type="datetime1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IN"/>
              <a:t>Introduction to 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FAC4C32-67A0-4B1A-97C5-63ECA9383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912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cran.r-project.org/bin/linux/" TargetMode="External"/><Relationship Id="rId2" Type="http://schemas.openxmlformats.org/officeDocument/2006/relationships/hyperlink" Target="http://cran.r-project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cran.r-project.org/src/base/R-3/R-3.1.3.tar.gz" TargetMode="External"/><Relationship Id="rId5" Type="http://schemas.openxmlformats.org/officeDocument/2006/relationships/hyperlink" Target="http://cran.r-project.org/bin/macosx/" TargetMode="External"/><Relationship Id="rId4" Type="http://schemas.openxmlformats.org/officeDocument/2006/relationships/hyperlink" Target="http://cran.r-project.org/bin/windows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osit.co/download/rstudio-desktop/" TargetMode="External"/><Relationship Id="rId2" Type="http://schemas.openxmlformats.org/officeDocument/2006/relationships/hyperlink" Target="https://cran.r-project.org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10916-B52D-E028-81E3-D34EE9CA54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R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767D7D-80AE-6B69-7926-53B5C41A57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955455" cy="1515532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Shrikrishna Anand Narvekar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Assitant Professor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Engineering department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Agnel Institute of Technology and Design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277BE-D425-2CE4-0BC0-59AFBDBAA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05DD-D6D5-4030-86C8-D65FC1D833A7}" type="datetime1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743F3-376D-68D2-29A4-53BDCB941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Introduction to 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CA227-48C7-408D-E805-ED352AA2A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4C32-67A0-4B1A-97C5-63ECA9383498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8788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F0FAC-857A-5B43-384A-45BAC8059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5953B-DE4E-E09E-BCDD-999ECAD7B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R 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is better than Excel?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 of Excel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 of 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Nuts and Bolts of R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Installation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studio description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5872B-0F1C-BDF1-19B7-813E5E440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DD9A3-EFCE-48D2-A7C4-FC8D2F91DFE2}" type="datetime1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DAA98-2E37-BEF5-2DB9-D95E1D792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Introduction to 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89FE0-3CD6-4E43-B3D3-8AD659D72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4C32-67A0-4B1A-97C5-63ECA938349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674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08836-CB21-D016-CBFD-F382734F9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R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6C158-5808-E616-08FA-2A39066CD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is a programming language and software environment specifically designed for statistical computing and graphics.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widely used among statisticians, data analysts, and data scientists for data analysis and visualization.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31045-FA88-16DE-F104-3F571F6BD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35D7-B90E-4C3E-862E-3C21C9700C4E}" type="datetime1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F38A2-1551-B96F-395F-D399883D5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Introduction to 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EEC89-546C-13C8-D922-4DC726CF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4C32-67A0-4B1A-97C5-63ECA938349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426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C5933-5438-9B00-EB81-9B2097C5A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is better than Excel?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CF2786-5E86-58E1-66DC-67A8378BE8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9322" y="2473488"/>
            <a:ext cx="2397093" cy="360074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144E84-B830-A802-C7B8-43F13DE61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454" y="3134699"/>
            <a:ext cx="2276475" cy="952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A49D04-3995-ED37-9C80-6F0B749B371B}"/>
              </a:ext>
            </a:extLst>
          </p:cNvPr>
          <p:cNvSpPr txBox="1"/>
          <p:nvPr/>
        </p:nvSpPr>
        <p:spPr>
          <a:xfrm>
            <a:off x="4406454" y="2639401"/>
            <a:ext cx="1600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Analysis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556CA8-EB0C-1250-C981-13DA408378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6454" y="4091864"/>
            <a:ext cx="1919701" cy="20652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9F80895-F44B-1682-40F9-9D0B417137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3688" y="2702195"/>
            <a:ext cx="2840077" cy="345493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D083E10-7B86-7A25-F9D7-050B81F21952}"/>
              </a:ext>
            </a:extLst>
          </p:cNvPr>
          <p:cNvSpPr txBox="1"/>
          <p:nvPr/>
        </p:nvSpPr>
        <p:spPr>
          <a:xfrm>
            <a:off x="7565162" y="2389722"/>
            <a:ext cx="3351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Data based on the grading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832A1CB0-E860-E4C7-50D5-CB2E79B79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33D6D-3979-4D5F-9A07-2D2038BC3287}" type="datetime1">
              <a:rPr lang="en-IN" smtClean="0"/>
              <a:t>04-11-2025</a:t>
            </a:fld>
            <a:endParaRPr lang="en-IN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F20622F7-53AE-5AC6-FF06-599EBF3C3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Introduction to R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53E2592-DB3E-56F8-1BD5-A94D73C63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4C32-67A0-4B1A-97C5-63ECA938349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2438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9874F-781C-2DEA-DEBA-602364EB4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 of Excel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70908-1763-63A0-762F-CD9F24DD4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has some limitation in size of that it can handle. (around 1 million rows)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allocation is not dynamic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Excel is utilized to 60 % then you will see lot of lag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as a tool is not free as it comes with Microsoft office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Resolving errors in excel is difficult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cannot go as deep as R can go in terms of statistics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8D426-B281-FEBB-01DF-C69FB3318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146D9-90EB-44ED-9448-86BDE57BC737}" type="datetime1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2DA46-4EF1-4579-FF8F-06CE4D7E6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Introduction to 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2F05E-7F6E-A17E-F3A0-5522C1D47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4C32-67A0-4B1A-97C5-63ECA938349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017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0F548-F346-3139-E36A-6EBDD282B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 of R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86BE7-112D-CD29-3699-60BD6C1B2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690" y="2351658"/>
            <a:ext cx="9702278" cy="4021150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 language originated as an implementation of the S programming language, which was developed at Bell Laboratories 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was created in the early 1990s by Ross Ihaka and Robert Gentleman at the University of Auckland, New Zealand, as a free software environment inspired by S. The first official release of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 Core Team, a global group of volunteer developers, maintains R, which is released under the GNU General Public License (GPL), making it free and open-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source.R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in February 2000.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the years, R has gained popularity in academia and industries like finance and bioinformatics. The Comprehensive R Archive Network (CRAN) offers thousands of packages to extend R's capabilities.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88F05-99D6-87C0-D64D-3508B7A49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20A6D-1115-457D-B9C6-3C92C6587ADB}" type="datetime1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C1BF2-7D33-0E61-0FD0-1E420346F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Introduction to 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20A65-0AD5-B97C-14F1-1830B8B51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4C32-67A0-4B1A-97C5-63ECA938349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304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2441B-FBA6-58BF-CEBF-86A6AF5C9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Nuts and Bolts of R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13CF5-A10A-9142-E13F-210879025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is a programming language and environment developed for statistical analysis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Graphical capabilities of R are outstanding that surpasses  other statistical tools.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is free and open source. It is licensed under GNU, General Public License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Anyone can provide a new packages(which is actually  disturbs stability of software)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is cross platform and runs on any OS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plays well with other tools, importing data from CSV, SPSS,SAS, or directly from Microsoft excel , Microsoft access, Oracle, MySQL, SQLite</a:t>
            </a: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A97C3-8454-B3E5-44C7-53677B8A7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C9B2-94A0-4B5D-8BF3-9018EC2C0411}" type="datetime1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10AE3-4B35-D6EA-D9C2-A4EC939AE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Introduction to 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91B00-EFA2-E56C-554B-6480B8A72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4C32-67A0-4B1A-97C5-63ECA938349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517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588A7-863B-9C06-2871-5826763C4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of R system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0DDEC-BEDD-8730-97E8-7344120B3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 primary R system is available from the </a:t>
            </a:r>
            <a:r>
              <a:rPr lang="en-US" b="0" i="0" u="none" strike="noStrike" dirty="0">
                <a:solidFill>
                  <a:srgbClr val="4183C4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Comprehensive R Archive Network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also known as CRAN. CRAN also hosts many add-on packages that can be used to extend the functionality of R.</a:t>
            </a:r>
          </a:p>
          <a:p>
            <a:pPr algn="l"/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 R system is divided into 2 conceptual parts: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 “base” R system that you download from CRAN: </a:t>
            </a:r>
            <a:r>
              <a:rPr lang="en-US" b="0" i="0" u="none" strike="noStrike" dirty="0">
                <a:solidFill>
                  <a:srgbClr val="4183C4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Linux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0" i="0" u="none" strike="noStrike" dirty="0">
                <a:solidFill>
                  <a:srgbClr val="4183C4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Windows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0" i="0" u="none" strike="noStrike" dirty="0">
                <a:solidFill>
                  <a:srgbClr val="4183C4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Mac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0" i="0" u="none" strike="noStrike" dirty="0">
                <a:solidFill>
                  <a:srgbClr val="4183C4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Source Code</a:t>
            </a:r>
            <a:endParaRPr lang="en-US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Everything else.</a:t>
            </a:r>
          </a:p>
          <a:p>
            <a:pPr marL="0" indent="0" algn="l">
              <a:buNone/>
            </a:pPr>
            <a:endParaRPr lang="en-US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/>
            </a:endParaRP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77FD6-A639-4E64-9323-4D73C22C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56241-55EA-47B2-A15B-88E879066C5D}" type="datetime1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A398B-737B-4226-7D1D-270A8393D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Introduction to 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77835-2EB8-553A-41DA-F273CAE35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4C32-67A0-4B1A-97C5-63ECA938349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166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B98C4-6F3B-692B-D131-9099A930E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of R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B641C-E392-D762-AA65-D89065BEB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 functionality is divided into a number of </a:t>
            </a:r>
            <a:r>
              <a:rPr lang="en-US" b="0" i="1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packages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“base” R system contains, among other things the base package which is required to run R and contains most fundamental functions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other packages in the “base” system includes utils, stats, datasets, graphics,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grDevices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grid, methods, tools etc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be using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 studio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F8E6ADB-A27C-842E-E76F-44D66C793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B1B3E-6BCE-4CA6-AC5F-66FC9032A510}" type="datetime1">
              <a:rPr lang="en-IN" smtClean="0"/>
              <a:t>04-11-2025</a:t>
            </a:fld>
            <a:endParaRPr lang="en-IN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BD5EA52-F69E-28CE-9526-5491A1C2B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Introduction to 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35751BE-4C93-D89F-2138-7E3A70915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4C32-67A0-4B1A-97C5-63ECA938349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1065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4C1A8-9918-DE7F-DCBF-E85A2C3A6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R studio?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DD7DD-FE46-FA98-62F5-36B17186A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RStudio is an integrated development environment (IDE) for R, providing a user-friendly interface to interact with the R programming language.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considered as useless without base R because of following reasons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Dependency on R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of  R code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 management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Scripting and interactive work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 capabilities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29EBA-08F7-2ECA-9D73-F755F5926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DEC5-7F5A-417B-BE3B-DCB2B66DEC95}" type="datetime1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29945-326E-B1F9-0976-0DA649965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Introduction to 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063BF-0415-59AE-44C8-64755212E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4C32-67A0-4B1A-97C5-63ECA938349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231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8E6AB-BE8D-D919-CF16-B44345E1B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Installation of R and R studio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69024-FF38-433E-F07A-0A1E19B56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Install Base R refer the link below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https://cran.r-project.org/</a:t>
            </a:r>
            <a:endParaRPr lang="en-US" dirty="0"/>
          </a:p>
          <a:p>
            <a:r>
              <a:rPr lang="en-US" dirty="0"/>
              <a:t>To Install R studio refer the link given below</a:t>
            </a:r>
          </a:p>
          <a:p>
            <a:pPr marL="0" indent="0">
              <a:buNone/>
            </a:pPr>
            <a:r>
              <a:rPr lang="en-IN" dirty="0">
                <a:hlinkClick r:id="rId3"/>
              </a:rPr>
              <a:t>https://posit.co/download/rstudio-desktop/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100CC25-CFB0-87A8-A500-39B37197A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458D-2CF7-4D47-A933-CE8D7DAEB4CB}" type="datetime1">
              <a:rPr lang="en-IN" smtClean="0"/>
              <a:t>04-11-2025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F19F2D3-1AEB-43C1-43C1-51688457D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Introduction to 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2DA1627-DD56-4985-089F-264BEF74C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4C32-67A0-4B1A-97C5-63ECA938349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3596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E441EE3-34D6-D399-2207-DC2DA116D1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46" y="637203"/>
            <a:ext cx="10445616" cy="27917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51D81D-4406-EEAC-6C62-81D7E7672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835" y="3690257"/>
            <a:ext cx="4754919" cy="2302579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48CC7AC-85F4-3C76-6DB0-463F8CADB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F8116-FE4A-441A-894E-D8494BAE564A}" type="datetime1">
              <a:rPr lang="en-IN" smtClean="0"/>
              <a:t>04-11-2025</a:t>
            </a:fld>
            <a:endParaRPr lang="en-IN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A79AC73-BF64-EA01-295A-A56AD01E6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Introduction to 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C8B429C-B881-221E-A3F5-13F507331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4C32-67A0-4B1A-97C5-63ECA9383498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300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11B50-2A8C-8208-2873-A25BC48B8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088" y="739537"/>
            <a:ext cx="9601196" cy="716040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studio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B24757-F781-9919-1466-91A024EDFC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583" y="1452297"/>
            <a:ext cx="8295405" cy="4666166"/>
          </a:xfr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9052E21-47F1-DC1B-1EB2-DBB33A7C26B7}"/>
              </a:ext>
            </a:extLst>
          </p:cNvPr>
          <p:cNvCxnSpPr/>
          <p:nvPr/>
        </p:nvCxnSpPr>
        <p:spPr>
          <a:xfrm>
            <a:off x="1818978" y="2752530"/>
            <a:ext cx="653143" cy="0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01A96ED-C638-6133-522D-1196635DCE0D}"/>
              </a:ext>
            </a:extLst>
          </p:cNvPr>
          <p:cNvSpPr txBox="1"/>
          <p:nvPr/>
        </p:nvSpPr>
        <p:spPr>
          <a:xfrm>
            <a:off x="701354" y="4567887"/>
            <a:ext cx="10574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Console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11D294-FDD1-41C6-B46F-28B7C4E1E8D5}"/>
              </a:ext>
            </a:extLst>
          </p:cNvPr>
          <p:cNvSpPr txBox="1"/>
          <p:nvPr/>
        </p:nvSpPr>
        <p:spPr>
          <a:xfrm>
            <a:off x="1122292" y="2704875"/>
            <a:ext cx="849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Script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73070AA-38CE-4EB9-E63F-D3EE1DBFF18E}"/>
              </a:ext>
            </a:extLst>
          </p:cNvPr>
          <p:cNvCxnSpPr/>
          <p:nvPr/>
        </p:nvCxnSpPr>
        <p:spPr>
          <a:xfrm>
            <a:off x="1707011" y="4808374"/>
            <a:ext cx="653143" cy="0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77DDC14-549F-3600-274C-347173798673}"/>
              </a:ext>
            </a:extLst>
          </p:cNvPr>
          <p:cNvCxnSpPr>
            <a:cxnSpLocks/>
          </p:cNvCxnSpPr>
          <p:nvPr/>
        </p:nvCxnSpPr>
        <p:spPr>
          <a:xfrm>
            <a:off x="8082929" y="1567543"/>
            <a:ext cx="0" cy="594047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989CE73-271A-1120-1ED2-FA183ABC15A2}"/>
              </a:ext>
            </a:extLst>
          </p:cNvPr>
          <p:cNvSpPr txBox="1"/>
          <p:nvPr/>
        </p:nvSpPr>
        <p:spPr>
          <a:xfrm>
            <a:off x="7604448" y="946157"/>
            <a:ext cx="1754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pane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9EF7966-9BFD-ECE6-7F20-4BB6773592AA}"/>
              </a:ext>
            </a:extLst>
          </p:cNvPr>
          <p:cNvCxnSpPr>
            <a:cxnSpLocks/>
          </p:cNvCxnSpPr>
          <p:nvPr/>
        </p:nvCxnSpPr>
        <p:spPr>
          <a:xfrm flipH="1">
            <a:off x="9832908" y="4885021"/>
            <a:ext cx="998376" cy="0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A503CD6-7D6E-ABE5-21D9-D24FA306378F}"/>
              </a:ext>
            </a:extLst>
          </p:cNvPr>
          <p:cNvSpPr txBox="1"/>
          <p:nvPr/>
        </p:nvSpPr>
        <p:spPr>
          <a:xfrm>
            <a:off x="9982334" y="4244721"/>
            <a:ext cx="1727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 Pane/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Graphics Pane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0B04C3D8-9A0E-A3A9-8E98-947C13873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06BE5-64D0-4071-815B-D3F2C5E88D26}" type="datetime1">
              <a:rPr lang="en-IN" smtClean="0"/>
              <a:t>04-11-2025</a:t>
            </a:fld>
            <a:endParaRPr lang="en-IN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D03B4DD3-2CFD-3708-3EFC-5BB672301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Introduction to R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5E9819FC-7314-93F2-5228-B18945DF4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4C32-67A0-4B1A-97C5-63ECA9383498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4859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14F88-BA2D-A1BC-5E13-B8269038C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Getting started with R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B362C43-BBB6-EADC-97EC-AD890BEE57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9668" y="2945850"/>
            <a:ext cx="3666929" cy="2885264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AA993-F142-FCB7-E7B2-044E1C7B6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AA1DA-9887-46C6-B1EA-C23A98E93F9C}" type="datetime1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CF274-5F3D-5DCB-A302-972D5CB7B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Introduction to 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81DDB-D97F-2703-C189-9D8A870B1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4C32-67A0-4B1A-97C5-63ECA9383498}" type="slidenum">
              <a:rPr lang="en-IN" smtClean="0"/>
              <a:t>14</a:t>
            </a:fld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DB0FDC-34AD-F56D-C942-E5797BCAB542}"/>
              </a:ext>
            </a:extLst>
          </p:cNvPr>
          <p:cNvSpPr txBox="1"/>
          <p:nvPr/>
        </p:nvSpPr>
        <p:spPr>
          <a:xfrm>
            <a:off x="1642188" y="2545740"/>
            <a:ext cx="1059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script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1595259-0387-883E-A498-227A91B1A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051" y="2955923"/>
            <a:ext cx="2374998" cy="27821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66D2D55-B079-B888-555F-B1C80F66690A}"/>
              </a:ext>
            </a:extLst>
          </p:cNvPr>
          <p:cNvSpPr txBox="1"/>
          <p:nvPr/>
        </p:nvSpPr>
        <p:spPr>
          <a:xfrm>
            <a:off x="6585618" y="2516935"/>
            <a:ext cx="47808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Corresponding console Pane for the script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37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4EC5F-536D-CF39-6FD7-279149C7B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Entering Input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0D790-AE80-BB61-4CBB-5123768B3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R prompt we type expression. The symbol &lt;- is the assignment operator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grammar of the language determines whether an expression is complete or not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character # indicates comment. Anything to the right of #(including # itself) is ignored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6C858-53D2-37B5-EF40-C0DB0F154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C9B2-94A0-4B5D-8BF3-9018EC2C0411}" type="datetime1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1328A-1531-53C4-85A7-E1115E0E6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Introduction to 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C856F-A0A2-C1A1-4C6F-B92188940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4C32-67A0-4B1A-97C5-63ECA9383498}" type="slidenum">
              <a:rPr lang="en-IN" smtClean="0"/>
              <a:t>15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9A563E-20E7-90A2-BA51-2070907EF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662" y="3854450"/>
            <a:ext cx="1285875" cy="723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84D13B-9FFA-2759-F8A6-B13434180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351" y="3741737"/>
            <a:ext cx="4248150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678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AA72F-8B68-DE98-1BC1-1D4387D94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28D11-F972-38ED-0668-7F3277E83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complete expression is entered at the prompt, it is evaluated and result of evaluated expression is returned.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8405D-E563-D478-4211-C828A54B8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C9B2-94A0-4B5D-8BF3-9018EC2C0411}" type="datetime1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95526-2155-9997-7857-5188EDA29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Introduction to 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41CFA-3D9D-65EC-22C1-24F800061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4C32-67A0-4B1A-97C5-63ECA9383498}" type="slidenum">
              <a:rPr lang="en-IN" smtClean="0"/>
              <a:t>16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F8E74F-D320-2C67-E5D1-35EB75F9F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029" y="3436409"/>
            <a:ext cx="9563100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3485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1C133-2CA0-7492-1EA1-77566FCBB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is R script better than console?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A933B-1B89-B5CD-11A9-F42B40455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: R scripts are more suitable for large projects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Reusability: Can be used across different projects and be shared easily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and clarity:  Easier to understand logic of code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Consistency: Running an entire script ensures that the code is executed in a consistent environment each time, which is crucial for reproducibility.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F3269-7DC4-1544-701C-5FAE72CD7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C9B2-94A0-4B5D-8BF3-9018EC2C0411}" type="datetime1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E66C2-DE35-80D2-54E3-3C00CE16F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Introduction to 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4C6C5-68DD-1D34-D90E-9467ACE4C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4C32-67A0-4B1A-97C5-63ECA9383498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6252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6090E-E8BB-9668-80EC-57CEED644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with Directory in R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8C24EA7-A0EB-EEB6-C2DB-45BAD17317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3196" y="4064064"/>
            <a:ext cx="3076575" cy="51435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8BCDE-032A-D43D-82D3-7CC55306D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C9B2-94A0-4B5D-8BF3-9018EC2C0411}" type="datetime1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62D55-F391-9BA2-F02F-14F85C688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Introduction to 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3A870-299B-0DC6-85C4-EF66FFAEC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4C32-67A0-4B1A-97C5-63ECA9383498}" type="slidenum">
              <a:rPr lang="en-IN" smtClean="0"/>
              <a:t>18</a:t>
            </a:fld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0DC813-4B09-0731-20BF-FAD9BB67EC47}"/>
              </a:ext>
            </a:extLst>
          </p:cNvPr>
          <p:cNvSpPr txBox="1"/>
          <p:nvPr/>
        </p:nvSpPr>
        <p:spPr>
          <a:xfrm>
            <a:off x="1464905" y="2665158"/>
            <a:ext cx="40028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writing a program or code using R, it is important to find out the directory being used.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D3565A-CD60-C643-D9F5-DDB7AD20BA7F}"/>
              </a:ext>
            </a:extLst>
          </p:cNvPr>
          <p:cNvSpPr txBox="1"/>
          <p:nvPr/>
        </p:nvSpPr>
        <p:spPr>
          <a:xfrm>
            <a:off x="5777964" y="2511269"/>
            <a:ext cx="48472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want to reset the working directory to another location as per the user’s preference then that as well can be done in the following way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C04BD07-6FBE-DDE9-E537-A9E2D722F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731" y="4059978"/>
            <a:ext cx="6381750" cy="279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353D8AE-C548-B59F-93C7-928F0379892A}"/>
              </a:ext>
            </a:extLst>
          </p:cNvPr>
          <p:cNvSpPr txBox="1"/>
          <p:nvPr/>
        </p:nvSpPr>
        <p:spPr>
          <a:xfrm>
            <a:off x="1464905" y="4794131"/>
            <a:ext cx="5708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again verify using the command given below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B87E91B-78FC-5628-484B-52FF0CD3E5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2233" y="5235730"/>
            <a:ext cx="6315075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5607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595</TotalTime>
  <Words>1526</Words>
  <Application>Microsoft Office PowerPoint</Application>
  <PresentationFormat>Widescreen</PresentationFormat>
  <Paragraphs>183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Garamond</vt:lpstr>
      <vt:lpstr>Helvetica Neue</vt:lpstr>
      <vt:lpstr>Times New Roman</vt:lpstr>
      <vt:lpstr>Organic</vt:lpstr>
      <vt:lpstr>Introduction to R</vt:lpstr>
      <vt:lpstr>Content</vt:lpstr>
      <vt:lpstr>What is R </vt:lpstr>
      <vt:lpstr>R is better than Excel? </vt:lpstr>
      <vt:lpstr>Drawbacks of Excel</vt:lpstr>
      <vt:lpstr>History of R</vt:lpstr>
      <vt:lpstr>Nuts and Bolts of R</vt:lpstr>
      <vt:lpstr>Design of R system</vt:lpstr>
      <vt:lpstr>Design of R system</vt:lpstr>
      <vt:lpstr>What is R studio?</vt:lpstr>
      <vt:lpstr>Installation of R and R studio</vt:lpstr>
      <vt:lpstr>PowerPoint Presentation</vt:lpstr>
      <vt:lpstr>R studio</vt:lpstr>
      <vt:lpstr>Getting started with R</vt:lpstr>
      <vt:lpstr>Entering Input</vt:lpstr>
      <vt:lpstr>Evaluation</vt:lpstr>
      <vt:lpstr>How is R script better than console?</vt:lpstr>
      <vt:lpstr>Working with Directory in 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Shrikrishna Narvekar</dc:creator>
  <cp:lastModifiedBy>Shrikrishna Narvekar</cp:lastModifiedBy>
  <cp:revision>16</cp:revision>
  <dcterms:created xsi:type="dcterms:W3CDTF">2024-07-30T08:32:55Z</dcterms:created>
  <dcterms:modified xsi:type="dcterms:W3CDTF">2025-11-04T07:45:41Z</dcterms:modified>
</cp:coreProperties>
</file>