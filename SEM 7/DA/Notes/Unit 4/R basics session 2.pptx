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9" r:id="rId4"/>
    <p:sldId id="280" r:id="rId5"/>
    <p:sldId id="281" r:id="rId6"/>
    <p:sldId id="282" r:id="rId7"/>
    <p:sldId id="283" r:id="rId8"/>
    <p:sldId id="258" r:id="rId9"/>
    <p:sldId id="284" r:id="rId10"/>
    <p:sldId id="285" r:id="rId11"/>
    <p:sldId id="286" r:id="rId12"/>
    <p:sldId id="287" r:id="rId13"/>
    <p:sldId id="259" r:id="rId14"/>
    <p:sldId id="260" r:id="rId15"/>
    <p:sldId id="261" r:id="rId16"/>
    <p:sldId id="262" r:id="rId17"/>
    <p:sldId id="263" r:id="rId18"/>
    <p:sldId id="289" r:id="rId19"/>
    <p:sldId id="264" r:id="rId20"/>
    <p:sldId id="267" r:id="rId21"/>
    <p:sldId id="288" r:id="rId22"/>
    <p:sldId id="265" r:id="rId23"/>
    <p:sldId id="266" r:id="rId24"/>
    <p:sldId id="268" r:id="rId25"/>
    <p:sldId id="290" r:id="rId26"/>
    <p:sldId id="269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627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765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571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705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37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635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347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53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877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591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13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92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581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535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007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183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29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7F7C9F8-74B2-425A-8D80-212839E0FDB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F7E310C-D107-4473-AFAA-AFC9899FDE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27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E3DEE-971B-8F11-19C9-8A60C586D1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basics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4F0B5-864B-84B2-1155-8CE670CA4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6815669" cy="1735497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Shrikrishna Anand Narvekar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Assitant Professor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 department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Agnel Institute of Technology and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8102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5A5F-0F9E-EF92-98B3-D1D6090A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DFC86-C92B-9195-FFD7-1553CBE4F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 in R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data types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Coercion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in R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operators in R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programs in 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20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D7230-54D1-AFC3-6975-23980B7E9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Basic Operations in R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5CDAA-A8C8-E3D8-9FF1-C0354A258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2931366" cy="3554619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romanUcPeriod"/>
            </a:pP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Arithmetic operations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include addition (+), Subtraction (-), Multiplication (*), Division (/) and exponentiation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2A0C48-24E4-16AF-DBE0-C645CB1C9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105" y="1742582"/>
            <a:ext cx="6262687" cy="46606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41EB85-0B3A-712A-56BF-FC3A64D51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6115" y="4590662"/>
            <a:ext cx="2119426" cy="183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69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7CB59-31BF-EE20-4510-3D8D6FAA3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Basic Operations in R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C7F02-0FEB-F338-E281-FA9DC0C27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3453881" cy="3069427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II. </a:t>
            </a: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Relational Operations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are used for comparison and include greater than( &gt;) or less than (&lt;) and equal to(==) or not equal to (!=)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D38DA-4B01-F532-7EDE-ABEA5B86C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867" y="2285999"/>
            <a:ext cx="4915386" cy="396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124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AF22B-5F8C-731F-2191-194374BF7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Basic Operations in R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E4AAF-E8BC-B459-E344-BBB3F00C5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3341913" cy="3395999"/>
          </a:xfrm>
        </p:spPr>
        <p:txBody>
          <a:bodyPr/>
          <a:lstStyle/>
          <a:p>
            <a:pPr marL="0" lvl="0" indent="0">
              <a:lnSpc>
                <a:spcPct val="107000"/>
              </a:lnSpc>
              <a:buNone/>
            </a:pP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III. Logical operations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Logical operations include AND(&amp;) OR(|) and NOT (!)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0422EF-409C-A738-49D6-B14F3ABC7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076" y="2556930"/>
            <a:ext cx="2430236" cy="14069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4C8B96-9F6C-343F-1764-02E1BEA6A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076" y="4167189"/>
            <a:ext cx="5487687" cy="160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248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A33A7-F271-7B40-D696-88B324BDD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Basic Operations in 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65F1E-E877-3218-703C-CE37832E1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4163007" cy="3554619"/>
          </a:xfrm>
        </p:spPr>
        <p:txBody>
          <a:bodyPr/>
          <a:lstStyle/>
          <a:p>
            <a:pPr marL="0" lvl="0" indent="0">
              <a:lnSpc>
                <a:spcPct val="107000"/>
              </a:lnSpc>
              <a:buNone/>
            </a:pP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IV Assignment operations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 uses assignment operator to assign values to the variable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7E5CB-54E4-E11E-66C4-438CB22D3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107" y="2556931"/>
            <a:ext cx="5275883" cy="212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589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7AEEC-86B7-E12E-14EA-DA7CB6DDF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Basic Operations in R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936DF0-2143-81CA-6914-B1CF97FE4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6890" y="2732994"/>
            <a:ext cx="9039479" cy="139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962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EF8A-ECE7-A6CE-16AA-78E7DDB16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data types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9D579-7BA1-FCE9-8969-D09FC6C55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Numeric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</a:p>
          <a:p>
            <a:pPr marL="0" indent="0">
              <a:buNone/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function that can be used to reveal data type are class()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5004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FD418-EA2F-447F-71DD-39103B984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E804D-A243-2591-B6E0-3A83101CA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707" y="2659569"/>
            <a:ext cx="5758542" cy="3414660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real numbers or floating point numbers.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include decimal points like 3.14,2.0, -7.5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Type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By default, numbers in R are stored as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means they are stored as floating-point numbers (with decimal precision).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Numbers are stored with double precision (64-bit floating point).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C0CCBF-9544-9317-67CB-5A3E9629D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022" y="5020367"/>
            <a:ext cx="4742777" cy="85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657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EEA25-D49B-B2A6-C113-52F11F4B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21FE9-8CEC-1422-59D3-BA17A95A7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189375" cy="3246709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whole numbers only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integer in R you need explicitly append L to the number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 store exact whole numbers. Any operation that introduces a decimal will convert an integer to numeric.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 are stored with less precision than numeric types (32-bit integer).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BD05D2-0A43-D70A-422B-E57F7ED17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508" y="2556932"/>
            <a:ext cx="4343400" cy="1123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DC6D53-4D30-1A79-7817-50A673CA1BF0}"/>
              </a:ext>
            </a:extLst>
          </p:cNvPr>
          <p:cNvSpPr txBox="1"/>
          <p:nvPr/>
        </p:nvSpPr>
        <p:spPr>
          <a:xfrm>
            <a:off x="6484776" y="3778898"/>
            <a:ext cx="486124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Difference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store both integers and floating-point numbers (with decimals), and it is the default type for numbers in 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explicitly stores whole numbers, using less memory compared to numeric.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8262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06F0-AAD6-369E-1F85-BB6BEE921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FD096-0987-E885-D74D-790B7A1CE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713513" cy="3318936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type is used to represent text strings. These are sequences of characters enclosed in either single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(‘’) or double (“”) quotes.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check if variable is character using the is.character function.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convert other data types to character use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as.character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C6DE6B-05C5-D819-AB4B-4139EE23F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114" y="2556932"/>
            <a:ext cx="574357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408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1E2C-4069-3052-9F1D-104E214D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operations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F98CE-164B-886F-4549-B30C8AB37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provides several functions to work with character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nchar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counts number of character in the string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paste(): concatenate strings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Extracts a substring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strsplit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 split a string based on delimiter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170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569354-9C95-D7DB-F29A-31AD32CB9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214" y="1385435"/>
            <a:ext cx="3028950" cy="18002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FAC3CD-128E-B556-44B8-935A6DF5116F}"/>
              </a:ext>
            </a:extLst>
          </p:cNvPr>
          <p:cNvSpPr txBox="1"/>
          <p:nvPr/>
        </p:nvSpPr>
        <p:spPr>
          <a:xfrm>
            <a:off x="1250497" y="830424"/>
            <a:ext cx="999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75B55A-3C8D-1D6E-FC8D-050287D35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556" y="1385435"/>
            <a:ext cx="1947222" cy="12047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DF4A19-65AC-08E6-4B62-DA41E50EA225}"/>
              </a:ext>
            </a:extLst>
          </p:cNvPr>
          <p:cNvSpPr txBox="1"/>
          <p:nvPr/>
        </p:nvSpPr>
        <p:spPr>
          <a:xfrm>
            <a:off x="4818192" y="830424"/>
            <a:ext cx="981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E2544C-7702-7724-5BD1-92111D9BB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017" y="1385435"/>
            <a:ext cx="2800350" cy="12001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D69A5F-7219-D958-E6EC-0CC197DAF7B0}"/>
              </a:ext>
            </a:extLst>
          </p:cNvPr>
          <p:cNvSpPr txBox="1"/>
          <p:nvPr/>
        </p:nvSpPr>
        <p:spPr>
          <a:xfrm>
            <a:off x="7846844" y="830424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32F53D-0E9B-A224-641D-A31B51ABC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0126" y="4267810"/>
            <a:ext cx="3452652" cy="12047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962BA0-9DC1-4DE5-BA58-613CCE71C24C}"/>
              </a:ext>
            </a:extLst>
          </p:cNvPr>
          <p:cNvSpPr txBox="1"/>
          <p:nvPr/>
        </p:nvSpPr>
        <p:spPr>
          <a:xfrm>
            <a:off x="3210126" y="3672341"/>
            <a:ext cx="1534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196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DF7D0-861E-9087-84B3-EBC89B9B1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Coercion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2F2F-2CE4-35BB-0D41-17C9F82CD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Coercion helps to convert one data type to another, e.g. logical “TRUE” value when converted into numeric yields “1”. Likewise, logical “FALSE” value yields “0”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We can use inbuilt type coercion function. To coerce your data into: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logical, use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as.logical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An integer, use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as.integer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double, use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as.numeric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complex number, use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as.complex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String , use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as.character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()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86394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B3343-7B40-FCFD-B2A1-59A516B6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Coercion Demo in 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8E95A5-7842-97DF-DE08-34951135A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7808" y="3319950"/>
            <a:ext cx="3590472" cy="2193536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A8E5E3-A430-90A5-0B26-51EAB6D76A6C}"/>
              </a:ext>
            </a:extLst>
          </p:cNvPr>
          <p:cNvSpPr txBox="1"/>
          <p:nvPr/>
        </p:nvSpPr>
        <p:spPr>
          <a:xfrm>
            <a:off x="1474237" y="2715209"/>
            <a:ext cx="8194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2C97DB-0D68-B31D-5020-3AF4C37FBB04}"/>
              </a:ext>
            </a:extLst>
          </p:cNvPr>
          <p:cNvSpPr txBox="1"/>
          <p:nvPr/>
        </p:nvSpPr>
        <p:spPr>
          <a:xfrm>
            <a:off x="6069564" y="2715209"/>
            <a:ext cx="1045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06D030-7BE6-87D4-D7DC-72CA648E7A31}"/>
              </a:ext>
            </a:extLst>
          </p:cNvPr>
          <p:cNvSpPr txBox="1"/>
          <p:nvPr/>
        </p:nvSpPr>
        <p:spPr>
          <a:xfrm>
            <a:off x="5931160" y="5705807"/>
            <a:ext cx="4463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sensical coercion results in NAS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F1674D-311D-B0DB-C806-C5A3FEFB0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270" y="3319950"/>
            <a:ext cx="308610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227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DFDDF-974D-DE36-651E-82764F639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in R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99E38-1468-2C7A-0914-D4D0F56A5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data structure is a particular way of organizing data in a computer so that it can be used effectively.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in R programming are tools for holding multiple values. 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R’s base data structures are often organized by their dimensionality (1D, 2D, or </a:t>
            </a:r>
            <a:r>
              <a:rPr lang="en-US" b="0" i="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and whether they’re homogeneous (all elements must be of the identical type) or heterogeneous (the elements are often of various types). 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929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88C77-D76A-31C3-BDB8-0FF0053B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 structures in R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E342C-F9F5-10D1-5FB5-987E637DD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frames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001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FDBF2-3F73-7471-0062-3105E1086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on conditional statements, control flow statements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842FA-7FC1-AFE0-1BB2-ECE2AE27F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397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2F326-5119-9463-E851-49469DB7A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B7893-890E-D88A-EE6E-EE5EEC6FA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Simplest data structure in R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sequence of data elements of same basic type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c() function is used to create vector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0211A-7D18-1A00-FEC5-ADCA83A0E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917" y="4014982"/>
            <a:ext cx="4789419" cy="17233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789233-5849-DF4E-C954-FBC017390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354" y="3791379"/>
            <a:ext cx="3146362" cy="22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57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1C5BA-233C-DFC9-D511-40255D9F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ways to create vector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D72D20-D54D-4049-5A70-6CCE5377F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0113" y="2584580"/>
            <a:ext cx="2392523" cy="84442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E241B2-2E37-413D-346A-348C549AE107}"/>
              </a:ext>
            </a:extLst>
          </p:cNvPr>
          <p:cNvSpPr txBox="1"/>
          <p:nvPr/>
        </p:nvSpPr>
        <p:spPr>
          <a:xfrm>
            <a:off x="1347920" y="3533328"/>
            <a:ext cx="9601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There are also two ways in this. The first way is to set the step size and the second method is by setting the length of the vector.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1BB96A-4CB3-B12C-9E98-A77DB63B0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477" y="4283987"/>
            <a:ext cx="3419086" cy="126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05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88AA5-4F21-BFC3-4502-C49DF47BE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on vectors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26326-DA16-7C8B-3BCB-5338490DA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1064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3E78-5FD6-D1A3-99CA-D28336E6F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F7541-358E-CAE9-8830-1431AD249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type of vector which contains elements of different classes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 in R starts with 1 and in python it starts with 0.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list() function to create list instead of c()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9BE16-E18E-8F71-8503-774519209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4282752"/>
            <a:ext cx="6616958" cy="5691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D28771-BE15-5F38-723D-F91F1C822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199" y="3519306"/>
            <a:ext cx="2578359" cy="2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92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BFE0C-8170-FD7F-5D31-73DCAC6E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 on lists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B6CD56-EE46-F8D7-1FB0-95831A88E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1100" y="3086102"/>
            <a:ext cx="2562225" cy="14859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572E00-E5A6-A9B4-E303-F81DB1AD12F8}"/>
              </a:ext>
            </a:extLst>
          </p:cNvPr>
          <p:cNvSpPr txBox="1"/>
          <p:nvPr/>
        </p:nvSpPr>
        <p:spPr>
          <a:xfrm>
            <a:off x="1801100" y="2640563"/>
            <a:ext cx="1688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Subset a Lists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3792AC-E447-06BA-7CC1-F6D6F9EF7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306" y="3656226"/>
            <a:ext cx="3072907" cy="7044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AEF470-B92B-3EFD-E783-B93E16D9D4F1}"/>
              </a:ext>
            </a:extLst>
          </p:cNvPr>
          <p:cNvSpPr txBox="1"/>
          <p:nvPr/>
        </p:nvSpPr>
        <p:spPr>
          <a:xfrm>
            <a:off x="5738353" y="2640563"/>
            <a:ext cx="4366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access the element in the list without list use [[ ]] to access objects in the list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E31E97-0FB3-22CE-A58F-83BF0DCB259C}"/>
              </a:ext>
            </a:extLst>
          </p:cNvPr>
          <p:cNvSpPr txBox="1"/>
          <p:nvPr/>
        </p:nvSpPr>
        <p:spPr>
          <a:xfrm>
            <a:off x="1801100" y="4905153"/>
            <a:ext cx="3629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the list and add element to it using double square bracket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C6F273-2145-5F5F-3F6C-29B078F68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265" y="4442505"/>
            <a:ext cx="3190875" cy="1571625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E1597B-72F2-9CC0-A1F2-5923AE01B7C2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 flipV="1">
            <a:off x="5431002" y="5228318"/>
            <a:ext cx="895263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545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50A69-4A5B-99D9-B52C-9187253ED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AEDAE-6BAA-EA39-77CB-0D34327EC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R-Matrix is a two-dimensional arrangement of data in rows and columns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 a matrix, rows are the ones that run horizontally and columns are the ones that run vertically. In </a:t>
            </a:r>
            <a:r>
              <a:rPr lang="en-US" u="sng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 programming</a:t>
            </a:r>
            <a:r>
              <a:rPr lang="en-US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matrices are two-dimensional, homogeneous data structures. These are some examples of matrices:</a:t>
            </a:r>
          </a:p>
          <a:p>
            <a:r>
              <a:rPr lang="en-US" b="1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 create a matrix in R use Matrix function</a:t>
            </a:r>
          </a:p>
          <a:p>
            <a:r>
              <a:rPr lang="en-US" dirty="0">
                <a:solidFill>
                  <a:srgbClr val="27323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Matrices are constructed column-wise so entries can be thought of starting in the upper left corner and running down the columns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574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A0065-C4E9-493A-D4F2-F0CC880E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01DDC-036D-9D1F-EED6-22BFEF660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1"/>
            <a:ext cx="9733383" cy="371323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The basic syntax for creating a matrix in R is 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the input vector which becomes the data elements of the matrix.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nrow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rows to be created.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ncol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columns to be created.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byrow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logical clue. If TRUE then the input vector elements are arranged by row.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dimname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names assigned to the rows and columns.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8F67F-C084-39D8-56A6-5008DBBC0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941" y="3055094"/>
            <a:ext cx="4762500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51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BBE2C-255B-C42D-8A21-B82F86981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ways of creation of matrices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511DA5-89B6-96D8-DFF2-5B13AA807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4628" y="2573630"/>
            <a:ext cx="3905197" cy="103731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C301E2-F24A-3C20-CC4F-E3F624E6D283}"/>
              </a:ext>
            </a:extLst>
          </p:cNvPr>
          <p:cNvSpPr txBox="1"/>
          <p:nvPr/>
        </p:nvSpPr>
        <p:spPr>
          <a:xfrm>
            <a:off x="1654627" y="3898578"/>
            <a:ext cx="9448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 can directly be created by vectors by adding a dimension attribute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354899-C5C3-EA0C-2561-6C706C866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843" y="4460618"/>
            <a:ext cx="4297079" cy="7430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736C99-FAA9-408A-A402-4D4FFBB8B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721" y="4355289"/>
            <a:ext cx="4292856" cy="127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835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934EE-8926-1C12-EC14-015C41959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bind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9" name="Picture 15" descr="rbind()-Function-1">
            <a:extLst>
              <a:ext uri="{FF2B5EF4-FFF2-40B4-BE49-F238E27FC236}">
                <a16:creationId xmlns:a16="http://schemas.microsoft.com/office/drawing/2014/main" id="{23C271E5-9433-767F-724D-0E689FE010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076" y="2491792"/>
            <a:ext cx="6449851" cy="3224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691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F4A7D-CBD6-7023-597B-5459F590B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usage of R-bind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B66BCD-6B56-3E09-93DF-062F92B7B3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2620" y="4415625"/>
            <a:ext cx="2613933" cy="138792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03787B-A7AF-9B3F-4F41-C9FC3D0A58C9}"/>
              </a:ext>
            </a:extLst>
          </p:cNvPr>
          <p:cNvSpPr txBox="1"/>
          <p:nvPr/>
        </p:nvSpPr>
        <p:spPr>
          <a:xfrm>
            <a:off x="1657739" y="3940870"/>
            <a:ext cx="2201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one Matrix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ED24BF-FB22-8DBC-12F8-A2F6CD4333B5}"/>
              </a:ext>
            </a:extLst>
          </p:cNvPr>
          <p:cNvSpPr txBox="1"/>
          <p:nvPr/>
        </p:nvSpPr>
        <p:spPr>
          <a:xfrm>
            <a:off x="4653684" y="3940870"/>
            <a:ext cx="2557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second Matrix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94DA03-A297-05E7-8B5D-3F289CECA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228" y="4415626"/>
            <a:ext cx="2843014" cy="13879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7CF89C-E4C4-F497-AA3D-C0EA6D0695CA}"/>
              </a:ext>
            </a:extLst>
          </p:cNvPr>
          <p:cNvSpPr txBox="1"/>
          <p:nvPr/>
        </p:nvSpPr>
        <p:spPr>
          <a:xfrm>
            <a:off x="7820507" y="3740815"/>
            <a:ext cx="2898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result using R bind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5ED395-0916-4611-3974-DAF94D7B4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496" y="4146669"/>
            <a:ext cx="2528764" cy="17799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7C40FD-5E94-8440-A481-B79D651EF0FD}"/>
              </a:ext>
            </a:extLst>
          </p:cNvPr>
          <p:cNvSpPr txBox="1"/>
          <p:nvPr/>
        </p:nvSpPr>
        <p:spPr>
          <a:xfrm>
            <a:off x="1657739" y="2648786"/>
            <a:ext cx="80181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 </a:t>
            </a:r>
            <a:r>
              <a:rPr lang="en-IN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rbind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function combines or concatenates data frames or matrices by rows. the </a:t>
            </a:r>
            <a:r>
              <a:rPr lang="en-IN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rbind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stands for row binds it shows that it appends rows of one object to another.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5547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6915C-B9E8-BD73-1795-51AC80507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88ECB-E871-2715-46EB-FB3EF3B35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are used to represent categorical data(ordered as well as unordered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integer where each integer is label.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with labels is better than using integer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having variables “male” and “female” is better than having values “0” and “1”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can be created with the help of factor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factors in dataset (gender, availability, marital status 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382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32488-A0B0-00FA-940B-B2705165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factor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CD495B-5206-3E63-4722-627CE2164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3128" y="2848903"/>
            <a:ext cx="8928312" cy="255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2949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6D01A-EF42-C2C1-DB09-ED55596C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in R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E019E4C-9C3F-194F-6DF8-B85DE9771D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5656" y="3429000"/>
            <a:ext cx="1596280" cy="123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FE01A4-0362-741D-03C0-65955F7F9A25}"/>
              </a:ext>
            </a:extLst>
          </p:cNvPr>
          <p:cNvCxnSpPr>
            <a:cxnSpLocks/>
          </p:cNvCxnSpPr>
          <p:nvPr/>
        </p:nvCxnSpPr>
        <p:spPr>
          <a:xfrm flipH="1" flipV="1">
            <a:off x="4376057" y="3725651"/>
            <a:ext cx="1184244" cy="1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9A3131-0AE2-BBFC-BFCD-66AF45FF78E5}"/>
              </a:ext>
            </a:extLst>
          </p:cNvPr>
          <p:cNvCxnSpPr/>
          <p:nvPr/>
        </p:nvCxnSpPr>
        <p:spPr>
          <a:xfrm flipV="1">
            <a:off x="4376057" y="3107093"/>
            <a:ext cx="0" cy="6438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4D7BF7-AA89-48DE-8937-88F4BFE7D1B9}"/>
              </a:ext>
            </a:extLst>
          </p:cNvPr>
          <p:cNvCxnSpPr>
            <a:cxnSpLocks/>
          </p:cNvCxnSpPr>
          <p:nvPr/>
        </p:nvCxnSpPr>
        <p:spPr>
          <a:xfrm flipH="1" flipV="1">
            <a:off x="7007290" y="3725650"/>
            <a:ext cx="1184244" cy="1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8CC049-76D5-52F6-46F7-47DEFBB15AB2}"/>
              </a:ext>
            </a:extLst>
          </p:cNvPr>
          <p:cNvCxnSpPr/>
          <p:nvPr/>
        </p:nvCxnSpPr>
        <p:spPr>
          <a:xfrm flipV="1">
            <a:off x="8191534" y="3107093"/>
            <a:ext cx="0" cy="6438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E660A3A-3F1E-077C-D0BF-DCC0CE2B9BBD}"/>
              </a:ext>
            </a:extLst>
          </p:cNvPr>
          <p:cNvCxnSpPr>
            <a:cxnSpLocks/>
          </p:cNvCxnSpPr>
          <p:nvPr/>
        </p:nvCxnSpPr>
        <p:spPr>
          <a:xfrm flipH="1" flipV="1">
            <a:off x="4376057" y="4318240"/>
            <a:ext cx="1184244" cy="1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113BA4-B11D-8C6E-5312-2FE251D5A1D6}"/>
              </a:ext>
            </a:extLst>
          </p:cNvPr>
          <p:cNvCxnSpPr>
            <a:cxnSpLocks/>
          </p:cNvCxnSpPr>
          <p:nvPr/>
        </p:nvCxnSpPr>
        <p:spPr>
          <a:xfrm>
            <a:off x="4376057" y="4304960"/>
            <a:ext cx="0" cy="7223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AB4B58-9AF4-8645-C6AE-CEA818AC4A6B}"/>
              </a:ext>
            </a:extLst>
          </p:cNvPr>
          <p:cNvCxnSpPr>
            <a:cxnSpLocks/>
          </p:cNvCxnSpPr>
          <p:nvPr/>
        </p:nvCxnSpPr>
        <p:spPr>
          <a:xfrm flipH="1" flipV="1">
            <a:off x="7007290" y="4262007"/>
            <a:ext cx="1184244" cy="1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BA4F36-E6CD-4CD6-1A84-1200C54D2D5C}"/>
              </a:ext>
            </a:extLst>
          </p:cNvPr>
          <p:cNvCxnSpPr>
            <a:cxnSpLocks/>
          </p:cNvCxnSpPr>
          <p:nvPr/>
        </p:nvCxnSpPr>
        <p:spPr>
          <a:xfrm>
            <a:off x="8191534" y="4224905"/>
            <a:ext cx="0" cy="722313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FB98D5F-2372-C406-7CD0-DFB7DE3D9AFE}"/>
              </a:ext>
            </a:extLst>
          </p:cNvPr>
          <p:cNvSpPr txBox="1"/>
          <p:nvPr/>
        </p:nvSpPr>
        <p:spPr>
          <a:xfrm>
            <a:off x="3254020" y="2486110"/>
            <a:ext cx="1492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85E716-96B9-DB3F-5575-43E9A70AB968}"/>
              </a:ext>
            </a:extLst>
          </p:cNvPr>
          <p:cNvSpPr txBox="1"/>
          <p:nvPr/>
        </p:nvSpPr>
        <p:spPr>
          <a:xfrm>
            <a:off x="7445087" y="2424464"/>
            <a:ext cx="1492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4B4262-57DC-9413-2156-9F540F65B353}"/>
              </a:ext>
            </a:extLst>
          </p:cNvPr>
          <p:cNvSpPr txBox="1"/>
          <p:nvPr/>
        </p:nvSpPr>
        <p:spPr>
          <a:xfrm>
            <a:off x="3387759" y="5040553"/>
            <a:ext cx="1492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B1C861-42FC-F56C-36FE-AE65B7B33C5E}"/>
              </a:ext>
            </a:extLst>
          </p:cNvPr>
          <p:cNvSpPr txBox="1"/>
          <p:nvPr/>
        </p:nvSpPr>
        <p:spPr>
          <a:xfrm>
            <a:off x="7599412" y="4984320"/>
            <a:ext cx="1492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 Operator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3B3FCD-1B4F-ACC2-44D4-EA0CFBB6CED7}"/>
              </a:ext>
            </a:extLst>
          </p:cNvPr>
          <p:cNvSpPr txBox="1"/>
          <p:nvPr/>
        </p:nvSpPr>
        <p:spPr>
          <a:xfrm>
            <a:off x="1436175" y="2486110"/>
            <a:ext cx="21187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Subtraction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Modulus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Division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875AEA-5A5F-AA0B-1EF5-4E5ABE39BBAB}"/>
              </a:ext>
            </a:extLst>
          </p:cNvPr>
          <p:cNvSpPr txBox="1"/>
          <p:nvPr/>
        </p:nvSpPr>
        <p:spPr>
          <a:xfrm>
            <a:off x="8637039" y="2424464"/>
            <a:ext cx="1596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C28F5D-492C-75D7-E598-A8D8F4C36FB2}"/>
              </a:ext>
            </a:extLst>
          </p:cNvPr>
          <p:cNvSpPr txBox="1"/>
          <p:nvPr/>
        </p:nvSpPr>
        <p:spPr>
          <a:xfrm>
            <a:off x="8983883" y="4947218"/>
            <a:ext cx="2054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than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than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 to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equal to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39F230-9FD5-5B68-E59B-D3D1FC0D2479}"/>
              </a:ext>
            </a:extLst>
          </p:cNvPr>
          <p:cNvSpPr txBox="1"/>
          <p:nvPr/>
        </p:nvSpPr>
        <p:spPr>
          <a:xfrm>
            <a:off x="1704987" y="5040553"/>
            <a:ext cx="21187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Leftwards Assignment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Rightwards Assignment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265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2147F-9116-329E-7AD9-F4F24D95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6E77F-5FB3-E854-8377-652359503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are absent for specific variable in dataset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can be represented by various ways such as blank cells, symbols like NA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programming languages and data analysis tools, NA is used as a placeholder for missing values, allowing for proper handling during data processing.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context of data preprocessing, "NA" and "NAN" are used to represent missing values: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Not Available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Not a Number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4522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ABD2-01FF-2BD0-1AD7-AED84D4F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60778-CEB5-5EB0-046D-D4C65D196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data preprocessing, handling these missing values appropriately is crucial for accurate analysis and modeling. 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techniques include: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Imputation: Filling missing values with mean, median mode etc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Removal: delete rows which contains Null Values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Algorithms: Use appropriate ML algorithms which can handle missing values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Values have class also, so there are integer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NA,character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837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898B-3B11-25F1-3D8E-CB26FEDC9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missing Number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ABC886-805C-0188-C2E4-71F0767E9B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4237" y="2693112"/>
            <a:ext cx="2859056" cy="17544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398733-3DDE-3B0D-AE86-0C972C8E8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615" y="2800355"/>
            <a:ext cx="3295650" cy="1409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C6955A-F045-FDAA-4440-AE2536B5B650}"/>
              </a:ext>
            </a:extLst>
          </p:cNvPr>
          <p:cNvSpPr txBox="1"/>
          <p:nvPr/>
        </p:nvSpPr>
        <p:spPr>
          <a:xfrm>
            <a:off x="5427889" y="2423245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2A1B8-CCD4-0ECA-B4FD-BE22D151E907}"/>
              </a:ext>
            </a:extLst>
          </p:cNvPr>
          <p:cNvSpPr txBox="1"/>
          <p:nvPr/>
        </p:nvSpPr>
        <p:spPr>
          <a:xfrm>
            <a:off x="1474237" y="2423245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37314E-FB99-B63A-FC5D-67DFD6B29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765" y="4348066"/>
            <a:ext cx="3554963" cy="14420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CAB551-0D66-75A5-9264-F532974B9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615" y="4348066"/>
            <a:ext cx="40386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9000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2042</TotalTime>
  <Words>1236</Words>
  <Application>Microsoft Office PowerPoint</Application>
  <PresentationFormat>Widescreen</PresentationFormat>
  <Paragraphs>166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Garamond</vt:lpstr>
      <vt:lpstr>Times New Roman</vt:lpstr>
      <vt:lpstr>Wingdings</vt:lpstr>
      <vt:lpstr>Organic</vt:lpstr>
      <vt:lpstr>R basics</vt:lpstr>
      <vt:lpstr>Content</vt:lpstr>
      <vt:lpstr>Basic Operations in R </vt:lpstr>
      <vt:lpstr>Basic Operations in R </vt:lpstr>
      <vt:lpstr>Basic Operations in R </vt:lpstr>
      <vt:lpstr>Basic Operations in R</vt:lpstr>
      <vt:lpstr>Basic Operations in R</vt:lpstr>
      <vt:lpstr>R data types</vt:lpstr>
      <vt:lpstr>Numeric</vt:lpstr>
      <vt:lpstr>Integer</vt:lpstr>
      <vt:lpstr>Character </vt:lpstr>
      <vt:lpstr>String operations</vt:lpstr>
      <vt:lpstr>PowerPoint Presentation</vt:lpstr>
      <vt:lpstr>Coercion</vt:lpstr>
      <vt:lpstr>Coercion Demo in R</vt:lpstr>
      <vt:lpstr>Data structures in R </vt:lpstr>
      <vt:lpstr>Types of Data structures in R</vt:lpstr>
      <vt:lpstr>Exercise on conditional statements, control flow statements</vt:lpstr>
      <vt:lpstr>Vector</vt:lpstr>
      <vt:lpstr>Different ways to create vector</vt:lpstr>
      <vt:lpstr>Exercise on vectors</vt:lpstr>
      <vt:lpstr>Lists</vt:lpstr>
      <vt:lpstr>Basic Operations on lists</vt:lpstr>
      <vt:lpstr>Matrices</vt:lpstr>
      <vt:lpstr>Matrices</vt:lpstr>
      <vt:lpstr>Different ways of creation of matrices</vt:lpstr>
      <vt:lpstr>R bind</vt:lpstr>
      <vt:lpstr>Practical usage of R-bind</vt:lpstr>
      <vt:lpstr>Factors </vt:lpstr>
      <vt:lpstr>Creating a factor</vt:lpstr>
      <vt:lpstr>Operators in R</vt:lpstr>
      <vt:lpstr>Missing values </vt:lpstr>
      <vt:lpstr>Missing values </vt:lpstr>
      <vt:lpstr>Examples of missing Number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Shrikrishna Narvekar</dc:creator>
  <cp:lastModifiedBy>Shrikrishna Narvekar</cp:lastModifiedBy>
  <cp:revision>16</cp:revision>
  <dcterms:created xsi:type="dcterms:W3CDTF">2024-07-31T11:02:54Z</dcterms:created>
  <dcterms:modified xsi:type="dcterms:W3CDTF">2025-11-03T08:03:30Z</dcterms:modified>
</cp:coreProperties>
</file>