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74" r:id="rId12"/>
    <p:sldId id="267" r:id="rId13"/>
    <p:sldId id="268" r:id="rId14"/>
    <p:sldId id="270" r:id="rId15"/>
    <p:sldId id="271" r:id="rId16"/>
    <p:sldId id="272" r:id="rId17"/>
    <p:sldId id="273" r:id="rId18"/>
    <p:sldId id="275" r:id="rId19"/>
    <p:sldId id="276" r:id="rId20"/>
    <p:sldId id="277" r:id="rId21"/>
    <p:sldId id="278" r:id="rId22"/>
    <p:sldId id="279" r:id="rId23"/>
    <p:sldId id="280" r:id="rId24"/>
    <p:sldId id="281"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256" autoAdjust="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773EFD-8061-4AA5-AD48-D613567EF4BD}" type="datetimeFigureOut">
              <a:rPr lang="en-IN" smtClean="0"/>
              <a:t>10-10-2025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E57F73-7458-47F6-B04E-626402D51C85}" type="slidenum">
              <a:rPr lang="en-IN" smtClean="0"/>
              <a:t>‹#›</a:t>
            </a:fld>
            <a:endParaRPr lang="en-IN"/>
          </a:p>
        </p:txBody>
      </p:sp>
    </p:spTree>
    <p:extLst>
      <p:ext uri="{BB962C8B-B14F-4D97-AF65-F5344CB8AC3E}">
        <p14:creationId xmlns:p14="http://schemas.microsoft.com/office/powerpoint/2010/main" val="1977473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0E57F73-7458-47F6-B04E-626402D51C85}" type="slidenum">
              <a:rPr lang="en-IN" smtClean="0"/>
              <a:t>3</a:t>
            </a:fld>
            <a:endParaRPr lang="en-IN"/>
          </a:p>
        </p:txBody>
      </p:sp>
    </p:spTree>
    <p:extLst>
      <p:ext uri="{BB962C8B-B14F-4D97-AF65-F5344CB8AC3E}">
        <p14:creationId xmlns:p14="http://schemas.microsoft.com/office/powerpoint/2010/main" val="2100747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Medical Domain: Predicting Treatment Success</a:t>
            </a:r>
          </a:p>
          <a:p>
            <a:r>
              <a:rPr lang="en-US" b="1" dirty="0"/>
              <a:t>Use Case:</a:t>
            </a:r>
            <a:br>
              <a:rPr lang="en-US" dirty="0"/>
            </a:br>
            <a:r>
              <a:rPr lang="en-US" dirty="0"/>
              <a:t>Predicting the </a:t>
            </a:r>
            <a:r>
              <a:rPr lang="en-US" b="1" dirty="0"/>
              <a:t>probability of a patient’s successful response to a specific medical treatment</a:t>
            </a:r>
            <a:r>
              <a:rPr lang="en-US" dirty="0"/>
              <a:t>.</a:t>
            </a:r>
          </a:p>
          <a:p>
            <a:r>
              <a:rPr lang="en-US" b="1" dirty="0"/>
              <a:t>Input Features:</a:t>
            </a:r>
            <a:endParaRPr lang="en-US" dirty="0"/>
          </a:p>
          <a:p>
            <a:r>
              <a:rPr lang="en-US" dirty="0"/>
              <a:t>Age of patient</a:t>
            </a:r>
          </a:p>
          <a:p>
            <a:r>
              <a:rPr lang="en-US" dirty="0"/>
              <a:t>Weight</a:t>
            </a:r>
          </a:p>
          <a:p>
            <a:r>
              <a:rPr lang="en-US" dirty="0"/>
              <a:t>Blood pressure</a:t>
            </a:r>
          </a:p>
          <a:p>
            <a:r>
              <a:rPr lang="en-US" dirty="0"/>
              <a:t>Cholesterol level</a:t>
            </a:r>
          </a:p>
          <a:p>
            <a:r>
              <a:rPr lang="en-US" dirty="0"/>
              <a:t>Dosage of medication</a:t>
            </a:r>
          </a:p>
          <a:p>
            <a:r>
              <a:rPr lang="en-US" b="1" dirty="0"/>
              <a:t>Output:</a:t>
            </a:r>
            <a:endParaRPr lang="en-US" dirty="0"/>
          </a:p>
          <a:p>
            <a:r>
              <a:rPr lang="en-US" dirty="0"/>
              <a:t>1 → Successful treatment</a:t>
            </a:r>
          </a:p>
          <a:p>
            <a:r>
              <a:rPr lang="en-US" dirty="0"/>
              <a:t>0 → Unsuccessful treatment</a:t>
            </a:r>
          </a:p>
          <a:p>
            <a:r>
              <a:rPr lang="en-US" b="1" dirty="0"/>
              <a:t>Example Interpretation:</a:t>
            </a:r>
            <a:br>
              <a:rPr lang="en-US" dirty="0"/>
            </a:br>
            <a:r>
              <a:rPr lang="en-US" dirty="0"/>
              <a:t>If the model predicts a probability of </a:t>
            </a:r>
            <a:r>
              <a:rPr lang="en-US" b="1" dirty="0"/>
              <a:t>0.85</a:t>
            </a:r>
            <a:r>
              <a:rPr lang="en-US" dirty="0"/>
              <a:t>, it means there’s an </a:t>
            </a:r>
            <a:r>
              <a:rPr lang="en-US" b="1" dirty="0"/>
              <a:t>85% chance</a:t>
            </a:r>
            <a:r>
              <a:rPr lang="en-US" dirty="0"/>
              <a:t> that the patient will respond positively to the treatment.</a:t>
            </a:r>
          </a:p>
          <a:p>
            <a:r>
              <a:rPr lang="en-US" b="1" dirty="0"/>
              <a:t>2. Finance Domain: Loan Default Prediction</a:t>
            </a:r>
          </a:p>
          <a:p>
            <a:r>
              <a:rPr lang="en-US" b="1" dirty="0"/>
              <a:t>Use Case:</a:t>
            </a:r>
            <a:br>
              <a:rPr lang="en-US" dirty="0"/>
            </a:br>
            <a:r>
              <a:rPr lang="en-US" dirty="0"/>
              <a:t>Estimating the </a:t>
            </a:r>
            <a:r>
              <a:rPr lang="en-US" b="1" dirty="0"/>
              <a:t>probability that a loan applicant will default</a:t>
            </a:r>
            <a:r>
              <a:rPr lang="en-US" dirty="0"/>
              <a:t> on repayment.</a:t>
            </a:r>
          </a:p>
          <a:p>
            <a:r>
              <a:rPr lang="en-US" b="1" dirty="0"/>
              <a:t>Input Features:</a:t>
            </a:r>
            <a:endParaRPr lang="en-US" dirty="0"/>
          </a:p>
          <a:p>
            <a:r>
              <a:rPr lang="en-US" dirty="0"/>
              <a:t>Applicant’s income</a:t>
            </a:r>
          </a:p>
          <a:p>
            <a:r>
              <a:rPr lang="en-US" dirty="0"/>
              <a:t>Loan amount</a:t>
            </a:r>
          </a:p>
          <a:p>
            <a:r>
              <a:rPr lang="en-US" dirty="0"/>
              <a:t>Credit score</a:t>
            </a:r>
          </a:p>
          <a:p>
            <a:r>
              <a:rPr lang="en-US" dirty="0"/>
              <a:t>Employment history</a:t>
            </a:r>
          </a:p>
          <a:p>
            <a:r>
              <a:rPr lang="en-US" dirty="0"/>
              <a:t>Number of existing loans</a:t>
            </a:r>
          </a:p>
          <a:p>
            <a:r>
              <a:rPr lang="en-US" b="1" dirty="0"/>
              <a:t>Output:</a:t>
            </a:r>
            <a:endParaRPr lang="en-US" dirty="0"/>
          </a:p>
          <a:p>
            <a:r>
              <a:rPr lang="en-US" dirty="0"/>
              <a:t>1 → Applicant will default</a:t>
            </a:r>
          </a:p>
          <a:p>
            <a:r>
              <a:rPr lang="en-US" dirty="0"/>
              <a:t>0 → Applicant will not default</a:t>
            </a:r>
          </a:p>
          <a:p>
            <a:r>
              <a:rPr lang="en-US" b="1" dirty="0"/>
              <a:t>Example Interpretation:</a:t>
            </a:r>
            <a:br>
              <a:rPr lang="en-US" dirty="0"/>
            </a:br>
            <a:r>
              <a:rPr lang="en-US" dirty="0"/>
              <a:t>If the predicted probability is </a:t>
            </a:r>
            <a:r>
              <a:rPr lang="en-US" b="1" dirty="0"/>
              <a:t>0.7</a:t>
            </a:r>
            <a:r>
              <a:rPr lang="en-US" dirty="0"/>
              <a:t>, the bank may decide to </a:t>
            </a:r>
            <a:r>
              <a:rPr lang="en-US" b="1" dirty="0"/>
              <a:t>reject or review</a:t>
            </a:r>
            <a:r>
              <a:rPr lang="en-US" dirty="0"/>
              <a:t> the loan application since there’s a </a:t>
            </a:r>
            <a:r>
              <a:rPr lang="en-US" b="1" dirty="0"/>
              <a:t>70% chance of default</a:t>
            </a:r>
            <a:r>
              <a:rPr lang="en-US" dirty="0"/>
              <a:t>.</a:t>
            </a:r>
          </a:p>
          <a:p>
            <a:r>
              <a:rPr lang="en-US" b="1" dirty="0"/>
              <a:t>3. Marketing Domain: Customer Churn Prediction</a:t>
            </a:r>
          </a:p>
          <a:p>
            <a:r>
              <a:rPr lang="en-US" b="1" dirty="0"/>
              <a:t>Use Case:</a:t>
            </a:r>
            <a:br>
              <a:rPr lang="en-US" dirty="0"/>
            </a:br>
            <a:r>
              <a:rPr lang="en-US" dirty="0"/>
              <a:t>Predicting the </a:t>
            </a:r>
            <a:r>
              <a:rPr lang="en-US" b="1" dirty="0"/>
              <a:t>probability that a wireless customer will switch to another carrier (churn)</a:t>
            </a:r>
            <a:r>
              <a:rPr lang="en-US" dirty="0"/>
              <a:t>.</a:t>
            </a:r>
          </a:p>
          <a:p>
            <a:r>
              <a:rPr lang="en-US" b="1" dirty="0"/>
              <a:t>Input Features:</a:t>
            </a:r>
            <a:endParaRPr lang="en-US" dirty="0"/>
          </a:p>
          <a:p>
            <a:r>
              <a:rPr lang="en-US" dirty="0"/>
              <a:t>Monthly charges</a:t>
            </a:r>
          </a:p>
          <a:p>
            <a:r>
              <a:rPr lang="en-US" dirty="0"/>
              <a:t>Contract type (prepaid/postpaid)</a:t>
            </a:r>
          </a:p>
          <a:p>
            <a:r>
              <a:rPr lang="en-US" dirty="0"/>
              <a:t>Customer service calls</a:t>
            </a:r>
          </a:p>
          <a:p>
            <a:r>
              <a:rPr lang="en-US" dirty="0"/>
              <a:t>Tenure (how long they’ve been a customer)</a:t>
            </a:r>
          </a:p>
          <a:p>
            <a:r>
              <a:rPr lang="en-US" dirty="0"/>
              <a:t>Internet usage</a:t>
            </a:r>
          </a:p>
          <a:p>
            <a:r>
              <a:rPr lang="en-US" b="1" dirty="0"/>
              <a:t>Output:</a:t>
            </a:r>
            <a:endParaRPr lang="en-US" dirty="0"/>
          </a:p>
          <a:p>
            <a:r>
              <a:rPr lang="en-US" dirty="0"/>
              <a:t>1 → Customer likely to churn</a:t>
            </a:r>
          </a:p>
          <a:p>
            <a:r>
              <a:rPr lang="en-US" dirty="0"/>
              <a:t>0 → Customer likely to stay</a:t>
            </a:r>
          </a:p>
          <a:p>
            <a:r>
              <a:rPr lang="en-US" b="1" dirty="0"/>
              <a:t>Example Interpretation:</a:t>
            </a:r>
            <a:br>
              <a:rPr lang="en-US" dirty="0"/>
            </a:br>
            <a:r>
              <a:rPr lang="en-US" dirty="0"/>
              <a:t>A probability of </a:t>
            </a:r>
            <a:r>
              <a:rPr lang="en-US" b="1" dirty="0"/>
              <a:t>0.6</a:t>
            </a:r>
            <a:r>
              <a:rPr lang="en-US" dirty="0"/>
              <a:t> means the customer has a </a:t>
            </a:r>
            <a:r>
              <a:rPr lang="en-US" b="1" dirty="0"/>
              <a:t>60% chance of leaving</a:t>
            </a:r>
            <a:r>
              <a:rPr lang="en-US" dirty="0"/>
              <a:t>, prompting the company to offer retention benefits.</a:t>
            </a:r>
          </a:p>
          <a:p>
            <a:br>
              <a:rPr lang="en-US" dirty="0"/>
            </a:br>
            <a:endParaRPr lang="en-US" dirty="0"/>
          </a:p>
          <a:p>
            <a:r>
              <a:rPr lang="en-US" b="1" dirty="0"/>
              <a:t>4. Engineering Domain: Predicting Part Failure</a:t>
            </a:r>
          </a:p>
          <a:p>
            <a:r>
              <a:rPr lang="en-US" b="1" dirty="0"/>
              <a:t>Use Case:</a:t>
            </a:r>
            <a:br>
              <a:rPr lang="en-US" dirty="0"/>
            </a:br>
            <a:r>
              <a:rPr lang="en-US" dirty="0"/>
              <a:t>Determining the </a:t>
            </a:r>
            <a:r>
              <a:rPr lang="en-US" b="1" dirty="0"/>
              <a:t>probability that a mechanical part will malfunction or fail</a:t>
            </a:r>
            <a:r>
              <a:rPr lang="en-US" dirty="0"/>
              <a:t> under certain conditions.</a:t>
            </a:r>
          </a:p>
          <a:p>
            <a:r>
              <a:rPr lang="en-US" b="1" dirty="0"/>
              <a:t>Input Features:</a:t>
            </a:r>
            <a:endParaRPr lang="en-US" dirty="0"/>
          </a:p>
          <a:p>
            <a:r>
              <a:rPr lang="en-US" dirty="0"/>
              <a:t>Operating temperature</a:t>
            </a:r>
          </a:p>
          <a:p>
            <a:r>
              <a:rPr lang="en-US" dirty="0"/>
              <a:t>Pressure</a:t>
            </a:r>
          </a:p>
          <a:p>
            <a:r>
              <a:rPr lang="en-US" dirty="0"/>
              <a:t>Usage time</a:t>
            </a:r>
          </a:p>
          <a:p>
            <a:r>
              <a:rPr lang="en-US" dirty="0"/>
              <a:t>Material quality</a:t>
            </a:r>
          </a:p>
          <a:p>
            <a:r>
              <a:rPr lang="en-US" dirty="0"/>
              <a:t>Load capacity</a:t>
            </a:r>
          </a:p>
          <a:p>
            <a:r>
              <a:rPr lang="en-US" b="1" dirty="0"/>
              <a:t>Output:</a:t>
            </a:r>
            <a:endParaRPr lang="en-US" dirty="0"/>
          </a:p>
          <a:p>
            <a:r>
              <a:rPr lang="en-US" dirty="0"/>
              <a:t>1 → Part will fail</a:t>
            </a:r>
          </a:p>
          <a:p>
            <a:r>
              <a:rPr lang="en-US" dirty="0"/>
              <a:t>0 → Part will not fail</a:t>
            </a:r>
          </a:p>
          <a:p>
            <a:r>
              <a:rPr lang="en-US" b="1" dirty="0"/>
              <a:t>Example Interpretation:</a:t>
            </a:r>
            <a:br>
              <a:rPr lang="en-US" dirty="0"/>
            </a:br>
            <a:r>
              <a:rPr lang="en-US" dirty="0"/>
              <a:t>If a part shows a </a:t>
            </a:r>
            <a:r>
              <a:rPr lang="en-US" b="1" dirty="0"/>
              <a:t>0.9 probability of failure</a:t>
            </a:r>
            <a:r>
              <a:rPr lang="en-US" dirty="0"/>
              <a:t>, it signals engineers to </a:t>
            </a:r>
            <a:r>
              <a:rPr lang="en-US" b="1" dirty="0"/>
              <a:t>replace or inspect the part</a:t>
            </a:r>
            <a:r>
              <a:rPr lang="en-US" dirty="0"/>
              <a:t> before usage.</a:t>
            </a:r>
          </a:p>
          <a:p>
            <a:endParaRPr lang="en-IN" dirty="0"/>
          </a:p>
        </p:txBody>
      </p:sp>
      <p:sp>
        <p:nvSpPr>
          <p:cNvPr id="4" name="Slide Number Placeholder 3"/>
          <p:cNvSpPr>
            <a:spLocks noGrp="1"/>
          </p:cNvSpPr>
          <p:nvPr>
            <p:ph type="sldNum" sz="quarter" idx="5"/>
          </p:nvPr>
        </p:nvSpPr>
        <p:spPr/>
        <p:txBody>
          <a:bodyPr/>
          <a:lstStyle/>
          <a:p>
            <a:fld id="{40E57F73-7458-47F6-B04E-626402D51C85}" type="slidenum">
              <a:rPr lang="en-IN" smtClean="0"/>
              <a:t>8</a:t>
            </a:fld>
            <a:endParaRPr lang="en-IN"/>
          </a:p>
        </p:txBody>
      </p:sp>
    </p:spTree>
    <p:extLst>
      <p:ext uri="{BB962C8B-B14F-4D97-AF65-F5344CB8AC3E}">
        <p14:creationId xmlns:p14="http://schemas.microsoft.com/office/powerpoint/2010/main" val="3691239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This means the odds of buying the product are 3 to 1 (3 times more likely to buy than not buy).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5"/>
          </p:nvPr>
        </p:nvSpPr>
        <p:spPr/>
        <p:txBody>
          <a:bodyPr/>
          <a:lstStyle/>
          <a:p>
            <a:fld id="{40E57F73-7458-47F6-B04E-626402D51C85}" type="slidenum">
              <a:rPr lang="en-IN" smtClean="0"/>
              <a:t>14</a:t>
            </a:fld>
            <a:endParaRPr lang="en-IN"/>
          </a:p>
        </p:txBody>
      </p:sp>
    </p:spTree>
    <p:extLst>
      <p:ext uri="{BB962C8B-B14F-4D97-AF65-F5344CB8AC3E}">
        <p14:creationId xmlns:p14="http://schemas.microsoft.com/office/powerpoint/2010/main" val="18778830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IN" b="1" dirty="0" err="1"/>
                  <a:t>imple</a:t>
                </a:r>
                <a:r>
                  <a:rPr lang="en-IN" b="1" dirty="0"/>
                  <a:t> Example: Predicting Exam Pass or Fail</a:t>
                </a:r>
              </a:p>
              <a:p>
                <a:r>
                  <a:rPr lang="en-IN" dirty="0"/>
                  <a:t>Let’s say we’re trying to predict whether a student </a:t>
                </a:r>
                <a:r>
                  <a:rPr lang="en-IN" b="1" dirty="0"/>
                  <a:t>passes (1)</a:t>
                </a:r>
                <a:r>
                  <a:rPr lang="en-IN" dirty="0"/>
                  <a:t> or </a:t>
                </a:r>
                <a:r>
                  <a:rPr lang="en-IN" b="1" dirty="0"/>
                  <a:t>fails (0)</a:t>
                </a:r>
                <a:r>
                  <a:rPr lang="en-IN" dirty="0"/>
                  <a:t> an exam based on the </a:t>
                </a:r>
                <a:r>
                  <a:rPr lang="en-IN" b="1" dirty="0"/>
                  <a:t>number of hours studied</a:t>
                </a:r>
                <a:r>
                  <a:rPr lang="en-IN" dirty="0"/>
                  <a:t>.</a:t>
                </a:r>
              </a:p>
              <a:p>
                <a:r>
                  <a:rPr lang="en-IN" dirty="0" err="1"/>
                  <a:t>StudentHours</a:t>
                </a:r>
                <a:r>
                  <a:rPr lang="en-IN" dirty="0"/>
                  <a:t> Studied (X)Passed (Y)110220330451561681</a:t>
                </a:r>
              </a:p>
              <a:p>
                <a:br>
                  <a:rPr lang="en-IN" dirty="0"/>
                </a:br>
                <a:endParaRPr lang="en-IN" dirty="0"/>
              </a:p>
              <a:p>
                <a:r>
                  <a:rPr lang="en-IN" b="1" dirty="0"/>
                  <a:t>Step 1: The Logistic Regression Model</a:t>
                </a:r>
              </a:p>
              <a:p>
                <a:r>
                  <a:rPr lang="en-IN" dirty="0"/>
                  <a:t>The model predicts the </a:t>
                </a:r>
                <a:r>
                  <a:rPr lang="en-IN" b="1" dirty="0"/>
                  <a:t>probability of passing (Y=1)</a:t>
                </a:r>
                <a:r>
                  <a:rPr lang="en-IN" dirty="0"/>
                  <a:t> using the sigmoid function:</a:t>
                </a:r>
              </a:p>
              <a:p>
                <a:pPr/>
                <a14:m>
                  <m:oMathPara xmlns:m="http://schemas.openxmlformats.org/officeDocument/2006/math">
                    <m:oMathParaPr>
                      <m:jc m:val="centerGroup"/>
                    </m:oMathParaPr>
                    <m:oMath xmlns:m="http://schemas.openxmlformats.org/officeDocument/2006/math">
                      <m:r>
                        <a:rPr lang="en-IN" sz="1200" i="1" kern="1200">
                          <a:solidFill>
                            <a:schemeClr val="tx1"/>
                          </a:solidFill>
                          <a:latin typeface="Cambria Math" panose="02040503050406030204" pitchFamily="18" charset="0"/>
                          <a:ea typeface="+mn-ea"/>
                          <a:cs typeface="+mn-cs"/>
                        </a:rPr>
                        <m:t>𝑃</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𝑌</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𝑋</m:t>
                          </m:r>
                        </m:e>
                      </m:d>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1</m:t>
                          </m:r>
                        </m:num>
                        <m:den>
                          <m:r>
                            <a:rPr lang="ar-AE" sz="1200" i="0" kern="1200">
                              <a:solidFill>
                                <a:schemeClr val="tx1"/>
                              </a:solidFill>
                              <a:latin typeface="Cambria Math" panose="02040503050406030204" pitchFamily="18" charset="0"/>
                              <a:ea typeface="+mn-ea"/>
                              <a:cs typeface="+mn-cs"/>
                            </a:rPr>
                            <m:t>1</m:t>
                          </m:r>
                          <m:r>
                            <a:rPr lang="ar-AE" sz="1200" i="0" kern="1200">
                              <a:solidFill>
                                <a:schemeClr val="tx1"/>
                              </a:solidFill>
                              <a:latin typeface="Cambria Math" panose="02040503050406030204" pitchFamily="18" charset="0"/>
                              <a:ea typeface="+mn-ea"/>
                              <a:cs typeface="+mn-cs"/>
                            </a:rPr>
                            <m:t>+</m:t>
                          </m:r>
                          <m:sSup>
                            <m:sSupPr>
                              <m:ctrlPr>
                                <a:rPr lang="ar-AE" sz="1200" i="1" kern="1200">
                                  <a:solidFill>
                                    <a:schemeClr val="tx1"/>
                                  </a:solidFill>
                                  <a:latin typeface="Cambria Math" panose="02040503050406030204" pitchFamily="18" charset="0"/>
                                  <a:ea typeface="+mn-ea"/>
                                  <a:cs typeface="+mn-cs"/>
                                </a:rPr>
                              </m:ctrlPr>
                            </m:sSupPr>
                            <m:e>
                              <m:r>
                                <a:rPr lang="ar-AE" sz="1200" i="1" kern="1200">
                                  <a:solidFill>
                                    <a:schemeClr val="tx1"/>
                                  </a:solidFill>
                                  <a:latin typeface="Cambria Math" panose="02040503050406030204" pitchFamily="18" charset="0"/>
                                  <a:ea typeface="+mn-ea"/>
                                  <a:cs typeface="+mn-cs"/>
                                </a:rPr>
                                <m:t>𝑒</m:t>
                              </m:r>
                            </m:e>
                            <m:sup>
                              <m:r>
                                <a:rPr lang="ar-AE" sz="1200" i="0" kern="1200">
                                  <a:solidFill>
                                    <a:schemeClr val="tx1"/>
                                  </a:solidFill>
                                  <a:latin typeface="Cambria Math" panose="02040503050406030204" pitchFamily="18" charset="0"/>
                                  <a:ea typeface="+mn-ea"/>
                                  <a:cs typeface="+mn-cs"/>
                                </a:rPr>
                                <m:t>−</m:t>
                              </m:r>
                              <m:d>
                                <m:dPr>
                                  <m:ctrlPr>
                                    <a:rPr lang="ar-AE" sz="1200" i="1" kern="1200">
                                      <a:solidFill>
                                        <a:schemeClr val="tx1"/>
                                      </a:solidFill>
                                      <a:latin typeface="Cambria Math" panose="02040503050406030204" pitchFamily="18" charset="0"/>
                                      <a:ea typeface="+mn-ea"/>
                                      <a:cs typeface="+mn-cs"/>
                                    </a:rPr>
                                  </m:ctrlPr>
                                </m:dPr>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𝑏</m:t>
                                      </m:r>
                                    </m:e>
                                    <m:sub>
                                      <m:r>
                                        <a:rPr lang="ar-AE" sz="1200" i="0" kern="1200">
                                          <a:solidFill>
                                            <a:schemeClr val="tx1"/>
                                          </a:solidFill>
                                          <a:latin typeface="Cambria Math" panose="02040503050406030204" pitchFamily="18" charset="0"/>
                                          <a:ea typeface="+mn-ea"/>
                                          <a:cs typeface="+mn-cs"/>
                                        </a:rPr>
                                        <m:t>0</m:t>
                                      </m:r>
                                    </m:sub>
                                  </m:sSub>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𝑏</m:t>
                                      </m:r>
                                    </m:e>
                                    <m:sub>
                                      <m:r>
                                        <a:rPr lang="ar-AE" sz="1200" i="0" kern="1200">
                                          <a:solidFill>
                                            <a:schemeClr val="tx1"/>
                                          </a:solidFill>
                                          <a:latin typeface="Cambria Math" panose="02040503050406030204" pitchFamily="18" charset="0"/>
                                          <a:ea typeface="+mn-ea"/>
                                          <a:cs typeface="+mn-cs"/>
                                        </a:rPr>
                                        <m:t>1</m:t>
                                      </m:r>
                                    </m:sub>
                                  </m:sSub>
                                  <m:r>
                                    <a:rPr lang="ar-AE" sz="1200" i="1" kern="1200">
                                      <a:solidFill>
                                        <a:schemeClr val="tx1"/>
                                      </a:solidFill>
                                      <a:latin typeface="Cambria Math" panose="02040503050406030204" pitchFamily="18" charset="0"/>
                                      <a:ea typeface="+mn-ea"/>
                                      <a:cs typeface="+mn-cs"/>
                                    </a:rPr>
                                    <m:t>𝑋</m:t>
                                  </m:r>
                                </m:e>
                              </m:d>
                            </m:sup>
                          </m:sSup>
                        </m:den>
                      </m:f>
                    </m:oMath>
                  </m:oMathPara>
                </a14:m>
                <a:endParaRPr lang="ar-AE" dirty="0"/>
              </a:p>
              <a:p>
                <a:r>
                  <a:rPr lang="en-IN" dirty="0"/>
                  <a:t>Here,</a:t>
                </a:r>
              </a:p>
              <a:p>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𝑏</m:t>
                        </m:r>
                      </m:e>
                      <m:sub>
                        <m:r>
                          <a:rPr lang="ar-AE" sz="1200" i="0" kern="1200">
                            <a:solidFill>
                              <a:schemeClr val="tx1"/>
                            </a:solidFill>
                            <a:latin typeface="Cambria Math" panose="02040503050406030204" pitchFamily="18" charset="0"/>
                            <a:ea typeface="+mn-ea"/>
                            <a:cs typeface="+mn-cs"/>
                          </a:rPr>
                          <m:t>0</m:t>
                        </m:r>
                      </m:sub>
                    </m:sSub>
                  </m:oMath>
                </a14:m>
                <a:r>
                  <a:rPr lang="ar-AE" dirty="0"/>
                  <a:t>= </a:t>
                </a:r>
                <a:r>
                  <a:rPr lang="en-IN" dirty="0"/>
                  <a:t>intercept</a:t>
                </a:r>
              </a:p>
              <a:p>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𝑏</m:t>
                        </m:r>
                      </m:e>
                      <m:sub>
                        <m:r>
                          <a:rPr lang="ar-AE" sz="1200" i="0" kern="1200">
                            <a:solidFill>
                              <a:schemeClr val="tx1"/>
                            </a:solidFill>
                            <a:latin typeface="Cambria Math" panose="02040503050406030204" pitchFamily="18" charset="0"/>
                            <a:ea typeface="+mn-ea"/>
                            <a:cs typeface="+mn-cs"/>
                          </a:rPr>
                          <m:t>1</m:t>
                        </m:r>
                      </m:sub>
                    </m:sSub>
                  </m:oMath>
                </a14:m>
                <a:r>
                  <a:rPr lang="ar-AE" dirty="0"/>
                  <a:t>= </a:t>
                </a:r>
                <a:r>
                  <a:rPr lang="en-IN" dirty="0"/>
                  <a:t>weight (effect of study hours on passing)</a:t>
                </a:r>
              </a:p>
              <a:p>
                <a:r>
                  <a:rPr lang="en-IN" dirty="0"/>
                  <a:t>We need to find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𝑏</m:t>
                        </m:r>
                      </m:e>
                      <m:sub>
                        <m:r>
                          <a:rPr lang="ar-AE" sz="1200" i="0" kern="1200">
                            <a:solidFill>
                              <a:schemeClr val="tx1"/>
                            </a:solidFill>
                            <a:latin typeface="Cambria Math" panose="02040503050406030204" pitchFamily="18" charset="0"/>
                            <a:ea typeface="+mn-ea"/>
                            <a:cs typeface="+mn-cs"/>
                          </a:rPr>
                          <m:t>0</m:t>
                        </m:r>
                      </m:sub>
                    </m:sSub>
                  </m:oMath>
                </a14:m>
                <a:r>
                  <a:rPr lang="en-IN" dirty="0"/>
                  <a:t>and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𝑏</m:t>
                        </m:r>
                      </m:e>
                      <m:sub>
                        <m:r>
                          <a:rPr lang="ar-AE" sz="1200" i="0" kern="1200">
                            <a:solidFill>
                              <a:schemeClr val="tx1"/>
                            </a:solidFill>
                            <a:latin typeface="Cambria Math" panose="02040503050406030204" pitchFamily="18" charset="0"/>
                            <a:ea typeface="+mn-ea"/>
                            <a:cs typeface="+mn-cs"/>
                          </a:rPr>
                          <m:t>1</m:t>
                        </m:r>
                      </m:sub>
                    </m:sSub>
                  </m:oMath>
                </a14:m>
                <a:r>
                  <a:rPr lang="ar-AE" dirty="0"/>
                  <a:t>— </a:t>
                </a:r>
                <a:r>
                  <a:rPr lang="en-IN" dirty="0"/>
                  <a:t>and this is where </a:t>
                </a:r>
                <a:r>
                  <a:rPr lang="en-IN" b="1" dirty="0"/>
                  <a:t>MLE</a:t>
                </a:r>
                <a:r>
                  <a:rPr lang="en-IN" dirty="0"/>
                  <a:t> comes in.</a:t>
                </a:r>
              </a:p>
              <a:p>
                <a:br>
                  <a:rPr lang="en-IN" dirty="0"/>
                </a:br>
                <a:endParaRPr lang="en-IN" dirty="0"/>
              </a:p>
              <a:p>
                <a:r>
                  <a:rPr lang="en-IN" b="1" dirty="0"/>
                  <a:t>Step 2: What MLE Does</a:t>
                </a:r>
              </a:p>
              <a:p>
                <a:r>
                  <a:rPr lang="en-IN" dirty="0"/>
                  <a:t>MLE tries different values of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𝑏</m:t>
                        </m:r>
                      </m:e>
                      <m:sub>
                        <m:r>
                          <a:rPr lang="ar-AE" sz="1200" i="0" kern="1200">
                            <a:solidFill>
                              <a:schemeClr val="tx1"/>
                            </a:solidFill>
                            <a:latin typeface="Cambria Math" panose="02040503050406030204" pitchFamily="18" charset="0"/>
                            <a:ea typeface="+mn-ea"/>
                            <a:cs typeface="+mn-cs"/>
                          </a:rPr>
                          <m:t>0</m:t>
                        </m:r>
                      </m:sub>
                    </m:sSub>
                  </m:oMath>
                </a14:m>
                <a:r>
                  <a:rPr lang="en-IN" dirty="0"/>
                  <a:t>and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𝑏</m:t>
                        </m:r>
                      </m:e>
                      <m:sub>
                        <m:r>
                          <a:rPr lang="ar-AE" sz="1200" i="0" kern="1200">
                            <a:solidFill>
                              <a:schemeClr val="tx1"/>
                            </a:solidFill>
                            <a:latin typeface="Cambria Math" panose="02040503050406030204" pitchFamily="18" charset="0"/>
                            <a:ea typeface="+mn-ea"/>
                            <a:cs typeface="+mn-cs"/>
                          </a:rPr>
                          <m:t>1</m:t>
                        </m:r>
                      </m:sub>
                    </m:sSub>
                  </m:oMath>
                </a14:m>
                <a:r>
                  <a:rPr lang="en-IN" dirty="0"/>
                  <a:t>to see </a:t>
                </a:r>
                <a:r>
                  <a:rPr lang="en-IN" b="1" dirty="0"/>
                  <a:t>which combination makes the actual data (the 0s and 1s)</a:t>
                </a:r>
                <a:r>
                  <a:rPr lang="en-IN" dirty="0"/>
                  <a:t> most likely to occur.</a:t>
                </a:r>
              </a:p>
              <a:p>
                <a:r>
                  <a:rPr lang="en-IN" dirty="0"/>
                  <a:t>For example:</a:t>
                </a:r>
              </a:p>
              <a:p>
                <a:r>
                  <a:rPr lang="en-IN" dirty="0"/>
                  <a:t>Suppose with one set of values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𝑏</m:t>
                        </m:r>
                      </m:e>
                      <m:sub>
                        <m:r>
                          <a:rPr lang="ar-AE" sz="1200" i="0" kern="1200">
                            <a:solidFill>
                              <a:schemeClr val="tx1"/>
                            </a:solidFill>
                            <a:latin typeface="Cambria Math" panose="02040503050406030204" pitchFamily="18" charset="0"/>
                            <a:ea typeface="+mn-ea"/>
                            <a:cs typeface="+mn-cs"/>
                          </a:rPr>
                          <m:t>0</m:t>
                        </m:r>
                      </m:sub>
                    </m:sSub>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5</m:t>
                    </m:r>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𝑏</m:t>
                        </m:r>
                      </m:e>
                      <m:sub>
                        <m:r>
                          <a:rPr lang="ar-AE" sz="1200" i="0" kern="1200">
                            <a:solidFill>
                              <a:schemeClr val="tx1"/>
                            </a:solidFill>
                            <a:latin typeface="Cambria Math" panose="02040503050406030204" pitchFamily="18" charset="0"/>
                            <a:ea typeface="+mn-ea"/>
                            <a:cs typeface="+mn-cs"/>
                          </a:rPr>
                          <m:t>1</m:t>
                        </m:r>
                      </m:sub>
                    </m:sSub>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m:t>
                    </m:r>
                  </m:oMath>
                </a14:m>
                <a:r>
                  <a:rPr lang="ar-AE" dirty="0"/>
                  <a:t>, </a:t>
                </a:r>
                <a:r>
                  <a:rPr lang="en-IN" dirty="0"/>
                  <a:t>the model predicts:</a:t>
                </a:r>
              </a:p>
              <a:p>
                <a:pPr lvl="1"/>
                <a:r>
                  <a:rPr lang="en-IN" dirty="0"/>
                  <a:t>For 1 hour → </a:t>
                </a:r>
                <a14:m>
                  <m:oMath xmlns:m="http://schemas.openxmlformats.org/officeDocument/2006/math">
                    <m:r>
                      <a:rPr lang="en-IN" sz="1200" i="1" kern="1200">
                        <a:solidFill>
                          <a:schemeClr val="tx1"/>
                        </a:solidFill>
                        <a:latin typeface="Cambria Math" panose="02040503050406030204" pitchFamily="18" charset="0"/>
                        <a:ea typeface="+mn-ea"/>
                        <a:cs typeface="+mn-cs"/>
                      </a:rPr>
                      <m:t>𝑃</m:t>
                    </m:r>
                    <m:d>
                      <m:dPr>
                        <m:ctrlPr>
                          <a:rPr lang="ar-AE" sz="1200" i="1" kern="1200">
                            <a:solidFill>
                              <a:schemeClr val="tx1"/>
                            </a:solidFill>
                            <a:latin typeface="Cambria Math" panose="02040503050406030204" pitchFamily="18" charset="0"/>
                            <a:ea typeface="+mn-ea"/>
                            <a:cs typeface="+mn-cs"/>
                          </a:rPr>
                        </m:ctrlPr>
                      </m:dPr>
                      <m:e>
                        <m:r>
                          <m:rPr>
                            <m:nor/>
                          </m:rPr>
                          <a:rPr lang="en-IN" sz="1200" b="0" i="1" kern="1200">
                            <a:solidFill>
                              <a:schemeClr val="tx1"/>
                            </a:solidFill>
                            <a:latin typeface="+mn-lt"/>
                            <a:ea typeface="+mn-ea"/>
                            <a:cs typeface="+mn-cs"/>
                          </a:rPr>
                          <m:t>pass</m:t>
                        </m:r>
                      </m:e>
                    </m:d>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0</m:t>
                    </m:r>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01</m:t>
                    </m:r>
                  </m:oMath>
                </a14:m>
                <a:endParaRPr lang="ar-AE" dirty="0"/>
              </a:p>
              <a:p>
                <a:pPr lvl="1"/>
                <a:r>
                  <a:rPr lang="en-IN" dirty="0"/>
                  <a:t>For 8 hours → </a:t>
                </a:r>
                <a14:m>
                  <m:oMath xmlns:m="http://schemas.openxmlformats.org/officeDocument/2006/math">
                    <m:r>
                      <a:rPr lang="en-IN" sz="1200" i="1" kern="1200">
                        <a:solidFill>
                          <a:schemeClr val="tx1"/>
                        </a:solidFill>
                        <a:latin typeface="Cambria Math" panose="02040503050406030204" pitchFamily="18" charset="0"/>
                        <a:ea typeface="+mn-ea"/>
                        <a:cs typeface="+mn-cs"/>
                      </a:rPr>
                      <m:t>𝑃</m:t>
                    </m:r>
                    <m:d>
                      <m:dPr>
                        <m:ctrlPr>
                          <a:rPr lang="ar-AE" sz="1200" i="1" kern="1200">
                            <a:solidFill>
                              <a:schemeClr val="tx1"/>
                            </a:solidFill>
                            <a:latin typeface="Cambria Math" panose="02040503050406030204" pitchFamily="18" charset="0"/>
                            <a:ea typeface="+mn-ea"/>
                            <a:cs typeface="+mn-cs"/>
                          </a:rPr>
                        </m:ctrlPr>
                      </m:dPr>
                      <m:e>
                        <m:r>
                          <m:rPr>
                            <m:nor/>
                          </m:rPr>
                          <a:rPr lang="en-IN" sz="1200" b="0" i="1" kern="1200">
                            <a:solidFill>
                              <a:schemeClr val="tx1"/>
                            </a:solidFill>
                            <a:latin typeface="+mn-lt"/>
                            <a:ea typeface="+mn-ea"/>
                            <a:cs typeface="+mn-cs"/>
                          </a:rPr>
                          <m:t>pass</m:t>
                        </m:r>
                      </m:e>
                    </m:d>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0</m:t>
                    </m:r>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99</m:t>
                    </m:r>
                  </m:oMath>
                </a14:m>
                <a:endParaRPr lang="ar-AE" dirty="0"/>
              </a:p>
              <a:p>
                <a:r>
                  <a:rPr lang="en-IN" dirty="0"/>
                  <a:t>These predictions </a:t>
                </a:r>
                <a:r>
                  <a:rPr lang="en-IN" b="1" dirty="0"/>
                  <a:t>match the actual results well</a:t>
                </a:r>
                <a:r>
                  <a:rPr lang="en-IN" dirty="0"/>
                  <a:t> — low probabilities for students who failed, high for those who passed.</a:t>
                </a:r>
              </a:p>
              <a:p>
                <a:r>
                  <a:rPr lang="en-IN" dirty="0"/>
                  <a:t>Thus, this combination of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𝑏</m:t>
                        </m:r>
                      </m:e>
                      <m:sub>
                        <m:r>
                          <a:rPr lang="ar-AE" sz="1200" i="0" kern="1200">
                            <a:solidFill>
                              <a:schemeClr val="tx1"/>
                            </a:solidFill>
                            <a:latin typeface="Cambria Math" panose="02040503050406030204" pitchFamily="18" charset="0"/>
                            <a:ea typeface="+mn-ea"/>
                            <a:cs typeface="+mn-cs"/>
                          </a:rPr>
                          <m:t>0</m:t>
                        </m:r>
                      </m:sub>
                    </m:sSub>
                  </m:oMath>
                </a14:m>
                <a:r>
                  <a:rPr lang="en-IN" dirty="0"/>
                  <a:t>and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𝑏</m:t>
                        </m:r>
                      </m:e>
                      <m:sub>
                        <m:r>
                          <a:rPr lang="ar-AE" sz="1200" i="0" kern="1200">
                            <a:solidFill>
                              <a:schemeClr val="tx1"/>
                            </a:solidFill>
                            <a:latin typeface="Cambria Math" panose="02040503050406030204" pitchFamily="18" charset="0"/>
                            <a:ea typeface="+mn-ea"/>
                            <a:cs typeface="+mn-cs"/>
                          </a:rPr>
                          <m:t>1</m:t>
                        </m:r>
                      </m:sub>
                    </m:sSub>
                  </m:oMath>
                </a14:m>
                <a:r>
                  <a:rPr lang="en-IN" dirty="0"/>
                  <a:t>gives a </a:t>
                </a:r>
                <a:r>
                  <a:rPr lang="en-IN" b="1" dirty="0"/>
                  <a:t>high likelihood</a:t>
                </a:r>
                <a:r>
                  <a:rPr lang="en-IN" dirty="0"/>
                  <a:t> of observing the data we actually have.</a:t>
                </a:r>
              </a:p>
              <a:p>
                <a:br>
                  <a:rPr lang="en-IN" dirty="0"/>
                </a:br>
                <a:endParaRPr lang="en-IN" dirty="0"/>
              </a:p>
              <a:p>
                <a:r>
                  <a:rPr lang="en-IN" b="1" dirty="0"/>
                  <a:t>Step 3: The Likelihood Function</a:t>
                </a:r>
              </a:p>
              <a:p>
                <a:r>
                  <a:rPr lang="en-IN" dirty="0"/>
                  <a:t>The </a:t>
                </a:r>
                <a:r>
                  <a:rPr lang="en-IN" b="1" dirty="0"/>
                  <a:t>likelihood</a:t>
                </a:r>
                <a:r>
                  <a:rPr lang="en-IN" dirty="0"/>
                  <a:t> is the product of probabilities for all observations:</a:t>
                </a:r>
              </a:p>
              <a:p>
                <a:pPr/>
                <a14:m>
                  <m:oMathPara xmlns:m="http://schemas.openxmlformats.org/officeDocument/2006/math">
                    <m:oMathParaPr>
                      <m:jc m:val="centerGroup"/>
                    </m:oMathParaPr>
                    <m:oMath xmlns:m="http://schemas.openxmlformats.org/officeDocument/2006/math">
                      <m:r>
                        <a:rPr lang="en-IN" sz="1200" i="1" kern="1200">
                          <a:solidFill>
                            <a:schemeClr val="tx1"/>
                          </a:solidFill>
                          <a:latin typeface="Cambria Math" panose="02040503050406030204" pitchFamily="18" charset="0"/>
                          <a:ea typeface="+mn-ea"/>
                          <a:cs typeface="+mn-cs"/>
                        </a:rPr>
                        <m:t>𝐿</m:t>
                      </m:r>
                      <m:r>
                        <a:rPr lang="en-IN" sz="1200" i="0" kern="1200">
                          <a:solidFill>
                            <a:schemeClr val="tx1"/>
                          </a:solidFill>
                          <a:latin typeface="Cambria Math" panose="02040503050406030204" pitchFamily="18" charset="0"/>
                          <a:ea typeface="+mn-ea"/>
                          <a:cs typeface="+mn-cs"/>
                        </a:rPr>
                        <m:t>=</m:t>
                      </m:r>
                      <m:nary>
                        <m:naryPr>
                          <m:chr m:val="∏"/>
                          <m:grow m:val="on"/>
                          <m:ctrlPr>
                            <a:rPr lang="ar-AE" sz="1200" i="1" kern="1200">
                              <a:solidFill>
                                <a:schemeClr val="tx1"/>
                              </a:solidFill>
                              <a:latin typeface="Cambria Math" panose="02040503050406030204" pitchFamily="18" charset="0"/>
                              <a:ea typeface="+mn-ea"/>
                              <a:cs typeface="+mn-cs"/>
                            </a:rPr>
                          </m:ctrlPr>
                        </m:naryPr>
                        <m:sub>
                          <m:r>
                            <a:rPr lang="ar-AE" sz="1200" i="1" kern="1200">
                              <a:solidFill>
                                <a:schemeClr val="tx1"/>
                              </a:solidFill>
                              <a:latin typeface="Cambria Math" panose="02040503050406030204" pitchFamily="18" charset="0"/>
                              <a:ea typeface="+mn-ea"/>
                              <a:cs typeface="+mn-cs"/>
                            </a:rPr>
                            <m:t>𝑖</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m:t>
                          </m:r>
                        </m:sub>
                        <m:sup>
                          <m:r>
                            <a:rPr lang="ar-AE" sz="1200" i="1" kern="1200">
                              <a:solidFill>
                                <a:schemeClr val="tx1"/>
                              </a:solidFill>
                              <a:latin typeface="Cambria Math" panose="02040503050406030204" pitchFamily="18" charset="0"/>
                              <a:ea typeface="+mn-ea"/>
                              <a:cs typeface="+mn-cs"/>
                            </a:rPr>
                            <m:t>𝑛</m:t>
                          </m:r>
                        </m:sup>
                        <m:e>
                          <m:sSubSup>
                            <m:sSubSupPr>
                              <m:ctrlPr>
                                <a:rPr lang="ar-AE" sz="1200" i="1" kern="1200">
                                  <a:solidFill>
                                    <a:schemeClr val="tx1"/>
                                  </a:solidFill>
                                  <a:latin typeface="Cambria Math" panose="02040503050406030204" pitchFamily="18" charset="0"/>
                                  <a:ea typeface="+mn-ea"/>
                                  <a:cs typeface="+mn-cs"/>
                                </a:rPr>
                              </m:ctrlPr>
                            </m:sSubSupPr>
                            <m:e>
                              <m:r>
                                <a:rPr lang="ar-AE" sz="1200" i="1" kern="1200">
                                  <a:solidFill>
                                    <a:schemeClr val="tx1"/>
                                  </a:solidFill>
                                  <a:latin typeface="Cambria Math" panose="02040503050406030204" pitchFamily="18" charset="0"/>
                                  <a:ea typeface="+mn-ea"/>
                                  <a:cs typeface="+mn-cs"/>
                                </a:rPr>
                                <m:t>𝑃</m:t>
                              </m:r>
                            </m:e>
                            <m:sub>
                              <m:r>
                                <a:rPr lang="ar-AE" sz="1200" i="1" kern="1200">
                                  <a:solidFill>
                                    <a:schemeClr val="tx1"/>
                                  </a:solidFill>
                                  <a:latin typeface="Cambria Math" panose="02040503050406030204" pitchFamily="18" charset="0"/>
                                  <a:ea typeface="+mn-ea"/>
                                  <a:cs typeface="+mn-cs"/>
                                </a:rPr>
                                <m:t>𝑖</m:t>
                              </m:r>
                            </m:sub>
                            <m:sup>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𝑌</m:t>
                                  </m:r>
                                </m:e>
                                <m:sub>
                                  <m:r>
                                    <a:rPr lang="ar-AE" sz="1200" i="1" kern="1200">
                                      <a:solidFill>
                                        <a:schemeClr val="tx1"/>
                                      </a:solidFill>
                                      <a:latin typeface="Cambria Math" panose="02040503050406030204" pitchFamily="18" charset="0"/>
                                      <a:ea typeface="+mn-ea"/>
                                      <a:cs typeface="+mn-cs"/>
                                    </a:rPr>
                                    <m:t>𝑖</m:t>
                                  </m:r>
                                </m:sub>
                              </m:sSub>
                            </m:sup>
                          </m:sSubSup>
                        </m:e>
                      </m:nary>
                      <m:d>
                        <m:dPr>
                          <m:end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1</m:t>
                          </m:r>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𝑃</m:t>
                              </m:r>
                            </m:e>
                            <m:sub>
                              <m:r>
                                <a:rPr lang="ar-AE" sz="1200" i="1" kern="1200">
                                  <a:solidFill>
                                    <a:schemeClr val="tx1"/>
                                  </a:solidFill>
                                  <a:latin typeface="Cambria Math" panose="02040503050406030204" pitchFamily="18" charset="0"/>
                                  <a:ea typeface="+mn-ea"/>
                                  <a:cs typeface="+mn-cs"/>
                                </a:rPr>
                                <m:t>𝑖</m:t>
                              </m:r>
                            </m:sub>
                          </m:sSub>
                          <m:sSup>
                            <m:sSupPr>
                              <m:ctrlPr>
                                <a:rPr lang="ar-AE" sz="1200" i="1" kern="1200">
                                  <a:solidFill>
                                    <a:schemeClr val="tx1"/>
                                  </a:solidFill>
                                  <a:latin typeface="Cambria Math" panose="02040503050406030204" pitchFamily="18" charset="0"/>
                                  <a:ea typeface="+mn-ea"/>
                                  <a:cs typeface="+mn-cs"/>
                                </a:rPr>
                              </m:ctrlPr>
                            </m:sSupPr>
                            <m:e>
                              <m:d>
                                <m:dPr>
                                  <m:begChr m:val=""/>
                                  <m:end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m:t>
                                  </m:r>
                                </m:e>
                              </m:d>
                            </m:e>
                            <m:sup>
                              <m:d>
                                <m:dPr>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1</m:t>
                                  </m:r>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𝑌</m:t>
                                      </m:r>
                                    </m:e>
                                    <m:sub>
                                      <m:r>
                                        <a:rPr lang="ar-AE" sz="1200" i="1" kern="1200">
                                          <a:solidFill>
                                            <a:schemeClr val="tx1"/>
                                          </a:solidFill>
                                          <a:latin typeface="Cambria Math" panose="02040503050406030204" pitchFamily="18" charset="0"/>
                                          <a:ea typeface="+mn-ea"/>
                                          <a:cs typeface="+mn-cs"/>
                                        </a:rPr>
                                        <m:t>𝑖</m:t>
                                      </m:r>
                                    </m:sub>
                                  </m:sSub>
                                </m:e>
                              </m:d>
                            </m:sup>
                          </m:sSup>
                        </m:e>
                      </m:d>
                    </m:oMath>
                  </m:oMathPara>
                </a14:m>
                <a:endParaRPr lang="ar-AE" dirty="0"/>
              </a:p>
              <a:p>
                <a:r>
                  <a:rPr lang="en-IN" dirty="0"/>
                  <a:t>If a student passed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𝑌</m:t>
                        </m:r>
                      </m:e>
                      <m:sub>
                        <m:r>
                          <a:rPr lang="ar-AE" sz="1200" i="1" kern="1200">
                            <a:solidFill>
                              <a:schemeClr val="tx1"/>
                            </a:solidFill>
                            <a:latin typeface="Cambria Math" panose="02040503050406030204" pitchFamily="18" charset="0"/>
                            <a:ea typeface="+mn-ea"/>
                            <a:cs typeface="+mn-cs"/>
                          </a:rPr>
                          <m:t>𝑖</m:t>
                        </m:r>
                      </m:sub>
                    </m:sSub>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m:t>
                    </m:r>
                  </m:oMath>
                </a14:m>
                <a:r>
                  <a:rPr lang="ar-AE" dirty="0"/>
                  <a:t>), </a:t>
                </a:r>
                <a:r>
                  <a:rPr lang="en-IN" dirty="0"/>
                  <a:t>we include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𝑃</m:t>
                        </m:r>
                      </m:e>
                      <m:sub>
                        <m:r>
                          <a:rPr lang="ar-AE" sz="1200" i="1" kern="1200">
                            <a:solidFill>
                              <a:schemeClr val="tx1"/>
                            </a:solidFill>
                            <a:latin typeface="Cambria Math" panose="02040503050406030204" pitchFamily="18" charset="0"/>
                            <a:ea typeface="+mn-ea"/>
                            <a:cs typeface="+mn-cs"/>
                          </a:rPr>
                          <m:t>𝑖</m:t>
                        </m:r>
                      </m:sub>
                    </m:sSub>
                  </m:oMath>
                </a14:m>
                <a:endParaRPr lang="ar-AE" dirty="0"/>
              </a:p>
              <a:p>
                <a:r>
                  <a:rPr lang="en-IN" dirty="0"/>
                  <a:t>If a student failed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𝑌</m:t>
                        </m:r>
                      </m:e>
                      <m:sub>
                        <m:r>
                          <a:rPr lang="ar-AE" sz="1200" i="1" kern="1200">
                            <a:solidFill>
                              <a:schemeClr val="tx1"/>
                            </a:solidFill>
                            <a:latin typeface="Cambria Math" panose="02040503050406030204" pitchFamily="18" charset="0"/>
                            <a:ea typeface="+mn-ea"/>
                            <a:cs typeface="+mn-cs"/>
                          </a:rPr>
                          <m:t>𝑖</m:t>
                        </m:r>
                      </m:sub>
                    </m:sSub>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oMath>
                </a14:m>
                <a:r>
                  <a:rPr lang="ar-AE" dirty="0"/>
                  <a:t>), </a:t>
                </a:r>
                <a:r>
                  <a:rPr lang="en-IN" dirty="0"/>
                  <a:t>we include </a:t>
                </a:r>
                <a14:m>
                  <m:oMath xmlns:m="http://schemas.openxmlformats.org/officeDocument/2006/math">
                    <m:r>
                      <a:rPr lang="en-IN" sz="1200" kern="1200">
                        <a:solidFill>
                          <a:schemeClr val="tx1"/>
                        </a:solidFill>
                        <a:latin typeface="Cambria Math" panose="02040503050406030204" pitchFamily="18" charset="0"/>
                        <a:ea typeface="+mn-ea"/>
                        <a:cs typeface="+mn-cs"/>
                      </a:rPr>
                      <m:t>1</m:t>
                    </m:r>
                    <m:r>
                      <a:rPr lang="en-IN"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𝑃</m:t>
                        </m:r>
                      </m:e>
                      <m:sub>
                        <m:r>
                          <a:rPr lang="ar-AE" sz="1200" i="1" kern="1200">
                            <a:solidFill>
                              <a:schemeClr val="tx1"/>
                            </a:solidFill>
                            <a:latin typeface="Cambria Math" panose="02040503050406030204" pitchFamily="18" charset="0"/>
                            <a:ea typeface="+mn-ea"/>
                            <a:cs typeface="+mn-cs"/>
                          </a:rPr>
                          <m:t>𝑖</m:t>
                        </m:r>
                      </m:sub>
                    </m:sSub>
                  </m:oMath>
                </a14:m>
                <a:endParaRPr lang="ar-AE" dirty="0"/>
              </a:p>
              <a:p>
                <a:r>
                  <a:rPr lang="en-IN" dirty="0"/>
                  <a:t>MLE chooses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𝑏</m:t>
                        </m:r>
                      </m:e>
                      <m:sub>
                        <m:r>
                          <a:rPr lang="ar-AE" sz="1200" i="0" kern="1200">
                            <a:solidFill>
                              <a:schemeClr val="tx1"/>
                            </a:solidFill>
                            <a:latin typeface="Cambria Math" panose="02040503050406030204" pitchFamily="18" charset="0"/>
                            <a:ea typeface="+mn-ea"/>
                            <a:cs typeface="+mn-cs"/>
                          </a:rPr>
                          <m:t>0</m:t>
                        </m:r>
                      </m:sub>
                    </m:sSub>
                  </m:oMath>
                </a14:m>
                <a:r>
                  <a:rPr lang="en-IN" dirty="0"/>
                  <a:t>and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𝑏</m:t>
                        </m:r>
                      </m:e>
                      <m:sub>
                        <m:r>
                          <a:rPr lang="ar-AE" sz="1200" i="0" kern="1200">
                            <a:solidFill>
                              <a:schemeClr val="tx1"/>
                            </a:solidFill>
                            <a:latin typeface="Cambria Math" panose="02040503050406030204" pitchFamily="18" charset="0"/>
                            <a:ea typeface="+mn-ea"/>
                            <a:cs typeface="+mn-cs"/>
                          </a:rPr>
                          <m:t>1</m:t>
                        </m:r>
                      </m:sub>
                    </m:sSub>
                  </m:oMath>
                </a14:m>
                <a:r>
                  <a:rPr lang="en-IN" dirty="0"/>
                  <a:t>that </a:t>
                </a:r>
                <a:r>
                  <a:rPr lang="en-IN" b="1" dirty="0"/>
                  <a:t>maximize this likelihood</a:t>
                </a:r>
                <a:r>
                  <a:rPr lang="en-IN" dirty="0"/>
                  <a:t> — i.e., make the actual outcomes (0s and 1s) as probable as possible.</a:t>
                </a:r>
              </a:p>
              <a:p>
                <a:br>
                  <a:rPr lang="en-IN" dirty="0"/>
                </a:br>
                <a:endParaRPr lang="en-IN" dirty="0"/>
              </a:p>
              <a:p>
                <a:r>
                  <a:rPr lang="en-IN" b="1" dirty="0"/>
                  <a:t>Step 4: Intuitive Understanding</a:t>
                </a:r>
              </a:p>
              <a:p>
                <a:r>
                  <a:rPr lang="en-IN" dirty="0"/>
                  <a:t>Think of MLE like </a:t>
                </a:r>
                <a:r>
                  <a:rPr lang="en-IN" b="1" dirty="0"/>
                  <a:t>tuning a probability curve</a:t>
                </a:r>
                <a:r>
                  <a:rPr lang="en-IN" dirty="0"/>
                  <a:t> to hug your data points closely:</a:t>
                </a:r>
              </a:p>
              <a:p>
                <a:r>
                  <a:rPr lang="en-IN" dirty="0"/>
                  <a:t>If you guess poor coefficients, predicted probabilities don’t match actual 0s and 1s → </a:t>
                </a:r>
                <a:r>
                  <a:rPr lang="en-IN" b="1" dirty="0"/>
                  <a:t>low likelihood</a:t>
                </a:r>
                <a:endParaRPr lang="en-IN" dirty="0"/>
              </a:p>
              <a:p>
                <a:r>
                  <a:rPr lang="en-IN" dirty="0"/>
                  <a:t>If you guess the right coefficients, predictions align with reality → </a:t>
                </a:r>
                <a:r>
                  <a:rPr lang="en-IN" b="1" dirty="0"/>
                  <a:t>high likelihood</a:t>
                </a:r>
                <a:endParaRPr lang="en-IN" dirty="0"/>
              </a:p>
              <a:p>
                <a:r>
                  <a:rPr lang="en-IN" dirty="0"/>
                  <a:t>The computer uses optimization (like gradient ascent) to find this </a:t>
                </a:r>
                <a:r>
                  <a:rPr lang="en-IN" b="1" dirty="0"/>
                  <a:t>best fit</a:t>
                </a:r>
                <a:r>
                  <a:rPr lang="en-IN" dirty="0"/>
                  <a:t>.</a:t>
                </a:r>
              </a:p>
              <a:p>
                <a:endParaRPr lang="en-IN" dirty="0"/>
              </a:p>
            </p:txBody>
          </p:sp>
        </mc:Choice>
        <mc:Fallback xmlns="">
          <p:sp>
            <p:nvSpPr>
              <p:cNvPr id="3" name="Notes Placeholder 2"/>
              <p:cNvSpPr>
                <a:spLocks noGrp="1"/>
              </p:cNvSpPr>
              <p:nvPr>
                <p:ph type="body" idx="1"/>
              </p:nvPr>
            </p:nvSpPr>
            <p:spPr/>
            <p:txBody>
              <a:bodyPr/>
              <a:lstStyle/>
              <a:p>
                <a:r>
                  <a:rPr lang="en-IN" b="1" dirty="0" err="1"/>
                  <a:t>imple</a:t>
                </a:r>
                <a:r>
                  <a:rPr lang="en-IN" b="1" dirty="0"/>
                  <a:t> Example: Predicting Exam Pass or Fail</a:t>
                </a:r>
              </a:p>
              <a:p>
                <a:r>
                  <a:rPr lang="en-IN" dirty="0"/>
                  <a:t>Let’s say we’re trying to predict whether a student </a:t>
                </a:r>
                <a:r>
                  <a:rPr lang="en-IN" b="1" dirty="0"/>
                  <a:t>passes (1)</a:t>
                </a:r>
                <a:r>
                  <a:rPr lang="en-IN" dirty="0"/>
                  <a:t> or </a:t>
                </a:r>
                <a:r>
                  <a:rPr lang="en-IN" b="1" dirty="0"/>
                  <a:t>fails (0)</a:t>
                </a:r>
                <a:r>
                  <a:rPr lang="en-IN" dirty="0"/>
                  <a:t> an exam based on the </a:t>
                </a:r>
                <a:r>
                  <a:rPr lang="en-IN" b="1" dirty="0"/>
                  <a:t>number of hours studied</a:t>
                </a:r>
                <a:r>
                  <a:rPr lang="en-IN" dirty="0"/>
                  <a:t>.</a:t>
                </a:r>
              </a:p>
              <a:p>
                <a:r>
                  <a:rPr lang="en-IN" dirty="0" err="1"/>
                  <a:t>StudentHours</a:t>
                </a:r>
                <a:r>
                  <a:rPr lang="en-IN" dirty="0"/>
                  <a:t> Studied (X)Passed (Y)110220330451561681</a:t>
                </a:r>
              </a:p>
              <a:p>
                <a:br>
                  <a:rPr lang="en-IN" dirty="0"/>
                </a:br>
                <a:endParaRPr lang="en-IN" dirty="0"/>
              </a:p>
              <a:p>
                <a:r>
                  <a:rPr lang="en-IN" b="1" dirty="0"/>
                  <a:t>Step 1: The Logistic Regression Model</a:t>
                </a:r>
              </a:p>
              <a:p>
                <a:r>
                  <a:rPr lang="en-IN" dirty="0"/>
                  <a:t>The model predicts the </a:t>
                </a:r>
                <a:r>
                  <a:rPr lang="en-IN" b="1" dirty="0"/>
                  <a:t>probability of passing (Y=1)</a:t>
                </a:r>
                <a:r>
                  <a:rPr lang="en-IN" dirty="0"/>
                  <a:t> using the sigmoid function:</a:t>
                </a:r>
              </a:p>
              <a:p>
                <a:r>
                  <a:rPr lang="en-IN" sz="1200" i="0" kern="1200">
                    <a:solidFill>
                      <a:schemeClr val="tx1"/>
                    </a:solidFill>
                    <a:latin typeface="+mn-lt"/>
                    <a:ea typeface="+mn-ea"/>
                    <a:cs typeface="+mn-cs"/>
                  </a:rPr>
                  <a:t>𝑃</a:t>
                </a:r>
                <a:r>
                  <a:rPr lang="ar-AE" sz="1200" i="0" kern="1200">
                    <a:solidFill>
                      <a:schemeClr val="tx1"/>
                    </a:solidFill>
                    <a:latin typeface="+mn-lt"/>
                    <a:ea typeface="+mn-ea"/>
                    <a:cs typeface="+mn-cs"/>
                  </a:rPr>
                  <a:t>(𝑌=1∣𝑋)=1/(1+𝑒^(−(𝑏_0+𝑏_1 𝑋) ) )</a:t>
                </a:r>
                <a:endParaRPr lang="ar-AE" dirty="0"/>
              </a:p>
              <a:p>
                <a:r>
                  <a:rPr lang="en-IN" dirty="0"/>
                  <a:t>Here,</a:t>
                </a:r>
              </a:p>
              <a:p>
                <a:r>
                  <a:rPr lang="ar-AE" sz="1200" i="0" kern="1200">
                    <a:solidFill>
                      <a:schemeClr val="tx1"/>
                    </a:solidFill>
                    <a:latin typeface="+mn-lt"/>
                    <a:ea typeface="+mn-ea"/>
                    <a:cs typeface="+mn-cs"/>
                  </a:rPr>
                  <a:t>𝑏_0</a:t>
                </a:r>
                <a:r>
                  <a:rPr lang="ar-AE" dirty="0"/>
                  <a:t>= </a:t>
                </a:r>
                <a:r>
                  <a:rPr lang="en-IN" dirty="0"/>
                  <a:t>intercept</a:t>
                </a:r>
              </a:p>
              <a:p>
                <a:r>
                  <a:rPr lang="ar-AE" sz="1200" i="0" kern="1200">
                    <a:solidFill>
                      <a:schemeClr val="tx1"/>
                    </a:solidFill>
                    <a:latin typeface="+mn-lt"/>
                    <a:ea typeface="+mn-ea"/>
                    <a:cs typeface="+mn-cs"/>
                  </a:rPr>
                  <a:t>𝑏_1</a:t>
                </a:r>
                <a:r>
                  <a:rPr lang="ar-AE" dirty="0"/>
                  <a:t>= </a:t>
                </a:r>
                <a:r>
                  <a:rPr lang="en-IN" dirty="0"/>
                  <a:t>weight (effect of study hours on passing)</a:t>
                </a:r>
              </a:p>
              <a:p>
                <a:r>
                  <a:rPr lang="en-IN" dirty="0"/>
                  <a:t>We need to find </a:t>
                </a:r>
                <a:r>
                  <a:rPr lang="ar-AE" sz="1200" i="0" kern="1200">
                    <a:solidFill>
                      <a:schemeClr val="tx1"/>
                    </a:solidFill>
                    <a:latin typeface="+mn-lt"/>
                    <a:ea typeface="+mn-ea"/>
                    <a:cs typeface="+mn-cs"/>
                  </a:rPr>
                  <a:t>𝑏_0</a:t>
                </a:r>
                <a:r>
                  <a:rPr lang="en-IN" dirty="0"/>
                  <a:t>and </a:t>
                </a:r>
                <a:r>
                  <a:rPr lang="ar-AE" sz="1200" i="0" kern="1200">
                    <a:solidFill>
                      <a:schemeClr val="tx1"/>
                    </a:solidFill>
                    <a:latin typeface="+mn-lt"/>
                    <a:ea typeface="+mn-ea"/>
                    <a:cs typeface="+mn-cs"/>
                  </a:rPr>
                  <a:t>𝑏_1</a:t>
                </a:r>
                <a:r>
                  <a:rPr lang="ar-AE" dirty="0"/>
                  <a:t>— </a:t>
                </a:r>
                <a:r>
                  <a:rPr lang="en-IN" dirty="0"/>
                  <a:t>and this is where </a:t>
                </a:r>
                <a:r>
                  <a:rPr lang="en-IN" b="1" dirty="0"/>
                  <a:t>MLE</a:t>
                </a:r>
                <a:r>
                  <a:rPr lang="en-IN" dirty="0"/>
                  <a:t> comes in.</a:t>
                </a:r>
              </a:p>
              <a:p>
                <a:br>
                  <a:rPr lang="en-IN" dirty="0"/>
                </a:br>
                <a:endParaRPr lang="en-IN" dirty="0"/>
              </a:p>
              <a:p>
                <a:r>
                  <a:rPr lang="en-IN" b="1" dirty="0"/>
                  <a:t>Step 2: What MLE Does</a:t>
                </a:r>
              </a:p>
              <a:p>
                <a:r>
                  <a:rPr lang="en-IN" dirty="0"/>
                  <a:t>MLE tries different values of </a:t>
                </a:r>
                <a:r>
                  <a:rPr lang="ar-AE" sz="1200" i="0" kern="1200">
                    <a:solidFill>
                      <a:schemeClr val="tx1"/>
                    </a:solidFill>
                    <a:latin typeface="+mn-lt"/>
                    <a:ea typeface="+mn-ea"/>
                    <a:cs typeface="+mn-cs"/>
                  </a:rPr>
                  <a:t>𝑏_0</a:t>
                </a:r>
                <a:r>
                  <a:rPr lang="en-IN" dirty="0"/>
                  <a:t>and </a:t>
                </a:r>
                <a:r>
                  <a:rPr lang="ar-AE" sz="1200" i="0" kern="1200">
                    <a:solidFill>
                      <a:schemeClr val="tx1"/>
                    </a:solidFill>
                    <a:latin typeface="+mn-lt"/>
                    <a:ea typeface="+mn-ea"/>
                    <a:cs typeface="+mn-cs"/>
                  </a:rPr>
                  <a:t>𝑏_1</a:t>
                </a:r>
                <a:r>
                  <a:rPr lang="en-IN" dirty="0"/>
                  <a:t>to see </a:t>
                </a:r>
                <a:r>
                  <a:rPr lang="en-IN" b="1" dirty="0"/>
                  <a:t>which combination makes the actual data (the 0s and 1s)</a:t>
                </a:r>
                <a:r>
                  <a:rPr lang="en-IN" dirty="0"/>
                  <a:t> most likely to occur.</a:t>
                </a:r>
              </a:p>
              <a:p>
                <a:r>
                  <a:rPr lang="en-IN" dirty="0"/>
                  <a:t>For example:</a:t>
                </a:r>
              </a:p>
              <a:p>
                <a:r>
                  <a:rPr lang="en-IN" dirty="0"/>
                  <a:t>Suppose with one set of values </a:t>
                </a:r>
                <a:r>
                  <a:rPr lang="ar-AE" sz="1200" i="0" kern="1200">
                    <a:solidFill>
                      <a:schemeClr val="tx1"/>
                    </a:solidFill>
                    <a:latin typeface="+mn-lt"/>
                    <a:ea typeface="+mn-ea"/>
                    <a:cs typeface="+mn-cs"/>
                  </a:rPr>
                  <a:t>𝑏_0=−5,𝑏_1=1</a:t>
                </a:r>
                <a:r>
                  <a:rPr lang="ar-AE" dirty="0"/>
                  <a:t>, </a:t>
                </a:r>
                <a:r>
                  <a:rPr lang="en-IN" dirty="0"/>
                  <a:t>the model predicts:</a:t>
                </a:r>
              </a:p>
              <a:p>
                <a:pPr lvl="1"/>
                <a:r>
                  <a:rPr lang="en-IN" dirty="0"/>
                  <a:t>For 1 hour → </a:t>
                </a:r>
                <a:r>
                  <a:rPr lang="en-IN" sz="1200" i="0" kern="1200">
                    <a:solidFill>
                      <a:schemeClr val="tx1"/>
                    </a:solidFill>
                    <a:latin typeface="+mn-lt"/>
                    <a:ea typeface="+mn-ea"/>
                    <a:cs typeface="+mn-cs"/>
                  </a:rPr>
                  <a:t>𝑃</a:t>
                </a:r>
                <a:r>
                  <a:rPr lang="ar-AE" sz="1200" i="0" kern="1200">
                    <a:solidFill>
                      <a:schemeClr val="tx1"/>
                    </a:solidFill>
                    <a:latin typeface="+mn-lt"/>
                    <a:ea typeface="+mn-ea"/>
                    <a:cs typeface="+mn-cs"/>
                  </a:rPr>
                  <a:t>(</a:t>
                </a:r>
                <a:r>
                  <a:rPr lang="en-IN" sz="1200" b="0" i="0" kern="1200">
                    <a:solidFill>
                      <a:schemeClr val="tx1"/>
                    </a:solidFill>
                    <a:latin typeface="+mn-lt"/>
                    <a:ea typeface="+mn-ea"/>
                    <a:cs typeface="+mn-cs"/>
                  </a:rPr>
                  <a:t>"pass</a:t>
                </a:r>
                <a:r>
                  <a:rPr lang="ar-AE" sz="1200" b="0" i="0" kern="1200">
                    <a:solidFill>
                      <a:schemeClr val="tx1"/>
                    </a:solidFill>
                    <a:latin typeface="+mn-lt"/>
                    <a:ea typeface="+mn-ea"/>
                    <a:cs typeface="+mn-cs"/>
                  </a:rPr>
                  <a:t>" )=0.01</a:t>
                </a:r>
                <a:endParaRPr lang="ar-AE" dirty="0"/>
              </a:p>
              <a:p>
                <a:pPr lvl="1"/>
                <a:r>
                  <a:rPr lang="en-IN" dirty="0"/>
                  <a:t>For 8 hours → </a:t>
                </a:r>
                <a:r>
                  <a:rPr lang="en-IN" sz="1200" i="0" kern="1200">
                    <a:solidFill>
                      <a:schemeClr val="tx1"/>
                    </a:solidFill>
                    <a:latin typeface="+mn-lt"/>
                    <a:ea typeface="+mn-ea"/>
                    <a:cs typeface="+mn-cs"/>
                  </a:rPr>
                  <a:t>𝑃</a:t>
                </a:r>
                <a:r>
                  <a:rPr lang="ar-AE" sz="1200" i="0" kern="1200">
                    <a:solidFill>
                      <a:schemeClr val="tx1"/>
                    </a:solidFill>
                    <a:latin typeface="+mn-lt"/>
                    <a:ea typeface="+mn-ea"/>
                    <a:cs typeface="+mn-cs"/>
                  </a:rPr>
                  <a:t>(</a:t>
                </a:r>
                <a:r>
                  <a:rPr lang="en-IN" sz="1200" b="0" i="0" kern="1200">
                    <a:solidFill>
                      <a:schemeClr val="tx1"/>
                    </a:solidFill>
                    <a:latin typeface="+mn-lt"/>
                    <a:ea typeface="+mn-ea"/>
                    <a:cs typeface="+mn-cs"/>
                  </a:rPr>
                  <a:t>"pass</a:t>
                </a:r>
                <a:r>
                  <a:rPr lang="ar-AE" sz="1200" b="0" i="0" kern="1200">
                    <a:solidFill>
                      <a:schemeClr val="tx1"/>
                    </a:solidFill>
                    <a:latin typeface="+mn-lt"/>
                    <a:ea typeface="+mn-ea"/>
                    <a:cs typeface="+mn-cs"/>
                  </a:rPr>
                  <a:t>" )=0.99</a:t>
                </a:r>
                <a:endParaRPr lang="ar-AE" dirty="0"/>
              </a:p>
              <a:p>
                <a:r>
                  <a:rPr lang="en-IN" dirty="0"/>
                  <a:t>These predictions </a:t>
                </a:r>
                <a:r>
                  <a:rPr lang="en-IN" b="1" dirty="0"/>
                  <a:t>match the actual results well</a:t>
                </a:r>
                <a:r>
                  <a:rPr lang="en-IN" dirty="0"/>
                  <a:t> — low probabilities for students who failed, high for those who passed.</a:t>
                </a:r>
              </a:p>
              <a:p>
                <a:r>
                  <a:rPr lang="en-IN" dirty="0"/>
                  <a:t>Thus, this combination of </a:t>
                </a:r>
                <a:r>
                  <a:rPr lang="ar-AE" sz="1200" i="0" kern="1200">
                    <a:solidFill>
                      <a:schemeClr val="tx1"/>
                    </a:solidFill>
                    <a:latin typeface="+mn-lt"/>
                    <a:ea typeface="+mn-ea"/>
                    <a:cs typeface="+mn-cs"/>
                  </a:rPr>
                  <a:t>𝑏_0</a:t>
                </a:r>
                <a:r>
                  <a:rPr lang="en-IN" dirty="0"/>
                  <a:t>and </a:t>
                </a:r>
                <a:r>
                  <a:rPr lang="ar-AE" sz="1200" i="0" kern="1200">
                    <a:solidFill>
                      <a:schemeClr val="tx1"/>
                    </a:solidFill>
                    <a:latin typeface="+mn-lt"/>
                    <a:ea typeface="+mn-ea"/>
                    <a:cs typeface="+mn-cs"/>
                  </a:rPr>
                  <a:t>𝑏_1</a:t>
                </a:r>
                <a:r>
                  <a:rPr lang="en-IN" dirty="0"/>
                  <a:t>gives a </a:t>
                </a:r>
                <a:r>
                  <a:rPr lang="en-IN" b="1" dirty="0"/>
                  <a:t>high likelihood</a:t>
                </a:r>
                <a:r>
                  <a:rPr lang="en-IN" dirty="0"/>
                  <a:t> of observing the data we actually have.</a:t>
                </a:r>
              </a:p>
              <a:p>
                <a:br>
                  <a:rPr lang="en-IN" dirty="0"/>
                </a:br>
                <a:endParaRPr lang="en-IN" dirty="0"/>
              </a:p>
              <a:p>
                <a:r>
                  <a:rPr lang="en-IN" b="1" dirty="0"/>
                  <a:t>Step 3: The Likelihood Function</a:t>
                </a:r>
              </a:p>
              <a:p>
                <a:r>
                  <a:rPr lang="en-IN" dirty="0"/>
                  <a:t>The </a:t>
                </a:r>
                <a:r>
                  <a:rPr lang="en-IN" b="1" dirty="0"/>
                  <a:t>likelihood</a:t>
                </a:r>
                <a:r>
                  <a:rPr lang="en-IN" dirty="0"/>
                  <a:t> is the product of probabilities for all observations:</a:t>
                </a:r>
              </a:p>
              <a:p>
                <a:r>
                  <a:rPr lang="en-IN" sz="1200" i="0" kern="1200">
                    <a:solidFill>
                      <a:schemeClr val="tx1"/>
                    </a:solidFill>
                    <a:latin typeface="+mn-lt"/>
                    <a:ea typeface="+mn-ea"/>
                    <a:cs typeface="+mn-cs"/>
                  </a:rPr>
                  <a:t>𝐿=</a:t>
                </a:r>
                <a:r>
                  <a:rPr lang="ar-AE" sz="1200" i="0" kern="1200">
                    <a:solidFill>
                      <a:schemeClr val="tx1"/>
                    </a:solidFill>
                    <a:latin typeface="+mn-lt"/>
                    <a:ea typeface="+mn-ea"/>
                    <a:cs typeface="+mn-cs"/>
                  </a:rPr>
                  <a:t>∏128_(𝑖=1)^𝑛▒𝑃_𝑖^(𝑌_𝑖 )  (1−𝑃_𝑖 ├ )┤^((1−𝑌_𝑖 ) ) ┤</a:t>
                </a:r>
                <a:endParaRPr lang="ar-AE" dirty="0"/>
              </a:p>
              <a:p>
                <a:r>
                  <a:rPr lang="en-IN" dirty="0"/>
                  <a:t>If a student passed (</a:t>
                </a:r>
                <a:r>
                  <a:rPr lang="ar-AE" sz="1200" i="0" kern="1200">
                    <a:solidFill>
                      <a:schemeClr val="tx1"/>
                    </a:solidFill>
                    <a:latin typeface="+mn-lt"/>
                    <a:ea typeface="+mn-ea"/>
                    <a:cs typeface="+mn-cs"/>
                  </a:rPr>
                  <a:t>𝑌_𝑖=1</a:t>
                </a:r>
                <a:r>
                  <a:rPr lang="ar-AE" dirty="0"/>
                  <a:t>), </a:t>
                </a:r>
                <a:r>
                  <a:rPr lang="en-IN" dirty="0"/>
                  <a:t>we include </a:t>
                </a:r>
                <a:r>
                  <a:rPr lang="ar-AE" sz="1200" i="0" kern="1200">
                    <a:solidFill>
                      <a:schemeClr val="tx1"/>
                    </a:solidFill>
                    <a:latin typeface="+mn-lt"/>
                    <a:ea typeface="+mn-ea"/>
                    <a:cs typeface="+mn-cs"/>
                  </a:rPr>
                  <a:t>𝑃_𝑖</a:t>
                </a:r>
                <a:endParaRPr lang="ar-AE" dirty="0"/>
              </a:p>
              <a:p>
                <a:r>
                  <a:rPr lang="en-IN" dirty="0"/>
                  <a:t>If a student failed (</a:t>
                </a:r>
                <a:r>
                  <a:rPr lang="ar-AE" sz="1200" i="0" kern="1200">
                    <a:solidFill>
                      <a:schemeClr val="tx1"/>
                    </a:solidFill>
                    <a:latin typeface="+mn-lt"/>
                    <a:ea typeface="+mn-ea"/>
                    <a:cs typeface="+mn-cs"/>
                  </a:rPr>
                  <a:t>𝑌_𝑖=0</a:t>
                </a:r>
                <a:r>
                  <a:rPr lang="ar-AE" dirty="0"/>
                  <a:t>), </a:t>
                </a:r>
                <a:r>
                  <a:rPr lang="en-IN" dirty="0"/>
                  <a:t>we include </a:t>
                </a:r>
                <a:r>
                  <a:rPr lang="en-IN" sz="1200" i="0" kern="1200">
                    <a:solidFill>
                      <a:schemeClr val="tx1"/>
                    </a:solidFill>
                    <a:latin typeface="+mn-lt"/>
                    <a:ea typeface="+mn-ea"/>
                    <a:cs typeface="+mn-cs"/>
                  </a:rPr>
                  <a:t>1−</a:t>
                </a:r>
                <a:r>
                  <a:rPr lang="ar-AE" sz="1200" i="0" kern="1200">
                    <a:solidFill>
                      <a:schemeClr val="tx1"/>
                    </a:solidFill>
                    <a:latin typeface="+mn-lt"/>
                    <a:ea typeface="+mn-ea"/>
                    <a:cs typeface="+mn-cs"/>
                  </a:rPr>
                  <a:t>𝑃_𝑖</a:t>
                </a:r>
                <a:endParaRPr lang="ar-AE" dirty="0"/>
              </a:p>
              <a:p>
                <a:r>
                  <a:rPr lang="en-IN" dirty="0"/>
                  <a:t>MLE chooses </a:t>
                </a:r>
                <a:r>
                  <a:rPr lang="ar-AE" sz="1200" i="0" kern="1200">
                    <a:solidFill>
                      <a:schemeClr val="tx1"/>
                    </a:solidFill>
                    <a:latin typeface="+mn-lt"/>
                    <a:ea typeface="+mn-ea"/>
                    <a:cs typeface="+mn-cs"/>
                  </a:rPr>
                  <a:t>𝑏_0</a:t>
                </a:r>
                <a:r>
                  <a:rPr lang="en-IN" dirty="0"/>
                  <a:t>and </a:t>
                </a:r>
                <a:r>
                  <a:rPr lang="ar-AE" sz="1200" i="0" kern="1200">
                    <a:solidFill>
                      <a:schemeClr val="tx1"/>
                    </a:solidFill>
                    <a:latin typeface="+mn-lt"/>
                    <a:ea typeface="+mn-ea"/>
                    <a:cs typeface="+mn-cs"/>
                  </a:rPr>
                  <a:t>𝑏_1</a:t>
                </a:r>
                <a:r>
                  <a:rPr lang="en-IN" dirty="0"/>
                  <a:t>that </a:t>
                </a:r>
                <a:r>
                  <a:rPr lang="en-IN" b="1" dirty="0"/>
                  <a:t>maximize this likelihood</a:t>
                </a:r>
                <a:r>
                  <a:rPr lang="en-IN" dirty="0"/>
                  <a:t> — i.e., make the actual outcomes (0s and 1s) as probable as possible.</a:t>
                </a:r>
              </a:p>
              <a:p>
                <a:br>
                  <a:rPr lang="en-IN" dirty="0"/>
                </a:br>
                <a:endParaRPr lang="en-IN" dirty="0"/>
              </a:p>
              <a:p>
                <a:r>
                  <a:rPr lang="en-IN" b="1" dirty="0"/>
                  <a:t>Step 4: Intuitive Understanding</a:t>
                </a:r>
              </a:p>
              <a:p>
                <a:r>
                  <a:rPr lang="en-IN" dirty="0"/>
                  <a:t>Think of MLE like </a:t>
                </a:r>
                <a:r>
                  <a:rPr lang="en-IN" b="1" dirty="0"/>
                  <a:t>tuning a probability curve</a:t>
                </a:r>
                <a:r>
                  <a:rPr lang="en-IN" dirty="0"/>
                  <a:t> to hug your data points closely:</a:t>
                </a:r>
              </a:p>
              <a:p>
                <a:r>
                  <a:rPr lang="en-IN" dirty="0"/>
                  <a:t>If you guess poor coefficients, predicted probabilities don’t match actual 0s and 1s → </a:t>
                </a:r>
                <a:r>
                  <a:rPr lang="en-IN" b="1" dirty="0"/>
                  <a:t>low likelihood</a:t>
                </a:r>
                <a:endParaRPr lang="en-IN" dirty="0"/>
              </a:p>
              <a:p>
                <a:r>
                  <a:rPr lang="en-IN" dirty="0"/>
                  <a:t>If you guess the right coefficients, predictions align with reality → </a:t>
                </a:r>
                <a:r>
                  <a:rPr lang="en-IN" b="1" dirty="0"/>
                  <a:t>high likelihood</a:t>
                </a:r>
                <a:endParaRPr lang="en-IN" dirty="0"/>
              </a:p>
              <a:p>
                <a:r>
                  <a:rPr lang="en-IN" dirty="0"/>
                  <a:t>The computer uses optimization (like gradient ascent) to find this </a:t>
                </a:r>
                <a:r>
                  <a:rPr lang="en-IN" b="1" dirty="0"/>
                  <a:t>best fit</a:t>
                </a:r>
                <a:r>
                  <a:rPr lang="en-IN" dirty="0"/>
                  <a:t>.</a:t>
                </a:r>
              </a:p>
              <a:p>
                <a:endParaRPr lang="en-IN" dirty="0"/>
              </a:p>
            </p:txBody>
          </p:sp>
        </mc:Fallback>
      </mc:AlternateContent>
      <p:sp>
        <p:nvSpPr>
          <p:cNvPr id="4" name="Slide Number Placeholder 3"/>
          <p:cNvSpPr>
            <a:spLocks noGrp="1"/>
          </p:cNvSpPr>
          <p:nvPr>
            <p:ph type="sldNum" sz="quarter" idx="5"/>
          </p:nvPr>
        </p:nvSpPr>
        <p:spPr/>
        <p:txBody>
          <a:bodyPr/>
          <a:lstStyle/>
          <a:p>
            <a:fld id="{40E57F73-7458-47F6-B04E-626402D51C85}" type="slidenum">
              <a:rPr lang="en-IN" smtClean="0"/>
              <a:t>16</a:t>
            </a:fld>
            <a:endParaRPr lang="en-IN"/>
          </a:p>
        </p:txBody>
      </p:sp>
    </p:spTree>
    <p:extLst>
      <p:ext uri="{BB962C8B-B14F-4D97-AF65-F5344CB8AC3E}">
        <p14:creationId xmlns:p14="http://schemas.microsoft.com/office/powerpoint/2010/main" val="2599265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lvl="0"/>
                <a:r>
                  <a:rPr lang="en-IN" sz="1200" kern="1200" dirty="0">
                    <a:solidFill>
                      <a:schemeClr val="tx1"/>
                    </a:solidFill>
                    <a:effectLst/>
                    <a:latin typeface="+mn-lt"/>
                    <a:ea typeface="+mn-ea"/>
                    <a:cs typeface="+mn-cs"/>
                  </a:rPr>
                  <a:t>When y=0, f(y)=</a:t>
                </a:r>
                <a:r>
                  <a:rPr lang="en-IN" sz="1200" i="1" kern="1200" dirty="0">
                    <a:solidFill>
                      <a:schemeClr val="tx1"/>
                    </a:solidFill>
                    <a:effectLst/>
                    <a:latin typeface="+mn-lt"/>
                    <a:ea typeface="+mn-ea"/>
                    <a:cs typeface="+mn-cs"/>
                  </a:rPr>
                  <a:t> </a:t>
                </a:r>
                <a14:m>
                  <m:oMath xmlns:m="http://schemas.openxmlformats.org/officeDocument/2006/math">
                    <m:f>
                      <m:fPr>
                        <m:ctrlPr>
                          <a:rPr lang="en-IN" sz="1200" i="1" kern="1200">
                            <a:solidFill>
                              <a:schemeClr val="tx1"/>
                            </a:solidFill>
                            <a:effectLst/>
                            <a:latin typeface="Cambria Math" panose="02040503050406030204" pitchFamily="18" charset="0"/>
                            <a:ea typeface="+mn-ea"/>
                            <a:cs typeface="+mn-cs"/>
                          </a:rPr>
                        </m:ctrlPr>
                      </m:fPr>
                      <m:num>
                        <m:sSup>
                          <m:sSupPr>
                            <m:ctrlPr>
                              <a:rPr lang="en-IN" sz="1200" i="1" kern="1200">
                                <a:solidFill>
                                  <a:schemeClr val="tx1"/>
                                </a:solidFill>
                                <a:effectLst/>
                                <a:latin typeface="Cambria Math" panose="02040503050406030204" pitchFamily="18" charset="0"/>
                                <a:ea typeface="+mn-ea"/>
                                <a:cs typeface="+mn-cs"/>
                              </a:rPr>
                            </m:ctrlPr>
                          </m:sSupPr>
                          <m:e>
                            <m:r>
                              <a:rPr lang="en-IN" sz="1200" i="1" kern="1200">
                                <a:solidFill>
                                  <a:schemeClr val="tx1"/>
                                </a:solidFill>
                                <a:effectLst/>
                                <a:latin typeface="Cambria Math" panose="02040503050406030204" pitchFamily="18" charset="0"/>
                                <a:ea typeface="+mn-ea"/>
                                <a:cs typeface="+mn-cs"/>
                              </a:rPr>
                              <m:t>𝑒</m:t>
                            </m:r>
                          </m:e>
                          <m:sup>
                            <m:r>
                              <a:rPr lang="en-IN" sz="1200" i="1" kern="1200">
                                <a:solidFill>
                                  <a:schemeClr val="tx1"/>
                                </a:solidFill>
                                <a:effectLst/>
                                <a:latin typeface="Cambria Math" panose="02040503050406030204" pitchFamily="18" charset="0"/>
                                <a:ea typeface="+mn-ea"/>
                                <a:cs typeface="+mn-cs"/>
                              </a:rPr>
                              <m:t>0</m:t>
                            </m:r>
                          </m:sup>
                        </m:sSup>
                      </m:num>
                      <m:den>
                        <m:r>
                          <a:rPr lang="en-IN" sz="1200" i="1" kern="1200">
                            <a:solidFill>
                              <a:schemeClr val="tx1"/>
                            </a:solidFill>
                            <a:effectLst/>
                            <a:latin typeface="Cambria Math" panose="02040503050406030204" pitchFamily="18" charset="0"/>
                            <a:ea typeface="+mn-ea"/>
                            <a:cs typeface="+mn-cs"/>
                          </a:rPr>
                          <m:t>1+</m:t>
                        </m:r>
                        <m:sSup>
                          <m:sSupPr>
                            <m:ctrlPr>
                              <a:rPr lang="en-IN" sz="1200" i="1" kern="1200">
                                <a:solidFill>
                                  <a:schemeClr val="tx1"/>
                                </a:solidFill>
                                <a:effectLst/>
                                <a:latin typeface="Cambria Math" panose="02040503050406030204" pitchFamily="18" charset="0"/>
                                <a:ea typeface="+mn-ea"/>
                                <a:cs typeface="+mn-cs"/>
                              </a:rPr>
                            </m:ctrlPr>
                          </m:sSupPr>
                          <m:e>
                            <m:r>
                              <a:rPr lang="en-IN" sz="1200" i="1" kern="1200">
                                <a:solidFill>
                                  <a:schemeClr val="tx1"/>
                                </a:solidFill>
                                <a:effectLst/>
                                <a:latin typeface="Cambria Math" panose="02040503050406030204" pitchFamily="18" charset="0"/>
                                <a:ea typeface="+mn-ea"/>
                                <a:cs typeface="+mn-cs"/>
                              </a:rPr>
                              <m:t>𝑒</m:t>
                            </m:r>
                          </m:e>
                          <m:sup>
                            <m:r>
                              <a:rPr lang="en-IN" sz="1200" i="1" kern="1200">
                                <a:solidFill>
                                  <a:schemeClr val="tx1"/>
                                </a:solidFill>
                                <a:effectLst/>
                                <a:latin typeface="Cambria Math" panose="02040503050406030204" pitchFamily="18" charset="0"/>
                                <a:ea typeface="+mn-ea"/>
                                <a:cs typeface="+mn-cs"/>
                              </a:rPr>
                              <m:t>0</m:t>
                            </m:r>
                          </m:sup>
                        </m:sSup>
                      </m:den>
                    </m:f>
                  </m:oMath>
                </a14:m>
                <a:r>
                  <a:rPr lang="en-IN" sz="1200" i="1" kern="1200" dirty="0">
                    <a:solidFill>
                      <a:schemeClr val="tx1"/>
                    </a:solidFill>
                    <a:effectLst/>
                    <a:latin typeface="+mn-lt"/>
                    <a:ea typeface="+mn-ea"/>
                    <a:cs typeface="+mn-cs"/>
                  </a:rPr>
                  <a:t> </a:t>
                </a:r>
                <a:r>
                  <a:rPr lang="en-IN" sz="1200" kern="1200" dirty="0">
                    <a:solidFill>
                      <a:schemeClr val="tx1"/>
                    </a:solidFill>
                    <a:effectLst/>
                    <a:latin typeface="+mn-lt"/>
                    <a:ea typeface="+mn-ea"/>
                    <a:cs typeface="+mn-cs"/>
                  </a:rPr>
                  <a:t>=0.5. this is where curve crosses the midpoint</a:t>
                </a:r>
              </a:p>
              <a:p>
                <a:pPr lvl="0"/>
                <a:r>
                  <a:rPr lang="en-IN" sz="1200" kern="1200" dirty="0">
                    <a:solidFill>
                      <a:schemeClr val="tx1"/>
                    </a:solidFill>
                    <a:effectLst/>
                    <a:latin typeface="+mn-lt"/>
                    <a:ea typeface="+mn-ea"/>
                    <a:cs typeface="+mn-cs"/>
                  </a:rPr>
                  <a:t>As y becomes very negative, the function approaches 0, and as y becomes very positive, it approaches 1, creating the characteristic "S" shape.</a:t>
                </a:r>
              </a:p>
              <a:p>
                <a:endParaRPr lang="en-IN" dirty="0"/>
              </a:p>
            </p:txBody>
          </p:sp>
        </mc:Choice>
        <mc:Fallback xmlns="">
          <p:sp>
            <p:nvSpPr>
              <p:cNvPr id="3" name="Notes Placeholder 2"/>
              <p:cNvSpPr>
                <a:spLocks noGrp="1"/>
              </p:cNvSpPr>
              <p:nvPr>
                <p:ph type="body" idx="1"/>
              </p:nvPr>
            </p:nvSpPr>
            <p:spPr/>
            <p:txBody>
              <a:bodyPr/>
              <a:lstStyle/>
              <a:p>
                <a:pPr lvl="0"/>
                <a:r>
                  <a:rPr lang="en-IN" sz="1200" kern="1200" dirty="0">
                    <a:solidFill>
                      <a:schemeClr val="tx1"/>
                    </a:solidFill>
                    <a:effectLst/>
                    <a:latin typeface="+mn-lt"/>
                    <a:ea typeface="+mn-ea"/>
                    <a:cs typeface="+mn-cs"/>
                  </a:rPr>
                  <a:t>When y=0, f(y)=</a:t>
                </a:r>
                <a:r>
                  <a:rPr lang="en-IN" sz="1200" i="1" kern="1200" dirty="0">
                    <a:solidFill>
                      <a:schemeClr val="tx1"/>
                    </a:solidFill>
                    <a:effectLst/>
                    <a:latin typeface="+mn-lt"/>
                    <a:ea typeface="+mn-ea"/>
                    <a:cs typeface="+mn-cs"/>
                  </a:rPr>
                  <a:t> </a:t>
                </a:r>
                <a:r>
                  <a:rPr lang="en-IN" sz="1200" i="0" kern="1200">
                    <a:solidFill>
                      <a:schemeClr val="tx1"/>
                    </a:solidFill>
                    <a:effectLst/>
                    <a:latin typeface="+mn-lt"/>
                    <a:ea typeface="+mn-ea"/>
                    <a:cs typeface="+mn-cs"/>
                  </a:rPr>
                  <a:t>𝑒^0/(1+𝑒^0 )</a:t>
                </a:r>
                <a:r>
                  <a:rPr lang="en-IN" sz="1200" i="1" kern="1200" dirty="0">
                    <a:solidFill>
                      <a:schemeClr val="tx1"/>
                    </a:solidFill>
                    <a:effectLst/>
                    <a:latin typeface="+mn-lt"/>
                    <a:ea typeface="+mn-ea"/>
                    <a:cs typeface="+mn-cs"/>
                  </a:rPr>
                  <a:t> </a:t>
                </a:r>
                <a:r>
                  <a:rPr lang="en-IN" sz="1200" kern="1200" dirty="0">
                    <a:solidFill>
                      <a:schemeClr val="tx1"/>
                    </a:solidFill>
                    <a:effectLst/>
                    <a:latin typeface="+mn-lt"/>
                    <a:ea typeface="+mn-ea"/>
                    <a:cs typeface="+mn-cs"/>
                  </a:rPr>
                  <a:t>=0.5. this is where curve crosses the midpoint</a:t>
                </a:r>
              </a:p>
              <a:p>
                <a:pPr lvl="0"/>
                <a:r>
                  <a:rPr lang="en-IN" sz="1200" kern="1200" dirty="0">
                    <a:solidFill>
                      <a:schemeClr val="tx1"/>
                    </a:solidFill>
                    <a:effectLst/>
                    <a:latin typeface="+mn-lt"/>
                    <a:ea typeface="+mn-ea"/>
                    <a:cs typeface="+mn-cs"/>
                  </a:rPr>
                  <a:t>As y becomes very negative, the function approaches 0, and as y becomes very positive, it approaches 1, creating the characteristic "S" shape.</a:t>
                </a:r>
              </a:p>
              <a:p>
                <a:endParaRPr lang="en-IN" dirty="0"/>
              </a:p>
            </p:txBody>
          </p:sp>
        </mc:Fallback>
      </mc:AlternateContent>
      <p:sp>
        <p:nvSpPr>
          <p:cNvPr id="4" name="Slide Number Placeholder 3"/>
          <p:cNvSpPr>
            <a:spLocks noGrp="1"/>
          </p:cNvSpPr>
          <p:nvPr>
            <p:ph type="sldNum" sz="quarter" idx="5"/>
          </p:nvPr>
        </p:nvSpPr>
        <p:spPr/>
        <p:txBody>
          <a:bodyPr/>
          <a:lstStyle/>
          <a:p>
            <a:fld id="{40E57F73-7458-47F6-B04E-626402D51C85}" type="slidenum">
              <a:rPr lang="en-IN" smtClean="0"/>
              <a:t>20</a:t>
            </a:fld>
            <a:endParaRPr lang="en-IN"/>
          </a:p>
        </p:txBody>
      </p:sp>
    </p:spTree>
    <p:extLst>
      <p:ext uri="{BB962C8B-B14F-4D97-AF65-F5344CB8AC3E}">
        <p14:creationId xmlns:p14="http://schemas.microsoft.com/office/powerpoint/2010/main" val="37954856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E18F2175-905E-46E7-858D-3D9679468B26}" type="datetimeFigureOut">
              <a:rPr lang="en-IN" smtClean="0"/>
              <a:t>10-10-2025</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701D9A95-57DA-421E-AF34-44AED3F3FF09}"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19302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8F2175-905E-46E7-858D-3D9679468B26}" type="datetimeFigureOut">
              <a:rPr lang="en-IN" smtClean="0"/>
              <a:t>10-10-2025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1D9A95-57DA-421E-AF34-44AED3F3FF09}" type="slidenum">
              <a:rPr lang="en-IN" smtClean="0"/>
              <a:t>‹#›</a:t>
            </a:fld>
            <a:endParaRPr lang="en-IN"/>
          </a:p>
        </p:txBody>
      </p:sp>
    </p:spTree>
    <p:extLst>
      <p:ext uri="{BB962C8B-B14F-4D97-AF65-F5344CB8AC3E}">
        <p14:creationId xmlns:p14="http://schemas.microsoft.com/office/powerpoint/2010/main" val="3348194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8F2175-905E-46E7-858D-3D9679468B26}" type="datetimeFigureOut">
              <a:rPr lang="en-IN" smtClean="0"/>
              <a:t>10-10-2025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1D9A95-57DA-421E-AF34-44AED3F3FF09}"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659711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18F2175-905E-46E7-858D-3D9679468B26}" type="datetimeFigureOut">
              <a:rPr lang="en-IN" smtClean="0"/>
              <a:t>10-10-2025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1D9A95-57DA-421E-AF34-44AED3F3FF09}" type="slidenum">
              <a:rPr lang="en-IN" smtClean="0"/>
              <a:t>‹#›</a:t>
            </a:fld>
            <a:endParaRPr lang="en-IN"/>
          </a:p>
        </p:txBody>
      </p:sp>
    </p:spTree>
    <p:extLst>
      <p:ext uri="{BB962C8B-B14F-4D97-AF65-F5344CB8AC3E}">
        <p14:creationId xmlns:p14="http://schemas.microsoft.com/office/powerpoint/2010/main" val="2406781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18F2175-905E-46E7-858D-3D9679468B26}" type="datetimeFigureOut">
              <a:rPr lang="en-IN" smtClean="0"/>
              <a:t>10-10-2025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01D9A95-57DA-421E-AF34-44AED3F3FF09}"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8933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8F2175-905E-46E7-858D-3D9679468B26}" type="datetimeFigureOut">
              <a:rPr lang="en-IN" smtClean="0"/>
              <a:t>10-10-2025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01D9A95-57DA-421E-AF34-44AED3F3FF09}"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02728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8F2175-905E-46E7-858D-3D9679468B26}" type="datetimeFigureOut">
              <a:rPr lang="en-IN" smtClean="0"/>
              <a:t>10-10-2025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01D9A95-57DA-421E-AF34-44AED3F3FF09}" type="slidenum">
              <a:rPr lang="en-IN" smtClean="0"/>
              <a:t>‹#›</a:t>
            </a:fld>
            <a:endParaRPr lang="en-IN"/>
          </a:p>
        </p:txBody>
      </p:sp>
    </p:spTree>
    <p:extLst>
      <p:ext uri="{BB962C8B-B14F-4D97-AF65-F5344CB8AC3E}">
        <p14:creationId xmlns:p14="http://schemas.microsoft.com/office/powerpoint/2010/main" val="2585251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18F2175-905E-46E7-858D-3D9679468B26}" type="datetimeFigureOut">
              <a:rPr lang="en-IN" smtClean="0"/>
              <a:t>10-10-2025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1D9A95-57DA-421E-AF34-44AED3F3FF09}"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96501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18F2175-905E-46E7-858D-3D9679468B26}" type="datetimeFigureOut">
              <a:rPr lang="en-IN" smtClean="0"/>
              <a:t>10-10-2025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1D9A95-57DA-421E-AF34-44AED3F3FF09}" type="slidenum">
              <a:rPr lang="en-IN" smtClean="0"/>
              <a:t>‹#›</a:t>
            </a:fld>
            <a:endParaRPr lang="en-IN"/>
          </a:p>
        </p:txBody>
      </p:sp>
    </p:spTree>
    <p:extLst>
      <p:ext uri="{BB962C8B-B14F-4D97-AF65-F5344CB8AC3E}">
        <p14:creationId xmlns:p14="http://schemas.microsoft.com/office/powerpoint/2010/main" val="39502017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18F2175-905E-46E7-858D-3D9679468B26}" type="datetimeFigureOut">
              <a:rPr lang="en-IN" smtClean="0"/>
              <a:t>10-10-2025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1D9A95-57DA-421E-AF34-44AED3F3FF09}" type="slidenum">
              <a:rPr lang="en-IN" smtClean="0"/>
              <a:t>‹#›</a:t>
            </a:fld>
            <a:endParaRPr lang="en-IN"/>
          </a:p>
        </p:txBody>
      </p:sp>
    </p:spTree>
    <p:extLst>
      <p:ext uri="{BB962C8B-B14F-4D97-AF65-F5344CB8AC3E}">
        <p14:creationId xmlns:p14="http://schemas.microsoft.com/office/powerpoint/2010/main" val="25657500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8F2175-905E-46E7-858D-3D9679468B26}" type="datetimeFigureOut">
              <a:rPr lang="en-IN" smtClean="0"/>
              <a:t>10-10-2025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1D9A95-57DA-421E-AF34-44AED3F3FF09}"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966216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8F2175-905E-46E7-858D-3D9679468B26}" type="datetimeFigureOut">
              <a:rPr lang="en-IN" smtClean="0"/>
              <a:t>10-10-2025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1D9A95-57DA-421E-AF34-44AED3F3FF09}"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08873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8F2175-905E-46E7-858D-3D9679468B26}" type="datetimeFigureOut">
              <a:rPr lang="en-IN" smtClean="0"/>
              <a:t>10-10-2025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1D9A95-57DA-421E-AF34-44AED3F3FF09}" type="slidenum">
              <a:rPr lang="en-IN" smtClean="0"/>
              <a:t>‹#›</a:t>
            </a:fld>
            <a:endParaRPr lang="en-IN"/>
          </a:p>
        </p:txBody>
      </p:sp>
    </p:spTree>
    <p:extLst>
      <p:ext uri="{BB962C8B-B14F-4D97-AF65-F5344CB8AC3E}">
        <p14:creationId xmlns:p14="http://schemas.microsoft.com/office/powerpoint/2010/main" val="16531244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8F2175-905E-46E7-858D-3D9679468B26}" type="datetimeFigureOut">
              <a:rPr lang="en-IN" smtClean="0"/>
              <a:t>10-10-2025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1D9A95-57DA-421E-AF34-44AED3F3FF09}"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311855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8F2175-905E-46E7-858D-3D9679468B26}" type="datetimeFigureOut">
              <a:rPr lang="en-IN" smtClean="0"/>
              <a:t>10-10-2025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1D9A95-57DA-421E-AF34-44AED3F3FF09}"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337751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8F2175-905E-46E7-858D-3D9679468B26}" type="datetimeFigureOut">
              <a:rPr lang="en-IN" smtClean="0"/>
              <a:t>10-10-2025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1D9A95-57DA-421E-AF34-44AED3F3FF09}"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786285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8F2175-905E-46E7-858D-3D9679468B26}" type="datetimeFigureOut">
              <a:rPr lang="en-IN" smtClean="0"/>
              <a:t>10-10-2025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1D9A95-57DA-421E-AF34-44AED3F3FF09}"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63087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18F2175-905E-46E7-858D-3D9679468B26}" type="datetimeFigureOut">
              <a:rPr lang="en-IN" smtClean="0"/>
              <a:t>10-10-2025</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01D9A95-57DA-421E-AF34-44AED3F3FF09}" type="slidenum">
              <a:rPr lang="en-IN" smtClean="0"/>
              <a:t>‹#›</a:t>
            </a:fld>
            <a:endParaRPr lang="en-IN"/>
          </a:p>
        </p:txBody>
      </p:sp>
    </p:spTree>
    <p:extLst>
      <p:ext uri="{BB962C8B-B14F-4D97-AF65-F5344CB8AC3E}">
        <p14:creationId xmlns:p14="http://schemas.microsoft.com/office/powerpoint/2010/main" val="30171630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63F81-792A-69A3-2825-28AB035D412D}"/>
              </a:ext>
            </a:extLst>
          </p:cNvPr>
          <p:cNvSpPr>
            <a:spLocks noGrp="1"/>
          </p:cNvSpPr>
          <p:nvPr>
            <p:ph type="ctrTitle"/>
          </p:nvPr>
        </p:nvSpPr>
        <p:spPr/>
        <p:txBody>
          <a:bodyPr/>
          <a:lstStyle/>
          <a:p>
            <a:r>
              <a:rPr lang="en-US" b="1" dirty="0">
                <a:latin typeface="Times New Roman" panose="02020603050405020304" pitchFamily="18" charset="0"/>
                <a:cs typeface="Times New Roman" panose="02020603050405020304" pitchFamily="18" charset="0"/>
              </a:rPr>
              <a:t>Logistic Regression</a:t>
            </a:r>
            <a:endParaRPr lang="en-IN"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8F365A9-91DE-5F63-A41F-83DCA6B2FD61}"/>
              </a:ext>
            </a:extLst>
          </p:cNvPr>
          <p:cNvSpPr>
            <a:spLocks noGrp="1"/>
          </p:cNvSpPr>
          <p:nvPr>
            <p:ph type="subTitle" idx="1"/>
          </p:nvPr>
        </p:nvSpPr>
        <p:spPr>
          <a:xfrm>
            <a:off x="2692398" y="3657596"/>
            <a:ext cx="7002108" cy="1828803"/>
          </a:xfrm>
        </p:spPr>
        <p:txBody>
          <a:bodyPr>
            <a:normAutofit lnSpcReduction="10000"/>
          </a:bodyPr>
          <a:lstStyle/>
          <a:p>
            <a:r>
              <a:rPr lang="en-US" b="1" dirty="0">
                <a:latin typeface="Times New Roman" panose="02020603050405020304" pitchFamily="18" charset="0"/>
                <a:cs typeface="Times New Roman" panose="02020603050405020304" pitchFamily="18" charset="0"/>
              </a:rPr>
              <a:t>Mr. Shrikrishna Anand Narvekar</a:t>
            </a:r>
          </a:p>
          <a:p>
            <a:r>
              <a:rPr lang="en-US" dirty="0">
                <a:latin typeface="Times New Roman" panose="02020603050405020304" pitchFamily="18" charset="0"/>
                <a:cs typeface="Times New Roman" panose="02020603050405020304" pitchFamily="18" charset="0"/>
              </a:rPr>
              <a:t>Assitant Professor</a:t>
            </a:r>
          </a:p>
          <a:p>
            <a:r>
              <a:rPr lang="en-US" dirty="0">
                <a:latin typeface="Times New Roman" panose="02020603050405020304" pitchFamily="18" charset="0"/>
                <a:cs typeface="Times New Roman" panose="02020603050405020304" pitchFamily="18" charset="0"/>
              </a:rPr>
              <a:t>Computer Engineering department</a:t>
            </a:r>
          </a:p>
          <a:p>
            <a:r>
              <a:rPr lang="en-US" dirty="0">
                <a:latin typeface="Times New Roman" panose="02020603050405020304" pitchFamily="18" charset="0"/>
                <a:cs typeface="Times New Roman" panose="02020603050405020304" pitchFamily="18" charset="0"/>
              </a:rPr>
              <a:t>Agnel Institute of Technology and Design</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633818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4FED2-698F-EE5F-5E10-9A0A897A699E}"/>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Content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DDD5D5A-29E1-FE0B-A3B7-213B72EB2391}"/>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Introduction</a:t>
            </a:r>
          </a:p>
          <a:p>
            <a:r>
              <a:rPr lang="en-US" dirty="0">
                <a:solidFill>
                  <a:schemeClr val="tx1"/>
                </a:solidFill>
                <a:latin typeface="Times New Roman" panose="02020603050405020304" pitchFamily="18" charset="0"/>
                <a:cs typeface="Times New Roman" panose="02020603050405020304" pitchFamily="18" charset="0"/>
              </a:rPr>
              <a:t>Problem statement</a:t>
            </a:r>
          </a:p>
          <a:p>
            <a:r>
              <a:rPr lang="en-US" dirty="0">
                <a:solidFill>
                  <a:schemeClr val="tx1"/>
                </a:solidFill>
                <a:latin typeface="Times New Roman" panose="02020603050405020304" pitchFamily="18" charset="0"/>
                <a:cs typeface="Times New Roman" panose="02020603050405020304" pitchFamily="18" charset="0"/>
              </a:rPr>
              <a:t>Logistic regression Use Cases</a:t>
            </a:r>
          </a:p>
          <a:p>
            <a:endParaRPr lang="en-US" dirty="0"/>
          </a:p>
          <a:p>
            <a:endParaRPr lang="en-IN" dirty="0"/>
          </a:p>
        </p:txBody>
      </p:sp>
    </p:spTree>
    <p:extLst>
      <p:ext uri="{BB962C8B-B14F-4D97-AF65-F5344CB8AC3E}">
        <p14:creationId xmlns:p14="http://schemas.microsoft.com/office/powerpoint/2010/main" val="32227439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3489E-3BF5-483B-7998-969A83D8213E}"/>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7051E74-E072-B1FA-55EF-11E54321B3C4}"/>
              </a:ext>
            </a:extLst>
          </p:cNvPr>
          <p:cNvSpPr>
            <a:spLocks noGrp="1"/>
          </p:cNvSpPr>
          <p:nvPr>
            <p:ph idx="1"/>
          </p:nvPr>
        </p:nvSpPr>
        <p:spPr>
          <a:xfrm>
            <a:off x="951723" y="2556932"/>
            <a:ext cx="6055568" cy="3318936"/>
          </a:xfrm>
        </p:spPr>
        <p:txBody>
          <a:bodyPr>
            <a:normAutofit/>
          </a:bodyPr>
          <a:lstStyle/>
          <a:p>
            <a:r>
              <a:rPr lang="en-IN" b="1" dirty="0">
                <a:solidFill>
                  <a:schemeClr val="tx1"/>
                </a:solidFill>
                <a:latin typeface="Times New Roman" panose="02020603050405020304" pitchFamily="18" charset="0"/>
                <a:cs typeface="Times New Roman" panose="02020603050405020304" pitchFamily="18" charset="0"/>
              </a:rPr>
              <a:t>Logistic regression</a:t>
            </a:r>
            <a:r>
              <a:rPr lang="en-IN" dirty="0">
                <a:solidFill>
                  <a:schemeClr val="tx1"/>
                </a:solidFill>
                <a:latin typeface="Times New Roman" panose="02020603050405020304" pitchFamily="18" charset="0"/>
                <a:cs typeface="Times New Roman" panose="02020603050405020304" pitchFamily="18" charset="0"/>
              </a:rPr>
              <a:t> is used when the target (dependent) variable is binary or categorical, like obese (1) and non-obese (0). </a:t>
            </a:r>
          </a:p>
          <a:p>
            <a:r>
              <a:rPr lang="en-IN" dirty="0">
                <a:solidFill>
                  <a:schemeClr val="tx1"/>
                </a:solidFill>
                <a:latin typeface="Times New Roman" panose="02020603050405020304" pitchFamily="18" charset="0"/>
                <a:cs typeface="Times New Roman" panose="02020603050405020304" pitchFamily="18" charset="0"/>
              </a:rPr>
              <a:t>Instead of predicting the exact value, logistic regression predicts the probability of an event (e.g., being obese).</a:t>
            </a:r>
          </a:p>
          <a:p>
            <a:r>
              <a:rPr lang="en-IN" dirty="0">
                <a:solidFill>
                  <a:schemeClr val="tx1"/>
                </a:solidFill>
                <a:latin typeface="Times New Roman" panose="02020603050405020304" pitchFamily="18" charset="0"/>
                <a:cs typeface="Times New Roman" panose="02020603050405020304" pitchFamily="18" charset="0"/>
              </a:rPr>
              <a:t>It uses sigmoid function to map input to probabilities</a:t>
            </a:r>
          </a:p>
        </p:txBody>
      </p:sp>
      <p:pic>
        <p:nvPicPr>
          <p:cNvPr id="5" name="Picture 4">
            <a:extLst>
              <a:ext uri="{FF2B5EF4-FFF2-40B4-BE49-F238E27FC236}">
                <a16:creationId xmlns:a16="http://schemas.microsoft.com/office/drawing/2014/main" id="{3FAF3120-F44C-575B-6AE6-394D03CE3675}"/>
              </a:ext>
            </a:extLst>
          </p:cNvPr>
          <p:cNvPicPr>
            <a:picLocks noChangeAspect="1"/>
          </p:cNvPicPr>
          <p:nvPr/>
        </p:nvPicPr>
        <p:blipFill>
          <a:blip r:embed="rId3"/>
          <a:stretch>
            <a:fillRect/>
          </a:stretch>
        </p:blipFill>
        <p:spPr>
          <a:xfrm>
            <a:off x="7007291" y="3606349"/>
            <a:ext cx="4387093" cy="1646787"/>
          </a:xfrm>
          <a:prstGeom prst="rect">
            <a:avLst/>
          </a:prstGeom>
        </p:spPr>
      </p:pic>
    </p:spTree>
    <p:extLst>
      <p:ext uri="{BB962C8B-B14F-4D97-AF65-F5344CB8AC3E}">
        <p14:creationId xmlns:p14="http://schemas.microsoft.com/office/powerpoint/2010/main" val="35984134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BAE907E-1587-01AE-33E2-E0EDEC94957A}"/>
                  </a:ext>
                </a:extLst>
              </p:cNvPr>
              <p:cNvSpPr>
                <a:spLocks noGrp="1"/>
              </p:cNvSpPr>
              <p:nvPr>
                <p:ph idx="1"/>
              </p:nvPr>
            </p:nvSpPr>
            <p:spPr>
              <a:xfrm>
                <a:off x="793102" y="681135"/>
                <a:ext cx="10646229" cy="5766318"/>
              </a:xfrm>
            </p:spPr>
            <p:txBody>
              <a:bodyPr>
                <a:normAutofit fontScale="92500"/>
              </a:bodyPr>
              <a:lstStyle/>
              <a:p>
                <a:r>
                  <a:rPr lang="en-US" sz="2200" b="1" dirty="0">
                    <a:solidFill>
                      <a:schemeClr val="tx1"/>
                    </a:solidFill>
                    <a:latin typeface="Times New Roman" panose="02020603050405020304" pitchFamily="18" charset="0"/>
                    <a:cs typeface="Times New Roman" panose="02020603050405020304" pitchFamily="18" charset="0"/>
                  </a:rPr>
                  <a:t>Step 1: Input Features</a:t>
                </a:r>
              </a:p>
              <a:p>
                <a:r>
                  <a:rPr lang="en-US" sz="2200" dirty="0">
                    <a:solidFill>
                      <a:schemeClr val="tx1"/>
                    </a:solidFill>
                    <a:latin typeface="Times New Roman" panose="02020603050405020304" pitchFamily="18" charset="0"/>
                    <a:cs typeface="Times New Roman" panose="02020603050405020304" pitchFamily="18" charset="0"/>
                  </a:rPr>
                  <a:t>The process starts with </a:t>
                </a:r>
                <a:r>
                  <a:rPr lang="en-US" sz="2200" b="1" dirty="0">
                    <a:solidFill>
                      <a:schemeClr val="tx1"/>
                    </a:solidFill>
                    <a:latin typeface="Times New Roman" panose="02020603050405020304" pitchFamily="18" charset="0"/>
                    <a:cs typeface="Times New Roman" panose="02020603050405020304" pitchFamily="18" charset="0"/>
                  </a:rPr>
                  <a:t>input features</a:t>
                </a:r>
                <a:r>
                  <a:rPr lang="en-US" sz="2200" dirty="0">
                    <a:solidFill>
                      <a:schemeClr val="tx1"/>
                    </a:solidFill>
                    <a:latin typeface="Times New Roman" panose="02020603050405020304" pitchFamily="18" charset="0"/>
                    <a:cs typeface="Times New Roman" panose="02020603050405020304" pitchFamily="18" charset="0"/>
                  </a:rPr>
                  <a:t> — these are the independent variables or predictors.</a:t>
                </a:r>
              </a:p>
              <a:p>
                <a:r>
                  <a:rPr lang="en-US" sz="2200" dirty="0">
                    <a:solidFill>
                      <a:schemeClr val="tx1"/>
                    </a:solidFill>
                    <a:latin typeface="Times New Roman" panose="02020603050405020304" pitchFamily="18" charset="0"/>
                    <a:cs typeface="Times New Roman" panose="02020603050405020304" pitchFamily="18" charset="0"/>
                  </a:rPr>
                  <a:t>For example, in a spam detection model, features might include:</a:t>
                </a:r>
              </a:p>
              <a:p>
                <a:pPr marL="457200" indent="-457200">
                  <a:buFont typeface="+mj-lt"/>
                  <a:buAutoNum type="arabicPeriod"/>
                </a:pPr>
                <a:r>
                  <a:rPr lang="en-IN" sz="2200" dirty="0">
                    <a:solidFill>
                      <a:schemeClr val="tx1"/>
                    </a:solidFill>
                    <a:latin typeface="Times New Roman" panose="02020603050405020304" pitchFamily="18" charset="0"/>
                    <a:cs typeface="Times New Roman" panose="02020603050405020304" pitchFamily="18" charset="0"/>
                  </a:rPr>
                  <a:t>Number of links in an Email</a:t>
                </a:r>
              </a:p>
              <a:p>
                <a:pPr marL="457200" indent="-457200">
                  <a:buFont typeface="+mj-lt"/>
                  <a:buAutoNum type="arabicPeriod"/>
                </a:pPr>
                <a:r>
                  <a:rPr lang="en-IN" sz="2200" dirty="0">
                    <a:solidFill>
                      <a:schemeClr val="tx1"/>
                    </a:solidFill>
                    <a:latin typeface="Times New Roman" panose="02020603050405020304" pitchFamily="18" charset="0"/>
                    <a:cs typeface="Times New Roman" panose="02020603050405020304" pitchFamily="18" charset="0"/>
                  </a:rPr>
                  <a:t>Presence of certain keywords</a:t>
                </a:r>
              </a:p>
              <a:p>
                <a:pPr marL="457200" indent="-457200">
                  <a:buFont typeface="+mj-lt"/>
                  <a:buAutoNum type="arabicPeriod"/>
                </a:pPr>
                <a:r>
                  <a:rPr lang="en-IN" sz="2200" dirty="0">
                    <a:solidFill>
                      <a:schemeClr val="tx1"/>
                    </a:solidFill>
                    <a:latin typeface="Times New Roman" panose="02020603050405020304" pitchFamily="18" charset="0"/>
                    <a:cs typeface="Times New Roman" panose="02020603050405020304" pitchFamily="18" charset="0"/>
                  </a:rPr>
                  <a:t>Email length</a:t>
                </a:r>
              </a:p>
              <a:p>
                <a:pPr marL="0" indent="0">
                  <a:buNone/>
                </a:pPr>
                <a:r>
                  <a:rPr lang="en-US" sz="2200" dirty="0">
                    <a:solidFill>
                      <a:schemeClr val="tx1"/>
                    </a:solidFill>
                    <a:latin typeface="Times New Roman" panose="02020603050405020304" pitchFamily="18" charset="0"/>
                    <a:cs typeface="Times New Roman" panose="02020603050405020304" pitchFamily="18" charset="0"/>
                  </a:rPr>
                  <a:t>Mathematically, we denote these features as:</a:t>
                </a:r>
              </a:p>
              <a:p>
                <a:pPr marL="0" indent="0">
                  <a:buNone/>
                </a:pPr>
                <a:r>
                  <a:rPr lang="en-US" sz="22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200" i="1" smtClean="0">
                            <a:solidFill>
                              <a:schemeClr val="tx1"/>
                            </a:solidFill>
                            <a:latin typeface="Cambria Math" panose="02040503050406030204" pitchFamily="18" charset="0"/>
                            <a:cs typeface="Times New Roman" panose="02020603050405020304" pitchFamily="18" charset="0"/>
                          </a:rPr>
                        </m:ctrlPr>
                      </m:sSubPr>
                      <m:e>
                        <m:r>
                          <a:rPr lang="en-US" sz="2200" b="0" i="1" smtClean="0">
                            <a:solidFill>
                              <a:schemeClr val="tx1"/>
                            </a:solidFill>
                            <a:latin typeface="Cambria Math" panose="02040503050406030204" pitchFamily="18" charset="0"/>
                            <a:cs typeface="Times New Roman" panose="02020603050405020304" pitchFamily="18" charset="0"/>
                          </a:rPr>
                          <m:t>𝑥</m:t>
                        </m:r>
                      </m:e>
                      <m:sub>
                        <m:r>
                          <a:rPr lang="en-US" sz="2200" b="0" i="1" smtClean="0">
                            <a:solidFill>
                              <a:schemeClr val="tx1"/>
                            </a:solidFill>
                            <a:latin typeface="Cambria Math" panose="02040503050406030204" pitchFamily="18" charset="0"/>
                            <a:cs typeface="Times New Roman" panose="02020603050405020304" pitchFamily="18" charset="0"/>
                          </a:rPr>
                          <m:t>1</m:t>
                        </m:r>
                      </m:sub>
                    </m:sSub>
                  </m:oMath>
                </a14:m>
                <a:r>
                  <a:rPr lang="en-IN" sz="2200" dirty="0">
                    <a:solidFill>
                      <a:schemeClr val="tx1"/>
                    </a:solidFill>
                    <a:latin typeface="Times New Roman" panose="02020603050405020304" pitchFamily="18" charset="0"/>
                    <a:cs typeface="Times New Roman" panose="02020603050405020304" pitchFamily="18" charset="0"/>
                  </a:rPr>
                  <a:t>,</a:t>
                </a:r>
                <a:r>
                  <a:rPr lang="en-US" sz="2200" dirty="0">
                    <a:solidFill>
                      <a:schemeClr val="tx1"/>
                    </a:solidFill>
                    <a:cs typeface="Times New Roman" panose="02020603050405020304" pitchFamily="18" charset="0"/>
                  </a:rPr>
                  <a:t> </a:t>
                </a:r>
                <a14:m>
                  <m:oMath xmlns:m="http://schemas.openxmlformats.org/officeDocument/2006/math">
                    <m:sSub>
                      <m:sSubPr>
                        <m:ctrlPr>
                          <a:rPr lang="en-US" sz="2200" i="1">
                            <a:solidFill>
                              <a:schemeClr val="tx1"/>
                            </a:solidFill>
                            <a:latin typeface="Cambria Math" panose="02040503050406030204" pitchFamily="18" charset="0"/>
                            <a:cs typeface="Times New Roman" panose="02020603050405020304" pitchFamily="18" charset="0"/>
                          </a:rPr>
                        </m:ctrlPr>
                      </m:sSubPr>
                      <m:e>
                        <m:r>
                          <a:rPr lang="en-US" sz="2200" i="1">
                            <a:solidFill>
                              <a:schemeClr val="tx1"/>
                            </a:solidFill>
                            <a:latin typeface="Cambria Math" panose="02040503050406030204" pitchFamily="18" charset="0"/>
                            <a:cs typeface="Times New Roman" panose="02020603050405020304" pitchFamily="18" charset="0"/>
                          </a:rPr>
                          <m:t>𝑥</m:t>
                        </m:r>
                      </m:e>
                      <m:sub>
                        <m:r>
                          <a:rPr lang="en-US" sz="2200" b="0" i="1" smtClean="0">
                            <a:solidFill>
                              <a:schemeClr val="tx1"/>
                            </a:solidFill>
                            <a:latin typeface="Cambria Math" panose="02040503050406030204" pitchFamily="18" charset="0"/>
                            <a:cs typeface="Times New Roman" panose="02020603050405020304" pitchFamily="18" charset="0"/>
                          </a:rPr>
                          <m:t>2</m:t>
                        </m:r>
                      </m:sub>
                    </m:sSub>
                  </m:oMath>
                </a14:m>
                <a:r>
                  <a:rPr lang="en-IN" sz="2200" dirty="0">
                    <a:solidFill>
                      <a:schemeClr val="tx1"/>
                    </a:solidFill>
                    <a:latin typeface="Times New Roman" panose="02020603050405020304" pitchFamily="18" charset="0"/>
                    <a:cs typeface="Times New Roman" panose="02020603050405020304" pitchFamily="18" charset="0"/>
                  </a:rPr>
                  <a:t>,</a:t>
                </a:r>
                <a:r>
                  <a:rPr lang="en-US" sz="2200" dirty="0">
                    <a:solidFill>
                      <a:schemeClr val="tx1"/>
                    </a:solidFill>
                    <a:cs typeface="Times New Roman" panose="02020603050405020304" pitchFamily="18" charset="0"/>
                  </a:rPr>
                  <a:t> </a:t>
                </a:r>
                <a14:m>
                  <m:oMath xmlns:m="http://schemas.openxmlformats.org/officeDocument/2006/math">
                    <m:sSub>
                      <m:sSubPr>
                        <m:ctrlPr>
                          <a:rPr lang="en-US" sz="2200" i="1">
                            <a:solidFill>
                              <a:schemeClr val="tx1"/>
                            </a:solidFill>
                            <a:latin typeface="Cambria Math" panose="02040503050406030204" pitchFamily="18" charset="0"/>
                            <a:cs typeface="Times New Roman" panose="02020603050405020304" pitchFamily="18" charset="0"/>
                          </a:rPr>
                        </m:ctrlPr>
                      </m:sSubPr>
                      <m:e>
                        <m:r>
                          <a:rPr lang="en-US" sz="2200" i="1">
                            <a:solidFill>
                              <a:schemeClr val="tx1"/>
                            </a:solidFill>
                            <a:latin typeface="Cambria Math" panose="02040503050406030204" pitchFamily="18" charset="0"/>
                            <a:cs typeface="Times New Roman" panose="02020603050405020304" pitchFamily="18" charset="0"/>
                          </a:rPr>
                          <m:t>𝑥</m:t>
                        </m:r>
                      </m:e>
                      <m:sub>
                        <m:r>
                          <a:rPr lang="en-US" sz="2200" b="0" i="1" smtClean="0">
                            <a:solidFill>
                              <a:schemeClr val="tx1"/>
                            </a:solidFill>
                            <a:latin typeface="Cambria Math" panose="02040503050406030204" pitchFamily="18" charset="0"/>
                            <a:cs typeface="Times New Roman" panose="02020603050405020304" pitchFamily="18" charset="0"/>
                          </a:rPr>
                          <m:t>3</m:t>
                        </m:r>
                      </m:sub>
                    </m:sSub>
                  </m:oMath>
                </a14:m>
                <a:r>
                  <a:rPr lang="en-IN" sz="2200" dirty="0">
                    <a:solidFill>
                      <a:schemeClr val="tx1"/>
                    </a:solidFill>
                    <a:latin typeface="Times New Roman" panose="02020603050405020304" pitchFamily="18" charset="0"/>
                    <a:cs typeface="Times New Roman" panose="02020603050405020304" pitchFamily="18" charset="0"/>
                  </a:rPr>
                  <a:t>,……,</a:t>
                </a:r>
                <a:r>
                  <a:rPr lang="en-US" sz="2200" dirty="0">
                    <a:solidFill>
                      <a:schemeClr val="tx1"/>
                    </a:solidFill>
                    <a:cs typeface="Times New Roman" panose="02020603050405020304" pitchFamily="18" charset="0"/>
                  </a:rPr>
                  <a:t> </a:t>
                </a:r>
                <a14:m>
                  <m:oMath xmlns:m="http://schemas.openxmlformats.org/officeDocument/2006/math">
                    <m:sSub>
                      <m:sSubPr>
                        <m:ctrlPr>
                          <a:rPr lang="en-US" sz="2200" i="1">
                            <a:solidFill>
                              <a:schemeClr val="tx1"/>
                            </a:solidFill>
                            <a:latin typeface="Cambria Math" panose="02040503050406030204" pitchFamily="18" charset="0"/>
                            <a:cs typeface="Times New Roman" panose="02020603050405020304" pitchFamily="18" charset="0"/>
                          </a:rPr>
                        </m:ctrlPr>
                      </m:sSubPr>
                      <m:e>
                        <m:r>
                          <a:rPr lang="en-US" sz="2200" i="1">
                            <a:solidFill>
                              <a:schemeClr val="tx1"/>
                            </a:solidFill>
                            <a:latin typeface="Cambria Math" panose="02040503050406030204" pitchFamily="18" charset="0"/>
                            <a:cs typeface="Times New Roman" panose="02020603050405020304" pitchFamily="18" charset="0"/>
                          </a:rPr>
                          <m:t>𝑥</m:t>
                        </m:r>
                      </m:e>
                      <m:sub>
                        <m:r>
                          <a:rPr lang="en-US" sz="2200" b="0" i="1" smtClean="0">
                            <a:solidFill>
                              <a:schemeClr val="tx1"/>
                            </a:solidFill>
                            <a:latin typeface="Cambria Math" panose="02040503050406030204" pitchFamily="18" charset="0"/>
                            <a:cs typeface="Times New Roman" panose="02020603050405020304" pitchFamily="18" charset="0"/>
                          </a:rPr>
                          <m:t>𝑛</m:t>
                        </m:r>
                        <m:r>
                          <a:rPr lang="en-US" sz="2200" b="0" i="1" smtClean="0">
                            <a:solidFill>
                              <a:schemeClr val="tx1"/>
                            </a:solidFill>
                            <a:latin typeface="Cambria Math" panose="02040503050406030204" pitchFamily="18" charset="0"/>
                            <a:cs typeface="Times New Roman" panose="02020603050405020304" pitchFamily="18" charset="0"/>
                          </a:rPr>
                          <m:t> </m:t>
                        </m:r>
                      </m:sub>
                    </m:sSub>
                  </m:oMath>
                </a14:m>
                <a:endParaRPr lang="en-IN" sz="2200" dirty="0">
                  <a:solidFill>
                    <a:schemeClr val="tx1"/>
                  </a:solidFill>
                  <a:latin typeface="Times New Roman" panose="02020603050405020304" pitchFamily="18" charset="0"/>
                  <a:cs typeface="Times New Roman" panose="02020603050405020304" pitchFamily="18" charset="0"/>
                </a:endParaRPr>
              </a:p>
              <a:p>
                <a:pPr marL="0" indent="0">
                  <a:buNone/>
                </a:pPr>
                <a:r>
                  <a:rPr lang="en-IN" sz="2200" b="1" dirty="0">
                    <a:solidFill>
                      <a:schemeClr val="tx1"/>
                    </a:solidFill>
                    <a:latin typeface="Times New Roman" panose="02020603050405020304" pitchFamily="18" charset="0"/>
                    <a:cs typeface="Times New Roman" panose="02020603050405020304" pitchFamily="18" charset="0"/>
                  </a:rPr>
                  <a:t>Step 2: Linear Combination</a:t>
                </a:r>
              </a:p>
              <a:p>
                <a:pPr marL="0" indent="0">
                  <a:buNone/>
                </a:pPr>
                <a:r>
                  <a:rPr lang="en-US" sz="2200" dirty="0">
                    <a:solidFill>
                      <a:schemeClr val="tx1"/>
                    </a:solidFill>
                    <a:latin typeface="Times New Roman" panose="02020603050405020304" pitchFamily="18" charset="0"/>
                    <a:cs typeface="Times New Roman" panose="02020603050405020304" pitchFamily="18" charset="0"/>
                  </a:rPr>
                  <a:t>Logistic regression first computes a </a:t>
                </a:r>
                <a:r>
                  <a:rPr lang="en-US" sz="2200" b="1" dirty="0">
                    <a:solidFill>
                      <a:schemeClr val="tx1"/>
                    </a:solidFill>
                    <a:latin typeface="Times New Roman" panose="02020603050405020304" pitchFamily="18" charset="0"/>
                    <a:cs typeface="Times New Roman" panose="02020603050405020304" pitchFamily="18" charset="0"/>
                  </a:rPr>
                  <a:t>linear combination</a:t>
                </a:r>
                <a:r>
                  <a:rPr lang="en-US" sz="2200" dirty="0">
                    <a:solidFill>
                      <a:schemeClr val="tx1"/>
                    </a:solidFill>
                    <a:latin typeface="Times New Roman" panose="02020603050405020304" pitchFamily="18" charset="0"/>
                    <a:cs typeface="Times New Roman" panose="02020603050405020304" pitchFamily="18" charset="0"/>
                  </a:rPr>
                  <a:t> of these input features using weights and bias:  Z= </a:t>
                </a:r>
                <a14:m>
                  <m:oMath xmlns:m="http://schemas.openxmlformats.org/officeDocument/2006/math">
                    <m:sSub>
                      <m:sSubPr>
                        <m:ctrlPr>
                          <a:rPr lang="en-US" sz="2200" i="1" smtClean="0">
                            <a:solidFill>
                              <a:schemeClr val="tx1"/>
                            </a:solidFill>
                            <a:latin typeface="Cambria Math" panose="02040503050406030204" pitchFamily="18" charset="0"/>
                            <a:cs typeface="Times New Roman" panose="02020603050405020304" pitchFamily="18" charset="0"/>
                          </a:rPr>
                        </m:ctrlPr>
                      </m:sSubPr>
                      <m:e>
                        <m:r>
                          <a:rPr lang="en-US" sz="2200" b="0" i="1" smtClean="0">
                            <a:solidFill>
                              <a:schemeClr val="tx1"/>
                            </a:solidFill>
                            <a:latin typeface="Cambria Math" panose="02040503050406030204" pitchFamily="18" charset="0"/>
                            <a:cs typeface="Times New Roman" panose="02020603050405020304" pitchFamily="18" charset="0"/>
                          </a:rPr>
                          <m:t>𝑤</m:t>
                        </m:r>
                      </m:e>
                      <m:sub>
                        <m:r>
                          <a:rPr lang="en-US" sz="2200" b="0" i="1" smtClean="0">
                            <a:solidFill>
                              <a:schemeClr val="tx1"/>
                            </a:solidFill>
                            <a:latin typeface="Cambria Math" panose="02040503050406030204" pitchFamily="18" charset="0"/>
                            <a:cs typeface="Times New Roman" panose="02020603050405020304" pitchFamily="18" charset="0"/>
                          </a:rPr>
                          <m:t>0</m:t>
                        </m:r>
                      </m:sub>
                    </m:sSub>
                    <m:r>
                      <a:rPr lang="en-US" sz="2200" b="1" i="0" smtClean="0">
                        <a:solidFill>
                          <a:schemeClr val="tx1"/>
                        </a:solidFill>
                        <a:latin typeface="Cambria Math" panose="02040503050406030204" pitchFamily="18" charset="0"/>
                        <a:cs typeface="Times New Roman" panose="02020603050405020304" pitchFamily="18" charset="0"/>
                      </a:rPr>
                      <m:t>+</m:t>
                    </m:r>
                  </m:oMath>
                </a14:m>
                <a:r>
                  <a:rPr lang="en-US" sz="2200" dirty="0">
                    <a:solidFill>
                      <a:schemeClr val="tx1"/>
                    </a:solidFill>
                    <a:cs typeface="Times New Roman" panose="02020603050405020304" pitchFamily="18" charset="0"/>
                  </a:rPr>
                  <a:t> </a:t>
                </a:r>
                <a14:m>
                  <m:oMath xmlns:m="http://schemas.openxmlformats.org/officeDocument/2006/math">
                    <m:sSub>
                      <m:sSubPr>
                        <m:ctrlPr>
                          <a:rPr lang="en-US" sz="2200" i="1">
                            <a:solidFill>
                              <a:schemeClr val="tx1"/>
                            </a:solidFill>
                            <a:latin typeface="Cambria Math" panose="02040503050406030204" pitchFamily="18" charset="0"/>
                            <a:cs typeface="Times New Roman" panose="02020603050405020304" pitchFamily="18" charset="0"/>
                          </a:rPr>
                        </m:ctrlPr>
                      </m:sSubPr>
                      <m:e>
                        <m:r>
                          <a:rPr lang="en-US" sz="2200" i="1">
                            <a:solidFill>
                              <a:schemeClr val="tx1"/>
                            </a:solidFill>
                            <a:latin typeface="Cambria Math" panose="02040503050406030204" pitchFamily="18" charset="0"/>
                            <a:cs typeface="Times New Roman" panose="02020603050405020304" pitchFamily="18" charset="0"/>
                          </a:rPr>
                          <m:t>𝑤</m:t>
                        </m:r>
                      </m:e>
                      <m:sub>
                        <m:r>
                          <a:rPr lang="en-US" sz="2200" b="0" i="1" smtClean="0">
                            <a:solidFill>
                              <a:schemeClr val="tx1"/>
                            </a:solidFill>
                            <a:latin typeface="Cambria Math" panose="02040503050406030204" pitchFamily="18" charset="0"/>
                            <a:cs typeface="Times New Roman" panose="02020603050405020304" pitchFamily="18" charset="0"/>
                          </a:rPr>
                          <m:t>1</m:t>
                        </m:r>
                      </m:sub>
                    </m:sSub>
                  </m:oMath>
                </a14:m>
                <a:r>
                  <a:rPr lang="en-US" sz="2200" dirty="0">
                    <a:solidFill>
                      <a:schemeClr val="tx1"/>
                    </a:solidFill>
                    <a:cs typeface="Times New Roman" panose="02020603050405020304" pitchFamily="18" charset="0"/>
                  </a:rPr>
                  <a:t> </a:t>
                </a:r>
                <a14:m>
                  <m:oMath xmlns:m="http://schemas.openxmlformats.org/officeDocument/2006/math">
                    <m:sSub>
                      <m:sSubPr>
                        <m:ctrlPr>
                          <a:rPr lang="en-US" sz="2200" i="1">
                            <a:solidFill>
                              <a:schemeClr val="tx1"/>
                            </a:solidFill>
                            <a:latin typeface="Cambria Math" panose="02040503050406030204" pitchFamily="18" charset="0"/>
                            <a:cs typeface="Times New Roman" panose="02020603050405020304" pitchFamily="18" charset="0"/>
                          </a:rPr>
                        </m:ctrlPr>
                      </m:sSubPr>
                      <m:e>
                        <m:r>
                          <a:rPr lang="en-US" sz="2200" i="1">
                            <a:solidFill>
                              <a:schemeClr val="tx1"/>
                            </a:solidFill>
                            <a:latin typeface="Cambria Math" panose="02040503050406030204" pitchFamily="18" charset="0"/>
                            <a:cs typeface="Times New Roman" panose="02020603050405020304" pitchFamily="18" charset="0"/>
                          </a:rPr>
                          <m:t>𝑥</m:t>
                        </m:r>
                      </m:e>
                      <m:sub>
                        <m:r>
                          <a:rPr lang="en-US" sz="2200" i="1">
                            <a:solidFill>
                              <a:schemeClr val="tx1"/>
                            </a:solidFill>
                            <a:latin typeface="Cambria Math" panose="02040503050406030204" pitchFamily="18" charset="0"/>
                            <a:cs typeface="Times New Roman" panose="02020603050405020304" pitchFamily="18" charset="0"/>
                          </a:rPr>
                          <m:t>1</m:t>
                        </m:r>
                      </m:sub>
                    </m:sSub>
                  </m:oMath>
                </a14:m>
                <a:r>
                  <a:rPr lang="en-IN" sz="2200" b="1" dirty="0">
                    <a:solidFill>
                      <a:schemeClr val="tx1"/>
                    </a:solidFill>
                    <a:latin typeface="Times New Roman" panose="02020603050405020304" pitchFamily="18" charset="0"/>
                    <a:cs typeface="Times New Roman" panose="02020603050405020304" pitchFamily="18" charset="0"/>
                  </a:rPr>
                  <a:t>+</a:t>
                </a:r>
                <a:r>
                  <a:rPr lang="en-US" sz="2200" dirty="0">
                    <a:solidFill>
                      <a:schemeClr val="tx1"/>
                    </a:solidFill>
                    <a:cs typeface="Times New Roman" panose="02020603050405020304" pitchFamily="18" charset="0"/>
                  </a:rPr>
                  <a:t> </a:t>
                </a:r>
                <a14:m>
                  <m:oMath xmlns:m="http://schemas.openxmlformats.org/officeDocument/2006/math">
                    <m:sSub>
                      <m:sSubPr>
                        <m:ctrlPr>
                          <a:rPr lang="en-US" sz="2200" i="1">
                            <a:solidFill>
                              <a:schemeClr val="tx1"/>
                            </a:solidFill>
                            <a:latin typeface="Cambria Math" panose="02040503050406030204" pitchFamily="18" charset="0"/>
                            <a:cs typeface="Times New Roman" panose="02020603050405020304" pitchFamily="18" charset="0"/>
                          </a:rPr>
                        </m:ctrlPr>
                      </m:sSubPr>
                      <m:e>
                        <m:r>
                          <a:rPr lang="en-US" sz="2200" i="1">
                            <a:solidFill>
                              <a:schemeClr val="tx1"/>
                            </a:solidFill>
                            <a:latin typeface="Cambria Math" panose="02040503050406030204" pitchFamily="18" charset="0"/>
                            <a:cs typeface="Times New Roman" panose="02020603050405020304" pitchFamily="18" charset="0"/>
                          </a:rPr>
                          <m:t>𝑤</m:t>
                        </m:r>
                      </m:e>
                      <m:sub>
                        <m:r>
                          <a:rPr lang="en-US" sz="2200" b="0" i="1" smtClean="0">
                            <a:solidFill>
                              <a:schemeClr val="tx1"/>
                            </a:solidFill>
                            <a:latin typeface="Cambria Math" panose="02040503050406030204" pitchFamily="18" charset="0"/>
                            <a:cs typeface="Times New Roman" panose="02020603050405020304" pitchFamily="18" charset="0"/>
                          </a:rPr>
                          <m:t>2</m:t>
                        </m:r>
                      </m:sub>
                    </m:sSub>
                  </m:oMath>
                </a14:m>
                <a:r>
                  <a:rPr lang="en-US" sz="2200" dirty="0">
                    <a:solidFill>
                      <a:schemeClr val="tx1"/>
                    </a:solidFill>
                    <a:cs typeface="Times New Roman" panose="02020603050405020304" pitchFamily="18" charset="0"/>
                  </a:rPr>
                  <a:t> </a:t>
                </a:r>
                <a14:m>
                  <m:oMath xmlns:m="http://schemas.openxmlformats.org/officeDocument/2006/math">
                    <m:sSub>
                      <m:sSubPr>
                        <m:ctrlPr>
                          <a:rPr lang="en-US" sz="2200" i="1">
                            <a:solidFill>
                              <a:schemeClr val="tx1"/>
                            </a:solidFill>
                            <a:latin typeface="Cambria Math" panose="02040503050406030204" pitchFamily="18" charset="0"/>
                            <a:cs typeface="Times New Roman" panose="02020603050405020304" pitchFamily="18" charset="0"/>
                          </a:rPr>
                        </m:ctrlPr>
                      </m:sSubPr>
                      <m:e>
                        <m:r>
                          <a:rPr lang="en-US" sz="2200" i="1">
                            <a:solidFill>
                              <a:schemeClr val="tx1"/>
                            </a:solidFill>
                            <a:latin typeface="Cambria Math" panose="02040503050406030204" pitchFamily="18" charset="0"/>
                            <a:cs typeface="Times New Roman" panose="02020603050405020304" pitchFamily="18" charset="0"/>
                          </a:rPr>
                          <m:t>𝑥</m:t>
                        </m:r>
                      </m:e>
                      <m:sub>
                        <m:r>
                          <a:rPr lang="en-US" sz="2200" i="1">
                            <a:solidFill>
                              <a:schemeClr val="tx1"/>
                            </a:solidFill>
                            <a:latin typeface="Cambria Math" panose="02040503050406030204" pitchFamily="18" charset="0"/>
                            <a:cs typeface="Times New Roman" panose="02020603050405020304" pitchFamily="18" charset="0"/>
                          </a:rPr>
                          <m:t>2</m:t>
                        </m:r>
                      </m:sub>
                    </m:sSub>
                    <m:r>
                      <a:rPr lang="en-US" sz="2200" b="0" i="1" smtClean="0">
                        <a:solidFill>
                          <a:schemeClr val="tx1"/>
                        </a:solidFill>
                        <a:latin typeface="Cambria Math" panose="02040503050406030204" pitchFamily="18" charset="0"/>
                        <a:cs typeface="Times New Roman" panose="02020603050405020304" pitchFamily="18" charset="0"/>
                      </a:rPr>
                      <m:t>+</m:t>
                    </m:r>
                  </m:oMath>
                </a14:m>
                <a:r>
                  <a:rPr lang="en-IN" sz="2200" b="1" dirty="0">
                    <a:solidFill>
                      <a:schemeClr val="tx1"/>
                    </a:solidFill>
                    <a:latin typeface="Times New Roman" panose="02020603050405020304" pitchFamily="18" charset="0"/>
                    <a:cs typeface="Times New Roman" panose="02020603050405020304" pitchFamily="18" charset="0"/>
                  </a:rPr>
                  <a:t> …..+</a:t>
                </a:r>
                <a:r>
                  <a:rPr lang="en-US" sz="2200" dirty="0">
                    <a:solidFill>
                      <a:schemeClr val="tx1"/>
                    </a:solidFill>
                    <a:cs typeface="Times New Roman" panose="02020603050405020304" pitchFamily="18" charset="0"/>
                  </a:rPr>
                  <a:t> </a:t>
                </a:r>
                <a14:m>
                  <m:oMath xmlns:m="http://schemas.openxmlformats.org/officeDocument/2006/math">
                    <m:sSub>
                      <m:sSubPr>
                        <m:ctrlPr>
                          <a:rPr lang="en-US" sz="2200" i="1">
                            <a:solidFill>
                              <a:schemeClr val="tx1"/>
                            </a:solidFill>
                            <a:latin typeface="Cambria Math" panose="02040503050406030204" pitchFamily="18" charset="0"/>
                            <a:cs typeface="Times New Roman" panose="02020603050405020304" pitchFamily="18" charset="0"/>
                          </a:rPr>
                        </m:ctrlPr>
                      </m:sSubPr>
                      <m:e>
                        <m:r>
                          <a:rPr lang="en-US" sz="2200" i="1">
                            <a:solidFill>
                              <a:schemeClr val="tx1"/>
                            </a:solidFill>
                            <a:latin typeface="Cambria Math" panose="02040503050406030204" pitchFamily="18" charset="0"/>
                            <a:cs typeface="Times New Roman" panose="02020603050405020304" pitchFamily="18" charset="0"/>
                          </a:rPr>
                          <m:t>𝑤</m:t>
                        </m:r>
                      </m:e>
                      <m:sub>
                        <m:r>
                          <a:rPr lang="en-US" sz="2200" b="0" i="1" smtClean="0">
                            <a:solidFill>
                              <a:schemeClr val="tx1"/>
                            </a:solidFill>
                            <a:latin typeface="Cambria Math" panose="02040503050406030204" pitchFamily="18" charset="0"/>
                            <a:cs typeface="Times New Roman" panose="02020603050405020304" pitchFamily="18" charset="0"/>
                          </a:rPr>
                          <m:t>𝑛</m:t>
                        </m:r>
                      </m:sub>
                    </m:sSub>
                    <m:r>
                      <a:rPr lang="en-US" sz="2200" b="1" i="0" smtClean="0">
                        <a:solidFill>
                          <a:schemeClr val="tx1"/>
                        </a:solidFill>
                        <a:latin typeface="Cambria Math" panose="02040503050406030204" pitchFamily="18" charset="0"/>
                        <a:cs typeface="Times New Roman" panose="02020603050405020304" pitchFamily="18" charset="0"/>
                      </a:rPr>
                      <m:t> </m:t>
                    </m:r>
                    <m:r>
                      <m:rPr>
                        <m:sty m:val="p"/>
                      </m:rPr>
                      <a:rPr lang="en-US" sz="2200" b="0" i="0" smtClean="0">
                        <a:solidFill>
                          <a:schemeClr val="tx1"/>
                        </a:solidFill>
                        <a:latin typeface="Cambria Math" panose="02040503050406030204" pitchFamily="18" charset="0"/>
                        <a:cs typeface="Times New Roman" panose="02020603050405020304" pitchFamily="18" charset="0"/>
                      </a:rPr>
                      <m:t>Which</m:t>
                    </m:r>
                    <m:r>
                      <a:rPr lang="en-US" sz="2200" b="0" i="0" smtClean="0">
                        <a:solidFill>
                          <a:schemeClr val="tx1"/>
                        </a:solidFill>
                        <a:latin typeface="Cambria Math" panose="02040503050406030204" pitchFamily="18" charset="0"/>
                        <a:cs typeface="Times New Roman" panose="02020603050405020304" pitchFamily="18" charset="0"/>
                      </a:rPr>
                      <m:t> </m:t>
                    </m:r>
                    <m:r>
                      <m:rPr>
                        <m:sty m:val="p"/>
                      </m:rPr>
                      <a:rPr lang="en-US" sz="2200" b="0" i="0" smtClean="0">
                        <a:solidFill>
                          <a:schemeClr val="tx1"/>
                        </a:solidFill>
                        <a:latin typeface="Cambria Math" panose="02040503050406030204" pitchFamily="18" charset="0"/>
                        <a:cs typeface="Times New Roman" panose="02020603050405020304" pitchFamily="18" charset="0"/>
                      </a:rPr>
                      <m:t>is</m:t>
                    </m:r>
                    <m:r>
                      <a:rPr lang="en-US" sz="2200" b="0" i="0" smtClean="0">
                        <a:solidFill>
                          <a:schemeClr val="tx1"/>
                        </a:solidFill>
                        <a:latin typeface="Cambria Math" panose="02040503050406030204" pitchFamily="18" charset="0"/>
                        <a:cs typeface="Times New Roman" panose="02020603050405020304" pitchFamily="18" charset="0"/>
                      </a:rPr>
                      <m:t> </m:t>
                    </m:r>
                    <m:r>
                      <m:rPr>
                        <m:sty m:val="p"/>
                      </m:rPr>
                      <a:rPr lang="en-US" sz="2200" b="0" i="0" smtClean="0">
                        <a:solidFill>
                          <a:schemeClr val="tx1"/>
                        </a:solidFill>
                        <a:latin typeface="Cambria Math" panose="02040503050406030204" pitchFamily="18" charset="0"/>
                        <a:cs typeface="Times New Roman" panose="02020603050405020304" pitchFamily="18" charset="0"/>
                      </a:rPr>
                      <m:t>similar</m:t>
                    </m:r>
                    <m:r>
                      <a:rPr lang="en-US" sz="2200" b="0" i="0" smtClean="0">
                        <a:solidFill>
                          <a:schemeClr val="tx1"/>
                        </a:solidFill>
                        <a:latin typeface="Cambria Math" panose="02040503050406030204" pitchFamily="18" charset="0"/>
                        <a:cs typeface="Times New Roman" panose="02020603050405020304" pitchFamily="18" charset="0"/>
                      </a:rPr>
                      <m:t> </m:t>
                    </m:r>
                    <m:r>
                      <m:rPr>
                        <m:sty m:val="p"/>
                      </m:rPr>
                      <a:rPr lang="en-US" sz="2200" b="0" i="0" smtClean="0">
                        <a:solidFill>
                          <a:schemeClr val="tx1"/>
                        </a:solidFill>
                        <a:latin typeface="Cambria Math" panose="02040503050406030204" pitchFamily="18" charset="0"/>
                        <a:cs typeface="Times New Roman" panose="02020603050405020304" pitchFamily="18" charset="0"/>
                      </a:rPr>
                      <m:t>to</m:t>
                    </m:r>
                    <m:r>
                      <a:rPr lang="en-US" sz="2200" b="0" i="0" smtClean="0">
                        <a:solidFill>
                          <a:schemeClr val="tx1"/>
                        </a:solidFill>
                        <a:latin typeface="Cambria Math" panose="02040503050406030204" pitchFamily="18" charset="0"/>
                        <a:cs typeface="Times New Roman" panose="02020603050405020304" pitchFamily="18" charset="0"/>
                      </a:rPr>
                      <m:t> </m:t>
                    </m:r>
                    <m:r>
                      <m:rPr>
                        <m:sty m:val="p"/>
                      </m:rPr>
                      <a:rPr lang="en-US" sz="2200" b="0" i="0" smtClean="0">
                        <a:solidFill>
                          <a:schemeClr val="tx1"/>
                        </a:solidFill>
                        <a:latin typeface="Cambria Math" panose="02040503050406030204" pitchFamily="18" charset="0"/>
                        <a:cs typeface="Times New Roman" panose="02020603050405020304" pitchFamily="18" charset="0"/>
                      </a:rPr>
                      <m:t>what</m:t>
                    </m:r>
                    <m:r>
                      <a:rPr lang="en-US" sz="2200" b="0" i="0" smtClean="0">
                        <a:solidFill>
                          <a:schemeClr val="tx1"/>
                        </a:solidFill>
                        <a:latin typeface="Cambria Math" panose="02040503050406030204" pitchFamily="18" charset="0"/>
                        <a:cs typeface="Times New Roman" panose="02020603050405020304" pitchFamily="18" charset="0"/>
                      </a:rPr>
                      <m:t> </m:t>
                    </m:r>
                    <m:r>
                      <m:rPr>
                        <m:sty m:val="p"/>
                      </m:rPr>
                      <a:rPr lang="en-US" sz="2200" b="0" i="0" smtClean="0">
                        <a:solidFill>
                          <a:schemeClr val="tx1"/>
                        </a:solidFill>
                        <a:latin typeface="Cambria Math" panose="02040503050406030204" pitchFamily="18" charset="0"/>
                        <a:cs typeface="Times New Roman" panose="02020603050405020304" pitchFamily="18" charset="0"/>
                      </a:rPr>
                      <m:t>happens</m:t>
                    </m:r>
                    <m:r>
                      <a:rPr lang="en-US" sz="2200" b="0" i="0" smtClean="0">
                        <a:solidFill>
                          <a:schemeClr val="tx1"/>
                        </a:solidFill>
                        <a:latin typeface="Cambria Math" panose="02040503050406030204" pitchFamily="18" charset="0"/>
                        <a:cs typeface="Times New Roman" panose="02020603050405020304" pitchFamily="18" charset="0"/>
                      </a:rPr>
                      <m:t> </m:t>
                    </m:r>
                    <m:r>
                      <m:rPr>
                        <m:sty m:val="p"/>
                      </m:rPr>
                      <a:rPr lang="en-US" sz="2200" b="0" i="0" smtClean="0">
                        <a:solidFill>
                          <a:schemeClr val="tx1"/>
                        </a:solidFill>
                        <a:latin typeface="Cambria Math" panose="02040503050406030204" pitchFamily="18" charset="0"/>
                        <a:cs typeface="Times New Roman" panose="02020603050405020304" pitchFamily="18" charset="0"/>
                      </a:rPr>
                      <m:t>in</m:t>
                    </m:r>
                    <m:r>
                      <a:rPr lang="en-US" sz="2200" b="0" i="0" smtClean="0">
                        <a:solidFill>
                          <a:schemeClr val="tx1"/>
                        </a:solidFill>
                        <a:latin typeface="Cambria Math" panose="02040503050406030204" pitchFamily="18" charset="0"/>
                        <a:cs typeface="Times New Roman" panose="02020603050405020304" pitchFamily="18" charset="0"/>
                      </a:rPr>
                      <m:t> </m:t>
                    </m:r>
                    <m:r>
                      <m:rPr>
                        <m:sty m:val="p"/>
                      </m:rPr>
                      <a:rPr lang="en-US" sz="2200" b="0" i="0" smtClean="0">
                        <a:solidFill>
                          <a:schemeClr val="tx1"/>
                        </a:solidFill>
                        <a:latin typeface="Cambria Math" panose="02040503050406030204" pitchFamily="18" charset="0"/>
                        <a:cs typeface="Times New Roman" panose="02020603050405020304" pitchFamily="18" charset="0"/>
                      </a:rPr>
                      <m:t>linear</m:t>
                    </m:r>
                    <m:r>
                      <a:rPr lang="en-US" sz="2200" b="0" i="0" smtClean="0">
                        <a:solidFill>
                          <a:schemeClr val="tx1"/>
                        </a:solidFill>
                        <a:latin typeface="Cambria Math" panose="02040503050406030204" pitchFamily="18" charset="0"/>
                        <a:cs typeface="Times New Roman" panose="02020603050405020304" pitchFamily="18" charset="0"/>
                      </a:rPr>
                      <m:t> </m:t>
                    </m:r>
                    <m:r>
                      <m:rPr>
                        <m:sty m:val="p"/>
                      </m:rPr>
                      <a:rPr lang="en-US" sz="2200" b="0" i="0" smtClean="0">
                        <a:solidFill>
                          <a:schemeClr val="tx1"/>
                        </a:solidFill>
                        <a:latin typeface="Cambria Math" panose="02040503050406030204" pitchFamily="18" charset="0"/>
                        <a:cs typeface="Times New Roman" panose="02020603050405020304" pitchFamily="18" charset="0"/>
                      </a:rPr>
                      <m:t>regression</m:t>
                    </m:r>
                  </m:oMath>
                </a14:m>
                <a:endParaRPr lang="en-US" sz="2200" b="0" dirty="0">
                  <a:solidFill>
                    <a:schemeClr val="tx1"/>
                  </a:solidFill>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However, in logistic regression, we need a </a:t>
                </a:r>
                <a:r>
                  <a:rPr lang="en-US" b="1" dirty="0">
                    <a:latin typeface="Times New Roman" panose="02020603050405020304" pitchFamily="18" charset="0"/>
                    <a:cs typeface="Times New Roman" panose="02020603050405020304" pitchFamily="18" charset="0"/>
                  </a:rPr>
                  <a:t>probability output between 0 and 1</a:t>
                </a:r>
                <a:r>
                  <a:rPr lang="en-US" dirty="0">
                    <a:latin typeface="Times New Roman" panose="02020603050405020304" pitchFamily="18" charset="0"/>
                    <a:cs typeface="Times New Roman" panose="02020603050405020304" pitchFamily="18" charset="0"/>
                  </a:rPr>
                  <a:t>, not any real number</a:t>
                </a:r>
                <a:endParaRPr lang="en-IN" b="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DBAE907E-1587-01AE-33E2-E0EDEC94957A}"/>
                  </a:ext>
                </a:extLst>
              </p:cNvPr>
              <p:cNvSpPr>
                <a:spLocks noGrp="1" noRot="1" noChangeAspect="1" noMove="1" noResize="1" noEditPoints="1" noAdjustHandles="1" noChangeArrowheads="1" noChangeShapeType="1" noTextEdit="1"/>
              </p:cNvSpPr>
              <p:nvPr>
                <p:ph idx="1"/>
              </p:nvPr>
            </p:nvSpPr>
            <p:spPr>
              <a:xfrm>
                <a:off x="793102" y="681135"/>
                <a:ext cx="10646229" cy="5766318"/>
              </a:xfrm>
              <a:blipFill>
                <a:blip r:embed="rId2"/>
                <a:stretch>
                  <a:fillRect l="-744" t="-1057" r="-1202"/>
                </a:stretch>
              </a:blipFill>
            </p:spPr>
            <p:txBody>
              <a:bodyPr/>
              <a:lstStyle/>
              <a:p>
                <a:r>
                  <a:rPr lang="en-IN">
                    <a:noFill/>
                  </a:rPr>
                  <a:t> </a:t>
                </a:r>
              </a:p>
            </p:txBody>
          </p:sp>
        </mc:Fallback>
      </mc:AlternateContent>
    </p:spTree>
    <p:extLst>
      <p:ext uri="{BB962C8B-B14F-4D97-AF65-F5344CB8AC3E}">
        <p14:creationId xmlns:p14="http://schemas.microsoft.com/office/powerpoint/2010/main" val="26047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4FBD976-B5D4-4E17-D7DE-10F04B3309B4}"/>
                  </a:ext>
                </a:extLst>
              </p:cNvPr>
              <p:cNvSpPr>
                <a:spLocks noGrp="1"/>
              </p:cNvSpPr>
              <p:nvPr>
                <p:ph idx="1"/>
              </p:nvPr>
            </p:nvSpPr>
            <p:spPr>
              <a:xfrm>
                <a:off x="709126" y="830424"/>
                <a:ext cx="10560694" cy="5483983"/>
              </a:xfrm>
            </p:spPr>
            <p:txBody>
              <a:bodyPr>
                <a:normAutofit lnSpcReduction="10000"/>
              </a:bodyPr>
              <a:lstStyle/>
              <a:p>
                <a:r>
                  <a:rPr lang="en-US" sz="2200" b="1" dirty="0">
                    <a:latin typeface="Times New Roman" panose="02020603050405020304" pitchFamily="18" charset="0"/>
                    <a:cs typeface="Times New Roman" panose="02020603050405020304" pitchFamily="18" charset="0"/>
                  </a:rPr>
                  <a:t>Step 3 : Sigmoid function (S-shaped curve in the diagram)</a:t>
                </a:r>
              </a:p>
              <a:p>
                <a:r>
                  <a:rPr lang="en-US" sz="2200" dirty="0">
                    <a:latin typeface="Times New Roman" panose="02020603050405020304" pitchFamily="18" charset="0"/>
                    <a:cs typeface="Times New Roman" panose="02020603050405020304" pitchFamily="18" charset="0"/>
                  </a:rPr>
                  <a:t>The </a:t>
                </a:r>
                <a:r>
                  <a:rPr lang="en-US" sz="2200" b="1" dirty="0">
                    <a:latin typeface="Times New Roman" panose="02020603050405020304" pitchFamily="18" charset="0"/>
                    <a:cs typeface="Times New Roman" panose="02020603050405020304" pitchFamily="18" charset="0"/>
                  </a:rPr>
                  <a:t>sigmoid (logistic) function</a:t>
                </a:r>
                <a:r>
                  <a:rPr lang="en-US" sz="2200" dirty="0">
                    <a:latin typeface="Times New Roman" panose="02020603050405020304" pitchFamily="18" charset="0"/>
                    <a:cs typeface="Times New Roman" panose="02020603050405020304" pitchFamily="18" charset="0"/>
                  </a:rPr>
                  <a:t> is applied to the linear combination </a:t>
                </a:r>
                <a14:m>
                  <m:oMath xmlns:m="http://schemas.openxmlformats.org/officeDocument/2006/math">
                    <m:r>
                      <a:rPr lang="en-US" sz="2200" i="1">
                        <a:latin typeface="Cambria Math" panose="02040503050406030204" pitchFamily="18" charset="0"/>
                      </a:rPr>
                      <m:t>𝑧</m:t>
                    </m:r>
                  </m:oMath>
                </a14:m>
                <a:r>
                  <a:rPr lang="en-US" sz="2200" dirty="0">
                    <a:latin typeface="Times New Roman" panose="02020603050405020304" pitchFamily="18" charset="0"/>
                    <a:cs typeface="Times New Roman" panose="02020603050405020304" pitchFamily="18" charset="0"/>
                  </a:rPr>
                  <a:t>:</a:t>
                </a:r>
              </a:p>
              <a:p>
                <a:r>
                  <a:rPr lang="en-US" sz="2200" dirty="0">
                    <a:latin typeface="Times New Roman" panose="02020603050405020304" pitchFamily="18" charset="0"/>
                    <a:cs typeface="Times New Roman" panose="02020603050405020304" pitchFamily="18" charset="0"/>
                  </a:rPr>
                  <a:t>                                        P(Y=1/X)= </a:t>
                </a:r>
                <a14:m>
                  <m:oMath xmlns:m="http://schemas.openxmlformats.org/officeDocument/2006/math">
                    <m:f>
                      <m:fPr>
                        <m:ctrlPr>
                          <a:rPr lang="en-US" sz="2200" i="1" smtClean="0">
                            <a:latin typeface="Cambria Math" panose="02040503050406030204" pitchFamily="18" charset="0"/>
                            <a:cs typeface="Times New Roman" panose="02020603050405020304" pitchFamily="18" charset="0"/>
                          </a:rPr>
                        </m:ctrlPr>
                      </m:fPr>
                      <m:num>
                        <m:r>
                          <a:rPr lang="en-US" sz="2200" b="0" i="1" smtClean="0">
                            <a:latin typeface="Cambria Math" panose="02040503050406030204" pitchFamily="18" charset="0"/>
                            <a:cs typeface="Times New Roman" panose="02020603050405020304" pitchFamily="18" charset="0"/>
                          </a:rPr>
                          <m:t>1</m:t>
                        </m:r>
                      </m:num>
                      <m:den>
                        <m:r>
                          <a:rPr lang="en-US" sz="2200" b="0" i="1" smtClean="0">
                            <a:latin typeface="Cambria Math" panose="02040503050406030204" pitchFamily="18" charset="0"/>
                            <a:cs typeface="Times New Roman" panose="02020603050405020304" pitchFamily="18" charset="0"/>
                          </a:rPr>
                          <m:t>1+</m:t>
                        </m:r>
                        <m:sSup>
                          <m:sSupPr>
                            <m:ctrlPr>
                              <a:rPr lang="en-US" sz="2200" b="0" i="1" smtClean="0">
                                <a:latin typeface="Cambria Math" panose="02040503050406030204" pitchFamily="18" charset="0"/>
                                <a:cs typeface="Times New Roman" panose="02020603050405020304" pitchFamily="18" charset="0"/>
                              </a:rPr>
                            </m:ctrlPr>
                          </m:sSupPr>
                          <m:e>
                            <m:r>
                              <a:rPr lang="en-US" sz="2200" b="0" i="1" smtClean="0">
                                <a:latin typeface="Cambria Math" panose="02040503050406030204" pitchFamily="18" charset="0"/>
                                <a:cs typeface="Times New Roman" panose="02020603050405020304" pitchFamily="18" charset="0"/>
                              </a:rPr>
                              <m:t>𝑒</m:t>
                            </m:r>
                          </m:e>
                          <m:sup>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𝑧</m:t>
                            </m:r>
                          </m:sup>
                        </m:sSup>
                      </m:den>
                    </m:f>
                  </m:oMath>
                </a14:m>
                <a:endParaRPr lang="en-IN" sz="2200" dirty="0">
                  <a:latin typeface="Times New Roman" panose="02020603050405020304" pitchFamily="18" charset="0"/>
                  <a:cs typeface="Times New Roman" panose="02020603050405020304" pitchFamily="18" charset="0"/>
                </a:endParaRPr>
              </a:p>
              <a:p>
                <a:r>
                  <a:rPr lang="en-US" sz="2200" dirty="0">
                    <a:solidFill>
                      <a:schemeClr val="tx1"/>
                    </a:solidFill>
                    <a:latin typeface="Times New Roman" panose="02020603050405020304" pitchFamily="18" charset="0"/>
                    <a:cs typeface="Times New Roman" panose="02020603050405020304" pitchFamily="18" charset="0"/>
                  </a:rPr>
                  <a:t>This transforms </a:t>
                </a:r>
                <a14:m>
                  <m:oMath xmlns:m="http://schemas.openxmlformats.org/officeDocument/2006/math">
                    <m:r>
                      <a:rPr lang="en-US" sz="2200" i="1">
                        <a:solidFill>
                          <a:schemeClr val="tx1"/>
                        </a:solidFill>
                        <a:latin typeface="Cambria Math" panose="02040503050406030204" pitchFamily="18" charset="0"/>
                      </a:rPr>
                      <m:t>𝑧</m:t>
                    </m:r>
                  </m:oMath>
                </a14:m>
                <a:r>
                  <a:rPr lang="en-US" sz="2200" dirty="0">
                    <a:solidFill>
                      <a:schemeClr val="tx1"/>
                    </a:solidFill>
                    <a:latin typeface="Times New Roman" panose="02020603050405020304" pitchFamily="18" charset="0"/>
                    <a:cs typeface="Times New Roman" panose="02020603050405020304" pitchFamily="18" charset="0"/>
                  </a:rPr>
                  <a:t> into a value between </a:t>
                </a:r>
                <a:r>
                  <a:rPr lang="en-US" sz="2200" b="1" dirty="0">
                    <a:solidFill>
                      <a:schemeClr val="tx1"/>
                    </a:solidFill>
                    <a:latin typeface="Times New Roman" panose="02020603050405020304" pitchFamily="18" charset="0"/>
                    <a:cs typeface="Times New Roman" panose="02020603050405020304" pitchFamily="18" charset="0"/>
                  </a:rPr>
                  <a:t>0 and 1</a:t>
                </a:r>
                <a:r>
                  <a:rPr lang="en-US" sz="2200" dirty="0">
                    <a:solidFill>
                      <a:schemeClr val="tx1"/>
                    </a:solidFill>
                    <a:latin typeface="Times New Roman" panose="02020603050405020304" pitchFamily="18" charset="0"/>
                    <a:cs typeface="Times New Roman" panose="02020603050405020304" pitchFamily="18" charset="0"/>
                  </a:rPr>
                  <a:t>, representing the </a:t>
                </a:r>
                <a:r>
                  <a:rPr lang="en-US" sz="2200" b="1" dirty="0">
                    <a:solidFill>
                      <a:schemeClr val="tx1"/>
                    </a:solidFill>
                    <a:latin typeface="Times New Roman" panose="02020603050405020304" pitchFamily="18" charset="0"/>
                    <a:cs typeface="Times New Roman" panose="02020603050405020304" pitchFamily="18" charset="0"/>
                  </a:rPr>
                  <a:t>probability</a:t>
                </a:r>
                <a:r>
                  <a:rPr lang="en-US" sz="2200" dirty="0">
                    <a:solidFill>
                      <a:schemeClr val="tx1"/>
                    </a:solidFill>
                    <a:latin typeface="Times New Roman" panose="02020603050405020304" pitchFamily="18" charset="0"/>
                    <a:cs typeface="Times New Roman" panose="02020603050405020304" pitchFamily="18" charset="0"/>
                  </a:rPr>
                  <a:t> that the input belongs to </a:t>
                </a:r>
                <a:r>
                  <a:rPr lang="en-US" sz="2200" b="1" dirty="0">
                    <a:solidFill>
                      <a:schemeClr val="tx1"/>
                    </a:solidFill>
                    <a:latin typeface="Times New Roman" panose="02020603050405020304" pitchFamily="18" charset="0"/>
                    <a:cs typeface="Times New Roman" panose="02020603050405020304" pitchFamily="18" charset="0"/>
                  </a:rPr>
                  <a:t>Class 1</a:t>
                </a:r>
                <a:r>
                  <a:rPr lang="en-US" sz="2200" dirty="0">
                    <a:solidFill>
                      <a:schemeClr val="tx1"/>
                    </a:solidFill>
                    <a:latin typeface="Times New Roman" panose="02020603050405020304" pitchFamily="18" charset="0"/>
                    <a:cs typeface="Times New Roman" panose="02020603050405020304" pitchFamily="18" charset="0"/>
                  </a:rPr>
                  <a:t>.</a:t>
                </a:r>
              </a:p>
              <a:p>
                <a:r>
                  <a:rPr lang="en-US" sz="2200" dirty="0">
                    <a:latin typeface="Times New Roman" panose="02020603050405020304" pitchFamily="18" charset="0"/>
                    <a:cs typeface="Times New Roman" panose="02020603050405020304" pitchFamily="18" charset="0"/>
                  </a:rPr>
                  <a:t>In the diagram:</a:t>
                </a:r>
              </a:p>
              <a:p>
                <a:r>
                  <a:rPr lang="en-US" sz="2200" dirty="0">
                    <a:latin typeface="Times New Roman" panose="02020603050405020304" pitchFamily="18" charset="0"/>
                    <a:cs typeface="Times New Roman" panose="02020603050405020304" pitchFamily="18" charset="0"/>
                  </a:rPr>
                  <a:t>The </a:t>
                </a:r>
                <a:r>
                  <a:rPr lang="en-US" sz="2200" b="1" dirty="0">
                    <a:latin typeface="Times New Roman" panose="02020603050405020304" pitchFamily="18" charset="0"/>
                    <a:cs typeface="Times New Roman" panose="02020603050405020304" pitchFamily="18" charset="0"/>
                  </a:rPr>
                  <a:t>S-shaped curve</a:t>
                </a:r>
                <a:r>
                  <a:rPr lang="en-US" sz="2200" dirty="0">
                    <a:latin typeface="Times New Roman" panose="02020603050405020304" pitchFamily="18" charset="0"/>
                    <a:cs typeface="Times New Roman" panose="02020603050405020304" pitchFamily="18" charset="0"/>
                  </a:rPr>
                  <a:t> shows the sigmoid function.</a:t>
                </a:r>
              </a:p>
              <a:p>
                <a:r>
                  <a:rPr lang="en-US" sz="2200" dirty="0">
                    <a:latin typeface="Times New Roman" panose="02020603050405020304" pitchFamily="18" charset="0"/>
                    <a:cs typeface="Times New Roman" panose="02020603050405020304" pitchFamily="18" charset="0"/>
                  </a:rPr>
                  <a:t>As </a:t>
                </a:r>
                <a14:m>
                  <m:oMath xmlns:m="http://schemas.openxmlformats.org/officeDocument/2006/math">
                    <m:r>
                      <a:rPr lang="en-US" sz="2200" i="1">
                        <a:latin typeface="Cambria Math" panose="02040503050406030204" pitchFamily="18" charset="0"/>
                      </a:rPr>
                      <m:t>𝑧</m:t>
                    </m:r>
                  </m:oMath>
                </a14:m>
                <a:r>
                  <a:rPr lang="en-US" sz="2200" dirty="0">
                    <a:latin typeface="Times New Roman" panose="02020603050405020304" pitchFamily="18" charset="0"/>
                    <a:cs typeface="Times New Roman" panose="02020603050405020304" pitchFamily="18" charset="0"/>
                  </a:rPr>
                  <a:t>increases, the output probability smoothly transitions from </a:t>
                </a:r>
                <a:r>
                  <a:rPr lang="en-US" sz="2200" b="1" dirty="0">
                    <a:latin typeface="Times New Roman" panose="02020603050405020304" pitchFamily="18" charset="0"/>
                    <a:cs typeface="Times New Roman" panose="02020603050405020304" pitchFamily="18" charset="0"/>
                  </a:rPr>
                  <a:t>0 (Class 0)</a:t>
                </a:r>
                <a:r>
                  <a:rPr lang="en-US" sz="2200" dirty="0">
                    <a:latin typeface="Times New Roman" panose="02020603050405020304" pitchFamily="18" charset="0"/>
                    <a:cs typeface="Times New Roman" panose="02020603050405020304" pitchFamily="18" charset="0"/>
                  </a:rPr>
                  <a:t> to </a:t>
                </a:r>
                <a:r>
                  <a:rPr lang="en-US" sz="2200" b="1" dirty="0">
                    <a:latin typeface="Times New Roman" panose="02020603050405020304" pitchFamily="18" charset="0"/>
                    <a:cs typeface="Times New Roman" panose="02020603050405020304" pitchFamily="18" charset="0"/>
                  </a:rPr>
                  <a:t>1 (Class 1)</a:t>
                </a:r>
                <a:r>
                  <a:rPr lang="en-US" sz="2200" dirty="0">
                    <a:latin typeface="Times New Roman" panose="02020603050405020304" pitchFamily="18" charset="0"/>
                    <a:cs typeface="Times New Roman" panose="02020603050405020304" pitchFamily="18" charset="0"/>
                  </a:rPr>
                  <a:t>.</a:t>
                </a:r>
              </a:p>
              <a:p>
                <a:pPr marL="0" indent="0">
                  <a:buNone/>
                </a:pPr>
                <a:r>
                  <a:rPr lang="en-IN" sz="2200" b="1" dirty="0">
                    <a:solidFill>
                      <a:schemeClr val="tx1"/>
                    </a:solidFill>
                    <a:latin typeface="Times New Roman" panose="02020603050405020304" pitchFamily="18" charset="0"/>
                    <a:cs typeface="Times New Roman" panose="02020603050405020304" pitchFamily="18" charset="0"/>
                  </a:rPr>
                  <a:t>Step 4: Classification Decision</a:t>
                </a:r>
              </a:p>
              <a:p>
                <a:pPr marL="0" indent="0">
                  <a:buNone/>
                </a:pPr>
                <a:r>
                  <a:rPr lang="en-US" sz="2200" dirty="0">
                    <a:solidFill>
                      <a:schemeClr val="tx1"/>
                    </a:solidFill>
                    <a:latin typeface="Times New Roman" panose="02020603050405020304" pitchFamily="18" charset="0"/>
                    <a:cs typeface="Times New Roman" panose="02020603050405020304" pitchFamily="18" charset="0"/>
                  </a:rPr>
                  <a:t>Finally, based on a </a:t>
                </a:r>
                <a:r>
                  <a:rPr lang="en-US" sz="2200" b="1" dirty="0">
                    <a:solidFill>
                      <a:schemeClr val="tx1"/>
                    </a:solidFill>
                    <a:latin typeface="Times New Roman" panose="02020603050405020304" pitchFamily="18" charset="0"/>
                    <a:cs typeface="Times New Roman" panose="02020603050405020304" pitchFamily="18" charset="0"/>
                  </a:rPr>
                  <a:t>threshold</a:t>
                </a:r>
                <a:r>
                  <a:rPr lang="en-US" sz="2200" dirty="0">
                    <a:solidFill>
                      <a:schemeClr val="tx1"/>
                    </a:solidFill>
                    <a:latin typeface="Times New Roman" panose="02020603050405020304" pitchFamily="18" charset="0"/>
                    <a:cs typeface="Times New Roman" panose="02020603050405020304" pitchFamily="18" charset="0"/>
                  </a:rPr>
                  <a:t> (usually 0.5):</a:t>
                </a:r>
              </a:p>
              <a:p>
                <a:r>
                  <a:rPr lang="en-US" sz="2200" dirty="0">
                    <a:latin typeface="Times New Roman" panose="02020603050405020304" pitchFamily="18" charset="0"/>
                    <a:cs typeface="Times New Roman" panose="02020603050405020304" pitchFamily="18" charset="0"/>
                  </a:rPr>
                  <a:t>P(Y=1/X)&gt;0.5 </a:t>
                </a:r>
                <a:r>
                  <a:rPr lang="en-IN" sz="2000" dirty="0"/>
                  <a:t>→</a:t>
                </a:r>
                <a:r>
                  <a:rPr lang="en-IN" sz="2200" dirty="0">
                    <a:solidFill>
                      <a:schemeClr val="tx1"/>
                    </a:solidFill>
                    <a:latin typeface="Times New Roman" panose="02020603050405020304" pitchFamily="18" charset="0"/>
                    <a:cs typeface="Times New Roman" panose="02020603050405020304" pitchFamily="18" charset="0"/>
                  </a:rPr>
                  <a:t> Predict class 1 (</a:t>
                </a:r>
                <a:r>
                  <a:rPr lang="en-IN" sz="2200" dirty="0">
                    <a:latin typeface="Times New Roman" panose="02020603050405020304" pitchFamily="18" charset="0"/>
                    <a:cs typeface="Times New Roman" panose="02020603050405020304" pitchFamily="18" charset="0"/>
                  </a:rPr>
                  <a:t>Thumbs Up 👍</a:t>
                </a:r>
                <a:r>
                  <a:rPr lang="en-IN" sz="2000" dirty="0"/>
                  <a:t>)</a:t>
                </a:r>
              </a:p>
              <a:p>
                <a:r>
                  <a:rPr lang="en-US" sz="2200" dirty="0">
                    <a:latin typeface="Times New Roman" panose="02020603050405020304" pitchFamily="18" charset="0"/>
                    <a:cs typeface="Times New Roman" panose="02020603050405020304" pitchFamily="18" charset="0"/>
                  </a:rPr>
                  <a:t>P(Y=1/X)</a:t>
                </a:r>
                <a:r>
                  <a:rPr lang="en-IN" sz="2000" dirty="0"/>
                  <a:t> ≤ </a:t>
                </a:r>
                <a:r>
                  <a:rPr lang="en-IN" sz="2200" dirty="0">
                    <a:latin typeface="Times New Roman" panose="02020603050405020304" pitchFamily="18" charset="0"/>
                    <a:cs typeface="Times New Roman" panose="02020603050405020304" pitchFamily="18" charset="0"/>
                  </a:rPr>
                  <a:t>0.5</a:t>
                </a:r>
                <a:r>
                  <a:rPr lang="en-IN" dirty="0"/>
                  <a:t> →</a:t>
                </a:r>
                <a:r>
                  <a:rPr lang="en-US" sz="2000" dirty="0"/>
                  <a:t> </a:t>
                </a:r>
                <a:r>
                  <a:rPr lang="en-US" sz="2200" dirty="0">
                    <a:latin typeface="Times New Roman" panose="02020603050405020304" pitchFamily="18" charset="0"/>
                    <a:cs typeface="Times New Roman" panose="02020603050405020304" pitchFamily="18" charset="0"/>
                  </a:rPr>
                  <a:t>Predict Class 0 (Thumbs Down </a:t>
                </a:r>
                <a:r>
                  <a:rPr lang="en-US" sz="2200" dirty="0"/>
                  <a:t>👎)</a:t>
                </a:r>
                <a:endParaRPr lang="en-IN" sz="22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64FBD976-B5D4-4E17-D7DE-10F04B3309B4}"/>
                  </a:ext>
                </a:extLst>
              </p:cNvPr>
              <p:cNvSpPr>
                <a:spLocks noGrp="1" noRot="1" noChangeAspect="1" noMove="1" noResize="1" noEditPoints="1" noAdjustHandles="1" noChangeArrowheads="1" noChangeShapeType="1" noTextEdit="1"/>
              </p:cNvSpPr>
              <p:nvPr>
                <p:ph idx="1"/>
              </p:nvPr>
            </p:nvSpPr>
            <p:spPr>
              <a:xfrm>
                <a:off x="709126" y="830424"/>
                <a:ext cx="10560694" cy="5483983"/>
              </a:xfrm>
              <a:blipFill>
                <a:blip r:embed="rId2"/>
                <a:stretch>
                  <a:fillRect l="-866" t="-1889" r="-231"/>
                </a:stretch>
              </a:blipFill>
            </p:spPr>
            <p:txBody>
              <a:bodyPr/>
              <a:lstStyle/>
              <a:p>
                <a:r>
                  <a:rPr lang="en-IN">
                    <a:noFill/>
                  </a:rPr>
                  <a:t> </a:t>
                </a:r>
              </a:p>
            </p:txBody>
          </p:sp>
        </mc:Fallback>
      </mc:AlternateContent>
    </p:spTree>
    <p:extLst>
      <p:ext uri="{BB962C8B-B14F-4D97-AF65-F5344CB8AC3E}">
        <p14:creationId xmlns:p14="http://schemas.microsoft.com/office/powerpoint/2010/main" val="1482625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19A7E-040A-9503-F1D2-43B1AA8DD186}"/>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Problem Statement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274DAB0-40AD-00DD-2C50-7D2C62CD99B9}"/>
              </a:ext>
            </a:extLst>
          </p:cNvPr>
          <p:cNvSpPr>
            <a:spLocks noGrp="1"/>
          </p:cNvSpPr>
          <p:nvPr>
            <p:ph idx="1"/>
          </p:nvPr>
        </p:nvSpPr>
        <p:spPr/>
        <p:txBody>
          <a:bodyPr/>
          <a:lstStyle/>
          <a:p>
            <a:r>
              <a:rPr lang="en-US" sz="2200" dirty="0">
                <a:solidFill>
                  <a:schemeClr val="tx1"/>
                </a:solidFill>
                <a:latin typeface="Times New Roman" panose="02020603050405020304" pitchFamily="18" charset="0"/>
                <a:cs typeface="Times New Roman" panose="02020603050405020304" pitchFamily="18" charset="0"/>
              </a:rPr>
              <a:t>A health researcher wants to </a:t>
            </a:r>
            <a:r>
              <a:rPr lang="en-US" sz="2200" b="1" dirty="0">
                <a:solidFill>
                  <a:schemeClr val="tx1"/>
                </a:solidFill>
                <a:latin typeface="Times New Roman" panose="02020603050405020304" pitchFamily="18" charset="0"/>
                <a:cs typeface="Times New Roman" panose="02020603050405020304" pitchFamily="18" charset="0"/>
              </a:rPr>
              <a:t>predict whether an individual is obese or not based on their body weight</a:t>
            </a:r>
            <a:r>
              <a:rPr lang="en-US" sz="2200" dirty="0">
                <a:solidFill>
                  <a:schemeClr val="tx1"/>
                </a:solidFill>
                <a:latin typeface="Times New Roman" panose="02020603050405020304" pitchFamily="18" charset="0"/>
                <a:cs typeface="Times New Roman" panose="02020603050405020304" pitchFamily="18" charset="0"/>
              </a:rPr>
              <a:t>. The goal is to create a simple model that can classify a person as </a:t>
            </a:r>
            <a:r>
              <a:rPr lang="en-US" sz="2200" b="1" dirty="0">
                <a:solidFill>
                  <a:schemeClr val="tx1"/>
                </a:solidFill>
                <a:latin typeface="Times New Roman" panose="02020603050405020304" pitchFamily="18" charset="0"/>
                <a:cs typeface="Times New Roman" panose="02020603050405020304" pitchFamily="18" charset="0"/>
              </a:rPr>
              <a:t>“Obese” (Class 1)</a:t>
            </a:r>
            <a:r>
              <a:rPr lang="en-US" sz="2200" dirty="0">
                <a:solidFill>
                  <a:schemeClr val="tx1"/>
                </a:solidFill>
                <a:latin typeface="Times New Roman" panose="02020603050405020304" pitchFamily="18" charset="0"/>
                <a:cs typeface="Times New Roman" panose="02020603050405020304" pitchFamily="18" charset="0"/>
              </a:rPr>
              <a:t> or </a:t>
            </a:r>
            <a:r>
              <a:rPr lang="en-US" sz="2200" b="1" dirty="0">
                <a:solidFill>
                  <a:schemeClr val="tx1"/>
                </a:solidFill>
                <a:latin typeface="Times New Roman" panose="02020603050405020304" pitchFamily="18" charset="0"/>
                <a:cs typeface="Times New Roman" panose="02020603050405020304" pitchFamily="18" charset="0"/>
              </a:rPr>
              <a:t>“Non-Obese” (Class 0)</a:t>
            </a:r>
            <a:r>
              <a:rPr lang="en-US" sz="2200" dirty="0">
                <a:solidFill>
                  <a:schemeClr val="tx1"/>
                </a:solidFill>
                <a:latin typeface="Times New Roman" panose="02020603050405020304" pitchFamily="18" charset="0"/>
                <a:cs typeface="Times New Roman" panose="02020603050405020304" pitchFamily="18" charset="0"/>
              </a:rPr>
              <a:t> using weight as the input variable.</a:t>
            </a:r>
          </a:p>
          <a:p>
            <a:pPr marL="0" indent="0">
              <a:buNone/>
            </a:pPr>
            <a:r>
              <a:rPr lang="en-US" sz="2200" dirty="0">
                <a:solidFill>
                  <a:schemeClr val="tx1"/>
                </a:solidFill>
                <a:latin typeface="Times New Roman" panose="02020603050405020304" pitchFamily="18" charset="0"/>
                <a:cs typeface="Times New Roman" panose="02020603050405020304" pitchFamily="18" charset="0"/>
              </a:rPr>
              <a:t>The researcher collects data from 100 individuals, recording their </a:t>
            </a:r>
            <a:r>
              <a:rPr lang="en-US" sz="2200" b="1" dirty="0">
                <a:solidFill>
                  <a:schemeClr val="tx1"/>
                </a:solidFill>
                <a:latin typeface="Times New Roman" panose="02020603050405020304" pitchFamily="18" charset="0"/>
                <a:cs typeface="Times New Roman" panose="02020603050405020304" pitchFamily="18" charset="0"/>
              </a:rPr>
              <a:t>weight (in kg)</a:t>
            </a:r>
            <a:r>
              <a:rPr lang="en-US" sz="2200" dirty="0">
                <a:solidFill>
                  <a:schemeClr val="tx1"/>
                </a:solidFill>
                <a:latin typeface="Times New Roman" panose="02020603050405020304" pitchFamily="18" charset="0"/>
                <a:cs typeface="Times New Roman" panose="02020603050405020304" pitchFamily="18" charset="0"/>
              </a:rPr>
              <a:t> and </a:t>
            </a:r>
            <a:r>
              <a:rPr lang="en-US" sz="2200" b="1" dirty="0">
                <a:solidFill>
                  <a:schemeClr val="tx1"/>
                </a:solidFill>
                <a:latin typeface="Times New Roman" panose="02020603050405020304" pitchFamily="18" charset="0"/>
                <a:cs typeface="Times New Roman" panose="02020603050405020304" pitchFamily="18" charset="0"/>
              </a:rPr>
              <a:t>obesity status</a:t>
            </a:r>
            <a:r>
              <a:rPr lang="en-US" sz="2200" dirty="0">
                <a:solidFill>
                  <a:schemeClr val="tx1"/>
                </a:solidFill>
                <a:latin typeface="Times New Roman" panose="02020603050405020304" pitchFamily="18" charset="0"/>
                <a:cs typeface="Times New Roman" panose="02020603050405020304" pitchFamily="18" charset="0"/>
              </a:rPr>
              <a:t> (1 = obese, 0 = non-obese). Using this data, the researcher applies </a:t>
            </a:r>
            <a:r>
              <a:rPr lang="en-US" sz="2200" b="1" dirty="0">
                <a:solidFill>
                  <a:schemeClr val="tx1"/>
                </a:solidFill>
                <a:latin typeface="Times New Roman" panose="02020603050405020304" pitchFamily="18" charset="0"/>
                <a:cs typeface="Times New Roman" panose="02020603050405020304" pitchFamily="18" charset="0"/>
              </a:rPr>
              <a:t>logistic regression</a:t>
            </a:r>
            <a:r>
              <a:rPr lang="en-US" sz="2200" dirty="0">
                <a:solidFill>
                  <a:schemeClr val="tx1"/>
                </a:solidFill>
                <a:latin typeface="Times New Roman" panose="02020603050405020304" pitchFamily="18" charset="0"/>
                <a:cs typeface="Times New Roman" panose="02020603050405020304" pitchFamily="18" charset="0"/>
              </a:rPr>
              <a:t> to understand how weight influences the probability of obesity.</a:t>
            </a:r>
          </a:p>
          <a:p>
            <a:endParaRPr lang="en-IN" dirty="0"/>
          </a:p>
        </p:txBody>
      </p:sp>
    </p:spTree>
    <p:extLst>
      <p:ext uri="{BB962C8B-B14F-4D97-AF65-F5344CB8AC3E}">
        <p14:creationId xmlns:p14="http://schemas.microsoft.com/office/powerpoint/2010/main" val="1445808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1C7D8B-DADA-3714-4EDE-8E7F7F8FE971}"/>
              </a:ext>
            </a:extLst>
          </p:cNvPr>
          <p:cNvSpPr>
            <a:spLocks noGrp="1"/>
          </p:cNvSpPr>
          <p:nvPr>
            <p:ph idx="1"/>
          </p:nvPr>
        </p:nvSpPr>
        <p:spPr>
          <a:xfrm>
            <a:off x="774441" y="606833"/>
            <a:ext cx="5952929" cy="5747313"/>
          </a:xfrm>
        </p:spPr>
        <p:txBody>
          <a:bodyPr>
            <a:noAutofit/>
          </a:bodyPr>
          <a:lstStyle/>
          <a:p>
            <a:r>
              <a:rPr lang="en-IN" sz="2200" b="1" dirty="0">
                <a:latin typeface="Times New Roman" panose="02020603050405020304" pitchFamily="18" charset="0"/>
                <a:cs typeface="Times New Roman" panose="02020603050405020304" pitchFamily="18" charset="0"/>
              </a:rPr>
              <a:t>Graph Explanation:</a:t>
            </a:r>
            <a:endParaRPr lang="en-IN" sz="2200" dirty="0">
              <a:latin typeface="Times New Roman" panose="02020603050405020304" pitchFamily="18" charset="0"/>
              <a:cs typeface="Times New Roman" panose="02020603050405020304" pitchFamily="18" charset="0"/>
            </a:endParaRPr>
          </a:p>
          <a:p>
            <a:pPr lvl="0"/>
            <a:r>
              <a:rPr lang="en-IN" sz="2200" b="1" dirty="0">
                <a:latin typeface="Times New Roman" panose="02020603050405020304" pitchFamily="18" charset="0"/>
                <a:cs typeface="Times New Roman" panose="02020603050405020304" pitchFamily="18" charset="0"/>
              </a:rPr>
              <a:t>X-axis (Weight):</a:t>
            </a:r>
            <a:r>
              <a:rPr lang="en-IN" sz="2200" dirty="0">
                <a:latin typeface="Times New Roman" panose="02020603050405020304" pitchFamily="18" charset="0"/>
                <a:cs typeface="Times New Roman" panose="02020603050405020304" pitchFamily="18" charset="0"/>
              </a:rPr>
              <a:t> Represents the weight of individuals ranging from 50 to 100 kg.</a:t>
            </a:r>
          </a:p>
          <a:p>
            <a:pPr lvl="0"/>
            <a:r>
              <a:rPr lang="en-IN" sz="2200" b="1" dirty="0">
                <a:latin typeface="Times New Roman" panose="02020603050405020304" pitchFamily="18" charset="0"/>
                <a:cs typeface="Times New Roman" panose="02020603050405020304" pitchFamily="18" charset="0"/>
              </a:rPr>
              <a:t>Y-axis (Probability):</a:t>
            </a:r>
            <a:r>
              <a:rPr lang="en-IN" sz="2200" dirty="0">
                <a:latin typeface="Times New Roman" panose="02020603050405020304" pitchFamily="18" charset="0"/>
                <a:cs typeface="Times New Roman" panose="02020603050405020304" pitchFamily="18" charset="0"/>
              </a:rPr>
              <a:t> Represents the probability of being obese. Values range from 0 (non-obese) to 1 (obese).</a:t>
            </a:r>
          </a:p>
          <a:p>
            <a:pPr lvl="0"/>
            <a:r>
              <a:rPr lang="en-IN" sz="2200" b="1" dirty="0">
                <a:latin typeface="Times New Roman" panose="02020603050405020304" pitchFamily="18" charset="0"/>
                <a:cs typeface="Times New Roman" panose="02020603050405020304" pitchFamily="18" charset="0"/>
              </a:rPr>
              <a:t>Sigmoid Curve (Blue Line):</a:t>
            </a:r>
            <a:r>
              <a:rPr lang="en-IN" sz="2200" dirty="0">
                <a:latin typeface="Times New Roman" panose="02020603050405020304" pitchFamily="18" charset="0"/>
                <a:cs typeface="Times New Roman" panose="02020603050405020304" pitchFamily="18" charset="0"/>
              </a:rPr>
              <a:t> This is the logistic curve that models the relationship between weight and obesity. As the weight increases, the probability of being obese also increases, following an S-shape.</a:t>
            </a:r>
          </a:p>
          <a:p>
            <a:pPr lvl="0"/>
            <a:r>
              <a:rPr lang="en-IN" sz="2200" b="1" dirty="0">
                <a:latin typeface="Times New Roman" panose="02020603050405020304" pitchFamily="18" charset="0"/>
                <a:cs typeface="Times New Roman" panose="02020603050405020304" pitchFamily="18" charset="0"/>
              </a:rPr>
              <a:t>Red Vertical Line (Threshold at 75 kg):</a:t>
            </a:r>
            <a:r>
              <a:rPr lang="en-IN" sz="2200" dirty="0">
                <a:latin typeface="Times New Roman" panose="02020603050405020304" pitchFamily="18" charset="0"/>
                <a:cs typeface="Times New Roman" panose="02020603050405020304" pitchFamily="18" charset="0"/>
              </a:rPr>
              <a:t> This line indicates the threshold where weight greater than 75 kg results in a probability above 0.5, classifying a person as obese.</a:t>
            </a:r>
          </a:p>
        </p:txBody>
      </p:sp>
      <p:pic>
        <p:nvPicPr>
          <p:cNvPr id="5" name="Picture 4" descr="Output image">
            <a:extLst>
              <a:ext uri="{FF2B5EF4-FFF2-40B4-BE49-F238E27FC236}">
                <a16:creationId xmlns:a16="http://schemas.microsoft.com/office/drawing/2014/main" id="{E8097DB9-49F7-21EA-9D65-1F53C1EA6B4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27370" y="700140"/>
            <a:ext cx="4876800" cy="331787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FF667C9-46B9-D6B6-21F6-07AA6CA81E26}"/>
              </a:ext>
            </a:extLst>
          </p:cNvPr>
          <p:cNvSpPr txBox="1"/>
          <p:nvPr/>
        </p:nvSpPr>
        <p:spPr>
          <a:xfrm>
            <a:off x="6559421" y="3907115"/>
            <a:ext cx="5044750" cy="2123658"/>
          </a:xfrm>
          <a:prstGeom prst="rect">
            <a:avLst/>
          </a:prstGeom>
          <a:noFill/>
        </p:spPr>
        <p:txBody>
          <a:bodyPr wrap="square">
            <a:spAutoFit/>
          </a:bodyPr>
          <a:lstStyle/>
          <a:p>
            <a:r>
              <a:rPr lang="en-IN" sz="2200" b="1" dirty="0">
                <a:latin typeface="Times New Roman" panose="02020603050405020304" pitchFamily="18" charset="0"/>
                <a:cs typeface="Times New Roman" panose="02020603050405020304" pitchFamily="18" charset="0"/>
              </a:rPr>
              <a:t>Green Horizontal Line (Decision Boundary at 0.5):</a:t>
            </a:r>
            <a:r>
              <a:rPr lang="en-IN" sz="2200" dirty="0">
                <a:latin typeface="Times New Roman" panose="02020603050405020304" pitchFamily="18" charset="0"/>
                <a:cs typeface="Times New Roman" panose="02020603050405020304" pitchFamily="18" charset="0"/>
              </a:rPr>
              <a:t> This line marks the cutoff probability of 0.5. If the probability is greater than 0.5, the individual is classified as obese. Below 0.5, the individual is classified as non-obese.</a:t>
            </a:r>
          </a:p>
        </p:txBody>
      </p:sp>
    </p:spTree>
    <p:extLst>
      <p:ext uri="{BB962C8B-B14F-4D97-AF65-F5344CB8AC3E}">
        <p14:creationId xmlns:p14="http://schemas.microsoft.com/office/powerpoint/2010/main" val="16922914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76263-5C81-54EB-7AB8-5183378BE44D}"/>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Logistic Regression Use cases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D0BB96F-26EF-E0D0-AD55-F38BC6EF03FA}"/>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Medical :</a:t>
            </a:r>
            <a:r>
              <a:rPr lang="en-US" dirty="0">
                <a:latin typeface="Times New Roman" panose="02020603050405020304" pitchFamily="18" charset="0"/>
                <a:cs typeface="Times New Roman" panose="02020603050405020304" pitchFamily="18" charset="0"/>
              </a:rPr>
              <a:t>Probability of Patient’s successful response to specific  medical treatment- Input could be age, weight etc.</a:t>
            </a:r>
          </a:p>
          <a:p>
            <a:r>
              <a:rPr lang="en-US" b="1" dirty="0">
                <a:latin typeface="Times New Roman" panose="02020603050405020304" pitchFamily="18" charset="0"/>
                <a:cs typeface="Times New Roman" panose="02020603050405020304" pitchFamily="18" charset="0"/>
              </a:rPr>
              <a:t>Finance: </a:t>
            </a:r>
            <a:r>
              <a:rPr lang="en-US" dirty="0">
                <a:latin typeface="Times New Roman" panose="02020603050405020304" pitchFamily="18" charset="0"/>
                <a:cs typeface="Times New Roman" panose="02020603050405020304" pitchFamily="18" charset="0"/>
              </a:rPr>
              <a:t>Probability on applicant defaults on loan.</a:t>
            </a:r>
          </a:p>
          <a:p>
            <a:r>
              <a:rPr lang="en-US" b="1" dirty="0">
                <a:latin typeface="Times New Roman" panose="02020603050405020304" pitchFamily="18" charset="0"/>
                <a:cs typeface="Times New Roman" panose="02020603050405020304" pitchFamily="18" charset="0"/>
              </a:rPr>
              <a:t>Marketing: </a:t>
            </a:r>
            <a:r>
              <a:rPr lang="en-US" dirty="0">
                <a:latin typeface="Times New Roman" panose="02020603050405020304" pitchFamily="18" charset="0"/>
                <a:cs typeface="Times New Roman" panose="02020603050405020304" pitchFamily="18" charset="0"/>
              </a:rPr>
              <a:t>Probability a wireless customer switches a carriers(churns).</a:t>
            </a:r>
          </a:p>
          <a:p>
            <a:r>
              <a:rPr lang="en-IN" b="1" dirty="0">
                <a:latin typeface="Times New Roman" panose="02020603050405020304" pitchFamily="18" charset="0"/>
                <a:cs typeface="Times New Roman" panose="02020603050405020304" pitchFamily="18" charset="0"/>
              </a:rPr>
              <a:t>Engineering: </a:t>
            </a:r>
            <a:r>
              <a:rPr lang="en-IN" dirty="0">
                <a:latin typeface="Times New Roman" panose="02020603050405020304" pitchFamily="18" charset="0"/>
                <a:cs typeface="Times New Roman" panose="02020603050405020304" pitchFamily="18" charset="0"/>
              </a:rPr>
              <a:t>Probability a mechanical part malfunctions or fails.</a:t>
            </a:r>
          </a:p>
        </p:txBody>
      </p:sp>
    </p:spTree>
    <p:extLst>
      <p:ext uri="{BB962C8B-B14F-4D97-AF65-F5344CB8AC3E}">
        <p14:creationId xmlns:p14="http://schemas.microsoft.com/office/powerpoint/2010/main" val="14114367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A54DE-C56D-37F3-F29B-4ED6CAE37629}"/>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Examining likelihood of event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E9ACC6B-1CBC-6239-37C1-3AB39CA67A51}"/>
              </a:ext>
            </a:extLst>
          </p:cNvPr>
          <p:cNvSpPr>
            <a:spLocks noGrp="1"/>
          </p:cNvSpPr>
          <p:nvPr>
            <p:ph idx="1"/>
          </p:nvPr>
        </p:nvSpPr>
        <p:spPr/>
        <p:txBody>
          <a:bodyPr>
            <a:normAutofit fontScale="92500"/>
          </a:bodyPr>
          <a:lstStyle/>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Binary health outcomes: </a:t>
            </a:r>
          </a:p>
          <a:p>
            <a:pPr lvl="1"/>
            <a:r>
              <a:rPr lang="en-IN" sz="2400" dirty="0">
                <a:solidFill>
                  <a:schemeClr val="tx1"/>
                </a:solidFill>
                <a:latin typeface="Times New Roman" panose="02020603050405020304" pitchFamily="18" charset="0"/>
                <a:cs typeface="Times New Roman" panose="02020603050405020304" pitchFamily="18" charset="0"/>
              </a:rPr>
              <a:t>The outcome is dichotomous, i.e., it has two possible outcomes:</a:t>
            </a:r>
          </a:p>
          <a:p>
            <a:pPr lvl="2"/>
            <a:r>
              <a:rPr lang="en-IN" sz="2600" b="1" dirty="0">
                <a:solidFill>
                  <a:schemeClr val="tx1"/>
                </a:solidFill>
                <a:latin typeface="Times New Roman" panose="02020603050405020304" pitchFamily="18" charset="0"/>
                <a:cs typeface="Times New Roman" panose="02020603050405020304" pitchFamily="18" charset="0"/>
              </a:rPr>
              <a:t>Depressed = 1 (Yes)</a:t>
            </a:r>
            <a:r>
              <a:rPr lang="en-IN" sz="2600" dirty="0">
                <a:solidFill>
                  <a:schemeClr val="tx1"/>
                </a:solidFill>
                <a:latin typeface="Times New Roman" panose="02020603050405020304" pitchFamily="18" charset="0"/>
                <a:cs typeface="Times New Roman" panose="02020603050405020304" pitchFamily="18" charset="0"/>
              </a:rPr>
              <a:t>: The individual is diagnosed with depression.</a:t>
            </a:r>
            <a:endParaRPr lang="en-IN" sz="1900" dirty="0">
              <a:solidFill>
                <a:schemeClr val="tx1"/>
              </a:solidFill>
              <a:latin typeface="Times New Roman" panose="02020603050405020304" pitchFamily="18" charset="0"/>
              <a:cs typeface="Times New Roman" panose="02020603050405020304" pitchFamily="18" charset="0"/>
            </a:endParaRPr>
          </a:p>
          <a:p>
            <a:pPr lvl="2"/>
            <a:r>
              <a:rPr lang="en-IN" sz="2600" b="1" dirty="0">
                <a:solidFill>
                  <a:schemeClr val="tx1"/>
                </a:solidFill>
                <a:latin typeface="Times New Roman" panose="02020603050405020304" pitchFamily="18" charset="0"/>
                <a:cs typeface="Times New Roman" panose="02020603050405020304" pitchFamily="18" charset="0"/>
              </a:rPr>
              <a:t>Depressed = 0 (No)</a:t>
            </a:r>
            <a:r>
              <a:rPr lang="en-IN" sz="2600" dirty="0">
                <a:solidFill>
                  <a:schemeClr val="tx1"/>
                </a:solidFill>
                <a:latin typeface="Times New Roman" panose="02020603050405020304" pitchFamily="18" charset="0"/>
                <a:cs typeface="Times New Roman" panose="02020603050405020304" pitchFamily="18" charset="0"/>
              </a:rPr>
              <a:t>: The individual is not diagnosed with depression.</a:t>
            </a:r>
            <a:endParaRPr lang="en-IN" sz="1900" dirty="0">
              <a:solidFill>
                <a:schemeClr val="tx1"/>
              </a:solidFill>
              <a:latin typeface="Times New Roman" panose="02020603050405020304" pitchFamily="18" charset="0"/>
              <a:cs typeface="Times New Roman" panose="02020603050405020304" pitchFamily="18" charset="0"/>
            </a:endParaRPr>
          </a:p>
          <a:p>
            <a:pPr lvl="1"/>
            <a:r>
              <a:rPr lang="en-IN" sz="2400" dirty="0">
                <a:solidFill>
                  <a:schemeClr val="tx1"/>
                </a:solidFill>
                <a:latin typeface="Times New Roman" panose="02020603050405020304" pitchFamily="18" charset="0"/>
                <a:cs typeface="Times New Roman" panose="02020603050405020304" pitchFamily="18" charset="0"/>
              </a:rPr>
              <a:t>Logistic regression predicts the likelihood of being in one of these two categories, with values ranging between 0 and 1.</a:t>
            </a:r>
          </a:p>
          <a:p>
            <a:pPr>
              <a:buFont typeface="Wingdings" panose="05000000000000000000" pitchFamily="2" charset="2"/>
              <a:buChar char="Ø"/>
            </a:pP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591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3D0FAE-BD93-F3A6-4C1F-9D6BFE59030E}"/>
              </a:ext>
            </a:extLst>
          </p:cNvPr>
          <p:cNvSpPr>
            <a:spLocks noGrp="1"/>
          </p:cNvSpPr>
          <p:nvPr>
            <p:ph idx="1"/>
          </p:nvPr>
        </p:nvSpPr>
        <p:spPr>
          <a:xfrm>
            <a:off x="884256" y="1014883"/>
            <a:ext cx="9881713" cy="5041855"/>
          </a:xfrm>
        </p:spPr>
        <p:txBody>
          <a:bodyPr>
            <a:normAutofit/>
          </a:bodyPr>
          <a:lstStyle/>
          <a:p>
            <a:pPr>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Likelihood Comparison</a:t>
            </a:r>
            <a:r>
              <a:rPr lang="en-IN" dirty="0">
                <a:latin typeface="Times New Roman" panose="02020603050405020304" pitchFamily="18" charset="0"/>
                <a:cs typeface="Times New Roman" panose="02020603050405020304" pitchFamily="18" charset="0"/>
              </a:rPr>
              <a:t>:</a:t>
            </a:r>
          </a:p>
          <a:p>
            <a:pPr lvl="1"/>
            <a:r>
              <a:rPr lang="en-IN" sz="2200" dirty="0">
                <a:latin typeface="Times New Roman" panose="02020603050405020304" pitchFamily="18" charset="0"/>
                <a:cs typeface="Times New Roman" panose="02020603050405020304" pitchFamily="18" charset="0"/>
              </a:rPr>
              <a:t>Logistic regression allows for the comparison of likelihood between different groups:</a:t>
            </a:r>
          </a:p>
          <a:p>
            <a:pPr lvl="2"/>
            <a:r>
              <a:rPr lang="en-IN" sz="2200" b="1" dirty="0">
                <a:latin typeface="Times New Roman" panose="02020603050405020304" pitchFamily="18" charset="0"/>
                <a:cs typeface="Times New Roman" panose="02020603050405020304" pitchFamily="18" charset="0"/>
              </a:rPr>
              <a:t>Case vs. Controls</a:t>
            </a:r>
            <a:r>
              <a:rPr lang="en-IN" sz="2200" dirty="0">
                <a:latin typeface="Times New Roman" panose="02020603050405020304" pitchFamily="18" charset="0"/>
                <a:cs typeface="Times New Roman" panose="02020603050405020304" pitchFamily="18" charset="0"/>
              </a:rPr>
              <a:t>: For instance, the probability of depression in patients (case) versus healthy individuals (controls).</a:t>
            </a:r>
          </a:p>
          <a:p>
            <a:pPr lvl="2"/>
            <a:r>
              <a:rPr lang="en-IN" sz="2200" b="1" dirty="0">
                <a:latin typeface="Times New Roman" panose="02020603050405020304" pitchFamily="18" charset="0"/>
                <a:cs typeface="Times New Roman" panose="02020603050405020304" pitchFamily="18" charset="0"/>
              </a:rPr>
              <a:t>Males vs. Females</a:t>
            </a:r>
            <a:r>
              <a:rPr lang="en-IN" sz="2200" dirty="0">
                <a:latin typeface="Times New Roman" panose="02020603050405020304" pitchFamily="18" charset="0"/>
                <a:cs typeface="Times New Roman" panose="02020603050405020304" pitchFamily="18" charset="0"/>
              </a:rPr>
              <a:t>: The model can compare the likelihood of depression between genders.</a:t>
            </a:r>
          </a:p>
          <a:p>
            <a:pPr lvl="2"/>
            <a:r>
              <a:rPr lang="en-IN" sz="2200" b="1" dirty="0">
                <a:latin typeface="Times New Roman" panose="02020603050405020304" pitchFamily="18" charset="0"/>
                <a:cs typeface="Times New Roman" panose="02020603050405020304" pitchFamily="18" charset="0"/>
              </a:rPr>
              <a:t>Chemo vs. No Chemo</a:t>
            </a:r>
            <a:r>
              <a:rPr lang="en-IN" sz="2200" dirty="0">
                <a:latin typeface="Times New Roman" panose="02020603050405020304" pitchFamily="18" charset="0"/>
                <a:cs typeface="Times New Roman" panose="02020603050405020304" pitchFamily="18" charset="0"/>
              </a:rPr>
              <a:t>: It could be used to compare the likelihood of survival or response to treatment between patients undergoing chemotherapy versus those who do not.</a:t>
            </a:r>
          </a:p>
          <a:p>
            <a:endParaRPr lang="en-IN" dirty="0"/>
          </a:p>
        </p:txBody>
      </p:sp>
    </p:spTree>
    <p:extLst>
      <p:ext uri="{BB962C8B-B14F-4D97-AF65-F5344CB8AC3E}">
        <p14:creationId xmlns:p14="http://schemas.microsoft.com/office/powerpoint/2010/main" val="19971330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FE18D-5788-0534-60D9-3532117CC635}"/>
              </a:ext>
            </a:extLst>
          </p:cNvPr>
          <p:cNvSpPr>
            <a:spLocks noGrp="1"/>
          </p:cNvSpPr>
          <p:nvPr>
            <p:ph type="title"/>
          </p:nvPr>
        </p:nvSpPr>
        <p:spPr/>
        <p:txBody>
          <a:bodyPr>
            <a:normAutofit/>
          </a:bodyPr>
          <a:lstStyle/>
          <a:p>
            <a:r>
              <a:rPr lang="en-IN" b="1" dirty="0">
                <a:solidFill>
                  <a:schemeClr val="tx1"/>
                </a:solidFill>
                <a:latin typeface="Times New Roman" panose="02020603050405020304" pitchFamily="18" charset="0"/>
                <a:cs typeface="Times New Roman" panose="02020603050405020304" pitchFamily="18" charset="0"/>
              </a:rPr>
              <a:t>What logistic regression predicts</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75A4103-7CBA-C070-671F-453AE6644CE8}"/>
              </a:ext>
            </a:extLst>
          </p:cNvPr>
          <p:cNvSpPr>
            <a:spLocks noGrp="1"/>
          </p:cNvSpPr>
          <p:nvPr>
            <p:ph idx="1"/>
          </p:nvPr>
        </p:nvSpPr>
        <p:spPr/>
        <p:txBody>
          <a:bodyPr/>
          <a:lstStyle/>
          <a:p>
            <a:r>
              <a:rPr lang="en-IN" sz="2200" dirty="0">
                <a:solidFill>
                  <a:schemeClr val="tx1"/>
                </a:solidFill>
                <a:latin typeface="Times New Roman" panose="02020603050405020304" pitchFamily="18" charset="0"/>
                <a:cs typeface="Times New Roman" panose="02020603050405020304" pitchFamily="18" charset="0"/>
              </a:rPr>
              <a:t>Logistic regression is a statistical method used to predict the probability of an event happening (like an outcome with only two possibilities: </a:t>
            </a:r>
            <a:r>
              <a:rPr lang="en-IN" sz="2200" b="1" dirty="0">
                <a:solidFill>
                  <a:schemeClr val="tx1"/>
                </a:solidFill>
                <a:latin typeface="Times New Roman" panose="02020603050405020304" pitchFamily="18" charset="0"/>
                <a:cs typeface="Times New Roman" panose="02020603050405020304" pitchFamily="18" charset="0"/>
              </a:rPr>
              <a:t>yes or no</a:t>
            </a:r>
            <a:r>
              <a:rPr lang="en-IN" sz="2200" dirty="0">
                <a:solidFill>
                  <a:schemeClr val="tx1"/>
                </a:solidFill>
                <a:latin typeface="Times New Roman" panose="02020603050405020304" pitchFamily="18" charset="0"/>
                <a:cs typeface="Times New Roman" panose="02020603050405020304" pitchFamily="18" charset="0"/>
              </a:rPr>
              <a:t>, success or failure).</a:t>
            </a:r>
          </a:p>
          <a:p>
            <a:r>
              <a:rPr lang="en-IN" sz="2200" b="1" dirty="0">
                <a:solidFill>
                  <a:schemeClr val="tx1"/>
                </a:solidFill>
                <a:latin typeface="Times New Roman" panose="02020603050405020304" pitchFamily="18" charset="0"/>
                <a:cs typeface="Times New Roman" panose="02020603050405020304" pitchFamily="18" charset="0"/>
              </a:rPr>
              <a:t>Predicting outcomes: </a:t>
            </a:r>
            <a:r>
              <a:rPr lang="en-IN" sz="2200" dirty="0">
                <a:solidFill>
                  <a:schemeClr val="tx1"/>
                </a:solidFill>
                <a:latin typeface="Times New Roman" panose="02020603050405020304" pitchFamily="18" charset="0"/>
                <a:cs typeface="Times New Roman" panose="02020603050405020304" pitchFamily="18" charset="0"/>
              </a:rPr>
              <a:t>Logistic regression helps us </a:t>
            </a:r>
            <a:r>
              <a:rPr lang="en-IN" sz="2200" b="1" dirty="0">
                <a:solidFill>
                  <a:schemeClr val="tx1"/>
                </a:solidFill>
                <a:latin typeface="Times New Roman" panose="02020603050405020304" pitchFamily="18" charset="0"/>
                <a:cs typeface="Times New Roman" panose="02020603050405020304" pitchFamily="18" charset="0"/>
              </a:rPr>
              <a:t>predict whether</a:t>
            </a:r>
            <a:r>
              <a:rPr lang="en-IN" sz="2200" dirty="0">
                <a:solidFill>
                  <a:schemeClr val="tx1"/>
                </a:solidFill>
                <a:latin typeface="Times New Roman" panose="02020603050405020304" pitchFamily="18" charset="0"/>
                <a:cs typeface="Times New Roman" panose="02020603050405020304" pitchFamily="18" charset="0"/>
              </a:rPr>
              <a:t> something </a:t>
            </a:r>
            <a:r>
              <a:rPr lang="en-IN" sz="2200" b="1" dirty="0">
                <a:solidFill>
                  <a:schemeClr val="tx1"/>
                </a:solidFill>
                <a:latin typeface="Times New Roman" panose="02020603050405020304" pitchFamily="18" charset="0"/>
                <a:cs typeface="Times New Roman" panose="02020603050405020304" pitchFamily="18" charset="0"/>
              </a:rPr>
              <a:t>will happen or not</a:t>
            </a:r>
            <a:r>
              <a:rPr lang="en-IN" sz="2200" dirty="0">
                <a:solidFill>
                  <a:schemeClr val="tx1"/>
                </a:solidFill>
                <a:latin typeface="Times New Roman" panose="02020603050405020304" pitchFamily="18" charset="0"/>
                <a:cs typeface="Times New Roman" panose="02020603050405020304" pitchFamily="18" charset="0"/>
              </a:rPr>
              <a:t>, based on known factors (independent variables). For example, we might </a:t>
            </a:r>
            <a:r>
              <a:rPr lang="en-IN" sz="2200" b="1" dirty="0">
                <a:solidFill>
                  <a:schemeClr val="tx1"/>
                </a:solidFill>
                <a:latin typeface="Times New Roman" panose="02020603050405020304" pitchFamily="18" charset="0"/>
                <a:cs typeface="Times New Roman" panose="02020603050405020304" pitchFamily="18" charset="0"/>
              </a:rPr>
              <a:t>predict</a:t>
            </a:r>
            <a:r>
              <a:rPr lang="en-IN" sz="2200" dirty="0">
                <a:solidFill>
                  <a:schemeClr val="tx1"/>
                </a:solidFill>
                <a:latin typeface="Times New Roman" panose="02020603050405020304" pitchFamily="18" charset="0"/>
                <a:cs typeface="Times New Roman" panose="02020603050405020304" pitchFamily="18" charset="0"/>
              </a:rPr>
              <a:t> whether a </a:t>
            </a:r>
            <a:r>
              <a:rPr lang="en-IN" sz="2200" b="1" dirty="0">
                <a:solidFill>
                  <a:schemeClr val="tx1"/>
                </a:solidFill>
                <a:latin typeface="Times New Roman" panose="02020603050405020304" pitchFamily="18" charset="0"/>
                <a:cs typeface="Times New Roman" panose="02020603050405020304" pitchFamily="18" charset="0"/>
              </a:rPr>
              <a:t>person is likely to be diagnosed </a:t>
            </a:r>
            <a:r>
              <a:rPr lang="en-IN" sz="2200" dirty="0">
                <a:solidFill>
                  <a:schemeClr val="tx1"/>
                </a:solidFill>
                <a:latin typeface="Times New Roman" panose="02020603050405020304" pitchFamily="18" charset="0"/>
                <a:cs typeface="Times New Roman" panose="02020603050405020304" pitchFamily="18" charset="0"/>
              </a:rPr>
              <a:t>with a </a:t>
            </a:r>
            <a:r>
              <a:rPr lang="en-IN" sz="2200" b="1" dirty="0">
                <a:solidFill>
                  <a:schemeClr val="tx1"/>
                </a:solidFill>
                <a:latin typeface="Times New Roman" panose="02020603050405020304" pitchFamily="18" charset="0"/>
                <a:cs typeface="Times New Roman" panose="02020603050405020304" pitchFamily="18" charset="0"/>
              </a:rPr>
              <a:t>disease (yes or no) </a:t>
            </a:r>
            <a:r>
              <a:rPr lang="en-IN" sz="2200" dirty="0">
                <a:solidFill>
                  <a:schemeClr val="tx1"/>
                </a:solidFill>
                <a:latin typeface="Times New Roman" panose="02020603050405020304" pitchFamily="18" charset="0"/>
                <a:cs typeface="Times New Roman" panose="02020603050405020304" pitchFamily="18" charset="0"/>
              </a:rPr>
              <a:t>based on factors like age, weight, and exercise habits.</a:t>
            </a:r>
          </a:p>
          <a:p>
            <a:endParaRPr lang="en-IN" sz="2200" b="1" dirty="0">
              <a:solidFill>
                <a:schemeClr val="tx1"/>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876473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D53F34-CCA7-4BFE-3CB9-4E09CE84B867}"/>
              </a:ext>
            </a:extLst>
          </p:cNvPr>
          <p:cNvSpPr>
            <a:spLocks noGrp="1"/>
          </p:cNvSpPr>
          <p:nvPr>
            <p:ph idx="1"/>
          </p:nvPr>
        </p:nvSpPr>
        <p:spPr>
          <a:xfrm>
            <a:off x="1071466" y="812107"/>
            <a:ext cx="10395856" cy="5551371"/>
          </a:xfrm>
        </p:spPr>
        <p:txBody>
          <a:bodyPr>
            <a:normAutofit fontScale="92500" lnSpcReduction="10000"/>
          </a:bodyPr>
          <a:lstStyle/>
          <a:p>
            <a:r>
              <a:rPr lang="en-US" b="1" dirty="0">
                <a:latin typeface="Times New Roman" panose="02020603050405020304" pitchFamily="18" charset="0"/>
                <a:cs typeface="Times New Roman" panose="02020603050405020304" pitchFamily="18" charset="0"/>
              </a:rPr>
              <a:t>Transforming data: </a:t>
            </a:r>
          </a:p>
          <a:p>
            <a:pPr lvl="1"/>
            <a:r>
              <a:rPr lang="en-IN" sz="2400" dirty="0">
                <a:latin typeface="Times New Roman" panose="02020603050405020304" pitchFamily="18" charset="0"/>
                <a:cs typeface="Times New Roman" panose="02020603050405020304" pitchFamily="18" charset="0"/>
              </a:rPr>
              <a:t>In logistic regression, the outcome (yes or no) is transformed into something called the </a:t>
            </a:r>
            <a:r>
              <a:rPr lang="en-IN" sz="2400" b="1" dirty="0">
                <a:latin typeface="Times New Roman" panose="02020603050405020304" pitchFamily="18" charset="0"/>
                <a:cs typeface="Times New Roman" panose="02020603050405020304" pitchFamily="18" charset="0"/>
              </a:rPr>
              <a:t>log of the odds</a:t>
            </a:r>
            <a:r>
              <a:rPr lang="en-IN" sz="2400" dirty="0">
                <a:latin typeface="Times New Roman" panose="02020603050405020304" pitchFamily="18" charset="0"/>
                <a:cs typeface="Times New Roman" panose="02020603050405020304" pitchFamily="18" charset="0"/>
              </a:rPr>
              <a:t> (this is also known as the "logit").</a:t>
            </a:r>
          </a:p>
          <a:p>
            <a:pPr lvl="1"/>
            <a:r>
              <a:rPr lang="en-IN" sz="2400" dirty="0">
                <a:latin typeface="Times New Roman" panose="02020603050405020304" pitchFamily="18" charset="0"/>
                <a:cs typeface="Times New Roman" panose="02020603050405020304" pitchFamily="18" charset="0"/>
              </a:rPr>
              <a:t>The odds represent how likely something is to happen compared to not happening.</a:t>
            </a:r>
          </a:p>
          <a:p>
            <a:pPr lvl="1"/>
            <a:r>
              <a:rPr lang="en-IN" sz="2400" dirty="0">
                <a:latin typeface="Times New Roman" panose="02020603050405020304" pitchFamily="18" charset="0"/>
                <a:cs typeface="Times New Roman" panose="02020603050405020304" pitchFamily="18" charset="0"/>
              </a:rPr>
              <a:t>For example, if a doctor says that the odds of getting the disease are 3 to 1, this means it's 3 times more likely to get the disease than not.</a:t>
            </a:r>
          </a:p>
          <a:p>
            <a:r>
              <a:rPr lang="en-IN" b="1" dirty="0">
                <a:latin typeface="Times New Roman" panose="02020603050405020304" pitchFamily="18" charset="0"/>
                <a:cs typeface="Times New Roman" panose="02020603050405020304" pitchFamily="18" charset="0"/>
              </a:rPr>
              <a:t>Probabilities and odd</a:t>
            </a:r>
          </a:p>
          <a:p>
            <a:pPr lvl="1"/>
            <a:r>
              <a:rPr lang="en-IN" sz="2400" b="1" dirty="0">
                <a:latin typeface="Times New Roman" panose="02020603050405020304" pitchFamily="18" charset="0"/>
                <a:cs typeface="Times New Roman" panose="02020603050405020304" pitchFamily="18" charset="0"/>
              </a:rPr>
              <a:t> </a:t>
            </a:r>
            <a:r>
              <a:rPr lang="en-IN" sz="2400" dirty="0">
                <a:solidFill>
                  <a:schemeClr val="tx1"/>
                </a:solidFill>
                <a:latin typeface="Times New Roman" panose="02020603050405020304" pitchFamily="18" charset="0"/>
                <a:cs typeface="Times New Roman" panose="02020603050405020304" pitchFamily="18" charset="0"/>
              </a:rPr>
              <a:t>In the real world, probabilities range between 0 and 1. For example, if there is a 70% chance of rain tomorrow, the probability is 0.7.</a:t>
            </a:r>
          </a:p>
          <a:p>
            <a:pPr lvl="1"/>
            <a:r>
              <a:rPr lang="en-IN" sz="2400" dirty="0">
                <a:solidFill>
                  <a:schemeClr val="tx1"/>
                </a:solidFill>
                <a:latin typeface="Times New Roman" panose="02020603050405020304" pitchFamily="18" charset="0"/>
                <a:cs typeface="Times New Roman" panose="02020603050405020304" pitchFamily="18" charset="0"/>
              </a:rPr>
              <a:t>Logistic regression transforms these probabilities into </a:t>
            </a:r>
            <a:r>
              <a:rPr lang="en-IN" sz="2400" b="1" dirty="0">
                <a:solidFill>
                  <a:schemeClr val="tx1"/>
                </a:solidFill>
                <a:latin typeface="Times New Roman" panose="02020603050405020304" pitchFamily="18" charset="0"/>
                <a:cs typeface="Times New Roman" panose="02020603050405020304" pitchFamily="18" charset="0"/>
              </a:rPr>
              <a:t>odds ratios</a:t>
            </a:r>
            <a:r>
              <a:rPr lang="en-IN" sz="2400" dirty="0">
                <a:solidFill>
                  <a:schemeClr val="tx1"/>
                </a:solidFill>
                <a:latin typeface="Times New Roman" panose="02020603050405020304" pitchFamily="18" charset="0"/>
                <a:cs typeface="Times New Roman" panose="02020603050405020304" pitchFamily="18" charset="0"/>
              </a:rPr>
              <a:t>, which can range from 0 to infinity.</a:t>
            </a:r>
          </a:p>
          <a:p>
            <a:pPr lvl="1"/>
            <a:r>
              <a:rPr lang="en-IN" sz="2400" dirty="0">
                <a:solidFill>
                  <a:schemeClr val="tx1"/>
                </a:solidFill>
                <a:latin typeface="Times New Roman" panose="02020603050405020304" pitchFamily="18" charset="0"/>
                <a:cs typeface="Times New Roman" panose="02020603050405020304" pitchFamily="18" charset="0"/>
              </a:rPr>
              <a:t>An odds ratio tells you how much more likely something is to happen compared to it not happening. For example, an odds ratio of 2 means something is twice as likely to occur.</a:t>
            </a:r>
          </a:p>
          <a:p>
            <a:pPr marL="0" indent="0">
              <a:buNone/>
            </a:pP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104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04BEB4-D0D0-CEC5-AA84-3F137B8BD7AB}"/>
              </a:ext>
            </a:extLst>
          </p:cNvPr>
          <p:cNvSpPr>
            <a:spLocks noGrp="1"/>
          </p:cNvSpPr>
          <p:nvPr>
            <p:ph idx="1"/>
          </p:nvPr>
        </p:nvSpPr>
        <p:spPr>
          <a:xfrm>
            <a:off x="933061" y="802433"/>
            <a:ext cx="9963536" cy="5073435"/>
          </a:xfrm>
        </p:spPr>
        <p:txBody>
          <a:bodyPr/>
          <a:lstStyle/>
          <a:p>
            <a:r>
              <a:rPr lang="en-IN" sz="2200" b="1" dirty="0">
                <a:latin typeface="Times New Roman" panose="02020603050405020304" pitchFamily="18" charset="0"/>
                <a:cs typeface="Times New Roman" panose="02020603050405020304" pitchFamily="18" charset="0"/>
              </a:rPr>
              <a:t>Cut-off Point</a:t>
            </a:r>
            <a:r>
              <a:rPr lang="en-IN" sz="2200" dirty="0">
                <a:latin typeface="Times New Roman" panose="02020603050405020304" pitchFamily="18" charset="0"/>
                <a:cs typeface="Times New Roman" panose="02020603050405020304" pitchFamily="18" charset="0"/>
              </a:rPr>
              <a:t>:</a:t>
            </a:r>
          </a:p>
          <a:p>
            <a:pPr lvl="1"/>
            <a:r>
              <a:rPr lang="en-IN" sz="220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Logistic regression uses a cut-off point to make a prediction. Typically, the cut-off is set at 0.5 (or 50%). If the predicted probability of the event happening is greater than 0.5, we predict that the event will happen. If it’s less than 0.5, we predict the event won’t happen.</a:t>
            </a:r>
            <a:endParaRPr lang="en-IN" dirty="0">
              <a:latin typeface="Times New Roman" panose="02020603050405020304" pitchFamily="18" charset="0"/>
              <a:cs typeface="Times New Roman" panose="02020603050405020304" pitchFamily="18" charset="0"/>
            </a:endParaRPr>
          </a:p>
          <a:p>
            <a:pPr lvl="1"/>
            <a:r>
              <a:rPr lang="en-IN" sz="2400" dirty="0">
                <a:latin typeface="Times New Roman" panose="02020603050405020304" pitchFamily="18" charset="0"/>
                <a:cs typeface="Times New Roman" panose="02020603050405020304" pitchFamily="18" charset="0"/>
              </a:rPr>
              <a:t>For example, if a model predicts a 70% chance of rain tomorrow, we would predict that it will rain. If it predicts a 30% chance, we would predict it won’t rain.</a:t>
            </a: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7839721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B940E-058A-A7F1-8F56-872C24711E0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Odds Ratio</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83F2C45-B1D6-C5D7-FA64-01A2EE9D0767}"/>
              </a:ext>
            </a:extLst>
          </p:cNvPr>
          <p:cNvSpPr>
            <a:spLocks noGrp="1"/>
          </p:cNvSpPr>
          <p:nvPr>
            <p:ph idx="1"/>
          </p:nvPr>
        </p:nvSpPr>
        <p:spPr/>
        <p:txBody>
          <a:bodyPr>
            <a:normAutofit lnSpcReduction="10000"/>
          </a:bodyPr>
          <a:lstStyle/>
          <a:p>
            <a:r>
              <a:rPr lang="en-IN" sz="2200" b="1" dirty="0">
                <a:latin typeface="Times New Roman" panose="02020603050405020304" pitchFamily="18" charset="0"/>
                <a:cs typeface="Times New Roman" panose="02020603050405020304" pitchFamily="18" charset="0"/>
              </a:rPr>
              <a:t>Odds Ratio</a:t>
            </a:r>
            <a:r>
              <a:rPr lang="en-IN" sz="2200" dirty="0">
                <a:latin typeface="Times New Roman" panose="02020603050405020304" pitchFamily="18" charset="0"/>
                <a:cs typeface="Times New Roman" panose="02020603050405020304" pitchFamily="18" charset="0"/>
              </a:rPr>
              <a:t> is a key concept in logistic regression. It is defined as the ratio of the probability of an event occurring to the probability of the event </a:t>
            </a:r>
            <a:r>
              <a:rPr lang="en-IN" sz="2200" b="1" dirty="0">
                <a:latin typeface="Times New Roman" panose="02020603050405020304" pitchFamily="18" charset="0"/>
                <a:cs typeface="Times New Roman" panose="02020603050405020304" pitchFamily="18" charset="0"/>
              </a:rPr>
              <a:t>not occurring</a:t>
            </a:r>
            <a:r>
              <a:rPr lang="en-IN" sz="2200" dirty="0">
                <a:latin typeface="Times New Roman" panose="02020603050405020304" pitchFamily="18" charset="0"/>
                <a:cs typeface="Times New Roman" panose="02020603050405020304" pitchFamily="18" charset="0"/>
              </a:rPr>
              <a:t>. </a:t>
            </a:r>
            <a:r>
              <a:rPr lang="en-IN" sz="2200" dirty="0">
                <a:solidFill>
                  <a:schemeClr val="tx1"/>
                </a:solidFill>
                <a:latin typeface="Times New Roman" panose="02020603050405020304" pitchFamily="18" charset="0"/>
                <a:cs typeface="Times New Roman" panose="02020603050405020304" pitchFamily="18" charset="0"/>
              </a:rPr>
              <a:t>For instance, the odds of a person buying a product might be 3 to 1, meaning they are three times more likely to buy the product than not to buy it.</a:t>
            </a:r>
          </a:p>
          <a:p>
            <a:r>
              <a:rPr lang="en-IN" sz="2200" b="1" dirty="0">
                <a:solidFill>
                  <a:schemeClr val="tx1"/>
                </a:solidFill>
                <a:latin typeface="Times New Roman" panose="02020603050405020304" pitchFamily="18" charset="0"/>
                <a:cs typeface="Times New Roman" panose="02020603050405020304" pitchFamily="18" charset="0"/>
              </a:rPr>
              <a:t>Formula for Odds</a:t>
            </a:r>
            <a:r>
              <a:rPr lang="en-IN" sz="2200" dirty="0">
                <a:solidFill>
                  <a:schemeClr val="tx1"/>
                </a:solidFill>
                <a:latin typeface="Times New Roman" panose="02020603050405020304" pitchFamily="18" charset="0"/>
                <a:cs typeface="Times New Roman" panose="02020603050405020304" pitchFamily="18" charset="0"/>
              </a:rPr>
              <a:t>:</a:t>
            </a:r>
          </a:p>
          <a:p>
            <a:endParaRPr lang="en-IN" dirty="0"/>
          </a:p>
          <a:p>
            <a:r>
              <a:rPr lang="en-IN" sz="2200" dirty="0">
                <a:solidFill>
                  <a:schemeClr val="tx1"/>
                </a:solidFill>
                <a:latin typeface="Times New Roman" panose="02020603050405020304" pitchFamily="18" charset="0"/>
                <a:cs typeface="Times New Roman" panose="02020603050405020304" pitchFamily="18" charset="0"/>
              </a:rPr>
              <a:t>Where P(Event) is the probability of the event happening.</a:t>
            </a:r>
          </a:p>
          <a:p>
            <a:r>
              <a:rPr lang="en-IN" sz="2200" b="1" dirty="0">
                <a:solidFill>
                  <a:schemeClr val="tx1"/>
                </a:solidFill>
                <a:latin typeface="Times New Roman" panose="02020603050405020304" pitchFamily="18" charset="0"/>
                <a:cs typeface="Times New Roman" panose="02020603050405020304" pitchFamily="18" charset="0"/>
              </a:rPr>
              <a:t>Example</a:t>
            </a:r>
            <a:r>
              <a:rPr lang="en-IN" sz="2200" dirty="0">
                <a:solidFill>
                  <a:schemeClr val="tx1"/>
                </a:solidFill>
                <a:latin typeface="Times New Roman" panose="02020603050405020304" pitchFamily="18" charset="0"/>
                <a:cs typeface="Times New Roman" panose="02020603050405020304" pitchFamily="18" charset="0"/>
              </a:rPr>
              <a:t>: If the probability of buying a product is 0.75, then the odds are:</a:t>
            </a:r>
          </a:p>
          <a:p>
            <a:endParaRPr lang="en-IN" sz="22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C65E463-532D-653A-48D5-F3A60E8823C6}"/>
              </a:ext>
            </a:extLst>
          </p:cNvPr>
          <p:cNvPicPr>
            <a:picLocks noChangeAspect="1"/>
          </p:cNvPicPr>
          <p:nvPr/>
        </p:nvPicPr>
        <p:blipFill>
          <a:blip r:embed="rId3"/>
          <a:stretch>
            <a:fillRect/>
          </a:stretch>
        </p:blipFill>
        <p:spPr>
          <a:xfrm>
            <a:off x="4149401" y="4216400"/>
            <a:ext cx="2400300" cy="695325"/>
          </a:xfrm>
          <a:prstGeom prst="rect">
            <a:avLst/>
          </a:prstGeom>
        </p:spPr>
      </p:pic>
      <p:pic>
        <p:nvPicPr>
          <p:cNvPr id="5" name="Picture 4">
            <a:extLst>
              <a:ext uri="{FF2B5EF4-FFF2-40B4-BE49-F238E27FC236}">
                <a16:creationId xmlns:a16="http://schemas.microsoft.com/office/drawing/2014/main" id="{FA082B77-AD86-6EFC-F44D-1E9AA1A331D9}"/>
              </a:ext>
            </a:extLst>
          </p:cNvPr>
          <p:cNvPicPr>
            <a:picLocks noChangeAspect="1"/>
          </p:cNvPicPr>
          <p:nvPr/>
        </p:nvPicPr>
        <p:blipFill>
          <a:blip r:embed="rId4"/>
          <a:stretch>
            <a:fillRect/>
          </a:stretch>
        </p:blipFill>
        <p:spPr>
          <a:xfrm>
            <a:off x="5097721" y="5599643"/>
            <a:ext cx="3190875" cy="552450"/>
          </a:xfrm>
          <a:prstGeom prst="rect">
            <a:avLst/>
          </a:prstGeom>
        </p:spPr>
      </p:pic>
    </p:spTree>
    <p:extLst>
      <p:ext uri="{BB962C8B-B14F-4D97-AF65-F5344CB8AC3E}">
        <p14:creationId xmlns:p14="http://schemas.microsoft.com/office/powerpoint/2010/main" val="2404210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DC766-D696-A079-2EE3-69D265A61790}"/>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Logarithms of Odd</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05EBBCE-91BF-FB2F-5AB6-7DCEC0A9EC26}"/>
              </a:ext>
            </a:extLst>
          </p:cNvPr>
          <p:cNvSpPr>
            <a:spLocks noGrp="1"/>
          </p:cNvSpPr>
          <p:nvPr>
            <p:ph idx="1"/>
          </p:nvPr>
        </p:nvSpPr>
        <p:spPr>
          <a:xfrm>
            <a:off x="1295402" y="2379650"/>
            <a:ext cx="9601196" cy="3318936"/>
          </a:xfrm>
        </p:spPr>
        <p:txBody>
          <a:bodyPr>
            <a:normAutofit fontScale="92500" lnSpcReduction="10000"/>
          </a:bodyPr>
          <a:lstStyle/>
          <a:p>
            <a:r>
              <a:rPr lang="en-IN" dirty="0">
                <a:latin typeface="Times New Roman" panose="02020603050405020304" pitchFamily="18" charset="0"/>
                <a:cs typeface="Times New Roman" panose="02020603050405020304" pitchFamily="18" charset="0"/>
              </a:rPr>
              <a:t>Logistic regression estimates the </a:t>
            </a:r>
            <a:r>
              <a:rPr lang="en-IN" b="1" dirty="0">
                <a:latin typeface="Times New Roman" panose="02020603050405020304" pitchFamily="18" charset="0"/>
                <a:cs typeface="Times New Roman" panose="02020603050405020304" pitchFamily="18" charset="0"/>
              </a:rPr>
              <a:t>logarithm of the odds</a:t>
            </a:r>
            <a:r>
              <a:rPr lang="en-IN" dirty="0">
                <a:latin typeface="Times New Roman" panose="02020603050405020304" pitchFamily="18" charset="0"/>
                <a:cs typeface="Times New Roman" panose="02020603050405020304" pitchFamily="18" charset="0"/>
              </a:rPr>
              <a:t> (also known as the log-odds or logit function). Instead of working with probabilities directly, logistic regression models the log of the odds because it converts the nonlinear relationship into a linear form that can be easily worked with.</a:t>
            </a:r>
          </a:p>
          <a:p>
            <a:r>
              <a:rPr lang="en-IN" b="1" dirty="0">
                <a:latin typeface="Times New Roman" panose="02020603050405020304" pitchFamily="18" charset="0"/>
                <a:cs typeface="Times New Roman" panose="02020603050405020304" pitchFamily="18" charset="0"/>
              </a:rPr>
              <a:t>Why Use Logarithms?</a:t>
            </a:r>
            <a:endParaRPr lang="en-IN" dirty="0">
              <a:latin typeface="Times New Roman" panose="02020603050405020304" pitchFamily="18" charset="0"/>
              <a:cs typeface="Times New Roman" panose="02020603050405020304" pitchFamily="18" charset="0"/>
            </a:endParaRPr>
          </a:p>
          <a:p>
            <a:pPr lvl="0"/>
            <a:r>
              <a:rPr lang="en-IN" dirty="0">
                <a:solidFill>
                  <a:schemeClr val="tx1"/>
                </a:solidFill>
                <a:latin typeface="Times New Roman" panose="02020603050405020304" pitchFamily="18" charset="0"/>
                <a:cs typeface="Times New Roman" panose="02020603050405020304" pitchFamily="18" charset="0"/>
              </a:rPr>
              <a:t>Probabilities are bound between 0 and 1, but odds can range from 0 to infinity. By taking the logarithm of the odds, we can map the entire range of odds to a scale that ranges from negative infinity to positive infinity, making it easier to model.</a:t>
            </a:r>
          </a:p>
          <a:p>
            <a:endParaRPr lang="en-IN" dirty="0"/>
          </a:p>
        </p:txBody>
      </p:sp>
      <p:pic>
        <p:nvPicPr>
          <p:cNvPr id="4" name="Picture 3">
            <a:extLst>
              <a:ext uri="{FF2B5EF4-FFF2-40B4-BE49-F238E27FC236}">
                <a16:creationId xmlns:a16="http://schemas.microsoft.com/office/drawing/2014/main" id="{E278DB8A-052B-0135-32EA-13AC670FE2AC}"/>
              </a:ext>
            </a:extLst>
          </p:cNvPr>
          <p:cNvPicPr>
            <a:picLocks noChangeAspect="1"/>
          </p:cNvPicPr>
          <p:nvPr/>
        </p:nvPicPr>
        <p:blipFill>
          <a:blip r:embed="rId2"/>
          <a:stretch>
            <a:fillRect/>
          </a:stretch>
        </p:blipFill>
        <p:spPr>
          <a:xfrm>
            <a:off x="4040445" y="5165186"/>
            <a:ext cx="4391025" cy="1066800"/>
          </a:xfrm>
          <a:prstGeom prst="rect">
            <a:avLst/>
          </a:prstGeom>
        </p:spPr>
      </p:pic>
    </p:spTree>
    <p:extLst>
      <p:ext uri="{BB962C8B-B14F-4D97-AF65-F5344CB8AC3E}">
        <p14:creationId xmlns:p14="http://schemas.microsoft.com/office/powerpoint/2010/main" val="11828532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D460F-22C6-093B-10A6-3478D57F26A3}"/>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Maximum Likelihood estimation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69ED946-0544-6C5D-1B6A-79EA538F73D5}"/>
              </a:ext>
            </a:extLst>
          </p:cNvPr>
          <p:cNvSpPr>
            <a:spLocks noGrp="1"/>
          </p:cNvSpPr>
          <p:nvPr>
            <p:ph idx="1"/>
          </p:nvPr>
        </p:nvSpPr>
        <p:spPr/>
        <p:txBody>
          <a:bodyPr>
            <a:normAutofit/>
          </a:bodyPr>
          <a:lstStyle/>
          <a:p>
            <a:r>
              <a:rPr lang="en-IN" sz="2200" dirty="0">
                <a:solidFill>
                  <a:schemeClr val="tx1"/>
                </a:solidFill>
                <a:latin typeface="Times New Roman" panose="02020603050405020304" pitchFamily="18" charset="0"/>
                <a:cs typeface="Times New Roman" panose="02020603050405020304" pitchFamily="18" charset="0"/>
              </a:rPr>
              <a:t>Logistic regression uses a technique called </a:t>
            </a:r>
            <a:r>
              <a:rPr lang="en-IN" sz="2200" b="1" dirty="0">
                <a:solidFill>
                  <a:schemeClr val="tx1"/>
                </a:solidFill>
                <a:latin typeface="Times New Roman" panose="02020603050405020304" pitchFamily="18" charset="0"/>
                <a:cs typeface="Times New Roman" panose="02020603050405020304" pitchFamily="18" charset="0"/>
              </a:rPr>
              <a:t>Maximum Likelihood Estimation (MLE)</a:t>
            </a:r>
            <a:r>
              <a:rPr lang="en-IN" sz="2200" dirty="0">
                <a:solidFill>
                  <a:schemeClr val="tx1"/>
                </a:solidFill>
                <a:latin typeface="Times New Roman" panose="02020603050405020304" pitchFamily="18" charset="0"/>
                <a:cs typeface="Times New Roman" panose="02020603050405020304" pitchFamily="18" charset="0"/>
              </a:rPr>
              <a:t> to estimate the best-fitting model for the data. </a:t>
            </a:r>
          </a:p>
          <a:p>
            <a:r>
              <a:rPr lang="en-IN" sz="2200" dirty="0">
                <a:solidFill>
                  <a:schemeClr val="tx1"/>
                </a:solidFill>
                <a:latin typeface="Times New Roman" panose="02020603050405020304" pitchFamily="18" charset="0"/>
                <a:cs typeface="Times New Roman" panose="02020603050405020304" pitchFamily="18" charset="0"/>
              </a:rPr>
              <a:t>MLE finds the set of coefficients (the weights on the independent variables) that maximize the likelihood of observing the data given the model.</a:t>
            </a:r>
          </a:p>
          <a:p>
            <a:pPr lvl="0"/>
            <a:r>
              <a:rPr lang="en-IN" sz="2200" dirty="0">
                <a:solidFill>
                  <a:schemeClr val="tx1"/>
                </a:solidFill>
                <a:latin typeface="Times New Roman" panose="02020603050405020304" pitchFamily="18" charset="0"/>
                <a:cs typeface="Times New Roman" panose="02020603050405020304" pitchFamily="18" charset="0"/>
              </a:rPr>
              <a:t>MLE adjusts the model parameters so that the predicted probabilities match the actual outcomes as closely as possible.</a:t>
            </a:r>
          </a:p>
          <a:p>
            <a:pPr lvl="0"/>
            <a:r>
              <a:rPr lang="en-IN" sz="2200" dirty="0">
                <a:solidFill>
                  <a:schemeClr val="tx1"/>
                </a:solidFill>
                <a:latin typeface="Times New Roman" panose="02020603050405020304" pitchFamily="18" charset="0"/>
                <a:cs typeface="Times New Roman" panose="02020603050405020304" pitchFamily="18" charset="0"/>
              </a:rPr>
              <a:t>Essentially, it chooses the values for the coefficients that make the observed data most likely.</a:t>
            </a:r>
          </a:p>
          <a:p>
            <a:endParaRPr lang="en-IN" dirty="0"/>
          </a:p>
        </p:txBody>
      </p:sp>
    </p:spTree>
    <p:extLst>
      <p:ext uri="{BB962C8B-B14F-4D97-AF65-F5344CB8AC3E}">
        <p14:creationId xmlns:p14="http://schemas.microsoft.com/office/powerpoint/2010/main" val="16461170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70FBF-1BAC-B2C3-B6BA-B3AA205B9E9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Odd Ratio</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6259B2D-04A5-B221-E47D-7BE4CE5A9570}"/>
              </a:ext>
            </a:extLst>
          </p:cNvPr>
          <p:cNvSpPr>
            <a:spLocks noGrp="1"/>
          </p:cNvSpPr>
          <p:nvPr>
            <p:ph idx="1"/>
          </p:nvPr>
        </p:nvSpPr>
        <p:spPr/>
        <p:txBody>
          <a:bodyPr>
            <a:normAutofit fontScale="92500" lnSpcReduction="20000"/>
          </a:bodyPr>
          <a:lstStyle/>
          <a:p>
            <a:r>
              <a:rPr lang="en-IN" dirty="0">
                <a:solidFill>
                  <a:schemeClr val="tx1"/>
                </a:solidFill>
                <a:latin typeface="Times New Roman" panose="02020603050405020304" pitchFamily="18" charset="0"/>
                <a:cs typeface="Times New Roman" panose="02020603050405020304" pitchFamily="18" charset="0"/>
              </a:rPr>
              <a:t>The </a:t>
            </a:r>
            <a:r>
              <a:rPr lang="en-IN" b="1" dirty="0">
                <a:solidFill>
                  <a:schemeClr val="tx1"/>
                </a:solidFill>
                <a:latin typeface="Times New Roman" panose="02020603050405020304" pitchFamily="18" charset="0"/>
                <a:cs typeface="Times New Roman" panose="02020603050405020304" pitchFamily="18" charset="0"/>
              </a:rPr>
              <a:t>odds ratio</a:t>
            </a:r>
            <a:r>
              <a:rPr lang="en-IN" dirty="0">
                <a:solidFill>
                  <a:schemeClr val="tx1"/>
                </a:solidFill>
                <a:latin typeface="Times New Roman" panose="02020603050405020304" pitchFamily="18" charset="0"/>
                <a:cs typeface="Times New Roman" panose="02020603050405020304" pitchFamily="18" charset="0"/>
              </a:rPr>
              <a:t> provides a way to measure the strength of the relationship between the predictor (independent) variables and the outcome (dependent variable).</a:t>
            </a:r>
          </a:p>
          <a:p>
            <a:pPr lvl="0"/>
            <a:r>
              <a:rPr lang="en-IN" b="1" dirty="0">
                <a:solidFill>
                  <a:schemeClr val="tx1"/>
                </a:solidFill>
                <a:latin typeface="Times New Roman" panose="02020603050405020304" pitchFamily="18" charset="0"/>
                <a:cs typeface="Times New Roman" panose="02020603050405020304" pitchFamily="18" charset="0"/>
              </a:rPr>
              <a:t>Odds Ratio Definition</a:t>
            </a:r>
            <a:r>
              <a:rPr lang="en-IN" dirty="0">
                <a:solidFill>
                  <a:schemeClr val="tx1"/>
                </a:solidFill>
                <a:latin typeface="Times New Roman" panose="02020603050405020304" pitchFamily="18" charset="0"/>
                <a:cs typeface="Times New Roman" panose="02020603050405020304" pitchFamily="18" charset="0"/>
              </a:rPr>
              <a:t>: It is the ratio of the odds of an event occurring in one group compared to another group.</a:t>
            </a:r>
          </a:p>
          <a:p>
            <a:r>
              <a:rPr lang="en-IN" b="1" dirty="0">
                <a:solidFill>
                  <a:schemeClr val="tx1"/>
                </a:solidFill>
                <a:latin typeface="Times New Roman" panose="02020603050405020304" pitchFamily="18" charset="0"/>
                <a:cs typeface="Times New Roman" panose="02020603050405020304" pitchFamily="18" charset="0"/>
              </a:rPr>
              <a:t>Example</a:t>
            </a:r>
            <a:r>
              <a:rPr lang="en-IN" dirty="0">
                <a:solidFill>
                  <a:schemeClr val="tx1"/>
                </a:solidFill>
                <a:latin typeface="Times New Roman" panose="02020603050405020304" pitchFamily="18" charset="0"/>
                <a:cs typeface="Times New Roman" panose="02020603050405020304" pitchFamily="18" charset="0"/>
              </a:rPr>
              <a:t>:</a:t>
            </a:r>
          </a:p>
          <a:p>
            <a:pPr lvl="0"/>
            <a:r>
              <a:rPr lang="en-IN" dirty="0">
                <a:solidFill>
                  <a:schemeClr val="tx1"/>
                </a:solidFill>
                <a:latin typeface="Times New Roman" panose="02020603050405020304" pitchFamily="18" charset="0"/>
                <a:cs typeface="Times New Roman" panose="02020603050405020304" pitchFamily="18" charset="0"/>
              </a:rPr>
              <a:t>Suppose you are comparing two groups—people who received a particular treatment (Group 1) and people who did not (Group 2). If the odds ratio is 2, it means that people in Group 1 are twice as likely to experience the event (e.g., recovery) as people in Group 2.</a:t>
            </a:r>
          </a:p>
          <a:p>
            <a:endParaRPr lang="en-IN" dirty="0"/>
          </a:p>
        </p:txBody>
      </p:sp>
    </p:spTree>
    <p:extLst>
      <p:ext uri="{BB962C8B-B14F-4D97-AF65-F5344CB8AC3E}">
        <p14:creationId xmlns:p14="http://schemas.microsoft.com/office/powerpoint/2010/main" val="14498534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472B6-752A-F429-27FD-285DCC49BD74}"/>
              </a:ext>
            </a:extLst>
          </p:cNvPr>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Estimating the Magnitude of Relationships:</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F69A3E5-C426-0F24-4C45-A4C798772C22}"/>
              </a:ext>
            </a:extLst>
          </p:cNvPr>
          <p:cNvSpPr>
            <a:spLocks noGrp="1"/>
          </p:cNvSpPr>
          <p:nvPr>
            <p:ph idx="1"/>
          </p:nvPr>
        </p:nvSpPr>
        <p:spPr>
          <a:xfrm>
            <a:off x="1295401" y="2556931"/>
            <a:ext cx="9988484" cy="3693039"/>
          </a:xfrm>
        </p:spPr>
        <p:txBody>
          <a:bodyPr>
            <a:normAutofit fontScale="85000" lnSpcReduction="20000"/>
          </a:bodyPr>
          <a:lstStyle/>
          <a:p>
            <a:r>
              <a:rPr lang="en-IN" sz="2600" dirty="0">
                <a:solidFill>
                  <a:schemeClr val="tx1"/>
                </a:solidFill>
                <a:latin typeface="Times New Roman" panose="02020603050405020304" pitchFamily="18" charset="0"/>
                <a:cs typeface="Times New Roman" panose="02020603050405020304" pitchFamily="18" charset="0"/>
              </a:rPr>
              <a:t>The odds ratio helps estimate how much the independent variables (predictors) affect the likelihood of the event occurring. It tells us:</a:t>
            </a:r>
          </a:p>
          <a:p>
            <a:pPr lvl="0"/>
            <a:r>
              <a:rPr lang="en-IN" sz="2600" dirty="0">
                <a:solidFill>
                  <a:schemeClr val="tx1"/>
                </a:solidFill>
                <a:latin typeface="Times New Roman" panose="02020603050405020304" pitchFamily="18" charset="0"/>
                <a:cs typeface="Times New Roman" panose="02020603050405020304" pitchFamily="18" charset="0"/>
              </a:rPr>
              <a:t>How much </a:t>
            </a:r>
            <a:r>
              <a:rPr lang="en-IN" sz="2600" b="1" dirty="0">
                <a:solidFill>
                  <a:schemeClr val="tx1"/>
                </a:solidFill>
                <a:latin typeface="Times New Roman" panose="02020603050405020304" pitchFamily="18" charset="0"/>
                <a:cs typeface="Times New Roman" panose="02020603050405020304" pitchFamily="18" charset="0"/>
              </a:rPr>
              <a:t>more or less likely</a:t>
            </a:r>
            <a:r>
              <a:rPr lang="en-IN" sz="2600" dirty="0">
                <a:solidFill>
                  <a:schemeClr val="tx1"/>
                </a:solidFill>
                <a:latin typeface="Times New Roman" panose="02020603050405020304" pitchFamily="18" charset="0"/>
                <a:cs typeface="Times New Roman" panose="02020603050405020304" pitchFamily="18" charset="0"/>
              </a:rPr>
              <a:t> one outcome is compared to another.</a:t>
            </a:r>
          </a:p>
          <a:p>
            <a:pPr lvl="0"/>
            <a:r>
              <a:rPr lang="en-IN" sz="2600" dirty="0">
                <a:solidFill>
                  <a:schemeClr val="tx1"/>
                </a:solidFill>
                <a:latin typeface="Times New Roman" panose="02020603050405020304" pitchFamily="18" charset="0"/>
                <a:cs typeface="Times New Roman" panose="02020603050405020304" pitchFamily="18" charset="0"/>
              </a:rPr>
              <a:t>If the odds ratio is </a:t>
            </a:r>
            <a:r>
              <a:rPr lang="en-IN" sz="2600" b="1" dirty="0">
                <a:solidFill>
                  <a:schemeClr val="tx1"/>
                </a:solidFill>
                <a:latin typeface="Times New Roman" panose="02020603050405020304" pitchFamily="18" charset="0"/>
                <a:cs typeface="Times New Roman" panose="02020603050405020304" pitchFamily="18" charset="0"/>
              </a:rPr>
              <a:t>greater than 1</a:t>
            </a:r>
            <a:r>
              <a:rPr lang="en-IN" sz="2600" dirty="0">
                <a:solidFill>
                  <a:schemeClr val="tx1"/>
                </a:solidFill>
                <a:latin typeface="Times New Roman" panose="02020603050405020304" pitchFamily="18" charset="0"/>
                <a:cs typeface="Times New Roman" panose="02020603050405020304" pitchFamily="18" charset="0"/>
              </a:rPr>
              <a:t>, it suggests that the event is more likely to occur when the predictor variable increases.</a:t>
            </a:r>
          </a:p>
          <a:p>
            <a:pPr lvl="0"/>
            <a:r>
              <a:rPr lang="en-IN" sz="2600" dirty="0">
                <a:solidFill>
                  <a:schemeClr val="tx1"/>
                </a:solidFill>
                <a:latin typeface="Times New Roman" panose="02020603050405020304" pitchFamily="18" charset="0"/>
                <a:cs typeface="Times New Roman" panose="02020603050405020304" pitchFamily="18" charset="0"/>
              </a:rPr>
              <a:t>If the odds ratio is </a:t>
            </a:r>
            <a:r>
              <a:rPr lang="en-IN" sz="2600" b="1" dirty="0">
                <a:solidFill>
                  <a:schemeClr val="tx1"/>
                </a:solidFill>
                <a:latin typeface="Times New Roman" panose="02020603050405020304" pitchFamily="18" charset="0"/>
                <a:cs typeface="Times New Roman" panose="02020603050405020304" pitchFamily="18" charset="0"/>
              </a:rPr>
              <a:t>less than 1</a:t>
            </a:r>
            <a:r>
              <a:rPr lang="en-IN" sz="2600" dirty="0">
                <a:solidFill>
                  <a:schemeClr val="tx1"/>
                </a:solidFill>
                <a:latin typeface="Times New Roman" panose="02020603050405020304" pitchFamily="18" charset="0"/>
                <a:cs typeface="Times New Roman" panose="02020603050405020304" pitchFamily="18" charset="0"/>
              </a:rPr>
              <a:t>, it suggests that the event is less likely to occur when the predictor increases.</a:t>
            </a:r>
          </a:p>
          <a:p>
            <a:r>
              <a:rPr lang="en-IN" sz="2600" b="1" dirty="0">
                <a:solidFill>
                  <a:schemeClr val="tx1"/>
                </a:solidFill>
                <a:latin typeface="Times New Roman" panose="02020603050405020304" pitchFamily="18" charset="0"/>
                <a:cs typeface="Times New Roman" panose="02020603050405020304" pitchFamily="18" charset="0"/>
              </a:rPr>
              <a:t>Example</a:t>
            </a:r>
            <a:r>
              <a:rPr lang="en-IN" sz="2600" dirty="0">
                <a:solidFill>
                  <a:schemeClr val="tx1"/>
                </a:solidFill>
                <a:latin typeface="Times New Roman" panose="02020603050405020304" pitchFamily="18" charset="0"/>
                <a:cs typeface="Times New Roman" panose="02020603050405020304" pitchFamily="18" charset="0"/>
              </a:rPr>
              <a:t>: If you're studying the effect of exercise on heart disease, and the odds ratio is 0.5, it means that people who exercise are half as likely to develop heart disease compared to those who don’t.</a:t>
            </a:r>
          </a:p>
          <a:p>
            <a:endParaRPr lang="en-IN" dirty="0"/>
          </a:p>
        </p:txBody>
      </p:sp>
    </p:spTree>
    <p:extLst>
      <p:ext uri="{BB962C8B-B14F-4D97-AF65-F5344CB8AC3E}">
        <p14:creationId xmlns:p14="http://schemas.microsoft.com/office/powerpoint/2010/main" val="250582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334B4-85AA-B44C-E78C-C33E0D06AB7A}"/>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Logistic Regression Model Description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AA808E0-4B40-2270-30A5-18E67302EFFB}"/>
              </a:ext>
            </a:extLst>
          </p:cNvPr>
          <p:cNvSpPr>
            <a:spLocks noGrp="1"/>
          </p:cNvSpPr>
          <p:nvPr>
            <p:ph idx="1"/>
          </p:nvPr>
        </p:nvSpPr>
        <p:spPr>
          <a:xfrm>
            <a:off x="1295401" y="2556932"/>
            <a:ext cx="9950776" cy="3815588"/>
          </a:xfrm>
        </p:spPr>
        <p:txBody>
          <a:bodyPr>
            <a:normAutofit lnSpcReduction="10000"/>
          </a:bodyPr>
          <a:lstStyle/>
          <a:p>
            <a:r>
              <a:rPr lang="en-US" sz="2200" dirty="0">
                <a:solidFill>
                  <a:schemeClr val="tx1"/>
                </a:solidFill>
                <a:latin typeface="Times New Roman" panose="02020603050405020304" pitchFamily="18" charset="0"/>
                <a:cs typeface="Times New Roman" panose="02020603050405020304" pitchFamily="18" charset="0"/>
              </a:rPr>
              <a:t>Logistic regression is based on logistic function. </a:t>
            </a:r>
            <a:r>
              <a:rPr lang="en-IN" sz="2200" dirty="0">
                <a:solidFill>
                  <a:schemeClr val="tx1"/>
                </a:solidFill>
                <a:latin typeface="Times New Roman" panose="02020603050405020304" pitchFamily="18" charset="0"/>
                <a:cs typeface="Times New Roman" panose="02020603050405020304" pitchFamily="18" charset="0"/>
              </a:rPr>
              <a:t>It is a type of sigmoid function, which is S-shaped and maps any real number y to a value between 0 and 1. </a:t>
            </a:r>
          </a:p>
          <a:p>
            <a:r>
              <a:rPr lang="en-IN" sz="2200" dirty="0">
                <a:solidFill>
                  <a:schemeClr val="tx1"/>
                </a:solidFill>
                <a:latin typeface="Times New Roman" panose="02020603050405020304" pitchFamily="18" charset="0"/>
                <a:cs typeface="Times New Roman" panose="02020603050405020304" pitchFamily="18" charset="0"/>
              </a:rPr>
              <a:t>The function is widely used in </a:t>
            </a:r>
            <a:r>
              <a:rPr lang="en-IN" sz="2200" b="1" dirty="0">
                <a:solidFill>
                  <a:schemeClr val="tx1"/>
                </a:solidFill>
                <a:latin typeface="Times New Roman" panose="02020603050405020304" pitchFamily="18" charset="0"/>
                <a:cs typeface="Times New Roman" panose="02020603050405020304" pitchFamily="18" charset="0"/>
              </a:rPr>
              <a:t>logistic regression</a:t>
            </a:r>
            <a:r>
              <a:rPr lang="en-IN" sz="2200" dirty="0">
                <a:solidFill>
                  <a:schemeClr val="tx1"/>
                </a:solidFill>
                <a:latin typeface="Times New Roman" panose="02020603050405020304" pitchFamily="18" charset="0"/>
                <a:cs typeface="Times New Roman" panose="02020603050405020304" pitchFamily="18" charset="0"/>
              </a:rPr>
              <a:t> to model probabilities, where the output f(y) represents the probability of an event occurring. The input y is usually a linear combination of the predictors (features).</a:t>
            </a:r>
          </a:p>
          <a:p>
            <a:endParaRPr lang="en-IN" sz="2200" dirty="0">
              <a:solidFill>
                <a:schemeClr val="tx1"/>
              </a:solidFill>
              <a:latin typeface="Times New Roman" panose="02020603050405020304" pitchFamily="18" charset="0"/>
              <a:cs typeface="Times New Roman" panose="02020603050405020304" pitchFamily="18" charset="0"/>
            </a:endParaRPr>
          </a:p>
          <a:p>
            <a:endParaRPr lang="en-IN" sz="2200" dirty="0">
              <a:solidFill>
                <a:schemeClr val="tx1"/>
              </a:solidFill>
              <a:latin typeface="Times New Roman" panose="02020603050405020304" pitchFamily="18" charset="0"/>
              <a:cs typeface="Times New Roman" panose="02020603050405020304" pitchFamily="18" charset="0"/>
            </a:endParaRPr>
          </a:p>
          <a:p>
            <a:pPr lvl="0"/>
            <a:r>
              <a:rPr lang="en-IN" sz="2200" dirty="0">
                <a:latin typeface="Times New Roman" panose="02020603050405020304" pitchFamily="18" charset="0"/>
                <a:cs typeface="Times New Roman" panose="02020603050405020304" pitchFamily="18" charset="0"/>
              </a:rPr>
              <a:t>For very large negative values of y, f(y) approaches 0.</a:t>
            </a:r>
          </a:p>
          <a:p>
            <a:pPr lvl="0"/>
            <a:r>
              <a:rPr lang="en-IN" sz="2200" dirty="0">
                <a:latin typeface="Times New Roman" panose="02020603050405020304" pitchFamily="18" charset="0"/>
                <a:cs typeface="Times New Roman" panose="02020603050405020304" pitchFamily="18" charset="0"/>
              </a:rPr>
              <a:t>For very large positive values of y, f(y) approaches 1.</a:t>
            </a:r>
          </a:p>
          <a:p>
            <a:endParaRPr lang="en-IN" sz="2200"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47186F9-2C05-E6EC-D62A-9EE1AB585E2F}"/>
              </a:ext>
            </a:extLst>
          </p:cNvPr>
          <p:cNvPicPr>
            <a:picLocks noChangeAspect="1"/>
          </p:cNvPicPr>
          <p:nvPr/>
        </p:nvPicPr>
        <p:blipFill>
          <a:blip r:embed="rId2"/>
          <a:stretch>
            <a:fillRect/>
          </a:stretch>
        </p:blipFill>
        <p:spPr>
          <a:xfrm>
            <a:off x="1629805" y="4461530"/>
            <a:ext cx="4162425" cy="857250"/>
          </a:xfrm>
          <a:prstGeom prst="rect">
            <a:avLst/>
          </a:prstGeom>
        </p:spPr>
      </p:pic>
    </p:spTree>
    <p:extLst>
      <p:ext uri="{BB962C8B-B14F-4D97-AF65-F5344CB8AC3E}">
        <p14:creationId xmlns:p14="http://schemas.microsoft.com/office/powerpoint/2010/main" val="10726280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7FB96-DB93-F93F-1E81-691B4F19C1D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Graph of logistic function</a:t>
            </a:r>
            <a:endParaRPr lang="en-IN"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9DE21A3-7494-6B67-E2D9-48C842D3224E}"/>
                  </a:ext>
                </a:extLst>
              </p:cNvPr>
              <p:cNvSpPr>
                <a:spLocks noGrp="1"/>
              </p:cNvSpPr>
              <p:nvPr>
                <p:ph idx="1"/>
              </p:nvPr>
            </p:nvSpPr>
            <p:spPr>
              <a:xfrm>
                <a:off x="1295400" y="2556932"/>
                <a:ext cx="9601197" cy="3318936"/>
              </a:xfrm>
            </p:spPr>
            <p:txBody>
              <a:bodyPr>
                <a:normAutofit/>
              </a:bodyPr>
              <a:lstStyle/>
              <a:p>
                <a:r>
                  <a:rPr lang="en-US" dirty="0">
                    <a:solidFill>
                      <a:schemeClr val="tx1"/>
                    </a:solidFill>
                    <a:latin typeface="Times New Roman" panose="02020603050405020304" pitchFamily="18" charset="0"/>
                    <a:cs typeface="Times New Roman" panose="02020603050405020304" pitchFamily="18" charset="0"/>
                  </a:rPr>
                  <a:t>The </a:t>
                </a:r>
                <a:r>
                  <a:rPr lang="en-IN" dirty="0">
                    <a:solidFill>
                      <a:schemeClr val="tx1"/>
                    </a:solidFill>
                    <a:latin typeface="Times New Roman" panose="02020603050405020304" pitchFamily="18" charset="0"/>
                    <a:cs typeface="Times New Roman" panose="02020603050405020304" pitchFamily="18" charset="0"/>
                  </a:rPr>
                  <a:t>image shows the graph of the logistic function </a:t>
                </a:r>
                <a14:m>
                  <m:oMath xmlns:m="http://schemas.openxmlformats.org/officeDocument/2006/math">
                    <m:f>
                      <m:fPr>
                        <m:ctrlPr>
                          <a:rPr lang="en-IN" i="1">
                            <a:solidFill>
                              <a:schemeClr val="tx1"/>
                            </a:solidFill>
                            <a:latin typeface="Cambria Math" panose="02040503050406030204" pitchFamily="18" charset="0"/>
                          </a:rPr>
                        </m:ctrlPr>
                      </m:fPr>
                      <m:num>
                        <m:sSup>
                          <m:sSupPr>
                            <m:ctrlPr>
                              <a:rPr lang="en-IN" i="1">
                                <a:solidFill>
                                  <a:schemeClr val="tx1"/>
                                </a:solidFill>
                                <a:latin typeface="Cambria Math" panose="02040503050406030204" pitchFamily="18" charset="0"/>
                              </a:rPr>
                            </m:ctrlPr>
                          </m:sSupPr>
                          <m:e>
                            <m:r>
                              <a:rPr lang="en-IN" i="1">
                                <a:solidFill>
                                  <a:schemeClr val="tx1"/>
                                </a:solidFill>
                                <a:latin typeface="Cambria Math" panose="02040503050406030204" pitchFamily="18" charset="0"/>
                              </a:rPr>
                              <m:t>𝑒</m:t>
                            </m:r>
                          </m:e>
                          <m:sup>
                            <m:r>
                              <a:rPr lang="en-IN" i="1">
                                <a:solidFill>
                                  <a:schemeClr val="tx1"/>
                                </a:solidFill>
                                <a:latin typeface="Cambria Math" panose="02040503050406030204" pitchFamily="18" charset="0"/>
                              </a:rPr>
                              <m:t>𝑦</m:t>
                            </m:r>
                          </m:sup>
                        </m:sSup>
                      </m:num>
                      <m:den>
                        <m:r>
                          <a:rPr lang="en-IN" i="1">
                            <a:solidFill>
                              <a:schemeClr val="tx1"/>
                            </a:solidFill>
                            <a:latin typeface="Cambria Math" panose="02040503050406030204" pitchFamily="18" charset="0"/>
                          </a:rPr>
                          <m:t>1+</m:t>
                        </m:r>
                        <m:sSup>
                          <m:sSupPr>
                            <m:ctrlPr>
                              <a:rPr lang="en-IN" i="1">
                                <a:solidFill>
                                  <a:schemeClr val="tx1"/>
                                </a:solidFill>
                                <a:latin typeface="Cambria Math" panose="02040503050406030204" pitchFamily="18" charset="0"/>
                              </a:rPr>
                            </m:ctrlPr>
                          </m:sSupPr>
                          <m:e>
                            <m:r>
                              <a:rPr lang="en-IN" i="1">
                                <a:solidFill>
                                  <a:schemeClr val="tx1"/>
                                </a:solidFill>
                                <a:latin typeface="Cambria Math" panose="02040503050406030204" pitchFamily="18" charset="0"/>
                              </a:rPr>
                              <m:t>𝑒</m:t>
                            </m:r>
                          </m:e>
                          <m:sup>
                            <m:r>
                              <a:rPr lang="en-IN" i="1">
                                <a:solidFill>
                                  <a:schemeClr val="tx1"/>
                                </a:solidFill>
                                <a:latin typeface="Cambria Math" panose="02040503050406030204" pitchFamily="18" charset="0"/>
                              </a:rPr>
                              <m:t>𝑦</m:t>
                            </m:r>
                          </m:sup>
                        </m:sSup>
                      </m:den>
                    </m:f>
                  </m:oMath>
                </a14:m>
                <a:r>
                  <a:rPr lang="en-IN" dirty="0">
                    <a:solidFill>
                      <a:schemeClr val="tx1"/>
                    </a:solidFill>
                    <a:latin typeface="Times New Roman" panose="02020603050405020304" pitchFamily="18" charset="0"/>
                    <a:cs typeface="Times New Roman" panose="02020603050405020304" pitchFamily="18" charset="0"/>
                  </a:rPr>
                  <a:t> as a function of y</a:t>
                </a:r>
              </a:p>
              <a:p>
                <a:pPr lvl="0"/>
                <a:r>
                  <a:rPr lang="en-IN" dirty="0">
                    <a:solidFill>
                      <a:schemeClr val="tx1"/>
                    </a:solidFill>
                    <a:latin typeface="Times New Roman" panose="02020603050405020304" pitchFamily="18" charset="0"/>
                    <a:cs typeface="Times New Roman" panose="02020603050405020304" pitchFamily="18" charset="0"/>
                  </a:rPr>
                  <a:t>The x-axis represents the values of y.</a:t>
                </a:r>
              </a:p>
              <a:p>
                <a:pPr lvl="0"/>
                <a:r>
                  <a:rPr lang="en-IN" dirty="0">
                    <a:solidFill>
                      <a:schemeClr val="tx1"/>
                    </a:solidFill>
                    <a:latin typeface="Times New Roman" panose="02020603050405020304" pitchFamily="18" charset="0"/>
                    <a:cs typeface="Times New Roman" panose="02020603050405020304" pitchFamily="18" charset="0"/>
                  </a:rPr>
                  <a:t>The y-axis shows the output of the logistic function, ranging from 0 to 1.</a:t>
                </a:r>
              </a:p>
              <a:p>
                <a:pPr lvl="0"/>
                <a:endParaRPr lang="en-IN" dirty="0"/>
              </a:p>
              <a:p>
                <a:endParaRPr lang="en-IN" dirty="0"/>
              </a:p>
            </p:txBody>
          </p:sp>
        </mc:Choice>
        <mc:Fallback xmlns="">
          <p:sp>
            <p:nvSpPr>
              <p:cNvPr id="3" name="Content Placeholder 2">
                <a:extLst>
                  <a:ext uri="{FF2B5EF4-FFF2-40B4-BE49-F238E27FC236}">
                    <a16:creationId xmlns:a16="http://schemas.microsoft.com/office/drawing/2014/main" id="{59DE21A3-7494-6B67-E2D9-48C842D3224E}"/>
                  </a:ext>
                </a:extLst>
              </p:cNvPr>
              <p:cNvSpPr>
                <a:spLocks noGrp="1" noRot="1" noChangeAspect="1" noMove="1" noResize="1" noEditPoints="1" noAdjustHandles="1" noChangeArrowheads="1" noChangeShapeType="1" noTextEdit="1"/>
              </p:cNvSpPr>
              <p:nvPr>
                <p:ph idx="1"/>
              </p:nvPr>
            </p:nvSpPr>
            <p:spPr>
              <a:xfrm>
                <a:off x="1295400" y="2556932"/>
                <a:ext cx="9601197" cy="3318936"/>
              </a:xfrm>
              <a:blipFill>
                <a:blip r:embed="rId3"/>
                <a:stretch>
                  <a:fillRect l="-1144"/>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A962BAE9-B96D-754E-F2FA-F8A006FCC4AD}"/>
              </a:ext>
            </a:extLst>
          </p:cNvPr>
          <p:cNvPicPr>
            <a:picLocks noChangeAspect="1"/>
          </p:cNvPicPr>
          <p:nvPr/>
        </p:nvPicPr>
        <p:blipFill>
          <a:blip r:embed="rId4"/>
          <a:stretch>
            <a:fillRect/>
          </a:stretch>
        </p:blipFill>
        <p:spPr>
          <a:xfrm>
            <a:off x="6967519" y="4216400"/>
            <a:ext cx="4383467" cy="2157854"/>
          </a:xfrm>
          <a:prstGeom prst="rect">
            <a:avLst/>
          </a:prstGeom>
        </p:spPr>
      </p:pic>
    </p:spTree>
    <p:extLst>
      <p:ext uri="{BB962C8B-B14F-4D97-AF65-F5344CB8AC3E}">
        <p14:creationId xmlns:p14="http://schemas.microsoft.com/office/powerpoint/2010/main" val="8425958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826EB-C854-4D9B-5EF1-F048653CC5A6}"/>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Linear Regression vs Logistic regression</a:t>
            </a:r>
            <a:endParaRPr lang="en-IN" b="1"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137FB03D-716E-CF55-E60D-B09B37832F3D}"/>
              </a:ext>
            </a:extLst>
          </p:cNvPr>
          <p:cNvGraphicFramePr>
            <a:graphicFrameLocks noGrp="1"/>
          </p:cNvGraphicFramePr>
          <p:nvPr>
            <p:ph idx="1"/>
            <p:extLst>
              <p:ext uri="{D42A27DB-BD31-4B8C-83A1-F6EECF244321}">
                <p14:modId xmlns:p14="http://schemas.microsoft.com/office/powerpoint/2010/main" val="2135081602"/>
              </p:ext>
            </p:extLst>
          </p:nvPr>
        </p:nvGraphicFramePr>
        <p:xfrm>
          <a:off x="1295400" y="2557463"/>
          <a:ext cx="9601200" cy="3614841"/>
        </p:xfrm>
        <a:graphic>
          <a:graphicData uri="http://schemas.openxmlformats.org/drawingml/2006/table">
            <a:tbl>
              <a:tblPr firstRow="1" bandRow="1">
                <a:tableStyleId>{5C22544A-7EE6-4342-B048-85BDC9FD1C3A}</a:tableStyleId>
              </a:tblPr>
              <a:tblGrid>
                <a:gridCol w="4800600">
                  <a:extLst>
                    <a:ext uri="{9D8B030D-6E8A-4147-A177-3AD203B41FA5}">
                      <a16:colId xmlns:a16="http://schemas.microsoft.com/office/drawing/2014/main" val="1025520242"/>
                    </a:ext>
                  </a:extLst>
                </a:gridCol>
                <a:gridCol w="4800600">
                  <a:extLst>
                    <a:ext uri="{9D8B030D-6E8A-4147-A177-3AD203B41FA5}">
                      <a16:colId xmlns:a16="http://schemas.microsoft.com/office/drawing/2014/main" val="100392960"/>
                    </a:ext>
                  </a:extLst>
                </a:gridCol>
              </a:tblGrid>
              <a:tr h="370840">
                <a:tc>
                  <a:txBody>
                    <a:bodyPr/>
                    <a:lstStyle/>
                    <a:p>
                      <a:r>
                        <a:rPr lang="en-US" sz="2000" dirty="0">
                          <a:latin typeface="Times New Roman" panose="02020603050405020304" pitchFamily="18" charset="0"/>
                          <a:cs typeface="Times New Roman" panose="02020603050405020304" pitchFamily="18" charset="0"/>
                        </a:rPr>
                        <a:t>Linear Regression</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Logistic Regression</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21575289"/>
                  </a:ext>
                </a:extLst>
              </a:tr>
              <a:tr h="370840">
                <a:tc>
                  <a:txBody>
                    <a:bodyPr/>
                    <a:lstStyle/>
                    <a:p>
                      <a:r>
                        <a:rPr lang="en-US" sz="2000" dirty="0">
                          <a:latin typeface="Times New Roman" panose="02020603050405020304" pitchFamily="18" charset="0"/>
                          <a:cs typeface="Times New Roman" panose="02020603050405020304" pitchFamily="18" charset="0"/>
                        </a:rPr>
                        <a:t>Linear regression is used to predict continuous dependent variable using given set of independent variable </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Logistic regression is used to predict categorical dependent variable using given set of independent variable </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10496053"/>
                  </a:ext>
                </a:extLst>
              </a:tr>
              <a:tr h="370840">
                <a:tc>
                  <a:txBody>
                    <a:bodyPr/>
                    <a:lstStyle/>
                    <a:p>
                      <a:r>
                        <a:rPr lang="en-US" sz="2000" dirty="0">
                          <a:latin typeface="Times New Roman" panose="02020603050405020304" pitchFamily="18" charset="0"/>
                          <a:cs typeface="Times New Roman" panose="02020603050405020304" pitchFamily="18" charset="0"/>
                        </a:rPr>
                        <a:t>It is used for solving regression problem </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It is used for classification problem</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47340266"/>
                  </a:ext>
                </a:extLst>
              </a:tr>
              <a:tr h="414441">
                <a:tc>
                  <a:txBody>
                    <a:bodyPr/>
                    <a:lstStyle/>
                    <a:p>
                      <a:r>
                        <a:rPr lang="en-US" sz="2000" dirty="0">
                          <a:latin typeface="Times New Roman" panose="02020603050405020304" pitchFamily="18" charset="0"/>
                          <a:cs typeface="Times New Roman" panose="02020603050405020304" pitchFamily="18" charset="0"/>
                        </a:rPr>
                        <a:t>Here, we find best fit line</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Here, we find best fit curve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26296288"/>
                  </a:ext>
                </a:extLst>
              </a:tr>
              <a:tr h="370840">
                <a:tc>
                  <a:txBody>
                    <a:bodyPr/>
                    <a:lstStyle/>
                    <a:p>
                      <a:r>
                        <a:rPr lang="en-US" sz="2000" dirty="0">
                          <a:latin typeface="Times New Roman" panose="02020603050405020304" pitchFamily="18" charset="0"/>
                          <a:cs typeface="Times New Roman" panose="02020603050405020304" pitchFamily="18" charset="0"/>
                        </a:rPr>
                        <a:t>It requires linear relationship between dependent and independent variable </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It does not require linear relationship </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34840135"/>
                  </a:ext>
                </a:extLst>
              </a:tr>
              <a:tr h="370840">
                <a:tc>
                  <a:txBody>
                    <a:bodyPr/>
                    <a:lstStyle/>
                    <a:p>
                      <a:r>
                        <a:rPr lang="en-US" sz="2000" dirty="0">
                          <a:latin typeface="Times New Roman" panose="02020603050405020304" pitchFamily="18" charset="0"/>
                          <a:cs typeface="Times New Roman" panose="02020603050405020304" pitchFamily="18" charset="0"/>
                        </a:rPr>
                        <a:t>There may be collinearity between the independent variable </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There should be little or no collinearity between independent variable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73953003"/>
                  </a:ext>
                </a:extLst>
              </a:tr>
            </a:tbl>
          </a:graphicData>
        </a:graphic>
      </p:graphicFrame>
    </p:spTree>
    <p:extLst>
      <p:ext uri="{BB962C8B-B14F-4D97-AF65-F5344CB8AC3E}">
        <p14:creationId xmlns:p14="http://schemas.microsoft.com/office/powerpoint/2010/main" val="7045546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5F213-6244-1D48-C46D-AEAC3F8007F4}"/>
              </a:ext>
            </a:extLst>
          </p:cNvPr>
          <p:cNvSpPr>
            <a:spLocks noGrp="1"/>
          </p:cNvSpPr>
          <p:nvPr>
            <p:ph type="title"/>
          </p:nvPr>
        </p:nvSpPr>
        <p:spPr/>
        <p:txBody>
          <a:bodyPr>
            <a:noAutofit/>
          </a:bodyPr>
          <a:lstStyle/>
          <a:p>
            <a:r>
              <a:rPr lang="en-US" sz="4000" b="1" dirty="0">
                <a:latin typeface="Times New Roman" panose="02020603050405020304" pitchFamily="18" charset="0"/>
                <a:cs typeface="Times New Roman" panose="02020603050405020304" pitchFamily="18" charset="0"/>
              </a:rPr>
              <a:t>Why logistic regression is called regression if it is a classification algorithm</a:t>
            </a:r>
            <a:endParaRPr lang="en-IN" sz="4000" b="1"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05E2F929-C3C7-6AE8-E779-06554F9605E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27141" y="2557463"/>
            <a:ext cx="6137718" cy="3317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13833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7E923-B94E-663B-CB85-CFC12C8E9CA5}"/>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FDB4A059-7D46-3294-F196-117744DF8F3C}"/>
              </a:ext>
            </a:extLst>
          </p:cNvPr>
          <p:cNvSpPr>
            <a:spLocks noGrp="1"/>
          </p:cNvSpPr>
          <p:nvPr>
            <p:ph idx="1"/>
          </p:nvPr>
        </p:nvSpPr>
        <p:spPr/>
        <p:txBody>
          <a:bodyPr/>
          <a:lstStyle/>
          <a:p>
            <a:r>
              <a:rPr lang="en-US" sz="2200" b="1" dirty="0">
                <a:solidFill>
                  <a:schemeClr val="tx1"/>
                </a:solidFill>
                <a:latin typeface="Times New Roman" panose="02020603050405020304" pitchFamily="18" charset="0"/>
                <a:cs typeface="Times New Roman" panose="02020603050405020304" pitchFamily="18" charset="0"/>
              </a:rPr>
              <a:t>The Formula:</a:t>
            </a:r>
          </a:p>
          <a:p>
            <a:r>
              <a:rPr lang="en-US" sz="2200" dirty="0">
                <a:solidFill>
                  <a:schemeClr val="tx1"/>
                </a:solidFill>
                <a:latin typeface="Times New Roman" panose="02020603050405020304" pitchFamily="18" charset="0"/>
                <a:cs typeface="Times New Roman" panose="02020603050405020304" pitchFamily="18" charset="0"/>
              </a:rPr>
              <a:t>In linear regression, we predict the output variable Y base on the weighted sum of input variables.</a:t>
            </a:r>
          </a:p>
          <a:p>
            <a:r>
              <a:rPr lang="en-US" sz="2200" dirty="0">
                <a:solidFill>
                  <a:schemeClr val="tx1"/>
                </a:solidFill>
                <a:latin typeface="Times New Roman" panose="02020603050405020304" pitchFamily="18" charset="0"/>
                <a:cs typeface="Times New Roman" panose="02020603050405020304" pitchFamily="18" charset="0"/>
              </a:rPr>
              <a:t>The formula is as follows:</a:t>
            </a:r>
          </a:p>
          <a:p>
            <a:endParaRPr lang="en-IN" dirty="0"/>
          </a:p>
        </p:txBody>
      </p:sp>
      <p:pic>
        <p:nvPicPr>
          <p:cNvPr id="2052" name="Picture 4">
            <a:extLst>
              <a:ext uri="{FF2B5EF4-FFF2-40B4-BE49-F238E27FC236}">
                <a16:creationId xmlns:a16="http://schemas.microsoft.com/office/drawing/2014/main" id="{523302CD-D947-297F-E28B-090FE5BC50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6351" y="3706273"/>
            <a:ext cx="56483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67791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C43785-6E79-0E2F-63CB-A90C0258B5A6}"/>
              </a:ext>
            </a:extLst>
          </p:cNvPr>
          <p:cNvSpPr>
            <a:spLocks noGrp="1"/>
          </p:cNvSpPr>
          <p:nvPr>
            <p:ph idx="1"/>
          </p:nvPr>
        </p:nvSpPr>
        <p:spPr>
          <a:xfrm>
            <a:off x="789374" y="781398"/>
            <a:ext cx="10503022" cy="3318936"/>
          </a:xfrm>
        </p:spPr>
        <p:txBody>
          <a:bodyPr>
            <a:normAutofit/>
          </a:bodyPr>
          <a:lstStyle/>
          <a:p>
            <a:r>
              <a:rPr lang="en-US" dirty="0">
                <a:solidFill>
                  <a:schemeClr val="tx1"/>
                </a:solidFill>
                <a:latin typeface="Times New Roman" panose="02020603050405020304" pitchFamily="18" charset="0"/>
                <a:cs typeface="Times New Roman" panose="02020603050405020304" pitchFamily="18" charset="0"/>
              </a:rPr>
              <a:t>In logistic regression, we perform the exact same thing but with one small addition. We pass the result through a special function known as the </a:t>
            </a:r>
            <a:r>
              <a:rPr lang="en-US" b="1" dirty="0">
                <a:solidFill>
                  <a:schemeClr val="tx1"/>
                </a:solidFill>
                <a:latin typeface="Times New Roman" panose="02020603050405020304" pitchFamily="18" charset="0"/>
                <a:cs typeface="Times New Roman" panose="02020603050405020304" pitchFamily="18" charset="0"/>
              </a:rPr>
              <a:t>Sigmoid Function</a:t>
            </a:r>
            <a:r>
              <a:rPr lang="en-US" dirty="0">
                <a:solidFill>
                  <a:schemeClr val="tx1"/>
                </a:solidFill>
                <a:latin typeface="Times New Roman" panose="02020603050405020304" pitchFamily="18" charset="0"/>
                <a:cs typeface="Times New Roman" panose="02020603050405020304" pitchFamily="18" charset="0"/>
              </a:rPr>
              <a:t> to predict the output Y.</a:t>
            </a:r>
          </a:p>
          <a:p>
            <a:r>
              <a:rPr lang="en-US" dirty="0">
                <a:solidFill>
                  <a:schemeClr val="tx1"/>
                </a:solidFill>
                <a:latin typeface="Times New Roman" panose="02020603050405020304" pitchFamily="18" charset="0"/>
                <a:cs typeface="Times New Roman" panose="02020603050405020304" pitchFamily="18" charset="0"/>
              </a:rPr>
              <a:t>Linear regression gives a continuous value of output y for a given input X. Whereas, logistic regression gives a continuous value of P(Y=1) for a given input X, which is later converted to Y=0 or Y=1 based on a threshold value.</a:t>
            </a:r>
          </a:p>
          <a:p>
            <a:r>
              <a:rPr lang="en-US" dirty="0">
                <a:solidFill>
                  <a:schemeClr val="tx1"/>
                </a:solidFill>
                <a:latin typeface="Times New Roman" panose="02020603050405020304" pitchFamily="18" charset="0"/>
                <a:cs typeface="Times New Roman" panose="02020603050405020304" pitchFamily="18" charset="0"/>
              </a:rPr>
              <a:t>That’s the reason, logistic regression has </a:t>
            </a:r>
            <a:r>
              <a:rPr lang="en-US" b="1" dirty="0">
                <a:solidFill>
                  <a:schemeClr val="tx1"/>
                </a:solidFill>
                <a:latin typeface="Times New Roman" panose="02020603050405020304" pitchFamily="18" charset="0"/>
                <a:cs typeface="Times New Roman" panose="02020603050405020304" pitchFamily="18" charset="0"/>
              </a:rPr>
              <a:t>“Regression”</a:t>
            </a:r>
            <a:r>
              <a:rPr lang="en-US" dirty="0">
                <a:solidFill>
                  <a:schemeClr val="tx1"/>
                </a:solidFill>
                <a:latin typeface="Times New Roman" panose="02020603050405020304" pitchFamily="18" charset="0"/>
                <a:cs typeface="Times New Roman" panose="02020603050405020304" pitchFamily="18" charset="0"/>
              </a:rPr>
              <a:t> in its name.</a:t>
            </a:r>
            <a:endParaRPr lang="en-IN" sz="2200" dirty="0">
              <a:solidFill>
                <a:schemeClr val="tx1"/>
              </a:solidFill>
              <a:latin typeface="Times New Roman" panose="02020603050405020304" pitchFamily="18" charset="0"/>
              <a:cs typeface="Times New Roman" panose="02020603050405020304" pitchFamily="18" charset="0"/>
            </a:endParaRPr>
          </a:p>
        </p:txBody>
      </p:sp>
      <p:pic>
        <p:nvPicPr>
          <p:cNvPr id="3074" name="Picture 2">
            <a:extLst>
              <a:ext uri="{FF2B5EF4-FFF2-40B4-BE49-F238E27FC236}">
                <a16:creationId xmlns:a16="http://schemas.microsoft.com/office/drawing/2014/main" id="{191886F3-A8EF-DDBF-D272-FA801D0EBB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40885" y="4169215"/>
            <a:ext cx="4790691" cy="17255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038585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299</TotalTime>
  <Words>2895</Words>
  <Application>Microsoft Office PowerPoint</Application>
  <PresentationFormat>Widescreen</PresentationFormat>
  <Paragraphs>221</Paragraphs>
  <Slides>24</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Cambria Math</vt:lpstr>
      <vt:lpstr>Garamond</vt:lpstr>
      <vt:lpstr>Times New Roman</vt:lpstr>
      <vt:lpstr>Wingdings</vt:lpstr>
      <vt:lpstr>Organic</vt:lpstr>
      <vt:lpstr>Logistic Regression</vt:lpstr>
      <vt:lpstr>Content</vt:lpstr>
      <vt:lpstr>Introduction</vt:lpstr>
      <vt:lpstr>PowerPoint Presentation</vt:lpstr>
      <vt:lpstr>PowerPoint Presentation</vt:lpstr>
      <vt:lpstr>Problem Statement</vt:lpstr>
      <vt:lpstr>PowerPoint Presentation</vt:lpstr>
      <vt:lpstr>Logistic Regression Use cases</vt:lpstr>
      <vt:lpstr>Examining likelihood of event</vt:lpstr>
      <vt:lpstr>PowerPoint Presentation</vt:lpstr>
      <vt:lpstr>What logistic regression predicts</vt:lpstr>
      <vt:lpstr>PowerPoint Presentation</vt:lpstr>
      <vt:lpstr>PowerPoint Presentation</vt:lpstr>
      <vt:lpstr>Odds Ratio</vt:lpstr>
      <vt:lpstr>Logarithms of Odd</vt:lpstr>
      <vt:lpstr>Maximum Likelihood estimation</vt:lpstr>
      <vt:lpstr>Odd Ratio</vt:lpstr>
      <vt:lpstr>Estimating the Magnitude of Relationships: </vt:lpstr>
      <vt:lpstr>Logistic Regression Model Description</vt:lpstr>
      <vt:lpstr>Graph of logistic function</vt:lpstr>
      <vt:lpstr>Linear Regression vs Logistic regression</vt:lpstr>
      <vt:lpstr>Why logistic regression is called regression if it is a classification algorithm</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Shrikrishna Narvekar</dc:creator>
  <cp:lastModifiedBy>Shrikrishna Narvekar</cp:lastModifiedBy>
  <cp:revision>7</cp:revision>
  <dcterms:created xsi:type="dcterms:W3CDTF">2025-10-06T03:58:04Z</dcterms:created>
  <dcterms:modified xsi:type="dcterms:W3CDTF">2025-10-10T03:56:32Z</dcterms:modified>
</cp:coreProperties>
</file>