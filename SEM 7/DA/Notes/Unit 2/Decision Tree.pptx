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134" autoAdjust="0"/>
  </p:normalViewPr>
  <p:slideViewPr>
    <p:cSldViewPr snapToGrid="0">
      <p:cViewPr varScale="1">
        <p:scale>
          <a:sx n="80" d="100"/>
          <a:sy n="80" d="100"/>
        </p:scale>
        <p:origin x="782" y="62"/>
      </p:cViewPr>
      <p:guideLst/>
    </p:cSldViewPr>
  </p:slideViewPr>
  <p:notesTextViewPr>
    <p:cViewPr>
      <p:scale>
        <a:sx n="1" d="1"/>
        <a:sy n="1" d="1"/>
      </p:scale>
      <p:origin x="0" y="-261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47339B-DBFE-4854-9E2E-DF1FA1A969DC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F60F8F-F245-4DFD-9489-980606D3D6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626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unbiased coin toss  P(H)=0.5 and P(T)=0.5 Here, the entropy is highest possible since there is no ways of determining what the outcomes be.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case of the coin which has heads on both the sides we know before hand that we will always get head only. In other words , this event has no randomness hence its entropy is zero. In particular lower value implies less uncertainty and high value implies  high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uncertainity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60F8F-F245-4DFD-9489-980606D3D614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086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Prevention of Overfitting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By removing branches that do not contribute significantly to predictive accuracy, pruning helps in preventing overfitting.</a:t>
            </a:r>
          </a:p>
          <a:p>
            <a:pPr lvl="0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Generalization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Pruned trees perform better on test data as they focus on the most relevant patterns in the dataset.</a:t>
            </a:r>
          </a:p>
          <a:p>
            <a:pPr lvl="0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Reduction in Model Complexity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simpler tree is easier to interpret, communicate, and deploy in real-world applications.</a:t>
            </a:r>
          </a:p>
          <a:p>
            <a:pPr lvl="0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Faster Decision-Making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smaller tree requires less computational time for classification or regression tasks.</a:t>
            </a:r>
          </a:p>
          <a:p>
            <a:pPr lvl="0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Robustness to Noise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Pruning eliminates branches that might have been created due to noise or outliers in the training data.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60F8F-F245-4DFD-9489-980606D3D614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511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Illustration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Suppose a tree is growing to classify students as "pass" or "fail" based on their study hours. Pre-pruning might stop the tree from further splitting if a node contains fewer than 5 students.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60F8F-F245-4DFD-9489-980606D3D614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580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Why do we prune?</a:t>
            </a:r>
          </a:p>
          <a:p>
            <a:r>
              <a:rPr lang="en-US" dirty="0"/>
              <a:t>Because a fully grown tree might </a:t>
            </a:r>
            <a:r>
              <a:rPr lang="en-US" b="1" dirty="0"/>
              <a:t>memorize the training data</a:t>
            </a:r>
            <a:r>
              <a:rPr lang="en-US" dirty="0"/>
              <a:t> (overfitting) — it performs very well on known data but poorly on new data.</a:t>
            </a:r>
            <a:br>
              <a:rPr lang="en-US" dirty="0"/>
            </a:br>
            <a:r>
              <a:rPr lang="en-US" dirty="0"/>
              <a:t>Pruning helps the model </a:t>
            </a:r>
            <a:r>
              <a:rPr lang="en-US" b="1" dirty="0"/>
              <a:t>generalize better</a:t>
            </a:r>
            <a:r>
              <a:rPr lang="en-US" dirty="0"/>
              <a:t> to unseen data.</a:t>
            </a:r>
          </a:p>
          <a:p>
            <a:r>
              <a:rPr lang="en-US" b="1" dirty="0"/>
              <a:t>Types of Post-Pruning Techniques</a:t>
            </a:r>
          </a:p>
          <a:p>
            <a:r>
              <a:rPr lang="en-US" b="1" dirty="0"/>
              <a:t>Reduced Error Pruning</a:t>
            </a:r>
            <a:endParaRPr lang="en-US" dirty="0"/>
          </a:p>
          <a:p>
            <a:pPr lvl="1"/>
            <a:r>
              <a:rPr lang="en-US" dirty="0"/>
              <a:t>You check if removing a node (a decision point) </a:t>
            </a:r>
            <a:r>
              <a:rPr lang="en-US" b="1" dirty="0"/>
              <a:t>increases the error</a:t>
            </a:r>
            <a:r>
              <a:rPr lang="en-US" dirty="0"/>
              <a:t> on a </a:t>
            </a:r>
            <a:r>
              <a:rPr lang="en-US" b="1" dirty="0"/>
              <a:t>validation dataset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If removing it does </a:t>
            </a:r>
            <a:r>
              <a:rPr lang="en-US" i="1" dirty="0"/>
              <a:t>not</a:t>
            </a:r>
            <a:r>
              <a:rPr lang="en-US" dirty="0"/>
              <a:t> make things worse, you remove that node.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Suppose your decision tree predicts whether a person will buy a car.</a:t>
            </a:r>
            <a:br>
              <a:rPr lang="en-US" dirty="0"/>
            </a:br>
            <a:r>
              <a:rPr lang="en-US" dirty="0"/>
              <a:t>There’s a small branch that says:</a:t>
            </a:r>
            <a:br>
              <a:rPr lang="en-US" dirty="0"/>
            </a:br>
            <a:r>
              <a:rPr lang="en-US" dirty="0"/>
              <a:t>“If income &gt; ₹90,000 and age = 24 and owns a cat → will buy a car.”</a:t>
            </a:r>
            <a:br>
              <a:rPr lang="en-US" dirty="0"/>
            </a:br>
            <a:r>
              <a:rPr lang="en-US" dirty="0"/>
              <a:t>If removing this branch </a:t>
            </a:r>
            <a:r>
              <a:rPr lang="en-US" b="1" dirty="0"/>
              <a:t>doesn’t reduce prediction accuracy</a:t>
            </a:r>
            <a:r>
              <a:rPr lang="en-US" dirty="0"/>
              <a:t>, then it’s pruned (removed) because it’s too specific and not generally useful.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Cost-Complexity Pruning (CCP)</a:t>
            </a:r>
            <a:endParaRPr lang="en-US" dirty="0"/>
          </a:p>
          <a:p>
            <a:pPr lvl="1"/>
            <a:r>
              <a:rPr lang="en-US" dirty="0"/>
              <a:t>This method finds a balance between:</a:t>
            </a:r>
          </a:p>
          <a:p>
            <a:pPr lvl="2"/>
            <a:r>
              <a:rPr lang="en-US" b="1" dirty="0"/>
              <a:t>Accuracy (fit to data)</a:t>
            </a:r>
            <a:r>
              <a:rPr lang="en-US" dirty="0"/>
              <a:t>, and</a:t>
            </a:r>
          </a:p>
          <a:p>
            <a:pPr lvl="2"/>
            <a:r>
              <a:rPr lang="en-US" b="1" dirty="0"/>
              <a:t>Complexity (number of branches)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Each subtree is given a “cost” that increases with complexity.</a:t>
            </a:r>
          </a:p>
          <a:p>
            <a:pPr lvl="1"/>
            <a:r>
              <a:rPr lang="en-US" dirty="0"/>
              <a:t>The model with the </a:t>
            </a:r>
            <a:r>
              <a:rPr lang="en-US" b="1" dirty="0"/>
              <a:t>lowest cost</a:t>
            </a:r>
            <a:r>
              <a:rPr lang="en-US" dirty="0"/>
              <a:t> (best balance) is chosen.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Suppose you have two trees predicting whether a patient has diabetes:</a:t>
            </a:r>
          </a:p>
          <a:p>
            <a:pPr lvl="1"/>
            <a:r>
              <a:rPr lang="en-US" dirty="0"/>
              <a:t>Tree A: 12 splits, 95% accuracy</a:t>
            </a:r>
          </a:p>
          <a:p>
            <a:pPr lvl="1"/>
            <a:r>
              <a:rPr lang="en-US" dirty="0"/>
              <a:t>Tree B: 5 splits, 94% accuracy</a:t>
            </a:r>
            <a:br>
              <a:rPr lang="en-US" dirty="0"/>
            </a:br>
            <a:r>
              <a:rPr lang="en-US" dirty="0"/>
              <a:t>Even though Tree A is slightly more accurate, it’s </a:t>
            </a:r>
            <a:r>
              <a:rPr lang="en-US" i="1" dirty="0"/>
              <a:t>too complex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CCP will choose </a:t>
            </a:r>
            <a:r>
              <a:rPr lang="en-US" b="1" dirty="0"/>
              <a:t>Tree B</a:t>
            </a:r>
            <a:r>
              <a:rPr lang="en-US" dirty="0"/>
              <a:t>, as it’s simpler and almost equally good.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60F8F-F245-4DFD-9489-980606D3D614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234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CE30753-E1FB-4CDF-A57A-6DDB90DB33CF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7AA5E81-C9C6-4113-9782-F21581EE4DF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516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0753-E1FB-4CDF-A57A-6DDB90DB33CF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5E81-C9C6-4113-9782-F21581EE4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9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0753-E1FB-4CDF-A57A-6DDB90DB33CF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5E81-C9C6-4113-9782-F21581EE4DF4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9739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0753-E1FB-4CDF-A57A-6DDB90DB33CF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5E81-C9C6-4113-9782-F21581EE4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248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0753-E1FB-4CDF-A57A-6DDB90DB33CF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5E81-C9C6-4113-9782-F21581EE4DF4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750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0753-E1FB-4CDF-A57A-6DDB90DB33CF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5E81-C9C6-4113-9782-F21581EE4DF4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626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0753-E1FB-4CDF-A57A-6DDB90DB33CF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5E81-C9C6-4113-9782-F21581EE4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800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0753-E1FB-4CDF-A57A-6DDB90DB33CF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5E81-C9C6-4113-9782-F21581EE4DF4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5634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0753-E1FB-4CDF-A57A-6DDB90DB33CF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5E81-C9C6-4113-9782-F21581EE4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016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0753-E1FB-4CDF-A57A-6DDB90DB33CF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5E81-C9C6-4113-9782-F21581EE4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454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0753-E1FB-4CDF-A57A-6DDB90DB33CF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5E81-C9C6-4113-9782-F21581EE4DF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9461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0753-E1FB-4CDF-A57A-6DDB90DB33CF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5E81-C9C6-4113-9782-F21581EE4DF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315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0753-E1FB-4CDF-A57A-6DDB90DB33CF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5E81-C9C6-4113-9782-F21581EE4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8849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0753-E1FB-4CDF-A57A-6DDB90DB33CF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5E81-C9C6-4113-9782-F21581EE4DF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1616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0753-E1FB-4CDF-A57A-6DDB90DB33CF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5E81-C9C6-4113-9782-F21581EE4DF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59890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0753-E1FB-4CDF-A57A-6DDB90DB33CF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5E81-C9C6-4113-9782-F21581EE4DF4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4248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0753-E1FB-4CDF-A57A-6DDB90DB33CF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5E81-C9C6-4113-9782-F21581EE4DF4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594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CE30753-E1FB-4CDF-A57A-6DDB90DB33CF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7AA5E81-C9C6-4113-9782-F21581EE4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51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geeksforgeeks.org/machine-learning/decision-tree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5A0CC-3CDB-6A24-DEA7-6E6D268F48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DAEDDC-4799-8FEC-3025-3F7B5FC13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6"/>
            <a:ext cx="6974116" cy="1866125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Shrikrishna Anand Narvekar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Assitant Professor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Engineering department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Agnel Institute of Technology and Design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564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F28B-00D9-A9EF-3B0D-C06DE941A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FDAB9-885E-5A0D-AEB5-CC6ED5D32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structure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decision tree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decision tree is constructed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shortcomings of decision tree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decision tree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ID3 Algorithm</a:t>
            </a:r>
          </a:p>
        </p:txBody>
      </p:sp>
    </p:spTree>
    <p:extLst>
      <p:ext uri="{BB962C8B-B14F-4D97-AF65-F5344CB8AC3E}">
        <p14:creationId xmlns:p14="http://schemas.microsoft.com/office/powerpoint/2010/main" val="796725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987C9-4618-73C5-A46A-909F1A820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3FBE7-8953-A467-C314-26328C8DD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is a type of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machine learning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data is continuously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according to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certain parameters.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explained by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entities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namely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nodes and leaves.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leaves are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or final outcomes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nodes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the nodes where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is split.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consist of three types of nodes: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 Node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 Node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node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1140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5F50C-7085-07B2-5F74-1D015A432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Structure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27F8E-32CE-F2CF-BF76-C3464ACA3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3267" y="2556932"/>
            <a:ext cx="3834883" cy="3318936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node is called ‘root’ node.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Branches from the root node are called as ‘leaf’ nodes.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‘A’ is root node. ‘B’ is branch node and ‘T’ and ‘F’ are leaf node.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439F061-5178-5FB7-945C-4697A439502D}"/>
              </a:ext>
            </a:extLst>
          </p:cNvPr>
          <p:cNvGrpSpPr/>
          <p:nvPr/>
        </p:nvGrpSpPr>
        <p:grpSpPr>
          <a:xfrm>
            <a:off x="911290" y="2678232"/>
            <a:ext cx="3600060" cy="2714518"/>
            <a:chOff x="827314" y="2472958"/>
            <a:chExt cx="3600060" cy="2714518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0CDBFD3-1B12-8D3B-7756-F40F2A522835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 flipH="1">
              <a:off x="1744824" y="2901821"/>
              <a:ext cx="863083" cy="67180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F24C1D3-9BE0-32D6-36A4-03623FA44B83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>
              <a:off x="2607906" y="2874175"/>
              <a:ext cx="1040363" cy="67180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59B26E8-F8B3-4A6A-D7B0-FE6DC7C4D454}"/>
                </a:ext>
              </a:extLst>
            </p:cNvPr>
            <p:cNvGrpSpPr/>
            <p:nvPr/>
          </p:nvGrpSpPr>
          <p:grpSpPr>
            <a:xfrm>
              <a:off x="827314" y="2472958"/>
              <a:ext cx="3600060" cy="2714518"/>
              <a:chOff x="827314" y="2463627"/>
              <a:chExt cx="3600060" cy="2714518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2A19F86-4199-8404-6387-002604A0253D}"/>
                  </a:ext>
                </a:extLst>
              </p:cNvPr>
              <p:cNvSpPr/>
              <p:nvPr/>
            </p:nvSpPr>
            <p:spPr>
              <a:xfrm>
                <a:off x="2341984" y="2463627"/>
                <a:ext cx="531845" cy="42886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478956F-4348-FB66-3487-52CD5A853081}"/>
                  </a:ext>
                </a:extLst>
              </p:cNvPr>
              <p:cNvSpPr/>
              <p:nvPr/>
            </p:nvSpPr>
            <p:spPr>
              <a:xfrm>
                <a:off x="1478901" y="3564294"/>
                <a:ext cx="531845" cy="42886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D309603-9C22-A0FB-675B-534DF71263FD}"/>
                  </a:ext>
                </a:extLst>
              </p:cNvPr>
              <p:cNvSpPr/>
              <p:nvPr/>
            </p:nvSpPr>
            <p:spPr>
              <a:xfrm>
                <a:off x="3382346" y="3536648"/>
                <a:ext cx="531845" cy="42886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E024197-CF04-8BCF-3961-F5BCB1D231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82351" y="3993157"/>
                <a:ext cx="604935" cy="75612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5E13886-F232-AB21-21C0-3E7BFAEA6BD0}"/>
                  </a:ext>
                </a:extLst>
              </p:cNvPr>
              <p:cNvSpPr/>
              <p:nvPr/>
            </p:nvSpPr>
            <p:spPr>
              <a:xfrm>
                <a:off x="827314" y="4749282"/>
                <a:ext cx="531845" cy="428863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1DC4924-9DF8-90AB-9AEC-DF8F9BDEA0BF}"/>
                  </a:ext>
                </a:extLst>
              </p:cNvPr>
              <p:cNvSpPr/>
              <p:nvPr/>
            </p:nvSpPr>
            <p:spPr>
              <a:xfrm>
                <a:off x="2010746" y="4749282"/>
                <a:ext cx="531845" cy="428863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FA279E4-46FB-CB6E-CC87-F34448220EC1}"/>
                  </a:ext>
                </a:extLst>
              </p:cNvPr>
              <p:cNvCxnSpPr>
                <a:cxnSpLocks/>
                <a:stCxn id="11" idx="2"/>
                <a:endCxn id="19" idx="0"/>
              </p:cNvCxnSpPr>
              <p:nvPr/>
            </p:nvCxnSpPr>
            <p:spPr>
              <a:xfrm>
                <a:off x="1744824" y="3993157"/>
                <a:ext cx="531845" cy="75612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2A5A0EA-34DC-8687-4061-4AA8139E4C1E}"/>
                  </a:ext>
                </a:extLst>
              </p:cNvPr>
              <p:cNvSpPr/>
              <p:nvPr/>
            </p:nvSpPr>
            <p:spPr>
              <a:xfrm>
                <a:off x="2808513" y="4739607"/>
                <a:ext cx="531845" cy="428863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3B478F81-4155-80BE-4FBB-D692401C3464}"/>
                  </a:ext>
                </a:extLst>
              </p:cNvPr>
              <p:cNvCxnSpPr>
                <a:cxnSpLocks/>
                <a:stCxn id="12" idx="2"/>
              </p:cNvCxnSpPr>
              <p:nvPr/>
            </p:nvCxnSpPr>
            <p:spPr>
              <a:xfrm flipH="1">
                <a:off x="3034001" y="3965511"/>
                <a:ext cx="614268" cy="78377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BA8D0DD-983B-A138-4034-40BF12F7583A}"/>
                  </a:ext>
                </a:extLst>
              </p:cNvPr>
              <p:cNvSpPr/>
              <p:nvPr/>
            </p:nvSpPr>
            <p:spPr>
              <a:xfrm>
                <a:off x="3895529" y="4749282"/>
                <a:ext cx="531845" cy="428863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5993D1FD-BEA6-AA25-A08C-15056B08819E}"/>
                  </a:ext>
                </a:extLst>
              </p:cNvPr>
              <p:cNvCxnSpPr>
                <a:cxnSpLocks/>
                <a:endCxn id="26" idx="0"/>
              </p:cNvCxnSpPr>
              <p:nvPr/>
            </p:nvCxnSpPr>
            <p:spPr>
              <a:xfrm>
                <a:off x="3687922" y="3979333"/>
                <a:ext cx="473530" cy="76994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9C94637-FDEC-88D4-038B-BE52AC64018A}"/>
                  </a:ext>
                </a:extLst>
              </p:cNvPr>
              <p:cNvSpPr txBox="1"/>
              <p:nvPr/>
            </p:nvSpPr>
            <p:spPr>
              <a:xfrm>
                <a:off x="1594920" y="3016080"/>
                <a:ext cx="4158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1F626CE-3451-5DD6-3FC7-41E805B9BBB0}"/>
                  </a:ext>
                </a:extLst>
              </p:cNvPr>
              <p:cNvSpPr txBox="1"/>
              <p:nvPr/>
            </p:nvSpPr>
            <p:spPr>
              <a:xfrm>
                <a:off x="1040997" y="4172730"/>
                <a:ext cx="4158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D4978A5-091B-9FF2-2571-F06FDEBBB81A}"/>
                  </a:ext>
                </a:extLst>
              </p:cNvPr>
              <p:cNvSpPr txBox="1"/>
              <p:nvPr/>
            </p:nvSpPr>
            <p:spPr>
              <a:xfrm>
                <a:off x="2933085" y="4179641"/>
                <a:ext cx="4158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E2B6A1A-14A6-C946-C6EE-DB0E0FC78862}"/>
                  </a:ext>
                </a:extLst>
              </p:cNvPr>
              <p:cNvSpPr txBox="1"/>
              <p:nvPr/>
            </p:nvSpPr>
            <p:spPr>
              <a:xfrm>
                <a:off x="3327774" y="2975739"/>
                <a:ext cx="4158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EB83F1E-58EE-5C1B-A0D7-3260789B62E4}"/>
                  </a:ext>
                </a:extLst>
              </p:cNvPr>
              <p:cNvSpPr txBox="1"/>
              <p:nvPr/>
            </p:nvSpPr>
            <p:spPr>
              <a:xfrm>
                <a:off x="3993192" y="4172730"/>
                <a:ext cx="4158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E658260-CA6B-FAF2-7260-7AF668386259}"/>
                  </a:ext>
                </a:extLst>
              </p:cNvPr>
              <p:cNvSpPr txBox="1"/>
              <p:nvPr/>
            </p:nvSpPr>
            <p:spPr>
              <a:xfrm>
                <a:off x="2068755" y="4179641"/>
                <a:ext cx="4158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327AAE9-3717-28EE-13ED-E959E7F8EE92}"/>
              </a:ext>
            </a:extLst>
          </p:cNvPr>
          <p:cNvSpPr txBox="1"/>
          <p:nvPr/>
        </p:nvSpPr>
        <p:spPr>
          <a:xfrm>
            <a:off x="4271631" y="2332143"/>
            <a:ext cx="347362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internal node(represented by boxes) test an attribute(represented as ‘A’/‘B’ within the boxes).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Branch corresponds to attribute value (T/F)in  this case.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node assigns a classification.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934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AB34D-F776-9670-4884-E20ED697C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decision  tree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97A42-190D-20EA-936A-A2670392D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9687" y="2556932"/>
            <a:ext cx="5895668" cy="3318936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example of decision tree can be explained using binary tree. 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Let’s say we want to predict whether person is fit or not given their information like age, eating habit and physical activity.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nodes here are  Age, Eats junk food?, Does he exercise?.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Leaves are outcomes like fit or unfit?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FF24128-081C-6F78-7A3E-91210BA07510}"/>
              </a:ext>
            </a:extLst>
          </p:cNvPr>
          <p:cNvGrpSpPr/>
          <p:nvPr/>
        </p:nvGrpSpPr>
        <p:grpSpPr>
          <a:xfrm>
            <a:off x="620486" y="2556932"/>
            <a:ext cx="4273419" cy="3480319"/>
            <a:chOff x="648478" y="2556932"/>
            <a:chExt cx="4273419" cy="348031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93700FF-5230-E296-F22F-76A1402DE5D2}"/>
                </a:ext>
              </a:extLst>
            </p:cNvPr>
            <p:cNvSpPr txBox="1"/>
            <p:nvPr/>
          </p:nvSpPr>
          <p:spPr>
            <a:xfrm>
              <a:off x="1328085" y="3133276"/>
              <a:ext cx="5581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Yes</a:t>
              </a:r>
              <a:endPara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54FA01F-2D9F-574C-9063-A151C129AB87}"/>
                </a:ext>
              </a:extLst>
            </p:cNvPr>
            <p:cNvSpPr txBox="1"/>
            <p:nvPr/>
          </p:nvSpPr>
          <p:spPr>
            <a:xfrm>
              <a:off x="3428279" y="3285676"/>
              <a:ext cx="4988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  <a:endPara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749FFD37-8F4F-37E8-3DB9-48167F155F12}"/>
                </a:ext>
              </a:extLst>
            </p:cNvPr>
            <p:cNvGrpSpPr/>
            <p:nvPr/>
          </p:nvGrpSpPr>
          <p:grpSpPr>
            <a:xfrm>
              <a:off x="648478" y="2556932"/>
              <a:ext cx="4273419" cy="3480319"/>
              <a:chOff x="648478" y="2472612"/>
              <a:chExt cx="4273419" cy="3480319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3727F0B-4E37-7333-CDB0-EE5315282940}"/>
                  </a:ext>
                </a:extLst>
              </p:cNvPr>
              <p:cNvSpPr/>
              <p:nvPr/>
            </p:nvSpPr>
            <p:spPr>
              <a:xfrm>
                <a:off x="1912775" y="2472612"/>
                <a:ext cx="1278294" cy="48519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Age&lt;30</a:t>
                </a: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482CDFA8-52CF-69C8-61BA-BBE88C2711E2}"/>
                  </a:ext>
                </a:extLst>
              </p:cNvPr>
              <p:cNvCxnSpPr>
                <a:stCxn id="4" idx="2"/>
              </p:cNvCxnSpPr>
              <p:nvPr/>
            </p:nvCxnSpPr>
            <p:spPr>
              <a:xfrm flipH="1">
                <a:off x="1548882" y="2957804"/>
                <a:ext cx="1003040" cy="74644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81E42E3-691E-FD8F-DE5C-29C9B8C07F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1922" y="2957804"/>
                <a:ext cx="1124339" cy="74644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E2CA0A4-B402-398A-3D09-5FA8D32F75DF}"/>
                  </a:ext>
                </a:extLst>
              </p:cNvPr>
              <p:cNvSpPr/>
              <p:nvPr/>
            </p:nvSpPr>
            <p:spPr>
              <a:xfrm>
                <a:off x="648478" y="3713584"/>
                <a:ext cx="1800808" cy="65210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Eat’s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lots of junk food</a:t>
                </a: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7ED2F68-3D9C-53BA-B542-EC7406D9F3A1}"/>
                  </a:ext>
                </a:extLst>
              </p:cNvPr>
              <p:cNvSpPr/>
              <p:nvPr/>
            </p:nvSpPr>
            <p:spPr>
              <a:xfrm>
                <a:off x="3114091" y="3723953"/>
                <a:ext cx="1800808" cy="65210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Exercise in the morning </a:t>
                </a: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1340599-783E-B0E3-0DFD-A9F98DED438A}"/>
                  </a:ext>
                </a:extLst>
              </p:cNvPr>
              <p:cNvSpPr/>
              <p:nvPr/>
            </p:nvSpPr>
            <p:spPr>
              <a:xfrm>
                <a:off x="648478" y="5449078"/>
                <a:ext cx="835089" cy="50385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Unfit </a:t>
                </a: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6A6717B-0B83-C875-6634-CEE502AF105A}"/>
                  </a:ext>
                </a:extLst>
              </p:cNvPr>
              <p:cNvSpPr/>
              <p:nvPr/>
            </p:nvSpPr>
            <p:spPr>
              <a:xfrm>
                <a:off x="1691174" y="5430415"/>
                <a:ext cx="835089" cy="50385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Fit </a:t>
                </a: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298A72A-7B14-17E2-D7C6-0759007E17A8}"/>
                  </a:ext>
                </a:extLst>
              </p:cNvPr>
              <p:cNvSpPr/>
              <p:nvPr/>
            </p:nvSpPr>
            <p:spPr>
              <a:xfrm>
                <a:off x="2888991" y="5411754"/>
                <a:ext cx="835089" cy="50385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Fit </a:t>
                </a: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4A89E91-60FA-BFF1-B98F-2F65BE0B6A8C}"/>
                  </a:ext>
                </a:extLst>
              </p:cNvPr>
              <p:cNvSpPr/>
              <p:nvPr/>
            </p:nvSpPr>
            <p:spPr>
              <a:xfrm>
                <a:off x="4086808" y="5430414"/>
                <a:ext cx="835089" cy="50385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Unfit </a:t>
                </a: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83F7ADA-C36D-7DEA-36B2-215817ABBD77}"/>
                  </a:ext>
                </a:extLst>
              </p:cNvPr>
              <p:cNvCxnSpPr>
                <a:cxnSpLocks/>
                <a:stCxn id="10" idx="2"/>
              </p:cNvCxnSpPr>
              <p:nvPr/>
            </p:nvCxnSpPr>
            <p:spPr>
              <a:xfrm flipH="1">
                <a:off x="909735" y="4365689"/>
                <a:ext cx="639147" cy="108338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73B249C-D903-82F3-A2DE-4C1FC50B3499}"/>
                  </a:ext>
                </a:extLst>
              </p:cNvPr>
              <p:cNvCxnSpPr>
                <a:cxnSpLocks/>
                <a:stCxn id="10" idx="2"/>
                <a:endCxn id="13" idx="0"/>
              </p:cNvCxnSpPr>
              <p:nvPr/>
            </p:nvCxnSpPr>
            <p:spPr>
              <a:xfrm>
                <a:off x="1548882" y="4365689"/>
                <a:ext cx="559837" cy="106472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9D1FBBE0-0708-B2D8-3A9A-C8850734AC4B}"/>
                  </a:ext>
                </a:extLst>
              </p:cNvPr>
              <p:cNvCxnSpPr>
                <a:cxnSpLocks/>
                <a:endCxn id="14" idx="0"/>
              </p:cNvCxnSpPr>
              <p:nvPr/>
            </p:nvCxnSpPr>
            <p:spPr>
              <a:xfrm flipH="1">
                <a:off x="3306536" y="4376058"/>
                <a:ext cx="637980" cy="103569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BA9730A-8B75-045E-C87A-1C0E5062FA69}"/>
                  </a:ext>
                </a:extLst>
              </p:cNvPr>
              <p:cNvCxnSpPr>
                <a:cxnSpLocks/>
                <a:endCxn id="15" idx="0"/>
              </p:cNvCxnSpPr>
              <p:nvPr/>
            </p:nvCxnSpPr>
            <p:spPr>
              <a:xfrm>
                <a:off x="3963178" y="4395758"/>
                <a:ext cx="541175" cy="103465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7C321E6-A86F-CBA9-A44A-A7992D8CB3E0}"/>
                  </a:ext>
                </a:extLst>
              </p:cNvPr>
              <p:cNvSpPr txBox="1"/>
              <p:nvPr/>
            </p:nvSpPr>
            <p:spPr>
              <a:xfrm>
                <a:off x="1922191" y="4713031"/>
                <a:ext cx="49885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</a:t>
                </a: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AF3AEE-56CB-F336-8336-788C117DC199}"/>
                  </a:ext>
                </a:extLst>
              </p:cNvPr>
              <p:cNvSpPr txBox="1"/>
              <p:nvPr/>
            </p:nvSpPr>
            <p:spPr>
              <a:xfrm>
                <a:off x="648478" y="4664336"/>
                <a:ext cx="5581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Yes</a:t>
                </a: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D7C1608-0FB7-17F0-91A9-8086B98763FE}"/>
                  </a:ext>
                </a:extLst>
              </p:cNvPr>
              <p:cNvSpPr txBox="1"/>
              <p:nvPr/>
            </p:nvSpPr>
            <p:spPr>
              <a:xfrm>
                <a:off x="4345147" y="4715654"/>
                <a:ext cx="49885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</a:t>
                </a: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FE885A7-AC09-4AEA-5C8E-0C8B1AD784B7}"/>
                  </a:ext>
                </a:extLst>
              </p:cNvPr>
              <p:cNvSpPr txBox="1"/>
              <p:nvPr/>
            </p:nvSpPr>
            <p:spPr>
              <a:xfrm>
                <a:off x="2953019" y="4693851"/>
                <a:ext cx="5581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Yes</a:t>
                </a: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9719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29F40-622E-C3D5-9256-5A7CC75E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decision tree is constructed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FEAE5-9BA2-9F54-D8C3-604B0A10C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set of records available for developing classification methods is divided into two disjoint subset a training set and a test set. Attributes of the records are categorized into two types: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 whose domain is numerical are called 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numerical attributes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 whose domain is not numerical are called 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categorical attributes.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constructed based on 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and top down strategy.</a:t>
            </a:r>
          </a:p>
          <a:p>
            <a:pPr marL="0" indent="0">
              <a:buNone/>
            </a:pPr>
            <a:endParaRPr lang="en-IN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03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FDBF3-760D-D357-A05B-5B491DBB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example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2587E-9A44-4622-D853-9ED1FBCB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789366" cy="384386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has five attributes.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special attribute: the attribute class is the class label.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attributes,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temp(temperature)and humidity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numerical attributes.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 are categorical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i.e. they cannot be ordered 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training data we want to find set of rules to know whether values of outlook, temperature and humidity and wind determine whether or not to play golf?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335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A7590-EF34-05F3-79A4-8890705F1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6" y="543045"/>
            <a:ext cx="9601196" cy="130386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164690-29F3-47B4-C945-4EA5261CC9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014004"/>
              </p:ext>
            </p:extLst>
          </p:nvPr>
        </p:nvGraphicFramePr>
        <p:xfrm>
          <a:off x="693175" y="1728030"/>
          <a:ext cx="5719666" cy="44645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2756336593"/>
                    </a:ext>
                  </a:extLst>
                </a:gridCol>
                <a:gridCol w="1129004">
                  <a:extLst>
                    <a:ext uri="{9D8B030D-6E8A-4147-A177-3AD203B41FA5}">
                      <a16:colId xmlns:a16="http://schemas.microsoft.com/office/drawing/2014/main" val="1495577819"/>
                    </a:ext>
                  </a:extLst>
                </a:gridCol>
                <a:gridCol w="1212980">
                  <a:extLst>
                    <a:ext uri="{9D8B030D-6E8A-4147-A177-3AD203B41FA5}">
                      <a16:colId xmlns:a16="http://schemas.microsoft.com/office/drawing/2014/main" val="1305087181"/>
                    </a:ext>
                  </a:extLst>
                </a:gridCol>
                <a:gridCol w="1184988">
                  <a:extLst>
                    <a:ext uri="{9D8B030D-6E8A-4147-A177-3AD203B41FA5}">
                      <a16:colId xmlns:a16="http://schemas.microsoft.com/office/drawing/2014/main" val="1163707523"/>
                    </a:ext>
                  </a:extLst>
                </a:gridCol>
                <a:gridCol w="1017037">
                  <a:extLst>
                    <a:ext uri="{9D8B030D-6E8A-4147-A177-3AD203B41FA5}">
                      <a16:colId xmlns:a16="http://schemas.microsoft.com/office/drawing/2014/main" val="3099468033"/>
                    </a:ext>
                  </a:extLst>
                </a:gridCol>
              </a:tblGrid>
              <a:tr h="61028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Outlook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Temp(F)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Humidity(%)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605449"/>
                  </a:ext>
                </a:extLst>
              </a:tr>
              <a:tr h="34798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455331"/>
                  </a:ext>
                </a:extLst>
              </a:tr>
              <a:tr h="34798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067264"/>
                  </a:ext>
                </a:extLst>
              </a:tr>
              <a:tr h="34798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904240"/>
                  </a:ext>
                </a:extLst>
              </a:tr>
              <a:tr h="34798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play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661133"/>
                  </a:ext>
                </a:extLst>
              </a:tr>
              <a:tr h="34798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play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5921149"/>
                  </a:ext>
                </a:extLst>
              </a:tr>
              <a:tr h="34798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9656085"/>
                  </a:ext>
                </a:extLst>
              </a:tr>
              <a:tr h="34798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291370"/>
                  </a:ext>
                </a:extLst>
              </a:tr>
              <a:tr h="34798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714438"/>
                  </a:ext>
                </a:extLst>
              </a:tr>
              <a:tr h="34798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play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0673538"/>
                  </a:ext>
                </a:extLst>
              </a:tr>
              <a:tr h="532611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play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883538"/>
                  </a:ext>
                </a:extLst>
              </a:tr>
            </a:tbl>
          </a:graphicData>
        </a:graphic>
      </p:graphicFrame>
      <p:grpSp>
        <p:nvGrpSpPr>
          <p:cNvPr id="58" name="Group 57">
            <a:extLst>
              <a:ext uri="{FF2B5EF4-FFF2-40B4-BE49-F238E27FC236}">
                <a16:creationId xmlns:a16="http://schemas.microsoft.com/office/drawing/2014/main" id="{19B5ED7C-7B71-3D74-B805-16FE4D7676E7}"/>
              </a:ext>
            </a:extLst>
          </p:cNvPr>
          <p:cNvGrpSpPr/>
          <p:nvPr/>
        </p:nvGrpSpPr>
        <p:grpSpPr>
          <a:xfrm>
            <a:off x="6412841" y="1846912"/>
            <a:ext cx="5426734" cy="2936726"/>
            <a:chOff x="6298301" y="1629396"/>
            <a:chExt cx="5415236" cy="2936726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6DF5E8A-C627-7F03-049A-3FE839E91D11}"/>
                </a:ext>
              </a:extLst>
            </p:cNvPr>
            <p:cNvSpPr txBox="1"/>
            <p:nvPr/>
          </p:nvSpPr>
          <p:spPr>
            <a:xfrm>
              <a:off x="6298301" y="3429000"/>
              <a:ext cx="858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&lt;=75</a:t>
              </a:r>
              <a:endPara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D756A8B3-6111-C9C1-73C2-9A3456975E79}"/>
                </a:ext>
              </a:extLst>
            </p:cNvPr>
            <p:cNvGrpSpPr/>
            <p:nvPr/>
          </p:nvGrpSpPr>
          <p:grpSpPr>
            <a:xfrm>
              <a:off x="6298301" y="1629396"/>
              <a:ext cx="5415236" cy="2936726"/>
              <a:chOff x="6207573" y="1485979"/>
              <a:chExt cx="5415236" cy="2936726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8B3312E7-9CCD-870C-2CC1-8FA32A473680}"/>
                  </a:ext>
                </a:extLst>
              </p:cNvPr>
              <p:cNvCxnSpPr>
                <a:cxnSpLocks/>
                <a:endCxn id="32" idx="0"/>
              </p:cNvCxnSpPr>
              <p:nvPr/>
            </p:nvCxnSpPr>
            <p:spPr>
              <a:xfrm flipH="1">
                <a:off x="6650775" y="3160819"/>
                <a:ext cx="478580" cy="81401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168CE9D-738B-1807-92FD-6DF31419797D}"/>
                  </a:ext>
                </a:extLst>
              </p:cNvPr>
              <p:cNvSpPr/>
              <p:nvPr/>
            </p:nvSpPr>
            <p:spPr>
              <a:xfrm>
                <a:off x="10532705" y="3974836"/>
                <a:ext cx="886404" cy="44786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Play</a:t>
                </a: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36BD4DC-1548-CADD-D6EC-F761780AB371}"/>
                  </a:ext>
                </a:extLst>
              </p:cNvPr>
              <p:cNvSpPr txBox="1"/>
              <p:nvPr/>
            </p:nvSpPr>
            <p:spPr>
              <a:xfrm>
                <a:off x="6977887" y="2344392"/>
                <a:ext cx="8835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Sunny</a:t>
                </a: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DC05A9B-0C45-36B2-931A-5AD81D42D071}"/>
                  </a:ext>
                </a:extLst>
              </p:cNvPr>
              <p:cNvGrpSpPr/>
              <p:nvPr/>
            </p:nvGrpSpPr>
            <p:grpSpPr>
              <a:xfrm>
                <a:off x="6207573" y="1485979"/>
                <a:ext cx="4768334" cy="2936726"/>
                <a:chOff x="6473500" y="1537300"/>
                <a:chExt cx="4768334" cy="2936726"/>
              </a:xfrm>
            </p:grpSpPr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0FFA167A-1A37-8914-0189-B1DB257CB2FE}"/>
                    </a:ext>
                  </a:extLst>
                </p:cNvPr>
                <p:cNvSpPr/>
                <p:nvPr/>
              </p:nvSpPr>
              <p:spPr>
                <a:xfrm>
                  <a:off x="8509517" y="1537300"/>
                  <a:ext cx="1138335" cy="513183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Outlook</a:t>
                  </a:r>
                  <a:endPara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729CA9FB-0293-26A9-3376-060677229556}"/>
                    </a:ext>
                  </a:extLst>
                </p:cNvPr>
                <p:cNvCxnSpPr>
                  <a:cxnSpLocks/>
                  <a:stCxn id="6" idx="2"/>
                </p:cNvCxnSpPr>
                <p:nvPr/>
              </p:nvCxnSpPr>
              <p:spPr>
                <a:xfrm flipH="1">
                  <a:off x="7660433" y="2050483"/>
                  <a:ext cx="1418252" cy="720709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D4D6589C-0B09-E843-E1E3-4C744BF201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88792" y="2055844"/>
                  <a:ext cx="1594759" cy="71534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1FD52DF7-642C-71C4-1582-D6853482DF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88792" y="2050483"/>
                  <a:ext cx="0" cy="720709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D0F38FA-07C1-B1D7-F399-EDCE6CFB013A}"/>
                    </a:ext>
                  </a:extLst>
                </p:cNvPr>
                <p:cNvSpPr/>
                <p:nvPr/>
              </p:nvSpPr>
              <p:spPr>
                <a:xfrm>
                  <a:off x="6711038" y="2771192"/>
                  <a:ext cx="1258077" cy="447869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Humidity</a:t>
                  </a:r>
                  <a:endPara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993455AF-CAE5-30CE-37F1-32A4CFB2CD84}"/>
                    </a:ext>
                  </a:extLst>
                </p:cNvPr>
                <p:cNvSpPr/>
                <p:nvPr/>
              </p:nvSpPr>
              <p:spPr>
                <a:xfrm>
                  <a:off x="8635482" y="2764271"/>
                  <a:ext cx="886404" cy="447869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Play</a:t>
                  </a:r>
                  <a:endPara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BAE184B2-5233-36C9-3B23-285BE947E958}"/>
                    </a:ext>
                  </a:extLst>
                </p:cNvPr>
                <p:cNvSpPr/>
                <p:nvPr/>
              </p:nvSpPr>
              <p:spPr>
                <a:xfrm>
                  <a:off x="9983757" y="2764271"/>
                  <a:ext cx="1258077" cy="447869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Windy</a:t>
                  </a:r>
                  <a:endPara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45F42B79-7978-1261-0D1C-D1CF4A6CC6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88393" y="3219061"/>
                  <a:ext cx="627677" cy="760984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BC019FF6-7390-4C65-CE2E-501AD44E7245}"/>
                    </a:ext>
                  </a:extLst>
                </p:cNvPr>
                <p:cNvCxnSpPr>
                  <a:cxnSpLocks/>
                  <a:endCxn id="35" idx="0"/>
                </p:cNvCxnSpPr>
                <p:nvPr/>
              </p:nvCxnSpPr>
              <p:spPr>
                <a:xfrm flipH="1">
                  <a:off x="9704611" y="3211537"/>
                  <a:ext cx="645369" cy="76850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2CE8612E-D1EF-E438-2142-9B58153298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704398" y="3222620"/>
                  <a:ext cx="512873" cy="80353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57B2D661-84B4-89F9-DD47-CD12118B2DC5}"/>
                    </a:ext>
                  </a:extLst>
                </p:cNvPr>
                <p:cNvSpPr/>
                <p:nvPr/>
              </p:nvSpPr>
              <p:spPr>
                <a:xfrm>
                  <a:off x="6473500" y="4026157"/>
                  <a:ext cx="886404" cy="447869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Play</a:t>
                  </a:r>
                  <a:endPara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AFF540F5-44ED-3CC4-2919-E5EC2842D0FB}"/>
                    </a:ext>
                  </a:extLst>
                </p:cNvPr>
                <p:cNvSpPr/>
                <p:nvPr/>
              </p:nvSpPr>
              <p:spPr>
                <a:xfrm>
                  <a:off x="9149826" y="3980045"/>
                  <a:ext cx="1109569" cy="447869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No Play</a:t>
                  </a:r>
                  <a:endPara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EA401CF4-F5B9-F36E-89CA-0121CD184125}"/>
                    </a:ext>
                  </a:extLst>
                </p:cNvPr>
                <p:cNvSpPr/>
                <p:nvPr/>
              </p:nvSpPr>
              <p:spPr>
                <a:xfrm>
                  <a:off x="7608714" y="3997455"/>
                  <a:ext cx="1109569" cy="447869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No Play</a:t>
                  </a:r>
                  <a:endPara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7788ADC-EDE5-A4A4-FBBA-15343CA71678}"/>
                    </a:ext>
                  </a:extLst>
                </p:cNvPr>
                <p:cNvSpPr txBox="1"/>
                <p:nvPr/>
              </p:nvSpPr>
              <p:spPr>
                <a:xfrm>
                  <a:off x="8011191" y="2418745"/>
                  <a:ext cx="116108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Overcast</a:t>
                  </a:r>
                  <a:endPara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A9B04F2-94DD-66C2-A11F-40D97B558B39}"/>
                    </a:ext>
                  </a:extLst>
                </p:cNvPr>
                <p:cNvSpPr txBox="1"/>
                <p:nvPr/>
              </p:nvSpPr>
              <p:spPr>
                <a:xfrm>
                  <a:off x="9801605" y="2103000"/>
                  <a:ext cx="71205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Rain</a:t>
                  </a:r>
                  <a:endPara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48DAC97-D8DF-18DD-A4FB-94B82AEFAB26}"/>
                    </a:ext>
                  </a:extLst>
                </p:cNvPr>
                <p:cNvSpPr txBox="1"/>
                <p:nvPr/>
              </p:nvSpPr>
              <p:spPr>
                <a:xfrm>
                  <a:off x="7962017" y="3487820"/>
                  <a:ext cx="85861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&gt;75</a:t>
                  </a:r>
                  <a:endPara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DFEEF4D-8203-FE12-C02E-E7DD477E051E}"/>
                    </a:ext>
                  </a:extLst>
                </p:cNvPr>
                <p:cNvSpPr txBox="1"/>
                <p:nvPr/>
              </p:nvSpPr>
              <p:spPr>
                <a:xfrm>
                  <a:off x="9294253" y="3339042"/>
                  <a:ext cx="81107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true</a:t>
                  </a:r>
                  <a:endPara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5201E48-8D3D-091D-63DA-6A3DD93FD1CD}"/>
                  </a:ext>
                </a:extLst>
              </p:cNvPr>
              <p:cNvSpPr txBox="1"/>
              <p:nvPr/>
            </p:nvSpPr>
            <p:spPr>
              <a:xfrm>
                <a:off x="10811733" y="3287765"/>
                <a:ext cx="8110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false</a:t>
                </a: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92650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64183-CB5D-BA2A-7D2A-542CEE26D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1D5A2-DCE4-A841-6FBE-47BD4F42E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have five leaf nodes 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decision tree each leaf node represents a rule.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have following rules corresponding to the tree given in the figure.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1: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it is sunny and humidity is not above 75%, then play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2: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it is sunny and humidity is above 75%, then do not  play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3: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it is overcast then Play.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4: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it is rainy and not windy, then Play.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5: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it is rainy and windy, then do not Play.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0223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248D1-C4DE-24DE-9B0A-ACF0F9ECD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66C5B-781D-8187-41CD-BF7EA2A49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966648" cy="3815876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unknown input vector is done by traversing the tree from the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 node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the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node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enters the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the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 node.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 test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applied to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determine which child node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record will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encounter next.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process is repeated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until record arrives at the leaf node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the record that end up at given leaf of the tree are classified in the same way.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 is unique path from root to each leaf . Path is the rule used to classify the record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75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F0B6D-45D9-3942-18F9-602B9A761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706" y="793102"/>
            <a:ext cx="9888891" cy="5082766"/>
          </a:xfrm>
        </p:spPr>
        <p:txBody>
          <a:bodyPr>
            <a:normAutofit lnSpcReduction="10000"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out tree we can carry out the classification of the unknown record as follows: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us assume that for a record we know value of first four attribute (but we don’t know the value of class attribute).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Outlook =rain; temp=70; humidity=65; and windy=True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start from the root node to check the value of attribute associated with the root node.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attribute is the splitting attribute at this node.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 decision tree, at every node there is an attribute associated with the node called the splitting attribute.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Our example outlook is the splitting attribute at the root.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Since for the given records, outlook= rain, we move to the right most child of the root.</a:t>
            </a:r>
          </a:p>
          <a:p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944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438382-FA3D-A810-832C-0192CA9E11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12980" y="690465"/>
                <a:ext cx="10114383" cy="5185403"/>
              </a:xfrm>
            </p:spPr>
            <p:txBody>
              <a:bodyPr>
                <a:normAutofit/>
              </a:bodyPr>
              <a:lstStyle/>
              <a:p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this node splitting attribute is windy and we find that for the record we want to classify wind= true.</a:t>
                </a:r>
              </a:p>
              <a:p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 , we move to the left child node to conclude that the class label is “no play”.</a:t>
                </a:r>
              </a:p>
              <a:p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accuracy of the classifier is determined by percentage of test data that is correctly classified.</a:t>
                </a:r>
              </a:p>
              <a:p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 see that for RULE 1 there are two records of the test data set satisfying outlook= sunny and humidity &lt;75, and only one of these is correctly classified as play.</a:t>
                </a:r>
              </a:p>
              <a:p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Thus, the accuracy of the rule is 0.5(50%). Similarly, the accuracy of RULE 2 is also 0.5(50%). Accuracy of RULE 3 is 0.66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* 100=0.66      </a:t>
                </a:r>
                <a:endParaRPr lang="en-IN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438382-FA3D-A810-832C-0192CA9E11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12980" y="690465"/>
                <a:ext cx="10114383" cy="5185403"/>
              </a:xfrm>
              <a:blipFill>
                <a:blip r:embed="rId2"/>
                <a:stretch>
                  <a:fillRect l="-904" t="-1293" r="-10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894C635-BCCF-395F-31BF-86D694F94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461" y="5115618"/>
            <a:ext cx="5848350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451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4D013-CA66-5660-0A86-8712E5090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shortcomings of Decision Tree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E9438-4DD1-39CC-919C-12749E77F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887" y="2556932"/>
            <a:ext cx="6514321" cy="3318936"/>
          </a:xfrm>
        </p:spPr>
        <p:txBody>
          <a:bodyPr>
            <a:no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decision Tree construction process is concerned with identifying splitting attributes and splitting criterion at every level of tree.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strength are: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are able to generate understandable rule.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Able to handle both numerical and categorical data.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provide clear indication of which field are most important for predication and classification.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935779-E083-1B1B-EE2A-63D86E0DFBBA}"/>
              </a:ext>
            </a:extLst>
          </p:cNvPr>
          <p:cNvSpPr txBox="1"/>
          <p:nvPr/>
        </p:nvSpPr>
        <p:spPr>
          <a:xfrm>
            <a:off x="7091265" y="2621901"/>
            <a:ext cx="449735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 are: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growing a tree is computationally expensive. At each node each candidate splitting is examined before its best split can be found.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decision tree can only be deal with binary- value target classes.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576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50AA-16A0-6540-5470-51897C36A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decision Trees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35592-E67B-8D16-2BF7-F6063C27A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main types of decision trees: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trees(Yes/No: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we have discussed is an example of classification tree where outcome variable are categorical type.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 Trees(Continuous Trees):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Here, the decision or outcome variable is continuous.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Let’s see how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internally. Before we  start with algorithm lets understand few definitions</a:t>
            </a:r>
          </a:p>
          <a:p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6996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D436E-1F07-12E9-A62C-31E3958E3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Entropy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6DBD49-11AD-04BE-AE6C-2616A8671B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556932"/>
                <a:ext cx="10003970" cy="3843868"/>
              </a:xfrm>
            </p:spPr>
            <p:txBody>
              <a:bodyPr>
                <a:normAutofit/>
              </a:bodyPr>
              <a:lstStyle/>
              <a:p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want to construct decision tree based on some attribute.</a:t>
                </a:r>
              </a:p>
              <a:p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Let’s say we have features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2,</m:t>
                        </m:r>
                      </m:sub>
                    </m:sSub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independent variables</a:t>
                </a: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and based on those features I have output feature(</a:t>
                </a:r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dependent variables). Type of o/p is binary (Yes/No)</a:t>
                </a:r>
              </a:p>
              <a:p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While constructing a decision tree there is an algorithm known as ID3 algorithm.</a:t>
                </a:r>
              </a:p>
              <a:p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ID3 algorithm says that first step is to select right attribute for the splitting of the decision tree.</a:t>
                </a:r>
              </a:p>
              <a:p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Which is the first feature I should consider as node? In order to consider which, feature we should choose for splitting we will use Entropy technique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6DBD49-11AD-04BE-AE6C-2616A8671B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556932"/>
                <a:ext cx="10003970" cy="3843868"/>
              </a:xfrm>
              <a:blipFill>
                <a:blip r:embed="rId2"/>
                <a:stretch>
                  <a:fillRect l="-914" t="-1743" r="-6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556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B9A8CE-1868-7A1D-5A83-D757507D07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94184" y="774786"/>
                <a:ext cx="10694436" cy="5504716"/>
              </a:xfrm>
            </p:spPr>
            <p:txBody>
              <a:bodyPr/>
              <a:lstStyle/>
              <a:p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Entropy </a:t>
                </a: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measures the </a:t>
                </a:r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purity of split.</a:t>
                </a:r>
              </a:p>
              <a:p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</a:t>
                </a: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</a:t>
                </a:r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 a pure sub split</a:t>
                </a: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In Pure sub split either you </a:t>
                </a:r>
              </a:p>
              <a:p>
                <a:pPr marL="0" indent="0"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Should get Yes or No.</a:t>
                </a:r>
              </a:p>
              <a:p>
                <a:endParaRPr lang="en-US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Leaf node always gives the output as yes . Our objective is to get leaf node quickly for which we should select features properly.</a:t>
                </a:r>
                <a:endPara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Entropy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also called as </a:t>
                </a:r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Shannon entropy</a:t>
                </a:r>
                <a:r>
                  <a:rPr lang="en-US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denoted by H(s). For a finite set s it is measure of  the amount of uncertainty or randomness of the data</a:t>
                </a:r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b="1" dirty="0"/>
                  <a:t>H(s)=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𝟄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  <m:sup/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nary>
                  </m:oMath>
                </a14:m>
                <a:r>
                  <a:rPr lang="en-IN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𝑳𝒐𝒈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IN" b="1" dirty="0"/>
                  <a:t>P(x)</a:t>
                </a:r>
              </a:p>
              <a:p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tells us about predictability of certain events.</a:t>
                </a:r>
              </a:p>
              <a:p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B9A8CE-1868-7A1D-5A83-D757507D07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4184" y="774786"/>
                <a:ext cx="10694436" cy="5504716"/>
              </a:xfrm>
              <a:blipFill>
                <a:blip r:embed="rId3"/>
                <a:stretch>
                  <a:fillRect l="-1026" t="-13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443E6518-C48E-056C-CCD4-6B6C59A0CF27}"/>
                  </a:ext>
                </a:extLst>
              </p:cNvPr>
              <p:cNvSpPr/>
              <p:nvPr/>
            </p:nvSpPr>
            <p:spPr>
              <a:xfrm>
                <a:off x="10319656" y="652622"/>
                <a:ext cx="466531" cy="4572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443E6518-C48E-056C-CCD4-6B6C59A0CF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9656" y="652622"/>
                <a:ext cx="466531" cy="4572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A282E89-4809-85EA-7123-347BEF65AEF6}"/>
                  </a:ext>
                </a:extLst>
              </p:cNvPr>
              <p:cNvSpPr/>
              <p:nvPr/>
            </p:nvSpPr>
            <p:spPr>
              <a:xfrm>
                <a:off x="9778480" y="1435527"/>
                <a:ext cx="466531" cy="4572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A282E89-4809-85EA-7123-347BEF65AE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8480" y="1435527"/>
                <a:ext cx="466531" cy="4572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D7B5D43-4D00-B65D-C752-7EBD6A1C44E9}"/>
                  </a:ext>
                </a:extLst>
              </p:cNvPr>
              <p:cNvSpPr/>
              <p:nvPr/>
            </p:nvSpPr>
            <p:spPr>
              <a:xfrm>
                <a:off x="10860831" y="1475008"/>
                <a:ext cx="466531" cy="4572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D7B5D43-4D00-B65D-C752-7EBD6A1C44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0831" y="1475008"/>
                <a:ext cx="466531" cy="4572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4250DC-707A-9C67-10C5-85CC650B6668}"/>
              </a:ext>
            </a:extLst>
          </p:cNvPr>
          <p:cNvCxnSpPr>
            <a:stCxn id="4" idx="3"/>
            <a:endCxn id="5" idx="0"/>
          </p:cNvCxnSpPr>
          <p:nvPr/>
        </p:nvCxnSpPr>
        <p:spPr>
          <a:xfrm flipH="1">
            <a:off x="10011746" y="1042867"/>
            <a:ext cx="376232" cy="3926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7625D6-285F-9178-524B-A8F22F9F57EC}"/>
              </a:ext>
            </a:extLst>
          </p:cNvPr>
          <p:cNvCxnSpPr>
            <a:cxnSpLocks/>
            <a:stCxn id="4" idx="5"/>
            <a:endCxn id="6" idx="0"/>
          </p:cNvCxnSpPr>
          <p:nvPr/>
        </p:nvCxnSpPr>
        <p:spPr>
          <a:xfrm>
            <a:off x="10717865" y="1042867"/>
            <a:ext cx="376232" cy="43214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2E357050-473B-AA36-3E49-467957DE8F05}"/>
              </a:ext>
            </a:extLst>
          </p:cNvPr>
          <p:cNvSpPr/>
          <p:nvPr/>
        </p:nvSpPr>
        <p:spPr>
          <a:xfrm>
            <a:off x="9311949" y="2096268"/>
            <a:ext cx="391888" cy="37634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ABE55CD-0E38-207B-981B-9367F0620A8D}"/>
              </a:ext>
            </a:extLst>
          </p:cNvPr>
          <p:cNvSpPr/>
          <p:nvPr/>
        </p:nvSpPr>
        <p:spPr>
          <a:xfrm>
            <a:off x="10070735" y="2133590"/>
            <a:ext cx="391888" cy="37634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FF096A3-7C5C-9208-A7A0-116CAEBAE307}"/>
              </a:ext>
            </a:extLst>
          </p:cNvPr>
          <p:cNvSpPr/>
          <p:nvPr/>
        </p:nvSpPr>
        <p:spPr>
          <a:xfrm>
            <a:off x="10562250" y="2133590"/>
            <a:ext cx="391888" cy="37634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AA6939C-7E9D-3B21-581A-313B7A7BC81B}"/>
              </a:ext>
            </a:extLst>
          </p:cNvPr>
          <p:cNvSpPr/>
          <p:nvPr/>
        </p:nvSpPr>
        <p:spPr>
          <a:xfrm>
            <a:off x="11296311" y="2133590"/>
            <a:ext cx="391888" cy="37634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A0BD267-B2A7-818C-D452-96EAE0077706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9507893" y="1760362"/>
            <a:ext cx="292255" cy="3359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42EFF1-1AB6-161E-3BA1-DD5AE2C87B4D}"/>
              </a:ext>
            </a:extLst>
          </p:cNvPr>
          <p:cNvCxnSpPr>
            <a:cxnSpLocks/>
            <a:stCxn id="5" idx="5"/>
            <a:endCxn id="16" idx="0"/>
          </p:cNvCxnSpPr>
          <p:nvPr/>
        </p:nvCxnSpPr>
        <p:spPr>
          <a:xfrm>
            <a:off x="10176689" y="1825772"/>
            <a:ext cx="89990" cy="3078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F27659C-5904-10C5-44C3-2F351961413D}"/>
              </a:ext>
            </a:extLst>
          </p:cNvPr>
          <p:cNvCxnSpPr>
            <a:cxnSpLocks/>
            <a:endCxn id="17" idx="1"/>
          </p:cNvCxnSpPr>
          <p:nvPr/>
        </p:nvCxnSpPr>
        <p:spPr>
          <a:xfrm flipH="1">
            <a:off x="10619641" y="1864946"/>
            <a:ext cx="318839" cy="32375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29E5827-8CE0-2B3C-B66C-474484B76FC3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11330369" y="1831113"/>
            <a:ext cx="161886" cy="3024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43F1DA7-1336-7038-B161-0E58D7A593D3}"/>
              </a:ext>
            </a:extLst>
          </p:cNvPr>
          <p:cNvSpPr txBox="1"/>
          <p:nvPr/>
        </p:nvSpPr>
        <p:spPr>
          <a:xfrm>
            <a:off x="9136085" y="578498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yes, 5 No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05D7F8-726F-F9EB-8296-5A9F248EB356}"/>
              </a:ext>
            </a:extLst>
          </p:cNvPr>
          <p:cNvSpPr txBox="1"/>
          <p:nvPr/>
        </p:nvSpPr>
        <p:spPr>
          <a:xfrm>
            <a:off x="8687508" y="1258937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yes, 2 No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80A8B4-0DB9-2267-2E61-0FD1F9ACE7C2}"/>
              </a:ext>
            </a:extLst>
          </p:cNvPr>
          <p:cNvSpPr txBox="1"/>
          <p:nvPr/>
        </p:nvSpPr>
        <p:spPr>
          <a:xfrm>
            <a:off x="10333013" y="1156684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yes, 3 No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C0C83D-FB8E-7C0E-8A8A-FBC8347C8FCC}"/>
              </a:ext>
            </a:extLst>
          </p:cNvPr>
          <p:cNvSpPr txBox="1"/>
          <p:nvPr/>
        </p:nvSpPr>
        <p:spPr>
          <a:xfrm>
            <a:off x="1067664" y="1230638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yes, 2 No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945977-F503-C546-F49E-1F05940C4976}"/>
              </a:ext>
            </a:extLst>
          </p:cNvPr>
          <p:cNvSpPr txBox="1"/>
          <p:nvPr/>
        </p:nvSpPr>
        <p:spPr>
          <a:xfrm>
            <a:off x="8687508" y="2485449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yes, 0 No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729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81F61-FE90-1640-A0D6-547B0F882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Gain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2BDEE8-5CC2-1300-D4C7-602B863199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4901" y="2404532"/>
                <a:ext cx="10010774" cy="376766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 Gain (IG) is a measure used in</a:t>
                </a:r>
                <a:r>
                  <a:rPr lang="en-US" sz="2200" u="sng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 </a:t>
                </a:r>
                <a:r>
                  <a:rPr lang="en-US" sz="2200" b="1" u="sng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decision trees </a:t>
                </a: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quantify the effectiveness of a feature in splitting the dataset into classes. It calculates the reduction in entropy (uncertainty) of the target variable (class labels) when a particular feature is known.</a:t>
                </a:r>
              </a:p>
              <a:p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 Gain helps us understand how much a particular feature contributes to making accurate predictions in a decision tree. </a:t>
                </a:r>
              </a:p>
              <a:p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IG(S,A)=H(s)-H(S,A)    where IG(S,A)</a:t>
                </a: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information gain after applying feature A. </a:t>
                </a:r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H(S) is the entropy of entire set </a:t>
                </a: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whereas Second term calculates entropy after Applying feature S.</a:t>
                </a:r>
              </a:p>
              <a:p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IG(S,A)=H(s)-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p>
                      <m:e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sz="2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𝑯</m:t>
                        </m:r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IN" sz="2000" b="1" dirty="0"/>
              </a:p>
              <a:p>
                <a:endParaRPr lang="en-IN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2BDEE8-5CC2-1300-D4C7-602B863199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4901" y="2404532"/>
                <a:ext cx="10010774" cy="3767668"/>
              </a:xfrm>
              <a:blipFill>
                <a:blip r:embed="rId3"/>
                <a:stretch>
                  <a:fillRect l="-914" t="-2585" r="-244" b="-155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3478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A0F61-518C-34F2-E60C-3917561F3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ID3 Algorithm Steps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889CD-0A1F-56B4-EA27-D4FD6759A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Compute the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Entropy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Entropy(S).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For every  attribute/Feature: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Entropy for all other values Entropy(A).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 Average information Entropy for current attribute.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gain for current attribute.</a:t>
            </a:r>
          </a:p>
          <a:p>
            <a:pPr marL="0" indent="0">
              <a:buNone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Pick the highest gain attribute.</a:t>
            </a:r>
          </a:p>
          <a:p>
            <a:pPr marL="0" indent="0">
              <a:buNone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Repeat until we get the tree we desire.</a:t>
            </a:r>
          </a:p>
        </p:txBody>
      </p:sp>
    </p:spTree>
    <p:extLst>
      <p:ext uri="{BB962C8B-B14F-4D97-AF65-F5344CB8AC3E}">
        <p14:creationId xmlns:p14="http://schemas.microsoft.com/office/powerpoint/2010/main" val="2256579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03EC-76B2-36D1-1390-FBF76721F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pruning the decision tree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AFECD-2165-9289-4D3D-EDBAAE903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Prevention of overfitting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Generalization: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in Model complexity: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Decision-Making: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Robustness to Noise: </a:t>
            </a:r>
          </a:p>
        </p:txBody>
      </p:sp>
    </p:spTree>
    <p:extLst>
      <p:ext uri="{BB962C8B-B14F-4D97-AF65-F5344CB8AC3E}">
        <p14:creationId xmlns:p14="http://schemas.microsoft.com/office/powerpoint/2010/main" val="1528400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7A8D1-F85A-1436-6340-44BE30373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Approaches to tree pruning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23549-4568-CF48-7223-FE9D1A172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152" y="2490257"/>
            <a:ext cx="6410323" cy="3539068"/>
          </a:xfrm>
        </p:spPr>
        <p:txBody>
          <a:bodyPr>
            <a:normAutofit lnSpcReduction="10000"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Pre-pruning(Early stopping)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halts the tree growth before it becomes overly complex.</a:t>
            </a:r>
          </a:p>
          <a:p>
            <a:pPr lvl="1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Stopping Criteria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2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number of instances per node.</a:t>
            </a:r>
          </a:p>
          <a:p>
            <a:pPr lvl="2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tree depth.</a:t>
            </a:r>
          </a:p>
          <a:p>
            <a:pPr lvl="2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improvement in split criterion (e.g., information gain, Gini index).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EF0B2F-7273-62D1-B943-4220D0334700}"/>
              </a:ext>
            </a:extLst>
          </p:cNvPr>
          <p:cNvSpPr txBox="1"/>
          <p:nvPr/>
        </p:nvSpPr>
        <p:spPr>
          <a:xfrm>
            <a:off x="7115175" y="2590801"/>
            <a:ext cx="425767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training Time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overfitting from the start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underfitting as the tree might stop growing too early.</a:t>
            </a:r>
          </a:p>
        </p:txBody>
      </p:sp>
    </p:spTree>
    <p:extLst>
      <p:ext uri="{BB962C8B-B14F-4D97-AF65-F5344CB8AC3E}">
        <p14:creationId xmlns:p14="http://schemas.microsoft.com/office/powerpoint/2010/main" val="14383622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CA7F1-A91F-6E73-4A83-DFB2CB070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Approaches to tree pruning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B7A89-711B-BDAE-DB4C-366797E73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Pruning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tree is fully grown first and then pruned back by removing less significant branches.</a:t>
            </a:r>
          </a:p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Techniques: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Error Pruning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Cost-Complexity Pruning (CCP)</a:t>
            </a:r>
          </a:p>
        </p:txBody>
      </p:sp>
    </p:spTree>
    <p:extLst>
      <p:ext uri="{BB962C8B-B14F-4D97-AF65-F5344CB8AC3E}">
        <p14:creationId xmlns:p14="http://schemas.microsoft.com/office/powerpoint/2010/main" val="26411530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494</TotalTime>
  <Words>2266</Words>
  <Application>Microsoft Office PowerPoint</Application>
  <PresentationFormat>Widescreen</PresentationFormat>
  <Paragraphs>268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Cambria Math</vt:lpstr>
      <vt:lpstr>Garamond</vt:lpstr>
      <vt:lpstr>Times New Roman</vt:lpstr>
      <vt:lpstr>Wingdings</vt:lpstr>
      <vt:lpstr>Organic</vt:lpstr>
      <vt:lpstr>Decision Tree</vt:lpstr>
      <vt:lpstr>Content</vt:lpstr>
      <vt:lpstr>Introduction</vt:lpstr>
      <vt:lpstr>Decision Tree Structure</vt:lpstr>
      <vt:lpstr>Example of decision  tree</vt:lpstr>
      <vt:lpstr>How decision tree is constructed </vt:lpstr>
      <vt:lpstr>Decision Tree example</vt:lpstr>
      <vt:lpstr>Training data </vt:lpstr>
      <vt:lpstr>Decision Tree </vt:lpstr>
      <vt:lpstr>Classification</vt:lpstr>
      <vt:lpstr>PowerPoint Presentation</vt:lpstr>
      <vt:lpstr>PowerPoint Presentation</vt:lpstr>
      <vt:lpstr>Advantages and shortcomings of Decision Tree</vt:lpstr>
      <vt:lpstr>Type of decision Trees</vt:lpstr>
      <vt:lpstr>Entropy</vt:lpstr>
      <vt:lpstr>PowerPoint Presentation</vt:lpstr>
      <vt:lpstr>Information Gain</vt:lpstr>
      <vt:lpstr>ID3 Algorithm Steps</vt:lpstr>
      <vt:lpstr>Benefits of pruning the decision tree</vt:lpstr>
      <vt:lpstr>Approaches to tree pruning</vt:lpstr>
      <vt:lpstr>Approaches to tree pruning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Shrikrishna Narvekar</dc:creator>
  <cp:lastModifiedBy>Shrikrishna Narvekar</cp:lastModifiedBy>
  <cp:revision>11</cp:revision>
  <dcterms:created xsi:type="dcterms:W3CDTF">2025-10-03T03:52:57Z</dcterms:created>
  <dcterms:modified xsi:type="dcterms:W3CDTF">2025-10-13T05:20:34Z</dcterms:modified>
</cp:coreProperties>
</file>