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57" r:id="rId3"/>
    <p:sldId id="285" r:id="rId4"/>
    <p:sldId id="286" r:id="rId5"/>
    <p:sldId id="287" r:id="rId6"/>
    <p:sldId id="258" r:id="rId7"/>
    <p:sldId id="259" r:id="rId8"/>
    <p:sldId id="260" r:id="rId9"/>
    <p:sldId id="261" r:id="rId10"/>
    <p:sldId id="262" r:id="rId11"/>
    <p:sldId id="263" r:id="rId12"/>
    <p:sldId id="264" r:id="rId13"/>
    <p:sldId id="288" r:id="rId14"/>
    <p:sldId id="289" r:id="rId15"/>
    <p:sldId id="290" r:id="rId16"/>
    <p:sldId id="291" r:id="rId17"/>
    <p:sldId id="265" r:id="rId18"/>
    <p:sldId id="283" r:id="rId19"/>
    <p:sldId id="284" r:id="rId20"/>
    <p:sldId id="266" r:id="rId21"/>
    <p:sldId id="267" r:id="rId22"/>
    <p:sldId id="268" r:id="rId23"/>
    <p:sldId id="269" r:id="rId24"/>
    <p:sldId id="292" r:id="rId25"/>
    <p:sldId id="270" r:id="rId26"/>
    <p:sldId id="271" r:id="rId27"/>
    <p:sldId id="272" r:id="rId28"/>
    <p:sldId id="273" r:id="rId29"/>
    <p:sldId id="274" r:id="rId30"/>
    <p:sldId id="275" r:id="rId31"/>
    <p:sldId id="295" r:id="rId32"/>
    <p:sldId id="296" r:id="rId33"/>
    <p:sldId id="300" r:id="rId34"/>
    <p:sldId id="297" r:id="rId35"/>
    <p:sldId id="298" r:id="rId36"/>
    <p:sldId id="299" r:id="rId37"/>
    <p:sldId id="293" r:id="rId38"/>
    <p:sldId id="276" r:id="rId39"/>
    <p:sldId id="277" r:id="rId40"/>
    <p:sldId id="278" r:id="rId41"/>
    <p:sldId id="279" r:id="rId42"/>
    <p:sldId id="280" r:id="rId43"/>
    <p:sldId id="281" r:id="rId44"/>
    <p:sldId id="282" r:id="rId45"/>
    <p:sldId id="301" r:id="rId46"/>
    <p:sldId id="302" r:id="rId47"/>
    <p:sldId id="303" r:id="rId48"/>
    <p:sldId id="308" r:id="rId49"/>
    <p:sldId id="309" r:id="rId50"/>
    <p:sldId id="304" r:id="rId51"/>
    <p:sldId id="312" r:id="rId52"/>
    <p:sldId id="305" r:id="rId53"/>
    <p:sldId id="306" r:id="rId54"/>
    <p:sldId id="310" r:id="rId55"/>
    <p:sldId id="311"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5" autoAdjust="0"/>
    <p:restoredTop sz="94660"/>
  </p:normalViewPr>
  <p:slideViewPr>
    <p:cSldViewPr snapToGrid="0">
      <p:cViewPr varScale="1">
        <p:scale>
          <a:sx n="82" d="100"/>
          <a:sy n="82" d="100"/>
        </p:scale>
        <p:origin x="83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CCF66-3179-4A4F-855C-17FEF2808F9E}" type="datetimeFigureOut">
              <a:rPr lang="en-IN" smtClean="0"/>
              <a:t>30-09-2025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5BDE44-557A-4D5B-8E2A-FDDED96F76B9}" type="slidenum">
              <a:rPr lang="en-IN" smtClean="0"/>
              <a:t>‹#›</a:t>
            </a:fld>
            <a:endParaRPr lang="en-IN"/>
          </a:p>
        </p:txBody>
      </p:sp>
    </p:spTree>
    <p:extLst>
      <p:ext uri="{BB962C8B-B14F-4D97-AF65-F5344CB8AC3E}">
        <p14:creationId xmlns:p14="http://schemas.microsoft.com/office/powerpoint/2010/main" val="1662450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Here, the </a:t>
            </a:r>
            <a:r>
              <a:rPr lang="en-IN" sz="1200" b="1" kern="1200" dirty="0">
                <a:solidFill>
                  <a:schemeClr val="tx1"/>
                </a:solidFill>
                <a:effectLst/>
                <a:latin typeface="+mn-lt"/>
                <a:ea typeface="+mn-ea"/>
                <a:cs typeface="+mn-cs"/>
              </a:rPr>
              <a:t>null hypothesis</a:t>
            </a:r>
            <a:r>
              <a:rPr lang="en-IN" sz="1200" kern="1200" dirty="0">
                <a:solidFill>
                  <a:schemeClr val="tx1"/>
                </a:solidFill>
                <a:effectLst/>
                <a:latin typeface="+mn-lt"/>
                <a:ea typeface="+mn-ea"/>
                <a:cs typeface="+mn-cs"/>
              </a:rPr>
              <a:t> represents the claim that the company's bulbs meet the quality standard. The </a:t>
            </a:r>
            <a:r>
              <a:rPr lang="en-IN" sz="1200" b="1" kern="1200" dirty="0">
                <a:solidFill>
                  <a:schemeClr val="tx1"/>
                </a:solidFill>
                <a:effectLst/>
                <a:latin typeface="+mn-lt"/>
                <a:ea typeface="+mn-ea"/>
                <a:cs typeface="+mn-cs"/>
              </a:rPr>
              <a:t>alternative hypothesis</a:t>
            </a:r>
            <a:r>
              <a:rPr lang="en-IN" sz="1200" kern="1200" dirty="0">
                <a:solidFill>
                  <a:schemeClr val="tx1"/>
                </a:solidFill>
                <a:effectLst/>
                <a:latin typeface="+mn-lt"/>
                <a:ea typeface="+mn-ea"/>
                <a:cs typeface="+mn-cs"/>
              </a:rPr>
              <a:t> represents the possibility that the bulbs do not meet this standard.</a:t>
            </a:r>
          </a:p>
          <a:p>
            <a:endParaRPr lang="en-IN" dirty="0"/>
          </a:p>
        </p:txBody>
      </p:sp>
      <p:sp>
        <p:nvSpPr>
          <p:cNvPr id="4" name="Slide Number Placeholder 3"/>
          <p:cNvSpPr>
            <a:spLocks noGrp="1"/>
          </p:cNvSpPr>
          <p:nvPr>
            <p:ph type="sldNum" sz="quarter" idx="5"/>
          </p:nvPr>
        </p:nvSpPr>
        <p:spPr/>
        <p:txBody>
          <a:bodyPr/>
          <a:lstStyle/>
          <a:p>
            <a:fld id="{665BDE44-557A-4D5B-8E2A-FDDED96F76B9}" type="slidenum">
              <a:rPr lang="en-IN" smtClean="0"/>
              <a:t>3</a:t>
            </a:fld>
            <a:endParaRPr lang="en-IN"/>
          </a:p>
        </p:txBody>
      </p:sp>
    </p:spTree>
    <p:extLst>
      <p:ext uri="{BB962C8B-B14F-4D97-AF65-F5344CB8AC3E}">
        <p14:creationId xmlns:p14="http://schemas.microsoft.com/office/powerpoint/2010/main" val="1292193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Importance of Parametric Tests with Real-World Link</a:t>
            </a:r>
          </a:p>
          <a:p>
            <a:r>
              <a:rPr lang="en-US" b="1" dirty="0"/>
              <a:t>Power of the Test</a:t>
            </a:r>
            <a:endParaRPr lang="en-US" dirty="0"/>
          </a:p>
          <a:p>
            <a:pPr lvl="1"/>
            <a:r>
              <a:rPr lang="en-US" b="1" dirty="0"/>
              <a:t>Explanation</a:t>
            </a:r>
            <a:r>
              <a:rPr lang="en-US" dirty="0"/>
              <a:t>: Parametric tests (like the </a:t>
            </a:r>
            <a:r>
              <a:rPr lang="en-US" b="1" dirty="0"/>
              <a:t>t-test</a:t>
            </a:r>
            <a:r>
              <a:rPr lang="en-US" dirty="0"/>
              <a:t>) have more statistical power when assumptions are met.</a:t>
            </a:r>
          </a:p>
          <a:p>
            <a:pPr lvl="1"/>
            <a:r>
              <a:rPr lang="en-US" b="1" dirty="0"/>
              <a:t>Real-World</a:t>
            </a:r>
            <a:r>
              <a:rPr lang="en-US" dirty="0"/>
              <a:t>: If patients’ blood pressure readings (interval data) are normally distributed, using a </a:t>
            </a:r>
            <a:r>
              <a:rPr lang="en-US" b="1" dirty="0"/>
              <a:t>t-test</a:t>
            </a:r>
            <a:r>
              <a:rPr lang="en-US" dirty="0"/>
              <a:t> can quickly detect whether the new medicine is actually more effective. A non-parametric test might miss this effect due to lower power.</a:t>
            </a:r>
          </a:p>
          <a:p>
            <a:br>
              <a:rPr lang="en-US" dirty="0"/>
            </a:br>
            <a:endParaRPr lang="en-US" dirty="0"/>
          </a:p>
          <a:p>
            <a:r>
              <a:rPr lang="en-US" b="1" dirty="0"/>
              <a:t>Efficiency</a:t>
            </a:r>
            <a:endParaRPr lang="en-US" dirty="0"/>
          </a:p>
          <a:p>
            <a:pPr lvl="1"/>
            <a:r>
              <a:rPr lang="en-US" b="1" dirty="0"/>
              <a:t>Explanation</a:t>
            </a:r>
            <a:r>
              <a:rPr lang="en-US" dirty="0"/>
              <a:t>: Parametric tests use all the information in the data, including mean and variance.</a:t>
            </a:r>
          </a:p>
          <a:p>
            <a:pPr lvl="1"/>
            <a:r>
              <a:rPr lang="en-US" b="1" dirty="0"/>
              <a:t>Real-World</a:t>
            </a:r>
            <a:r>
              <a:rPr lang="en-US" dirty="0"/>
              <a:t>: When testing two groups of patients (new drug vs. old drug), a parametric test like </a:t>
            </a:r>
            <a:r>
              <a:rPr lang="en-US" b="1" dirty="0"/>
              <a:t>ANOVA</a:t>
            </a:r>
            <a:r>
              <a:rPr lang="en-US" dirty="0"/>
              <a:t> considers both the average blood pressure reduction and the variability. This leads to </a:t>
            </a:r>
            <a:r>
              <a:rPr lang="en-US" b="1" dirty="0"/>
              <a:t>clearer and faster conclusions</a:t>
            </a:r>
            <a:r>
              <a:rPr lang="en-US" dirty="0"/>
              <a:t> for the medical board.</a:t>
            </a:r>
          </a:p>
          <a:p>
            <a:br>
              <a:rPr lang="en-US" dirty="0"/>
            </a:br>
            <a:endParaRPr lang="en-US" dirty="0"/>
          </a:p>
          <a:p>
            <a:r>
              <a:rPr lang="en-US" b="1" dirty="0"/>
              <a:t>Wide Applicability</a:t>
            </a:r>
            <a:endParaRPr lang="en-US" dirty="0"/>
          </a:p>
          <a:p>
            <a:pPr lvl="1"/>
            <a:r>
              <a:rPr lang="en-US" b="1" dirty="0"/>
              <a:t>Explanation</a:t>
            </a:r>
            <a:r>
              <a:rPr lang="en-US" dirty="0"/>
              <a:t>: They are widely used in many domains such as medicine, engineering, and social sciences.</a:t>
            </a:r>
          </a:p>
          <a:p>
            <a:pPr lvl="1"/>
            <a:r>
              <a:rPr lang="en-US" b="1" dirty="0"/>
              <a:t>Real-World</a:t>
            </a:r>
            <a:r>
              <a:rPr lang="en-US" dirty="0"/>
              <a:t>: In medicine, parametric tests validate drug trials. In engineering, an </a:t>
            </a:r>
            <a:r>
              <a:rPr lang="en-US" b="1" dirty="0"/>
              <a:t>ANOVA test</a:t>
            </a:r>
            <a:r>
              <a:rPr lang="en-US" dirty="0"/>
              <a:t> can compare the durability of different machine parts. In social sciences, a </a:t>
            </a:r>
            <a:r>
              <a:rPr lang="en-US" b="1" dirty="0"/>
              <a:t>Z-test</a:t>
            </a:r>
            <a:r>
              <a:rPr lang="en-US" dirty="0"/>
              <a:t> can check whether a sample survey reflects the general population.</a:t>
            </a:r>
          </a:p>
          <a:p>
            <a:br>
              <a:rPr lang="en-US" dirty="0"/>
            </a:br>
            <a:endParaRPr lang="en-US" dirty="0"/>
          </a:p>
          <a:p>
            <a:r>
              <a:rPr lang="en-US" b="1" dirty="0"/>
              <a:t>Precision</a:t>
            </a:r>
            <a:endParaRPr lang="en-US" dirty="0"/>
          </a:p>
          <a:p>
            <a:pPr lvl="1"/>
            <a:r>
              <a:rPr lang="en-US" b="1" dirty="0"/>
              <a:t>Explanation</a:t>
            </a:r>
            <a:r>
              <a:rPr lang="en-US" dirty="0"/>
              <a:t>: Parametric tests provide </a:t>
            </a:r>
            <a:r>
              <a:rPr lang="en-US" b="1" dirty="0"/>
              <a:t>exact p-values and confidence intervals</a:t>
            </a:r>
            <a:r>
              <a:rPr lang="en-US" dirty="0"/>
              <a:t>, not just a general sense of difference.</a:t>
            </a:r>
          </a:p>
          <a:p>
            <a:pPr lvl="1"/>
            <a:r>
              <a:rPr lang="en-US" b="1" dirty="0"/>
              <a:t>Real-World</a:t>
            </a:r>
            <a:r>
              <a:rPr lang="en-US" dirty="0"/>
              <a:t>: In the drug trial, the test may show that the new medicine lowers blood pressure by </a:t>
            </a:r>
            <a:r>
              <a:rPr lang="en-US" b="1" dirty="0"/>
              <a:t>5 mmHg on average, with a 95% confidence interval of 4–6 mmHg</a:t>
            </a:r>
            <a:r>
              <a:rPr lang="en-US" dirty="0"/>
              <a:t>. This level of precision is crucial for regulatory approval and doctor recommendations.</a:t>
            </a:r>
          </a:p>
          <a:p>
            <a:endParaRPr lang="en-IN" dirty="0"/>
          </a:p>
        </p:txBody>
      </p:sp>
      <p:sp>
        <p:nvSpPr>
          <p:cNvPr id="4" name="Slide Number Placeholder 3"/>
          <p:cNvSpPr>
            <a:spLocks noGrp="1"/>
          </p:cNvSpPr>
          <p:nvPr>
            <p:ph type="sldNum" sz="quarter" idx="5"/>
          </p:nvPr>
        </p:nvSpPr>
        <p:spPr/>
        <p:txBody>
          <a:bodyPr/>
          <a:lstStyle/>
          <a:p>
            <a:fld id="{665BDE44-557A-4D5B-8E2A-FDDED96F76B9}" type="slidenum">
              <a:rPr lang="en-IN" smtClean="0"/>
              <a:t>13</a:t>
            </a:fld>
            <a:endParaRPr lang="en-IN"/>
          </a:p>
        </p:txBody>
      </p:sp>
    </p:spTree>
    <p:extLst>
      <p:ext uri="{BB962C8B-B14F-4D97-AF65-F5344CB8AC3E}">
        <p14:creationId xmlns:p14="http://schemas.microsoft.com/office/powerpoint/2010/main" val="34048561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0DA89EB-E32D-4840-9B4A-9914315533D5}"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1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spTree>
    <p:extLst>
      <p:ext uri="{BB962C8B-B14F-4D97-AF65-F5344CB8AC3E}">
        <p14:creationId xmlns:p14="http://schemas.microsoft.com/office/powerpoint/2010/main" val="2739766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7467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2CA690-6403-4DC6-82FC-24C21C2D168B}"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A89EB-E32D-4840-9B4A-9914315533D5}" type="slidenum">
              <a:rPr lang="en-IN" smtClean="0"/>
              <a:t>‹#›</a:t>
            </a:fld>
            <a:endParaRPr lang="en-IN"/>
          </a:p>
        </p:txBody>
      </p:sp>
    </p:spTree>
    <p:extLst>
      <p:ext uri="{BB962C8B-B14F-4D97-AF65-F5344CB8AC3E}">
        <p14:creationId xmlns:p14="http://schemas.microsoft.com/office/powerpoint/2010/main" val="2096500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2CA690-6403-4DC6-82FC-24C21C2D168B}" type="datetimeFigureOut">
              <a:rPr lang="en-IN" smtClean="0"/>
              <a:t>30-09-2025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DA89EB-E32D-4840-9B4A-9914315533D5}"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664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2CA690-6403-4DC6-82FC-24C21C2D168B}" type="datetimeFigureOut">
              <a:rPr lang="en-IN" smtClean="0"/>
              <a:t>30-09-2025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DA89EB-E32D-4840-9B4A-9914315533D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7274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2CA690-6403-4DC6-82FC-24C21C2D168B}" type="datetimeFigureOut">
              <a:rPr lang="en-IN" smtClean="0"/>
              <a:t>30-09-2025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DA89EB-E32D-4840-9B4A-9914315533D5}" type="slidenum">
              <a:rPr lang="en-IN" smtClean="0"/>
              <a:t>‹#›</a:t>
            </a:fld>
            <a:endParaRPr lang="en-IN"/>
          </a:p>
        </p:txBody>
      </p:sp>
    </p:spTree>
    <p:extLst>
      <p:ext uri="{BB962C8B-B14F-4D97-AF65-F5344CB8AC3E}">
        <p14:creationId xmlns:p14="http://schemas.microsoft.com/office/powerpoint/2010/main" val="242250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2CA690-6403-4DC6-82FC-24C21C2D168B}"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A89EB-E32D-4840-9B4A-9914315533D5}"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2820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2CA690-6403-4DC6-82FC-24C21C2D168B}"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A89EB-E32D-4840-9B4A-9914315533D5}" type="slidenum">
              <a:rPr lang="en-IN" smtClean="0"/>
              <a:t>‹#›</a:t>
            </a:fld>
            <a:endParaRPr lang="en-IN"/>
          </a:p>
        </p:txBody>
      </p:sp>
    </p:spTree>
    <p:extLst>
      <p:ext uri="{BB962C8B-B14F-4D97-AF65-F5344CB8AC3E}">
        <p14:creationId xmlns:p14="http://schemas.microsoft.com/office/powerpoint/2010/main" val="2237448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2CA690-6403-4DC6-82FC-24C21C2D168B}"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A89EB-E32D-4840-9B4A-9914315533D5}" type="slidenum">
              <a:rPr lang="en-IN" smtClean="0"/>
              <a:t>‹#›</a:t>
            </a:fld>
            <a:endParaRPr lang="en-IN"/>
          </a:p>
        </p:txBody>
      </p:sp>
    </p:spTree>
    <p:extLst>
      <p:ext uri="{BB962C8B-B14F-4D97-AF65-F5344CB8AC3E}">
        <p14:creationId xmlns:p14="http://schemas.microsoft.com/office/powerpoint/2010/main" val="260419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4986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0565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spTree>
    <p:extLst>
      <p:ext uri="{BB962C8B-B14F-4D97-AF65-F5344CB8AC3E}">
        <p14:creationId xmlns:p14="http://schemas.microsoft.com/office/powerpoint/2010/main" val="639011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1545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4618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5939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2CA690-6403-4DC6-82FC-24C21C2D168B}"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A89EB-E32D-4840-9B4A-9914315533D5}"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4578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E2CA690-6403-4DC6-82FC-24C21C2D168B}" type="datetimeFigureOut">
              <a:rPr lang="en-IN" smtClean="0"/>
              <a:t>30-09-2025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DA89EB-E32D-4840-9B4A-9914315533D5}" type="slidenum">
              <a:rPr lang="en-IN" smtClean="0"/>
              <a:t>‹#›</a:t>
            </a:fld>
            <a:endParaRPr lang="en-IN"/>
          </a:p>
        </p:txBody>
      </p:sp>
    </p:spTree>
    <p:extLst>
      <p:ext uri="{BB962C8B-B14F-4D97-AF65-F5344CB8AC3E}">
        <p14:creationId xmlns:p14="http://schemas.microsoft.com/office/powerpoint/2010/main" val="19539827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183F-2C39-A0A3-760E-0057A5374E64}"/>
              </a:ext>
            </a:extLst>
          </p:cNvPr>
          <p:cNvSpPr>
            <a:spLocks noGrp="1"/>
          </p:cNvSpPr>
          <p:nvPr>
            <p:ph type="ctrTitle"/>
          </p:nvPr>
        </p:nvSpPr>
        <p:spPr/>
        <p:txBody>
          <a:bodyPr/>
          <a:lstStyle/>
          <a:p>
            <a:r>
              <a:rPr lang="en-US" sz="4400" b="1" dirty="0">
                <a:latin typeface="Times New Roman" panose="02020603050405020304" pitchFamily="18" charset="0"/>
                <a:cs typeface="Times New Roman" panose="02020603050405020304" pitchFamily="18" charset="0"/>
              </a:rPr>
              <a:t>Statistical Hypothesis Generation and Testing</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3B852DB-6BE9-F36F-818F-FE46C0B34C58}"/>
              </a:ext>
            </a:extLst>
          </p:cNvPr>
          <p:cNvSpPr>
            <a:spLocks noGrp="1"/>
          </p:cNvSpPr>
          <p:nvPr>
            <p:ph type="subTitle" idx="1"/>
          </p:nvPr>
        </p:nvSpPr>
        <p:spPr>
          <a:xfrm>
            <a:off x="2692398" y="3657596"/>
            <a:ext cx="6899471" cy="1791481"/>
          </a:xfrm>
        </p:spPr>
        <p:txBody>
          <a:bodyPr>
            <a:normAutofit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45445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C3A33-339F-2D3A-E6F1-275F79F68F5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Hypothesis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54FE2D-F19A-346F-B48C-4CBBF786EB9E}"/>
              </a:ext>
            </a:extLst>
          </p:cNvPr>
          <p:cNvSpPr>
            <a:spLocks noGrp="1"/>
          </p:cNvSpPr>
          <p:nvPr>
            <p:ph idx="1"/>
          </p:nvPr>
        </p:nvSpPr>
        <p:spPr/>
        <p:txBody>
          <a:bodyPr>
            <a:normAutofit/>
          </a:bodyPr>
          <a:lstStyle/>
          <a:p>
            <a:pPr>
              <a:lnSpc>
                <a:spcPct val="107000"/>
              </a:lnSpc>
              <a:spcAft>
                <a:spcPts val="800"/>
              </a:spcAft>
            </a:pPr>
            <a:r>
              <a:rPr lang="en-IN" sz="2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It involves making an educated guess </a:t>
            </a:r>
            <a:r>
              <a:rPr lang="en-IN" sz="22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(hypothesis) </a:t>
            </a:r>
            <a:r>
              <a:rPr lang="en-IN" sz="2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about a population parameter and then testing this hypothesis using sample data.</a:t>
            </a:r>
          </a:p>
          <a:p>
            <a:pPr>
              <a:lnSpc>
                <a:spcPct val="107000"/>
              </a:lnSpc>
              <a:spcAft>
                <a:spcPts val="800"/>
              </a:spcAft>
            </a:pPr>
            <a:r>
              <a:rPr lang="en-IN" sz="2200" b="1" dirty="0">
                <a:solidFill>
                  <a:schemeClr val="tx1"/>
                </a:solidFill>
                <a:effectLst/>
                <a:latin typeface="Times New Roman" panose="02020603050405020304" pitchFamily="18" charset="0"/>
                <a:ea typeface="Calibri" panose="020F0502020204030204" pitchFamily="34" charset="0"/>
              </a:rPr>
              <a:t>Hypothesis Testing</a:t>
            </a:r>
            <a:r>
              <a:rPr lang="en-IN" sz="2200" dirty="0">
                <a:solidFill>
                  <a:schemeClr val="tx1"/>
                </a:solidFill>
                <a:effectLst/>
                <a:latin typeface="Times New Roman" panose="02020603050405020304" pitchFamily="18" charset="0"/>
                <a:ea typeface="Calibri" panose="020F0502020204030204" pitchFamily="34" charset="0"/>
              </a:rPr>
              <a:t> is a fundamental procedure in inferential statistics used to make decisions about population parameters based on sample data.</a:t>
            </a:r>
          </a:p>
          <a:p>
            <a:pPr>
              <a:lnSpc>
                <a:spcPct val="107000"/>
              </a:lnSpc>
              <a:spcAft>
                <a:spcPts val="800"/>
              </a:spcAft>
            </a:pPr>
            <a:r>
              <a:rPr lang="en-IN" sz="2200" dirty="0">
                <a:solidFill>
                  <a:schemeClr val="tx1"/>
                </a:solidFill>
                <a:effectLst/>
                <a:latin typeface="Times New Roman" panose="02020603050405020304" pitchFamily="18" charset="0"/>
                <a:ea typeface="Calibri" panose="020F0502020204030204" pitchFamily="34" charset="0"/>
              </a:rPr>
              <a:t> </a:t>
            </a:r>
            <a:endParaRPr lang="en-IN" sz="2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3839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A5C4-C69D-3BC1-CEEE-221CD68C2B99}"/>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Real-Life Example in Industry: Quality Control in Manufacturing</a:t>
            </a:r>
            <a:br>
              <a:rPr lang="en-IN" dirty="0"/>
            </a:br>
            <a:endParaRPr lang="en-IN" dirty="0"/>
          </a:p>
        </p:txBody>
      </p:sp>
      <p:sp>
        <p:nvSpPr>
          <p:cNvPr id="3" name="Content Placeholder 2">
            <a:extLst>
              <a:ext uri="{FF2B5EF4-FFF2-40B4-BE49-F238E27FC236}">
                <a16:creationId xmlns:a16="http://schemas.microsoft.com/office/drawing/2014/main" id="{645C6676-22DE-DAB2-D3DC-19B181E10BCE}"/>
              </a:ext>
            </a:extLst>
          </p:cNvPr>
          <p:cNvSpPr>
            <a:spLocks noGrp="1"/>
          </p:cNvSpPr>
          <p:nvPr>
            <p:ph idx="1"/>
          </p:nvPr>
        </p:nvSpPr>
        <p:spPr/>
        <p:txBody>
          <a:bodyPr>
            <a:normAutofit lnSpcReduction="10000"/>
          </a:bodyPr>
          <a:lstStyle/>
          <a:p>
            <a:r>
              <a:rPr lang="en-IN" b="1" dirty="0">
                <a:solidFill>
                  <a:schemeClr val="tx1"/>
                </a:solidFill>
                <a:latin typeface="Times New Roman" panose="02020603050405020304" pitchFamily="18" charset="0"/>
                <a:cs typeface="Times New Roman" panose="02020603050405020304" pitchFamily="18" charset="0"/>
              </a:rPr>
              <a:t>Scenario:</a:t>
            </a:r>
            <a:br>
              <a:rPr lang="en-IN" dirty="0">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A company manufactures light bulbs, and the quality control department wants to ensure that the average lifespan of their light bulbs is 1000 hours.</a:t>
            </a:r>
          </a:p>
          <a:p>
            <a:r>
              <a:rPr lang="en-IN" b="1" dirty="0">
                <a:latin typeface="Times New Roman" panose="02020603050405020304" pitchFamily="18" charset="0"/>
                <a:cs typeface="Times New Roman" panose="02020603050405020304" pitchFamily="18" charset="0"/>
              </a:rPr>
              <a:t>Step 1: </a:t>
            </a:r>
            <a:r>
              <a:rPr lang="en-IN" b="1" dirty="0">
                <a:solidFill>
                  <a:schemeClr val="tx1"/>
                </a:solidFill>
                <a:latin typeface="Times New Roman" panose="02020603050405020304" pitchFamily="18" charset="0"/>
                <a:cs typeface="Times New Roman" panose="02020603050405020304" pitchFamily="18" charset="0"/>
              </a:rPr>
              <a:t>Formulate the Hypothesis</a:t>
            </a:r>
            <a:endParaRPr lang="en-IN"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Null Hypothesis (H₀):</a:t>
            </a:r>
            <a:r>
              <a:rPr lang="en-IN" dirty="0">
                <a:solidFill>
                  <a:schemeClr val="tx1"/>
                </a:solidFill>
                <a:latin typeface="Times New Roman" panose="02020603050405020304" pitchFamily="18" charset="0"/>
                <a:cs typeface="Times New Roman" panose="02020603050405020304" pitchFamily="18" charset="0"/>
              </a:rPr>
              <a:t> The average lifespan of the light bulbs is 1000 hours. (H₀: μ = 1000)</a:t>
            </a:r>
          </a:p>
          <a:p>
            <a:pPr lvl="0"/>
            <a:r>
              <a:rPr lang="en-IN" b="1" dirty="0">
                <a:solidFill>
                  <a:schemeClr val="tx1"/>
                </a:solidFill>
                <a:latin typeface="Times New Roman" panose="02020603050405020304" pitchFamily="18" charset="0"/>
                <a:cs typeface="Times New Roman" panose="02020603050405020304" pitchFamily="18" charset="0"/>
              </a:rPr>
              <a:t>Alternative Hypothesis (H₁):</a:t>
            </a:r>
            <a:r>
              <a:rPr lang="en-IN" dirty="0">
                <a:solidFill>
                  <a:schemeClr val="tx1"/>
                </a:solidFill>
                <a:latin typeface="Times New Roman" panose="02020603050405020304" pitchFamily="18" charset="0"/>
                <a:cs typeface="Times New Roman" panose="02020603050405020304" pitchFamily="18" charset="0"/>
              </a:rPr>
              <a:t> The average lifespan of the light bulbs is not 1000 hours. (H₁: μ ≠ 1000)</a:t>
            </a:r>
          </a:p>
          <a:p>
            <a:endParaRPr lang="en-IN" dirty="0"/>
          </a:p>
        </p:txBody>
      </p:sp>
    </p:spTree>
    <p:extLst>
      <p:ext uri="{BB962C8B-B14F-4D97-AF65-F5344CB8AC3E}">
        <p14:creationId xmlns:p14="http://schemas.microsoft.com/office/powerpoint/2010/main" val="3074052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F0E15E-7C01-BA39-EBAF-66932FAF1CD1}"/>
              </a:ext>
            </a:extLst>
          </p:cNvPr>
          <p:cNvSpPr>
            <a:spLocks noGrp="1"/>
          </p:cNvSpPr>
          <p:nvPr>
            <p:ph idx="1"/>
          </p:nvPr>
        </p:nvSpPr>
        <p:spPr>
          <a:xfrm>
            <a:off x="839755" y="578498"/>
            <a:ext cx="10291665" cy="5455991"/>
          </a:xfrm>
        </p:spPr>
        <p:txBody>
          <a:bodyPr>
            <a:normAutofit lnSpcReduction="10000"/>
          </a:bodyPr>
          <a:lstStyle/>
          <a:p>
            <a:r>
              <a:rPr lang="en-IN" b="1" dirty="0">
                <a:solidFill>
                  <a:schemeClr val="tx1"/>
                </a:solidFill>
                <a:latin typeface="Times New Roman" panose="02020603050405020304" pitchFamily="18" charset="0"/>
                <a:cs typeface="Times New Roman" panose="02020603050405020304" pitchFamily="18" charset="0"/>
              </a:rPr>
              <a:t>Step 2: Collect Sample Data</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The quality control team selects a random sample of 100 light bulbs and measures their lifespans.</a:t>
            </a:r>
          </a:p>
          <a:p>
            <a:r>
              <a:rPr lang="en-IN" b="1" dirty="0">
                <a:latin typeface="Times New Roman" panose="02020603050405020304" pitchFamily="18" charset="0"/>
                <a:cs typeface="Times New Roman" panose="02020603050405020304" pitchFamily="18" charset="0"/>
              </a:rPr>
              <a:t>Step 3: Perform Hypothesis Testing</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Using the sample data, the team calculates the sample mean and conducts a hypothesis test (e.g., a t-test or z-test). The test will provide a p-value, which indicates the probability of observing the sample data if the null hypothesis is true.</a:t>
            </a:r>
          </a:p>
          <a:p>
            <a:r>
              <a:rPr lang="en-IN" b="1" dirty="0">
                <a:solidFill>
                  <a:schemeClr val="tx1"/>
                </a:solidFill>
                <a:latin typeface="Times New Roman" panose="02020603050405020304" pitchFamily="18" charset="0"/>
                <a:cs typeface="Times New Roman" panose="02020603050405020304" pitchFamily="18" charset="0"/>
              </a:rPr>
              <a:t>Step 4: Make a Decision</a:t>
            </a:r>
            <a:endParaRPr lang="en-IN"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If the p-value is low (typically below 0.05), the team rejects the null hypothesis, concluding that the average lifespan of the bulbs is not 1000 hours.</a:t>
            </a:r>
          </a:p>
          <a:p>
            <a:pPr lvl="0"/>
            <a:r>
              <a:rPr lang="en-IN" dirty="0">
                <a:solidFill>
                  <a:schemeClr val="tx1"/>
                </a:solidFill>
                <a:latin typeface="Times New Roman" panose="02020603050405020304" pitchFamily="18" charset="0"/>
                <a:cs typeface="Times New Roman" panose="02020603050405020304" pitchFamily="18" charset="0"/>
              </a:rPr>
              <a:t>If the p-value is high, they fail to reject the null hypothesis, meaning there isn't enough evidence to say the bulbs' lifespan is different from 1000 hours.</a:t>
            </a: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94640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626EC8-FD9E-5E1C-3480-AA531BF5FEC5}"/>
              </a:ext>
            </a:extLst>
          </p:cNvPr>
          <p:cNvSpPr>
            <a:spLocks noGrp="1"/>
          </p:cNvSpPr>
          <p:nvPr>
            <p:ph idx="1"/>
          </p:nvPr>
        </p:nvSpPr>
        <p:spPr>
          <a:xfrm>
            <a:off x="895739" y="755780"/>
            <a:ext cx="10000858" cy="5120088"/>
          </a:xfrm>
        </p:spPr>
        <p:txBody>
          <a:bodyPr/>
          <a:lstStyle/>
          <a:p>
            <a:r>
              <a:rPr lang="en-IN" b="1" dirty="0">
                <a:latin typeface="Times New Roman" panose="02020603050405020304" pitchFamily="18" charset="0"/>
                <a:cs typeface="Times New Roman" panose="02020603050405020304" pitchFamily="18" charset="0"/>
              </a:rPr>
              <a:t>Step 5: Take Action</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If the null hypothesis is rejected, the company may need to investigate potential issues in the manufacturing process and make necessary adjustments.</a:t>
            </a:r>
          </a:p>
          <a:p>
            <a:pPr lvl="0"/>
            <a:r>
              <a:rPr lang="en-IN" dirty="0">
                <a:latin typeface="Times New Roman" panose="02020603050405020304" pitchFamily="18" charset="0"/>
                <a:cs typeface="Times New Roman" panose="02020603050405020304" pitchFamily="18" charset="0"/>
              </a:rPr>
              <a:t>If the null hypothesis is not rejected, the company continues production, confident that their product meets the quality standard.</a:t>
            </a:r>
          </a:p>
          <a:p>
            <a:r>
              <a:rPr lang="en-IN" b="1" dirty="0">
                <a:solidFill>
                  <a:schemeClr val="tx1"/>
                </a:solidFill>
                <a:latin typeface="Times New Roman" panose="02020603050405020304" pitchFamily="18" charset="0"/>
                <a:cs typeface="Times New Roman" panose="02020603050405020304" pitchFamily="18" charset="0"/>
              </a:rPr>
              <a:t>Conclusion:</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This process helps the company maintain product quality and ensures that the manufacturing process remains consistent. Hypothesis testing in this context allows the company to make informed decisions based on statistical evidence, minimizing the risk of producing substandard products.</a:t>
            </a:r>
          </a:p>
          <a:p>
            <a:endParaRPr lang="en-IN" dirty="0"/>
          </a:p>
        </p:txBody>
      </p:sp>
    </p:spTree>
    <p:extLst>
      <p:ext uri="{BB962C8B-B14F-4D97-AF65-F5344CB8AC3E}">
        <p14:creationId xmlns:p14="http://schemas.microsoft.com/office/powerpoint/2010/main" val="3434333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AB874-7B78-5C4A-FBDC-6272E05ABC68}"/>
              </a:ext>
            </a:extLst>
          </p:cNvPr>
          <p:cNvSpPr>
            <a:spLocks noGrp="1"/>
          </p:cNvSpPr>
          <p:nvPr>
            <p:ph type="title"/>
          </p:nvPr>
        </p:nvSpPr>
        <p:spPr>
          <a:xfrm>
            <a:off x="1295401" y="739536"/>
            <a:ext cx="9601196" cy="1303867"/>
          </a:xfrm>
        </p:spPr>
        <p:txBody>
          <a:bodyPr/>
          <a:lstStyle/>
          <a:p>
            <a:r>
              <a:rPr lang="en-US" b="1" dirty="0">
                <a:latin typeface="Times New Roman" panose="02020603050405020304" pitchFamily="18" charset="0"/>
                <a:cs typeface="Times New Roman" panose="02020603050405020304" pitchFamily="18" charset="0"/>
              </a:rPr>
              <a:t>Hypothesis Testing</a:t>
            </a:r>
            <a:endParaRPr lang="en-IN" b="1"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71310C37-0BA5-5F87-4983-737810E113E7}"/>
              </a:ext>
            </a:extLst>
          </p:cNvPr>
          <p:cNvSpPr/>
          <p:nvPr/>
        </p:nvSpPr>
        <p:spPr>
          <a:xfrm>
            <a:off x="4525345" y="2043403"/>
            <a:ext cx="2258010" cy="7791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Hypothesis </a:t>
            </a:r>
            <a:endParaRPr lang="en-IN" sz="2200" b="1" dirty="0">
              <a:latin typeface="Times New Roman" panose="02020603050405020304" pitchFamily="18" charset="0"/>
              <a:cs typeface="Times New Roman" panose="02020603050405020304" pitchFamily="18" charset="0"/>
            </a:endParaRPr>
          </a:p>
        </p:txBody>
      </p:sp>
      <p:sp>
        <p:nvSpPr>
          <p:cNvPr id="5" name="Arrow: Down 4">
            <a:extLst>
              <a:ext uri="{FF2B5EF4-FFF2-40B4-BE49-F238E27FC236}">
                <a16:creationId xmlns:a16="http://schemas.microsoft.com/office/drawing/2014/main" id="{0A806C58-9808-0ED9-8BBE-B8D88999B83C}"/>
              </a:ext>
            </a:extLst>
          </p:cNvPr>
          <p:cNvSpPr/>
          <p:nvPr/>
        </p:nvSpPr>
        <p:spPr>
          <a:xfrm rot="1881633">
            <a:off x="4329098" y="2602160"/>
            <a:ext cx="392494" cy="785514"/>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Down 5">
            <a:extLst>
              <a:ext uri="{FF2B5EF4-FFF2-40B4-BE49-F238E27FC236}">
                <a16:creationId xmlns:a16="http://schemas.microsoft.com/office/drawing/2014/main" id="{B3CDD119-D74F-1EAC-1EB1-38565F012157}"/>
              </a:ext>
            </a:extLst>
          </p:cNvPr>
          <p:cNvSpPr/>
          <p:nvPr/>
        </p:nvSpPr>
        <p:spPr>
          <a:xfrm rot="19791534">
            <a:off x="6427432" y="2651612"/>
            <a:ext cx="392494" cy="785514"/>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14141EDA-FEAD-05B4-78EC-5F50D9991919}"/>
              </a:ext>
            </a:extLst>
          </p:cNvPr>
          <p:cNvSpPr/>
          <p:nvPr/>
        </p:nvSpPr>
        <p:spPr>
          <a:xfrm>
            <a:off x="3267885" y="3330210"/>
            <a:ext cx="1819469" cy="616221"/>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Null Hypothesis</a:t>
            </a:r>
            <a:endParaRPr lang="en-IN" sz="2200" b="1"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D79E4ABB-A95C-04F1-47A2-29D98EE07BF8}"/>
              </a:ext>
            </a:extLst>
          </p:cNvPr>
          <p:cNvSpPr/>
          <p:nvPr/>
        </p:nvSpPr>
        <p:spPr>
          <a:xfrm>
            <a:off x="6340535" y="3429000"/>
            <a:ext cx="1819469" cy="616221"/>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Alternate Hypothesis</a:t>
            </a:r>
            <a:endParaRPr lang="en-IN" sz="2200" b="1" dirty="0">
              <a:latin typeface="Times New Roman" panose="02020603050405020304" pitchFamily="18" charset="0"/>
              <a:cs typeface="Times New Roman" panose="02020603050405020304" pitchFamily="18" charset="0"/>
            </a:endParaRPr>
          </a:p>
        </p:txBody>
      </p:sp>
      <p:sp>
        <p:nvSpPr>
          <p:cNvPr id="9" name="Arrow: Down 8">
            <a:extLst>
              <a:ext uri="{FF2B5EF4-FFF2-40B4-BE49-F238E27FC236}">
                <a16:creationId xmlns:a16="http://schemas.microsoft.com/office/drawing/2014/main" id="{6E6FC3FA-2936-9940-5045-416D0443FE1A}"/>
              </a:ext>
            </a:extLst>
          </p:cNvPr>
          <p:cNvSpPr/>
          <p:nvPr/>
        </p:nvSpPr>
        <p:spPr>
          <a:xfrm>
            <a:off x="3722914" y="3946431"/>
            <a:ext cx="279920" cy="420296"/>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A687276C-2199-A441-A822-F5A09FF34615}"/>
              </a:ext>
            </a:extLst>
          </p:cNvPr>
          <p:cNvSpPr/>
          <p:nvPr/>
        </p:nvSpPr>
        <p:spPr>
          <a:xfrm>
            <a:off x="2845837" y="4366727"/>
            <a:ext cx="2198445" cy="841129"/>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Hypothesis Testing</a:t>
            </a:r>
            <a:endParaRPr lang="en-IN" sz="2200" b="1" dirty="0">
              <a:latin typeface="Times New Roman" panose="02020603050405020304" pitchFamily="18" charset="0"/>
              <a:cs typeface="Times New Roman" panose="02020603050405020304" pitchFamily="18" charset="0"/>
            </a:endParaRPr>
          </a:p>
        </p:txBody>
      </p:sp>
      <p:sp>
        <p:nvSpPr>
          <p:cNvPr id="11" name="Arrow: Right 10">
            <a:extLst>
              <a:ext uri="{FF2B5EF4-FFF2-40B4-BE49-F238E27FC236}">
                <a16:creationId xmlns:a16="http://schemas.microsoft.com/office/drawing/2014/main" id="{BDA58E36-22BC-6499-2E48-1A2AC91BD1CB}"/>
              </a:ext>
            </a:extLst>
          </p:cNvPr>
          <p:cNvSpPr/>
          <p:nvPr/>
        </p:nvSpPr>
        <p:spPr>
          <a:xfrm>
            <a:off x="5044282" y="4558890"/>
            <a:ext cx="790932" cy="270588"/>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5DFFB1C0-495C-8C7A-AEC2-72A0CB905683}"/>
              </a:ext>
            </a:extLst>
          </p:cNvPr>
          <p:cNvSpPr/>
          <p:nvPr/>
        </p:nvSpPr>
        <p:spPr>
          <a:xfrm>
            <a:off x="5873620" y="4386074"/>
            <a:ext cx="1819469" cy="616221"/>
          </a:xfrm>
          <a:prstGeom prst="round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81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Statistical Test</a:t>
            </a:r>
            <a:endParaRPr lang="en-IN" sz="2200" b="1" dirty="0">
              <a:latin typeface="Times New Roman" panose="02020603050405020304" pitchFamily="18" charset="0"/>
              <a:cs typeface="Times New Roman" panose="02020603050405020304" pitchFamily="18" charset="0"/>
            </a:endParaRPr>
          </a:p>
        </p:txBody>
      </p:sp>
      <p:sp>
        <p:nvSpPr>
          <p:cNvPr id="13" name="Arrow: Down 12">
            <a:extLst>
              <a:ext uri="{FF2B5EF4-FFF2-40B4-BE49-F238E27FC236}">
                <a16:creationId xmlns:a16="http://schemas.microsoft.com/office/drawing/2014/main" id="{328786B0-9C28-B48A-A165-D1F55C896DB3}"/>
              </a:ext>
            </a:extLst>
          </p:cNvPr>
          <p:cNvSpPr/>
          <p:nvPr/>
        </p:nvSpPr>
        <p:spPr>
          <a:xfrm rot="1881633">
            <a:off x="6045587" y="4988939"/>
            <a:ext cx="243243" cy="429475"/>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a:extLst>
              <a:ext uri="{FF2B5EF4-FFF2-40B4-BE49-F238E27FC236}">
                <a16:creationId xmlns:a16="http://schemas.microsoft.com/office/drawing/2014/main" id="{8F94DB7C-8DEB-5A64-691B-73405D8DF75E}"/>
              </a:ext>
            </a:extLst>
          </p:cNvPr>
          <p:cNvSpPr/>
          <p:nvPr/>
        </p:nvSpPr>
        <p:spPr>
          <a:xfrm rot="20083090">
            <a:off x="7368499" y="5006827"/>
            <a:ext cx="250849" cy="429475"/>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B8294755-CC5C-7736-31F5-121A5BFDA76A}"/>
              </a:ext>
            </a:extLst>
          </p:cNvPr>
          <p:cNvSpPr/>
          <p:nvPr/>
        </p:nvSpPr>
        <p:spPr>
          <a:xfrm>
            <a:off x="5260690" y="5405058"/>
            <a:ext cx="1729918" cy="616221"/>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Parametric Test</a:t>
            </a:r>
            <a:endParaRPr lang="en-IN" sz="2200" b="1" dirty="0">
              <a:latin typeface="Times New Roman" panose="02020603050405020304" pitchFamily="18"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CE6819B3-82B7-3303-78AB-CF00A2152191}"/>
              </a:ext>
            </a:extLst>
          </p:cNvPr>
          <p:cNvSpPr/>
          <p:nvPr/>
        </p:nvSpPr>
        <p:spPr>
          <a:xfrm>
            <a:off x="7568220" y="5343148"/>
            <a:ext cx="1819469" cy="839183"/>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Non Parametric Test</a:t>
            </a:r>
            <a:endParaRPr lang="en-IN" sz="22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9BF056D-5565-1AD7-07DB-EABD597E785E}"/>
              </a:ext>
            </a:extLst>
          </p:cNvPr>
          <p:cNvSpPr txBox="1"/>
          <p:nvPr/>
        </p:nvSpPr>
        <p:spPr>
          <a:xfrm>
            <a:off x="9528238" y="5238581"/>
            <a:ext cx="1482977"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Chi-Square Test, U-Test, H-Test</a:t>
            </a:r>
            <a:endParaRPr lang="en-IN"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7E31A345-0933-1FCD-FB7C-C79D6902625A}"/>
              </a:ext>
            </a:extLst>
          </p:cNvPr>
          <p:cNvSpPr txBox="1"/>
          <p:nvPr/>
        </p:nvSpPr>
        <p:spPr>
          <a:xfrm>
            <a:off x="3722914" y="5611448"/>
            <a:ext cx="1479813"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Z-</a:t>
            </a:r>
            <a:r>
              <a:rPr lang="en-US" b="1" dirty="0" err="1">
                <a:latin typeface="Times New Roman" panose="02020603050405020304" pitchFamily="18" charset="0"/>
                <a:cs typeface="Times New Roman" panose="02020603050405020304" pitchFamily="18" charset="0"/>
              </a:rPr>
              <a:t>Test,T</a:t>
            </a:r>
            <a:r>
              <a:rPr lang="en-US" b="1" dirty="0">
                <a:latin typeface="Times New Roman" panose="02020603050405020304" pitchFamily="18" charset="0"/>
                <a:cs typeface="Times New Roman" panose="02020603050405020304" pitchFamily="18" charset="0"/>
              </a:rPr>
              <a:t>-test, F-Test, </a:t>
            </a:r>
            <a:r>
              <a:rPr lang="en-US" b="1" dirty="0" err="1">
                <a:latin typeface="Times New Roman" panose="02020603050405020304" pitchFamily="18" charset="0"/>
                <a:cs typeface="Times New Roman" panose="02020603050405020304" pitchFamily="18" charset="0"/>
              </a:rPr>
              <a:t>Annova</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817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263E512-DE1E-1B7A-01DD-2E03602DB1A9}"/>
              </a:ext>
            </a:extLst>
          </p:cNvPr>
          <p:cNvSpPr/>
          <p:nvPr/>
        </p:nvSpPr>
        <p:spPr>
          <a:xfrm>
            <a:off x="4718178" y="664805"/>
            <a:ext cx="2258010" cy="7791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Times New Roman" panose="02020603050405020304" pitchFamily="18" charset="0"/>
                <a:cs typeface="Times New Roman" panose="02020603050405020304" pitchFamily="18" charset="0"/>
              </a:rPr>
              <a:t>Hypothesis </a:t>
            </a:r>
            <a:endParaRPr lang="en-IN" sz="22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59924A2-F6C5-4A53-6DD5-517A28ED2B1D}"/>
              </a:ext>
            </a:extLst>
          </p:cNvPr>
          <p:cNvSpPr/>
          <p:nvPr/>
        </p:nvSpPr>
        <p:spPr>
          <a:xfrm>
            <a:off x="835089" y="783769"/>
            <a:ext cx="2617238" cy="54117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Times New Roman" panose="02020603050405020304" pitchFamily="18" charset="0"/>
                <a:cs typeface="Times New Roman" panose="02020603050405020304" pitchFamily="18" charset="0"/>
              </a:rPr>
              <a:t>Educated Guess About  the population</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6221244A-6DB6-69A9-BE16-1A4ECEDFB5DB}"/>
              </a:ext>
            </a:extLst>
          </p:cNvPr>
          <p:cNvSpPr/>
          <p:nvPr/>
        </p:nvSpPr>
        <p:spPr>
          <a:xfrm>
            <a:off x="8084198" y="718452"/>
            <a:ext cx="3332584" cy="54117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Times New Roman" panose="02020603050405020304" pitchFamily="18" charset="0"/>
                <a:cs typeface="Times New Roman" panose="02020603050405020304" pitchFamily="18" charset="0"/>
              </a:rPr>
              <a:t>Predication of the relationship b/w two or more variables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7" name="Arrow: Right 6">
            <a:extLst>
              <a:ext uri="{FF2B5EF4-FFF2-40B4-BE49-F238E27FC236}">
                <a16:creationId xmlns:a16="http://schemas.microsoft.com/office/drawing/2014/main" id="{BE4A70CD-3090-4A0C-37A9-C519A37D9EDB}"/>
              </a:ext>
            </a:extLst>
          </p:cNvPr>
          <p:cNvSpPr/>
          <p:nvPr/>
        </p:nvSpPr>
        <p:spPr>
          <a:xfrm rot="10800000">
            <a:off x="3564292" y="902733"/>
            <a:ext cx="942393" cy="317241"/>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9C7E67B7-D545-B273-DB32-A43AE0A0E0A3}"/>
              </a:ext>
            </a:extLst>
          </p:cNvPr>
          <p:cNvSpPr/>
          <p:nvPr/>
        </p:nvSpPr>
        <p:spPr>
          <a:xfrm>
            <a:off x="7058996" y="895737"/>
            <a:ext cx="942393" cy="317241"/>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C18FFBAA-92AD-29CC-85E9-8A2952590A2A}"/>
                  </a:ext>
                </a:extLst>
              </p:cNvPr>
              <p:cNvGraphicFramePr>
                <a:graphicFrameLocks noGrp="1"/>
              </p:cNvGraphicFramePr>
              <p:nvPr>
                <p:extLst>
                  <p:ext uri="{D42A27DB-BD31-4B8C-83A1-F6EECF244321}">
                    <p14:modId xmlns:p14="http://schemas.microsoft.com/office/powerpoint/2010/main" val="2139869533"/>
                  </p:ext>
                </p:extLst>
              </p:nvPr>
            </p:nvGraphicFramePr>
            <p:xfrm>
              <a:off x="942392" y="1591822"/>
              <a:ext cx="10310326" cy="4025208"/>
            </p:xfrm>
            <a:graphic>
              <a:graphicData uri="http://schemas.openxmlformats.org/drawingml/2006/table">
                <a:tbl>
                  <a:tblPr firstRow="1" bandRow="1">
                    <a:tableStyleId>{5C22544A-7EE6-4342-B048-85BDC9FD1C3A}</a:tableStyleId>
                  </a:tblPr>
                  <a:tblGrid>
                    <a:gridCol w="5137637">
                      <a:extLst>
                        <a:ext uri="{9D8B030D-6E8A-4147-A177-3AD203B41FA5}">
                          <a16:colId xmlns:a16="http://schemas.microsoft.com/office/drawing/2014/main" val="2131041415"/>
                        </a:ext>
                      </a:extLst>
                    </a:gridCol>
                    <a:gridCol w="5172689">
                      <a:extLst>
                        <a:ext uri="{9D8B030D-6E8A-4147-A177-3AD203B41FA5}">
                          <a16:colId xmlns:a16="http://schemas.microsoft.com/office/drawing/2014/main" val="3306637756"/>
                        </a:ext>
                      </a:extLst>
                    </a:gridCol>
                  </a:tblGrid>
                  <a:tr h="553778">
                    <a:tc>
                      <a:txBody>
                        <a:bodyPr/>
                        <a:lstStyle/>
                        <a:p>
                          <a:r>
                            <a:rPr lang="en-US" sz="2200" dirty="0">
                              <a:latin typeface="Times New Roman" panose="02020603050405020304" pitchFamily="18" charset="0"/>
                              <a:cs typeface="Times New Roman" panose="02020603050405020304" pitchFamily="18" charset="0"/>
                            </a:rPr>
                            <a:t>Null Hypothesis</a:t>
                          </a:r>
                          <a:endParaRPr lang="en-IN" sz="22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Alternate Hypothesis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8358512"/>
                      </a:ext>
                    </a:extLst>
                  </a:tr>
                  <a:tr h="1260983">
                    <a:tc>
                      <a:txBody>
                        <a:bodyPr/>
                        <a:lstStyle/>
                        <a:p>
                          <a:r>
                            <a:rPr lang="en-US" dirty="0">
                              <a:latin typeface="Times New Roman" panose="02020603050405020304" pitchFamily="18" charset="0"/>
                              <a:cs typeface="Times New Roman" panose="02020603050405020304" pitchFamily="18" charset="0"/>
                            </a:rPr>
                            <a:t>A statement which says that there is no relationship b/w variables. </a:t>
                          </a:r>
                          <a:r>
                            <a:rPr lang="en-US" b="1" dirty="0">
                              <a:solidFill>
                                <a:srgbClr val="FF0000"/>
                              </a:solidFill>
                              <a:latin typeface="Times New Roman" panose="02020603050405020304" pitchFamily="18" charset="0"/>
                              <a:cs typeface="Times New Roman" panose="02020603050405020304" pitchFamily="18" charset="0"/>
                            </a:rPr>
                            <a:t>For </a:t>
                          </a:r>
                          <a:r>
                            <a:rPr lang="en-US" b="1" dirty="0" err="1">
                              <a:solidFill>
                                <a:srgbClr val="FF0000"/>
                              </a:solidFill>
                              <a:latin typeface="Times New Roman" panose="02020603050405020304" pitchFamily="18" charset="0"/>
                              <a:cs typeface="Times New Roman" panose="02020603050405020304" pitchFamily="18" charset="0"/>
                            </a:rPr>
                            <a:t>eg</a:t>
                          </a:r>
                          <a:r>
                            <a:rPr lang="en-US" b="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Increase in number of cancer patients is not due to increase in pollution  level</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A statement which says that there is relationship b/w variables. For </a:t>
                          </a:r>
                          <a:r>
                            <a:rPr lang="en-US" sz="1800" dirty="0" err="1">
                              <a:latin typeface="Times New Roman" panose="02020603050405020304" pitchFamily="18" charset="0"/>
                              <a:cs typeface="Times New Roman" panose="02020603050405020304" pitchFamily="18" charset="0"/>
                            </a:rPr>
                            <a:t>eg</a:t>
                          </a:r>
                          <a:r>
                            <a:rPr lang="en-US" sz="1800" dirty="0">
                              <a:latin typeface="Times New Roman" panose="02020603050405020304" pitchFamily="18" charset="0"/>
                              <a:cs typeface="Times New Roman" panose="02020603050405020304" pitchFamily="18" charset="0"/>
                            </a:rPr>
                            <a:t>: Cancer patients are increasing due to increase in pollution  level</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3889169"/>
                      </a:ext>
                    </a:extLst>
                  </a:tr>
                  <a:tr h="561468">
                    <a:tc>
                      <a:txBody>
                        <a:bodyPr/>
                        <a:lstStyle/>
                        <a:p>
                          <a:r>
                            <a:rPr lang="en-US" dirty="0">
                              <a:latin typeface="Times New Roman" panose="02020603050405020304" pitchFamily="18" charset="0"/>
                              <a:cs typeface="Times New Roman" panose="02020603050405020304" pitchFamily="18" charset="0"/>
                            </a:rPr>
                            <a:t>Denoted by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Denoted by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oMath>
                          </a14:m>
                          <a:r>
                            <a:rPr lang="en-IN" dirty="0">
                              <a:latin typeface="Times New Roman" panose="02020603050405020304" pitchFamily="18" charset="0"/>
                              <a:cs typeface="Times New Roman" panose="02020603050405020304" pitchFamily="18" charset="0"/>
                            </a:rPr>
                            <a:t> or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oMath>
                          </a14:m>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8521690"/>
                      </a:ext>
                    </a:extLst>
                  </a:tr>
                  <a:tr h="678991">
                    <a:tc>
                      <a:txBody>
                        <a:bodyPr/>
                        <a:lstStyle/>
                        <a:p>
                          <a:r>
                            <a:rPr lang="en-US" dirty="0">
                              <a:solidFill>
                                <a:schemeClr val="tx1"/>
                              </a:solidFill>
                              <a:latin typeface="Times New Roman" panose="02020603050405020304" pitchFamily="18" charset="0"/>
                              <a:cs typeface="Times New Roman" panose="02020603050405020304" pitchFamily="18" charset="0"/>
                            </a:rPr>
                            <a:t>It is an exact opposite of what an investigator predicts or expects</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It is  exactly what an investigator predicts and expects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0223817"/>
                      </a:ext>
                    </a:extLst>
                  </a:tr>
                  <a:tr h="969988">
                    <a:tc>
                      <a:txBody>
                        <a:bodyPr/>
                        <a:lstStyle/>
                        <a:p>
                          <a:r>
                            <a:rPr lang="en-US" dirty="0">
                              <a:latin typeface="Times New Roman" panose="02020603050405020304" pitchFamily="18" charset="0"/>
                              <a:cs typeface="Times New Roman" panose="02020603050405020304" pitchFamily="18" charset="0"/>
                            </a:rPr>
                            <a:t>Statistical test are performed on Null Hypothesis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Statistical test are not performed on alternate Hypothesis</a:t>
                          </a:r>
                          <a:endParaRPr lang="en-IN" dirty="0">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2389607621"/>
                      </a:ext>
                    </a:extLst>
                  </a:tr>
                </a:tbl>
              </a:graphicData>
            </a:graphic>
          </p:graphicFrame>
        </mc:Choice>
        <mc:Fallback xmlns="">
          <p:graphicFrame>
            <p:nvGraphicFramePr>
              <p:cNvPr id="9" name="Table 8">
                <a:extLst>
                  <a:ext uri="{FF2B5EF4-FFF2-40B4-BE49-F238E27FC236}">
                    <a16:creationId xmlns:a16="http://schemas.microsoft.com/office/drawing/2014/main" id="{C18FFBAA-92AD-29CC-85E9-8A2952590A2A}"/>
                  </a:ext>
                </a:extLst>
              </p:cNvPr>
              <p:cNvGraphicFramePr>
                <a:graphicFrameLocks noGrp="1"/>
              </p:cNvGraphicFramePr>
              <p:nvPr>
                <p:extLst>
                  <p:ext uri="{D42A27DB-BD31-4B8C-83A1-F6EECF244321}">
                    <p14:modId xmlns:p14="http://schemas.microsoft.com/office/powerpoint/2010/main" val="2139869533"/>
                  </p:ext>
                </p:extLst>
              </p:nvPr>
            </p:nvGraphicFramePr>
            <p:xfrm>
              <a:off x="942392" y="1591822"/>
              <a:ext cx="10310326" cy="4025208"/>
            </p:xfrm>
            <a:graphic>
              <a:graphicData uri="http://schemas.openxmlformats.org/drawingml/2006/table">
                <a:tbl>
                  <a:tblPr firstRow="1" bandRow="1">
                    <a:tableStyleId>{5C22544A-7EE6-4342-B048-85BDC9FD1C3A}</a:tableStyleId>
                  </a:tblPr>
                  <a:tblGrid>
                    <a:gridCol w="5137637">
                      <a:extLst>
                        <a:ext uri="{9D8B030D-6E8A-4147-A177-3AD203B41FA5}">
                          <a16:colId xmlns:a16="http://schemas.microsoft.com/office/drawing/2014/main" val="2131041415"/>
                        </a:ext>
                      </a:extLst>
                    </a:gridCol>
                    <a:gridCol w="5172689">
                      <a:extLst>
                        <a:ext uri="{9D8B030D-6E8A-4147-A177-3AD203B41FA5}">
                          <a16:colId xmlns:a16="http://schemas.microsoft.com/office/drawing/2014/main" val="3306637756"/>
                        </a:ext>
                      </a:extLst>
                    </a:gridCol>
                  </a:tblGrid>
                  <a:tr h="553778">
                    <a:tc>
                      <a:txBody>
                        <a:bodyPr/>
                        <a:lstStyle/>
                        <a:p>
                          <a:r>
                            <a:rPr lang="en-US" sz="2200" dirty="0">
                              <a:latin typeface="Times New Roman" panose="02020603050405020304" pitchFamily="18" charset="0"/>
                              <a:cs typeface="Times New Roman" panose="02020603050405020304" pitchFamily="18" charset="0"/>
                            </a:rPr>
                            <a:t>Null Hypothesis</a:t>
                          </a:r>
                          <a:endParaRPr lang="en-IN" sz="22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Alternate Hypothesis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8358512"/>
                      </a:ext>
                    </a:extLst>
                  </a:tr>
                  <a:tr h="1260983">
                    <a:tc>
                      <a:txBody>
                        <a:bodyPr/>
                        <a:lstStyle/>
                        <a:p>
                          <a:r>
                            <a:rPr lang="en-US" dirty="0">
                              <a:latin typeface="Times New Roman" panose="02020603050405020304" pitchFamily="18" charset="0"/>
                              <a:cs typeface="Times New Roman" panose="02020603050405020304" pitchFamily="18" charset="0"/>
                            </a:rPr>
                            <a:t>A statement which says that there is no relationship b/w variables. </a:t>
                          </a:r>
                          <a:r>
                            <a:rPr lang="en-US" b="1" dirty="0">
                              <a:solidFill>
                                <a:srgbClr val="FF0000"/>
                              </a:solidFill>
                              <a:latin typeface="Times New Roman" panose="02020603050405020304" pitchFamily="18" charset="0"/>
                              <a:cs typeface="Times New Roman" panose="02020603050405020304" pitchFamily="18" charset="0"/>
                            </a:rPr>
                            <a:t>For </a:t>
                          </a:r>
                          <a:r>
                            <a:rPr lang="en-US" b="1" dirty="0" err="1">
                              <a:solidFill>
                                <a:srgbClr val="FF0000"/>
                              </a:solidFill>
                              <a:latin typeface="Times New Roman" panose="02020603050405020304" pitchFamily="18" charset="0"/>
                              <a:cs typeface="Times New Roman" panose="02020603050405020304" pitchFamily="18" charset="0"/>
                            </a:rPr>
                            <a:t>eg</a:t>
                          </a:r>
                          <a:r>
                            <a:rPr lang="en-US" b="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Increase in number of cancer patients is not due to increase in pollution  level</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A statement which says that there is relationship b/w variables. For </a:t>
                          </a:r>
                          <a:r>
                            <a:rPr lang="en-US" sz="1800" dirty="0" err="1">
                              <a:latin typeface="Times New Roman" panose="02020603050405020304" pitchFamily="18" charset="0"/>
                              <a:cs typeface="Times New Roman" panose="02020603050405020304" pitchFamily="18" charset="0"/>
                            </a:rPr>
                            <a:t>eg</a:t>
                          </a:r>
                          <a:r>
                            <a:rPr lang="en-US" sz="1800" dirty="0">
                              <a:latin typeface="Times New Roman" panose="02020603050405020304" pitchFamily="18" charset="0"/>
                              <a:cs typeface="Times New Roman" panose="02020603050405020304" pitchFamily="18" charset="0"/>
                            </a:rPr>
                            <a:t>: Cancer patients are increasing due to increase in pollution  level</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3889169"/>
                      </a:ext>
                    </a:extLst>
                  </a:tr>
                  <a:tr h="561468">
                    <a:tc>
                      <a:txBody>
                        <a:bodyPr/>
                        <a:lstStyle/>
                        <a:p>
                          <a:endParaRPr lang="en-US"/>
                        </a:p>
                      </a:txBody>
                      <a:tcPr>
                        <a:blipFill>
                          <a:blip r:embed="rId2"/>
                          <a:stretch>
                            <a:fillRect l="-119" t="-331522" r="-101305" b="-296739"/>
                          </a:stretch>
                        </a:blipFill>
                      </a:tcPr>
                    </a:tc>
                    <a:tc>
                      <a:txBody>
                        <a:bodyPr/>
                        <a:lstStyle/>
                        <a:p>
                          <a:endParaRPr lang="en-US"/>
                        </a:p>
                      </a:txBody>
                      <a:tcPr>
                        <a:blipFill>
                          <a:blip r:embed="rId2"/>
                          <a:stretch>
                            <a:fillRect l="-99411" t="-331522" r="-589" b="-296739"/>
                          </a:stretch>
                        </a:blipFill>
                      </a:tcPr>
                    </a:tc>
                    <a:extLst>
                      <a:ext uri="{0D108BD9-81ED-4DB2-BD59-A6C34878D82A}">
                        <a16:rowId xmlns:a16="http://schemas.microsoft.com/office/drawing/2014/main" val="888521690"/>
                      </a:ext>
                    </a:extLst>
                  </a:tr>
                  <a:tr h="678991">
                    <a:tc>
                      <a:txBody>
                        <a:bodyPr/>
                        <a:lstStyle/>
                        <a:p>
                          <a:r>
                            <a:rPr lang="en-US" dirty="0">
                              <a:solidFill>
                                <a:schemeClr val="tx1"/>
                              </a:solidFill>
                              <a:latin typeface="Times New Roman" panose="02020603050405020304" pitchFamily="18" charset="0"/>
                              <a:cs typeface="Times New Roman" panose="02020603050405020304" pitchFamily="18" charset="0"/>
                            </a:rPr>
                            <a:t>It is an exact opposite of what an investigator predicts or expects</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It is  exactly what an investigator predicts and expects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0223817"/>
                      </a:ext>
                    </a:extLst>
                  </a:tr>
                  <a:tr h="969988">
                    <a:tc>
                      <a:txBody>
                        <a:bodyPr/>
                        <a:lstStyle/>
                        <a:p>
                          <a:r>
                            <a:rPr lang="en-US" dirty="0">
                              <a:latin typeface="Times New Roman" panose="02020603050405020304" pitchFamily="18" charset="0"/>
                              <a:cs typeface="Times New Roman" panose="02020603050405020304" pitchFamily="18" charset="0"/>
                            </a:rPr>
                            <a:t>Statistical test are performed on Null Hypothesis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Statistical test are not performed on alternate Hypothesis</a:t>
                          </a:r>
                          <a:endParaRPr lang="en-IN" dirty="0">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2389607621"/>
                      </a:ext>
                    </a:extLst>
                  </a:tr>
                </a:tbl>
              </a:graphicData>
            </a:graphic>
          </p:graphicFrame>
        </mc:Fallback>
      </mc:AlternateContent>
      <p:sp>
        <p:nvSpPr>
          <p:cNvPr id="10" name="Rectangle 9">
            <a:extLst>
              <a:ext uri="{FF2B5EF4-FFF2-40B4-BE49-F238E27FC236}">
                <a16:creationId xmlns:a16="http://schemas.microsoft.com/office/drawing/2014/main" id="{03896D23-D1AA-237D-CA78-7683AD6157E9}"/>
              </a:ext>
            </a:extLst>
          </p:cNvPr>
          <p:cNvSpPr/>
          <p:nvPr/>
        </p:nvSpPr>
        <p:spPr>
          <a:xfrm>
            <a:off x="3880757" y="5477069"/>
            <a:ext cx="4311521" cy="59132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NULL Hypothesis are either rejected or not rejected</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101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2CE7-C39A-92C7-3F0B-7F2277B9F05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Statistical Test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42DD37-CCDC-95B7-6A3D-64B1EB363DDB}"/>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Statistical Test are conducted to test the hypothesis and find inferences about the population.</a:t>
            </a:r>
          </a:p>
          <a:p>
            <a:r>
              <a:rPr lang="en-US" dirty="0">
                <a:solidFill>
                  <a:schemeClr val="tx1"/>
                </a:solidFill>
                <a:latin typeface="Times New Roman" panose="02020603050405020304" pitchFamily="18" charset="0"/>
                <a:cs typeface="Times New Roman" panose="02020603050405020304" pitchFamily="18" charset="0"/>
              </a:rPr>
              <a:t>For that, samples are selected &amp; various tests are performed on them to find inference about population under study.</a:t>
            </a:r>
          </a:p>
          <a:p>
            <a:r>
              <a:rPr lang="en-US" dirty="0">
                <a:solidFill>
                  <a:schemeClr val="tx1"/>
                </a:solidFill>
                <a:latin typeface="Times New Roman" panose="02020603050405020304" pitchFamily="18" charset="0"/>
                <a:cs typeface="Times New Roman" panose="02020603050405020304" pitchFamily="18" charset="0"/>
              </a:rPr>
              <a:t>There are two types of test: </a:t>
            </a:r>
            <a:r>
              <a:rPr lang="en-US" b="1" dirty="0">
                <a:solidFill>
                  <a:srgbClr val="FF0000"/>
                </a:solidFill>
                <a:latin typeface="Times New Roman" panose="02020603050405020304" pitchFamily="18" charset="0"/>
                <a:cs typeface="Times New Roman" panose="02020603050405020304" pitchFamily="18" charset="0"/>
              </a:rPr>
              <a:t>Parametric Test </a:t>
            </a:r>
            <a:r>
              <a:rPr lang="en-US" dirty="0">
                <a:solidFill>
                  <a:schemeClr val="tx1"/>
                </a:solidFill>
                <a:latin typeface="Times New Roman" panose="02020603050405020304" pitchFamily="18" charset="0"/>
                <a:cs typeface="Times New Roman" panose="02020603050405020304" pitchFamily="18" charset="0"/>
              </a:rPr>
              <a:t>and </a:t>
            </a:r>
            <a:r>
              <a:rPr lang="en-US" b="1" dirty="0">
                <a:solidFill>
                  <a:srgbClr val="FF0000"/>
                </a:solidFill>
                <a:latin typeface="Times New Roman" panose="02020603050405020304" pitchFamily="18" charset="0"/>
                <a:cs typeface="Times New Roman" panose="02020603050405020304" pitchFamily="18" charset="0"/>
              </a:rPr>
              <a:t>non-parametric Test</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1191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0873-C3B5-FDAA-D091-2D6EC663140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Parametric Tests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8DBBBD-8C7D-33EF-430E-AEE372B929CA}"/>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Parametric tests are applied under the circumstances where the </a:t>
            </a:r>
            <a:r>
              <a:rPr lang="en-US" b="1" dirty="0">
                <a:solidFill>
                  <a:srgbClr val="FF0000"/>
                </a:solidFill>
                <a:latin typeface="Times New Roman" panose="02020603050405020304" pitchFamily="18" charset="0"/>
                <a:cs typeface="Times New Roman" panose="02020603050405020304" pitchFamily="18" charset="0"/>
              </a:rPr>
              <a:t>population is normally distributed </a:t>
            </a:r>
            <a:r>
              <a:rPr lang="en-US" dirty="0">
                <a:solidFill>
                  <a:schemeClr val="tx1"/>
                </a:solidFill>
                <a:latin typeface="Times New Roman" panose="02020603050405020304" pitchFamily="18" charset="0"/>
                <a:cs typeface="Times New Roman" panose="02020603050405020304" pitchFamily="18" charset="0"/>
              </a:rPr>
              <a:t>or assumed to be normally distributed.</a:t>
            </a:r>
          </a:p>
          <a:p>
            <a:r>
              <a:rPr lang="en-US" dirty="0">
                <a:solidFill>
                  <a:schemeClr val="tx1"/>
                </a:solidFill>
                <a:latin typeface="Times New Roman" panose="02020603050405020304" pitchFamily="18" charset="0"/>
                <a:cs typeface="Times New Roman" panose="02020603050405020304" pitchFamily="18" charset="0"/>
              </a:rPr>
              <a:t>Parameters like mean, standard deviations are used.</a:t>
            </a:r>
          </a:p>
          <a:p>
            <a:r>
              <a:rPr lang="en-US" dirty="0">
                <a:solidFill>
                  <a:schemeClr val="tx1"/>
                </a:solidFill>
                <a:latin typeface="Times New Roman" panose="02020603050405020304" pitchFamily="18" charset="0"/>
                <a:cs typeface="Times New Roman" panose="02020603050405020304" pitchFamily="18" charset="0"/>
              </a:rPr>
              <a:t>For example: T-test, F-test, Z-test, ANOVA, Pearson’s Coefficient correlation.</a:t>
            </a:r>
          </a:p>
          <a:p>
            <a:r>
              <a:rPr lang="en-US" dirty="0">
                <a:solidFill>
                  <a:schemeClr val="tx1"/>
                </a:solidFill>
                <a:latin typeface="Times New Roman" panose="02020603050405020304" pitchFamily="18" charset="0"/>
                <a:cs typeface="Times New Roman" panose="02020603050405020304" pitchFamily="18" charset="0"/>
              </a:rPr>
              <a:t>There are applied where </a:t>
            </a:r>
            <a:r>
              <a:rPr lang="en-US" b="1" dirty="0">
                <a:solidFill>
                  <a:srgbClr val="FF0000"/>
                </a:solidFill>
                <a:latin typeface="Times New Roman" panose="02020603050405020304" pitchFamily="18" charset="0"/>
                <a:cs typeface="Times New Roman" panose="02020603050405020304" pitchFamily="18" charset="0"/>
              </a:rPr>
              <a:t>data is quantitative.</a:t>
            </a:r>
          </a:p>
          <a:p>
            <a:r>
              <a:rPr lang="en-US" dirty="0">
                <a:solidFill>
                  <a:schemeClr val="tx1"/>
                </a:solidFill>
                <a:latin typeface="Times New Roman" panose="02020603050405020304" pitchFamily="18" charset="0"/>
                <a:cs typeface="Times New Roman" panose="02020603050405020304" pitchFamily="18" charset="0"/>
              </a:rPr>
              <a:t>Scale of measurement is either  interval or ratio level.</a:t>
            </a:r>
          </a:p>
          <a:p>
            <a:endParaRPr lang="en-US" dirty="0">
              <a:solidFill>
                <a:schemeClr val="tx1"/>
              </a:solidFill>
              <a:latin typeface="Times New Roman" panose="02020603050405020304" pitchFamily="18" charset="0"/>
              <a:cs typeface="Times New Roman" panose="02020603050405020304" pitchFamily="18" charset="0"/>
            </a:endParaRPr>
          </a:p>
          <a:p>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63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07F81-8D3B-1734-3C15-685C3F27293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Non parametric tests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163FE9-F1E4-A953-DC42-6FD1F91731E1}"/>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Non parametric tests are applied under the circumstances where the </a:t>
            </a:r>
            <a:r>
              <a:rPr lang="en-US" b="1" dirty="0">
                <a:solidFill>
                  <a:srgbClr val="FF0000"/>
                </a:solidFill>
                <a:latin typeface="Times New Roman" panose="02020603050405020304" pitchFamily="18" charset="0"/>
                <a:cs typeface="Times New Roman" panose="02020603050405020304" pitchFamily="18" charset="0"/>
              </a:rPr>
              <a:t>population is not normally distributed(skewed distribution).</a:t>
            </a:r>
          </a:p>
          <a:p>
            <a:r>
              <a:rPr lang="en-US" dirty="0">
                <a:solidFill>
                  <a:schemeClr val="tx1"/>
                </a:solidFill>
                <a:latin typeface="Times New Roman" panose="02020603050405020304" pitchFamily="18" charset="0"/>
                <a:cs typeface="Times New Roman" panose="02020603050405020304" pitchFamily="18" charset="0"/>
              </a:rPr>
              <a:t>Wherever parametric tests cannot be applied, them non-parametric .</a:t>
            </a:r>
          </a:p>
          <a:p>
            <a:r>
              <a:rPr lang="en-US" dirty="0">
                <a:solidFill>
                  <a:schemeClr val="tx1"/>
                </a:solidFill>
                <a:latin typeface="Times New Roman" panose="02020603050405020304" pitchFamily="18" charset="0"/>
                <a:cs typeface="Times New Roman" panose="02020603050405020304" pitchFamily="18" charset="0"/>
              </a:rPr>
              <a:t>Parameters like mean standard deviations are not used.</a:t>
            </a:r>
          </a:p>
          <a:p>
            <a:r>
              <a:rPr lang="en-US" dirty="0">
                <a:solidFill>
                  <a:schemeClr val="tx1"/>
                </a:solidFill>
                <a:latin typeface="Times New Roman" panose="02020603050405020304" pitchFamily="18" charset="0"/>
                <a:cs typeface="Times New Roman" panose="02020603050405020304" pitchFamily="18" charset="0"/>
              </a:rPr>
              <a:t>For example: Chi-square test, U-test, H-test.</a:t>
            </a:r>
          </a:p>
          <a:p>
            <a:r>
              <a:rPr lang="en-US" dirty="0">
                <a:solidFill>
                  <a:schemeClr val="tx1"/>
                </a:solidFill>
                <a:latin typeface="Times New Roman" panose="02020603050405020304" pitchFamily="18" charset="0"/>
                <a:cs typeface="Times New Roman" panose="02020603050405020304" pitchFamily="18" charset="0"/>
              </a:rPr>
              <a:t>Applied when </a:t>
            </a:r>
            <a:r>
              <a:rPr lang="en-US" b="1" dirty="0">
                <a:solidFill>
                  <a:srgbClr val="FF0000"/>
                </a:solidFill>
                <a:latin typeface="Times New Roman" panose="02020603050405020304" pitchFamily="18" charset="0"/>
                <a:cs typeface="Times New Roman" panose="02020603050405020304" pitchFamily="18" charset="0"/>
              </a:rPr>
              <a:t>data is qualitative</a:t>
            </a:r>
          </a:p>
          <a:p>
            <a:r>
              <a:rPr lang="en-US" dirty="0">
                <a:solidFill>
                  <a:schemeClr val="tx1"/>
                </a:solidFill>
                <a:latin typeface="Times New Roman" panose="02020603050405020304" pitchFamily="18" charset="0"/>
                <a:cs typeface="Times New Roman" panose="02020603050405020304" pitchFamily="18" charset="0"/>
              </a:rPr>
              <a:t>Scale of measurement is either </a:t>
            </a:r>
            <a:r>
              <a:rPr lang="en-US" b="1" dirty="0">
                <a:solidFill>
                  <a:srgbClr val="FF0000"/>
                </a:solidFill>
                <a:latin typeface="Times New Roman" panose="02020603050405020304" pitchFamily="18" charset="0"/>
                <a:cs typeface="Times New Roman" panose="02020603050405020304" pitchFamily="18" charset="0"/>
              </a:rPr>
              <a:t>ordinal or nominal.</a:t>
            </a:r>
          </a:p>
          <a:p>
            <a:endParaRPr lang="en-IN" dirty="0">
              <a:solidFill>
                <a:schemeClr val="tx1"/>
              </a:solidFill>
            </a:endParaRPr>
          </a:p>
        </p:txBody>
      </p:sp>
    </p:spTree>
    <p:extLst>
      <p:ext uri="{BB962C8B-B14F-4D97-AF65-F5344CB8AC3E}">
        <p14:creationId xmlns:p14="http://schemas.microsoft.com/office/powerpoint/2010/main" val="2643255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F4BD-C68D-ED97-420A-3B560C7A7D1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Parametric vs Non-parametric</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298F030-C620-5282-56AE-C2B56E3E2122}"/>
              </a:ext>
            </a:extLst>
          </p:cNvPr>
          <p:cNvGraphicFramePr>
            <a:graphicFrameLocks noGrp="1"/>
          </p:cNvGraphicFramePr>
          <p:nvPr>
            <p:ph idx="1"/>
            <p:extLst>
              <p:ext uri="{D42A27DB-BD31-4B8C-83A1-F6EECF244321}">
                <p14:modId xmlns:p14="http://schemas.microsoft.com/office/powerpoint/2010/main" val="1341008317"/>
              </p:ext>
            </p:extLst>
          </p:nvPr>
        </p:nvGraphicFramePr>
        <p:xfrm>
          <a:off x="1026367" y="2582863"/>
          <a:ext cx="10254342" cy="3385608"/>
        </p:xfrm>
        <a:graphic>
          <a:graphicData uri="http://schemas.openxmlformats.org/drawingml/2006/table">
            <a:tbl>
              <a:tblPr firstRow="1" bandRow="1">
                <a:tableStyleId>{5C22544A-7EE6-4342-B048-85BDC9FD1C3A}</a:tableStyleId>
              </a:tblPr>
              <a:tblGrid>
                <a:gridCol w="5127171">
                  <a:extLst>
                    <a:ext uri="{9D8B030D-6E8A-4147-A177-3AD203B41FA5}">
                      <a16:colId xmlns:a16="http://schemas.microsoft.com/office/drawing/2014/main" val="905259430"/>
                    </a:ext>
                  </a:extLst>
                </a:gridCol>
                <a:gridCol w="5127171">
                  <a:extLst>
                    <a:ext uri="{9D8B030D-6E8A-4147-A177-3AD203B41FA5}">
                      <a16:colId xmlns:a16="http://schemas.microsoft.com/office/drawing/2014/main" val="4040284224"/>
                    </a:ext>
                  </a:extLst>
                </a:gridCol>
              </a:tblGrid>
              <a:tr h="366342">
                <a:tc>
                  <a:txBody>
                    <a:bodyPr/>
                    <a:lstStyle/>
                    <a:p>
                      <a:r>
                        <a:rPr lang="en-US" dirty="0">
                          <a:latin typeface="Times New Roman" panose="02020603050405020304" pitchFamily="18" charset="0"/>
                          <a:cs typeface="Times New Roman" panose="02020603050405020304" pitchFamily="18" charset="0"/>
                        </a:rPr>
                        <a:t>Parametric test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Non-parametric test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5816057"/>
                  </a:ext>
                </a:extLst>
              </a:tr>
              <a:tr h="366342">
                <a:tc>
                  <a:txBody>
                    <a:bodyPr/>
                    <a:lstStyle/>
                    <a:p>
                      <a:r>
                        <a:rPr lang="en-US" b="1" dirty="0">
                          <a:solidFill>
                            <a:srgbClr val="FF0000"/>
                          </a:solidFill>
                          <a:latin typeface="Times New Roman" panose="02020603050405020304" pitchFamily="18" charset="0"/>
                          <a:cs typeface="Times New Roman" panose="02020603050405020304" pitchFamily="18" charset="0"/>
                        </a:rPr>
                        <a:t>Assumes distribution to be </a:t>
                      </a:r>
                      <a:r>
                        <a:rPr lang="en-US" b="1" i="0" dirty="0">
                          <a:solidFill>
                            <a:srgbClr val="FF0000"/>
                          </a:solidFill>
                          <a:latin typeface="Times New Roman" panose="02020603050405020304" pitchFamily="18" charset="0"/>
                          <a:cs typeface="Times New Roman" panose="02020603050405020304" pitchFamily="18" charset="0"/>
                        </a:rPr>
                        <a:t>Normal</a:t>
                      </a:r>
                      <a:endParaRPr lang="en-IN" b="1" i="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b="1" dirty="0">
                          <a:solidFill>
                            <a:srgbClr val="FF0000"/>
                          </a:solidFill>
                          <a:latin typeface="Times New Roman" panose="02020603050405020304" pitchFamily="18" charset="0"/>
                          <a:cs typeface="Times New Roman" panose="02020603050405020304" pitchFamily="18" charset="0"/>
                        </a:rPr>
                        <a:t>Does not assume distribution to be normal</a:t>
                      </a:r>
                      <a:endParaRPr lang="en-IN"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776130"/>
                  </a:ext>
                </a:extLst>
              </a:tr>
              <a:tr h="632317">
                <a:tc>
                  <a:txBody>
                    <a:bodyPr/>
                    <a:lstStyle/>
                    <a:p>
                      <a:r>
                        <a:rPr lang="en-US" dirty="0">
                          <a:latin typeface="Times New Roman" panose="02020603050405020304" pitchFamily="18" charset="0"/>
                          <a:cs typeface="Times New Roman" panose="02020603050405020304" pitchFamily="18" charset="0"/>
                        </a:rPr>
                        <a:t>Make assumption </a:t>
                      </a:r>
                      <a:r>
                        <a:rPr lang="en-US" b="1" dirty="0">
                          <a:solidFill>
                            <a:srgbClr val="FF0000"/>
                          </a:solidFill>
                          <a:latin typeface="Times New Roman" panose="02020603050405020304" pitchFamily="18" charset="0"/>
                          <a:cs typeface="Times New Roman" panose="02020603050405020304" pitchFamily="18" charset="0"/>
                        </a:rPr>
                        <a:t>about population</a:t>
                      </a:r>
                      <a:endParaRPr lang="en-IN"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b="1" dirty="0">
                          <a:solidFill>
                            <a:srgbClr val="FF0000"/>
                          </a:solidFill>
                          <a:latin typeface="Times New Roman" panose="02020603050405020304" pitchFamily="18" charset="0"/>
                          <a:cs typeface="Times New Roman" panose="02020603050405020304" pitchFamily="18" charset="0"/>
                        </a:rPr>
                        <a:t>Does not </a:t>
                      </a:r>
                      <a:r>
                        <a:rPr lang="en-US" dirty="0">
                          <a:latin typeface="Times New Roman" panose="02020603050405020304" pitchFamily="18" charset="0"/>
                          <a:cs typeface="Times New Roman" panose="02020603050405020304" pitchFamily="18" charset="0"/>
                        </a:rPr>
                        <a:t>make any assumptions about the </a:t>
                      </a:r>
                      <a:r>
                        <a:rPr lang="en-US" b="1" dirty="0">
                          <a:solidFill>
                            <a:srgbClr val="FF0000"/>
                          </a:solidFill>
                          <a:latin typeface="Times New Roman" panose="02020603050405020304" pitchFamily="18" charset="0"/>
                          <a:cs typeface="Times New Roman" panose="02020603050405020304" pitchFamily="18" charset="0"/>
                        </a:rPr>
                        <a:t>population</a:t>
                      </a:r>
                      <a:endParaRPr lang="en-IN"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8171959"/>
                  </a:ext>
                </a:extLst>
              </a:tr>
              <a:tr h="632317">
                <a:tc>
                  <a:txBody>
                    <a:bodyPr/>
                    <a:lstStyle/>
                    <a:p>
                      <a:r>
                        <a:rPr lang="en-US" dirty="0">
                          <a:latin typeface="Times New Roman" panose="02020603050405020304" pitchFamily="18" charset="0"/>
                          <a:cs typeface="Times New Roman" panose="02020603050405020304" pitchFamily="18" charset="0"/>
                        </a:rPr>
                        <a:t>Parameters such as </a:t>
                      </a:r>
                      <a:r>
                        <a:rPr lang="en-US" b="1" dirty="0">
                          <a:solidFill>
                            <a:srgbClr val="FF0000"/>
                          </a:solidFill>
                          <a:latin typeface="Times New Roman" panose="02020603050405020304" pitchFamily="18" charset="0"/>
                          <a:cs typeface="Times New Roman" panose="02020603050405020304" pitchFamily="18" charset="0"/>
                        </a:rPr>
                        <a:t>mean, standard  deviations are used</a:t>
                      </a:r>
                      <a:endParaRPr lang="en-IN"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b="1" dirty="0">
                          <a:solidFill>
                            <a:srgbClr val="FF0000"/>
                          </a:solidFill>
                          <a:latin typeface="Times New Roman" panose="02020603050405020304" pitchFamily="18" charset="0"/>
                          <a:cs typeface="Times New Roman" panose="02020603050405020304" pitchFamily="18" charset="0"/>
                        </a:rPr>
                        <a:t>No such parameters are used</a:t>
                      </a:r>
                      <a:endParaRPr lang="en-IN"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3577273"/>
                  </a:ext>
                </a:extLst>
              </a:tr>
              <a:tr h="632317">
                <a:tc>
                  <a:txBody>
                    <a:bodyPr/>
                    <a:lstStyle/>
                    <a:p>
                      <a:r>
                        <a:rPr lang="en-US" dirty="0">
                          <a:latin typeface="Times New Roman" panose="02020603050405020304" pitchFamily="18" charset="0"/>
                          <a:cs typeface="Times New Roman" panose="02020603050405020304" pitchFamily="18" charset="0"/>
                        </a:rPr>
                        <a:t>Scale of measurement is either </a:t>
                      </a:r>
                      <a:r>
                        <a:rPr lang="en-US" b="1" dirty="0">
                          <a:solidFill>
                            <a:srgbClr val="FF0000"/>
                          </a:solidFill>
                          <a:latin typeface="Times New Roman" panose="02020603050405020304" pitchFamily="18" charset="0"/>
                          <a:cs typeface="Times New Roman" panose="02020603050405020304" pitchFamily="18" charset="0"/>
                        </a:rPr>
                        <a:t>interval or ratio </a:t>
                      </a:r>
                      <a:endParaRPr lang="en-IN"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Scale of measurement is either </a:t>
                      </a:r>
                      <a:r>
                        <a:rPr lang="en-US" b="1" dirty="0">
                          <a:solidFill>
                            <a:srgbClr val="FF0000"/>
                          </a:solidFill>
                          <a:latin typeface="Times New Roman" panose="02020603050405020304" pitchFamily="18" charset="0"/>
                          <a:cs typeface="Times New Roman" panose="02020603050405020304" pitchFamily="18" charset="0"/>
                        </a:rPr>
                        <a:t>Ordinal or nominal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1506233341"/>
                  </a:ext>
                </a:extLst>
              </a:tr>
              <a:tr h="366342">
                <a:tc>
                  <a:txBody>
                    <a:bodyPr/>
                    <a:lstStyle/>
                    <a:p>
                      <a:r>
                        <a:rPr lang="en-US" b="1" dirty="0">
                          <a:solidFill>
                            <a:srgbClr val="FF0000"/>
                          </a:solidFill>
                          <a:latin typeface="Times New Roman" panose="02020603050405020304" pitchFamily="18" charset="0"/>
                          <a:cs typeface="Times New Roman" panose="02020603050405020304" pitchFamily="18" charset="0"/>
                        </a:rPr>
                        <a:t>Mean</a:t>
                      </a:r>
                      <a:r>
                        <a:rPr lang="en-US" dirty="0">
                          <a:latin typeface="Times New Roman" panose="02020603050405020304" pitchFamily="18" charset="0"/>
                          <a:cs typeface="Times New Roman" panose="02020603050405020304" pitchFamily="18" charset="0"/>
                        </a:rPr>
                        <a:t> as central tendency</a:t>
                      </a:r>
                      <a:endParaRPr lang="en-IN" dirty="0">
                        <a:latin typeface="Times New Roman" panose="02020603050405020304" pitchFamily="18" charset="0"/>
                        <a:cs typeface="Times New Roman" panose="02020603050405020304" pitchFamily="18" charset="0"/>
                      </a:endParaRPr>
                    </a:p>
                  </a:txBody>
                  <a:tcPr/>
                </a:tc>
                <a:tc>
                  <a:txBody>
                    <a:bodyPr/>
                    <a:lstStyle/>
                    <a:p>
                      <a:r>
                        <a:rPr lang="en-US" b="1" dirty="0">
                          <a:solidFill>
                            <a:srgbClr val="FF0000"/>
                          </a:solidFill>
                          <a:latin typeface="Times New Roman" panose="02020603050405020304" pitchFamily="18" charset="0"/>
                          <a:cs typeface="Times New Roman" panose="02020603050405020304" pitchFamily="18" charset="0"/>
                        </a:rPr>
                        <a:t>Median</a:t>
                      </a:r>
                      <a:r>
                        <a:rPr lang="en-US" dirty="0">
                          <a:latin typeface="Times New Roman" panose="02020603050405020304" pitchFamily="18" charset="0"/>
                          <a:cs typeface="Times New Roman" panose="02020603050405020304" pitchFamily="18" charset="0"/>
                        </a:rPr>
                        <a:t> as central tendency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95373602"/>
                  </a:ext>
                </a:extLst>
              </a:tr>
              <a:tr h="366342">
                <a:tc>
                  <a:txBody>
                    <a:bodyPr/>
                    <a:lstStyle/>
                    <a:p>
                      <a:r>
                        <a:rPr lang="en-US" b="1" dirty="0">
                          <a:solidFill>
                            <a:srgbClr val="FF0000"/>
                          </a:solidFill>
                          <a:latin typeface="Times New Roman" panose="02020603050405020304" pitchFamily="18" charset="0"/>
                          <a:cs typeface="Times New Roman" panose="02020603050405020304" pitchFamily="18" charset="0"/>
                        </a:rPr>
                        <a:t>Examples : T-test, Z-Test, ANNOVA</a:t>
                      </a:r>
                      <a:endParaRPr lang="en-IN"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b="1" dirty="0">
                          <a:solidFill>
                            <a:srgbClr val="FF0000"/>
                          </a:solidFill>
                          <a:latin typeface="Times New Roman" panose="02020603050405020304" pitchFamily="18" charset="0"/>
                          <a:cs typeface="Times New Roman" panose="02020603050405020304" pitchFamily="18" charset="0"/>
                        </a:rPr>
                        <a:t>Examples: Chi-Square test, U-Test , H-test</a:t>
                      </a:r>
                      <a:endParaRPr lang="en-IN"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7244354"/>
                  </a:ext>
                </a:extLst>
              </a:tr>
            </a:tbl>
          </a:graphicData>
        </a:graphic>
      </p:graphicFrame>
    </p:spTree>
    <p:extLst>
      <p:ext uri="{BB962C8B-B14F-4D97-AF65-F5344CB8AC3E}">
        <p14:creationId xmlns:p14="http://schemas.microsoft.com/office/powerpoint/2010/main" val="1612305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11416-C475-0AA6-C568-041F26AFC39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Testing techniques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37793E-E7D7-F7FB-2696-6FDAEEED1B4E}"/>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T-Test </a:t>
            </a:r>
          </a:p>
          <a:p>
            <a:r>
              <a:rPr lang="en-US" dirty="0">
                <a:solidFill>
                  <a:schemeClr val="tx1"/>
                </a:solidFill>
                <a:latin typeface="Times New Roman" panose="02020603050405020304" pitchFamily="18" charset="0"/>
                <a:cs typeface="Times New Roman" panose="02020603050405020304" pitchFamily="18" charset="0"/>
              </a:rPr>
              <a:t>Chi-Square test</a:t>
            </a:r>
          </a:p>
          <a:p>
            <a:r>
              <a:rPr lang="en-US" dirty="0">
                <a:solidFill>
                  <a:schemeClr val="tx1"/>
                </a:solidFill>
                <a:latin typeface="Times New Roman" panose="02020603050405020304" pitchFamily="18" charset="0"/>
                <a:cs typeface="Times New Roman" panose="02020603050405020304" pitchFamily="18" charset="0"/>
              </a:rPr>
              <a:t>ANNOVA</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We will learn how to solve numerical on each of the topic mentioned above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62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7C26F-85AA-D59F-6179-62D3528A4A7C}"/>
              </a:ext>
            </a:extLst>
          </p:cNvPr>
          <p:cNvSpPr>
            <a:spLocks noGrp="1"/>
          </p:cNvSpPr>
          <p:nvPr>
            <p:ph type="title"/>
          </p:nvPr>
        </p:nvSpPr>
        <p:spPr>
          <a:xfrm>
            <a:off x="979716" y="811765"/>
            <a:ext cx="10000858" cy="1035698"/>
          </a:xfrm>
        </p:spPr>
        <p:txBody>
          <a:bodyPr>
            <a:noAutofit/>
          </a:bodyPr>
          <a:lstStyle/>
          <a:p>
            <a:r>
              <a:rPr lang="en-IN" sz="2400" b="1" dirty="0">
                <a:latin typeface="Times New Roman" panose="02020603050405020304" pitchFamily="18" charset="0"/>
                <a:cs typeface="Times New Roman" panose="02020603050405020304" pitchFamily="18" charset="0"/>
              </a:rPr>
              <a:t>Briefly, describe the importance parametric tests used in context of testing of hypothesis. How such tests are different from non-parametric tests? Explain.   8 marks </a:t>
            </a:r>
            <a:br>
              <a:rPr lang="en-IN" sz="2400" dirty="0"/>
            </a:br>
            <a:endParaRPr lang="en-IN" sz="2400" dirty="0"/>
          </a:p>
        </p:txBody>
      </p:sp>
      <p:sp>
        <p:nvSpPr>
          <p:cNvPr id="3" name="Content Placeholder 2">
            <a:extLst>
              <a:ext uri="{FF2B5EF4-FFF2-40B4-BE49-F238E27FC236}">
                <a16:creationId xmlns:a16="http://schemas.microsoft.com/office/drawing/2014/main" id="{B57B2B0F-3F7B-998C-B804-BD331BFEE95B}"/>
              </a:ext>
            </a:extLst>
          </p:cNvPr>
          <p:cNvSpPr>
            <a:spLocks noGrp="1"/>
          </p:cNvSpPr>
          <p:nvPr>
            <p:ph idx="1"/>
          </p:nvPr>
        </p:nvSpPr>
        <p:spPr>
          <a:xfrm>
            <a:off x="1073020" y="1744824"/>
            <a:ext cx="9823577" cy="4131044"/>
          </a:xfrm>
        </p:spPr>
        <p:txBody>
          <a:bodyPr>
            <a:normAutofit fontScale="92500" lnSpcReduction="10000"/>
          </a:bodyPr>
          <a:lstStyle/>
          <a:p>
            <a:r>
              <a:rPr lang="en-IN" sz="2200" dirty="0">
                <a:solidFill>
                  <a:schemeClr val="tx1"/>
                </a:solidFill>
                <a:latin typeface="Times New Roman" panose="02020603050405020304" pitchFamily="18" charset="0"/>
                <a:cs typeface="Times New Roman" panose="02020603050405020304" pitchFamily="18" charset="0"/>
              </a:rPr>
              <a:t>Parametric tests are statistical methods that rely on assumptions about the distribution of the data. These tests are widely used for hypothesis testing due to their efficiency and ability to provide robust results when the assumptions are met.</a:t>
            </a:r>
          </a:p>
          <a:p>
            <a:r>
              <a:rPr lang="en-IN" sz="2200" b="1" dirty="0">
                <a:latin typeface="Times New Roman" panose="02020603050405020304" pitchFamily="18" charset="0"/>
                <a:cs typeface="Times New Roman" panose="02020603050405020304" pitchFamily="18" charset="0"/>
              </a:rPr>
              <a:t>Key Points of Importance:</a:t>
            </a: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Power of the test: </a:t>
            </a:r>
            <a:r>
              <a:rPr lang="en-IN" sz="2000" dirty="0">
                <a:solidFill>
                  <a:schemeClr val="tx1"/>
                </a:solidFill>
                <a:latin typeface="Times New Roman" panose="02020603050405020304" pitchFamily="18" charset="0"/>
                <a:cs typeface="Times New Roman" panose="02020603050405020304" pitchFamily="18" charset="0"/>
              </a:rPr>
              <a:t>Parametric tests are more powerful, meaning they are more likely to detect a true effect or difference when one exists.</a:t>
            </a:r>
            <a:endParaRPr lang="en-IN" sz="2200" b="1"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Efficiency: </a:t>
            </a:r>
            <a:r>
              <a:rPr lang="en-IN" sz="2000" dirty="0">
                <a:solidFill>
                  <a:schemeClr val="tx1"/>
                </a:solidFill>
                <a:latin typeface="Times New Roman" panose="02020603050405020304" pitchFamily="18" charset="0"/>
                <a:cs typeface="Times New Roman" panose="02020603050405020304" pitchFamily="18" charset="0"/>
              </a:rPr>
              <a:t>They make full use of the data by leveraging specific distributional properties, which leads to more accurate conclusions.</a:t>
            </a:r>
            <a:endParaRPr lang="en-IN" sz="2000" b="1"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Wide Applicability: </a:t>
            </a:r>
            <a:r>
              <a:rPr lang="en-IN" sz="2200" dirty="0">
                <a:solidFill>
                  <a:schemeClr val="tx1"/>
                </a:solidFill>
                <a:latin typeface="Times New Roman" panose="02020603050405020304" pitchFamily="18" charset="0"/>
                <a:cs typeface="Times New Roman" panose="02020603050405020304" pitchFamily="18" charset="0"/>
              </a:rPr>
              <a:t>Commonly used in fields like medicine, social sciences, and engineering to validate hypotheses.</a:t>
            </a:r>
            <a:endParaRPr lang="en-IN" sz="22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Precision: </a:t>
            </a:r>
            <a:r>
              <a:rPr lang="en-IN" sz="2200" dirty="0">
                <a:latin typeface="Times New Roman" panose="02020603050405020304" pitchFamily="18" charset="0"/>
                <a:cs typeface="Times New Roman" panose="02020603050405020304" pitchFamily="18" charset="0"/>
              </a:rPr>
              <a:t>Provide exact p-values and confidence intervals, offering precise estimates of effects.</a:t>
            </a:r>
          </a:p>
          <a:p>
            <a:pPr marL="457200" indent="-457200">
              <a:buFont typeface="+mj-lt"/>
              <a:buAutoNum type="arabicPeriod"/>
            </a:pPr>
            <a:endParaRPr lang="en-IN" sz="2200" b="1"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86349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DD9-69B4-63E9-EDCA-A0047384A435}"/>
              </a:ext>
            </a:extLst>
          </p:cNvPr>
          <p:cNvSpPr>
            <a:spLocks noGrp="1"/>
          </p:cNvSpPr>
          <p:nvPr>
            <p:ph type="title"/>
          </p:nvPr>
        </p:nvSpPr>
        <p:spPr>
          <a:xfrm>
            <a:off x="1295401" y="982132"/>
            <a:ext cx="9601196" cy="520097"/>
          </a:xfrm>
        </p:spPr>
        <p:txBody>
          <a:bodyPr>
            <a:normAutofit fontScale="90000"/>
          </a:bodyPr>
          <a:lstStyle/>
          <a:p>
            <a:r>
              <a:rPr lang="en-US" sz="2700" b="1" dirty="0">
                <a:latin typeface="Times New Roman" panose="02020603050405020304" pitchFamily="18" charset="0"/>
                <a:cs typeface="Times New Roman" panose="02020603050405020304" pitchFamily="18" charset="0"/>
              </a:rPr>
              <a:t>Write a short note on statistical hypothesis generation and testing? Jan 2023 7 marks</a:t>
            </a:r>
            <a:br>
              <a:rPr lang="en-IN" dirty="0"/>
            </a:br>
            <a:endParaRPr lang="en-IN" dirty="0"/>
          </a:p>
        </p:txBody>
      </p:sp>
      <p:sp>
        <p:nvSpPr>
          <p:cNvPr id="3" name="Content Placeholder 2">
            <a:extLst>
              <a:ext uri="{FF2B5EF4-FFF2-40B4-BE49-F238E27FC236}">
                <a16:creationId xmlns:a16="http://schemas.microsoft.com/office/drawing/2014/main" id="{D7652268-C84A-15EF-9739-964F21BFBABD}"/>
              </a:ext>
            </a:extLst>
          </p:cNvPr>
          <p:cNvSpPr>
            <a:spLocks noGrp="1"/>
          </p:cNvSpPr>
          <p:nvPr>
            <p:ph idx="1"/>
          </p:nvPr>
        </p:nvSpPr>
        <p:spPr>
          <a:xfrm>
            <a:off x="830424" y="1380931"/>
            <a:ext cx="10384972" cy="4702628"/>
          </a:xfrm>
        </p:spPr>
        <p:txBody>
          <a:bodyPr>
            <a:normAutofit fontScale="92500"/>
          </a:bodyPr>
          <a:lstStyle/>
          <a:p>
            <a:r>
              <a:rPr lang="en-IN" sz="2200" b="1" dirty="0">
                <a:latin typeface="Times New Roman" panose="02020603050405020304" pitchFamily="18" charset="0"/>
                <a:cs typeface="Times New Roman" panose="02020603050405020304" pitchFamily="18" charset="0"/>
              </a:rPr>
              <a:t>Statistical Hypothesis Generation and Testing</a:t>
            </a:r>
            <a:r>
              <a:rPr lang="en-IN" sz="2200" dirty="0">
                <a:latin typeface="Times New Roman" panose="02020603050405020304" pitchFamily="18" charset="0"/>
                <a:cs typeface="Times New Roman" panose="02020603050405020304" pitchFamily="18" charset="0"/>
              </a:rPr>
              <a:t> is a critical process in inferential statistics used to make decisions or draw conclusions about a population based on sample data.</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Hypothesis Generation</a:t>
            </a:r>
          </a:p>
          <a:p>
            <a:pPr marL="0" indent="0">
              <a:buNone/>
            </a:pPr>
            <a:r>
              <a:rPr lang="en-IN" sz="2200" dirty="0">
                <a:solidFill>
                  <a:schemeClr val="tx1"/>
                </a:solidFill>
                <a:latin typeface="Times New Roman" panose="02020603050405020304" pitchFamily="18" charset="0"/>
                <a:cs typeface="Times New Roman" panose="02020603050405020304" pitchFamily="18" charset="0"/>
              </a:rPr>
              <a:t>Hypothesis generation involves creating assumptions or educated guesses about a population parameter.</a:t>
            </a: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Types of Hypothesis</a:t>
            </a:r>
          </a:p>
          <a:p>
            <a:pPr>
              <a:buFont typeface="Wingdings" panose="05000000000000000000" pitchFamily="2" charset="2"/>
              <a:buChar char="Ø"/>
            </a:pPr>
            <a:r>
              <a:rPr lang="en-IN" sz="2200" b="1" dirty="0">
                <a:solidFill>
                  <a:schemeClr val="tx1"/>
                </a:solidFill>
                <a:latin typeface="Times New Roman" panose="02020603050405020304" pitchFamily="18" charset="0"/>
                <a:cs typeface="Times New Roman" panose="02020603050405020304" pitchFamily="18" charset="0"/>
              </a:rPr>
              <a:t>Null Hypothesis: </a:t>
            </a:r>
            <a:r>
              <a:rPr lang="en-IN" sz="2200" dirty="0">
                <a:solidFill>
                  <a:schemeClr val="tx1"/>
                </a:solidFill>
                <a:latin typeface="Times New Roman" panose="02020603050405020304" pitchFamily="18" charset="0"/>
                <a:cs typeface="Times New Roman" panose="02020603050405020304" pitchFamily="18" charset="0"/>
              </a:rPr>
              <a:t>A statement that assumes no effect, no difference, or no relationship in the population.</a:t>
            </a:r>
          </a:p>
          <a:p>
            <a:pPr>
              <a:buFont typeface="Wingdings" panose="05000000000000000000" pitchFamily="2" charset="2"/>
              <a:buChar char="Ø"/>
            </a:pPr>
            <a:r>
              <a:rPr lang="en-IN" sz="2200" b="1" dirty="0">
                <a:solidFill>
                  <a:schemeClr val="tx1"/>
                </a:solidFill>
                <a:latin typeface="Times New Roman" panose="02020603050405020304" pitchFamily="18" charset="0"/>
                <a:cs typeface="Times New Roman" panose="02020603050405020304" pitchFamily="18" charset="0"/>
              </a:rPr>
              <a:t>Alternate Hypothesis: </a:t>
            </a:r>
            <a:r>
              <a:rPr lang="en-IN" sz="2200" dirty="0">
                <a:latin typeface="Times New Roman" panose="02020603050405020304" pitchFamily="18" charset="0"/>
                <a:cs typeface="Times New Roman" panose="02020603050405020304" pitchFamily="18" charset="0"/>
              </a:rPr>
              <a:t>A statement that contradicts the null hypothesis</a:t>
            </a:r>
            <a:r>
              <a:rPr lang="en-IN" dirty="0">
                <a:latin typeface="Times New Roman" panose="02020603050405020304" pitchFamily="18" charset="0"/>
                <a:cs typeface="Times New Roman" panose="02020603050405020304" pitchFamily="18" charset="0"/>
              </a:rPr>
              <a:t>. </a:t>
            </a: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Example: </a:t>
            </a:r>
            <a:r>
              <a:rPr lang="en-IN" sz="2200" dirty="0">
                <a:latin typeface="Times New Roman" panose="02020603050405020304" pitchFamily="18" charset="0"/>
                <a:cs typeface="Times New Roman" panose="02020603050405020304" pitchFamily="18" charset="0"/>
              </a:rPr>
              <a:t>In testing a new drug, the null hypothesis might state that the drug has no effect on patients, while the alternative hypothesis would state that the drug does have an effect.</a:t>
            </a:r>
          </a:p>
          <a:p>
            <a:pPr marL="0" indent="0">
              <a:buNone/>
            </a:pPr>
            <a:endParaRPr lang="en-IN" sz="2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3246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7B3D29-FD1E-3D67-8630-92E42CA7E4FF}"/>
              </a:ext>
            </a:extLst>
          </p:cNvPr>
          <p:cNvSpPr>
            <a:spLocks noGrp="1"/>
          </p:cNvSpPr>
          <p:nvPr>
            <p:ph idx="1"/>
          </p:nvPr>
        </p:nvSpPr>
        <p:spPr>
          <a:xfrm>
            <a:off x="1045029" y="737117"/>
            <a:ext cx="10254342" cy="5411755"/>
          </a:xfrm>
        </p:spPr>
        <p:txBody>
          <a:bodyPr>
            <a:normAutofit/>
          </a:bodyPr>
          <a:lstStyle/>
          <a:p>
            <a:r>
              <a:rPr lang="en-US" sz="2200" b="1" dirty="0">
                <a:latin typeface="Times New Roman" panose="02020603050405020304" pitchFamily="18" charset="0"/>
                <a:cs typeface="Times New Roman" panose="02020603050405020304" pitchFamily="18" charset="0"/>
              </a:rPr>
              <a:t>Hypothesis Testing: </a:t>
            </a:r>
            <a:r>
              <a:rPr lang="en-IN" sz="2200" dirty="0">
                <a:solidFill>
                  <a:schemeClr val="tx1"/>
                </a:solidFill>
                <a:latin typeface="Times New Roman" panose="02020603050405020304" pitchFamily="18" charset="0"/>
                <a:cs typeface="Times New Roman" panose="02020603050405020304" pitchFamily="18" charset="0"/>
              </a:rPr>
              <a:t>Hypothesis testing is a formal statistical procedure used to decide whether to reject or fail to reject the null hypothesis based on sample data.</a:t>
            </a:r>
          </a:p>
          <a:p>
            <a:r>
              <a:rPr lang="en-IN" sz="2200" b="1" dirty="0">
                <a:latin typeface="Times New Roman" panose="02020603050405020304" pitchFamily="18" charset="0"/>
                <a:cs typeface="Times New Roman" panose="02020603050405020304" pitchFamily="18" charset="0"/>
              </a:rPr>
              <a:t>Steps in Hypothesis Testing:</a:t>
            </a:r>
            <a:endParaRPr lang="en-IN" sz="22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Select a significance level </a:t>
            </a:r>
            <a:r>
              <a:rPr lang="en-IN" b="1" dirty="0"/>
              <a:t>(α):</a:t>
            </a:r>
            <a:r>
              <a:rPr lang="en-IN" dirty="0"/>
              <a:t> </a:t>
            </a:r>
            <a:r>
              <a:rPr lang="en-IN" sz="2200" dirty="0">
                <a:solidFill>
                  <a:schemeClr val="tx1"/>
                </a:solidFill>
                <a:latin typeface="Times New Roman" panose="02020603050405020304" pitchFamily="18" charset="0"/>
                <a:cs typeface="Times New Roman" panose="02020603050405020304" pitchFamily="18" charset="0"/>
              </a:rPr>
              <a:t>This is the threshold for determining whether the observed data is sufficiently unlikely under the null hypothesis. Common values are 0.05 or 0.01.</a:t>
            </a: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Collect Sample Data:</a:t>
            </a:r>
            <a:r>
              <a:rPr lang="en-IN" sz="2200" dirty="0">
                <a:latin typeface="Times New Roman" panose="02020603050405020304" pitchFamily="18" charset="0"/>
                <a:cs typeface="Times New Roman" panose="02020603050405020304" pitchFamily="18" charset="0"/>
              </a:rPr>
              <a:t> Gather data through experiments, surveys, or other methods.</a:t>
            </a: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Choose a Test Statistic:</a:t>
            </a:r>
            <a:r>
              <a:rPr lang="en-IN" sz="2200" dirty="0">
                <a:latin typeface="Times New Roman" panose="02020603050405020304" pitchFamily="18" charset="0"/>
                <a:cs typeface="Times New Roman" panose="02020603050405020304" pitchFamily="18" charset="0"/>
              </a:rPr>
              <a:t> Depending on the data and hypotheses, select a test statistic (e.g., t-test, z-test, chi-square test) to compare the sample data to what is expected under the null hypothesis.</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Calculate the Test Statistic and P-Value:</a:t>
            </a:r>
            <a:r>
              <a:rPr lang="en-IN" sz="2200" dirty="0">
                <a:solidFill>
                  <a:schemeClr val="tx1"/>
                </a:solidFill>
                <a:latin typeface="Times New Roman" panose="02020603050405020304" pitchFamily="18" charset="0"/>
                <a:cs typeface="Times New Roman" panose="02020603050405020304" pitchFamily="18" charset="0"/>
              </a:rPr>
              <a:t> Use the sample data to compute the test statistic and determine the p-value, which indicates the probability of observing the data if the null hypothesis is true.</a:t>
            </a:r>
          </a:p>
          <a:p>
            <a:pPr marL="457200" indent="-457200">
              <a:buFont typeface="+mj-lt"/>
              <a:buAutoNum type="arabicPeriod"/>
            </a:pPr>
            <a:endParaRPr lang="en-IN" sz="2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642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24D32D-B599-4294-D92A-7E1264EF1F04}"/>
              </a:ext>
            </a:extLst>
          </p:cNvPr>
          <p:cNvSpPr>
            <a:spLocks noGrp="1"/>
          </p:cNvSpPr>
          <p:nvPr>
            <p:ph idx="1"/>
          </p:nvPr>
        </p:nvSpPr>
        <p:spPr>
          <a:xfrm>
            <a:off x="923731" y="942392"/>
            <a:ext cx="9972866" cy="4933476"/>
          </a:xfrm>
        </p:spPr>
        <p:txBody>
          <a:bodyPr>
            <a:normAutofit lnSpcReduction="100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Make a decision</a:t>
            </a:r>
          </a:p>
          <a:p>
            <a:pPr lvl="2"/>
            <a:r>
              <a:rPr lang="en-IN" sz="2200" b="1" dirty="0">
                <a:solidFill>
                  <a:schemeClr val="tx1"/>
                </a:solidFill>
                <a:latin typeface="Times New Roman" panose="02020603050405020304" pitchFamily="18" charset="0"/>
                <a:cs typeface="Times New Roman" panose="02020603050405020304" pitchFamily="18" charset="0"/>
              </a:rPr>
              <a:t>Reject H₀:</a:t>
            </a:r>
            <a:r>
              <a:rPr lang="en-IN" sz="2200" dirty="0">
                <a:solidFill>
                  <a:schemeClr val="tx1"/>
                </a:solidFill>
                <a:latin typeface="Times New Roman" panose="02020603050405020304" pitchFamily="18" charset="0"/>
                <a:cs typeface="Times New Roman" panose="02020603050405020304" pitchFamily="18" charset="0"/>
              </a:rPr>
              <a:t> If the p-value is less than α, reject the null hypothesis in </a:t>
            </a:r>
            <a:r>
              <a:rPr lang="en-IN" sz="2200" dirty="0" err="1">
                <a:solidFill>
                  <a:schemeClr val="tx1"/>
                </a:solidFill>
                <a:latin typeface="Times New Roman" panose="02020603050405020304" pitchFamily="18" charset="0"/>
                <a:cs typeface="Times New Roman" panose="02020603050405020304" pitchFamily="18" charset="0"/>
              </a:rPr>
              <a:t>favor</a:t>
            </a:r>
            <a:r>
              <a:rPr lang="en-IN" sz="2200" dirty="0">
                <a:solidFill>
                  <a:schemeClr val="tx1"/>
                </a:solidFill>
                <a:latin typeface="Times New Roman" panose="02020603050405020304" pitchFamily="18" charset="0"/>
                <a:cs typeface="Times New Roman" panose="02020603050405020304" pitchFamily="18" charset="0"/>
              </a:rPr>
              <a:t> of the alternative hypothesis.</a:t>
            </a:r>
          </a:p>
          <a:p>
            <a:pPr lvl="2"/>
            <a:r>
              <a:rPr lang="en-IN" sz="2200" b="1" dirty="0">
                <a:solidFill>
                  <a:schemeClr val="tx1"/>
                </a:solidFill>
                <a:latin typeface="Times New Roman" panose="02020603050405020304" pitchFamily="18" charset="0"/>
                <a:cs typeface="Times New Roman" panose="02020603050405020304" pitchFamily="18" charset="0"/>
              </a:rPr>
              <a:t>Fail to Reject H₀:</a:t>
            </a:r>
            <a:r>
              <a:rPr lang="en-IN" sz="2200" dirty="0">
                <a:solidFill>
                  <a:schemeClr val="tx1"/>
                </a:solidFill>
                <a:latin typeface="Times New Roman" panose="02020603050405020304" pitchFamily="18" charset="0"/>
                <a:cs typeface="Times New Roman" panose="02020603050405020304" pitchFamily="18" charset="0"/>
              </a:rPr>
              <a:t> If the p-value is greater than or equal to α, there is not enough evidence to reject the null hypothesis.</a:t>
            </a:r>
          </a:p>
          <a:p>
            <a:pPr marL="914400" lvl="2" indent="0">
              <a:buNone/>
            </a:pPr>
            <a:r>
              <a:rPr lang="en-IN" sz="2200" b="1" dirty="0">
                <a:solidFill>
                  <a:schemeClr val="tx1"/>
                </a:solidFill>
                <a:latin typeface="Times New Roman" panose="02020603050405020304" pitchFamily="18" charset="0"/>
                <a:cs typeface="Times New Roman" panose="02020603050405020304" pitchFamily="18" charset="0"/>
              </a:rPr>
              <a:t>Example:</a:t>
            </a:r>
            <a:r>
              <a:rPr lang="en-IN" sz="2200" dirty="0">
                <a:latin typeface="Times New Roman" panose="02020603050405020304" pitchFamily="18" charset="0"/>
                <a:cs typeface="Times New Roman" panose="02020603050405020304" pitchFamily="18" charset="0"/>
              </a:rPr>
              <a:t> </a:t>
            </a:r>
            <a:r>
              <a:rPr lang="en-IN" sz="2200" dirty="0">
                <a:solidFill>
                  <a:schemeClr val="tx1"/>
                </a:solidFill>
                <a:latin typeface="Times New Roman" panose="02020603050405020304" pitchFamily="18" charset="0"/>
                <a:cs typeface="Times New Roman" panose="02020603050405020304" pitchFamily="18" charset="0"/>
              </a:rPr>
              <a:t>If testing whether a new teaching method improves student performance, and the p-value is found to be 0.03 with α = 0.05, the null hypothesis that the method has no effect would be rejected.</a:t>
            </a:r>
          </a:p>
          <a:p>
            <a:pPr>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Conclusion:</a:t>
            </a:r>
            <a:r>
              <a:rPr lang="en-IN" sz="2200" dirty="0">
                <a:latin typeface="Times New Roman" panose="02020603050405020304" pitchFamily="18" charset="0"/>
                <a:cs typeface="Times New Roman" panose="02020603050405020304" pitchFamily="18" charset="0"/>
              </a:rPr>
              <a:t> </a:t>
            </a:r>
            <a:r>
              <a:rPr lang="en-IN" sz="2200" dirty="0">
                <a:solidFill>
                  <a:schemeClr val="tx1"/>
                </a:solidFill>
                <a:latin typeface="Times New Roman" panose="02020603050405020304" pitchFamily="18" charset="0"/>
                <a:cs typeface="Times New Roman" panose="02020603050405020304" pitchFamily="18" charset="0"/>
              </a:rPr>
              <a:t>Statistical hypothesis generation and testing provide a structured approach to making data-driven decisions. By systematically evaluating hypotheses, researchers can draw valid conclusions about the population from which the sample was drawn, ensuring that their findings are supported by evidence rather than mere speculation</a:t>
            </a:r>
          </a:p>
        </p:txBody>
      </p:sp>
    </p:spTree>
    <p:extLst>
      <p:ext uri="{BB962C8B-B14F-4D97-AF65-F5344CB8AC3E}">
        <p14:creationId xmlns:p14="http://schemas.microsoft.com/office/powerpoint/2010/main" val="3543795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EEC3B-FD19-CD86-9CE3-DF3E85A14E6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T-Test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43F46B-81FD-BE7C-4074-2F6538CB6FC6}"/>
              </a:ext>
            </a:extLst>
          </p:cNvPr>
          <p:cNvSpPr>
            <a:spLocks noGrp="1"/>
          </p:cNvSpPr>
          <p:nvPr>
            <p:ph idx="1"/>
          </p:nvPr>
        </p:nvSpPr>
        <p:spPr>
          <a:xfrm>
            <a:off x="1295400" y="2556931"/>
            <a:ext cx="9705391" cy="3638595"/>
          </a:xfrm>
        </p:spPr>
        <p:txBody>
          <a:bodyPr>
            <a:normAutofit fontScale="92500" lnSpcReduction="20000"/>
          </a:bodyPr>
          <a:lstStyle/>
          <a:p>
            <a:r>
              <a:rPr lang="en-US" dirty="0">
                <a:solidFill>
                  <a:schemeClr val="tx1"/>
                </a:solidFill>
                <a:latin typeface="Times New Roman" panose="02020603050405020304" pitchFamily="18" charset="0"/>
                <a:cs typeface="Times New Roman" panose="02020603050405020304" pitchFamily="18" charset="0"/>
              </a:rPr>
              <a:t>It is a parametric </a:t>
            </a:r>
            <a:r>
              <a:rPr lang="en-US" b="1" dirty="0">
                <a:solidFill>
                  <a:srgbClr val="FF0000"/>
                </a:solidFill>
                <a:latin typeface="Times New Roman" panose="02020603050405020304" pitchFamily="18" charset="0"/>
                <a:cs typeface="Times New Roman" panose="02020603050405020304" pitchFamily="18" charset="0"/>
              </a:rPr>
              <a:t>test of hypothesis testing</a:t>
            </a:r>
            <a:r>
              <a:rPr lang="en-US" dirty="0">
                <a:solidFill>
                  <a:schemeClr val="tx1"/>
                </a:solidFill>
                <a:latin typeface="Times New Roman" panose="02020603050405020304" pitchFamily="18" charset="0"/>
                <a:cs typeface="Times New Roman" panose="02020603050405020304" pitchFamily="18" charset="0"/>
              </a:rPr>
              <a:t> based on Student’s T distribution.</a:t>
            </a:r>
          </a:p>
          <a:p>
            <a:r>
              <a:rPr lang="en-US" b="1" dirty="0">
                <a:solidFill>
                  <a:srgbClr val="FF0000"/>
                </a:solidFill>
                <a:latin typeface="Times New Roman" panose="02020603050405020304" pitchFamily="18" charset="0"/>
                <a:cs typeface="Times New Roman" panose="02020603050405020304" pitchFamily="18" charset="0"/>
              </a:rPr>
              <a:t>It is essentially, testing the significance of difference </a:t>
            </a:r>
            <a:r>
              <a:rPr lang="en-US" dirty="0">
                <a:solidFill>
                  <a:schemeClr val="tx1"/>
                </a:solidFill>
                <a:latin typeface="Times New Roman" panose="02020603050405020304" pitchFamily="18" charset="0"/>
                <a:cs typeface="Times New Roman" panose="02020603050405020304" pitchFamily="18" charset="0"/>
              </a:rPr>
              <a:t>of the mean values when sample size is small</a:t>
            </a:r>
            <a:r>
              <a:rPr lang="en-US" b="1" dirty="0">
                <a:solidFill>
                  <a:srgbClr val="FF0000"/>
                </a:solidFill>
                <a:latin typeface="Times New Roman" panose="02020603050405020304" pitchFamily="18" charset="0"/>
                <a:cs typeface="Times New Roman" panose="02020603050405020304" pitchFamily="18" charset="0"/>
              </a:rPr>
              <a:t>(i.e. less than 30</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&amp; when population </a:t>
            </a:r>
            <a:r>
              <a:rPr lang="en-US" dirty="0">
                <a:solidFill>
                  <a:schemeClr val="tx1"/>
                </a:solidFill>
                <a:latin typeface="Times New Roman" panose="02020603050405020304" pitchFamily="18" charset="0"/>
                <a:cs typeface="Times New Roman" panose="02020603050405020304" pitchFamily="18" charset="0"/>
              </a:rPr>
              <a:t>standard deviation is not available.</a:t>
            </a:r>
          </a:p>
          <a:p>
            <a:r>
              <a:rPr lang="en-US" b="1" dirty="0">
                <a:solidFill>
                  <a:srgbClr val="FF0000"/>
                </a:solidFill>
                <a:latin typeface="Times New Roman" panose="02020603050405020304" pitchFamily="18" charset="0"/>
                <a:cs typeface="Times New Roman" panose="02020603050405020304" pitchFamily="18" charset="0"/>
              </a:rPr>
              <a:t>Assumptions:</a:t>
            </a:r>
          </a:p>
          <a:p>
            <a:pPr marL="457200" indent="-457200">
              <a:buFont typeface="+mj-lt"/>
              <a:buAutoNum type="arabicPeriod"/>
            </a:pPr>
            <a:r>
              <a:rPr lang="en-IN" b="1" dirty="0">
                <a:solidFill>
                  <a:schemeClr val="tx1"/>
                </a:solidFill>
                <a:latin typeface="Times New Roman" panose="02020603050405020304" pitchFamily="18" charset="0"/>
                <a:cs typeface="Times New Roman" panose="02020603050405020304" pitchFamily="18" charset="0"/>
              </a:rPr>
              <a:t>Population distribution is normal</a:t>
            </a:r>
          </a:p>
          <a:p>
            <a:pPr marL="457200" indent="-457200">
              <a:buFont typeface="+mj-lt"/>
              <a:buAutoNum type="arabicPeriod"/>
            </a:pPr>
            <a:r>
              <a:rPr lang="en-IN" b="1" dirty="0">
                <a:solidFill>
                  <a:schemeClr val="tx1"/>
                </a:solidFill>
                <a:latin typeface="Times New Roman" panose="02020603050405020304" pitchFamily="18" charset="0"/>
                <a:cs typeface="Times New Roman" panose="02020603050405020304" pitchFamily="18" charset="0"/>
              </a:rPr>
              <a:t>Samples are random and independent</a:t>
            </a:r>
          </a:p>
          <a:p>
            <a:pPr marL="457200" indent="-457200">
              <a:buFont typeface="+mj-lt"/>
              <a:buAutoNum type="arabicPeriod"/>
            </a:pPr>
            <a:r>
              <a:rPr lang="en-IN" b="1" dirty="0">
                <a:solidFill>
                  <a:schemeClr val="tx1"/>
                </a:solidFill>
                <a:latin typeface="Times New Roman" panose="02020603050405020304" pitchFamily="18" charset="0"/>
                <a:cs typeface="Times New Roman" panose="02020603050405020304" pitchFamily="18" charset="0"/>
              </a:rPr>
              <a:t>Sample size is small</a:t>
            </a:r>
          </a:p>
          <a:p>
            <a:pPr marL="457200" indent="-457200">
              <a:buFont typeface="+mj-lt"/>
              <a:buAutoNum type="arabicPeriod"/>
            </a:pPr>
            <a:r>
              <a:rPr lang="en-IN" b="1" dirty="0">
                <a:solidFill>
                  <a:schemeClr val="tx1"/>
                </a:solidFill>
                <a:latin typeface="Times New Roman" panose="02020603050405020304" pitchFamily="18" charset="0"/>
                <a:cs typeface="Times New Roman" panose="02020603050405020304" pitchFamily="18" charset="0"/>
              </a:rPr>
              <a:t>Population standard deviation is not known</a:t>
            </a:r>
          </a:p>
        </p:txBody>
      </p:sp>
    </p:spTree>
    <p:extLst>
      <p:ext uri="{BB962C8B-B14F-4D97-AF65-F5344CB8AC3E}">
        <p14:creationId xmlns:p14="http://schemas.microsoft.com/office/powerpoint/2010/main" val="1121964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60F3C65-F8FC-C6F6-8323-196AC11E8B01}"/>
              </a:ext>
            </a:extLst>
          </p:cNvPr>
          <p:cNvPicPr>
            <a:picLocks noChangeAspect="1"/>
          </p:cNvPicPr>
          <p:nvPr/>
        </p:nvPicPr>
        <p:blipFill>
          <a:blip r:embed="rId2"/>
          <a:stretch>
            <a:fillRect/>
          </a:stretch>
        </p:blipFill>
        <p:spPr>
          <a:xfrm>
            <a:off x="1489962" y="782711"/>
            <a:ext cx="8372495" cy="5429988"/>
          </a:xfrm>
          <a:prstGeom prst="rect">
            <a:avLst/>
          </a:prstGeom>
        </p:spPr>
      </p:pic>
    </p:spTree>
    <p:extLst>
      <p:ext uri="{BB962C8B-B14F-4D97-AF65-F5344CB8AC3E}">
        <p14:creationId xmlns:p14="http://schemas.microsoft.com/office/powerpoint/2010/main" val="626298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AB86D-BE5A-18AB-8FFF-060CAF92368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Two tailed and one tailed test</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494ED9A-2099-0F40-014E-5AA675CC543E}"/>
              </a:ext>
            </a:extLst>
          </p:cNvPr>
          <p:cNvPicPr>
            <a:picLocks noGrp="1" noChangeAspect="1"/>
          </p:cNvPicPr>
          <p:nvPr>
            <p:ph idx="1"/>
          </p:nvPr>
        </p:nvPicPr>
        <p:blipFill>
          <a:blip r:embed="rId2"/>
          <a:stretch>
            <a:fillRect/>
          </a:stretch>
        </p:blipFill>
        <p:spPr>
          <a:xfrm>
            <a:off x="1128535" y="2033832"/>
            <a:ext cx="4780853" cy="2043885"/>
          </a:xfrm>
        </p:spPr>
      </p:pic>
      <p:pic>
        <p:nvPicPr>
          <p:cNvPr id="1026" name="Picture 2" descr="One-Tailed and Two-Tailed Hypothesis Tests Explained ...">
            <a:extLst>
              <a:ext uri="{FF2B5EF4-FFF2-40B4-BE49-F238E27FC236}">
                <a16:creationId xmlns:a16="http://schemas.microsoft.com/office/drawing/2014/main" id="{21D5D4FD-834A-6F17-3A7D-BB2281245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1109" y="2156527"/>
            <a:ext cx="3635829" cy="24238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ailed Test - an overview | ScienceDirect Topics">
            <a:extLst>
              <a:ext uri="{FF2B5EF4-FFF2-40B4-BE49-F238E27FC236}">
                <a16:creationId xmlns:a16="http://schemas.microsoft.com/office/drawing/2014/main" id="{B1EDE484-4CF4-02BF-25A8-E3D4D6ACFC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5471" y="4310743"/>
            <a:ext cx="3753917" cy="197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249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83FA-221D-FE78-F255-D075D0A7784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Steps for T-test</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ED13BD-5B96-B8DB-7E60-0420C7E4BBB1}"/>
                  </a:ext>
                </a:extLst>
              </p:cNvPr>
              <p:cNvSpPr>
                <a:spLocks noGrp="1"/>
              </p:cNvSpPr>
              <p:nvPr>
                <p:ph idx="1"/>
              </p:nvPr>
            </p:nvSpPr>
            <p:spPr>
              <a:xfrm>
                <a:off x="1295401" y="2556931"/>
                <a:ext cx="9724052" cy="3517297"/>
              </a:xfrm>
            </p:spPr>
            <p:txBody>
              <a:bodyPr>
                <a:normAutofit fontScale="92500" lnSpcReduction="10000"/>
              </a:bodyPr>
              <a:lstStyle/>
              <a:p>
                <a:pPr marL="0" indent="0">
                  <a:buNone/>
                </a:pPr>
                <a:r>
                  <a:rPr lang="en-US" sz="2200" b="1" dirty="0">
                    <a:solidFill>
                      <a:schemeClr val="tx1"/>
                    </a:solidFill>
                    <a:latin typeface="Times New Roman" panose="02020603050405020304" pitchFamily="18" charset="0"/>
                    <a:cs typeface="Times New Roman" panose="02020603050405020304" pitchFamily="18" charset="0"/>
                  </a:rPr>
                  <a:t>Step 1: State the hypothesis</a:t>
                </a:r>
              </a:p>
              <a:p>
                <a:r>
                  <a:rPr lang="en-US" sz="2200" b="1" dirty="0">
                    <a:solidFill>
                      <a:schemeClr val="tx1"/>
                    </a:solidFill>
                    <a:latin typeface="Times New Roman" panose="02020603050405020304" pitchFamily="18" charset="0"/>
                    <a:cs typeface="Times New Roman" panose="02020603050405020304" pitchFamily="18" charset="0"/>
                  </a:rPr>
                  <a:t>Null hypothesis (</a:t>
                </a:r>
                <a14:m>
                  <m:oMath xmlns:m="http://schemas.openxmlformats.org/officeDocument/2006/math">
                    <m:sSub>
                      <m:sSubPr>
                        <m:ctrlPr>
                          <a:rPr lang="en-US" sz="2200" b="1" i="1" smtClean="0">
                            <a:solidFill>
                              <a:schemeClr val="tx1"/>
                            </a:solidFill>
                            <a:latin typeface="Cambria Math" panose="02040503050406030204" pitchFamily="18" charset="0"/>
                            <a:cs typeface="Times New Roman" panose="02020603050405020304" pitchFamily="18" charset="0"/>
                          </a:rPr>
                        </m:ctrlPr>
                      </m:sSubPr>
                      <m:e>
                        <m:r>
                          <a:rPr lang="en-US" sz="2200" b="1" i="1" smtClean="0">
                            <a:solidFill>
                              <a:schemeClr val="tx1"/>
                            </a:solidFill>
                            <a:latin typeface="Cambria Math" panose="02040503050406030204" pitchFamily="18" charset="0"/>
                            <a:cs typeface="Times New Roman" panose="02020603050405020304" pitchFamily="18" charset="0"/>
                          </a:rPr>
                          <m:t>𝑯</m:t>
                        </m:r>
                      </m:e>
                      <m:sub>
                        <m:r>
                          <a:rPr lang="en-US" sz="2200" b="1" i="1" smtClean="0">
                            <a:solidFill>
                              <a:schemeClr val="tx1"/>
                            </a:solidFill>
                            <a:latin typeface="Cambria Math" panose="02040503050406030204" pitchFamily="18" charset="0"/>
                            <a:cs typeface="Times New Roman" panose="02020603050405020304" pitchFamily="18" charset="0"/>
                          </a:rPr>
                          <m:t>𝟎</m:t>
                        </m:r>
                      </m:sub>
                    </m:sSub>
                  </m:oMath>
                </a14:m>
                <a:r>
                  <a:rPr lang="en-US" sz="2200" b="1" dirty="0">
                    <a:solidFill>
                      <a:schemeClr val="tx1"/>
                    </a:solidFill>
                    <a:latin typeface="Times New Roman" panose="02020603050405020304" pitchFamily="18" charset="0"/>
                    <a:cs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The parameter (e.g. mean) is equal to specific value.</a:t>
                </a:r>
              </a:p>
              <a:p>
                <a:r>
                  <a:rPr lang="en-US" sz="2200" b="1" dirty="0">
                    <a:solidFill>
                      <a:schemeClr val="tx1"/>
                    </a:solidFill>
                    <a:latin typeface="Times New Roman" panose="02020603050405020304" pitchFamily="18" charset="0"/>
                    <a:cs typeface="Times New Roman" panose="02020603050405020304" pitchFamily="18" charset="0"/>
                  </a:rPr>
                  <a:t>Alternate hypothesis (</a:t>
                </a:r>
                <a14:m>
                  <m:oMath xmlns:m="http://schemas.openxmlformats.org/officeDocument/2006/math">
                    <m:sSub>
                      <m:sSubPr>
                        <m:ctrlPr>
                          <a:rPr lang="en-US" sz="2200" b="1" i="1">
                            <a:solidFill>
                              <a:schemeClr val="tx1"/>
                            </a:solidFill>
                            <a:latin typeface="Cambria Math" panose="02040503050406030204" pitchFamily="18" charset="0"/>
                            <a:cs typeface="Times New Roman" panose="02020603050405020304" pitchFamily="18" charset="0"/>
                          </a:rPr>
                        </m:ctrlPr>
                      </m:sSubPr>
                      <m:e>
                        <m:r>
                          <a:rPr lang="en-US" sz="2200" b="1" i="1">
                            <a:solidFill>
                              <a:schemeClr val="tx1"/>
                            </a:solidFill>
                            <a:latin typeface="Cambria Math" panose="02040503050406030204" pitchFamily="18" charset="0"/>
                            <a:cs typeface="Times New Roman" panose="02020603050405020304" pitchFamily="18" charset="0"/>
                          </a:rPr>
                          <m:t>𝑯</m:t>
                        </m:r>
                      </m:e>
                      <m:sub>
                        <m:r>
                          <a:rPr lang="en-US" sz="2200" b="1" i="1" smtClean="0">
                            <a:solidFill>
                              <a:schemeClr val="tx1"/>
                            </a:solidFill>
                            <a:latin typeface="Cambria Math" panose="02040503050406030204" pitchFamily="18" charset="0"/>
                            <a:cs typeface="Times New Roman" panose="02020603050405020304" pitchFamily="18" charset="0"/>
                          </a:rPr>
                          <m:t>𝟏</m:t>
                        </m:r>
                      </m:sub>
                    </m:sSub>
                  </m:oMath>
                </a14:m>
                <a:r>
                  <a:rPr lang="en-IN" sz="2200" b="1"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IN" sz="2200" b="1" dirty="0">
                    <a:solidFill>
                      <a:schemeClr val="tx1"/>
                    </a:solidFill>
                    <a:latin typeface="Times New Roman" panose="02020603050405020304" pitchFamily="18" charset="0"/>
                    <a:cs typeface="Times New Roman" panose="02020603050405020304" pitchFamily="18" charset="0"/>
                  </a:rPr>
                  <a:t>    </a:t>
                </a:r>
                <a:r>
                  <a:rPr lang="en-IN" sz="2200" dirty="0">
                    <a:solidFill>
                      <a:schemeClr val="tx1"/>
                    </a:solidFill>
                    <a:latin typeface="Times New Roman" panose="02020603050405020304" pitchFamily="18" charset="0"/>
                    <a:cs typeface="Times New Roman" panose="02020603050405020304" pitchFamily="18" charset="0"/>
                  </a:rPr>
                  <a:t>For One-tailed test:</a:t>
                </a:r>
              </a:p>
              <a:p>
                <a:pPr marL="0" indent="0">
                  <a:buNone/>
                </a:pPr>
                <a:r>
                  <a:rPr lang="en-IN" sz="2200" dirty="0">
                    <a:solidFill>
                      <a:schemeClr val="tx1"/>
                    </a:solidFill>
                    <a:latin typeface="Times New Roman" panose="02020603050405020304" pitchFamily="18" charset="0"/>
                    <a:cs typeface="Times New Roman" panose="02020603050405020304" pitchFamily="18" charset="0"/>
                  </a:rPr>
                  <a:t>            left tailed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𝐻</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r>
                  <a:rPr lang="en-IN" sz="2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IN" sz="2200" b="0" i="1" smtClean="0">
                        <a:solidFill>
                          <a:schemeClr val="tx1"/>
                        </a:solidFill>
                        <a:latin typeface="Cambria Math" panose="02040503050406030204" pitchFamily="18" charset="0"/>
                        <a:cs typeface="Times New Roman" panose="02020603050405020304" pitchFamily="18" charset="0"/>
                      </a:rPr>
                      <m:t>𝞵</m:t>
                    </m:r>
                    <m:r>
                      <a:rPr lang="en-US" sz="2200" b="0" i="1" smtClean="0">
                        <a:solidFill>
                          <a:schemeClr val="tx1"/>
                        </a:solidFill>
                        <a:latin typeface="Cambria Math" panose="02040503050406030204" pitchFamily="18" charset="0"/>
                        <a:cs typeface="Times New Roman" panose="02020603050405020304" pitchFamily="18" charset="0"/>
                      </a:rPr>
                      <m:t>&lt;</m:t>
                    </m:r>
                    <m:sSub>
                      <m:sSubPr>
                        <m:ctrlPr>
                          <a:rPr lang="en-US" sz="2200" i="1" smtClean="0">
                            <a:solidFill>
                              <a:schemeClr val="tx1"/>
                            </a:solidFill>
                            <a:latin typeface="Cambria Math" panose="02040503050406030204" pitchFamily="18" charset="0"/>
                            <a:cs typeface="Times New Roman" panose="02020603050405020304" pitchFamily="18" charset="0"/>
                          </a:rPr>
                        </m:ctrlPr>
                      </m:sSubPr>
                      <m:e>
                        <m:r>
                          <a:rPr lang="en-IN" sz="2200" b="0" i="1" smtClean="0">
                            <a:solidFill>
                              <a:schemeClr val="tx1"/>
                            </a:solidFill>
                            <a:latin typeface="Cambria Math" panose="02040503050406030204" pitchFamily="18" charset="0"/>
                            <a:cs typeface="Times New Roman" panose="02020603050405020304" pitchFamily="18" charset="0"/>
                          </a:rPr>
                          <m:t>𝞵</m:t>
                        </m:r>
                      </m:e>
                      <m:sub>
                        <m:r>
                          <a:rPr lang="en-US" sz="2200" b="0" i="1" smtClean="0">
                            <a:solidFill>
                              <a:schemeClr val="tx1"/>
                            </a:solidFill>
                            <a:latin typeface="Cambria Math" panose="02040503050406030204" pitchFamily="18" charset="0"/>
                            <a:cs typeface="Times New Roman" panose="02020603050405020304" pitchFamily="18" charset="0"/>
                          </a:rPr>
                          <m:t>0</m:t>
                        </m:r>
                      </m:sub>
                    </m:sSub>
                  </m:oMath>
                </a14:m>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r>
                  <a:rPr lang="en-IN" sz="2200" dirty="0">
                    <a:solidFill>
                      <a:schemeClr val="tx1"/>
                    </a:solidFill>
                    <a:latin typeface="Times New Roman" panose="02020603050405020304" pitchFamily="18" charset="0"/>
                    <a:cs typeface="Times New Roman" panose="02020603050405020304" pitchFamily="18" charset="0"/>
                  </a:rPr>
                  <a:t>             Right tailed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𝐻</m:t>
                        </m:r>
                      </m:e>
                      <m:sub>
                        <m:r>
                          <a:rPr lang="en-US" sz="2200" i="1">
                            <a:solidFill>
                              <a:schemeClr val="tx1"/>
                            </a:solidFill>
                            <a:latin typeface="Cambria Math" panose="02040503050406030204" pitchFamily="18" charset="0"/>
                            <a:cs typeface="Times New Roman" panose="02020603050405020304" pitchFamily="18" charset="0"/>
                          </a:rPr>
                          <m:t>1</m:t>
                        </m:r>
                      </m:sub>
                    </m:sSub>
                    <m:r>
                      <a:rPr lang="en-US" sz="2200" b="0" i="0" smtClean="0">
                        <a:solidFill>
                          <a:schemeClr val="tx1"/>
                        </a:solidFill>
                        <a:latin typeface="Cambria Math" panose="02040503050406030204" pitchFamily="18" charset="0"/>
                        <a:cs typeface="Times New Roman" panose="02020603050405020304" pitchFamily="18" charset="0"/>
                      </a:rPr>
                      <m:t>: </m:t>
                    </m:r>
                    <m:r>
                      <a:rPr lang="en-IN" sz="2200" i="1">
                        <a:solidFill>
                          <a:schemeClr val="tx1"/>
                        </a:solidFill>
                        <a:latin typeface="Cambria Math" panose="02040503050406030204" pitchFamily="18" charset="0"/>
                        <a:cs typeface="Times New Roman" panose="02020603050405020304" pitchFamily="18" charset="0"/>
                      </a:rPr>
                      <m:t>𝞵</m:t>
                    </m:r>
                    <m:r>
                      <a:rPr lang="en-US" sz="2200" b="0" i="1" smtClean="0">
                        <a:solidFill>
                          <a:schemeClr val="tx1"/>
                        </a:solidFill>
                        <a:latin typeface="Cambria Math" panose="02040503050406030204" pitchFamily="18" charset="0"/>
                        <a:cs typeface="Times New Roman" panose="02020603050405020304" pitchFamily="18" charset="0"/>
                      </a:rPr>
                      <m:t>&gt;</m:t>
                    </m:r>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IN" sz="2200" i="1">
                            <a:solidFill>
                              <a:schemeClr val="tx1"/>
                            </a:solidFill>
                            <a:latin typeface="Cambria Math" panose="02040503050406030204" pitchFamily="18" charset="0"/>
                            <a:cs typeface="Times New Roman" panose="02020603050405020304" pitchFamily="18" charset="0"/>
                          </a:rPr>
                          <m:t>𝞵</m:t>
                        </m:r>
                      </m:e>
                      <m:sub>
                        <m:r>
                          <a:rPr lang="en-US" sz="2200" i="1">
                            <a:solidFill>
                              <a:schemeClr val="tx1"/>
                            </a:solidFill>
                            <a:latin typeface="Cambria Math" panose="02040503050406030204" pitchFamily="18" charset="0"/>
                            <a:cs typeface="Times New Roman" panose="02020603050405020304" pitchFamily="18" charset="0"/>
                          </a:rPr>
                          <m:t>0</m:t>
                        </m:r>
                      </m:sub>
                    </m:sSub>
                  </m:oMath>
                </a14:m>
                <a:endParaRPr lang="en-IN" sz="22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200" dirty="0">
                    <a:solidFill>
                      <a:schemeClr val="tx1"/>
                    </a:solidFill>
                    <a:latin typeface="Times New Roman" panose="02020603050405020304" pitchFamily="18" charset="0"/>
                    <a:cs typeface="Times New Roman" panose="02020603050405020304" pitchFamily="18" charset="0"/>
                  </a:rPr>
                  <a:t>For a two-tailed test :</a:t>
                </a:r>
              </a:p>
              <a:p>
                <a:pPr marL="0" indent="0">
                  <a:buNone/>
                </a:pPr>
                <a:r>
                  <a:rPr lang="en-IN" sz="2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𝐻</m:t>
                        </m:r>
                      </m:e>
                      <m:sub>
                        <m:r>
                          <a:rPr lang="en-US" sz="2200" i="1">
                            <a:solidFill>
                              <a:schemeClr val="tx1"/>
                            </a:solidFill>
                            <a:latin typeface="Cambria Math" panose="02040503050406030204" pitchFamily="18" charset="0"/>
                            <a:cs typeface="Times New Roman" panose="02020603050405020304" pitchFamily="18" charset="0"/>
                          </a:rPr>
                          <m:t>1</m:t>
                        </m:r>
                      </m:sub>
                    </m:sSub>
                  </m:oMath>
                </a14:m>
                <a:r>
                  <a:rPr lang="en-IN" sz="2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IN" sz="2200" i="1">
                        <a:solidFill>
                          <a:schemeClr val="tx1"/>
                        </a:solidFill>
                        <a:latin typeface="Cambria Math" panose="02040503050406030204" pitchFamily="18" charset="0"/>
                        <a:cs typeface="Times New Roman" panose="02020603050405020304" pitchFamily="18" charset="0"/>
                      </a:rPr>
                      <m:t>𝞵</m:t>
                    </m:r>
                  </m:oMath>
                </a14:m>
                <a:r>
                  <a:rPr lang="en-IN" sz="2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IN" sz="220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IN" sz="2200" dirty="0">
                    <a:solidFill>
                      <a:schemeClr val="tx1"/>
                    </a:solidFill>
                    <a:cs typeface="Times New Roman" panose="02020603050405020304" pitchFamily="18" charset="0"/>
                  </a:rPr>
                  <a:t> </a:t>
                </a:r>
                <a14:m>
                  <m:oMath xmlns:m="http://schemas.openxmlformats.org/officeDocument/2006/math">
                    <m:sSub>
                      <m:sSubPr>
                        <m:ctrlPr>
                          <a:rPr lang="en-IN" sz="2200" i="1" dirty="0" smtClean="0">
                            <a:solidFill>
                              <a:schemeClr val="tx1"/>
                            </a:solidFill>
                            <a:latin typeface="Cambria Math" panose="02040503050406030204" pitchFamily="18" charset="0"/>
                            <a:cs typeface="Times New Roman" panose="02020603050405020304" pitchFamily="18" charset="0"/>
                          </a:rPr>
                        </m:ctrlPr>
                      </m:sSubPr>
                      <m:e>
                        <m:r>
                          <a:rPr lang="en-IN" sz="2200" i="1">
                            <a:solidFill>
                              <a:schemeClr val="tx1"/>
                            </a:solidFill>
                            <a:latin typeface="Cambria Math" panose="02040503050406030204" pitchFamily="18" charset="0"/>
                            <a:cs typeface="Times New Roman" panose="02020603050405020304" pitchFamily="18" charset="0"/>
                          </a:rPr>
                          <m:t>𝞵</m:t>
                        </m:r>
                      </m:e>
                      <m:sub>
                        <m:r>
                          <a:rPr lang="en-US" sz="2200" b="0" i="1" dirty="0" smtClean="0">
                            <a:solidFill>
                              <a:schemeClr val="tx1"/>
                            </a:solidFill>
                            <a:latin typeface="Cambria Math" panose="02040503050406030204" pitchFamily="18" charset="0"/>
                            <a:cs typeface="Times New Roman" panose="02020603050405020304" pitchFamily="18" charset="0"/>
                          </a:rPr>
                          <m:t>0</m:t>
                        </m:r>
                      </m:sub>
                    </m:sSub>
                  </m:oMath>
                </a14:m>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22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B5ED13BD-5B96-B8DB-7E60-0420C7E4BBB1}"/>
                  </a:ext>
                </a:extLst>
              </p:cNvPr>
              <p:cNvSpPr>
                <a:spLocks noGrp="1" noRot="1" noChangeAspect="1" noMove="1" noResize="1" noEditPoints="1" noAdjustHandles="1" noChangeArrowheads="1" noChangeShapeType="1" noTextEdit="1"/>
              </p:cNvSpPr>
              <p:nvPr>
                <p:ph idx="1"/>
              </p:nvPr>
            </p:nvSpPr>
            <p:spPr>
              <a:xfrm>
                <a:off x="1295401" y="2556931"/>
                <a:ext cx="9724052" cy="3517297"/>
              </a:xfrm>
              <a:blipFill>
                <a:blip r:embed="rId2"/>
                <a:stretch>
                  <a:fillRect l="-752" t="-1733"/>
                </a:stretch>
              </a:blipFill>
            </p:spPr>
            <p:txBody>
              <a:bodyPr/>
              <a:lstStyle/>
              <a:p>
                <a:r>
                  <a:rPr lang="en-IN">
                    <a:noFill/>
                  </a:rPr>
                  <a:t> </a:t>
                </a:r>
              </a:p>
            </p:txBody>
          </p:sp>
        </mc:Fallback>
      </mc:AlternateContent>
    </p:spTree>
    <p:extLst>
      <p:ext uri="{BB962C8B-B14F-4D97-AF65-F5344CB8AC3E}">
        <p14:creationId xmlns:p14="http://schemas.microsoft.com/office/powerpoint/2010/main" val="4038993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4ABBCE-5F32-CDEE-2059-30AE1A5B1F14}"/>
                  </a:ext>
                </a:extLst>
              </p:cNvPr>
              <p:cNvSpPr>
                <a:spLocks noGrp="1"/>
              </p:cNvSpPr>
              <p:nvPr>
                <p:ph idx="1"/>
              </p:nvPr>
            </p:nvSpPr>
            <p:spPr>
              <a:xfrm>
                <a:off x="1129004" y="877078"/>
                <a:ext cx="10151706" cy="5150498"/>
              </a:xfrm>
            </p:spPr>
            <p:txBody>
              <a:bodyPr>
                <a:normAutofit/>
              </a:bodyPr>
              <a:lstStyle/>
              <a:p>
                <a:r>
                  <a:rPr lang="en-US" sz="2200" b="1" dirty="0">
                    <a:latin typeface="Times New Roman" panose="02020603050405020304" pitchFamily="18" charset="0"/>
                    <a:cs typeface="Times New Roman" panose="02020603050405020304" pitchFamily="18" charset="0"/>
                  </a:rPr>
                  <a:t>Step 2: Calculate test statistics</a:t>
                </a:r>
              </a:p>
              <a:p>
                <a:r>
                  <a:rPr lang="en-US" sz="2200" b="1" dirty="0">
                    <a:latin typeface="Times New Roman" panose="02020603050405020304" pitchFamily="18" charset="0"/>
                    <a:cs typeface="Times New Roman" panose="02020603050405020304" pitchFamily="18" charset="0"/>
                  </a:rPr>
                  <a:t>Use the t-test formula to calculate test statistics</a:t>
                </a:r>
              </a:p>
              <a:p>
                <a:r>
                  <a:rPr lang="en-US" sz="2200" b="1" dirty="0">
                    <a:latin typeface="Times New Roman" panose="02020603050405020304" pitchFamily="18" charset="0"/>
                    <a:cs typeface="Times New Roman" panose="02020603050405020304" pitchFamily="18" charset="0"/>
                  </a:rPr>
                  <a:t>                     t = </a:t>
                </a:r>
                <a14:m>
                  <m:oMath xmlns:m="http://schemas.openxmlformats.org/officeDocument/2006/math">
                    <m:f>
                      <m:fPr>
                        <m:ctrlPr>
                          <a:rPr lang="en-US" b="1" i="1" smtClean="0">
                            <a:latin typeface="Cambria Math" panose="02040503050406030204" pitchFamily="18" charset="0"/>
                            <a:cs typeface="Times New Roman" panose="02020603050405020304" pitchFamily="18" charset="0"/>
                          </a:rPr>
                        </m:ctrlPr>
                      </m:fPr>
                      <m:num>
                        <m:r>
                          <m:rPr>
                            <m:nor/>
                          </m:rPr>
                          <a:rPr lang="en-IN"/>
                          <m:t>x</m:t>
                        </m:r>
                        <m:r>
                          <m:rPr>
                            <m:nor/>
                          </m:rPr>
                          <a:rPr lang="en-IN"/>
                          <m:t>̄</m:t>
                        </m:r>
                        <m:r>
                          <m:rPr>
                            <m:nor/>
                          </m:rPr>
                          <a:rPr lang="en-US" b="0" i="0" smtClean="0"/>
                          <m:t>−</m:t>
                        </m:r>
                        <m:sSub>
                          <m:sSubPr>
                            <m:ctrlPr>
                              <a:rPr lang="en-US" b="0" i="1" smtClean="0">
                                <a:latin typeface="Cambria Math" panose="02040503050406030204" pitchFamily="18" charset="0"/>
                              </a:rPr>
                            </m:ctrlPr>
                          </m:sSubPr>
                          <m:e>
                            <m:r>
                              <a:rPr lang="en-IN" i="1">
                                <a:solidFill>
                                  <a:schemeClr val="tx1"/>
                                </a:solidFill>
                                <a:latin typeface="Cambria Math" panose="02040503050406030204" pitchFamily="18" charset="0"/>
                                <a:cs typeface="Times New Roman" panose="02020603050405020304" pitchFamily="18" charset="0"/>
                              </a:rPr>
                              <m:t>𝞵</m:t>
                            </m:r>
                          </m:e>
                          <m:sub>
                            <m:r>
                              <a:rPr lang="en-US" b="0" i="1" smtClean="0">
                                <a:latin typeface="Cambria Math" panose="02040503050406030204" pitchFamily="18" charset="0"/>
                              </a:rPr>
                              <m:t>0</m:t>
                            </m:r>
                          </m:sub>
                        </m:sSub>
                      </m:num>
                      <m:den>
                        <m:f>
                          <m:fPr>
                            <m:ctrlPr>
                              <a:rPr lang="en-US" b="1" i="1" smtClean="0">
                                <a:latin typeface="Cambria Math" panose="02040503050406030204" pitchFamily="18" charset="0"/>
                                <a:cs typeface="Times New Roman" panose="02020603050405020304" pitchFamily="18" charset="0"/>
                              </a:rPr>
                            </m:ctrlPr>
                          </m:fPr>
                          <m:num>
                            <m:r>
                              <a:rPr lang="en-US" b="1" i="1" smtClean="0">
                                <a:latin typeface="Cambria Math" panose="02040503050406030204" pitchFamily="18" charset="0"/>
                                <a:cs typeface="Times New Roman" panose="02020603050405020304" pitchFamily="18" charset="0"/>
                              </a:rPr>
                              <m:t>𝒔</m:t>
                            </m:r>
                          </m:num>
                          <m:den>
                            <m:rad>
                              <m:radPr>
                                <m:degHide m:val="on"/>
                                <m:ctrlPr>
                                  <a:rPr lang="en-US" b="1" i="1" smtClean="0">
                                    <a:latin typeface="Cambria Math" panose="02040503050406030204" pitchFamily="18" charset="0"/>
                                    <a:cs typeface="Times New Roman" panose="02020603050405020304" pitchFamily="18" charset="0"/>
                                  </a:rPr>
                                </m:ctrlPr>
                              </m:radPr>
                              <m:deg/>
                              <m:e>
                                <m:r>
                                  <a:rPr lang="en-US" b="1" i="1" smtClean="0">
                                    <a:latin typeface="Cambria Math" panose="02040503050406030204" pitchFamily="18" charset="0"/>
                                    <a:cs typeface="Times New Roman" panose="02020603050405020304" pitchFamily="18" charset="0"/>
                                  </a:rPr>
                                  <m:t>𝒏</m:t>
                                </m:r>
                              </m:e>
                            </m:rad>
                          </m:den>
                        </m:f>
                      </m:den>
                    </m:f>
                  </m:oMath>
                </a14:m>
                <a:r>
                  <a:rPr lang="en-IN" sz="2000" b="1" dirty="0">
                    <a:latin typeface="Times New Roman" panose="02020603050405020304" pitchFamily="18" charset="0"/>
                    <a:cs typeface="Times New Roman" panose="02020603050405020304" pitchFamily="18" charset="0"/>
                  </a:rPr>
                  <a:t>         </a:t>
                </a:r>
              </a:p>
              <a:p>
                <a:r>
                  <a:rPr lang="en-IN" sz="2200" b="1" dirty="0">
                    <a:latin typeface="Times New Roman" panose="02020603050405020304" pitchFamily="18" charset="0"/>
                    <a:cs typeface="Times New Roman" panose="02020603050405020304" pitchFamily="18" charset="0"/>
                  </a:rPr>
                  <a:t>Step 3 Find critical values</a:t>
                </a:r>
              </a:p>
              <a:p>
                <a:r>
                  <a:rPr lang="en-IN" sz="2000" dirty="0">
                    <a:latin typeface="Times New Roman" panose="02020603050405020304" pitchFamily="18" charset="0"/>
                    <a:cs typeface="Times New Roman" panose="02020603050405020304" pitchFamily="18" charset="0"/>
                  </a:rPr>
                  <a:t>    Determine the critical t-value from t- distribution table based on significance level(</a:t>
                </a:r>
                <a:r>
                  <a:rPr lang="en-IN" sz="2000" b="1" dirty="0"/>
                  <a:t>α</a:t>
                </a:r>
                <a:r>
                  <a:rPr lang="en-IN" sz="2000" dirty="0">
                    <a:latin typeface="Times New Roman" panose="02020603050405020304" pitchFamily="18" charset="0"/>
                    <a:cs typeface="Times New Roman" panose="02020603050405020304" pitchFamily="18" charset="0"/>
                  </a:rPr>
                  <a:t>) and degree of freedom(</a:t>
                </a:r>
                <a:r>
                  <a:rPr lang="en-IN" sz="2000" dirty="0" err="1">
                    <a:latin typeface="Times New Roman" panose="02020603050405020304" pitchFamily="18" charset="0"/>
                    <a:cs typeface="Times New Roman" panose="02020603050405020304" pitchFamily="18" charset="0"/>
                  </a:rPr>
                  <a:t>df</a:t>
                </a:r>
                <a:r>
                  <a:rPr lang="en-IN" sz="2000" dirty="0">
                    <a:latin typeface="Times New Roman" panose="02020603050405020304" pitchFamily="18" charset="0"/>
                    <a:cs typeface="Times New Roman" panose="02020603050405020304" pitchFamily="18" charset="0"/>
                  </a:rPr>
                  <a:t>=n-1)</a:t>
                </a:r>
              </a:p>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For one-tailed test </a:t>
                </a:r>
              </a:p>
              <a:p>
                <a:pPr marL="0" indent="0">
                  <a:buNone/>
                </a:pPr>
                <a:r>
                  <a:rPr lang="en-IN" sz="2000" b="1" dirty="0">
                    <a:latin typeface="Times New Roman" panose="02020603050405020304" pitchFamily="18" charset="0"/>
                    <a:cs typeface="Times New Roman" panose="02020603050405020304" pitchFamily="18" charset="0"/>
                  </a:rPr>
                  <a:t>  Use alpha to find critical value for specific tail(left or right)</a:t>
                </a:r>
              </a:p>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For two- tailed test</a:t>
                </a:r>
              </a:p>
              <a:p>
                <a:pPr marL="0" indent="0">
                  <a:buNone/>
                </a:pPr>
                <a:r>
                  <a:rPr lang="en-IN" sz="2000" b="1" dirty="0">
                    <a:latin typeface="Times New Roman" panose="02020603050405020304" pitchFamily="18" charset="0"/>
                    <a:cs typeface="Times New Roman" panose="02020603050405020304" pitchFamily="18" charset="0"/>
                  </a:rPr>
                  <a:t>Use </a:t>
                </a:r>
                <a:r>
                  <a:rPr lang="en-IN" sz="2000" b="1" dirty="0"/>
                  <a:t>α </a:t>
                </a:r>
                <a:r>
                  <a:rPr lang="en-IN" sz="2000" b="1" dirty="0">
                    <a:latin typeface="Times New Roman" panose="02020603050405020304" pitchFamily="18" charset="0"/>
                    <a:cs typeface="Times New Roman" panose="02020603050405020304" pitchFamily="18" charset="0"/>
                  </a:rPr>
                  <a:t>/ 2 to find critical values  for both tails</a:t>
                </a:r>
              </a:p>
              <a:p>
                <a:endParaRPr lang="en-IN" sz="20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04ABBCE-5F32-CDEE-2059-30AE1A5B1F14}"/>
                  </a:ext>
                </a:extLst>
              </p:cNvPr>
              <p:cNvSpPr>
                <a:spLocks noGrp="1" noRot="1" noChangeAspect="1" noMove="1" noResize="1" noEditPoints="1" noAdjustHandles="1" noChangeArrowheads="1" noChangeShapeType="1" noTextEdit="1"/>
              </p:cNvSpPr>
              <p:nvPr>
                <p:ph idx="1"/>
              </p:nvPr>
            </p:nvSpPr>
            <p:spPr>
              <a:xfrm>
                <a:off x="1129004" y="877078"/>
                <a:ext cx="10151706" cy="5150498"/>
              </a:xfrm>
              <a:blipFill>
                <a:blip r:embed="rId2"/>
                <a:stretch>
                  <a:fillRect l="-900" t="-1420"/>
                </a:stretch>
              </a:blipFill>
            </p:spPr>
            <p:txBody>
              <a:bodyPr/>
              <a:lstStyle/>
              <a:p>
                <a:r>
                  <a:rPr lang="en-IN">
                    <a:noFill/>
                  </a:rPr>
                  <a:t> </a:t>
                </a:r>
              </a:p>
            </p:txBody>
          </p:sp>
        </mc:Fallback>
      </mc:AlternateContent>
    </p:spTree>
    <p:extLst>
      <p:ext uri="{BB962C8B-B14F-4D97-AF65-F5344CB8AC3E}">
        <p14:creationId xmlns:p14="http://schemas.microsoft.com/office/powerpoint/2010/main" val="564472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748B45-3E79-BED2-CCB5-F1C35B6EFFB4}"/>
                  </a:ext>
                </a:extLst>
              </p:cNvPr>
              <p:cNvSpPr>
                <a:spLocks noGrp="1"/>
              </p:cNvSpPr>
              <p:nvPr>
                <p:ph idx="1"/>
              </p:nvPr>
            </p:nvSpPr>
            <p:spPr>
              <a:xfrm>
                <a:off x="933061" y="886408"/>
                <a:ext cx="9963536" cy="4989460"/>
              </a:xfrm>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Step 4 Decision rule</a:t>
                </a:r>
              </a:p>
              <a:p>
                <a:r>
                  <a:rPr lang="en-IN" sz="2200" b="1" dirty="0">
                    <a:latin typeface="Times New Roman" panose="02020603050405020304" pitchFamily="18" charset="0"/>
                    <a:cs typeface="Times New Roman" panose="02020603050405020304" pitchFamily="18" charset="0"/>
                  </a:rPr>
                  <a:t>One-tailed test</a:t>
                </a:r>
              </a:p>
              <a:p>
                <a:r>
                  <a:rPr lang="en-IN" sz="2200" dirty="0">
                    <a:latin typeface="Times New Roman" panose="02020603050405020304" pitchFamily="18" charset="0"/>
                    <a:cs typeface="Times New Roman" panose="02020603050405020304" pitchFamily="18" charset="0"/>
                  </a:rPr>
                  <a:t>Left tailed test: Reject </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𝐻</m:t>
                        </m:r>
                      </m:e>
                      <m:sub>
                        <m:r>
                          <a:rPr lang="en-US" sz="2200" b="0" i="1" smtClean="0">
                            <a:latin typeface="Cambria Math" panose="02040503050406030204" pitchFamily="18" charset="0"/>
                            <a:cs typeface="Times New Roman" panose="02020603050405020304" pitchFamily="18" charset="0"/>
                          </a:rPr>
                          <m:t>0</m:t>
                        </m:r>
                      </m:sub>
                    </m:sSub>
                  </m:oMath>
                </a14:m>
                <a:r>
                  <a:rPr lang="en-IN" sz="2200" dirty="0">
                    <a:latin typeface="Times New Roman" panose="02020603050405020304" pitchFamily="18" charset="0"/>
                    <a:cs typeface="Times New Roman" panose="02020603050405020304" pitchFamily="18" charset="0"/>
                  </a:rPr>
                  <a:t> if calculated t- value is less than negative critical t-value.</a:t>
                </a:r>
              </a:p>
              <a:p>
                <a:r>
                  <a:rPr lang="en-IN" sz="2200" b="1" dirty="0">
                    <a:latin typeface="Times New Roman" panose="02020603050405020304" pitchFamily="18" charset="0"/>
                    <a:cs typeface="Times New Roman" panose="02020603050405020304" pitchFamily="18" charset="0"/>
                  </a:rPr>
                  <a:t>Right tailed test</a:t>
                </a:r>
              </a:p>
              <a:p>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Right tail: Reject </a:t>
                </a:r>
                <a14:m>
                  <m:oMath xmlns:m="http://schemas.openxmlformats.org/officeDocument/2006/math">
                    <m:sSub>
                      <m:sSubPr>
                        <m:ctrlPr>
                          <a:rPr lang="en-IN" sz="2200" i="1">
                            <a:latin typeface="Cambria Math" panose="02040503050406030204" pitchFamily="18" charset="0"/>
                            <a:cs typeface="Times New Roman" panose="02020603050405020304" pitchFamily="18" charset="0"/>
                          </a:rPr>
                        </m:ctrlPr>
                      </m:sSubPr>
                      <m:e>
                        <m:r>
                          <a:rPr lang="en-US" sz="2200" b="0" i="1">
                            <a:latin typeface="Cambria Math" panose="02040503050406030204" pitchFamily="18" charset="0"/>
                            <a:cs typeface="Times New Roman" panose="02020603050405020304" pitchFamily="18" charset="0"/>
                          </a:rPr>
                          <m:t>𝐻</m:t>
                        </m:r>
                      </m:e>
                      <m:sub>
                        <m:r>
                          <a:rPr lang="en-US" sz="2200" b="0" i="1">
                            <a:latin typeface="Cambria Math" panose="02040503050406030204" pitchFamily="18" charset="0"/>
                            <a:cs typeface="Times New Roman" panose="02020603050405020304" pitchFamily="18" charset="0"/>
                          </a:rPr>
                          <m:t>0</m:t>
                        </m:r>
                      </m:sub>
                    </m:sSub>
                  </m:oMath>
                </a14:m>
                <a:r>
                  <a:rPr lang="en-IN" sz="2200" dirty="0">
                    <a:latin typeface="Times New Roman" panose="02020603050405020304" pitchFamily="18" charset="0"/>
                    <a:cs typeface="Times New Roman" panose="02020603050405020304" pitchFamily="18" charset="0"/>
                  </a:rPr>
                  <a:t> if calculated t-value is greater than positive critical value.</a:t>
                </a:r>
              </a:p>
              <a:p>
                <a:pPr>
                  <a:buFont typeface="Wingdings" panose="05000000000000000000" pitchFamily="2" charset="2"/>
                  <a:buChar char="Ø"/>
                </a:pPr>
                <a:r>
                  <a:rPr lang="en-IN" sz="2200" b="1" u="sng" dirty="0">
                    <a:latin typeface="Times New Roman" panose="02020603050405020304" pitchFamily="18" charset="0"/>
                    <a:cs typeface="Times New Roman" panose="02020603050405020304" pitchFamily="18" charset="0"/>
                  </a:rPr>
                  <a:t>Two-Tailed test</a:t>
                </a: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Reject </a:t>
                </a:r>
                <a14:m>
                  <m:oMath xmlns:m="http://schemas.openxmlformats.org/officeDocument/2006/math">
                    <m:sSub>
                      <m:sSubPr>
                        <m:ctrlPr>
                          <a:rPr lang="en-IN" sz="2200" i="1">
                            <a:latin typeface="Cambria Math" panose="02040503050406030204" pitchFamily="18" charset="0"/>
                            <a:cs typeface="Times New Roman" panose="02020603050405020304" pitchFamily="18" charset="0"/>
                          </a:rPr>
                        </m:ctrlPr>
                      </m:sSubPr>
                      <m:e>
                        <m:r>
                          <a:rPr lang="en-US" sz="2200" b="0" i="1">
                            <a:latin typeface="Cambria Math" panose="02040503050406030204" pitchFamily="18" charset="0"/>
                            <a:cs typeface="Times New Roman" panose="02020603050405020304" pitchFamily="18" charset="0"/>
                          </a:rPr>
                          <m:t>𝐻</m:t>
                        </m:r>
                      </m:e>
                      <m:sub>
                        <m:r>
                          <a:rPr lang="en-US" sz="2200" b="0" i="1">
                            <a:latin typeface="Cambria Math" panose="02040503050406030204" pitchFamily="18" charset="0"/>
                            <a:cs typeface="Times New Roman" panose="02020603050405020304" pitchFamily="18" charset="0"/>
                          </a:rPr>
                          <m:t>0</m:t>
                        </m:r>
                      </m:sub>
                    </m:sSub>
                  </m:oMath>
                </a14:m>
                <a:r>
                  <a:rPr lang="en-IN" sz="2200" dirty="0">
                    <a:latin typeface="Times New Roman" panose="02020603050405020304" pitchFamily="18" charset="0"/>
                    <a:cs typeface="Times New Roman" panose="02020603050405020304" pitchFamily="18" charset="0"/>
                  </a:rPr>
                  <a:t> if the absolute value of the calculated t-value is greater than the critical t-value. The absolute value of number x is denoted by |x|.</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Step 5: Conclusion</a:t>
                </a: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Based on decision rule, conclude whether there is sufficient evidence to reject the Null hypothesis</a:t>
                </a:r>
                <a:r>
                  <a:rPr lang="en-IN" sz="22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𝐻</m:t>
                        </m:r>
                      </m:e>
                      <m:sub>
                        <m:r>
                          <a:rPr lang="en-US" sz="2200" i="1">
                            <a:latin typeface="Cambria Math" panose="02040503050406030204" pitchFamily="18" charset="0"/>
                            <a:cs typeface="Times New Roman" panose="02020603050405020304" pitchFamily="18" charset="0"/>
                          </a:rPr>
                          <m:t>0</m:t>
                        </m:r>
                      </m:sub>
                    </m:sSub>
                  </m:oMath>
                </a14:m>
                <a:r>
                  <a:rPr lang="en-IN" sz="2200" dirty="0">
                    <a:latin typeface="Times New Roman" panose="02020603050405020304" pitchFamily="18" charset="0"/>
                    <a:cs typeface="Times New Roman" panose="02020603050405020304" pitchFamily="18" charset="0"/>
                  </a:rPr>
                  <a:t> in the favour of alternate hypothesis.</a:t>
                </a:r>
                <a:endParaRPr lang="en-IN" sz="22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9748B45-3E79-BED2-CCB5-F1C35B6EFFB4}"/>
                  </a:ext>
                </a:extLst>
              </p:cNvPr>
              <p:cNvSpPr>
                <a:spLocks noGrp="1" noRot="1" noChangeAspect="1" noMove="1" noResize="1" noEditPoints="1" noAdjustHandles="1" noChangeArrowheads="1" noChangeShapeType="1" noTextEdit="1"/>
              </p:cNvSpPr>
              <p:nvPr>
                <p:ph idx="1"/>
              </p:nvPr>
            </p:nvSpPr>
            <p:spPr>
              <a:xfrm>
                <a:off x="933061" y="886408"/>
                <a:ext cx="9963536" cy="4989460"/>
              </a:xfrm>
              <a:blipFill>
                <a:blip r:embed="rId2"/>
                <a:stretch>
                  <a:fillRect l="-1040" t="-1587" b="-1832"/>
                </a:stretch>
              </a:blipFill>
            </p:spPr>
            <p:txBody>
              <a:bodyPr/>
              <a:lstStyle/>
              <a:p>
                <a:r>
                  <a:rPr lang="en-IN">
                    <a:noFill/>
                  </a:rPr>
                  <a:t> </a:t>
                </a:r>
              </a:p>
            </p:txBody>
          </p:sp>
        </mc:Fallback>
      </mc:AlternateContent>
    </p:spTree>
    <p:extLst>
      <p:ext uri="{BB962C8B-B14F-4D97-AF65-F5344CB8AC3E}">
        <p14:creationId xmlns:p14="http://schemas.microsoft.com/office/powerpoint/2010/main" val="1946317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E3EDC-DC57-3C2A-11DF-45D354051743}"/>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Why absolute value is used in two tailed test?</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DAC970-5335-6774-4CC7-13A9E34730CB}"/>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In two-tailed test, you are checking for deviations from hypothesized mean in both the direction(either higher or lower).</a:t>
                </a:r>
              </a:p>
              <a:p>
                <a:r>
                  <a:rPr lang="en-US" dirty="0">
                    <a:solidFill>
                      <a:schemeClr val="tx1"/>
                    </a:solidFill>
                    <a:latin typeface="Times New Roman" panose="02020603050405020304" pitchFamily="18" charset="0"/>
                    <a:cs typeface="Times New Roman" panose="02020603050405020304" pitchFamily="18" charset="0"/>
                  </a:rPr>
                  <a:t>The critical region is on both the end of the distribution therefore you compare the absolute value of t-value to the critical t-value to see if it falls into either tail.</a:t>
                </a:r>
              </a:p>
              <a:p>
                <a:r>
                  <a:rPr lang="en-US" b="1" dirty="0">
                    <a:solidFill>
                      <a:schemeClr val="tx1"/>
                    </a:solidFill>
                    <a:latin typeface="Times New Roman" panose="02020603050405020304" pitchFamily="18" charset="0"/>
                    <a:cs typeface="Times New Roman" panose="02020603050405020304" pitchFamily="18" charset="0"/>
                  </a:rPr>
                  <a:t>If |t|&gt;critical t-value, you reject the null hypothesis </a:t>
                </a:r>
                <a14:m>
                  <m:oMath xmlns:m="http://schemas.openxmlformats.org/officeDocument/2006/math">
                    <m:sSub>
                      <m:sSubPr>
                        <m:ctrlPr>
                          <a:rPr lang="en-IN"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𝑯</m:t>
                        </m:r>
                      </m:e>
                      <m:sub>
                        <m:r>
                          <a:rPr lang="en-US" b="1" i="1">
                            <a:latin typeface="Cambria Math" panose="02040503050406030204" pitchFamily="18" charset="0"/>
                            <a:cs typeface="Times New Roman" panose="02020603050405020304" pitchFamily="18" charset="0"/>
                          </a:rPr>
                          <m:t>𝟎</m:t>
                        </m:r>
                      </m:sub>
                    </m:sSub>
                    <m:r>
                      <a:rPr lang="en-US" b="1" i="0" smtClean="0">
                        <a:latin typeface="Cambria Math" panose="02040503050406030204" pitchFamily="18" charset="0"/>
                        <a:cs typeface="Times New Roman" panose="02020603050405020304" pitchFamily="18" charset="0"/>
                      </a:rPr>
                      <m:t>.</m:t>
                    </m:r>
                  </m:oMath>
                </a14:m>
                <a:endParaRPr lang="en-US" b="1" dirty="0">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If |t| </a:t>
                </a:r>
                <a:r>
                  <a:rPr lang="en-IN" b="1" dirty="0">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critical t-value, you fail to reject </a:t>
                </a:r>
                <a14:m>
                  <m:oMath xmlns:m="http://schemas.openxmlformats.org/officeDocument/2006/math">
                    <m:sSub>
                      <m:sSubPr>
                        <m:ctrlPr>
                          <a:rPr lang="en-IN" b="1" i="1">
                            <a:solidFill>
                              <a:schemeClr val="tx1"/>
                            </a:solidFill>
                            <a:latin typeface="Cambria Math" panose="02040503050406030204" pitchFamily="18" charset="0"/>
                            <a:cs typeface="Times New Roman" panose="02020603050405020304" pitchFamily="18" charset="0"/>
                          </a:rPr>
                        </m:ctrlPr>
                      </m:sSubPr>
                      <m:e>
                        <m:r>
                          <a:rPr lang="en-US" b="1" i="1">
                            <a:solidFill>
                              <a:schemeClr val="tx1"/>
                            </a:solidFill>
                            <a:latin typeface="Cambria Math" panose="02040503050406030204" pitchFamily="18" charset="0"/>
                            <a:cs typeface="Times New Roman" panose="02020603050405020304" pitchFamily="18" charset="0"/>
                          </a:rPr>
                          <m:t>𝑯</m:t>
                        </m:r>
                      </m:e>
                      <m:sub>
                        <m:r>
                          <a:rPr lang="en-US" b="1" i="1">
                            <a:solidFill>
                              <a:schemeClr val="tx1"/>
                            </a:solidFill>
                            <a:latin typeface="Cambria Math" panose="02040503050406030204" pitchFamily="18" charset="0"/>
                            <a:cs typeface="Times New Roman" panose="02020603050405020304" pitchFamily="18" charset="0"/>
                          </a:rPr>
                          <m:t>𝟎</m:t>
                        </m:r>
                      </m:sub>
                    </m:sSub>
                  </m:oMath>
                </a14:m>
                <a:endParaRPr lang="en-IN"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BDAC970-5335-6774-4CC7-13A9E34730CB}"/>
                  </a:ext>
                </a:extLst>
              </p:cNvPr>
              <p:cNvSpPr>
                <a:spLocks noGrp="1" noRot="1" noChangeAspect="1" noMove="1" noResize="1" noEditPoints="1" noAdjustHandles="1" noChangeArrowheads="1" noChangeShapeType="1" noTextEdit="1"/>
              </p:cNvSpPr>
              <p:nvPr>
                <p:ph idx="1"/>
              </p:nvPr>
            </p:nvSpPr>
            <p:spPr>
              <a:blipFill>
                <a:blip r:embed="rId2"/>
                <a:stretch>
                  <a:fillRect l="-1144" t="-2569" r="-1017"/>
                </a:stretch>
              </a:blipFill>
            </p:spPr>
            <p:txBody>
              <a:bodyPr/>
              <a:lstStyle/>
              <a:p>
                <a:r>
                  <a:rPr lang="en-IN">
                    <a:noFill/>
                  </a:rPr>
                  <a:t> </a:t>
                </a:r>
              </a:p>
            </p:txBody>
          </p:sp>
        </mc:Fallback>
      </mc:AlternateContent>
    </p:spTree>
    <p:extLst>
      <p:ext uri="{BB962C8B-B14F-4D97-AF65-F5344CB8AC3E}">
        <p14:creationId xmlns:p14="http://schemas.microsoft.com/office/powerpoint/2010/main" val="1288458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4BC8C-2356-BAF8-E10D-B93A845B465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critical value?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4ADCA5-6459-FBFA-0520-949B88CA3C8F}"/>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Critical value</a:t>
            </a:r>
            <a:r>
              <a:rPr lang="en-US" dirty="0">
                <a:latin typeface="Times New Roman" panose="02020603050405020304" pitchFamily="18" charset="0"/>
                <a:cs typeface="Times New Roman" panose="02020603050405020304" pitchFamily="18" charset="0"/>
              </a:rPr>
              <a:t> is the cut off value that is compared with the test value to take decision about the null hypothesis.</a:t>
            </a:r>
          </a:p>
          <a:p>
            <a:r>
              <a:rPr lang="en-US" dirty="0">
                <a:latin typeface="Times New Roman" panose="02020603050405020304" pitchFamily="18" charset="0"/>
                <a:cs typeface="Times New Roman" panose="02020603050405020304" pitchFamily="18" charset="0"/>
              </a:rPr>
              <a:t>It divides the graph into two sections; </a:t>
            </a:r>
            <a:r>
              <a:rPr lang="en-US" b="1" dirty="0">
                <a:latin typeface="Times New Roman" panose="02020603050405020304" pitchFamily="18" charset="0"/>
                <a:cs typeface="Times New Roman" panose="02020603050405020304" pitchFamily="18" charset="0"/>
              </a:rPr>
              <a:t>rejection area and acceptance area.</a:t>
            </a:r>
          </a:p>
          <a:p>
            <a:r>
              <a:rPr lang="en-US" b="1" dirty="0">
                <a:latin typeface="Times New Roman" panose="02020603050405020304" pitchFamily="18" charset="0"/>
                <a:cs typeface="Times New Roman" panose="02020603050405020304" pitchFamily="18" charset="0"/>
              </a:rPr>
              <a:t>If test value falls into rejection area, then reject the null hypothesis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It is derived from the level of significance of the test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9239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6AED-58FD-BB87-BFA1-27D58BE4EEE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How to calculate t-critical value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68820E-3CFE-F38D-2758-68C6B7A57364}"/>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Step 1: </a:t>
            </a:r>
            <a:r>
              <a:rPr lang="en-US" dirty="0">
                <a:solidFill>
                  <a:schemeClr val="tx1"/>
                </a:solidFill>
                <a:latin typeface="Times New Roman" panose="02020603050405020304" pitchFamily="18" charset="0"/>
                <a:cs typeface="Times New Roman" panose="02020603050405020304" pitchFamily="18" charset="0"/>
              </a:rPr>
              <a:t>Select the row for the type of t-test(one-tail of two tailed)</a:t>
            </a:r>
          </a:p>
          <a:p>
            <a:r>
              <a:rPr lang="en-US" b="1" dirty="0">
                <a:solidFill>
                  <a:schemeClr val="tx1"/>
                </a:solidFill>
                <a:latin typeface="Times New Roman" panose="02020603050405020304" pitchFamily="18" charset="0"/>
                <a:cs typeface="Times New Roman" panose="02020603050405020304" pitchFamily="18" charset="0"/>
              </a:rPr>
              <a:t>Step 2: </a:t>
            </a:r>
            <a:r>
              <a:rPr lang="en-US" dirty="0">
                <a:solidFill>
                  <a:schemeClr val="tx1"/>
                </a:solidFill>
                <a:latin typeface="Times New Roman" panose="02020603050405020304" pitchFamily="18" charset="0"/>
                <a:cs typeface="Times New Roman" panose="02020603050405020304" pitchFamily="18" charset="0"/>
              </a:rPr>
              <a:t>Select the column for significance level.</a:t>
            </a:r>
          </a:p>
          <a:p>
            <a:r>
              <a:rPr lang="en-US" b="1" dirty="0">
                <a:solidFill>
                  <a:schemeClr val="tx1"/>
                </a:solidFill>
                <a:latin typeface="Times New Roman" panose="02020603050405020304" pitchFamily="18" charset="0"/>
                <a:cs typeface="Times New Roman" panose="02020603050405020304" pitchFamily="18" charset="0"/>
              </a:rPr>
              <a:t>Step 3: </a:t>
            </a:r>
            <a:r>
              <a:rPr lang="en-US" dirty="0">
                <a:solidFill>
                  <a:schemeClr val="tx1"/>
                </a:solidFill>
                <a:latin typeface="Times New Roman" panose="02020603050405020304" pitchFamily="18" charset="0"/>
                <a:cs typeface="Times New Roman" panose="02020603050405020304" pitchFamily="18" charset="0"/>
              </a:rPr>
              <a:t>Select the row for degrees of freedom.</a:t>
            </a:r>
          </a:p>
          <a:p>
            <a:r>
              <a:rPr lang="en-US" dirty="0">
                <a:solidFill>
                  <a:schemeClr val="tx1"/>
                </a:solidFill>
                <a:latin typeface="Times New Roman" panose="02020603050405020304" pitchFamily="18" charset="0"/>
                <a:cs typeface="Times New Roman" panose="02020603050405020304" pitchFamily="18" charset="0"/>
              </a:rPr>
              <a:t>Obtained value at the intersection of point of all three steps is your t-critical value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2066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F9B6-C569-EF7A-291D-E4F62AD3B61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Case I</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7CC7FB-DB0A-791A-B0E8-CC5599145A14}"/>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 n= 15, confidence interval=90%, Left tailed</a:t>
            </a:r>
          </a:p>
          <a:p>
            <a:r>
              <a:rPr lang="en-US" dirty="0">
                <a:solidFill>
                  <a:schemeClr val="tx1"/>
                </a:solidFill>
                <a:latin typeface="Times New Roman" panose="02020603050405020304" pitchFamily="18" charset="0"/>
                <a:cs typeface="Times New Roman" panose="02020603050405020304" pitchFamily="18" charset="0"/>
              </a:rPr>
              <a:t>Significance level =1- confidence interval</a:t>
            </a:r>
          </a:p>
          <a:p>
            <a:r>
              <a:rPr lang="en-US" dirty="0">
                <a:solidFill>
                  <a:schemeClr val="tx1"/>
                </a:solidFill>
                <a:latin typeface="Times New Roman" panose="02020603050405020304" pitchFamily="18" charset="0"/>
                <a:cs typeface="Times New Roman" panose="02020603050405020304" pitchFamily="18" charset="0"/>
              </a:rPr>
              <a:t>                              =1-0.90</a:t>
            </a:r>
          </a:p>
          <a:p>
            <a:r>
              <a:rPr lang="en-US" dirty="0">
                <a:solidFill>
                  <a:schemeClr val="tx1"/>
                </a:solidFill>
                <a:latin typeface="Times New Roman" panose="02020603050405020304" pitchFamily="18" charset="0"/>
                <a:cs typeface="Times New Roman" panose="02020603050405020304" pitchFamily="18" charset="0"/>
              </a:rPr>
              <a:t>                              =0.10</a:t>
            </a:r>
          </a:p>
          <a:p>
            <a:r>
              <a:rPr lang="en-US" dirty="0">
                <a:solidFill>
                  <a:schemeClr val="tx1"/>
                </a:solidFill>
                <a:latin typeface="Times New Roman" panose="02020603050405020304" pitchFamily="18" charset="0"/>
                <a:cs typeface="Times New Roman" panose="02020603050405020304" pitchFamily="18" charset="0"/>
              </a:rPr>
              <a:t>Degrees of freedom= n-1</a:t>
            </a:r>
          </a:p>
          <a:p>
            <a:r>
              <a:rPr lang="en-US" dirty="0">
                <a:solidFill>
                  <a:schemeClr val="tx1"/>
                </a:solidFill>
                <a:latin typeface="Times New Roman" panose="02020603050405020304" pitchFamily="18" charset="0"/>
                <a:cs typeface="Times New Roman" panose="02020603050405020304" pitchFamily="18" charset="0"/>
              </a:rPr>
              <a:t>                                   15-1</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D881CF9-30DC-4B99-859D-7CA836B64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1035" y="3506550"/>
            <a:ext cx="6366958" cy="2452977"/>
          </a:xfrm>
          <a:prstGeom prst="rect">
            <a:avLst/>
          </a:prstGeom>
        </p:spPr>
      </p:pic>
    </p:spTree>
    <p:extLst>
      <p:ext uri="{BB962C8B-B14F-4D97-AF65-F5344CB8AC3E}">
        <p14:creationId xmlns:p14="http://schemas.microsoft.com/office/powerpoint/2010/main" val="2181761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94F6F-3DE3-0626-F885-E061565B82A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Case II</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659A0B-4E46-C0B6-7CC7-BB14372166A0}"/>
              </a:ext>
            </a:extLst>
          </p:cNvPr>
          <p:cNvSpPr>
            <a:spLocks noGrp="1"/>
          </p:cNvSpPr>
          <p:nvPr>
            <p:ph idx="1"/>
          </p:nvPr>
        </p:nvSpPr>
        <p:spPr/>
        <p:txBody>
          <a:bodyPr>
            <a:normAutofit lnSpcReduction="10000"/>
          </a:bodyPr>
          <a:lstStyle/>
          <a:p>
            <a:r>
              <a:rPr lang="en-US" dirty="0">
                <a:solidFill>
                  <a:schemeClr val="tx1"/>
                </a:solidFill>
                <a:latin typeface="Times New Roman" panose="02020603050405020304" pitchFamily="18" charset="0"/>
                <a:cs typeface="Times New Roman" panose="02020603050405020304" pitchFamily="18" charset="0"/>
              </a:rPr>
              <a:t>n=25, confidence interval=95%, right tailed</a:t>
            </a:r>
          </a:p>
          <a:p>
            <a:r>
              <a:rPr lang="en-US" dirty="0">
                <a:solidFill>
                  <a:schemeClr val="tx1"/>
                </a:solidFill>
                <a:latin typeface="Times New Roman" panose="02020603050405020304" pitchFamily="18" charset="0"/>
                <a:cs typeface="Times New Roman" panose="02020603050405020304" pitchFamily="18" charset="0"/>
              </a:rPr>
              <a:t>Significance level=1- confidence level</a:t>
            </a:r>
          </a:p>
          <a:p>
            <a:r>
              <a:rPr lang="en-US" dirty="0">
                <a:solidFill>
                  <a:schemeClr val="tx1"/>
                </a:solidFill>
                <a:latin typeface="Times New Roman" panose="02020603050405020304" pitchFamily="18" charset="0"/>
                <a:cs typeface="Times New Roman" panose="02020603050405020304" pitchFamily="18" charset="0"/>
              </a:rPr>
              <a:t>                           =1-0.95</a:t>
            </a:r>
          </a:p>
          <a:p>
            <a:r>
              <a:rPr lang="en-US" dirty="0">
                <a:solidFill>
                  <a:schemeClr val="tx1"/>
                </a:solidFill>
                <a:latin typeface="Times New Roman" panose="02020603050405020304" pitchFamily="18" charset="0"/>
                <a:cs typeface="Times New Roman" panose="02020603050405020304" pitchFamily="18" charset="0"/>
              </a:rPr>
              <a:t>                           =0.05</a:t>
            </a:r>
          </a:p>
          <a:p>
            <a:r>
              <a:rPr lang="en-US" dirty="0">
                <a:solidFill>
                  <a:schemeClr val="tx1"/>
                </a:solidFill>
                <a:latin typeface="Times New Roman" panose="02020603050405020304" pitchFamily="18" charset="0"/>
                <a:cs typeface="Times New Roman" panose="02020603050405020304" pitchFamily="18" charset="0"/>
              </a:rPr>
              <a:t>Degrees of freedom= n-1</a:t>
            </a:r>
          </a:p>
          <a:p>
            <a:r>
              <a:rPr lang="en-US" dirty="0">
                <a:solidFill>
                  <a:schemeClr val="tx1"/>
                </a:solidFill>
                <a:latin typeface="Times New Roman" panose="02020603050405020304" pitchFamily="18" charset="0"/>
                <a:cs typeface="Times New Roman" panose="02020603050405020304" pitchFamily="18" charset="0"/>
              </a:rPr>
              <a:t>                                =25-1</a:t>
            </a:r>
          </a:p>
          <a:p>
            <a:r>
              <a:rPr lang="en-US" dirty="0">
                <a:solidFill>
                  <a:schemeClr val="tx1"/>
                </a:solidFill>
                <a:latin typeface="Times New Roman" panose="02020603050405020304" pitchFamily="18" charset="0"/>
                <a:cs typeface="Times New Roman" panose="02020603050405020304" pitchFamily="18" charset="0"/>
              </a:rPr>
              <a:t>                                =24</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9679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48E67-D77E-5621-25E2-7F36397C855E}"/>
              </a:ext>
            </a:extLst>
          </p:cNvPr>
          <p:cNvSpPr>
            <a:spLocks noGrp="1"/>
          </p:cNvSpPr>
          <p:nvPr>
            <p:ph type="title"/>
          </p:nvPr>
        </p:nvSpPr>
        <p:spPr/>
        <p:txBody>
          <a:bodyPr/>
          <a:lstStyle/>
          <a:p>
            <a:r>
              <a:rPr lang="en-US" dirty="0"/>
              <a:t>Case III</a:t>
            </a:r>
            <a:endParaRPr lang="en-IN" dirty="0"/>
          </a:p>
        </p:txBody>
      </p:sp>
      <p:sp>
        <p:nvSpPr>
          <p:cNvPr id="3" name="Content Placeholder 2">
            <a:extLst>
              <a:ext uri="{FF2B5EF4-FFF2-40B4-BE49-F238E27FC236}">
                <a16:creationId xmlns:a16="http://schemas.microsoft.com/office/drawing/2014/main" id="{74AB0F61-DE73-CB14-EC44-8E8AD148FB20}"/>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n=35, confidence interval=99%, Two tailed</a:t>
            </a:r>
          </a:p>
          <a:p>
            <a:r>
              <a:rPr lang="en-US" dirty="0">
                <a:latin typeface="Times New Roman" panose="02020603050405020304" pitchFamily="18" charset="0"/>
                <a:cs typeface="Times New Roman" panose="02020603050405020304" pitchFamily="18" charset="0"/>
              </a:rPr>
              <a:t>Find t- critical value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750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A02D-4EFB-BCD8-22E1-079A2B0E621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8B2DAB-7CE8-6231-52F7-E9DA28D115B9}"/>
              </a:ext>
            </a:extLst>
          </p:cNvPr>
          <p:cNvSpPr>
            <a:spLocks noGrp="1"/>
          </p:cNvSpPr>
          <p:nvPr>
            <p:ph idx="1"/>
          </p:nvPr>
        </p:nvSpPr>
        <p:spPr/>
        <p:txBody>
          <a:bodyPr/>
          <a:lstStyle/>
          <a:p>
            <a:pPr marL="0" indent="0">
              <a:buNone/>
            </a:pPr>
            <a:r>
              <a:rPr lang="en-US" b="1" dirty="0">
                <a:solidFill>
                  <a:schemeClr val="tx1"/>
                </a:solidFill>
                <a:latin typeface="Times New Roman" panose="02020603050405020304" pitchFamily="18" charset="0"/>
                <a:cs typeface="Times New Roman" panose="02020603050405020304" pitchFamily="18" charset="0"/>
              </a:rPr>
              <a:t>Q. 1 </a:t>
            </a:r>
            <a:r>
              <a:rPr lang="en-US" dirty="0">
                <a:solidFill>
                  <a:schemeClr val="tx1"/>
                </a:solidFill>
                <a:latin typeface="Times New Roman" panose="02020603050405020304" pitchFamily="18" charset="0"/>
                <a:cs typeface="Times New Roman" panose="02020603050405020304" pitchFamily="18" charset="0"/>
              </a:rPr>
              <a:t>A company manufactures car batteries with an average life span of 2 or more years. An engineer believes this value to be less.  Using 10 samples, he measures average life span to be 1.8 years with standard deviation of 0.15.</a:t>
            </a:r>
          </a:p>
          <a:p>
            <a:pPr marL="514350" indent="-514350">
              <a:buFont typeface="+mj-lt"/>
              <a:buAutoNum type="romanUcPeriod"/>
            </a:pPr>
            <a:r>
              <a:rPr lang="en-US" dirty="0">
                <a:solidFill>
                  <a:schemeClr val="tx1"/>
                </a:solidFill>
                <a:latin typeface="Times New Roman" panose="02020603050405020304" pitchFamily="18" charset="0"/>
                <a:cs typeface="Times New Roman" panose="02020603050405020304" pitchFamily="18" charset="0"/>
              </a:rPr>
              <a:t>State the null and alternate hypothesis</a:t>
            </a:r>
          </a:p>
          <a:p>
            <a:pPr marL="514350" indent="-514350">
              <a:buFont typeface="+mj-lt"/>
              <a:buAutoNum type="romanUcPeriod"/>
            </a:pPr>
            <a:r>
              <a:rPr lang="en-US" dirty="0">
                <a:solidFill>
                  <a:schemeClr val="tx1"/>
                </a:solidFill>
                <a:latin typeface="Times New Roman" panose="02020603050405020304" pitchFamily="18" charset="0"/>
                <a:cs typeface="Times New Roman" panose="02020603050405020304" pitchFamily="18" charset="0"/>
              </a:rPr>
              <a:t>At a 99% confidence level, is  there enough evidence to discard the null hypothesis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0719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FD4A-BA4C-19FA-7690-43154365349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a:t>
            </a:r>
            <a:endParaRPr lang="en-IN" dirty="0"/>
          </a:p>
        </p:txBody>
      </p:sp>
      <p:sp>
        <p:nvSpPr>
          <p:cNvPr id="3" name="Content Placeholder 2">
            <a:extLst>
              <a:ext uri="{FF2B5EF4-FFF2-40B4-BE49-F238E27FC236}">
                <a16:creationId xmlns:a16="http://schemas.microsoft.com/office/drawing/2014/main" id="{6957106A-AC20-DBAD-5859-C88AD39E3F1F}"/>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Q.2 </a:t>
            </a:r>
            <a:r>
              <a:rPr lang="en-US" dirty="0">
                <a:latin typeface="Times New Roman" panose="02020603050405020304" pitchFamily="18" charset="0"/>
                <a:cs typeface="Times New Roman" panose="02020603050405020304" pitchFamily="18" charset="0"/>
              </a:rPr>
              <a:t>A factory has machine that dispenses 80 ml of a fluid in a bottle. An employee believes that average amount of  fluid is not 80ml. Using 40 samples he measures average amount dispensed by machine to be 78ml with standard deviation of 2.5.</a:t>
            </a:r>
          </a:p>
          <a:p>
            <a:pPr marL="514350" indent="-514350">
              <a:buFont typeface="+mj-lt"/>
              <a:buAutoNum type="romanUcPeriod"/>
            </a:pPr>
            <a:r>
              <a:rPr lang="en-US" dirty="0">
                <a:latin typeface="Times New Roman" panose="02020603050405020304" pitchFamily="18" charset="0"/>
                <a:cs typeface="Times New Roman" panose="02020603050405020304" pitchFamily="18" charset="0"/>
              </a:rPr>
              <a:t>State null hypothesis and alternate hypothesis</a:t>
            </a:r>
          </a:p>
          <a:p>
            <a:pPr marL="514350" indent="-514350">
              <a:buFont typeface="+mj-lt"/>
              <a:buAutoNum type="romanUcPeriod"/>
            </a:pPr>
            <a:r>
              <a:rPr lang="en-US" dirty="0">
                <a:latin typeface="Times New Roman" panose="02020603050405020304" pitchFamily="18" charset="0"/>
                <a:cs typeface="Times New Roman" panose="02020603050405020304" pitchFamily="18" charset="0"/>
              </a:rPr>
              <a:t>At a 95% confidence level, is there enough evidence to support a idea that machine is not working properly?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9910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172E-DA76-FE89-55A6-52D2EBA2DCD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 (June 2023 and 2025)</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99F6BE-1B4A-FE3B-BA44-29C0DDE2D5A1}"/>
              </a:ext>
            </a:extLst>
          </p:cNvPr>
          <p:cNvSpPr>
            <a:spLocks noGrp="1"/>
          </p:cNvSpPr>
          <p:nvPr>
            <p:ph idx="1"/>
          </p:nvPr>
        </p:nvSpPr>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Internal Test marks of student are as follows:</a:t>
            </a:r>
          </a:p>
          <a:p>
            <a:pPr marL="0" indent="0">
              <a:buNone/>
            </a:pPr>
            <a:r>
              <a:rPr lang="en-US" dirty="0">
                <a:solidFill>
                  <a:schemeClr val="tx1"/>
                </a:solidFill>
                <a:latin typeface="Times New Roman" panose="02020603050405020304" pitchFamily="18" charset="0"/>
                <a:cs typeface="Times New Roman" panose="02020603050405020304" pitchFamily="18" charset="0"/>
              </a:rPr>
              <a:t>   10.5,9,7,12,8.5,6.5,8,11,9.9</a:t>
            </a:r>
          </a:p>
          <a:p>
            <a:pPr marL="0" indent="0">
              <a:buNone/>
            </a:pPr>
            <a:r>
              <a:rPr lang="en-US" dirty="0">
                <a:solidFill>
                  <a:schemeClr val="tx1"/>
                </a:solidFill>
                <a:latin typeface="Times New Roman" panose="02020603050405020304" pitchFamily="18" charset="0"/>
                <a:cs typeface="Times New Roman" panose="02020603050405020304" pitchFamily="18" charset="0"/>
              </a:rPr>
              <a:t>Mean population score is 12 and standard deviation is 1.80. Is the mean value for student significantly different from the mean population value? Let alpha value is 0.05 so corresponding t-value is </a:t>
            </a:r>
            <a:r>
              <a:rPr lang="en-US">
                <a:solidFill>
                  <a:schemeClr val="tx1"/>
                </a:solidFill>
                <a:latin typeface="Times New Roman" panose="02020603050405020304" pitchFamily="18" charset="0"/>
                <a:cs typeface="Times New Roman" panose="02020603050405020304" pitchFamily="18" charset="0"/>
              </a:rPr>
              <a:t>2.62                       7 marks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121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554D-A38E-258C-56D0-19DE00B95E4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 (June 2023 and 2025)</a:t>
            </a:r>
            <a:endParaRPr lang="en-IN" dirty="0"/>
          </a:p>
        </p:txBody>
      </p:sp>
      <p:sp>
        <p:nvSpPr>
          <p:cNvPr id="3" name="Content Placeholder 2">
            <a:extLst>
              <a:ext uri="{FF2B5EF4-FFF2-40B4-BE49-F238E27FC236}">
                <a16:creationId xmlns:a16="http://schemas.microsoft.com/office/drawing/2014/main" id="{9657304E-55E0-E5B9-D438-150FB2FD12D2}"/>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A  sample size of 16 people is taken. Suppose a claim is made that the average number of days a person spends a vacation is more than equal to 5 days based on sample of 16 people whose mean came out to be 9 days. Sample standard deviation is found to be 3 days at a level of significance of  0.05 and t-value for right tailed test comes out to be 1.753. Calculate the value of t and check the null hypothesis                                    </a:t>
            </a:r>
            <a:r>
              <a:rPr lang="en-US" b="1" dirty="0">
                <a:solidFill>
                  <a:schemeClr val="tx1"/>
                </a:solidFill>
                <a:latin typeface="Times New Roman" panose="02020603050405020304" pitchFamily="18" charset="0"/>
                <a:cs typeface="Times New Roman" panose="02020603050405020304" pitchFamily="18" charset="0"/>
              </a:rPr>
              <a:t>6 marks</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886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1A066-3440-A45E-BB35-79C8692C705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 (June 2023)</a:t>
            </a:r>
            <a:endParaRPr lang="en-IN" dirty="0"/>
          </a:p>
        </p:txBody>
      </p:sp>
      <p:sp>
        <p:nvSpPr>
          <p:cNvPr id="3" name="Content Placeholder 2">
            <a:extLst>
              <a:ext uri="{FF2B5EF4-FFF2-40B4-BE49-F238E27FC236}">
                <a16:creationId xmlns:a16="http://schemas.microsoft.com/office/drawing/2014/main" id="{7099FDA3-42DE-06D2-8942-1AB237B402A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weights of 8 individuals were recorded before and after participating in a fitness program. Is there any significant difference between their weights before and after the program? Analyze. Use </a:t>
            </a:r>
            <a:r>
              <a:rPr lang="en-IN" dirty="0">
                <a:latin typeface="Times New Roman" panose="02020603050405020304" pitchFamily="18" charset="0"/>
                <a:cs typeface="Times New Roman" panose="02020603050405020304" pitchFamily="18" charset="0"/>
              </a:rPr>
              <a:t>α=0.05 and                    t-value=2.36                                                                          7 marks                                                                                    </a:t>
            </a:r>
          </a:p>
        </p:txBody>
      </p:sp>
      <p:graphicFrame>
        <p:nvGraphicFramePr>
          <p:cNvPr id="4" name="Table 3">
            <a:extLst>
              <a:ext uri="{FF2B5EF4-FFF2-40B4-BE49-F238E27FC236}">
                <a16:creationId xmlns:a16="http://schemas.microsoft.com/office/drawing/2014/main" id="{2D7ECDCC-23D6-4E42-AF40-5D2A1905434A}"/>
              </a:ext>
            </a:extLst>
          </p:cNvPr>
          <p:cNvGraphicFramePr>
            <a:graphicFrameLocks noGrp="1"/>
          </p:cNvGraphicFramePr>
          <p:nvPr>
            <p:extLst>
              <p:ext uri="{D42A27DB-BD31-4B8C-83A1-F6EECF244321}">
                <p14:modId xmlns:p14="http://schemas.microsoft.com/office/powerpoint/2010/main" val="3174222654"/>
              </p:ext>
            </p:extLst>
          </p:nvPr>
        </p:nvGraphicFramePr>
        <p:xfrm>
          <a:off x="1519137" y="4717916"/>
          <a:ext cx="8480899" cy="991238"/>
        </p:xfrm>
        <a:graphic>
          <a:graphicData uri="http://schemas.openxmlformats.org/drawingml/2006/table">
            <a:tbl>
              <a:tblPr firstRow="1" firstCol="1" bandRow="1">
                <a:tableStyleId>{5C22544A-7EE6-4342-B048-85BDC9FD1C3A}</a:tableStyleId>
              </a:tblPr>
              <a:tblGrid>
                <a:gridCol w="1056350">
                  <a:extLst>
                    <a:ext uri="{9D8B030D-6E8A-4147-A177-3AD203B41FA5}">
                      <a16:colId xmlns:a16="http://schemas.microsoft.com/office/drawing/2014/main" val="1816659364"/>
                    </a:ext>
                  </a:extLst>
                </a:gridCol>
                <a:gridCol w="950056">
                  <a:extLst>
                    <a:ext uri="{9D8B030D-6E8A-4147-A177-3AD203B41FA5}">
                      <a16:colId xmlns:a16="http://schemas.microsoft.com/office/drawing/2014/main" val="3600555908"/>
                    </a:ext>
                  </a:extLst>
                </a:gridCol>
                <a:gridCol w="951938">
                  <a:extLst>
                    <a:ext uri="{9D8B030D-6E8A-4147-A177-3AD203B41FA5}">
                      <a16:colId xmlns:a16="http://schemas.microsoft.com/office/drawing/2014/main" val="4017970857"/>
                    </a:ext>
                  </a:extLst>
                </a:gridCol>
                <a:gridCol w="951938">
                  <a:extLst>
                    <a:ext uri="{9D8B030D-6E8A-4147-A177-3AD203B41FA5}">
                      <a16:colId xmlns:a16="http://schemas.microsoft.com/office/drawing/2014/main" val="314403757"/>
                    </a:ext>
                  </a:extLst>
                </a:gridCol>
                <a:gridCol w="951938">
                  <a:extLst>
                    <a:ext uri="{9D8B030D-6E8A-4147-A177-3AD203B41FA5}">
                      <a16:colId xmlns:a16="http://schemas.microsoft.com/office/drawing/2014/main" val="4228971924"/>
                    </a:ext>
                  </a:extLst>
                </a:gridCol>
                <a:gridCol w="951938">
                  <a:extLst>
                    <a:ext uri="{9D8B030D-6E8A-4147-A177-3AD203B41FA5}">
                      <a16:colId xmlns:a16="http://schemas.microsoft.com/office/drawing/2014/main" val="3623806382"/>
                    </a:ext>
                  </a:extLst>
                </a:gridCol>
                <a:gridCol w="951938">
                  <a:extLst>
                    <a:ext uri="{9D8B030D-6E8A-4147-A177-3AD203B41FA5}">
                      <a16:colId xmlns:a16="http://schemas.microsoft.com/office/drawing/2014/main" val="4041835673"/>
                    </a:ext>
                  </a:extLst>
                </a:gridCol>
                <a:gridCol w="892676">
                  <a:extLst>
                    <a:ext uri="{9D8B030D-6E8A-4147-A177-3AD203B41FA5}">
                      <a16:colId xmlns:a16="http://schemas.microsoft.com/office/drawing/2014/main" val="2337064894"/>
                    </a:ext>
                  </a:extLst>
                </a:gridCol>
                <a:gridCol w="822127">
                  <a:extLst>
                    <a:ext uri="{9D8B030D-6E8A-4147-A177-3AD203B41FA5}">
                      <a16:colId xmlns:a16="http://schemas.microsoft.com/office/drawing/2014/main" val="3117866762"/>
                    </a:ext>
                  </a:extLst>
                </a:gridCol>
              </a:tblGrid>
              <a:tr h="495619">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Before</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180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200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230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240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170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190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200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165</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9766589"/>
                  </a:ext>
                </a:extLst>
              </a:tr>
              <a:tr h="495619">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After</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140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145</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150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155</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120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130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140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130</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1786660"/>
                  </a:ext>
                </a:extLst>
              </a:tr>
            </a:tbl>
          </a:graphicData>
        </a:graphic>
      </p:graphicFrame>
    </p:spTree>
    <p:extLst>
      <p:ext uri="{BB962C8B-B14F-4D97-AF65-F5344CB8AC3E}">
        <p14:creationId xmlns:p14="http://schemas.microsoft.com/office/powerpoint/2010/main" val="1995888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2D610-0336-7C1F-DEC3-E7119DAA774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Steps for two sample T-test </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EF885-C8ED-00F3-E911-64A34E117015}"/>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Step 1: State the hypothesis </a:t>
                </a:r>
              </a:p>
              <a:p>
                <a:pPr marL="0" indent="0">
                  <a:buNone/>
                </a:pPr>
                <a:r>
                  <a:rPr lang="en-IN" dirty="0">
                    <a:solidFill>
                      <a:schemeClr val="tx1"/>
                    </a:solidFill>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a:rPr lang="en-US" b="1" i="1">
                            <a:solidFill>
                              <a:schemeClr val="tx1"/>
                            </a:solidFill>
                            <a:latin typeface="Cambria Math" panose="02040503050406030204" pitchFamily="18" charset="0"/>
                            <a:cs typeface="Times New Roman" panose="02020603050405020304" pitchFamily="18" charset="0"/>
                          </a:rPr>
                          <m:t>𝑯</m:t>
                        </m:r>
                      </m:e>
                      <m:sub>
                        <m:r>
                          <a:rPr lang="en-US" b="1" i="1">
                            <a:solidFill>
                              <a:schemeClr val="tx1"/>
                            </a:solidFill>
                            <a:latin typeface="Cambria Math" panose="02040503050406030204" pitchFamily="18" charset="0"/>
                            <a:cs typeface="Times New Roman" panose="02020603050405020304" pitchFamily="18" charset="0"/>
                          </a:rPr>
                          <m:t>𝟎</m:t>
                        </m:r>
                      </m:sub>
                    </m:sSub>
                    <m:r>
                      <a:rPr lang="en-US" b="0" i="0" smtClean="0">
                        <a:solidFill>
                          <a:schemeClr val="tx1"/>
                        </a:solidFill>
                        <a:latin typeface="Cambria Math" panose="02040503050406030204" pitchFamily="18" charset="0"/>
                        <a:cs typeface="Times New Roman" panose="02020603050405020304" pitchFamily="18" charset="0"/>
                      </a:rPr>
                      <m:t>:</m:t>
                    </m:r>
                  </m:oMath>
                </a14:m>
                <a:r>
                  <a:rPr lang="en-IN" dirty="0">
                    <a:solidFill>
                      <a:schemeClr val="tx1"/>
                    </a:solidFill>
                    <a:cs typeface="Times New Roman" panose="02020603050405020304" pitchFamily="18" charset="0"/>
                  </a:rPr>
                  <a:t> </a:t>
                </a:r>
                <a14:m>
                  <m:oMath xmlns:m="http://schemas.openxmlformats.org/officeDocument/2006/math">
                    <m:sSub>
                      <m:sSubPr>
                        <m:ctrlPr>
                          <a:rPr lang="en-IN" i="1" smtClean="0">
                            <a:solidFill>
                              <a:schemeClr val="tx1"/>
                            </a:solidFill>
                            <a:latin typeface="Cambria Math" panose="02040503050406030204" pitchFamily="18" charset="0"/>
                            <a:cs typeface="Times New Roman" panose="02020603050405020304" pitchFamily="18" charset="0"/>
                          </a:rPr>
                        </m:ctrlPr>
                      </m:sSubPr>
                      <m:e>
                        <m:r>
                          <a:rPr lang="en-IN" i="1">
                            <a:solidFill>
                              <a:schemeClr val="tx1"/>
                            </a:solidFill>
                            <a:latin typeface="Cambria Math" panose="02040503050406030204" pitchFamily="18" charset="0"/>
                            <a:cs typeface="Times New Roman" panose="02020603050405020304" pitchFamily="18" charset="0"/>
                          </a:rPr>
                          <m:t>𝞵</m:t>
                        </m:r>
                      </m:e>
                      <m:sub>
                        <m:r>
                          <a:rPr lang="en-US" b="0" i="1" smtClean="0">
                            <a:solidFill>
                              <a:schemeClr val="tx1"/>
                            </a:solidFill>
                            <a:latin typeface="Cambria Math" panose="02040503050406030204" pitchFamily="18" charset="0"/>
                            <a:cs typeface="Times New Roman" panose="02020603050405020304" pitchFamily="18" charset="0"/>
                          </a:rPr>
                          <m:t>1</m:t>
                        </m:r>
                      </m:sub>
                    </m:sSub>
                  </m:oMath>
                </a14:m>
                <a:r>
                  <a:rPr lang="en-IN" b="1" dirty="0">
                    <a:latin typeface="Times New Roman" panose="02020603050405020304" pitchFamily="18" charset="0"/>
                    <a:cs typeface="Times New Roman" panose="02020603050405020304" pitchFamily="18" charset="0"/>
                  </a:rPr>
                  <a:t>=</a:t>
                </a:r>
                <a:r>
                  <a:rPr lang="en-IN" dirty="0">
                    <a:solidFill>
                      <a:schemeClr val="tx1"/>
                    </a:solidFill>
                    <a:cs typeface="Times New Roman" panose="02020603050405020304" pitchFamily="18" charset="0"/>
                  </a:rPr>
                  <a:t>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i="1">
                            <a:solidFill>
                              <a:schemeClr val="tx1"/>
                            </a:solidFill>
                            <a:latin typeface="Cambria Math" panose="02040503050406030204" pitchFamily="18" charset="0"/>
                            <a:cs typeface="Times New Roman" panose="02020603050405020304" pitchFamily="18" charset="0"/>
                          </a:rPr>
                          <m:t>𝞵</m:t>
                        </m:r>
                      </m:e>
                      <m:sub>
                        <m:r>
                          <a:rPr lang="en-US" b="0" i="1" smtClean="0">
                            <a:solidFill>
                              <a:schemeClr val="tx1"/>
                            </a:solidFill>
                            <a:latin typeface="Cambria Math" panose="02040503050406030204" pitchFamily="18" charset="0"/>
                            <a:cs typeface="Times New Roman" panose="02020603050405020304" pitchFamily="18" charset="0"/>
                          </a:rPr>
                          <m:t>2</m:t>
                        </m:r>
                      </m:sub>
                    </m:sSub>
                  </m:oMath>
                </a14:m>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no difference in means</a:t>
                </a:r>
                <a:r>
                  <a:rPr lang="en-IN" b="1" dirty="0">
                    <a:latin typeface="Times New Roman" panose="02020603050405020304" pitchFamily="18" charset="0"/>
                    <a:cs typeface="Times New Roman" panose="02020603050405020304" pitchFamily="18" charset="0"/>
                  </a:rPr>
                  <a:t>)</a:t>
                </a:r>
              </a:p>
              <a:p>
                <a:pPr marL="0" indent="0">
                  <a:buNone/>
                </a:pPr>
                <a:r>
                  <a:rPr lang="en-IN"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         </m:t>
                        </m:r>
                        <m:r>
                          <a:rPr lang="en-US" b="1" i="1">
                            <a:solidFill>
                              <a:schemeClr val="tx1"/>
                            </a:solidFill>
                            <a:latin typeface="Cambria Math" panose="02040503050406030204" pitchFamily="18" charset="0"/>
                            <a:cs typeface="Times New Roman" panose="02020603050405020304" pitchFamily="18" charset="0"/>
                          </a:rPr>
                          <m:t>𝑯</m:t>
                        </m:r>
                      </m:e>
                      <m:sub>
                        <m:r>
                          <a:rPr lang="en-US" b="1" i="1" smtClean="0">
                            <a:solidFill>
                              <a:schemeClr val="tx1"/>
                            </a:solidFill>
                            <a:latin typeface="Cambria Math" panose="02040503050406030204" pitchFamily="18" charset="0"/>
                            <a:cs typeface="Times New Roman" panose="02020603050405020304" pitchFamily="18" charset="0"/>
                          </a:rPr>
                          <m:t>𝟏</m:t>
                        </m:r>
                      </m:sub>
                    </m:sSub>
                  </m:oMath>
                </a14:m>
                <a:r>
                  <a:rPr lang="en-IN" b="1" dirty="0">
                    <a:latin typeface="Times New Roman" panose="02020603050405020304" pitchFamily="18" charset="0"/>
                    <a:cs typeface="Times New Roman" panose="02020603050405020304" pitchFamily="18" charset="0"/>
                  </a:rPr>
                  <a:t>:</a:t>
                </a:r>
                <a:r>
                  <a:rPr lang="en-IN" dirty="0">
                    <a:solidFill>
                      <a:schemeClr val="tx1"/>
                    </a:solidFill>
                    <a:cs typeface="Times New Roman" panose="02020603050405020304" pitchFamily="18" charset="0"/>
                  </a:rPr>
                  <a:t>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i="1">
                            <a:solidFill>
                              <a:schemeClr val="tx1"/>
                            </a:solidFill>
                            <a:latin typeface="Cambria Math" panose="02040503050406030204" pitchFamily="18" charset="0"/>
                            <a:cs typeface="Times New Roman" panose="02020603050405020304" pitchFamily="18" charset="0"/>
                          </a:rPr>
                          <m:t>𝞵</m:t>
                        </m:r>
                      </m:e>
                      <m:sub>
                        <m:r>
                          <a:rPr lang="en-US" i="1">
                            <a:solidFill>
                              <a:schemeClr val="tx1"/>
                            </a:solidFill>
                            <a:latin typeface="Cambria Math" panose="02040503050406030204" pitchFamily="18" charset="0"/>
                            <a:cs typeface="Times New Roman" panose="02020603050405020304" pitchFamily="18" charset="0"/>
                          </a:rPr>
                          <m:t>1</m:t>
                        </m:r>
                      </m:sub>
                    </m:sSub>
                    <m:r>
                      <a:rPr lang="en-US"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solidFill>
                      <a:schemeClr val="tx1"/>
                    </a:solidFill>
                    <a:cs typeface="Times New Roman" panose="02020603050405020304" pitchFamily="18" charset="0"/>
                  </a:rPr>
                  <a:t>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i="1">
                            <a:solidFill>
                              <a:schemeClr val="tx1"/>
                            </a:solidFill>
                            <a:latin typeface="Cambria Math" panose="02040503050406030204" pitchFamily="18" charset="0"/>
                            <a:cs typeface="Times New Roman" panose="02020603050405020304" pitchFamily="18" charset="0"/>
                          </a:rPr>
                          <m:t>𝞵</m:t>
                        </m:r>
                      </m:e>
                      <m:sub>
                        <m:r>
                          <a:rPr lang="en-US" i="1">
                            <a:solidFill>
                              <a:schemeClr val="tx1"/>
                            </a:solidFill>
                            <a:latin typeface="Cambria Math" panose="02040503050406030204" pitchFamily="18" charset="0"/>
                            <a:cs typeface="Times New Roman" panose="02020603050405020304" pitchFamily="18" charset="0"/>
                          </a:rPr>
                          <m:t>2</m:t>
                        </m:r>
                      </m:sub>
                    </m:sSub>
                  </m:oMath>
                </a14:m>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means are different</a:t>
                </a:r>
                <a:r>
                  <a:rPr lang="en-IN" b="1" dirty="0">
                    <a:latin typeface="Times New Roman" panose="02020603050405020304" pitchFamily="18" charset="0"/>
                    <a:cs typeface="Times New Roman" panose="02020603050405020304" pitchFamily="18" charset="0"/>
                  </a:rPr>
                  <a:t>)</a:t>
                </a:r>
              </a:p>
              <a:p>
                <a:pPr marL="0" indent="0">
                  <a:buNone/>
                </a:pPr>
                <a:r>
                  <a:rPr lang="en-IN" b="1" dirty="0">
                    <a:latin typeface="Times New Roman" panose="02020603050405020304" pitchFamily="18" charset="0"/>
                    <a:cs typeface="Times New Roman" panose="02020603050405020304" pitchFamily="18" charset="0"/>
                  </a:rPr>
                  <a:t>  Step 2: Calculate means of both the groups </a:t>
                </a:r>
              </a:p>
              <a:p>
                <a:pPr marL="0" indent="0">
                  <a:buNone/>
                </a:pPr>
                <a:r>
                  <a:rPr lang="en-IN" b="1" dirty="0">
                    <a:latin typeface="Times New Roman" panose="02020603050405020304" pitchFamily="18" charset="0"/>
                    <a:cs typeface="Times New Roman" panose="02020603050405020304" pitchFamily="18" charset="0"/>
                  </a:rPr>
                  <a:t> Step 3: Calculate standard deviation of both the groups</a:t>
                </a:r>
              </a:p>
              <a:p>
                <a:pPr marL="0" indent="0">
                  <a:buNone/>
                </a:pPr>
                <a:r>
                  <a:rPr lang="en-IN" b="1" dirty="0">
                    <a:latin typeface="Times New Roman" panose="02020603050405020304" pitchFamily="18" charset="0"/>
                    <a:cs typeface="Times New Roman" panose="02020603050405020304" pitchFamily="18" charset="0"/>
                  </a:rPr>
                  <a:t>Step 4: Calculate t- statistics </a:t>
                </a:r>
              </a:p>
            </p:txBody>
          </p:sp>
        </mc:Choice>
        <mc:Fallback xmlns="">
          <p:sp>
            <p:nvSpPr>
              <p:cNvPr id="3" name="Content Placeholder 2">
                <a:extLst>
                  <a:ext uri="{FF2B5EF4-FFF2-40B4-BE49-F238E27FC236}">
                    <a16:creationId xmlns:a16="http://schemas.microsoft.com/office/drawing/2014/main" id="{9D4EF885-C8ED-00F3-E911-64A34E117015}"/>
                  </a:ext>
                </a:extLst>
              </p:cNvPr>
              <p:cNvSpPr>
                <a:spLocks noGrp="1" noRot="1" noChangeAspect="1" noMove="1" noResize="1" noEditPoints="1" noAdjustHandles="1" noChangeArrowheads="1" noChangeShapeType="1" noTextEdit="1"/>
              </p:cNvSpPr>
              <p:nvPr>
                <p:ph idx="1"/>
              </p:nvPr>
            </p:nvSpPr>
            <p:spPr>
              <a:blipFill>
                <a:blip r:embed="rId2"/>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789625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ED82A-87B7-F98D-5134-36F4180344B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Steps for two sample T-test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F6AA51-0D66-3969-5A2B-6BD5902A564D}"/>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Step 5  : Decision rule</a:t>
                </a:r>
              </a:p>
              <a:p>
                <a:r>
                  <a:rPr lang="en-US" dirty="0">
                    <a:solidFill>
                      <a:schemeClr val="tx1"/>
                    </a:solidFill>
                    <a:latin typeface="Times New Roman" panose="02020603050405020304" pitchFamily="18" charset="0"/>
                    <a:cs typeface="Times New Roman" panose="02020603050405020304" pitchFamily="18" charset="0"/>
                  </a:rPr>
                  <a:t>If |t|&gt;critical t-value, you reject the null hypothesis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US" b="0" i="1">
                            <a:latin typeface="Cambria Math" panose="02040503050406030204" pitchFamily="18" charset="0"/>
                            <a:cs typeface="Times New Roman" panose="02020603050405020304" pitchFamily="18" charset="0"/>
                          </a:rPr>
                          <m:t>𝐻</m:t>
                        </m:r>
                      </m:e>
                      <m:sub>
                        <m:r>
                          <a:rPr lang="en-US" b="0" i="1">
                            <a:latin typeface="Cambria Math" panose="02040503050406030204" pitchFamily="18" charset="0"/>
                            <a:cs typeface="Times New Roman" panose="02020603050405020304" pitchFamily="18" charset="0"/>
                          </a:rPr>
                          <m:t>0</m:t>
                        </m:r>
                      </m:sub>
                    </m:sSub>
                    <m:r>
                      <a:rPr lang="en-US" b="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If |t| </a:t>
                </a:r>
                <a:r>
                  <a:rPr lang="en-IN" dirty="0">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critical t-value, you fail to reject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US" b="0" i="1">
                            <a:solidFill>
                              <a:schemeClr val="tx1"/>
                            </a:solidFill>
                            <a:latin typeface="Cambria Math" panose="02040503050406030204" pitchFamily="18" charset="0"/>
                            <a:cs typeface="Times New Roman" panose="02020603050405020304" pitchFamily="18" charset="0"/>
                          </a:rPr>
                          <m:t>𝐻</m:t>
                        </m:r>
                      </m:e>
                      <m:sub>
                        <m:r>
                          <a:rPr lang="en-US" b="0" i="1">
                            <a:solidFill>
                              <a:schemeClr val="tx1"/>
                            </a:solidFill>
                            <a:latin typeface="Cambria Math" panose="02040503050406030204" pitchFamily="18" charset="0"/>
                            <a:cs typeface="Times New Roman" panose="02020603050405020304" pitchFamily="18" charset="0"/>
                          </a:rPr>
                          <m:t>0</m:t>
                        </m:r>
                      </m:sub>
                    </m:sSub>
                  </m:oMath>
                </a14:m>
                <a:endParaRPr lang="en-IN" dirty="0">
                  <a:solidFill>
                    <a:schemeClr val="tx1"/>
                  </a:solidFill>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Step 6: Conclusion</a:t>
                </a:r>
              </a:p>
            </p:txBody>
          </p:sp>
        </mc:Choice>
        <mc:Fallback xmlns="">
          <p:sp>
            <p:nvSpPr>
              <p:cNvPr id="3" name="Content Placeholder 2">
                <a:extLst>
                  <a:ext uri="{FF2B5EF4-FFF2-40B4-BE49-F238E27FC236}">
                    <a16:creationId xmlns:a16="http://schemas.microsoft.com/office/drawing/2014/main" id="{25F6AA51-0D66-3969-5A2B-6BD5902A564D}"/>
                  </a:ext>
                </a:extLst>
              </p:cNvPr>
              <p:cNvSpPr>
                <a:spLocks noGrp="1" noRot="1" noChangeAspect="1" noMove="1" noResize="1" noEditPoints="1" noAdjustHandles="1" noChangeArrowheads="1" noChangeShapeType="1" noTextEdit="1"/>
              </p:cNvSpPr>
              <p:nvPr>
                <p:ph idx="1"/>
              </p:nvPr>
            </p:nvSpPr>
            <p:spPr>
              <a:blipFill>
                <a:blip r:embed="rId2"/>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3314250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359E6-78E8-389C-81AF-933364850E1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 (June 2023 and 2025)</a:t>
            </a:r>
            <a:endParaRPr lang="en-IN" dirty="0"/>
          </a:p>
        </p:txBody>
      </p:sp>
      <p:sp>
        <p:nvSpPr>
          <p:cNvPr id="3" name="Content Placeholder 2">
            <a:extLst>
              <a:ext uri="{FF2B5EF4-FFF2-40B4-BE49-F238E27FC236}">
                <a16:creationId xmlns:a16="http://schemas.microsoft.com/office/drawing/2014/main" id="{F4EA4268-B541-FA2D-BC90-73696CA96FA3}"/>
              </a:ext>
            </a:extLst>
          </p:cNvPr>
          <p:cNvSpPr>
            <a:spLocks noGrp="1"/>
          </p:cNvSpPr>
          <p:nvPr>
            <p:ph idx="1"/>
          </p:nvPr>
        </p:nvSpPr>
        <p:spPr>
          <a:xfrm>
            <a:off x="1295402" y="2603929"/>
            <a:ext cx="9601196" cy="3318936"/>
          </a:xfrm>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The subject marks of boys and girls are as follows: </a:t>
            </a:r>
          </a:p>
          <a:p>
            <a:pPr marL="0" indent="0">
              <a:buNone/>
            </a:pPr>
            <a:endParaRPr lang="en-IN" dirty="0"/>
          </a:p>
          <a:p>
            <a:pPr marL="0" indent="0">
              <a:buNone/>
            </a:pPr>
            <a:endParaRPr lang="en-IN" dirty="0"/>
          </a:p>
          <a:p>
            <a:pPr marL="0" indent="0">
              <a:buNone/>
            </a:pPr>
            <a:endParaRPr lang="en-IN" dirty="0"/>
          </a:p>
          <a:p>
            <a:pPr marL="0" indent="0">
              <a:buNone/>
            </a:pPr>
            <a:r>
              <a:rPr lang="en-US" dirty="0">
                <a:solidFill>
                  <a:schemeClr val="tx1"/>
                </a:solidFill>
                <a:latin typeface="Times New Roman" panose="02020603050405020304" pitchFamily="18" charset="0"/>
                <a:cs typeface="Times New Roman" panose="02020603050405020304" pitchFamily="18" charset="0"/>
              </a:rPr>
              <a:t>Is there any significant difference between the marks of girls and boys? Assume alpha=0.05, t-value(critical)=2.11</a:t>
            </a:r>
            <a:endParaRPr lang="en-IN"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6" name="Table 5">
            <a:extLst>
              <a:ext uri="{FF2B5EF4-FFF2-40B4-BE49-F238E27FC236}">
                <a16:creationId xmlns:a16="http://schemas.microsoft.com/office/drawing/2014/main" id="{AF02F1BD-6D40-1943-C2C0-DF0DECF8014B}"/>
              </a:ext>
            </a:extLst>
          </p:cNvPr>
          <p:cNvGraphicFramePr>
            <a:graphicFrameLocks noGrp="1"/>
          </p:cNvGraphicFramePr>
          <p:nvPr>
            <p:extLst>
              <p:ext uri="{D42A27DB-BD31-4B8C-83A1-F6EECF244321}">
                <p14:modId xmlns:p14="http://schemas.microsoft.com/office/powerpoint/2010/main" val="3063301226"/>
              </p:ext>
            </p:extLst>
          </p:nvPr>
        </p:nvGraphicFramePr>
        <p:xfrm>
          <a:off x="1525918" y="3041780"/>
          <a:ext cx="8009969" cy="1250302"/>
        </p:xfrm>
        <a:graphic>
          <a:graphicData uri="http://schemas.openxmlformats.org/drawingml/2006/table">
            <a:tbl>
              <a:tblPr firstRow="1" firstCol="1" bandRow="1">
                <a:tableStyleId>{5C22544A-7EE6-4342-B048-85BDC9FD1C3A}</a:tableStyleId>
              </a:tblPr>
              <a:tblGrid>
                <a:gridCol w="873314">
                  <a:extLst>
                    <a:ext uri="{9D8B030D-6E8A-4147-A177-3AD203B41FA5}">
                      <a16:colId xmlns:a16="http://schemas.microsoft.com/office/drawing/2014/main" val="2224015923"/>
                    </a:ext>
                  </a:extLst>
                </a:gridCol>
                <a:gridCol w="755155">
                  <a:extLst>
                    <a:ext uri="{9D8B030D-6E8A-4147-A177-3AD203B41FA5}">
                      <a16:colId xmlns:a16="http://schemas.microsoft.com/office/drawing/2014/main" val="2256024838"/>
                    </a:ext>
                  </a:extLst>
                </a:gridCol>
                <a:gridCol w="756043">
                  <a:extLst>
                    <a:ext uri="{9D8B030D-6E8A-4147-A177-3AD203B41FA5}">
                      <a16:colId xmlns:a16="http://schemas.microsoft.com/office/drawing/2014/main" val="524623471"/>
                    </a:ext>
                  </a:extLst>
                </a:gridCol>
                <a:gridCol w="756043">
                  <a:extLst>
                    <a:ext uri="{9D8B030D-6E8A-4147-A177-3AD203B41FA5}">
                      <a16:colId xmlns:a16="http://schemas.microsoft.com/office/drawing/2014/main" val="2566081877"/>
                    </a:ext>
                  </a:extLst>
                </a:gridCol>
                <a:gridCol w="718730">
                  <a:extLst>
                    <a:ext uri="{9D8B030D-6E8A-4147-A177-3AD203B41FA5}">
                      <a16:colId xmlns:a16="http://schemas.microsoft.com/office/drawing/2014/main" val="4115085609"/>
                    </a:ext>
                  </a:extLst>
                </a:gridCol>
                <a:gridCol w="756043">
                  <a:extLst>
                    <a:ext uri="{9D8B030D-6E8A-4147-A177-3AD203B41FA5}">
                      <a16:colId xmlns:a16="http://schemas.microsoft.com/office/drawing/2014/main" val="632965680"/>
                    </a:ext>
                  </a:extLst>
                </a:gridCol>
                <a:gridCol w="718730">
                  <a:extLst>
                    <a:ext uri="{9D8B030D-6E8A-4147-A177-3AD203B41FA5}">
                      <a16:colId xmlns:a16="http://schemas.microsoft.com/office/drawing/2014/main" val="4016208446"/>
                    </a:ext>
                  </a:extLst>
                </a:gridCol>
                <a:gridCol w="664536">
                  <a:extLst>
                    <a:ext uri="{9D8B030D-6E8A-4147-A177-3AD203B41FA5}">
                      <a16:colId xmlns:a16="http://schemas.microsoft.com/office/drawing/2014/main" val="4026730691"/>
                    </a:ext>
                  </a:extLst>
                </a:gridCol>
                <a:gridCol w="682304">
                  <a:extLst>
                    <a:ext uri="{9D8B030D-6E8A-4147-A177-3AD203B41FA5}">
                      <a16:colId xmlns:a16="http://schemas.microsoft.com/office/drawing/2014/main" val="684851516"/>
                    </a:ext>
                  </a:extLst>
                </a:gridCol>
                <a:gridCol w="682304">
                  <a:extLst>
                    <a:ext uri="{9D8B030D-6E8A-4147-A177-3AD203B41FA5}">
                      <a16:colId xmlns:a16="http://schemas.microsoft.com/office/drawing/2014/main" val="3129082659"/>
                    </a:ext>
                  </a:extLst>
                </a:gridCol>
                <a:gridCol w="646767">
                  <a:extLst>
                    <a:ext uri="{9D8B030D-6E8A-4147-A177-3AD203B41FA5}">
                      <a16:colId xmlns:a16="http://schemas.microsoft.com/office/drawing/2014/main" val="4143128952"/>
                    </a:ext>
                  </a:extLst>
                </a:gridCol>
              </a:tblGrid>
              <a:tr h="625151">
                <a:tc>
                  <a:txBody>
                    <a:bodyPr/>
                    <a:lstStyle/>
                    <a:p>
                      <a:pPr>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Boys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12</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14</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8</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16</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5</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3</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9</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11</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 </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7172763"/>
                  </a:ext>
                </a:extLst>
              </a:tr>
              <a:tr h="625151">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Girls</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21</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18</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14</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20</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11</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19</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8</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12</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13</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15</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1253636"/>
                  </a:ext>
                </a:extLst>
              </a:tr>
            </a:tbl>
          </a:graphicData>
        </a:graphic>
      </p:graphicFrame>
    </p:spTree>
    <p:extLst>
      <p:ext uri="{BB962C8B-B14F-4D97-AF65-F5344CB8AC3E}">
        <p14:creationId xmlns:p14="http://schemas.microsoft.com/office/powerpoint/2010/main" val="1897143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D580C-FD85-713A-09C9-358824701FA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p-value?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85A158-B6ED-08BA-6667-AF2717278EBC}"/>
              </a:ext>
            </a:extLst>
          </p:cNvPr>
          <p:cNvSpPr>
            <a:spLocks noGrp="1"/>
          </p:cNvSpPr>
          <p:nvPr>
            <p:ph idx="1"/>
          </p:nvPr>
        </p:nvSpPr>
        <p:spPr>
          <a:xfrm>
            <a:off x="1295401" y="2556931"/>
            <a:ext cx="10031962" cy="3554619"/>
          </a:xfrm>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It is the </a:t>
            </a:r>
            <a:r>
              <a:rPr lang="en-US" b="1" dirty="0">
                <a:solidFill>
                  <a:schemeClr val="tx1"/>
                </a:solidFill>
                <a:latin typeface="Times New Roman" panose="02020603050405020304" pitchFamily="18" charset="0"/>
                <a:cs typeface="Times New Roman" panose="02020603050405020304" pitchFamily="18" charset="0"/>
              </a:rPr>
              <a:t>probability </a:t>
            </a:r>
            <a:r>
              <a:rPr lang="en-US" dirty="0">
                <a:solidFill>
                  <a:schemeClr val="tx1"/>
                </a:solidFill>
                <a:latin typeface="Times New Roman" panose="02020603050405020304" pitchFamily="18" charset="0"/>
                <a:cs typeface="Times New Roman" panose="02020603050405020304" pitchFamily="18" charset="0"/>
              </a:rPr>
              <a:t>of getting the value of our test statistics </a:t>
            </a:r>
            <a:r>
              <a:rPr lang="en-US" b="1" dirty="0">
                <a:solidFill>
                  <a:schemeClr val="tx1"/>
                </a:solidFill>
                <a:latin typeface="Times New Roman" panose="02020603050405020304" pitchFamily="18" charset="0"/>
                <a:cs typeface="Times New Roman" panose="02020603050405020304" pitchFamily="18" charset="0"/>
              </a:rPr>
              <a:t>if null hypothesis is true.</a:t>
            </a:r>
          </a:p>
          <a:p>
            <a:r>
              <a:rPr lang="en-US" dirty="0">
                <a:solidFill>
                  <a:schemeClr val="tx1"/>
                </a:solidFill>
                <a:latin typeface="Times New Roman" panose="02020603050405020304" pitchFamily="18" charset="0"/>
                <a:cs typeface="Times New Roman" panose="02020603050405020304" pitchFamily="18" charset="0"/>
              </a:rPr>
              <a:t>The lower the p-value, the stronger is the evidence that null hypothesis is false.</a:t>
            </a:r>
          </a:p>
          <a:p>
            <a:r>
              <a:rPr lang="en-US" dirty="0">
                <a:solidFill>
                  <a:schemeClr val="tx1"/>
                </a:solidFill>
                <a:latin typeface="Times New Roman" panose="02020603050405020304" pitchFamily="18" charset="0"/>
                <a:cs typeface="Times New Roman" panose="02020603050405020304" pitchFamily="18" charset="0"/>
              </a:rPr>
              <a:t>Since </a:t>
            </a:r>
            <a:r>
              <a:rPr lang="en-US" b="1" dirty="0">
                <a:solidFill>
                  <a:schemeClr val="tx1"/>
                </a:solidFill>
                <a:latin typeface="Times New Roman" panose="02020603050405020304" pitchFamily="18" charset="0"/>
                <a:cs typeface="Times New Roman" panose="02020603050405020304" pitchFamily="18" charset="0"/>
              </a:rPr>
              <a:t>p-value</a:t>
            </a:r>
            <a:r>
              <a:rPr lang="en-US" dirty="0">
                <a:solidFill>
                  <a:schemeClr val="tx1"/>
                </a:solidFill>
                <a:latin typeface="Times New Roman" panose="02020603050405020304" pitchFamily="18" charset="0"/>
                <a:cs typeface="Times New Roman" panose="02020603050405020304" pitchFamily="18" charset="0"/>
              </a:rPr>
              <a:t> is a </a:t>
            </a:r>
            <a:r>
              <a:rPr lang="en-US" b="1" dirty="0">
                <a:solidFill>
                  <a:schemeClr val="tx1"/>
                </a:solidFill>
                <a:latin typeface="Times New Roman" panose="02020603050405020304" pitchFamily="18" charset="0"/>
                <a:cs typeface="Times New Roman" panose="02020603050405020304" pitchFamily="18" charset="0"/>
              </a:rPr>
              <a:t>probability</a:t>
            </a:r>
            <a:r>
              <a:rPr lang="en-US" dirty="0">
                <a:solidFill>
                  <a:schemeClr val="tx1"/>
                </a:solidFill>
                <a:latin typeface="Times New Roman" panose="02020603050405020304" pitchFamily="18" charset="0"/>
                <a:cs typeface="Times New Roman" panose="02020603050405020304" pitchFamily="18" charset="0"/>
              </a:rPr>
              <a:t> value it will always lie between </a:t>
            </a:r>
            <a:r>
              <a:rPr lang="en-US" b="1" dirty="0">
                <a:solidFill>
                  <a:schemeClr val="tx1"/>
                </a:solidFill>
                <a:latin typeface="Times New Roman" panose="02020603050405020304" pitchFamily="18" charset="0"/>
                <a:cs typeface="Times New Roman" panose="02020603050405020304" pitchFamily="18" charset="0"/>
              </a:rPr>
              <a:t>0 to 1</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high p-value </a:t>
            </a:r>
            <a:r>
              <a:rPr lang="en-US" dirty="0">
                <a:solidFill>
                  <a:schemeClr val="tx1"/>
                </a:solidFill>
                <a:latin typeface="Times New Roman" panose="02020603050405020304" pitchFamily="18" charset="0"/>
                <a:cs typeface="Times New Roman" panose="02020603050405020304" pitchFamily="18" charset="0"/>
              </a:rPr>
              <a:t>indicates the observed results are likely to occur by chance under the null hypothesis &amp; that’s why in this case, </a:t>
            </a:r>
            <a:r>
              <a:rPr lang="en-US" b="1" dirty="0">
                <a:solidFill>
                  <a:schemeClr val="tx1"/>
                </a:solidFill>
                <a:latin typeface="Times New Roman" panose="02020603050405020304" pitchFamily="18" charset="0"/>
                <a:cs typeface="Times New Roman" panose="02020603050405020304" pitchFamily="18" charset="0"/>
              </a:rPr>
              <a:t>null hypothesis would not be rejected.</a:t>
            </a:r>
          </a:p>
          <a:p>
            <a:r>
              <a:rPr lang="en-US" dirty="0">
                <a:solidFill>
                  <a:schemeClr val="tx1"/>
                </a:solidFill>
                <a:latin typeface="Times New Roman" panose="02020603050405020304" pitchFamily="18" charset="0"/>
                <a:cs typeface="Times New Roman" panose="02020603050405020304" pitchFamily="18" charset="0"/>
              </a:rPr>
              <a:t>On the other hand, </a:t>
            </a:r>
            <a:r>
              <a:rPr lang="en-US" b="1" dirty="0">
                <a:solidFill>
                  <a:schemeClr val="tx1"/>
                </a:solidFill>
                <a:latin typeface="Times New Roman" panose="02020603050405020304" pitchFamily="18" charset="0"/>
                <a:cs typeface="Times New Roman" panose="02020603050405020304" pitchFamily="18" charset="0"/>
              </a:rPr>
              <a:t>low p-value </a:t>
            </a:r>
            <a:r>
              <a:rPr lang="en-US" dirty="0">
                <a:solidFill>
                  <a:schemeClr val="tx1"/>
                </a:solidFill>
                <a:latin typeface="Times New Roman" panose="02020603050405020304" pitchFamily="18" charset="0"/>
                <a:cs typeface="Times New Roman" panose="02020603050405020304" pitchFamily="18" charset="0"/>
              </a:rPr>
              <a:t>indicates that results are less likely to occur by chance under the null hypothesis &amp; hence in this case </a:t>
            </a:r>
            <a:r>
              <a:rPr lang="en-US" b="1" dirty="0">
                <a:solidFill>
                  <a:schemeClr val="tx1"/>
                </a:solidFill>
                <a:latin typeface="Times New Roman" panose="02020603050405020304" pitchFamily="18" charset="0"/>
                <a:cs typeface="Times New Roman" panose="02020603050405020304" pitchFamily="18" charset="0"/>
              </a:rPr>
              <a:t>null hypothesis would be rejected.</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7327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3B62E-A178-8241-0FE9-E7D83CA15F25}"/>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How to find P-value from t-test statistics</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73719C-5A61-A880-AD0D-5A965551E955}"/>
                  </a:ext>
                </a:extLst>
              </p:cNvPr>
              <p:cNvSpPr>
                <a:spLocks noGrp="1"/>
              </p:cNvSpPr>
              <p:nvPr>
                <p:ph idx="1"/>
              </p:nvPr>
            </p:nvSpPr>
            <p:spPr>
              <a:xfrm>
                <a:off x="1295401" y="2556931"/>
                <a:ext cx="9873342" cy="3461313"/>
              </a:xfrm>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Fred was testing null hypothesis with mean=0</a:t>
                </a:r>
              </a:p>
              <a:p>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𝐻</m:t>
                        </m:r>
                      </m:e>
                      <m:sub>
                        <m:r>
                          <a:rPr lang="en-US" i="1">
                            <a:solidFill>
                              <a:schemeClr val="tx1"/>
                            </a:solidFill>
                            <a:latin typeface="Cambria Math" panose="02040503050406030204" pitchFamily="18" charset="0"/>
                            <a:cs typeface="Times New Roman" panose="02020603050405020304" pitchFamily="18" charset="0"/>
                          </a:rPr>
                          <m:t>0</m:t>
                        </m:r>
                      </m:sub>
                    </m:sSub>
                    <m:r>
                      <a:rPr lang="en-US" b="0" i="1" smtClean="0">
                        <a:solidFill>
                          <a:schemeClr val="tx1"/>
                        </a:solidFill>
                        <a:latin typeface="Cambria Math" panose="02040503050406030204" pitchFamily="18" charset="0"/>
                        <a:cs typeface="Times New Roman" panose="02020603050405020304" pitchFamily="18" charset="0"/>
                      </a:rPr>
                      <m:t>: </m:t>
                    </m:r>
                    <m:r>
                      <a:rPr lang="en-US" b="0" i="1" smtClean="0">
                        <a:solidFill>
                          <a:schemeClr val="tx1"/>
                        </a:solidFill>
                        <a:latin typeface="Cambria Math" panose="02040503050406030204" pitchFamily="18" charset="0"/>
                        <a:cs typeface="Times New Roman" panose="02020603050405020304" pitchFamily="18" charset="0"/>
                      </a:rPr>
                      <m:t>𝞵</m:t>
                    </m:r>
                  </m:oMath>
                </a14:m>
                <a:r>
                  <a:rPr lang="en-IN" dirty="0">
                    <a:solidFill>
                      <a:schemeClr val="tx1"/>
                    </a:solidFill>
                    <a:latin typeface="Times New Roman" panose="02020603050405020304" pitchFamily="18" charset="0"/>
                    <a:cs typeface="Times New Roman" panose="02020603050405020304" pitchFamily="18" charset="0"/>
                  </a:rPr>
                  <a:t> =0 versus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𝐻</m:t>
                        </m:r>
                      </m:e>
                      <m:sub>
                        <m:r>
                          <a:rPr lang="en-US" b="0" i="1" smtClean="0">
                            <a:solidFill>
                              <a:schemeClr val="tx1"/>
                            </a:solidFill>
                            <a:latin typeface="Cambria Math" panose="02040503050406030204" pitchFamily="18" charset="0"/>
                            <a:cs typeface="Times New Roman" panose="02020603050405020304" pitchFamily="18" charset="0"/>
                          </a:rPr>
                          <m:t>𝑎</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𝞵</m:t>
                    </m:r>
                    <m:r>
                      <a:rPr lang="en-US"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solidFill>
                      <a:schemeClr val="tx1"/>
                    </a:solidFill>
                    <a:latin typeface="Times New Roman" panose="02020603050405020304" pitchFamily="18" charset="0"/>
                    <a:cs typeface="Times New Roman" panose="02020603050405020304" pitchFamily="18" charset="0"/>
                  </a:rPr>
                  <a:t>0. His samples had 8 observations and his test statistics was t=2.98. Assuming the conditions for inference were met what is the approximate p-value for Fred's test.</a:t>
                </a:r>
              </a:p>
              <a:p>
                <a:r>
                  <a:rPr lang="en-IN" dirty="0">
                    <a:solidFill>
                      <a:schemeClr val="tx1"/>
                    </a:solidFill>
                    <a:latin typeface="Times New Roman" panose="02020603050405020304" pitchFamily="18" charset="0"/>
                    <a:cs typeface="Times New Roman" panose="02020603050405020304" pitchFamily="18" charset="0"/>
                  </a:rPr>
                  <a:t>n=8        </a:t>
                </a:r>
                <a:r>
                  <a:rPr lang="en-IN" dirty="0" err="1">
                    <a:solidFill>
                      <a:schemeClr val="tx1"/>
                    </a:solidFill>
                    <a:latin typeface="Times New Roman" panose="02020603050405020304" pitchFamily="18" charset="0"/>
                    <a:cs typeface="Times New Roman" panose="02020603050405020304" pitchFamily="18" charset="0"/>
                  </a:rPr>
                  <a:t>df</a:t>
                </a:r>
                <a:r>
                  <a:rPr lang="en-IN" dirty="0">
                    <a:solidFill>
                      <a:schemeClr val="tx1"/>
                    </a:solidFill>
                    <a:latin typeface="Times New Roman" panose="02020603050405020304" pitchFamily="18" charset="0"/>
                    <a:cs typeface="Times New Roman" panose="02020603050405020304" pitchFamily="18" charset="0"/>
                  </a:rPr>
                  <a:t>=n-1</a:t>
                </a:r>
              </a:p>
              <a:p>
                <a:r>
                  <a:rPr lang="en-IN" dirty="0">
                    <a:solidFill>
                      <a:schemeClr val="tx1"/>
                    </a:solidFill>
                    <a:latin typeface="Times New Roman" panose="02020603050405020304" pitchFamily="18" charset="0"/>
                    <a:cs typeface="Times New Roman" panose="02020603050405020304" pitchFamily="18" charset="0"/>
                  </a:rPr>
                  <a:t>t=2.98    </a:t>
                </a:r>
                <a:r>
                  <a:rPr lang="en-IN" dirty="0" err="1">
                    <a:solidFill>
                      <a:schemeClr val="tx1"/>
                    </a:solidFill>
                    <a:latin typeface="Times New Roman" panose="02020603050405020304" pitchFamily="18" charset="0"/>
                    <a:cs typeface="Times New Roman" panose="02020603050405020304" pitchFamily="18" charset="0"/>
                  </a:rPr>
                  <a:t>df</a:t>
                </a:r>
                <a:r>
                  <a:rPr lang="en-IN" dirty="0">
                    <a:solidFill>
                      <a:schemeClr val="tx1"/>
                    </a:solidFill>
                    <a:latin typeface="Times New Roman" panose="02020603050405020304" pitchFamily="18" charset="0"/>
                    <a:cs typeface="Times New Roman" panose="02020603050405020304" pitchFamily="18" charset="0"/>
                  </a:rPr>
                  <a:t>=7</a:t>
                </a:r>
              </a:p>
              <a:p>
                <a:r>
                  <a:rPr lang="en-IN" dirty="0">
                    <a:solidFill>
                      <a:schemeClr val="tx1"/>
                    </a:solidFill>
                    <a:latin typeface="Times New Roman" panose="02020603050405020304" pitchFamily="18" charset="0"/>
                    <a:cs typeface="Times New Roman" panose="02020603050405020304" pitchFamily="18" charset="0"/>
                  </a:rPr>
                  <a:t>In a row of 7 search for the value which is close to t-critical value i.e. t=2.98 </a:t>
                </a:r>
              </a:p>
              <a:p>
                <a:r>
                  <a:rPr lang="en-IN" dirty="0">
                    <a:solidFill>
                      <a:schemeClr val="tx1"/>
                    </a:solidFill>
                    <a:latin typeface="Times New Roman" panose="02020603050405020304" pitchFamily="18" charset="0"/>
                    <a:cs typeface="Times New Roman" panose="02020603050405020304" pitchFamily="18" charset="0"/>
                  </a:rPr>
                  <a:t>P-value =0.02</a:t>
                </a:r>
              </a:p>
            </p:txBody>
          </p:sp>
        </mc:Choice>
        <mc:Fallback xmlns="">
          <p:sp>
            <p:nvSpPr>
              <p:cNvPr id="3" name="Content Placeholder 2">
                <a:extLst>
                  <a:ext uri="{FF2B5EF4-FFF2-40B4-BE49-F238E27FC236}">
                    <a16:creationId xmlns:a16="http://schemas.microsoft.com/office/drawing/2014/main" id="{8573719C-5A61-A880-AD0D-5A965551E955}"/>
                  </a:ext>
                </a:extLst>
              </p:cNvPr>
              <p:cNvSpPr>
                <a:spLocks noGrp="1" noRot="1" noChangeAspect="1" noMove="1" noResize="1" noEditPoints="1" noAdjustHandles="1" noChangeArrowheads="1" noChangeShapeType="1" noTextEdit="1"/>
              </p:cNvSpPr>
              <p:nvPr>
                <p:ph idx="1"/>
              </p:nvPr>
            </p:nvSpPr>
            <p:spPr>
              <a:xfrm>
                <a:off x="1295401" y="2556931"/>
                <a:ext cx="9873342" cy="3461313"/>
              </a:xfrm>
              <a:blipFill>
                <a:blip r:embed="rId2"/>
                <a:stretch>
                  <a:fillRect l="-926" t="-2817"/>
                </a:stretch>
              </a:blipFill>
            </p:spPr>
            <p:txBody>
              <a:bodyPr/>
              <a:lstStyle/>
              <a:p>
                <a:r>
                  <a:rPr lang="en-IN">
                    <a:noFill/>
                  </a:rPr>
                  <a:t> </a:t>
                </a:r>
              </a:p>
            </p:txBody>
          </p:sp>
        </mc:Fallback>
      </mc:AlternateContent>
    </p:spTree>
    <p:extLst>
      <p:ext uri="{BB962C8B-B14F-4D97-AF65-F5344CB8AC3E}">
        <p14:creationId xmlns:p14="http://schemas.microsoft.com/office/powerpoint/2010/main" val="3010682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F3ED-E322-3A97-E24A-CF2C8875701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29E730-97B5-5CB2-D792-6DF01062016A}"/>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Q.3 </a:t>
            </a:r>
            <a:r>
              <a:rPr lang="en-US" dirty="0">
                <a:latin typeface="Times New Roman" panose="02020603050405020304" pitchFamily="18" charset="0"/>
                <a:cs typeface="Times New Roman" panose="02020603050405020304" pitchFamily="18" charset="0"/>
              </a:rPr>
              <a:t>The average weight of all residents in town XYZ is 168lbs. The nutritionist believes the true mean to be different. She measured the weight of 36 individuals and found the mean to be 169.5lbs with standard deviation of 3.9.</a:t>
            </a:r>
          </a:p>
          <a:p>
            <a:pPr marL="514350" indent="-514350">
              <a:buFont typeface="+mj-lt"/>
              <a:buAutoNum type="romanUcPeriod"/>
            </a:pPr>
            <a:r>
              <a:rPr lang="en-US" dirty="0">
                <a:latin typeface="Times New Roman" panose="02020603050405020304" pitchFamily="18" charset="0"/>
                <a:cs typeface="Times New Roman" panose="02020603050405020304" pitchFamily="18" charset="0"/>
              </a:rPr>
              <a:t>State null hypothesis and alternate hypothesis</a:t>
            </a:r>
          </a:p>
          <a:p>
            <a:pPr marL="514350" indent="-514350">
              <a:buFont typeface="+mj-lt"/>
              <a:buAutoNum type="romanUcPeriod"/>
            </a:pPr>
            <a:r>
              <a:rPr lang="en-US" dirty="0">
                <a:latin typeface="Times New Roman" panose="02020603050405020304" pitchFamily="18" charset="0"/>
                <a:cs typeface="Times New Roman" panose="02020603050405020304" pitchFamily="18" charset="0"/>
              </a:rPr>
              <a:t>At 95% confidence interval, is there enough evidence to discard null hypothesis( </a:t>
            </a:r>
            <a:r>
              <a:rPr lang="en-US" b="1" dirty="0">
                <a:solidFill>
                  <a:schemeClr val="tx1"/>
                </a:solidFill>
                <a:latin typeface="Times New Roman" panose="02020603050405020304" pitchFamily="18" charset="0"/>
                <a:cs typeface="Times New Roman" panose="02020603050405020304" pitchFamily="18" charset="0"/>
              </a:rPr>
              <a:t>Use P- value method</a:t>
            </a: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129791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EAA82-4A83-04EE-FD2D-A0B367B491A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Z-test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8AB1C0-C1A0-1789-BC51-2D9868669243}"/>
              </a:ext>
            </a:extLst>
          </p:cNvPr>
          <p:cNvSpPr>
            <a:spLocks noGrp="1"/>
          </p:cNvSpPr>
          <p:nvPr>
            <p:ph idx="1"/>
          </p:nvPr>
        </p:nvSpPr>
        <p:spPr/>
        <p:txBody>
          <a:bodyPr>
            <a:normAutofit fontScale="92500" lnSpcReduction="20000"/>
          </a:bodyPr>
          <a:lstStyle/>
          <a:p>
            <a:r>
              <a:rPr lang="en-US" dirty="0">
                <a:solidFill>
                  <a:schemeClr val="tx1"/>
                </a:solidFill>
                <a:latin typeface="Times New Roman" panose="02020603050405020304" pitchFamily="18" charset="0"/>
                <a:cs typeface="Times New Roman" panose="02020603050405020304" pitchFamily="18" charset="0"/>
              </a:rPr>
              <a:t>It is parametric test for hypothesis testing</a:t>
            </a:r>
          </a:p>
          <a:p>
            <a:r>
              <a:rPr lang="en-US" dirty="0">
                <a:solidFill>
                  <a:schemeClr val="tx1"/>
                </a:solidFill>
                <a:latin typeface="Times New Roman" panose="02020603050405020304" pitchFamily="18" charset="0"/>
                <a:cs typeface="Times New Roman" panose="02020603050405020304" pitchFamily="18" charset="0"/>
              </a:rPr>
              <a:t>It is used to determine whether the means are different when the population variance is known &amp; sample size is large (</a:t>
            </a:r>
            <a:r>
              <a:rPr lang="en-US" dirty="0">
                <a:solidFill>
                  <a:srgbClr val="FF0000"/>
                </a:solidFill>
                <a:latin typeface="Times New Roman" panose="02020603050405020304" pitchFamily="18" charset="0"/>
                <a:cs typeface="Times New Roman" panose="02020603050405020304" pitchFamily="18" charset="0"/>
              </a:rPr>
              <a:t>i.e. greater than 30).</a:t>
            </a:r>
          </a:p>
          <a:p>
            <a:r>
              <a:rPr lang="en-IN" dirty="0">
                <a:solidFill>
                  <a:schemeClr val="tx1"/>
                </a:solidFill>
                <a:latin typeface="Times New Roman" panose="02020603050405020304" pitchFamily="18" charset="0"/>
                <a:cs typeface="Times New Roman" panose="02020603050405020304" pitchFamily="18" charset="0"/>
              </a:rPr>
              <a:t>It assumes:</a:t>
            </a:r>
          </a:p>
          <a:p>
            <a:r>
              <a:rPr lang="en-IN" dirty="0">
                <a:solidFill>
                  <a:srgbClr val="FF0000"/>
                </a:solidFill>
                <a:latin typeface="Times New Roman" panose="02020603050405020304" pitchFamily="18" charset="0"/>
                <a:cs typeface="Times New Roman" panose="02020603050405020304" pitchFamily="18" charset="0"/>
              </a:rPr>
              <a:t>Population distribution is normal and</a:t>
            </a:r>
          </a:p>
          <a:p>
            <a:r>
              <a:rPr lang="en-IN" dirty="0">
                <a:solidFill>
                  <a:srgbClr val="FF0000"/>
                </a:solidFill>
                <a:latin typeface="Times New Roman" panose="02020603050405020304" pitchFamily="18" charset="0"/>
                <a:cs typeface="Times New Roman" panose="02020603050405020304" pitchFamily="18" charset="0"/>
              </a:rPr>
              <a:t>Samples are random and independent</a:t>
            </a:r>
          </a:p>
          <a:p>
            <a:r>
              <a:rPr lang="en-IN" dirty="0">
                <a:solidFill>
                  <a:schemeClr val="tx1"/>
                </a:solidFill>
                <a:latin typeface="Times New Roman" panose="02020603050405020304" pitchFamily="18" charset="0"/>
                <a:cs typeface="Times New Roman" panose="02020603050405020304" pitchFamily="18" charset="0"/>
              </a:rPr>
              <a:t>Sample size is large</a:t>
            </a:r>
          </a:p>
          <a:p>
            <a:r>
              <a:rPr lang="en-IN" dirty="0">
                <a:solidFill>
                  <a:schemeClr val="tx1"/>
                </a:solidFill>
                <a:latin typeface="Times New Roman" panose="02020603050405020304" pitchFamily="18" charset="0"/>
                <a:cs typeface="Times New Roman" panose="02020603050405020304" pitchFamily="18" charset="0"/>
              </a:rPr>
              <a:t>Population standard deviation is known</a:t>
            </a:r>
          </a:p>
        </p:txBody>
      </p:sp>
    </p:spTree>
    <p:extLst>
      <p:ext uri="{BB962C8B-B14F-4D97-AF65-F5344CB8AC3E}">
        <p14:creationId xmlns:p14="http://schemas.microsoft.com/office/powerpoint/2010/main" val="7688152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F13E45-3AC5-90C6-7FB7-EC977781B0AF}"/>
              </a:ext>
            </a:extLst>
          </p:cNvPr>
          <p:cNvPicPr>
            <a:picLocks noChangeAspect="1"/>
          </p:cNvPicPr>
          <p:nvPr/>
        </p:nvPicPr>
        <p:blipFill>
          <a:blip r:embed="rId2"/>
          <a:stretch>
            <a:fillRect/>
          </a:stretch>
        </p:blipFill>
        <p:spPr>
          <a:xfrm>
            <a:off x="546754" y="509047"/>
            <a:ext cx="10982227" cy="5866612"/>
          </a:xfrm>
          <a:prstGeom prst="rect">
            <a:avLst/>
          </a:prstGeom>
        </p:spPr>
      </p:pic>
    </p:spTree>
    <p:extLst>
      <p:ext uri="{BB962C8B-B14F-4D97-AF65-F5344CB8AC3E}">
        <p14:creationId xmlns:p14="http://schemas.microsoft.com/office/powerpoint/2010/main" val="254181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085383-BD1D-FE1F-93C3-0FB4B1BF3AA1}"/>
              </a:ext>
            </a:extLst>
          </p:cNvPr>
          <p:cNvPicPr>
            <a:picLocks noChangeAspect="1"/>
          </p:cNvPicPr>
          <p:nvPr/>
        </p:nvPicPr>
        <p:blipFill>
          <a:blip r:embed="rId2"/>
          <a:stretch>
            <a:fillRect/>
          </a:stretch>
        </p:blipFill>
        <p:spPr>
          <a:xfrm>
            <a:off x="1341454" y="838054"/>
            <a:ext cx="8782934" cy="5431776"/>
          </a:xfrm>
          <a:prstGeom prst="rect">
            <a:avLst/>
          </a:prstGeom>
        </p:spPr>
      </p:pic>
    </p:spTree>
    <p:extLst>
      <p:ext uri="{BB962C8B-B14F-4D97-AF65-F5344CB8AC3E}">
        <p14:creationId xmlns:p14="http://schemas.microsoft.com/office/powerpoint/2010/main" val="21403484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20594-87BB-60D8-EF43-6A902E115FB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 (2023)</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F78664-3602-6905-7884-7959DF02E2A5}"/>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On an examination given to students at a large number of different schools, the mean grade was 74.5 and standard deviation 8.0. At one particular school, where 200 students took examination, the mean grade was 75.9. Discuss the significance of result at the 0.05 from the view point of                                                                                                      6 marks</a:t>
            </a:r>
          </a:p>
          <a:p>
            <a:pPr marL="514350" indent="-514350">
              <a:buFont typeface="+mj-lt"/>
              <a:buAutoNum type="romanUcPeriod"/>
            </a:pPr>
            <a:r>
              <a:rPr lang="en-US" dirty="0">
                <a:solidFill>
                  <a:schemeClr val="tx1"/>
                </a:solidFill>
                <a:latin typeface="Times New Roman" panose="02020603050405020304" pitchFamily="18" charset="0"/>
                <a:cs typeface="Times New Roman" panose="02020603050405020304" pitchFamily="18" charset="0"/>
              </a:rPr>
              <a:t>One tailed test</a:t>
            </a:r>
          </a:p>
          <a:p>
            <a:pPr marL="514350" indent="-514350">
              <a:buFont typeface="+mj-lt"/>
              <a:buAutoNum type="romanUcPeriod"/>
            </a:pPr>
            <a:r>
              <a:rPr lang="en-US" dirty="0">
                <a:solidFill>
                  <a:schemeClr val="tx1"/>
                </a:solidFill>
                <a:latin typeface="Times New Roman" panose="02020603050405020304" pitchFamily="18" charset="0"/>
                <a:cs typeface="Times New Roman" panose="02020603050405020304" pitchFamily="18" charset="0"/>
              </a:rPr>
              <a:t>Two tailed test                </a:t>
            </a:r>
          </a:p>
        </p:txBody>
      </p:sp>
    </p:spTree>
    <p:extLst>
      <p:ext uri="{BB962C8B-B14F-4D97-AF65-F5344CB8AC3E}">
        <p14:creationId xmlns:p14="http://schemas.microsoft.com/office/powerpoint/2010/main" val="3019697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6AEB0-C885-DEDA-40CD-10BFCD2D31A0}"/>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How to calculate P-value for given z=2.47 for standard normal distribution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E2E393-420B-4A37-EDC6-33616A76863B}"/>
              </a:ext>
            </a:extLst>
          </p:cNvPr>
          <p:cNvSpPr>
            <a:spLocks noGrp="1"/>
          </p:cNvSpPr>
          <p:nvPr>
            <p:ph idx="1"/>
          </p:nvPr>
        </p:nvSpPr>
        <p:spPr/>
        <p:txBody>
          <a:bodyPr>
            <a:normAutofit lnSpcReduction="10000"/>
          </a:bodyPr>
          <a:lstStyle/>
          <a:p>
            <a:r>
              <a:rPr lang="en-IN" sz="1900" b="1" dirty="0">
                <a:solidFill>
                  <a:schemeClr val="tx1"/>
                </a:solidFill>
                <a:latin typeface="Times New Roman" panose="02020603050405020304" pitchFamily="18" charset="0"/>
                <a:cs typeface="Times New Roman" panose="02020603050405020304" pitchFamily="18" charset="0"/>
              </a:rPr>
              <a:t>Steps to Find the p-value:</a:t>
            </a:r>
            <a:endParaRPr lang="en-IN" sz="1900" dirty="0">
              <a:solidFill>
                <a:schemeClr val="tx1"/>
              </a:solidFill>
              <a:latin typeface="Times New Roman" panose="02020603050405020304" pitchFamily="18" charset="0"/>
              <a:cs typeface="Times New Roman" panose="02020603050405020304" pitchFamily="18" charset="0"/>
            </a:endParaRPr>
          </a:p>
          <a:p>
            <a:pPr lvl="0"/>
            <a:r>
              <a:rPr lang="en-IN" sz="1900" b="1" dirty="0">
                <a:solidFill>
                  <a:schemeClr val="tx1"/>
                </a:solidFill>
                <a:latin typeface="Times New Roman" panose="02020603050405020304" pitchFamily="18" charset="0"/>
                <a:cs typeface="Times New Roman" panose="02020603050405020304" pitchFamily="18" charset="0"/>
              </a:rPr>
              <a:t>Locate the z-value</a:t>
            </a:r>
            <a:r>
              <a:rPr lang="en-IN" sz="1900" dirty="0">
                <a:solidFill>
                  <a:schemeClr val="tx1"/>
                </a:solidFill>
                <a:latin typeface="Times New Roman" panose="02020603050405020304" pitchFamily="18" charset="0"/>
                <a:cs typeface="Times New Roman" panose="02020603050405020304" pitchFamily="18" charset="0"/>
              </a:rPr>
              <a:t>:</a:t>
            </a:r>
          </a:p>
          <a:p>
            <a:pPr lvl="1"/>
            <a:r>
              <a:rPr lang="en-IN" sz="1900" dirty="0">
                <a:solidFill>
                  <a:schemeClr val="tx1"/>
                </a:solidFill>
                <a:latin typeface="Times New Roman" panose="02020603050405020304" pitchFamily="18" charset="0"/>
                <a:cs typeface="Times New Roman" panose="02020603050405020304" pitchFamily="18" charset="0"/>
              </a:rPr>
              <a:t>In the z-table, find the row that corresponds to the first two digits of the z-value (in this case, 2.4).</a:t>
            </a:r>
          </a:p>
          <a:p>
            <a:pPr lvl="1"/>
            <a:r>
              <a:rPr lang="en-IN" sz="1900" dirty="0">
                <a:solidFill>
                  <a:schemeClr val="tx1"/>
                </a:solidFill>
                <a:latin typeface="Times New Roman" panose="02020603050405020304" pitchFamily="18" charset="0"/>
                <a:cs typeface="Times New Roman" panose="02020603050405020304" pitchFamily="18" charset="0"/>
              </a:rPr>
              <a:t>Then, find the column that corresponds to the second decimal place of the z-value (in this case, 0.07).</a:t>
            </a:r>
          </a:p>
          <a:p>
            <a:pPr lvl="0"/>
            <a:r>
              <a:rPr lang="en-IN" sz="1900" b="1" dirty="0">
                <a:solidFill>
                  <a:schemeClr val="tx1"/>
                </a:solidFill>
                <a:latin typeface="Times New Roman" panose="02020603050405020304" pitchFamily="18" charset="0"/>
                <a:cs typeface="Times New Roman" panose="02020603050405020304" pitchFamily="18" charset="0"/>
              </a:rPr>
              <a:t>Interpret the cumulative probability</a:t>
            </a:r>
            <a:r>
              <a:rPr lang="en-IN" sz="1900" dirty="0">
                <a:solidFill>
                  <a:schemeClr val="tx1"/>
                </a:solidFill>
                <a:latin typeface="Times New Roman" panose="02020603050405020304" pitchFamily="18" charset="0"/>
                <a:cs typeface="Times New Roman" panose="02020603050405020304" pitchFamily="18" charset="0"/>
              </a:rPr>
              <a:t>:</a:t>
            </a:r>
          </a:p>
          <a:p>
            <a:pPr lvl="1"/>
            <a:r>
              <a:rPr lang="en-IN" sz="1900" dirty="0">
                <a:solidFill>
                  <a:schemeClr val="tx1"/>
                </a:solidFill>
                <a:latin typeface="Times New Roman" panose="02020603050405020304" pitchFamily="18" charset="0"/>
                <a:cs typeface="Times New Roman" panose="02020603050405020304" pitchFamily="18" charset="0"/>
              </a:rPr>
              <a:t>Since the table shows the cumulative probability from the left up to the z-value, the value you find will be the p-value for a one-tailed test.</a:t>
            </a:r>
          </a:p>
          <a:p>
            <a:endParaRPr lang="en-IN" dirty="0"/>
          </a:p>
        </p:txBody>
      </p:sp>
    </p:spTree>
    <p:extLst>
      <p:ext uri="{BB962C8B-B14F-4D97-AF65-F5344CB8AC3E}">
        <p14:creationId xmlns:p14="http://schemas.microsoft.com/office/powerpoint/2010/main" val="18484160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BE9F-82D7-B941-22BB-DA56719BDFE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D6D0F22D-A831-25E8-21D8-6D7A8C1AE211}"/>
              </a:ext>
            </a:extLst>
          </p:cNvPr>
          <p:cNvSpPr>
            <a:spLocks noGrp="1"/>
          </p:cNvSpPr>
          <p:nvPr>
            <p:ph idx="1"/>
          </p:nvPr>
        </p:nvSpPr>
        <p:spPr/>
        <p:txBody>
          <a:bodyPr>
            <a:normAutofit lnSpcReduction="10000"/>
          </a:bodyPr>
          <a:lstStyle/>
          <a:p>
            <a:r>
              <a:rPr lang="en-US" b="1" dirty="0">
                <a:solidFill>
                  <a:schemeClr val="tx1"/>
                </a:solidFill>
                <a:latin typeface="Times New Roman" panose="02020603050405020304" pitchFamily="18" charset="0"/>
                <a:cs typeface="Times New Roman" panose="02020603050405020304" pitchFamily="18" charset="0"/>
              </a:rPr>
              <a:t>Example  z= 2.47</a:t>
            </a:r>
            <a:endParaRPr lang="en-IN" sz="2000"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Locate 2.4</a:t>
            </a:r>
            <a:r>
              <a:rPr lang="en-IN" dirty="0">
                <a:solidFill>
                  <a:schemeClr val="tx1"/>
                </a:solidFill>
                <a:latin typeface="Times New Roman" panose="02020603050405020304" pitchFamily="18" charset="0"/>
                <a:cs typeface="Times New Roman" panose="02020603050405020304" pitchFamily="18" charset="0"/>
              </a:rPr>
              <a:t> in the row.</a:t>
            </a:r>
            <a:endParaRPr lang="en-IN" sz="2000"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Locate 0.07</a:t>
            </a:r>
            <a:r>
              <a:rPr lang="en-IN" dirty="0">
                <a:solidFill>
                  <a:schemeClr val="tx1"/>
                </a:solidFill>
                <a:latin typeface="Times New Roman" panose="02020603050405020304" pitchFamily="18" charset="0"/>
                <a:cs typeface="Times New Roman" panose="02020603050405020304" pitchFamily="18" charset="0"/>
              </a:rPr>
              <a:t> in the column.</a:t>
            </a:r>
            <a:endParaRPr lang="en-IN" sz="2000"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At the intersection of row 2.4 and column 0.07, you’ll find a value of approximately </a:t>
            </a:r>
            <a:r>
              <a:rPr lang="en-IN" b="1" dirty="0">
                <a:solidFill>
                  <a:schemeClr val="tx1"/>
                </a:solidFill>
                <a:latin typeface="Times New Roman" panose="02020603050405020304" pitchFamily="18" charset="0"/>
                <a:cs typeface="Times New Roman" panose="02020603050405020304" pitchFamily="18" charset="0"/>
              </a:rPr>
              <a:t>0.9932</a:t>
            </a:r>
            <a:r>
              <a:rPr lang="en-IN" dirty="0">
                <a:solidFill>
                  <a:schemeClr val="tx1"/>
                </a:solidFill>
                <a:latin typeface="Times New Roman" panose="02020603050405020304" pitchFamily="18" charset="0"/>
                <a:cs typeface="Times New Roman" panose="02020603050405020304" pitchFamily="18" charset="0"/>
              </a:rPr>
              <a:t>.</a:t>
            </a:r>
            <a:endParaRPr lang="en-IN" sz="2000"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Calculate the p-value</a:t>
            </a:r>
            <a:r>
              <a:rPr lang="en-IN" dirty="0">
                <a:solidFill>
                  <a:schemeClr val="tx1"/>
                </a:solidFill>
                <a:latin typeface="Times New Roman" panose="02020603050405020304" pitchFamily="18" charset="0"/>
                <a:cs typeface="Times New Roman" panose="02020603050405020304" pitchFamily="18" charset="0"/>
              </a:rPr>
              <a:t>:</a:t>
            </a:r>
            <a:endParaRPr lang="en-IN" sz="2000" dirty="0">
              <a:solidFill>
                <a:schemeClr val="tx1"/>
              </a:solidFill>
              <a:latin typeface="Times New Roman" panose="02020603050405020304" pitchFamily="18" charset="0"/>
              <a:cs typeface="Times New Roman" panose="02020603050405020304" pitchFamily="18" charset="0"/>
            </a:endParaRPr>
          </a:p>
          <a:p>
            <a:pPr lvl="1"/>
            <a:r>
              <a:rPr lang="en-IN" dirty="0">
                <a:solidFill>
                  <a:schemeClr val="tx1"/>
                </a:solidFill>
                <a:latin typeface="Times New Roman" panose="02020603050405020304" pitchFamily="18" charset="0"/>
                <a:cs typeface="Times New Roman" panose="02020603050405020304" pitchFamily="18" charset="0"/>
              </a:rPr>
              <a:t>The p-value for a one-tailed test is 1- 0.9932=0.0068</a:t>
            </a:r>
            <a:endParaRPr lang="en-IN" sz="18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97679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97CF5-6F08-F8FE-3C80-5B511B1C26D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ANOVA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89D7C1-96BC-137D-2690-8348A1A818A6}"/>
              </a:ext>
            </a:extLst>
          </p:cNvPr>
          <p:cNvSpPr>
            <a:spLocks noGrp="1"/>
          </p:cNvSpPr>
          <p:nvPr>
            <p:ph idx="1"/>
          </p:nvPr>
        </p:nvSpPr>
        <p:spPr/>
        <p:txBody>
          <a:bodyPr>
            <a:normAutofit fontScale="92500"/>
          </a:bodyPr>
          <a:lstStyle/>
          <a:p>
            <a:r>
              <a:rPr lang="en-US" dirty="0">
                <a:latin typeface="Times New Roman" panose="02020603050405020304" pitchFamily="18" charset="0"/>
                <a:cs typeface="Times New Roman" panose="02020603050405020304" pitchFamily="18" charset="0"/>
              </a:rPr>
              <a:t>It is called as </a:t>
            </a:r>
            <a:r>
              <a:rPr lang="en-US" b="1" dirty="0">
                <a:solidFill>
                  <a:srgbClr val="FF0000"/>
                </a:solidFill>
                <a:latin typeface="Times New Roman" panose="02020603050405020304" pitchFamily="18" charset="0"/>
                <a:cs typeface="Times New Roman" panose="02020603050405020304" pitchFamily="18" charset="0"/>
              </a:rPr>
              <a:t>Analysis of variance, </a:t>
            </a:r>
            <a:r>
              <a:rPr lang="en-US" dirty="0">
                <a:latin typeface="Times New Roman" panose="02020603050405020304" pitchFamily="18" charset="0"/>
                <a:cs typeface="Times New Roman" panose="02020603050405020304" pitchFamily="18" charset="0"/>
              </a:rPr>
              <a:t>It is </a:t>
            </a:r>
            <a:r>
              <a:rPr lang="en-US" b="1" dirty="0">
                <a:solidFill>
                  <a:srgbClr val="FF0000"/>
                </a:solidFill>
                <a:latin typeface="Times New Roman" panose="02020603050405020304" pitchFamily="18" charset="0"/>
                <a:cs typeface="Times New Roman" panose="02020603050405020304" pitchFamily="18" charset="0"/>
              </a:rPr>
              <a:t>parametric test </a:t>
            </a:r>
            <a:r>
              <a:rPr lang="en-US" dirty="0">
                <a:latin typeface="Times New Roman" panose="02020603050405020304" pitchFamily="18" charset="0"/>
                <a:cs typeface="Times New Roman" panose="02020603050405020304" pitchFamily="18" charset="0"/>
              </a:rPr>
              <a:t>of hypothesis testing</a:t>
            </a:r>
          </a:p>
          <a:p>
            <a:r>
              <a:rPr lang="en-US" dirty="0">
                <a:latin typeface="Times New Roman" panose="02020603050405020304" pitchFamily="18" charset="0"/>
                <a:cs typeface="Times New Roman" panose="02020603050405020304" pitchFamily="18" charset="0"/>
              </a:rPr>
              <a:t>It was developed by </a:t>
            </a:r>
            <a:r>
              <a:rPr lang="en-US" b="1" dirty="0">
                <a:solidFill>
                  <a:srgbClr val="FF0000"/>
                </a:solidFill>
                <a:latin typeface="Times New Roman" panose="02020603050405020304" pitchFamily="18" charset="0"/>
                <a:cs typeface="Times New Roman" panose="02020603050405020304" pitchFamily="18" charset="0"/>
              </a:rPr>
              <a:t>Ronald Fisher</a:t>
            </a:r>
            <a:r>
              <a:rPr lang="en-US" dirty="0">
                <a:latin typeface="Times New Roman" panose="02020603050405020304" pitchFamily="18" charset="0"/>
                <a:cs typeface="Times New Roman" panose="02020603050405020304" pitchFamily="18" charset="0"/>
              </a:rPr>
              <a:t>, also referred to as </a:t>
            </a:r>
            <a:r>
              <a:rPr lang="en-US" b="1" dirty="0">
                <a:solidFill>
                  <a:srgbClr val="FF0000"/>
                </a:solidFill>
                <a:latin typeface="Times New Roman" panose="02020603050405020304" pitchFamily="18" charset="0"/>
                <a:cs typeface="Times New Roman" panose="02020603050405020304" pitchFamily="18" charset="0"/>
              </a:rPr>
              <a:t>fisher’s ANOVA</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It is </a:t>
            </a:r>
            <a:r>
              <a:rPr lang="en-US" b="1" dirty="0">
                <a:solidFill>
                  <a:srgbClr val="FF0000"/>
                </a:solidFill>
                <a:latin typeface="Times New Roman" panose="02020603050405020304" pitchFamily="18" charset="0"/>
                <a:cs typeface="Times New Roman" panose="02020603050405020304" pitchFamily="18" charset="0"/>
              </a:rPr>
              <a:t>extension of T-test and Z-test.</a:t>
            </a:r>
          </a:p>
          <a:p>
            <a:r>
              <a:rPr lang="en-US" dirty="0">
                <a:latin typeface="Times New Roman" panose="02020603050405020304" pitchFamily="18" charset="0"/>
                <a:cs typeface="Times New Roman" panose="02020603050405020304" pitchFamily="18" charset="0"/>
              </a:rPr>
              <a:t>It is used to </a:t>
            </a:r>
            <a:r>
              <a:rPr lang="en-US" b="1" dirty="0">
                <a:solidFill>
                  <a:srgbClr val="FF0000"/>
                </a:solidFill>
                <a:latin typeface="Times New Roman" panose="02020603050405020304" pitchFamily="18" charset="0"/>
                <a:cs typeface="Times New Roman" panose="02020603050405020304" pitchFamily="18" charset="0"/>
              </a:rPr>
              <a:t>Test significance of difference of mean values among</a:t>
            </a:r>
            <a:r>
              <a:rPr lang="en-US" dirty="0">
                <a:latin typeface="Times New Roman" panose="02020603050405020304" pitchFamily="18" charset="0"/>
                <a:cs typeface="Times New Roman" panose="02020603050405020304" pitchFamily="18" charset="0"/>
              </a:rPr>
              <a:t> more than two sample groups.</a:t>
            </a:r>
          </a:p>
          <a:p>
            <a:r>
              <a:rPr lang="en-US" dirty="0">
                <a:latin typeface="Times New Roman" panose="02020603050405020304" pitchFamily="18" charset="0"/>
                <a:cs typeface="Times New Roman" panose="02020603050405020304" pitchFamily="18" charset="0"/>
              </a:rPr>
              <a:t>It used F-test to statistically test the equality of means &amp; relative variance between them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38683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C105-C30C-89CF-51F1-4C6147A7B42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ANOVA</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D653B2-7F38-B63C-8B06-E8F2015086F3}"/>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It assumes </a:t>
                </a:r>
              </a:p>
              <a:p>
                <a:r>
                  <a:rPr lang="en-US" dirty="0">
                    <a:latin typeface="Times New Roman" panose="02020603050405020304" pitchFamily="18" charset="0"/>
                    <a:cs typeface="Times New Roman" panose="02020603050405020304" pitchFamily="18" charset="0"/>
                  </a:rPr>
                  <a:t>Population distribution is normal ,and</a:t>
                </a:r>
              </a:p>
              <a:p>
                <a:r>
                  <a:rPr lang="en-US" dirty="0">
                    <a:latin typeface="Times New Roman" panose="02020603050405020304" pitchFamily="18" charset="0"/>
                    <a:cs typeface="Times New Roman" panose="02020603050405020304" pitchFamily="18" charset="0"/>
                  </a:rPr>
                  <a:t>Samples are random and independent</a:t>
                </a:r>
              </a:p>
              <a:p>
                <a:r>
                  <a:rPr lang="en-US" dirty="0">
                    <a:latin typeface="Times New Roman" panose="02020603050405020304" pitchFamily="18" charset="0"/>
                    <a:cs typeface="Times New Roman" panose="02020603050405020304" pitchFamily="18" charset="0"/>
                  </a:rPr>
                  <a:t>Homogeneity of sample variance</a:t>
                </a:r>
              </a:p>
              <a:p>
                <a:r>
                  <a:rPr lang="en-US" dirty="0">
                    <a:latin typeface="Times New Roman" panose="02020603050405020304" pitchFamily="18" charset="0"/>
                    <a:cs typeface="Times New Roman" panose="02020603050405020304" pitchFamily="18" charset="0"/>
                  </a:rPr>
                  <a:t>One-way ANOVA and Two-way ANOVA are its types</a:t>
                </a:r>
              </a:p>
              <a:p>
                <a:r>
                  <a:rPr lang="en-IN" dirty="0">
                    <a:cs typeface="Times New Roman" panose="02020603050405020304" pitchFamily="18" charset="0"/>
                  </a:rPr>
                  <a:t>F-statistics=</a:t>
                </a:r>
                <a14:m>
                  <m:oMath xmlns:m="http://schemas.openxmlformats.org/officeDocument/2006/math">
                    <m:f>
                      <m:fPr>
                        <m:ctrlPr>
                          <a:rPr lang="en-IN" i="1" smtClean="0">
                            <a:latin typeface="Cambria Math" panose="02040503050406030204" pitchFamily="18" charset="0"/>
                            <a:cs typeface="Times New Roman" panose="02020603050405020304" pitchFamily="18" charset="0"/>
                          </a:rPr>
                        </m:ctrlPr>
                      </m:fPr>
                      <m:num>
                        <m:r>
                          <a:rPr lang="en-US" b="0" i="1" smtClean="0">
                            <a:latin typeface="Cambria Math" panose="02040503050406030204" pitchFamily="18" charset="0"/>
                            <a:cs typeface="Times New Roman" panose="02020603050405020304" pitchFamily="18" charset="0"/>
                          </a:rPr>
                          <m:t>𝑉𝑎𝑟𝑖𝑎𝑛𝑐𝑒</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𝑏𝑒𝑡𝑤𝑒𝑒𝑛</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𝑡h𝑒</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𝑠𝑎𝑚𝑝𝑙𝑒</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𝑚𝑒𝑎𝑛𝑠</m:t>
                        </m:r>
                      </m:num>
                      <m:den>
                        <m:r>
                          <a:rPr lang="en-US" b="0" i="1" smtClean="0">
                            <a:latin typeface="Cambria Math" panose="02040503050406030204" pitchFamily="18" charset="0"/>
                            <a:cs typeface="Times New Roman" panose="02020603050405020304" pitchFamily="18" charset="0"/>
                          </a:rPr>
                          <m:t>𝑉𝑎𝑟𝑖𝑎𝑛𝑐𝑒</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𝑤𝑖𝑡h𝑖𝑛</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𝑡h𝑒</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𝑠𝑎𝑚𝑝𝑙𝑒𝑠</m:t>
                        </m:r>
                      </m:den>
                    </m:f>
                  </m:oMath>
                </a14:m>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7D653B2-7F38-B63C-8B06-E8F2015086F3}"/>
                  </a:ext>
                </a:extLst>
              </p:cNvPr>
              <p:cNvSpPr>
                <a:spLocks noGrp="1" noRot="1" noChangeAspect="1" noMove="1" noResize="1" noEditPoints="1" noAdjustHandles="1" noChangeArrowheads="1" noChangeShapeType="1" noTextEdit="1"/>
              </p:cNvSpPr>
              <p:nvPr>
                <p:ph idx="1"/>
              </p:nvPr>
            </p:nvSpPr>
            <p:spPr>
              <a:blipFill>
                <a:blip r:embed="rId2"/>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8385082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FF190-96BA-55F8-3981-79E09854167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Steps for ANOVA</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D0F377-C913-5FDE-20E0-446CF64582E1}"/>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Step 1: State the Hypothesis</a:t>
                </a:r>
              </a:p>
              <a:p>
                <a:r>
                  <a:rPr lang="en-US" b="1" dirty="0">
                    <a:solidFill>
                      <a:schemeClr val="tx1"/>
                    </a:solidFill>
                    <a:latin typeface="Times New Roman" panose="02020603050405020304" pitchFamily="18" charset="0"/>
                    <a:cs typeface="Times New Roman" panose="02020603050405020304" pitchFamily="18" charset="0"/>
                  </a:rPr>
                  <a:t>Null Hypothesis </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𝑯</m:t>
                        </m:r>
                      </m:e>
                      <m:sub>
                        <m:r>
                          <a:rPr lang="en-US" b="1" i="1" smtClean="0">
                            <a:solidFill>
                              <a:schemeClr val="tx1"/>
                            </a:solidFill>
                            <a:latin typeface="Cambria Math" panose="02040503050406030204" pitchFamily="18" charset="0"/>
                          </a:rPr>
                          <m:t>𝟎</m:t>
                        </m:r>
                      </m:sub>
                    </m:sSub>
                  </m:oMath>
                </a14:m>
                <a:r>
                  <a:rPr lang="en-IN" dirty="0">
                    <a:solidFill>
                      <a:schemeClr val="tx1"/>
                    </a:solidFill>
                    <a:latin typeface="Times New Roman" panose="02020603050405020304" pitchFamily="18" charset="0"/>
                    <a:cs typeface="Times New Roman" panose="02020603050405020304" pitchFamily="18" charset="0"/>
                  </a:rPr>
                  <a:t>: There is no significant difference in the mean of test score between the three groups</a:t>
                </a:r>
              </a:p>
              <a:p>
                <a:r>
                  <a:rPr lang="en-IN" b="1" dirty="0">
                    <a:solidFill>
                      <a:schemeClr val="tx1"/>
                    </a:solidFill>
                    <a:latin typeface="Times New Roman" panose="02020603050405020304" pitchFamily="18" charset="0"/>
                    <a:cs typeface="Times New Roman" panose="02020603050405020304" pitchFamily="18" charset="0"/>
                  </a:rPr>
                  <a:t>Alternate Hypothesis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𝑯</m:t>
                        </m:r>
                      </m:e>
                      <m:sub>
                        <m:r>
                          <a:rPr lang="en-US" b="1" i="1" smtClean="0">
                            <a:solidFill>
                              <a:schemeClr val="tx1"/>
                            </a:solidFill>
                            <a:latin typeface="Cambria Math" panose="02040503050406030204" pitchFamily="18" charset="0"/>
                          </a:rPr>
                          <m:t>𝟏</m:t>
                        </m:r>
                      </m:sub>
                    </m:sSub>
                  </m:oMath>
                </a14:m>
                <a:r>
                  <a:rPr lang="en-IN" dirty="0">
                    <a:solidFill>
                      <a:schemeClr val="tx1"/>
                    </a:solidFill>
                    <a:latin typeface="Times New Roman" panose="02020603050405020304" pitchFamily="18" charset="0"/>
                    <a:cs typeface="Times New Roman" panose="02020603050405020304" pitchFamily="18" charset="0"/>
                  </a:rPr>
                  <a:t>: At least one group’s mean score is significantly different from others</a:t>
                </a:r>
              </a:p>
              <a:p>
                <a:r>
                  <a:rPr lang="en-IN" b="1" dirty="0">
                    <a:solidFill>
                      <a:schemeClr val="tx1"/>
                    </a:solidFill>
                    <a:latin typeface="Times New Roman" panose="02020603050405020304" pitchFamily="18" charset="0"/>
                    <a:cs typeface="Times New Roman" panose="02020603050405020304" pitchFamily="18" charset="0"/>
                  </a:rPr>
                  <a:t>Step 2: Calculate the mean of each group</a:t>
                </a:r>
              </a:p>
              <a:p>
                <a:r>
                  <a:rPr lang="en-IN" b="1" dirty="0">
                    <a:solidFill>
                      <a:schemeClr val="tx1"/>
                    </a:solidFill>
                    <a:latin typeface="Times New Roman" panose="02020603050405020304" pitchFamily="18" charset="0"/>
                    <a:cs typeface="Times New Roman" panose="02020603050405020304" pitchFamily="18" charset="0"/>
                  </a:rPr>
                  <a:t>Step 3: Calculate overall mean(Grand Mean)</a:t>
                </a:r>
              </a:p>
            </p:txBody>
          </p:sp>
        </mc:Choice>
        <mc:Fallback xmlns="">
          <p:sp>
            <p:nvSpPr>
              <p:cNvPr id="3" name="Content Placeholder 2">
                <a:extLst>
                  <a:ext uri="{FF2B5EF4-FFF2-40B4-BE49-F238E27FC236}">
                    <a16:creationId xmlns:a16="http://schemas.microsoft.com/office/drawing/2014/main" id="{20D0F377-C913-5FDE-20E0-446CF64582E1}"/>
                  </a:ext>
                </a:extLst>
              </p:cNvPr>
              <p:cNvSpPr>
                <a:spLocks noGrp="1" noRot="1" noChangeAspect="1" noMove="1" noResize="1" noEditPoints="1" noAdjustHandles="1" noChangeArrowheads="1" noChangeShapeType="1" noTextEdit="1"/>
              </p:cNvSpPr>
              <p:nvPr>
                <p:ph idx="1"/>
              </p:nvPr>
            </p:nvSpPr>
            <p:spPr>
              <a:blipFill>
                <a:blip r:embed="rId2"/>
                <a:stretch>
                  <a:fillRect l="-1144" t="-2569" r="-953" b="-2569"/>
                </a:stretch>
              </a:blipFill>
            </p:spPr>
            <p:txBody>
              <a:bodyPr/>
              <a:lstStyle/>
              <a:p>
                <a:r>
                  <a:rPr lang="en-IN">
                    <a:noFill/>
                  </a:rPr>
                  <a:t> </a:t>
                </a:r>
              </a:p>
            </p:txBody>
          </p:sp>
        </mc:Fallback>
      </mc:AlternateContent>
    </p:spTree>
    <p:extLst>
      <p:ext uri="{BB962C8B-B14F-4D97-AF65-F5344CB8AC3E}">
        <p14:creationId xmlns:p14="http://schemas.microsoft.com/office/powerpoint/2010/main" val="27387405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0C78E4-DBC2-223F-A2CA-95A5BD695822}"/>
                  </a:ext>
                </a:extLst>
              </p:cNvPr>
              <p:cNvSpPr>
                <a:spLocks noGrp="1"/>
              </p:cNvSpPr>
              <p:nvPr>
                <p:ph idx="1"/>
              </p:nvPr>
            </p:nvSpPr>
            <p:spPr>
              <a:xfrm>
                <a:off x="979714" y="914400"/>
                <a:ext cx="9916883" cy="4961468"/>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Step 4: Calculate sum of squares between groups(SSB)</a:t>
                </a:r>
              </a:p>
              <a:p>
                <a:pPr marL="0" indent="0">
                  <a:buNone/>
                </a:pPr>
                <a:r>
                  <a:rPr lang="en-US" b="1" dirty="0">
                    <a:latin typeface="Times New Roman" panose="02020603050405020304" pitchFamily="18" charset="0"/>
                    <a:cs typeface="Times New Roman" panose="02020603050405020304" pitchFamily="18" charset="0"/>
                  </a:rPr>
                  <a:t>             </a:t>
                </a:r>
              </a:p>
              <a:p>
                <a:pPr marL="0" indent="0">
                  <a:buNone/>
                </a:pP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5: Calculate the sum of squares within the groups(SSW)</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6:  Calculate the degrees of freedom</a:t>
                </a:r>
              </a:p>
              <a:p>
                <a:r>
                  <a:rPr lang="en-US" b="1" dirty="0">
                    <a:latin typeface="Times New Roman" panose="02020603050405020304" pitchFamily="18" charset="0"/>
                    <a:cs typeface="Times New Roman" panose="02020603050405020304" pitchFamily="18" charset="0"/>
                  </a:rPr>
                  <a:t>Step 7: Calculate mean square between groups (MSB) and Mean Square within groups( MSW).</a:t>
                </a:r>
              </a:p>
              <a:p>
                <a:r>
                  <a:rPr lang="en-US" b="1" dirty="0">
                    <a:latin typeface="Times New Roman" panose="02020603050405020304" pitchFamily="18" charset="0"/>
                    <a:cs typeface="Times New Roman" panose="02020603050405020304" pitchFamily="18" charset="0"/>
                  </a:rPr>
                  <a:t>Step 8: Calculate F-Statistics</a:t>
                </a:r>
              </a:p>
              <a:p>
                <a:pPr marL="0" indent="0">
                  <a:buNone/>
                </a:pPr>
                <a:r>
                  <a:rPr lang="en-US" b="1" dirty="0">
                    <a:latin typeface="Times New Roman" panose="02020603050405020304" pitchFamily="18" charset="0"/>
                    <a:cs typeface="Times New Roman" panose="02020603050405020304" pitchFamily="18" charset="0"/>
                  </a:rPr>
                  <a:t>              F= </a:t>
                </a:r>
                <a14:m>
                  <m:oMath xmlns:m="http://schemas.openxmlformats.org/officeDocument/2006/math">
                    <m:f>
                      <m:fPr>
                        <m:ctrlPr>
                          <a:rPr lang="en-US" b="1" i="1" smtClean="0">
                            <a:latin typeface="Cambria Math" panose="02040503050406030204" pitchFamily="18" charset="0"/>
                            <a:cs typeface="Times New Roman" panose="02020603050405020304" pitchFamily="18" charset="0"/>
                          </a:rPr>
                        </m:ctrlPr>
                      </m:fPr>
                      <m:num>
                        <m:r>
                          <a:rPr lang="en-US" b="1" i="1" smtClean="0">
                            <a:latin typeface="Cambria Math" panose="02040503050406030204" pitchFamily="18" charset="0"/>
                            <a:cs typeface="Times New Roman" panose="02020603050405020304" pitchFamily="18" charset="0"/>
                          </a:rPr>
                          <m:t>𝑴𝑺𝑩</m:t>
                        </m:r>
                      </m:num>
                      <m:den>
                        <m:r>
                          <a:rPr lang="en-US" b="1" i="1" smtClean="0">
                            <a:latin typeface="Cambria Math" panose="02040503050406030204" pitchFamily="18" charset="0"/>
                            <a:cs typeface="Times New Roman" panose="02020603050405020304" pitchFamily="18" charset="0"/>
                          </a:rPr>
                          <m:t>𝑴𝑺𝑾</m:t>
                        </m:r>
                      </m:den>
                    </m:f>
                  </m:oMath>
                </a14:m>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5C0C78E4-DBC2-223F-A2CA-95A5BD695822}"/>
                  </a:ext>
                </a:extLst>
              </p:cNvPr>
              <p:cNvSpPr>
                <a:spLocks noGrp="1" noRot="1" noChangeAspect="1" noMove="1" noResize="1" noEditPoints="1" noAdjustHandles="1" noChangeArrowheads="1" noChangeShapeType="1" noTextEdit="1"/>
              </p:cNvSpPr>
              <p:nvPr>
                <p:ph idx="1"/>
              </p:nvPr>
            </p:nvSpPr>
            <p:spPr>
              <a:xfrm>
                <a:off x="979714" y="914400"/>
                <a:ext cx="9916883" cy="4961468"/>
              </a:xfrm>
              <a:blipFill>
                <a:blip r:embed="rId2"/>
                <a:stretch>
                  <a:fillRect l="-923" t="-282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0A1B349D-D69D-0EB5-294D-F8FE621D334C}"/>
              </a:ext>
            </a:extLst>
          </p:cNvPr>
          <p:cNvPicPr>
            <a:picLocks noChangeAspect="1"/>
          </p:cNvPicPr>
          <p:nvPr/>
        </p:nvPicPr>
        <p:blipFill>
          <a:blip r:embed="rId3"/>
          <a:stretch>
            <a:fillRect/>
          </a:stretch>
        </p:blipFill>
        <p:spPr>
          <a:xfrm>
            <a:off x="1888088" y="1162632"/>
            <a:ext cx="7218590" cy="926565"/>
          </a:xfrm>
          <a:prstGeom prst="rect">
            <a:avLst/>
          </a:prstGeom>
        </p:spPr>
      </p:pic>
      <p:pic>
        <p:nvPicPr>
          <p:cNvPr id="7" name="Picture 6">
            <a:extLst>
              <a:ext uri="{FF2B5EF4-FFF2-40B4-BE49-F238E27FC236}">
                <a16:creationId xmlns:a16="http://schemas.microsoft.com/office/drawing/2014/main" id="{71F9B0DF-D200-D3B1-42F3-8BC3047DB6CD}"/>
              </a:ext>
            </a:extLst>
          </p:cNvPr>
          <p:cNvPicPr>
            <a:picLocks noChangeAspect="1"/>
          </p:cNvPicPr>
          <p:nvPr/>
        </p:nvPicPr>
        <p:blipFill>
          <a:blip r:embed="rId4"/>
          <a:stretch>
            <a:fillRect/>
          </a:stretch>
        </p:blipFill>
        <p:spPr>
          <a:xfrm>
            <a:off x="2668458" y="2518487"/>
            <a:ext cx="4012454" cy="756557"/>
          </a:xfrm>
          <a:prstGeom prst="rect">
            <a:avLst/>
          </a:prstGeom>
        </p:spPr>
      </p:pic>
    </p:spTree>
    <p:extLst>
      <p:ext uri="{BB962C8B-B14F-4D97-AF65-F5344CB8AC3E}">
        <p14:creationId xmlns:p14="http://schemas.microsoft.com/office/powerpoint/2010/main" val="1000681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2E508-13A0-2B9C-FAD1-9D8E5180415A}"/>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Question June 2023</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007A80-7C5C-C592-C1F7-D497012C5A0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78805AA-2D8D-D14A-1EB4-3759A6B102DD}"/>
              </a:ext>
            </a:extLst>
          </p:cNvPr>
          <p:cNvPicPr>
            <a:picLocks noChangeAspect="1"/>
          </p:cNvPicPr>
          <p:nvPr/>
        </p:nvPicPr>
        <p:blipFill>
          <a:blip r:embed="rId2"/>
          <a:stretch>
            <a:fillRect/>
          </a:stretch>
        </p:blipFill>
        <p:spPr>
          <a:xfrm>
            <a:off x="920231" y="2360239"/>
            <a:ext cx="9976366" cy="3712321"/>
          </a:xfrm>
          <a:prstGeom prst="rect">
            <a:avLst/>
          </a:prstGeom>
        </p:spPr>
      </p:pic>
    </p:spTree>
    <p:extLst>
      <p:ext uri="{BB962C8B-B14F-4D97-AF65-F5344CB8AC3E}">
        <p14:creationId xmlns:p14="http://schemas.microsoft.com/office/powerpoint/2010/main" val="3520729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E4783E-611B-7F65-1FC8-1CAEFDDC62ED}"/>
              </a:ext>
            </a:extLst>
          </p:cNvPr>
          <p:cNvSpPr>
            <a:spLocks noGrp="1"/>
          </p:cNvSpPr>
          <p:nvPr>
            <p:ph idx="1"/>
          </p:nvPr>
        </p:nvSpPr>
        <p:spPr>
          <a:xfrm>
            <a:off x="987491" y="662818"/>
            <a:ext cx="10330542" cy="6017900"/>
          </a:xfrm>
        </p:spPr>
        <p:txBody>
          <a:bodyPr>
            <a:normAutofit lnSpcReduction="10000"/>
          </a:bodyPr>
          <a:lstStyle/>
          <a:p>
            <a:r>
              <a:rPr lang="en-US" sz="2200" dirty="0">
                <a:latin typeface="Times New Roman" panose="02020603050405020304" pitchFamily="18" charset="0"/>
                <a:cs typeface="Times New Roman" panose="02020603050405020304" pitchFamily="18" charset="0"/>
              </a:rPr>
              <a:t>A Chief Marketing Officer (CMO) of a company marketing carbonated soft drinks has developed </a:t>
            </a:r>
            <a:r>
              <a:rPr lang="en-US" sz="2200" b="1" dirty="0">
                <a:latin typeface="Times New Roman" panose="02020603050405020304" pitchFamily="18" charset="0"/>
                <a:cs typeface="Times New Roman" panose="02020603050405020304" pitchFamily="18" charset="0"/>
              </a:rPr>
              <a:t>three new flavors of cola</a:t>
            </a:r>
            <a:r>
              <a:rPr lang="en-US" sz="2200" dirty="0">
                <a:latin typeface="Times New Roman" panose="02020603050405020304" pitchFamily="18" charset="0"/>
                <a:cs typeface="Times New Roman" panose="02020603050405020304" pitchFamily="18" charset="0"/>
              </a:rPr>
              <a:t> and wishes to measure customer preference for these flavors. A total of </a:t>
            </a:r>
            <a:r>
              <a:rPr lang="en-US" sz="2200" b="1" dirty="0">
                <a:latin typeface="Times New Roman" panose="02020603050405020304" pitchFamily="18" charset="0"/>
                <a:cs typeface="Times New Roman" panose="02020603050405020304" pitchFamily="18" charset="0"/>
              </a:rPr>
              <a:t>12 customers</a:t>
            </a:r>
            <a:r>
              <a:rPr lang="en-US" sz="2200" dirty="0">
                <a:latin typeface="Times New Roman" panose="02020603050405020304" pitchFamily="18" charset="0"/>
                <a:cs typeface="Times New Roman" panose="02020603050405020304" pitchFamily="18" charset="0"/>
              </a:rPr>
              <a:t> participated in the study, with </a:t>
            </a:r>
            <a:r>
              <a:rPr lang="en-US" sz="2200" b="1" dirty="0">
                <a:latin typeface="Times New Roman" panose="02020603050405020304" pitchFamily="18" charset="0"/>
                <a:cs typeface="Times New Roman" panose="02020603050405020304" pitchFamily="18" charset="0"/>
              </a:rPr>
              <a:t>each flavor tested by 4 customers</a:t>
            </a:r>
            <a:r>
              <a:rPr lang="en-US" sz="2200" dirty="0">
                <a:latin typeface="Times New Roman" panose="02020603050405020304" pitchFamily="18" charset="0"/>
                <a:cs typeface="Times New Roman" panose="02020603050405020304" pitchFamily="18" charset="0"/>
              </a:rPr>
              <a:t>. Customer preference was recorded on a </a:t>
            </a:r>
            <a:r>
              <a:rPr lang="en-US" sz="2200" b="1" dirty="0">
                <a:latin typeface="Times New Roman" panose="02020603050405020304" pitchFamily="18" charset="0"/>
                <a:cs typeface="Times New Roman" panose="02020603050405020304" pitchFamily="18" charset="0"/>
              </a:rPr>
              <a:t>9-point Likert scale</a:t>
            </a:r>
            <a:r>
              <a:rPr lang="en-US" sz="2200" dirty="0">
                <a:latin typeface="Times New Roman" panose="02020603050405020304" pitchFamily="18" charset="0"/>
                <a:cs typeface="Times New Roman" panose="02020603050405020304" pitchFamily="18" charset="0"/>
              </a:rPr>
              <a:t> (1 = least favored, 9 = most favored).</a:t>
            </a:r>
          </a:p>
          <a:p>
            <a:r>
              <a:rPr lang="en-US" sz="2200" dirty="0">
                <a:latin typeface="Times New Roman" panose="02020603050405020304" pitchFamily="18" charset="0"/>
                <a:cs typeface="Times New Roman" panose="02020603050405020304" pitchFamily="18" charset="0"/>
              </a:rPr>
              <a:t>The collected data are as follows:</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objective is to determine whether there is a </a:t>
            </a:r>
            <a:r>
              <a:rPr lang="en-US" sz="2000" b="1" dirty="0">
                <a:latin typeface="Times New Roman" panose="02020603050405020304" pitchFamily="18" charset="0"/>
                <a:cs typeface="Times New Roman" panose="02020603050405020304" pitchFamily="18" charset="0"/>
              </a:rPr>
              <a:t>statistically significant difference</a:t>
            </a:r>
            <a:r>
              <a:rPr lang="en-US" sz="2000" dirty="0">
                <a:latin typeface="Times New Roman" panose="02020603050405020304" pitchFamily="18" charset="0"/>
                <a:cs typeface="Times New Roman" panose="02020603050405020304" pitchFamily="18" charset="0"/>
              </a:rPr>
              <a:t> in mean customer preference among the three cola flavors using </a:t>
            </a:r>
            <a:r>
              <a:rPr lang="en-US" sz="2000" b="1" dirty="0">
                <a:latin typeface="Times New Roman" panose="02020603050405020304" pitchFamily="18" charset="0"/>
                <a:cs typeface="Times New Roman" panose="02020603050405020304" pitchFamily="18" charset="0"/>
              </a:rPr>
              <a:t>One-Way ANOVA</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The test will be conducted at a </a:t>
            </a:r>
            <a:r>
              <a:rPr lang="en-US" sz="2000" b="1" dirty="0">
                <a:latin typeface="Times New Roman" panose="02020603050405020304" pitchFamily="18" charset="0"/>
                <a:cs typeface="Times New Roman" panose="02020603050405020304" pitchFamily="18" charset="0"/>
              </a:rPr>
              <a:t>5% level of significance (α = 0.05)</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F-critical value = 4.26</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 = 2, 9).</a:t>
            </a:r>
          </a:p>
          <a:p>
            <a:endParaRPr lang="en-US" sz="2200" dirty="0">
              <a:latin typeface="Times New Roman" panose="02020603050405020304" pitchFamily="18" charset="0"/>
              <a:cs typeface="Times New Roman" panose="02020603050405020304" pitchFamily="18" charset="0"/>
            </a:endParaRPr>
          </a:p>
          <a:p>
            <a:endParaRPr lang="en-IN" dirty="0"/>
          </a:p>
        </p:txBody>
      </p:sp>
      <p:graphicFrame>
        <p:nvGraphicFramePr>
          <p:cNvPr id="4" name="Table 3">
            <a:extLst>
              <a:ext uri="{FF2B5EF4-FFF2-40B4-BE49-F238E27FC236}">
                <a16:creationId xmlns:a16="http://schemas.microsoft.com/office/drawing/2014/main" id="{3E5A93D6-F33E-9846-77D1-080B79CE63E5}"/>
              </a:ext>
            </a:extLst>
          </p:cNvPr>
          <p:cNvGraphicFramePr>
            <a:graphicFrameLocks noGrp="1"/>
          </p:cNvGraphicFramePr>
          <p:nvPr>
            <p:extLst>
              <p:ext uri="{D42A27DB-BD31-4B8C-83A1-F6EECF244321}">
                <p14:modId xmlns:p14="http://schemas.microsoft.com/office/powerpoint/2010/main" val="1222500686"/>
              </p:ext>
            </p:extLst>
          </p:nvPr>
        </p:nvGraphicFramePr>
        <p:xfrm>
          <a:off x="1334278" y="2947437"/>
          <a:ext cx="9562322" cy="1981200"/>
        </p:xfrm>
        <a:graphic>
          <a:graphicData uri="http://schemas.openxmlformats.org/drawingml/2006/table">
            <a:tbl>
              <a:tblPr/>
              <a:tblGrid>
                <a:gridCol w="2361422">
                  <a:extLst>
                    <a:ext uri="{9D8B030D-6E8A-4147-A177-3AD203B41FA5}">
                      <a16:colId xmlns:a16="http://schemas.microsoft.com/office/drawing/2014/main" val="1017878415"/>
                    </a:ext>
                  </a:extLst>
                </a:gridCol>
                <a:gridCol w="2400300">
                  <a:extLst>
                    <a:ext uri="{9D8B030D-6E8A-4147-A177-3AD203B41FA5}">
                      <a16:colId xmlns:a16="http://schemas.microsoft.com/office/drawing/2014/main" val="3089946795"/>
                    </a:ext>
                  </a:extLst>
                </a:gridCol>
                <a:gridCol w="2400300">
                  <a:extLst>
                    <a:ext uri="{9D8B030D-6E8A-4147-A177-3AD203B41FA5}">
                      <a16:colId xmlns:a16="http://schemas.microsoft.com/office/drawing/2014/main" val="1222355041"/>
                    </a:ext>
                  </a:extLst>
                </a:gridCol>
                <a:gridCol w="2400300">
                  <a:extLst>
                    <a:ext uri="{9D8B030D-6E8A-4147-A177-3AD203B41FA5}">
                      <a16:colId xmlns:a16="http://schemas.microsoft.com/office/drawing/2014/main" val="4171894384"/>
                    </a:ext>
                  </a:extLst>
                </a:gridCol>
              </a:tblGrid>
              <a:tr h="0">
                <a:tc>
                  <a:txBody>
                    <a:bodyPr/>
                    <a:lstStyle/>
                    <a:p>
                      <a:pPr>
                        <a:buNone/>
                      </a:pPr>
                      <a:r>
                        <a:rPr lang="en-IN" sz="2000" b="1" i="0" dirty="0">
                          <a:latin typeface="Times New Roman" panose="02020603050405020304" pitchFamily="18" charset="0"/>
                          <a:cs typeface="Times New Roman" panose="02020603050405020304" pitchFamily="18" charset="0"/>
                        </a:rPr>
                        <a:t>Customer Group</a:t>
                      </a:r>
                    </a:p>
                  </a:txBody>
                  <a:tcPr anchor="ctr">
                    <a:lnL>
                      <a:noFill/>
                    </a:lnL>
                    <a:lnR>
                      <a:noFill/>
                    </a:lnR>
                    <a:lnT>
                      <a:noFill/>
                    </a:lnT>
                    <a:lnB>
                      <a:noFill/>
                    </a:lnB>
                    <a:noFill/>
                  </a:tcPr>
                </a:tc>
                <a:tc>
                  <a:txBody>
                    <a:bodyPr/>
                    <a:lstStyle/>
                    <a:p>
                      <a:pPr>
                        <a:buNone/>
                      </a:pPr>
                      <a:r>
                        <a:rPr lang="en-IN" sz="2000" b="1" i="0">
                          <a:latin typeface="Times New Roman" panose="02020603050405020304" pitchFamily="18" charset="0"/>
                          <a:cs typeface="Times New Roman" panose="02020603050405020304" pitchFamily="18" charset="0"/>
                        </a:rPr>
                        <a:t>Flavor-A</a:t>
                      </a:r>
                    </a:p>
                  </a:txBody>
                  <a:tcPr anchor="ctr">
                    <a:lnL>
                      <a:noFill/>
                    </a:lnL>
                    <a:lnR>
                      <a:noFill/>
                    </a:lnR>
                    <a:lnT>
                      <a:noFill/>
                    </a:lnT>
                    <a:lnB>
                      <a:noFill/>
                    </a:lnB>
                    <a:noFill/>
                  </a:tcPr>
                </a:tc>
                <a:tc>
                  <a:txBody>
                    <a:bodyPr/>
                    <a:lstStyle/>
                    <a:p>
                      <a:pPr>
                        <a:buNone/>
                      </a:pPr>
                      <a:r>
                        <a:rPr lang="en-IN" sz="2000" b="1" i="0">
                          <a:latin typeface="Times New Roman" panose="02020603050405020304" pitchFamily="18" charset="0"/>
                          <a:cs typeface="Times New Roman" panose="02020603050405020304" pitchFamily="18" charset="0"/>
                        </a:rPr>
                        <a:t>Flavor-B</a:t>
                      </a:r>
                    </a:p>
                  </a:txBody>
                  <a:tcPr anchor="ctr">
                    <a:lnL>
                      <a:noFill/>
                    </a:lnL>
                    <a:lnR>
                      <a:noFill/>
                    </a:lnR>
                    <a:lnT>
                      <a:noFill/>
                    </a:lnT>
                    <a:lnB>
                      <a:noFill/>
                    </a:lnB>
                    <a:noFill/>
                  </a:tcPr>
                </a:tc>
                <a:tc>
                  <a:txBody>
                    <a:bodyPr/>
                    <a:lstStyle/>
                    <a:p>
                      <a:pPr>
                        <a:buNone/>
                      </a:pPr>
                      <a:r>
                        <a:rPr lang="en-IN" sz="2000" b="1" i="0" dirty="0" err="1">
                          <a:latin typeface="Times New Roman" panose="02020603050405020304" pitchFamily="18" charset="0"/>
                          <a:cs typeface="Times New Roman" panose="02020603050405020304" pitchFamily="18" charset="0"/>
                        </a:rPr>
                        <a:t>Flavor</a:t>
                      </a:r>
                      <a:r>
                        <a:rPr lang="en-IN" sz="2000" b="1" i="0" dirty="0">
                          <a:latin typeface="Times New Roman" panose="02020603050405020304" pitchFamily="18" charset="0"/>
                          <a:cs typeface="Times New Roman" panose="02020603050405020304" pitchFamily="18" charset="0"/>
                        </a:rPr>
                        <a:t>-C</a:t>
                      </a:r>
                    </a:p>
                  </a:txBody>
                  <a:tcPr anchor="ctr">
                    <a:lnL>
                      <a:noFill/>
                    </a:lnL>
                    <a:lnR>
                      <a:noFill/>
                    </a:lnR>
                    <a:lnT>
                      <a:noFill/>
                    </a:lnT>
                    <a:lnB>
                      <a:noFill/>
                    </a:lnB>
                    <a:noFill/>
                  </a:tcPr>
                </a:tc>
                <a:extLst>
                  <a:ext uri="{0D108BD9-81ED-4DB2-BD59-A6C34878D82A}">
                    <a16:rowId xmlns:a16="http://schemas.microsoft.com/office/drawing/2014/main" val="4222422183"/>
                  </a:ext>
                </a:extLst>
              </a:tr>
              <a:tr h="0">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extLst>
                  <a:ext uri="{0D108BD9-81ED-4DB2-BD59-A6C34878D82A}">
                    <a16:rowId xmlns:a16="http://schemas.microsoft.com/office/drawing/2014/main" val="3506812350"/>
                  </a:ext>
                </a:extLst>
              </a:tr>
              <a:tr h="0">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extLst>
                  <a:ext uri="{0D108BD9-81ED-4DB2-BD59-A6C34878D82A}">
                    <a16:rowId xmlns:a16="http://schemas.microsoft.com/office/drawing/2014/main" val="3247414698"/>
                  </a:ext>
                </a:extLst>
              </a:tr>
              <a:tr h="0">
                <a:tc>
                  <a:txBody>
                    <a:bodyPr/>
                    <a:lstStyle/>
                    <a:p>
                      <a:pPr>
                        <a:buNone/>
                      </a:pPr>
                      <a:r>
                        <a:rPr lang="en-IN" sz="20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extLst>
                  <a:ext uri="{0D108BD9-81ED-4DB2-BD59-A6C34878D82A}">
                    <a16:rowId xmlns:a16="http://schemas.microsoft.com/office/drawing/2014/main" val="478412046"/>
                  </a:ext>
                </a:extLst>
              </a:tr>
              <a:tr h="0">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extLst>
                  <a:ext uri="{0D108BD9-81ED-4DB2-BD59-A6C34878D82A}">
                    <a16:rowId xmlns:a16="http://schemas.microsoft.com/office/drawing/2014/main" val="1155247747"/>
                  </a:ext>
                </a:extLst>
              </a:tr>
            </a:tbl>
          </a:graphicData>
        </a:graphic>
      </p:graphicFrame>
    </p:spTree>
    <p:extLst>
      <p:ext uri="{BB962C8B-B14F-4D97-AF65-F5344CB8AC3E}">
        <p14:creationId xmlns:p14="http://schemas.microsoft.com/office/powerpoint/2010/main" val="876687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6CAA2-F002-0D5B-16BB-37787E00124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Chi-Square test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5B0F68-BEB6-5EE8-A133-64E218D8B096}"/>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It is </a:t>
            </a:r>
            <a:r>
              <a:rPr lang="en-US" b="1" dirty="0">
                <a:solidFill>
                  <a:srgbClr val="FF0000"/>
                </a:solidFill>
                <a:latin typeface="Times New Roman" panose="02020603050405020304" pitchFamily="18" charset="0"/>
                <a:cs typeface="Times New Roman" panose="02020603050405020304" pitchFamily="18" charset="0"/>
              </a:rPr>
              <a:t>non-parametric test </a:t>
            </a:r>
            <a:r>
              <a:rPr lang="en-US" dirty="0">
                <a:solidFill>
                  <a:schemeClr val="tx1"/>
                </a:solidFill>
                <a:latin typeface="Times New Roman" panose="02020603050405020304" pitchFamily="18" charset="0"/>
                <a:cs typeface="Times New Roman" panose="02020603050405020304" pitchFamily="18" charset="0"/>
              </a:rPr>
              <a:t>of hypothesis testing</a:t>
            </a:r>
          </a:p>
          <a:p>
            <a:r>
              <a:rPr lang="en-US" dirty="0">
                <a:solidFill>
                  <a:schemeClr val="tx1"/>
                </a:solidFill>
                <a:latin typeface="Times New Roman" panose="02020603050405020304" pitchFamily="18" charset="0"/>
                <a:cs typeface="Times New Roman" panose="02020603050405020304" pitchFamily="18" charset="0"/>
              </a:rPr>
              <a:t>It is used as </a:t>
            </a:r>
            <a:r>
              <a:rPr lang="en-US" b="1" dirty="0">
                <a:solidFill>
                  <a:srgbClr val="FF0000"/>
                </a:solidFill>
                <a:latin typeface="Times New Roman" panose="02020603050405020304" pitchFamily="18" charset="0"/>
                <a:cs typeface="Times New Roman" panose="02020603050405020304" pitchFamily="18" charset="0"/>
              </a:rPr>
              <a:t>test of goodness of fit </a:t>
            </a:r>
            <a:r>
              <a:rPr lang="en-US" dirty="0">
                <a:solidFill>
                  <a:schemeClr val="tx1"/>
                </a:solidFill>
                <a:latin typeface="Times New Roman" panose="02020603050405020304" pitchFamily="18" charset="0"/>
                <a:cs typeface="Times New Roman" panose="02020603050405020304" pitchFamily="18" charset="0"/>
              </a:rPr>
              <a:t>and </a:t>
            </a:r>
            <a:r>
              <a:rPr lang="en-US" b="1" dirty="0">
                <a:solidFill>
                  <a:srgbClr val="FF0000"/>
                </a:solidFill>
                <a:latin typeface="Times New Roman" panose="02020603050405020304" pitchFamily="18" charset="0"/>
                <a:cs typeface="Times New Roman" panose="02020603050405020304" pitchFamily="18" charset="0"/>
              </a:rPr>
              <a:t>test of independence of variable</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It helps in assessing </a:t>
            </a:r>
            <a:r>
              <a:rPr lang="en-US" b="1" dirty="0">
                <a:solidFill>
                  <a:srgbClr val="FF0000"/>
                </a:solidFill>
                <a:latin typeface="Times New Roman" panose="02020603050405020304" pitchFamily="18" charset="0"/>
                <a:cs typeface="Times New Roman" panose="02020603050405020304" pitchFamily="18" charset="0"/>
              </a:rPr>
              <a:t>the goodness of fit between</a:t>
            </a:r>
            <a:r>
              <a:rPr lang="en-US" dirty="0">
                <a:solidFill>
                  <a:schemeClr val="tx1"/>
                </a:solidFill>
                <a:latin typeface="Times New Roman" panose="02020603050405020304" pitchFamily="18" charset="0"/>
                <a:cs typeface="Times New Roman" panose="02020603050405020304" pitchFamily="18" charset="0"/>
              </a:rPr>
              <a:t> a </a:t>
            </a:r>
            <a:r>
              <a:rPr lang="en-US" b="1" dirty="0">
                <a:solidFill>
                  <a:srgbClr val="FF0000"/>
                </a:solidFill>
                <a:latin typeface="Times New Roman" panose="02020603050405020304" pitchFamily="18" charset="0"/>
                <a:cs typeface="Times New Roman" panose="02020603050405020304" pitchFamily="18" charset="0"/>
              </a:rPr>
              <a:t>set of observed values &amp; those expected values.</a:t>
            </a:r>
          </a:p>
          <a:p>
            <a:r>
              <a:rPr lang="en-US" dirty="0">
                <a:solidFill>
                  <a:schemeClr val="tx1"/>
                </a:solidFill>
                <a:latin typeface="Times New Roman" panose="02020603050405020304" pitchFamily="18" charset="0"/>
                <a:cs typeface="Times New Roman" panose="02020603050405020304" pitchFamily="18" charset="0"/>
              </a:rPr>
              <a:t>It makes comparison between expected frequencies and observed frequencies </a:t>
            </a:r>
          </a:p>
          <a:p>
            <a:r>
              <a:rPr lang="en-US" dirty="0">
                <a:solidFill>
                  <a:schemeClr val="tx1"/>
                </a:solidFill>
                <a:latin typeface="Times New Roman" panose="02020603050405020304" pitchFamily="18" charset="0"/>
                <a:cs typeface="Times New Roman" panose="02020603050405020304" pitchFamily="18" charset="0"/>
              </a:rPr>
              <a:t>Greater the difference greater is the value of Chi-square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6259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9CFE6-B0E6-8D55-8BF5-AF2F3DAC92F4}"/>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85A343-BBCA-6544-1F76-CDC0FBC9C14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If there is </a:t>
                </a:r>
                <a:r>
                  <a:rPr lang="en-US" b="1" dirty="0">
                    <a:solidFill>
                      <a:srgbClr val="FF0000"/>
                    </a:solidFill>
                    <a:latin typeface="Times New Roman" panose="02020603050405020304" pitchFamily="18" charset="0"/>
                    <a:cs typeface="Times New Roman" panose="02020603050405020304" pitchFamily="18" charset="0"/>
                  </a:rPr>
                  <a:t>no difference between expected and observed frequencies </a:t>
                </a:r>
                <a:r>
                  <a:rPr lang="en-US" dirty="0">
                    <a:latin typeface="Times New Roman" panose="02020603050405020304" pitchFamily="18" charset="0"/>
                    <a:cs typeface="Times New Roman" panose="02020603050405020304" pitchFamily="18" charset="0"/>
                  </a:rPr>
                  <a:t>then value of </a:t>
                </a:r>
                <a:r>
                  <a:rPr lang="en-US" b="1" dirty="0">
                    <a:solidFill>
                      <a:srgbClr val="FF0000"/>
                    </a:solidFill>
                    <a:latin typeface="Times New Roman" panose="02020603050405020304" pitchFamily="18" charset="0"/>
                    <a:cs typeface="Times New Roman" panose="02020603050405020304" pitchFamily="18" charset="0"/>
                  </a:rPr>
                  <a:t>chi-square is zero.</a:t>
                </a:r>
              </a:p>
              <a:p>
                <a:r>
                  <a:rPr lang="en-US" dirty="0">
                    <a:latin typeface="Times New Roman" panose="02020603050405020304" pitchFamily="18" charset="0"/>
                    <a:cs typeface="Times New Roman" panose="02020603050405020304" pitchFamily="18" charset="0"/>
                  </a:rPr>
                  <a:t>It is </a:t>
                </a:r>
                <a:r>
                  <a:rPr lang="en-US" b="1" dirty="0">
                    <a:solidFill>
                      <a:srgbClr val="FF0000"/>
                    </a:solidFill>
                    <a:latin typeface="Times New Roman" panose="02020603050405020304" pitchFamily="18" charset="0"/>
                    <a:cs typeface="Times New Roman" panose="02020603050405020304" pitchFamily="18" charset="0"/>
                  </a:rPr>
                  <a:t>called as the ‘Goodness of fit test’ </a:t>
                </a:r>
                <a:r>
                  <a:rPr lang="en-US" dirty="0">
                    <a:latin typeface="Times New Roman" panose="02020603050405020304" pitchFamily="18" charset="0"/>
                    <a:cs typeface="Times New Roman" panose="02020603050405020304" pitchFamily="18" charset="0"/>
                  </a:rPr>
                  <a:t>which determines whether a </a:t>
                </a:r>
                <a:r>
                  <a:rPr lang="en-US" b="1" dirty="0">
                    <a:solidFill>
                      <a:srgbClr val="FF0000"/>
                    </a:solidFill>
                    <a:latin typeface="Times New Roman" panose="02020603050405020304" pitchFamily="18" charset="0"/>
                    <a:cs typeface="Times New Roman" panose="02020603050405020304" pitchFamily="18" charset="0"/>
                  </a:rPr>
                  <a:t>particular distribution fits the observed data or not.</a:t>
                </a:r>
              </a:p>
              <a:p>
                <a:r>
                  <a:rPr lang="en-US" dirty="0">
                    <a:solidFill>
                      <a:schemeClr val="tx1"/>
                    </a:solidFill>
                    <a:latin typeface="Times New Roman" panose="02020603050405020304" pitchFamily="18" charset="0"/>
                    <a:cs typeface="Times New Roman" panose="02020603050405020304" pitchFamily="18" charset="0"/>
                  </a:rPr>
                  <a:t>It is calculated as:</a:t>
                </a:r>
              </a:p>
              <a:p>
                <a:pPr marL="0" indent="0">
                  <a:buNone/>
                </a:pPr>
                <a:r>
                  <a:rPr lang="en-US" sz="3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3200" b="1" i="1" smtClean="0">
                            <a:solidFill>
                              <a:schemeClr val="tx1"/>
                            </a:solidFill>
                            <a:latin typeface="Cambria Math" panose="02040503050406030204" pitchFamily="18" charset="0"/>
                            <a:cs typeface="Times New Roman" panose="02020603050405020304" pitchFamily="18" charset="0"/>
                          </a:rPr>
                        </m:ctrlPr>
                      </m:sSupPr>
                      <m:e>
                        <m:r>
                          <m:rPr>
                            <m:nor/>
                          </m:rPr>
                          <a:rPr lang="el-GR" sz="3200" b="1"/>
                          <m:t>χ</m:t>
                        </m:r>
                      </m:e>
                      <m:sup>
                        <m:r>
                          <a:rPr lang="en-US" sz="3200" b="1" i="1" smtClean="0">
                            <a:solidFill>
                              <a:schemeClr val="tx1"/>
                            </a:solidFill>
                            <a:latin typeface="Cambria Math" panose="02040503050406030204" pitchFamily="18" charset="0"/>
                            <a:cs typeface="Times New Roman" panose="02020603050405020304" pitchFamily="18" charset="0"/>
                          </a:rPr>
                          <m:t>𝟐</m:t>
                        </m:r>
                      </m:sup>
                    </m:sSup>
                  </m:oMath>
                </a14:m>
                <a:r>
                  <a:rPr lang="en-IN" sz="3200"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nary>
                      <m:naryPr>
                        <m:chr m:val="∑"/>
                        <m:subHide m:val="on"/>
                        <m:supHide m:val="on"/>
                        <m:ctrlPr>
                          <a:rPr lang="en-IN" sz="3200" b="1" i="1" dirty="0" smtClean="0">
                            <a:solidFill>
                              <a:schemeClr val="tx1"/>
                            </a:solidFill>
                            <a:latin typeface="Cambria Math" panose="02040503050406030204" pitchFamily="18" charset="0"/>
                            <a:cs typeface="Times New Roman" panose="02020603050405020304" pitchFamily="18" charset="0"/>
                          </a:rPr>
                        </m:ctrlPr>
                      </m:naryPr>
                      <m:sub/>
                      <m:sup/>
                      <m:e>
                        <m:f>
                          <m:fPr>
                            <m:ctrlPr>
                              <a:rPr lang="en-IN" sz="3200" b="1" i="1" dirty="0" smtClean="0">
                                <a:solidFill>
                                  <a:schemeClr val="tx1"/>
                                </a:solidFill>
                                <a:latin typeface="Cambria Math" panose="02040503050406030204" pitchFamily="18" charset="0"/>
                                <a:cs typeface="Times New Roman" panose="02020603050405020304" pitchFamily="18" charset="0"/>
                              </a:rPr>
                            </m:ctrlPr>
                          </m:fPr>
                          <m:num>
                            <m:r>
                              <a:rPr lang="en-US" sz="3200" b="1" i="1" dirty="0" smtClean="0">
                                <a:solidFill>
                                  <a:schemeClr val="tx1"/>
                                </a:solidFill>
                                <a:latin typeface="Cambria Math" panose="02040503050406030204" pitchFamily="18" charset="0"/>
                                <a:cs typeface="Times New Roman" panose="02020603050405020304" pitchFamily="18" charset="0"/>
                              </a:rPr>
                              <m:t>(</m:t>
                            </m:r>
                            <m:sSup>
                              <m:sSupPr>
                                <m:ctrlPr>
                                  <a:rPr lang="en-US" sz="3200" b="1" i="1" dirty="0" smtClean="0">
                                    <a:solidFill>
                                      <a:schemeClr val="tx1"/>
                                    </a:solidFill>
                                    <a:latin typeface="Cambria Math" panose="02040503050406030204" pitchFamily="18" charset="0"/>
                                    <a:cs typeface="Times New Roman" panose="02020603050405020304" pitchFamily="18" charset="0"/>
                                  </a:rPr>
                                </m:ctrlPr>
                              </m:sSupPr>
                              <m:e>
                                <m:r>
                                  <a:rPr lang="en-US" sz="3200" b="1" i="1" dirty="0" smtClean="0">
                                    <a:solidFill>
                                      <a:schemeClr val="tx1"/>
                                    </a:solidFill>
                                    <a:latin typeface="Cambria Math" panose="02040503050406030204" pitchFamily="18" charset="0"/>
                                    <a:cs typeface="Times New Roman" panose="02020603050405020304" pitchFamily="18" charset="0"/>
                                  </a:rPr>
                                  <m:t>𝑶</m:t>
                                </m:r>
                                <m:r>
                                  <a:rPr lang="en-US" sz="3200" b="1" i="1" dirty="0" smtClean="0">
                                    <a:solidFill>
                                      <a:schemeClr val="tx1"/>
                                    </a:solidFill>
                                    <a:latin typeface="Cambria Math" panose="02040503050406030204" pitchFamily="18" charset="0"/>
                                    <a:cs typeface="Times New Roman" panose="02020603050405020304" pitchFamily="18" charset="0"/>
                                  </a:rPr>
                                  <m:t>−</m:t>
                                </m:r>
                                <m:r>
                                  <a:rPr lang="en-US" sz="3200" b="1" i="1" dirty="0" smtClean="0">
                                    <a:solidFill>
                                      <a:schemeClr val="tx1"/>
                                    </a:solidFill>
                                    <a:latin typeface="Cambria Math" panose="02040503050406030204" pitchFamily="18" charset="0"/>
                                    <a:cs typeface="Times New Roman" panose="02020603050405020304" pitchFamily="18" charset="0"/>
                                  </a:rPr>
                                  <m:t>𝑬</m:t>
                                </m:r>
                                <m:r>
                                  <a:rPr lang="en-US" sz="3200" b="1" i="1" dirty="0" smtClean="0">
                                    <a:solidFill>
                                      <a:schemeClr val="tx1"/>
                                    </a:solidFill>
                                    <a:latin typeface="Cambria Math" panose="02040503050406030204" pitchFamily="18" charset="0"/>
                                    <a:cs typeface="Times New Roman" panose="02020603050405020304" pitchFamily="18" charset="0"/>
                                  </a:rPr>
                                  <m:t>)</m:t>
                                </m:r>
                              </m:e>
                              <m:sup>
                                <m:r>
                                  <a:rPr lang="en-US" sz="3200" b="1" i="1" dirty="0" smtClean="0">
                                    <a:solidFill>
                                      <a:schemeClr val="tx1"/>
                                    </a:solidFill>
                                    <a:latin typeface="Cambria Math" panose="02040503050406030204" pitchFamily="18" charset="0"/>
                                    <a:cs typeface="Times New Roman" panose="02020603050405020304" pitchFamily="18" charset="0"/>
                                  </a:rPr>
                                  <m:t>𝟐</m:t>
                                </m:r>
                              </m:sup>
                            </m:sSup>
                          </m:num>
                          <m:den>
                            <m:r>
                              <a:rPr lang="en-US" sz="3200" b="1" i="1" dirty="0" smtClean="0">
                                <a:solidFill>
                                  <a:schemeClr val="tx1"/>
                                </a:solidFill>
                                <a:latin typeface="Cambria Math" panose="02040503050406030204" pitchFamily="18" charset="0"/>
                                <a:cs typeface="Times New Roman" panose="02020603050405020304" pitchFamily="18" charset="0"/>
                              </a:rPr>
                              <m:t>𝑬</m:t>
                            </m:r>
                          </m:den>
                        </m:f>
                      </m:e>
                    </m:nary>
                  </m:oMath>
                </a14:m>
                <a:endParaRPr lang="en-IN"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9085A343-BBCA-6544-1F76-CDC0FBC9C14D}"/>
                  </a:ext>
                </a:extLst>
              </p:cNvPr>
              <p:cNvSpPr>
                <a:spLocks noGrp="1" noRot="1" noChangeAspect="1" noMove="1" noResize="1" noEditPoints="1" noAdjustHandles="1" noChangeArrowheads="1" noChangeShapeType="1" noTextEdit="1"/>
              </p:cNvSpPr>
              <p:nvPr>
                <p:ph idx="1"/>
              </p:nvPr>
            </p:nvSpPr>
            <p:spPr>
              <a:blipFill>
                <a:blip r:embed="rId2"/>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3343238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A8CC-1307-CA8F-1295-736935C7641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 (Dec 2023)</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49E3EA7-E756-7445-74D3-C2AC0D903A65}"/>
              </a:ext>
            </a:extLst>
          </p:cNvPr>
          <p:cNvPicPr>
            <a:picLocks noGrp="1" noChangeAspect="1"/>
          </p:cNvPicPr>
          <p:nvPr>
            <p:ph idx="1"/>
          </p:nvPr>
        </p:nvPicPr>
        <p:blipFill>
          <a:blip r:embed="rId2"/>
          <a:stretch>
            <a:fillRect/>
          </a:stretch>
        </p:blipFill>
        <p:spPr>
          <a:xfrm>
            <a:off x="1220757" y="2510811"/>
            <a:ext cx="9601196" cy="3815953"/>
          </a:xfrm>
          <a:prstGeom prst="rect">
            <a:avLst/>
          </a:prstGeom>
        </p:spPr>
      </p:pic>
    </p:spTree>
    <p:extLst>
      <p:ext uri="{BB962C8B-B14F-4D97-AF65-F5344CB8AC3E}">
        <p14:creationId xmlns:p14="http://schemas.microsoft.com/office/powerpoint/2010/main" val="3295241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24E6-2FA3-E103-E616-38F978B5EDC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Question(June 2023)</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3D3C093-4D13-DB62-46E0-DEA081C35664}"/>
              </a:ext>
            </a:extLst>
          </p:cNvPr>
          <p:cNvPicPr>
            <a:picLocks noGrp="1" noChangeAspect="1"/>
          </p:cNvPicPr>
          <p:nvPr>
            <p:ph idx="1"/>
          </p:nvPr>
        </p:nvPicPr>
        <p:blipFill>
          <a:blip r:embed="rId2"/>
          <a:stretch>
            <a:fillRect/>
          </a:stretch>
        </p:blipFill>
        <p:spPr>
          <a:xfrm>
            <a:off x="1295402" y="2411133"/>
            <a:ext cx="9210777" cy="3464735"/>
          </a:xfrm>
          <a:prstGeom prst="rect">
            <a:avLst/>
          </a:prstGeom>
        </p:spPr>
      </p:pic>
    </p:spTree>
    <p:extLst>
      <p:ext uri="{BB962C8B-B14F-4D97-AF65-F5344CB8AC3E}">
        <p14:creationId xmlns:p14="http://schemas.microsoft.com/office/powerpoint/2010/main" val="23485313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F19314F-D47A-46B7-962F-FE2E98BEA2FA}">
  <we:reference id="wa200003157" version="1.0.0.0" store="en-US" storeType="OMEX"/>
  <we:alternateReferences>
    <we:reference id="wa200003157" version="1.0.0.0" store="wa20000315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Organic</Template>
  <TotalTime>1525</TotalTime>
  <Words>3945</Words>
  <Application>Microsoft Office PowerPoint</Application>
  <PresentationFormat>Widescreen</PresentationFormat>
  <Paragraphs>390</Paragraphs>
  <Slides>55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Calibri</vt:lpstr>
      <vt:lpstr>Cambria Math</vt:lpstr>
      <vt:lpstr>Garamond</vt:lpstr>
      <vt:lpstr>Times New Roman</vt:lpstr>
      <vt:lpstr>Wingdings</vt:lpstr>
      <vt:lpstr>Organic</vt:lpstr>
      <vt:lpstr>Statistical Hypothesis Generation and Testing</vt:lpstr>
      <vt:lpstr>Hypothesis </vt:lpstr>
      <vt:lpstr>Real-Life Example in Industry: Quality Control in Manufacturing </vt:lpstr>
      <vt:lpstr>PowerPoint Presentation</vt:lpstr>
      <vt:lpstr>PowerPoint Presentation</vt:lpstr>
      <vt:lpstr>Hypothesis Testing</vt:lpstr>
      <vt:lpstr>PowerPoint Presentation</vt:lpstr>
      <vt:lpstr>Statistical Test</vt:lpstr>
      <vt:lpstr>Parametric Tests</vt:lpstr>
      <vt:lpstr>Non parametric tests</vt:lpstr>
      <vt:lpstr>Parametric vs Non-parametric</vt:lpstr>
      <vt:lpstr>Testing techniques</vt:lpstr>
      <vt:lpstr>Briefly, describe the importance parametric tests used in context of testing of hypothesis. How such tests are different from non-parametric tests? Explain.   8 marks  </vt:lpstr>
      <vt:lpstr>Write a short note on statistical hypothesis generation and testing? Jan 2023 7 marks </vt:lpstr>
      <vt:lpstr>PowerPoint Presentation</vt:lpstr>
      <vt:lpstr>PowerPoint Presentation</vt:lpstr>
      <vt:lpstr>T-Test</vt:lpstr>
      <vt:lpstr>PowerPoint Presentation</vt:lpstr>
      <vt:lpstr>Two tailed and one tailed test</vt:lpstr>
      <vt:lpstr>Steps for T-test</vt:lpstr>
      <vt:lpstr>PowerPoint Presentation</vt:lpstr>
      <vt:lpstr>PowerPoint Presentation</vt:lpstr>
      <vt:lpstr>Why absolute value is used in two tailed test?</vt:lpstr>
      <vt:lpstr>What is critical value?</vt:lpstr>
      <vt:lpstr>How to calculate t-critical value</vt:lpstr>
      <vt:lpstr>Case I</vt:lpstr>
      <vt:lpstr>Case II</vt:lpstr>
      <vt:lpstr>Case III</vt:lpstr>
      <vt:lpstr>Question</vt:lpstr>
      <vt:lpstr>Question</vt:lpstr>
      <vt:lpstr>Question (June 2023 and 2025)</vt:lpstr>
      <vt:lpstr>Question (June 2023 and 2025)</vt:lpstr>
      <vt:lpstr>Question (June 2023)</vt:lpstr>
      <vt:lpstr>Steps for two sample T-test </vt:lpstr>
      <vt:lpstr>Steps for two sample T-test </vt:lpstr>
      <vt:lpstr>Question (June 2023 and 2025)</vt:lpstr>
      <vt:lpstr>What is p-value?</vt:lpstr>
      <vt:lpstr>How to find P-value from t-test statistics</vt:lpstr>
      <vt:lpstr>Question</vt:lpstr>
      <vt:lpstr>Z-test</vt:lpstr>
      <vt:lpstr>PowerPoint Presentation</vt:lpstr>
      <vt:lpstr>PowerPoint Presentation</vt:lpstr>
      <vt:lpstr>Question (2023)</vt:lpstr>
      <vt:lpstr>How to calculate P-value for given z=2.47 for standard normal distribution</vt:lpstr>
      <vt:lpstr>PowerPoint Presentation</vt:lpstr>
      <vt:lpstr>ANOVA</vt:lpstr>
      <vt:lpstr>ANOVA</vt:lpstr>
      <vt:lpstr>Steps for ANOVA</vt:lpstr>
      <vt:lpstr>PowerPoint Presentation</vt:lpstr>
      <vt:lpstr>Question June 2023</vt:lpstr>
      <vt:lpstr>PowerPoint Presentation</vt:lpstr>
      <vt:lpstr>Chi-Square test </vt:lpstr>
      <vt:lpstr>PowerPoint Presentation</vt:lpstr>
      <vt:lpstr>Question (Dec 2023)</vt:lpstr>
      <vt:lpstr>Question(June 2023)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42</cp:revision>
  <dcterms:created xsi:type="dcterms:W3CDTF">2024-09-09T11:12:52Z</dcterms:created>
  <dcterms:modified xsi:type="dcterms:W3CDTF">2025-09-30T06:25:56Z</dcterms:modified>
</cp:coreProperties>
</file>