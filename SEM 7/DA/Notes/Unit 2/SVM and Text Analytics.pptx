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92" r:id="rId22"/>
    <p:sldId id="277" r:id="rId23"/>
    <p:sldId id="278" r:id="rId24"/>
    <p:sldId id="280" r:id="rId25"/>
    <p:sldId id="293" r:id="rId26"/>
    <p:sldId id="294" r:id="rId27"/>
    <p:sldId id="295" r:id="rId28"/>
    <p:sldId id="296" r:id="rId29"/>
    <p:sldId id="297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90" r:id="rId39"/>
    <p:sldId id="289" r:id="rId40"/>
    <p:sldId id="291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21E8-B435-463C-96C5-0C3096A3C5C2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1DFB1B-3588-4F22-BC4F-152EAA6AC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8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1DFB1B-3588-4F22-BC4F-152EAA6AC0EE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638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1DFB1B-3588-4F22-BC4F-152EAA6AC0EE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855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4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01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17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110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3801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903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041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9745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860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58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096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046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1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22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590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3571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635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98F4F66-B61C-4CB7-83A0-6537F1E77FA7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B345D0E-2B56-493C-A193-D5F1A34BA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489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27D5-7236-C3FE-1375-6D2A1C7DF8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</a:t>
            </a:r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Algorithms:SVM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D1FAD-4A37-8A23-B0DC-63C6763B1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7623" y="3610942"/>
            <a:ext cx="7127553" cy="1819473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Shrikrishna Anand Narvekar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Assitant Professor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Engineering department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Agnel Institute of Technology and Design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3267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B115-8DC7-1A52-BDEF-6B6C2BDA2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BFFC3-1843-E2C4-A0BB-E0BF2C3B9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Support Vector Machine or SVM is one of the most popular supervised learning algorithm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which is used for classification as well as regression problems.</a:t>
            </a:r>
          </a:p>
          <a:p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rimarily it is used for </a:t>
            </a:r>
            <a:r>
              <a:rPr lang="en-US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 problems in Machine Learning.</a:t>
            </a:r>
          </a:p>
          <a:p>
            <a:r>
              <a:rPr lang="en-US" b="1" u="sng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Goal: </a:t>
            </a:r>
            <a:r>
              <a:rPr lang="en-US" kern="1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reate best line or decision boundary that can segregate </a:t>
            </a:r>
            <a:r>
              <a:rPr lang="en-US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n-dimensional spaces</a:t>
            </a: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into classes so that we </a:t>
            </a:r>
            <a:r>
              <a:rPr lang="en-US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 easily put the new data point</a:t>
            </a:r>
            <a:r>
              <a:rPr lang="en-US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into correct category in future.</a:t>
            </a:r>
            <a:endParaRPr lang="en-IN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SVM algorithm can be used for face detection, image classification, text categorization etc</a:t>
            </a:r>
            <a:endParaRPr lang="en-IN" b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324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5E3FC-6AF1-4848-8B67-DA8AF41A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096" y="608908"/>
            <a:ext cx="9601196" cy="13038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7AAD03-2FE3-B708-B0ED-9A9C34DF2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3386" y="1615071"/>
            <a:ext cx="7125427" cy="4449827"/>
          </a:xfrm>
        </p:spPr>
      </p:pic>
    </p:spTree>
    <p:extLst>
      <p:ext uri="{BB962C8B-B14F-4D97-AF65-F5344CB8AC3E}">
        <p14:creationId xmlns:p14="http://schemas.microsoft.com/office/powerpoint/2010/main" val="2691471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6D0C-FACD-ABA5-F2D0-E8CF8F4E6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492" y="330728"/>
            <a:ext cx="9601196" cy="13038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97E74F-87FC-A251-B780-D58E40705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4992" y="1269838"/>
            <a:ext cx="7002016" cy="4981672"/>
          </a:xfrm>
        </p:spPr>
      </p:pic>
    </p:spTree>
    <p:extLst>
      <p:ext uri="{BB962C8B-B14F-4D97-AF65-F5344CB8AC3E}">
        <p14:creationId xmlns:p14="http://schemas.microsoft.com/office/powerpoint/2010/main" val="787810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E91C3F-B0FA-6B1B-9307-66F517858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4178" y="458074"/>
            <a:ext cx="9152206" cy="5793436"/>
          </a:xfrm>
        </p:spPr>
      </p:pic>
    </p:spTree>
    <p:extLst>
      <p:ext uri="{BB962C8B-B14F-4D97-AF65-F5344CB8AC3E}">
        <p14:creationId xmlns:p14="http://schemas.microsoft.com/office/powerpoint/2010/main" val="223925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D0CF3-D47B-79A1-4C0C-817A06C00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105" y="328990"/>
            <a:ext cx="9601196" cy="13038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choose the partition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799038-6805-B8CB-5955-AE1A23C6D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7276" y="1503104"/>
            <a:ext cx="7550918" cy="4764649"/>
          </a:xfrm>
        </p:spPr>
      </p:pic>
    </p:spTree>
    <p:extLst>
      <p:ext uri="{BB962C8B-B14F-4D97-AF65-F5344CB8AC3E}">
        <p14:creationId xmlns:p14="http://schemas.microsoft.com/office/powerpoint/2010/main" val="4063220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5718-3F81-71FD-655B-FC517004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427" y="552924"/>
            <a:ext cx="9601196" cy="13038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 of SVM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891DE-709A-186A-35A5-DC0619493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193" y="1567887"/>
            <a:ext cx="4300415" cy="4569238"/>
          </a:xfrm>
        </p:spPr>
        <p:txBody>
          <a:bodyPr>
            <a:normAutofit fontScale="77500" lnSpcReduction="20000"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Hyperplane: </a:t>
            </a:r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2600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decision plane or space</a:t>
            </a:r>
            <a:r>
              <a:rPr lang="en-US" sz="2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which is divided between </a:t>
            </a:r>
            <a:r>
              <a:rPr lang="en-US" sz="2600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of objects </a:t>
            </a:r>
            <a:r>
              <a:rPr lang="en-US" sz="2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having different classes.</a:t>
            </a:r>
          </a:p>
          <a:p>
            <a:r>
              <a:rPr lang="en-IN" sz="26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Support vector:  </a:t>
            </a:r>
            <a:r>
              <a:rPr lang="en-US" sz="2600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Data points that are closet to the hyperplane</a:t>
            </a:r>
            <a:r>
              <a:rPr lang="en-US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is called </a:t>
            </a:r>
            <a:r>
              <a:rPr lang="en-US" sz="2600" b="1" u="sng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support vectors</a:t>
            </a:r>
            <a:endParaRPr lang="en-IN" sz="2600" b="1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Margin: </a:t>
            </a:r>
            <a:r>
              <a:rPr lang="en-US" sz="26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 is defined as  gap between two lines on the closet data points of different classes. It can be calculated as perpendicular distance from the line to the support vectors.</a:t>
            </a:r>
          </a:p>
          <a:p>
            <a:r>
              <a:rPr lang="en-US" sz="2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Large margin is considered as good margin and small margin is considered as bad margin.</a:t>
            </a:r>
            <a:endParaRPr lang="en-IN" sz="26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D98333-4251-1AFF-A120-4F814B6B7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608" y="1645570"/>
            <a:ext cx="5946947" cy="39248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6773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23B3-1362-0AD0-68B1-50DE95328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70163"/>
            <a:ext cx="9601196" cy="13038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Hyperplanes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53DEE0-EAC7-2AD7-F18F-8C8DBFA59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2908" y="846891"/>
            <a:ext cx="3124197" cy="379076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262EC6-3552-1363-30D5-F90F1B4A0585}"/>
              </a:ext>
            </a:extLst>
          </p:cNvPr>
          <p:cNvSpPr txBox="1"/>
          <p:nvPr/>
        </p:nvSpPr>
        <p:spPr>
          <a:xfrm>
            <a:off x="912846" y="2006081"/>
            <a:ext cx="490945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Hyperplanes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hyperplane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decision boundary that separates different classes in an n-dimensional space.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the case of 2D data, the hyperplane is simply a line; for 3D data, it would be a plane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Support vectors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are the data points that lie closest to the hyperplane. These points are crucial as they determine the position and orientation of the hyperplane</a:t>
            </a:r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E84E4-1AA6-9F00-C035-75A6A95B0182}"/>
              </a:ext>
            </a:extLst>
          </p:cNvPr>
          <p:cNvSpPr txBox="1"/>
          <p:nvPr/>
        </p:nvSpPr>
        <p:spPr>
          <a:xfrm>
            <a:off x="5990251" y="1798046"/>
            <a:ext cx="251304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</a:t>
            </a:r>
            <a:r>
              <a:rPr lang="en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maximum margin linear classifier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refers to a linear boundary (like a line in 2D) that maximizes this margin while still correctly classifying the data points.</a:t>
            </a:r>
            <a:endParaRPr lang="en-I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867462-8AF6-021E-77BC-06E73DC75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454" y="4352591"/>
            <a:ext cx="1875454" cy="20528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91A1D2-327D-E6A9-7941-5439AEEB1284}"/>
              </a:ext>
            </a:extLst>
          </p:cNvPr>
          <p:cNvSpPr txBox="1"/>
          <p:nvPr/>
        </p:nvSpPr>
        <p:spPr>
          <a:xfrm>
            <a:off x="8322908" y="4879910"/>
            <a:ext cx="305110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3D hyperplane</a:t>
            </a:r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where 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green plane divides blue and red points in 3D.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5873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EFB7-6008-D4A8-D371-EF4A4529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SVM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AEA2B-78F2-7060-2026-13D12FB6E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965440" cy="3318936"/>
          </a:xfrm>
        </p:spPr>
        <p:txBody>
          <a:bodyPr>
            <a:normAutofit/>
          </a:bodyPr>
          <a:lstStyle/>
          <a:p>
            <a:r>
              <a:rPr lang="en-US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Linear SVM</a:t>
            </a: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It is used for </a:t>
            </a:r>
            <a:r>
              <a:rPr lang="en-US" sz="2200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linearly </a:t>
            </a:r>
            <a:r>
              <a:rPr lang="en-US" sz="2200" u="sng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seperable</a:t>
            </a:r>
            <a:r>
              <a:rPr lang="en-US" sz="2200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data</a:t>
            </a: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Non-linear SVM</a:t>
            </a:r>
            <a:r>
              <a:rPr lang="en-US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Non-linear SVM is used for </a:t>
            </a:r>
            <a:r>
              <a:rPr lang="en-US" sz="22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non-linearly </a:t>
            </a:r>
            <a:r>
              <a:rPr lang="en-US" sz="2200" u="sng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seperable</a:t>
            </a:r>
            <a:r>
              <a:rPr lang="en-US" sz="22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data, which means if a dataset cannot be classified using straight line</a:t>
            </a:r>
            <a:r>
              <a:rPr lang="en-US" sz="2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endParaRPr lang="en-IN" sz="22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6262B-B729-995C-1F6A-3447600D2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645" y="2672766"/>
            <a:ext cx="5168380" cy="29069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2164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7EE8A-08A8-2B1F-4AEC-6D18F2EFF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steps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D009B-5D2E-D030-3472-8036951CC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 hyperplanes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(2D) which separates the data </a:t>
            </a: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 no points between them (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 lines</a:t>
            </a: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+mj-lt"/>
              <a:buAutoNum type="arabicPeriod"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Maximize their distance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(the margin)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average line (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 the line half way between the two red lines</a:t>
            </a:r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will be the decision boundary.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9353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9AA4A-C600-2C96-1B21-9CE313C58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SVM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3F8D3-74E2-7AD1-79D4-F56495D4D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198705" cy="3318936"/>
          </a:xfrm>
        </p:spPr>
        <p:txBody>
          <a:bodyPr/>
          <a:lstStyle/>
          <a:p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Scenario 1: Data is linearly separable</a:t>
            </a:r>
          </a:p>
          <a:p>
            <a:r>
              <a:rPr lang="en-US" sz="20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two classes here apple and lemon</a:t>
            </a:r>
          </a:p>
          <a:p>
            <a:r>
              <a:rPr lang="en-US" sz="20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SVM will search for apples that are similar to lemons 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 example apples which are yellow and have elliptical form</a:t>
            </a:r>
          </a:p>
          <a:p>
            <a:r>
              <a:rPr 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will be a support vector</a:t>
            </a:r>
            <a:endParaRPr lang="en-IN" sz="20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other support vector will be a </a:t>
            </a:r>
            <a:r>
              <a:rPr lang="en-US" sz="2000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lemon similar to apple </a:t>
            </a:r>
            <a:r>
              <a:rPr lang="en-US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(green and rounded)</a:t>
            </a:r>
            <a:endParaRPr lang="en-IN" sz="20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D07B44-DFB5-B087-9746-1507A6D87E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4651" y="2285999"/>
            <a:ext cx="4671695" cy="38779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8781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AAC80-E07D-CCFE-3AC9-37AC30C3E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SVM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0B7F5-5027-D965-E00A-89409E3A6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985" y="2556932"/>
            <a:ext cx="4554893" cy="3318936"/>
          </a:xfrm>
        </p:spPr>
        <p:txBody>
          <a:bodyPr/>
          <a:lstStyle/>
          <a:p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Based on these </a:t>
            </a:r>
            <a:r>
              <a:rPr lang="en-US" sz="1800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support vectors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algorithm tries to </a:t>
            </a:r>
            <a:r>
              <a:rPr lang="en-US" sz="1800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find the best hyperplane that separates classes.</a:t>
            </a:r>
          </a:p>
          <a:p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Finding optimal Hyperplane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have optimal solution we have to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maximize margin in both the ways.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in all,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Support vectors are data </a:t>
            </a:r>
          </a:p>
          <a:p>
            <a:pPr marL="0" indent="0"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points that defines position and margin of the hyperplane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98D37D-ED7C-5CFA-97F7-B5CABA47D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4472" y="2455083"/>
            <a:ext cx="6139543" cy="3351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3470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A89C-E9B6-35C0-FF03-003606388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Margin Formula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6EA0F-95AB-8B64-B6EE-3D9B141C4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752044" cy="331893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tolerates few dots gets misclassified.</a:t>
            </a:r>
            <a:endParaRPr lang="en-IN" sz="22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tries to </a:t>
            </a:r>
            <a:r>
              <a:rPr lang="en-US" sz="2200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balance the trade offs between finding the line that</a:t>
            </a: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maximizes the margin</a:t>
            </a: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minimizes the classification.</a:t>
            </a:r>
            <a:endParaRPr lang="en-IN" sz="22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 types of misclassifications can happen</a:t>
            </a:r>
            <a:endParaRPr lang="en-IN" sz="22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dot is on the correct side of decision boundary but wrong side of the margin</a:t>
            </a:r>
            <a:endParaRPr lang="en-IN" sz="22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dot is on wrong side of decision boundary and wrong side of margin.</a:t>
            </a:r>
            <a:endParaRPr lang="en-IN" sz="22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236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6C02BF-4379-D977-9F90-811DF3CF4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101" y="334356"/>
            <a:ext cx="6917389" cy="60403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1689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D91B-913A-4229-8BFE-8FEA020B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Misclassification is allowed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035C5-6400-9D17-8496-6AB85D505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C- Parameter tells SVM optimization how much you want to avoid misclassifying each training example.</a:t>
            </a: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5F3596-4AF5-3E1F-46E8-62A4E4096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639" y="3213132"/>
            <a:ext cx="6610350" cy="2409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7AE386-FDB7-547A-93A9-52AEF6B38AE0}"/>
              </a:ext>
            </a:extLst>
          </p:cNvPr>
          <p:cNvSpPr txBox="1"/>
          <p:nvPr/>
        </p:nvSpPr>
        <p:spPr>
          <a:xfrm>
            <a:off x="7478307" y="2912125"/>
            <a:ext cx="3331790" cy="2842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large value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C corresponds to a </a:t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small margin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and fewer misclassification errors.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2106A2-52E0-9992-0BAC-3A6E34508045}"/>
              </a:ext>
            </a:extLst>
          </p:cNvPr>
          <p:cNvSpPr txBox="1"/>
          <p:nvPr/>
        </p:nvSpPr>
        <p:spPr>
          <a:xfrm>
            <a:off x="956267" y="5452947"/>
            <a:ext cx="10279464" cy="1262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small value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C results in a </a:t>
            </a:r>
            <a:r>
              <a:rPr lang="en-IN" sz="2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larger margin</a:t>
            </a:r>
            <a:r>
              <a:rPr lang="en-IN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but may allow more misclassification errors</a:t>
            </a: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265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26FA0-86D7-B93A-A47C-5E3CB77EF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Errors in SVM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667B0-9D61-621B-DD7A-B05B8C42A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22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 error (A)</a:t>
            </a: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 This error occurs when a data point is misclassified by the SVM model. For example, if a dog is misclassified as a cat or vice versa, that results in a classification error</a:t>
            </a:r>
            <a:r>
              <a:rPr lang="en-IN" sz="18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2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Margin error (B)</a:t>
            </a:r>
            <a:r>
              <a:rPr lang="en-IN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The margin in an SVM refers to the distance between the decision boundary (hyperplane) and the closest data points from each class</a:t>
            </a:r>
            <a:endParaRPr lang="en-IN" sz="22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Margin errors happen when data points fall within this margin but are not necessarily misclassified. They might still be correctly classified but are too close to the decision boundary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goal is to minimize both classification errors and margin violations:</a:t>
            </a:r>
            <a:endParaRPr lang="en-IN" sz="22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Min (C× Classification Error + Margin Error)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869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BD244-3ABD-F3DB-5E9B-B5E4A8067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SVM Formula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D29828-1BBE-1E11-B02E-2A4334496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0223" y="2108718"/>
            <a:ext cx="5676375" cy="41334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AD2B8F-69A9-71E6-37F1-B60F712BF4DC}"/>
              </a:ext>
            </a:extLst>
          </p:cNvPr>
          <p:cNvSpPr txBox="1"/>
          <p:nvPr/>
        </p:nvSpPr>
        <p:spPr>
          <a:xfrm>
            <a:off x="1416699" y="2584582"/>
            <a:ext cx="2959357" cy="213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Where: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 is the normal vector to the hyperplane.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is the input vector.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 is the bias term (offset of the hyperplane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3484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159B54-E6FE-0869-0FC7-0FC8DCDD7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2423" y="1639395"/>
            <a:ext cx="5840963" cy="332002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3A591C-A072-820F-66A2-60D3DA880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928" y="4959415"/>
            <a:ext cx="3901678" cy="9116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E40392-B326-4972-B2F8-6CF417B47331}"/>
              </a:ext>
            </a:extLst>
          </p:cNvPr>
          <p:cNvSpPr txBox="1"/>
          <p:nvPr/>
        </p:nvSpPr>
        <p:spPr>
          <a:xfrm>
            <a:off x="1268963" y="2528596"/>
            <a:ext cx="4021493" cy="329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function f(x) classifies data points: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f(x)&gt;0 means the point is classified as one class.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f(x)&lt;0 means the point is classified as the other class.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objective is to find w and b that maximally separate the two classes with a large margin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31614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273E7-B9FF-258E-6C19-40204266C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Non-Linear data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80E8C-BCB1-5435-6BB0-FE0142124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47" y="2375888"/>
            <a:ext cx="4452256" cy="3200056"/>
          </a:xfrm>
        </p:spPr>
        <p:txBody>
          <a:bodyPr>
            <a:normAutofit fontScale="92500" lnSpcReduction="10000"/>
          </a:bodyPr>
          <a:lstStyle/>
          <a:p>
            <a:r>
              <a:rPr lang="en-US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Scenario 2: Data is not linearly separable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this case </a:t>
            </a:r>
            <a:r>
              <a:rPr lang="en-US" sz="2200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cannot find straight lines to separate apples and lemons.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 will </a:t>
            </a:r>
            <a:r>
              <a:rPr lang="en-US" sz="2200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 the kernel trick!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basic idea is</a:t>
            </a:r>
            <a:r>
              <a:rPr lang="en-US" sz="2200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that when dataset is inseparable in current dimensions, add another dimension, maybe that is the way data may be separable.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096769-A574-005D-A8FB-09D9476E3F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214" y="2661376"/>
            <a:ext cx="6094447" cy="28386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925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963DB-8DE4-F7D3-ABBD-249CB6EB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SVM kernel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2D41D-1C6D-4B8F-8FF7-3186314DF7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sz="26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“Kernel” is used </a:t>
                </a:r>
                <a:r>
                  <a:rPr lang="en-US" sz="2600" b="1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due to set of mathematical functions used in support vector machines provides windows to manipulate the data.</a:t>
                </a:r>
              </a:p>
              <a:p>
                <a:r>
                  <a:rPr lang="en-US" sz="26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It converts </a:t>
                </a:r>
                <a:r>
                  <a:rPr lang="en-US" sz="2600" u="sng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low dimensional space to high dimensional space.</a:t>
                </a:r>
                <a:endParaRPr lang="en-IN" sz="2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6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To </a:t>
                </a:r>
                <a:r>
                  <a:rPr lang="en-US" sz="2600" u="sng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separate non-linear data, kernel is used</a:t>
                </a:r>
                <a:endParaRPr lang="en-IN" sz="2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600" u="sng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Let us assume that we add another dimension x3</a:t>
                </a:r>
                <a:endParaRPr lang="en-IN" sz="2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2600" kern="1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Another important transformation is that in the new dimension points are organized using this formula</a:t>
                </a:r>
                <a:r>
                  <a:rPr lang="en-US" sz="2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2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600" kern="1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IN" sz="2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sz="2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6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6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6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IN" sz="2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26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These transformations are called </a:t>
                </a:r>
                <a:r>
                  <a:rPr lang="en-US" sz="2600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kernels</a:t>
                </a:r>
                <a:endParaRPr lang="en-IN" sz="26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C2D41D-1C6D-4B8F-8FF7-3186314DF7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53" t="-40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619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A1A90-A694-045D-E02F-D0D7DC7E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5745BF-76D7-3800-4872-3D9E657BA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0969" y="2557993"/>
            <a:ext cx="647115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746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5BF2F-03F8-4967-2C36-81EA658C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562254"/>
            <a:ext cx="9601196" cy="130386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from 1 D to 2D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3666546-9D62-B8FC-49C9-2475205D9A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50" y="2080725"/>
            <a:ext cx="11107320" cy="40961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9323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2804-09B8-C1BA-0E15-6B15A69C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from 2D to 3D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17C2B2C-D04D-169D-4C73-32227A5B5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01" y="2557463"/>
            <a:ext cx="9534597" cy="3317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0721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B2F20-C0CC-0C54-43B1-E37B9126A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779DD-DB02-9AEF-315F-C143CA5DD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 is the automated process of analyzing text to gather insights, patterns and trends</a:t>
            </a:r>
          </a:p>
          <a:p>
            <a:r>
              <a:rPr lang="en-IN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It is widely used in applications like sentiment analysis, spam detection, and document categorization.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</a:rPr>
              <a:t>When we have vast amount if unstructured data and we want to extract useful information from that time we need text analytics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926262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931A-5939-3795-4C8D-220D15ADC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text gets analyzed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8BC9C-0AD6-7D42-F9F8-ADD5E1676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the sentence into small elements in the form that they can be treated numerically.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FD0672-D151-9394-B024-0BFCA6209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398" y="3457257"/>
            <a:ext cx="1980565" cy="1518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3C442F-530A-A528-8B44-1009E7508B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2428" y="3429000"/>
            <a:ext cx="26860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E7614D-4A82-096A-BE7E-D011FA5D71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215" y="3114092"/>
            <a:ext cx="2881290" cy="1304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578C13-CD32-5D16-D17B-E103050860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909" y="4595354"/>
            <a:ext cx="2525901" cy="15490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6064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4F96-86CF-0C68-5B75-5C731B0BC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Sentence into block of text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69A4AA-9FDB-5B3C-63F1-CDDD5F344D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903" y="2459544"/>
            <a:ext cx="10098493" cy="2365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FAEA5E-F4E1-C979-6B3D-4CC29884F3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636" y="4998280"/>
            <a:ext cx="7940728" cy="1059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3998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810DB-DC30-BC3D-232A-32DE424CC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817" y="615258"/>
            <a:ext cx="10414518" cy="540208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cleaning text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one highlighted in yellow are special characters 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characters such as comma, punctuations, dot are removed first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 text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22F30-9112-82D6-63BE-5D3EE8D5F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361" y="959893"/>
            <a:ext cx="9737084" cy="1955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F88B86-2ECE-4765-78F3-6B6D7F904C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67" y="4534414"/>
            <a:ext cx="10336465" cy="2323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8408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B688B-0AD2-06CE-CE32-6F4276DF3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765109"/>
            <a:ext cx="10590245" cy="5533053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analyze text we introduce something called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term frequency matrix or variable frequency matrix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actually do over here is we take all the unique words from the comments and list down it into separate columns.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 is present in the comment then put it as 1 or else 0.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highlight two important terms we generally use in text analytics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9CF0AD-8AE3-0F56-5C24-6AD2E735F3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3" y="1667372"/>
            <a:ext cx="11299371" cy="15890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66132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41AD0-8E50-1A27-6106-B6FC1102B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408" y="653143"/>
            <a:ext cx="10010189" cy="5222725"/>
          </a:xfrm>
        </p:spPr>
        <p:txBody>
          <a:bodyPr/>
          <a:lstStyle/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Token: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is block of words that we see post data cleaning. We already completed process known as tokenization.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identity extraction: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of extracting names from comments is known as Name identity extraction.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pause on the set of words so that computer can understand that it is name and have a single meaning.</a:t>
            </a:r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75F9F2-CDCE-0CEE-1457-C55A4E8E1D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71" y="3151187"/>
            <a:ext cx="11286241" cy="12715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14326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AB6F-6317-0D69-437E-BCBDC9BA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9F62F-A2C6-0F54-D2AC-FAF8C0821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845350" cy="3318936"/>
          </a:xfrm>
        </p:spPr>
        <p:txBody>
          <a:bodyPr>
            <a:normAutofit lnSpcReduction="10000"/>
          </a:bodyPr>
          <a:lstStyle/>
          <a:p>
            <a:r>
              <a:rPr lang="en-IN" sz="22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Text classification is the process of assigning predefined categories or labels to a given text document.</a:t>
            </a:r>
          </a:p>
          <a:p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text classification: 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classification: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Classifying text into two categories (e.g. Spam or not Spam)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Multiclass classification: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Classifying text into more than two categories(e.g. Classifying news into politics, sports, technology etc.</a:t>
            </a:r>
          </a:p>
          <a:p>
            <a:r>
              <a:rPr lang="en-IN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Multilabel classification: </a:t>
            </a:r>
            <a:r>
              <a:rPr lang="en-IN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Classifying product reviews into multiple categories</a:t>
            </a:r>
            <a:r>
              <a:rPr lang="en-IN" sz="1800" kern="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IN" sz="22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ike “Home Appliances,” “Electronics,” and “Discounted.”</a:t>
            </a:r>
            <a:endParaRPr lang="en-IN" sz="2200" kern="1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704140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15915-7412-40B2-2C10-CF2A3780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text analysis Process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0794A-69AA-1BA3-F7C7-C5E5EFF6A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63625"/>
            <a:ext cx="9696059" cy="3629265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analytics process typically consist of several steps aimed at extracting meaningful insights from textual data. Here is brief outline of these steps: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Tokenization: 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Example: The sentence "Text analysis is fun!" can be tokenized into ["Text", "analysis", "is", "fun", "!"].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Lowercasing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Example: Convert "Text Analysis Is Fun" to "text analysis is fun" to ensure uniformity.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b="1" kern="10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Stopword</a:t>
            </a:r>
            <a:r>
              <a:rPr lang="en-IN" sz="20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Removal</a:t>
            </a:r>
            <a:r>
              <a:rPr lang="en-IN" sz="20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Example: From the sentence "Text analysis is fun", remove common words like "is", leaving ["text", "analysis", "fun"].</a:t>
            </a:r>
          </a:p>
          <a:p>
            <a:endPara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3338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11A80-446C-2EBA-7690-947094C4C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text analysis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0F404-9D63-B3EE-7525-B8CC0D03E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26627"/>
          </a:xfrm>
        </p:spPr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Stemming/Lemmatization</a:t>
            </a:r>
            <a:r>
              <a:rPr lang="en-IN" sz="18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Example:</a:t>
            </a:r>
            <a:endParaRPr lang="en-IN" sz="15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Stemming</a:t>
            </a:r>
            <a:r>
              <a:rPr lang="en-IN" sz="18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"running" becomes "run", "better" becomes "better".</a:t>
            </a:r>
            <a:endParaRPr lang="en-IN" sz="15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8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Lemmatization</a:t>
            </a:r>
            <a:r>
              <a:rPr lang="en-IN" sz="18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"running" becomes "run", "better" becomes "good" (reducing words to their root form based on meaning).</a:t>
            </a:r>
            <a:endParaRPr lang="en-IN" sz="15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Text Representation:</a:t>
            </a:r>
          </a:p>
          <a:p>
            <a:pPr marL="0" indent="0"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Bag of Words (</a:t>
            </a:r>
            <a:r>
              <a:rPr lang="en-IN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BoW</a:t>
            </a:r>
            <a:r>
              <a:rPr lang="en-IN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Example: For the sentences "I love dogs" and "I love cats", the </a:t>
            </a:r>
            <a:r>
              <a:rPr lang="en-IN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BoW</a:t>
            </a: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model builds a frequency table like</a:t>
            </a:r>
            <a:r>
              <a:rPr lang="en-IN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C78FB65-AB22-3613-431D-1928297F01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5034646"/>
              </p:ext>
            </p:extLst>
          </p:nvPr>
        </p:nvGraphicFramePr>
        <p:xfrm>
          <a:off x="1416180" y="5412964"/>
          <a:ext cx="419151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024">
                  <a:extLst>
                    <a:ext uri="{9D8B030D-6E8A-4147-A177-3AD203B41FA5}">
                      <a16:colId xmlns:a16="http://schemas.microsoft.com/office/drawing/2014/main" val="2947345433"/>
                    </a:ext>
                  </a:extLst>
                </a:gridCol>
                <a:gridCol w="900600">
                  <a:extLst>
                    <a:ext uri="{9D8B030D-6E8A-4147-A177-3AD203B41FA5}">
                      <a16:colId xmlns:a16="http://schemas.microsoft.com/office/drawing/2014/main" val="1392752759"/>
                    </a:ext>
                  </a:extLst>
                </a:gridCol>
                <a:gridCol w="1278294">
                  <a:extLst>
                    <a:ext uri="{9D8B030D-6E8A-4147-A177-3AD203B41FA5}">
                      <a16:colId xmlns:a16="http://schemas.microsoft.com/office/drawing/2014/main" val="187224047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1158807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love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dogs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12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974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161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C715-CA94-BF81-E202-950E39ED7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text analysis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FD101-07FA-54D0-7F0F-548773A23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1"/>
            <a:ext cx="9798697" cy="3769223"/>
          </a:xfrm>
        </p:spPr>
        <p:txBody>
          <a:bodyPr>
            <a:normAutofit fontScale="70000" lnSpcReduction="20000"/>
          </a:bodyPr>
          <a:lstStyle/>
          <a:p>
            <a:r>
              <a:rPr lang="en-IN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TF-IDF (Term Frequency-Inverse Document Frequency)</a:t>
            </a:r>
            <a:r>
              <a:rPr lang="en-IN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Example: For the word "analysis" that appears frequently in one document but rarely in others, TF-IDF will assign it a higher weight compared to common words like "is" or "the".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Embedding: </a:t>
            </a:r>
          </a:p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Let’s consider three words: "king", "queen", and "table". In Word2Vec, these words are mapped into a multi-dimensional vector space, where words with similar meanings or used in similar contexts will be close to each other in that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"King"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might have a vector like: [0.65, 0.33, 0.25, 0.78]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"Queen"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might have a vector like: [0.61, 0.35, 0.24, 0.80]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"Table"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might have a vector like: [0.12, 0.45, 0.15, 0.34]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4482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640A-2E31-486D-4822-7FEC42B01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text analysis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24774-EE08-0FA2-75B9-E8C659671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these vectors are numerical, we can measure the "distance" between them, and words like "king" and "queen" will be closer together in the vector space compared to a word like "table". This distance is calculated using methods like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 similarity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Euclidean distance.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distance between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"king"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"queen"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would be small, implying they are semantically related (both are royalty).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distance between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"king"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"table"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would be larger, as these words are semantically unrelated.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76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139D9-8C7A-1895-3AA2-DBF407A74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text analysis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04A68-6682-66FE-7E08-94800C004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Extraction: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Identifying features like word frequency, n-grams (phrases of n words), or parts of speech to form the basis for analysis.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Sentiment Analysis: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Classifying text as positive, negative, or neutral based on the sentiment expressed.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Often involves rule-based, machine learning, or deep learning models.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2078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5599-0C0B-0F65-13EF-762B0E7E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text analysis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C37D3-FFCB-B043-581A-25572B5F7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3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</a:t>
            </a:r>
            <a:r>
              <a:rPr lang="en-IN" sz="23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Modeling</a:t>
            </a:r>
            <a:r>
              <a:rPr lang="en-IN" sz="23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IN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3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Discovering the underlying themes or topics in a collection of documents (e.g., using Latent Dirichlet Allocation (LDA)).</a:t>
            </a:r>
            <a:endParaRPr lang="en-IN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3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 Named Entity Recognition (NER):</a:t>
            </a:r>
            <a:endParaRPr lang="en-IN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3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Identifying proper nouns or specific entities (e.g., people, organizations, locations) in the text.</a:t>
            </a:r>
            <a:endParaRPr lang="en-IN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3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Text Classification:</a:t>
            </a:r>
            <a:endParaRPr lang="en-IN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3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Categorizing text into predefined labels or groups (e.g., spam vs. non-spam, product reviews, etc.).</a:t>
            </a:r>
            <a:endParaRPr lang="en-IN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3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Common approaches include machine learning models like Naive Bayes, Support Vector Machines (SVM), or deep learning models.</a:t>
            </a:r>
            <a:endParaRPr lang="en-IN" sz="23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27787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F5758-E44D-2EE3-9E99-D59C207EC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text analysis Process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B115A-3501-5664-F698-36B523D19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 Summarization: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Extracting the most important information or summary of the text while maintaining coherence.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 Clustering: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Grouping similar texts together based on their content, often using techniques like K-means clustering.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 Evaluation: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Assessing the performance of models used in text analysis (e.g., precision, recall, F1-score for classification tasks).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23143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3D8F2-A63B-CBD1-E5F2-5BAAA560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for Text classification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D4D34-5BC6-A761-206A-780940FE2F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Proportion of correctly classified documents.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Precision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Measure of how many selected items are relevant.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Recall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Measure of how many relevant items are selected.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F1-Score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Harmonic mean of precision and recall.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Confusion Matrix</a:t>
            </a:r>
            <a:r>
              <a:rPr lang="en-IN" sz="2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Table showing true positives, true negatives, false positives, and false negatives.</a:t>
            </a:r>
            <a:endParaRPr lang="en-IN" sz="2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57564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5D011-DB8E-6C69-03EE-04C3623F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 in Text Analytics</a:t>
            </a:r>
            <a:br>
              <a:rPr lang="en-IN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87F4-6B62-C6B3-97DF-14420E7CA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Sparsity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The occurrence of many unique words, leading to sparse representations.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Synonymy and Polysemy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Different words having the same meaning (synonymy) or one word having multiple meanings (polysemy).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 Sensitivity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Meaning of words can change depending on the context (e.g., sarcasm detection).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Imbalance</a:t>
            </a:r>
            <a:r>
              <a:rPr lang="en-IN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Some categories may have significantly more data than others.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382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E636-7123-A74D-BB99-E3ECBDEE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61284-CF12-A116-9919-D813CFC97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4006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585</TotalTime>
  <Words>2165</Words>
  <Application>Microsoft Office PowerPoint</Application>
  <PresentationFormat>Widescreen</PresentationFormat>
  <Paragraphs>182</Paragraphs>
  <Slides>40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Arial</vt:lpstr>
      <vt:lpstr>Calibri</vt:lpstr>
      <vt:lpstr>Cambria Math</vt:lpstr>
      <vt:lpstr>Courier New</vt:lpstr>
      <vt:lpstr>Garamond</vt:lpstr>
      <vt:lpstr>Symbol</vt:lpstr>
      <vt:lpstr>Times New Roman</vt:lpstr>
      <vt:lpstr>Wingdings</vt:lpstr>
      <vt:lpstr>Organic</vt:lpstr>
      <vt:lpstr>Classification Algorithms:SVM</vt:lpstr>
      <vt:lpstr>Introduction</vt:lpstr>
      <vt:lpstr>Classification</vt:lpstr>
      <vt:lpstr>Classification</vt:lpstr>
      <vt:lpstr>PowerPoint Presentation</vt:lpstr>
      <vt:lpstr>How to choose the partition</vt:lpstr>
      <vt:lpstr>Key concepts of SVM</vt:lpstr>
      <vt:lpstr>Hyperplanes</vt:lpstr>
      <vt:lpstr>Types of SVM</vt:lpstr>
      <vt:lpstr>Algorithm steps</vt:lpstr>
      <vt:lpstr>Working of SVM</vt:lpstr>
      <vt:lpstr>Working of SVM</vt:lpstr>
      <vt:lpstr>Soft Margin Formula</vt:lpstr>
      <vt:lpstr>PowerPoint Presentation</vt:lpstr>
      <vt:lpstr>How Misclassification is allowed</vt:lpstr>
      <vt:lpstr>Errors in SVM</vt:lpstr>
      <vt:lpstr>Linear SVM Formula</vt:lpstr>
      <vt:lpstr>PowerPoint Presentation</vt:lpstr>
      <vt:lpstr>Non-Linear data</vt:lpstr>
      <vt:lpstr>About SVM kernel</vt:lpstr>
      <vt:lpstr>PowerPoint Presentation</vt:lpstr>
      <vt:lpstr>Mapping from 1 D to 2D</vt:lpstr>
      <vt:lpstr>Mapping from 2D to 3D</vt:lpstr>
      <vt:lpstr>Text Analysis</vt:lpstr>
      <vt:lpstr>How text gets analyzed</vt:lpstr>
      <vt:lpstr>Split Sentence into block of text </vt:lpstr>
      <vt:lpstr>PowerPoint Presentation</vt:lpstr>
      <vt:lpstr>PowerPoint Presentation</vt:lpstr>
      <vt:lpstr>PowerPoint Presentation</vt:lpstr>
      <vt:lpstr>Text Classification</vt:lpstr>
      <vt:lpstr>Steps in text analysis Process</vt:lpstr>
      <vt:lpstr>Steps in text analysis Process</vt:lpstr>
      <vt:lpstr>Steps in text analysis Process</vt:lpstr>
      <vt:lpstr>Steps in text analysis Process</vt:lpstr>
      <vt:lpstr>Steps in text analysis Process</vt:lpstr>
      <vt:lpstr>Steps in text analysis Process</vt:lpstr>
      <vt:lpstr>Steps in text analysis Process</vt:lpstr>
      <vt:lpstr>Evaluation Metrics for Text classification</vt:lpstr>
      <vt:lpstr>Challenges in Text Analytics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Shrikrishna Narvekar</dc:creator>
  <cp:lastModifiedBy>Shrikrishna Narvekar</cp:lastModifiedBy>
  <cp:revision>15</cp:revision>
  <dcterms:created xsi:type="dcterms:W3CDTF">2024-09-26T08:03:45Z</dcterms:created>
  <dcterms:modified xsi:type="dcterms:W3CDTF">2025-10-14T10:00:31Z</dcterms:modified>
</cp:coreProperties>
</file>