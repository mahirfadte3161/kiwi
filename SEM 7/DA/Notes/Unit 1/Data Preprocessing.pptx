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58" r:id="rId4"/>
    <p:sldId id="260" r:id="rId5"/>
    <p:sldId id="259" r:id="rId6"/>
    <p:sldId id="261" r:id="rId7"/>
    <p:sldId id="278" r:id="rId8"/>
    <p:sldId id="287" r:id="rId9"/>
    <p:sldId id="281" r:id="rId10"/>
    <p:sldId id="282" r:id="rId11"/>
    <p:sldId id="283" r:id="rId12"/>
    <p:sldId id="284" r:id="rId13"/>
    <p:sldId id="279" r:id="rId14"/>
    <p:sldId id="285" r:id="rId15"/>
    <p:sldId id="286" r:id="rId16"/>
    <p:sldId id="262" r:id="rId17"/>
    <p:sldId id="280" r:id="rId18"/>
    <p:sldId id="276" r:id="rId19"/>
    <p:sldId id="264" r:id="rId20"/>
    <p:sldId id="265" r:id="rId21"/>
    <p:sldId id="266" r:id="rId22"/>
    <p:sldId id="289" r:id="rId23"/>
    <p:sldId id="290" r:id="rId24"/>
    <p:sldId id="267" r:id="rId25"/>
    <p:sldId id="268" r:id="rId26"/>
    <p:sldId id="269" r:id="rId27"/>
    <p:sldId id="270" r:id="rId28"/>
    <p:sldId id="271" r:id="rId29"/>
    <p:sldId id="272" r:id="rId30"/>
    <p:sldId id="273" r:id="rId31"/>
    <p:sldId id="274" r:id="rId32"/>
    <p:sldId id="27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764" autoAdjust="0"/>
  </p:normalViewPr>
  <p:slideViewPr>
    <p:cSldViewPr snapToGrid="0">
      <p:cViewPr varScale="1">
        <p:scale>
          <a:sx n="76" d="100"/>
          <a:sy n="76" d="100"/>
        </p:scale>
        <p:origin x="9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38AF3-3CA8-422C-A829-45565542789F}" type="datetimeFigureOut">
              <a:rPr lang="en-IN" smtClean="0"/>
              <a:t>09-09-2025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0C9FF9-F6A8-4501-8A6E-8ABCD88BD48E}" type="slidenum">
              <a:rPr lang="en-IN" smtClean="0"/>
              <a:t>‹#›</a:t>
            </a:fld>
            <a:endParaRPr lang="en-IN"/>
          </a:p>
        </p:txBody>
      </p:sp>
    </p:spTree>
    <p:extLst>
      <p:ext uri="{BB962C8B-B14F-4D97-AF65-F5344CB8AC3E}">
        <p14:creationId xmlns:p14="http://schemas.microsoft.com/office/powerpoint/2010/main" val="3867679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customer database, if the contact information is outdated or incorrect, any marketing campaigns based on this data will likely be ineffective. Ensuring data quality involves verifying and updating this information to ensure it is accurate and reliable.</a:t>
            </a:r>
          </a:p>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3</a:t>
            </a:fld>
            <a:endParaRPr lang="en-IN"/>
          </a:p>
        </p:txBody>
      </p:sp>
    </p:spTree>
    <p:extLst>
      <p:ext uri="{BB962C8B-B14F-4D97-AF65-F5344CB8AC3E}">
        <p14:creationId xmlns:p14="http://schemas.microsoft.com/office/powerpoint/2010/main" val="2298204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IN" sz="1200" kern="1200" dirty="0">
              <a:solidFill>
                <a:schemeClr val="tx1"/>
              </a:solidFill>
              <a:effectLst/>
              <a:latin typeface="+mn-lt"/>
              <a:ea typeface="+mn-ea"/>
              <a:cs typeface="+mn-cs"/>
            </a:endParaRPr>
          </a:p>
          <a:p>
            <a:pPr marL="228600" indent="-228600">
              <a:buFont typeface="+mj-lt"/>
              <a:buAutoNum type="arabicPeriod"/>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healthcare database, the accuracy of patient records is vital. An incorrect blood type recorded in a patient's file could lead to serious medical errors.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customer relationship management (CRM) system, missing contact details for clients can prevent effective communication and lead to missed business opportunities.</a:t>
            </a:r>
          </a:p>
          <a:p>
            <a:pPr marL="228600" lvl="0" indent="-228600">
              <a:buFont typeface="+mj-lt"/>
              <a:buAutoNum type="arabicPeriod"/>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a customer’s address is updated in one database but not in another, the inconsistency could result in shipments being sent to the wrong location.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stock trading, data on market prices must be timely. Using outdated price data could lead to poor investment decisions.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news organization, data sourced from an unverified or biased source might be accurate, but it may not be considered believable, affecting the credibility of the reports generated from it.</a:t>
            </a:r>
          </a:p>
          <a:p>
            <a:pPr marL="228600" lvl="0" indent="-228600">
              <a:buFont typeface="+mj-lt"/>
              <a:buAutoNum type="arabicPeriod"/>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business intelligence tool, if sales data is </a:t>
            </a:r>
            <a:r>
              <a:rPr lang="en-IN" sz="1200" kern="1200" dirty="0" err="1">
                <a:solidFill>
                  <a:schemeClr val="tx1"/>
                </a:solidFill>
                <a:effectLst/>
                <a:latin typeface="+mn-lt"/>
                <a:ea typeface="+mn-ea"/>
                <a:cs typeface="+mn-cs"/>
              </a:rPr>
              <a:t>labeled</a:t>
            </a:r>
            <a:r>
              <a:rPr lang="en-IN" sz="1200" kern="1200" dirty="0">
                <a:solidFill>
                  <a:schemeClr val="tx1"/>
                </a:solidFill>
                <a:effectLst/>
                <a:latin typeface="+mn-lt"/>
                <a:ea typeface="+mn-ea"/>
                <a:cs typeface="+mn-cs"/>
              </a:rPr>
              <a:t> in cryptic codes or without clear definitions, analysts may misinterpret the data, leading to incorrect conclusions</a:t>
            </a:r>
          </a:p>
          <a:p>
            <a:r>
              <a:rPr lang="en-IN" sz="1200" kern="1200" dirty="0">
                <a:solidFill>
                  <a:schemeClr val="tx1"/>
                </a:solidFill>
                <a:effectLst/>
                <a:latin typeface="+mn-lt"/>
                <a:ea typeface="+mn-ea"/>
                <a:cs typeface="+mn-cs"/>
              </a:rPr>
              <a:t> </a:t>
            </a: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4</a:t>
            </a:fld>
            <a:endParaRPr lang="en-IN"/>
          </a:p>
        </p:txBody>
      </p:sp>
    </p:spTree>
    <p:extLst>
      <p:ext uri="{BB962C8B-B14F-4D97-AF65-F5344CB8AC3E}">
        <p14:creationId xmlns:p14="http://schemas.microsoft.com/office/powerpoint/2010/main" val="3723884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5</a:t>
            </a:fld>
            <a:endParaRPr lang="en-IN"/>
          </a:p>
        </p:txBody>
      </p:sp>
    </p:spTree>
    <p:extLst>
      <p:ext uri="{BB962C8B-B14F-4D97-AF65-F5344CB8AC3E}">
        <p14:creationId xmlns:p14="http://schemas.microsoft.com/office/powerpoint/2010/main" val="3287623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a sales database, if the revenue column has some entries as "N/A" or negative values, data cleaning would involve correcting these errors to ensure accurate sales reporting.</a:t>
            </a:r>
          </a:p>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6</a:t>
            </a:fld>
            <a:endParaRPr lang="en-IN"/>
          </a:p>
        </p:txBody>
      </p:sp>
    </p:spTree>
    <p:extLst>
      <p:ext uri="{BB962C8B-B14F-4D97-AF65-F5344CB8AC3E}">
        <p14:creationId xmlns:p14="http://schemas.microsoft.com/office/powerpoint/2010/main" val="1043716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b="1" kern="1200" dirty="0">
                <a:solidFill>
                  <a:schemeClr val="tx1"/>
                </a:solidFill>
                <a:effectLst/>
                <a:latin typeface="+mn-lt"/>
                <a:ea typeface="+mn-ea"/>
                <a:cs typeface="+mn-cs"/>
              </a:rPr>
              <a:t>Using a Global Constant</a:t>
            </a:r>
            <a:r>
              <a:rPr lang="en-IN" sz="1200" kern="1200" dirty="0">
                <a:solidFill>
                  <a:schemeClr val="tx1"/>
                </a:solidFill>
                <a:effectLst/>
                <a:latin typeface="+mn-lt"/>
                <a:ea typeface="+mn-ea"/>
                <a:cs typeface="+mn-cs"/>
              </a:rPr>
              <a:t>:</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What it Means</a:t>
            </a:r>
            <a:r>
              <a:rPr lang="en-IN" sz="1200" kern="1200" dirty="0">
                <a:solidFill>
                  <a:schemeClr val="tx1"/>
                </a:solidFill>
                <a:effectLst/>
                <a:latin typeface="+mn-lt"/>
                <a:ea typeface="+mn-ea"/>
                <a:cs typeface="+mn-cs"/>
              </a:rPr>
              <a:t>: You can replace all missing values with a single constant value, like “unknown” or “N/A.”</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you have a dataset of customer reviews and some customers didn’t provide their age, you could fill in all missing ages with "unknown.“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Challenges</a:t>
            </a:r>
            <a:r>
              <a:rPr lang="en-IN" sz="1200" kern="1200" dirty="0">
                <a:solidFill>
                  <a:schemeClr val="tx1"/>
                </a:solidFill>
                <a:effectLst/>
                <a:latin typeface="+mn-lt"/>
                <a:ea typeface="+mn-ea"/>
                <a:cs typeface="+mn-cs"/>
              </a:rPr>
              <a:t>: While easy to implement, this might introduce a new "class" or category that could affect the analysis.</a:t>
            </a:r>
          </a:p>
          <a:p>
            <a:pPr lvl="0"/>
            <a:r>
              <a:rPr lang="en-IN" sz="1200" b="1" kern="1200" dirty="0">
                <a:solidFill>
                  <a:schemeClr val="tx1"/>
                </a:solidFill>
                <a:effectLst/>
                <a:latin typeface="+mn-lt"/>
                <a:ea typeface="+mn-ea"/>
                <a:cs typeface="+mn-cs"/>
              </a:rPr>
              <a:t>Using the Attribute Mean</a:t>
            </a:r>
            <a:r>
              <a:rPr lang="en-IN" sz="1200" kern="1200" dirty="0">
                <a:solidFill>
                  <a:schemeClr val="tx1"/>
                </a:solidFill>
                <a:effectLst/>
                <a:latin typeface="+mn-lt"/>
                <a:ea typeface="+mn-ea"/>
                <a:cs typeface="+mn-cs"/>
              </a:rPr>
              <a:t>:</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What it Means</a:t>
            </a:r>
            <a:r>
              <a:rPr lang="en-IN" sz="1200" kern="1200" dirty="0">
                <a:solidFill>
                  <a:schemeClr val="tx1"/>
                </a:solidFill>
                <a:effectLst/>
                <a:latin typeface="+mn-lt"/>
                <a:ea typeface="+mn-ea"/>
                <a:cs typeface="+mn-cs"/>
              </a:rPr>
              <a:t>: You replace the missing value with the average value of that particular attribute (column) across all the data points.</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the average age of all customers is 30 years, you could fill in missing ages with 30.</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Challenges</a:t>
            </a:r>
            <a:r>
              <a:rPr lang="en-IN" sz="1200" kern="1200" dirty="0">
                <a:solidFill>
                  <a:schemeClr val="tx1"/>
                </a:solidFill>
                <a:effectLst/>
                <a:latin typeface="+mn-lt"/>
                <a:ea typeface="+mn-ea"/>
                <a:cs typeface="+mn-cs"/>
              </a:rPr>
              <a:t>: This method is simple but might not always be the most accurate, especially if the data is highly variable.</a:t>
            </a:r>
            <a:endParaRPr lang="en-IN" sz="1100" kern="1200" dirty="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IN" sz="11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7</a:t>
            </a:fld>
            <a:endParaRPr lang="en-IN"/>
          </a:p>
        </p:txBody>
      </p:sp>
    </p:spTree>
    <p:extLst>
      <p:ext uri="{BB962C8B-B14F-4D97-AF65-F5344CB8AC3E}">
        <p14:creationId xmlns:p14="http://schemas.microsoft.com/office/powerpoint/2010/main" val="1225677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missing values in </a:t>
            </a:r>
            <a:r>
              <a:rPr lang="en-US" b="1" dirty="0"/>
              <a:t>Age</a:t>
            </a:r>
            <a:r>
              <a:rPr lang="en-US" dirty="0"/>
              <a:t> are replaced with the </a:t>
            </a:r>
            <a:r>
              <a:rPr lang="en-US" b="1" dirty="0"/>
              <a:t>overall mean</a:t>
            </a:r>
            <a:r>
              <a:rPr lang="en-US" dirty="0"/>
              <a:t> of the </a:t>
            </a:r>
            <a:r>
              <a:rPr lang="en-US" i="1" dirty="0"/>
              <a:t>entire column</a:t>
            </a:r>
            <a:r>
              <a:rPr lang="en-US" dirty="0"/>
              <a:t>.</a:t>
            </a:r>
          </a:p>
          <a:p>
            <a:r>
              <a:rPr lang="en-US" dirty="0"/>
              <a:t>Example: If the average Age across </a:t>
            </a:r>
            <a:r>
              <a:rPr lang="en-US" b="1" dirty="0"/>
              <a:t>all customers</a:t>
            </a:r>
            <a:r>
              <a:rPr lang="en-US" dirty="0"/>
              <a:t> = 32, then every missing Age will be filled with 32.</a:t>
            </a:r>
          </a:p>
          <a:p>
            <a:r>
              <a:rPr lang="en-US" dirty="0"/>
              <a:t>Simple and quick, but it ignores the fact that different groups (classes) may have different distributions.</a:t>
            </a:r>
          </a:p>
          <a:p>
            <a:br>
              <a:rPr lang="en-US" dirty="0"/>
            </a:br>
            <a:endParaRPr lang="en-US" dirty="0"/>
          </a:p>
        </p:txBody>
      </p:sp>
      <p:sp>
        <p:nvSpPr>
          <p:cNvPr id="4" name="Slide Number Placeholder 3"/>
          <p:cNvSpPr>
            <a:spLocks noGrp="1"/>
          </p:cNvSpPr>
          <p:nvPr>
            <p:ph type="sldNum" sz="quarter" idx="5"/>
          </p:nvPr>
        </p:nvSpPr>
        <p:spPr/>
        <p:txBody>
          <a:bodyPr/>
          <a:lstStyle/>
          <a:p>
            <a:fld id="{8D0C9FF9-F6A8-4501-8A6E-8ABCD88BD48E}" type="slidenum">
              <a:rPr lang="en-IN" smtClean="0"/>
              <a:t>12</a:t>
            </a:fld>
            <a:endParaRPr lang="en-IN"/>
          </a:p>
        </p:txBody>
      </p:sp>
    </p:spTree>
    <p:extLst>
      <p:ext uri="{BB962C8B-B14F-4D97-AF65-F5344CB8AC3E}">
        <p14:creationId xmlns:p14="http://schemas.microsoft.com/office/powerpoint/2010/main" val="1494902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b="1" kern="1200" dirty="0">
                <a:solidFill>
                  <a:schemeClr val="tx1"/>
                </a:solidFill>
                <a:effectLst/>
                <a:latin typeface="+mn-lt"/>
                <a:ea typeface="+mn-ea"/>
                <a:cs typeface="+mn-cs"/>
              </a:rPr>
              <a:t>Using the Attribute Mean for the Same Class</a:t>
            </a:r>
            <a:r>
              <a:rPr lang="en-IN" sz="1200" kern="1200" dirty="0">
                <a:solidFill>
                  <a:schemeClr val="tx1"/>
                </a:solidFill>
                <a:effectLst/>
                <a:latin typeface="+mn-lt"/>
                <a:ea typeface="+mn-ea"/>
                <a:cs typeface="+mn-cs"/>
              </a:rPr>
              <a:t>:</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you’re predicting whether someone will buy a product (yes/no), and you know that people who say "yes" have an average age of 35, you could fill in the missing age with 35 for someone who has said "yes" in the past.</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Advantages</a:t>
            </a:r>
            <a:r>
              <a:rPr lang="en-IN" sz="1200" kern="1200" dirty="0">
                <a:solidFill>
                  <a:schemeClr val="tx1"/>
                </a:solidFill>
                <a:effectLst/>
                <a:latin typeface="+mn-lt"/>
                <a:ea typeface="+mn-ea"/>
                <a:cs typeface="+mn-cs"/>
              </a:rPr>
              <a:t>: This is a smarter approach because it takes into account the specific class, making it more likely that the filled value is accurate.</a:t>
            </a:r>
            <a:endParaRPr lang="en-IN"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Using the Most Probable Value</a:t>
            </a:r>
            <a:r>
              <a:rPr lang="en-I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you have other attributes like income, education level, and job type, you could use these to predict the missing age based on patterns in the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Advantages</a:t>
            </a:r>
            <a:r>
              <a:rPr lang="en-IN" sz="1200" kern="1200" dirty="0">
                <a:solidFill>
                  <a:schemeClr val="tx1"/>
                </a:solidFill>
                <a:effectLst/>
                <a:latin typeface="+mn-lt"/>
                <a:ea typeface="+mn-ea"/>
                <a:cs typeface="+mn-cs"/>
              </a:rPr>
              <a:t>: This method is sophisticated and usually more accurate, as it leverages the relationships between different data points.</a:t>
            </a:r>
          </a:p>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13</a:t>
            </a:fld>
            <a:endParaRPr lang="en-IN"/>
          </a:p>
        </p:txBody>
      </p:sp>
    </p:spTree>
    <p:extLst>
      <p:ext uri="{BB962C8B-B14F-4D97-AF65-F5344CB8AC3E}">
        <p14:creationId xmlns:p14="http://schemas.microsoft.com/office/powerpoint/2010/main" val="3597312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the overall mean, it calculates the </a:t>
            </a:r>
            <a:r>
              <a:rPr lang="en-US" b="1" dirty="0"/>
              <a:t>mean Age within each </a:t>
            </a:r>
            <a:r>
              <a:rPr lang="en-US" b="1" dirty="0" err="1"/>
              <a:t>Purchase_Class</a:t>
            </a:r>
            <a:r>
              <a:rPr lang="en-US" b="1" dirty="0"/>
              <a:t> (Yes/No)</a:t>
            </a:r>
            <a:r>
              <a:rPr lang="en-US" dirty="0"/>
              <a:t>.</a:t>
            </a:r>
          </a:p>
          <a:p>
            <a:r>
              <a:rPr lang="en-US" dirty="0"/>
              <a:t>Missing Age is filled with the </a:t>
            </a:r>
            <a:r>
              <a:rPr lang="en-US" b="1" dirty="0"/>
              <a:t>average of its own class</a:t>
            </a:r>
            <a:r>
              <a:rPr lang="en-US" dirty="0"/>
              <a:t>.</a:t>
            </a:r>
          </a:p>
          <a:p>
            <a:r>
              <a:rPr lang="en-US" dirty="0"/>
              <a:t>For example:</a:t>
            </a:r>
          </a:p>
          <a:p>
            <a:r>
              <a:rPr lang="en-US" dirty="0"/>
              <a:t>If buyers (</a:t>
            </a:r>
            <a:r>
              <a:rPr lang="en-US" sz="1200" kern="1200" dirty="0" err="1">
                <a:solidFill>
                  <a:schemeClr val="tx1"/>
                </a:solidFill>
                <a:latin typeface="+mn-lt"/>
                <a:ea typeface="+mn-ea"/>
                <a:cs typeface="+mn-cs"/>
              </a:rPr>
              <a:t>Purchase_Class</a:t>
            </a:r>
            <a:r>
              <a:rPr lang="en-US" sz="1200" kern="1200" dirty="0">
                <a:solidFill>
                  <a:schemeClr val="tx1"/>
                </a:solidFill>
                <a:latin typeface="+mn-lt"/>
                <a:ea typeface="+mn-ea"/>
                <a:cs typeface="+mn-cs"/>
              </a:rPr>
              <a:t> = Yes</a:t>
            </a:r>
            <a:r>
              <a:rPr lang="en-US" dirty="0"/>
              <a:t>) have an average Age of 35, missing values in that group are filled with 35.</a:t>
            </a:r>
          </a:p>
          <a:p>
            <a:r>
              <a:rPr lang="en-US" dirty="0"/>
              <a:t>If non-buyers (</a:t>
            </a:r>
            <a:r>
              <a:rPr lang="en-US" sz="1200" kern="1200" dirty="0" err="1">
                <a:solidFill>
                  <a:schemeClr val="tx1"/>
                </a:solidFill>
                <a:latin typeface="+mn-lt"/>
                <a:ea typeface="+mn-ea"/>
                <a:cs typeface="+mn-cs"/>
              </a:rPr>
              <a:t>Purchase_Class</a:t>
            </a:r>
            <a:r>
              <a:rPr lang="en-US" sz="1200" kern="1200" dirty="0">
                <a:solidFill>
                  <a:schemeClr val="tx1"/>
                </a:solidFill>
                <a:latin typeface="+mn-lt"/>
                <a:ea typeface="+mn-ea"/>
                <a:cs typeface="+mn-cs"/>
              </a:rPr>
              <a:t> = No</a:t>
            </a:r>
            <a:r>
              <a:rPr lang="en-US" dirty="0"/>
              <a:t>) have an average Age of 28, missing values in that group are filled with 28.</a:t>
            </a:r>
          </a:p>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14</a:t>
            </a:fld>
            <a:endParaRPr lang="en-IN"/>
          </a:p>
        </p:txBody>
      </p:sp>
    </p:spTree>
    <p:extLst>
      <p:ext uri="{BB962C8B-B14F-4D97-AF65-F5344CB8AC3E}">
        <p14:creationId xmlns:p14="http://schemas.microsoft.com/office/powerpoint/2010/main" val="1515704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0C9FF9-F6A8-4501-8A6E-8ABCD88BD48E}" type="slidenum">
              <a:rPr lang="en-IN" smtClean="0"/>
              <a:t>19</a:t>
            </a:fld>
            <a:endParaRPr lang="en-IN"/>
          </a:p>
        </p:txBody>
      </p:sp>
    </p:spTree>
    <p:extLst>
      <p:ext uri="{BB962C8B-B14F-4D97-AF65-F5344CB8AC3E}">
        <p14:creationId xmlns:p14="http://schemas.microsoft.com/office/powerpoint/2010/main" val="11866747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6D2BFF4-5DAA-47B1-904E-2F24933AA712}" type="datetime1">
              <a:rPr lang="en-IN" smtClean="0"/>
              <a:t>09-09-2025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r>
              <a:rPr lang="en-IN"/>
              <a:t>Data analytics Session 3</a:t>
            </a:r>
          </a:p>
        </p:txBody>
      </p:sp>
      <p:sp>
        <p:nvSpPr>
          <p:cNvPr id="6" name="Slide Number Placeholder 5"/>
          <p:cNvSpPr>
            <a:spLocks noGrp="1"/>
          </p:cNvSpPr>
          <p:nvPr>
            <p:ph type="sldNum" sz="quarter" idx="12"/>
          </p:nvPr>
        </p:nvSpPr>
        <p:spPr>
          <a:xfrm>
            <a:off x="8956900" y="5037663"/>
            <a:ext cx="551167" cy="279400"/>
          </a:xfrm>
        </p:spPr>
        <p:txBody>
          <a:bodyPr/>
          <a:lstStyle/>
          <a:p>
            <a:fld id="{F112A010-EC74-4D7C-9F05-19D71910E8F2}"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1764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154189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18736-D484-4191-A0C8-D6234A0F0E2B}"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616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E90B56-84B2-42FE-A642-209C5719D7AA}" type="datetime1">
              <a:rPr lang="en-IN" smtClean="0"/>
              <a:t>09-09-2025</a:t>
            </a:fld>
            <a:endParaRPr lang="en-IN"/>
          </a:p>
        </p:txBody>
      </p:sp>
      <p:sp>
        <p:nvSpPr>
          <p:cNvPr id="6" name="Footer Placeholder 5"/>
          <p:cNvSpPr>
            <a:spLocks noGrp="1"/>
          </p:cNvSpPr>
          <p:nvPr>
            <p:ph type="ftr" sz="quarter" idx="11"/>
          </p:nvPr>
        </p:nvSpPr>
        <p:spPr/>
        <p:txBody>
          <a:bodyPr/>
          <a:lstStyle/>
          <a:p>
            <a:r>
              <a:rPr lang="en-IN"/>
              <a:t>Data analytics Session 3</a:t>
            </a:r>
          </a:p>
        </p:txBody>
      </p:sp>
      <p:sp>
        <p:nvSpPr>
          <p:cNvPr id="7" name="Slide Number Placeholder 6"/>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110518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FDE380-D392-4582-92BD-96ECD57CE81B}" type="datetime1">
              <a:rPr lang="en-IN" smtClean="0"/>
              <a:t>09-09-2025</a:t>
            </a:fld>
            <a:endParaRPr lang="en-IN"/>
          </a:p>
        </p:txBody>
      </p:sp>
      <p:sp>
        <p:nvSpPr>
          <p:cNvPr id="8" name="Footer Placeholder 7"/>
          <p:cNvSpPr>
            <a:spLocks noGrp="1"/>
          </p:cNvSpPr>
          <p:nvPr>
            <p:ph type="ftr" sz="quarter" idx="11"/>
          </p:nvPr>
        </p:nvSpPr>
        <p:spPr/>
        <p:txBody>
          <a:bodyPr/>
          <a:lstStyle/>
          <a:p>
            <a:r>
              <a:rPr lang="en-IN"/>
              <a:t>Data analytics Session 3</a:t>
            </a:r>
          </a:p>
        </p:txBody>
      </p:sp>
      <p:sp>
        <p:nvSpPr>
          <p:cNvPr id="9" name="Slide Number Placeholder 8"/>
          <p:cNvSpPr>
            <a:spLocks noGrp="1"/>
          </p:cNvSpPr>
          <p:nvPr>
            <p:ph type="sldNum" sz="quarter" idx="12"/>
          </p:nvPr>
        </p:nvSpPr>
        <p:spPr/>
        <p:txBody>
          <a:bodyPr/>
          <a:lstStyle/>
          <a:p>
            <a:fld id="{F112A010-EC74-4D7C-9F05-19D71910E8F2}"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3664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E56CC-C2CE-462B-9685-4062CD81B4B9}" type="datetime1">
              <a:rPr lang="en-IN" smtClean="0"/>
              <a:t>09-09-2025</a:t>
            </a:fld>
            <a:endParaRPr lang="en-IN"/>
          </a:p>
        </p:txBody>
      </p:sp>
      <p:sp>
        <p:nvSpPr>
          <p:cNvPr id="4" name="Footer Placeholder 3"/>
          <p:cNvSpPr>
            <a:spLocks noGrp="1"/>
          </p:cNvSpPr>
          <p:nvPr>
            <p:ph type="ftr" sz="quarter" idx="11"/>
          </p:nvPr>
        </p:nvSpPr>
        <p:spPr/>
        <p:txBody>
          <a:bodyPr/>
          <a:lstStyle/>
          <a:p>
            <a:r>
              <a:rPr lang="en-IN"/>
              <a:t>Data analytics Session 3</a:t>
            </a:r>
          </a:p>
        </p:txBody>
      </p:sp>
      <p:sp>
        <p:nvSpPr>
          <p:cNvPr id="5" name="Slide Number Placeholder 4"/>
          <p:cNvSpPr>
            <a:spLocks noGrp="1"/>
          </p:cNvSpPr>
          <p:nvPr>
            <p:ph type="sldNum" sz="quarter" idx="12"/>
          </p:nvPr>
        </p:nvSpPr>
        <p:spPr/>
        <p:txBody>
          <a:bodyPr/>
          <a:lstStyle/>
          <a:p>
            <a:fld id="{F112A010-EC74-4D7C-9F05-19D71910E8F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0547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83874-2E15-4702-AF55-B38459B9EFF9}" type="datetime1">
              <a:rPr lang="en-IN" smtClean="0"/>
              <a:t>09-09-2025</a:t>
            </a:fld>
            <a:endParaRPr lang="en-IN"/>
          </a:p>
        </p:txBody>
      </p:sp>
      <p:sp>
        <p:nvSpPr>
          <p:cNvPr id="3" name="Footer Placeholder 2"/>
          <p:cNvSpPr>
            <a:spLocks noGrp="1"/>
          </p:cNvSpPr>
          <p:nvPr>
            <p:ph type="ftr" sz="quarter" idx="11"/>
          </p:nvPr>
        </p:nvSpPr>
        <p:spPr/>
        <p:txBody>
          <a:bodyPr/>
          <a:lstStyle/>
          <a:p>
            <a:r>
              <a:rPr lang="en-IN"/>
              <a:t>Data analytics Session 3</a:t>
            </a:r>
          </a:p>
        </p:txBody>
      </p:sp>
      <p:sp>
        <p:nvSpPr>
          <p:cNvPr id="4" name="Slide Number Placeholder 3"/>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4014521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3C6A00-F336-4DFC-AE6E-F3E1244338FB}" type="datetime1">
              <a:rPr lang="en-IN" smtClean="0"/>
              <a:t>09-09-2025</a:t>
            </a:fld>
            <a:endParaRPr lang="en-IN"/>
          </a:p>
        </p:txBody>
      </p:sp>
      <p:sp>
        <p:nvSpPr>
          <p:cNvPr id="6" name="Footer Placeholder 5"/>
          <p:cNvSpPr>
            <a:spLocks noGrp="1"/>
          </p:cNvSpPr>
          <p:nvPr>
            <p:ph type="ftr" sz="quarter" idx="11"/>
          </p:nvPr>
        </p:nvSpPr>
        <p:spPr/>
        <p:txBody>
          <a:bodyPr/>
          <a:lstStyle/>
          <a:p>
            <a:r>
              <a:rPr lang="en-IN"/>
              <a:t>Data analytics Session 3</a:t>
            </a:r>
          </a:p>
        </p:txBody>
      </p:sp>
      <p:sp>
        <p:nvSpPr>
          <p:cNvPr id="7" name="Slide Number Placeholder 6"/>
          <p:cNvSpPr>
            <a:spLocks noGrp="1"/>
          </p:cNvSpPr>
          <p:nvPr>
            <p:ph type="sldNum" sz="quarter" idx="12"/>
          </p:nvPr>
        </p:nvSpPr>
        <p:spPr/>
        <p:txBody>
          <a:bodyPr/>
          <a:lstStyle/>
          <a:p>
            <a:fld id="{F112A010-EC74-4D7C-9F05-19D71910E8F2}"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3286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E0E5BA-9AAF-4CCF-895C-29284CADF9D4}" type="datetime1">
              <a:rPr lang="en-IN" smtClean="0"/>
              <a:t>09-09-2025</a:t>
            </a:fld>
            <a:endParaRPr lang="en-IN"/>
          </a:p>
        </p:txBody>
      </p:sp>
      <p:sp>
        <p:nvSpPr>
          <p:cNvPr id="6" name="Footer Placeholder 5"/>
          <p:cNvSpPr>
            <a:spLocks noGrp="1"/>
          </p:cNvSpPr>
          <p:nvPr>
            <p:ph type="ftr" sz="quarter" idx="11"/>
          </p:nvPr>
        </p:nvSpPr>
        <p:spPr/>
        <p:txBody>
          <a:bodyPr/>
          <a:lstStyle/>
          <a:p>
            <a:r>
              <a:rPr lang="en-IN"/>
              <a:t>Data analytics Session 3</a:t>
            </a:r>
          </a:p>
        </p:txBody>
      </p:sp>
      <p:sp>
        <p:nvSpPr>
          <p:cNvPr id="7" name="Slide Number Placeholder 6"/>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2934917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BC46B9-068C-4E69-863C-008E09BDAF06}" type="datetime1">
              <a:rPr lang="en-IN" smtClean="0"/>
              <a:t>09-09-2025</a:t>
            </a:fld>
            <a:endParaRPr lang="en-IN"/>
          </a:p>
        </p:txBody>
      </p:sp>
      <p:sp>
        <p:nvSpPr>
          <p:cNvPr id="6" name="Footer Placeholder 5"/>
          <p:cNvSpPr>
            <a:spLocks noGrp="1"/>
          </p:cNvSpPr>
          <p:nvPr>
            <p:ph type="ftr" sz="quarter" idx="11"/>
          </p:nvPr>
        </p:nvSpPr>
        <p:spPr/>
        <p:txBody>
          <a:bodyPr/>
          <a:lstStyle/>
          <a:p>
            <a:r>
              <a:rPr lang="en-IN"/>
              <a:t>Data analytics Session 3</a:t>
            </a:r>
          </a:p>
        </p:txBody>
      </p:sp>
      <p:sp>
        <p:nvSpPr>
          <p:cNvPr id="7" name="Slide Number Placeholder 6"/>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797663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EC065-9643-447F-BB44-5CFEC4BF97B5}"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1347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8DA436-3F0D-4CC5-B792-41A82E875BB1}"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3200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DA65F2-BBFD-4D6C-817D-071A03077E7C}"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spTree>
    <p:extLst>
      <p:ext uri="{BB962C8B-B14F-4D97-AF65-F5344CB8AC3E}">
        <p14:creationId xmlns:p14="http://schemas.microsoft.com/office/powerpoint/2010/main" val="1340557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BCE370-642D-4D09-AAEC-77E915572A9B}"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1480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7AEB3-DB31-42C9-BF26-10D7223D80BF}"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4180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A11DBA-94FB-4767-8F2E-3334379D67FA}"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339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408494-9D3A-4AC3-9953-C7EE8999A82B}" type="datetime1">
              <a:rPr lang="en-IN" smtClean="0"/>
              <a:t>09-09-2025</a:t>
            </a:fld>
            <a:endParaRPr lang="en-IN"/>
          </a:p>
        </p:txBody>
      </p:sp>
      <p:sp>
        <p:nvSpPr>
          <p:cNvPr id="5" name="Footer Placeholder 4"/>
          <p:cNvSpPr>
            <a:spLocks noGrp="1"/>
          </p:cNvSpPr>
          <p:nvPr>
            <p:ph type="ftr" sz="quarter" idx="11"/>
          </p:nvPr>
        </p:nvSpPr>
        <p:spPr/>
        <p:txBody>
          <a:bodyPr/>
          <a:lstStyle/>
          <a:p>
            <a:r>
              <a:rPr lang="en-IN"/>
              <a:t>Data analytics Session 3</a:t>
            </a:r>
          </a:p>
        </p:txBody>
      </p:sp>
      <p:sp>
        <p:nvSpPr>
          <p:cNvPr id="6" name="Slide Number Placeholder 5"/>
          <p:cNvSpPr>
            <a:spLocks noGrp="1"/>
          </p:cNvSpPr>
          <p:nvPr>
            <p:ph type="sldNum" sz="quarter" idx="12"/>
          </p:nvPr>
        </p:nvSpPr>
        <p:spPr/>
        <p:txBody>
          <a:bodyPr/>
          <a:lstStyle/>
          <a:p>
            <a:fld id="{F112A010-EC74-4D7C-9F05-19D71910E8F2}"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20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1C46300-77E9-48D2-B1AC-2794F7074C21}" type="datetime1">
              <a:rPr lang="en-IN" smtClean="0"/>
              <a:t>09-09-2025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IN"/>
              <a:t>Data analytics Session 3</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12A010-EC74-4D7C-9F05-19D71910E8F2}" type="slidenum">
              <a:rPr lang="en-IN" smtClean="0"/>
              <a:t>‹#›</a:t>
            </a:fld>
            <a:endParaRPr lang="en-IN"/>
          </a:p>
        </p:txBody>
      </p:sp>
    </p:spTree>
    <p:extLst>
      <p:ext uri="{BB962C8B-B14F-4D97-AF65-F5344CB8AC3E}">
        <p14:creationId xmlns:p14="http://schemas.microsoft.com/office/powerpoint/2010/main" val="2682385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1D6DD-8A60-2114-B32B-498177DECBBD}"/>
              </a:ext>
            </a:extLst>
          </p:cNvPr>
          <p:cNvSpPr>
            <a:spLocks noGrp="1"/>
          </p:cNvSpPr>
          <p:nvPr>
            <p:ph type="ctrTitle"/>
          </p:nvPr>
        </p:nvSpPr>
        <p:spPr/>
        <p:txBody>
          <a:bodyPr/>
          <a:lstStyle/>
          <a:p>
            <a:r>
              <a:rPr lang="en-US" sz="4400" b="1" dirty="0">
                <a:latin typeface="Times New Roman" panose="02020603050405020304" pitchFamily="18" charset="0"/>
                <a:cs typeface="Times New Roman" panose="02020603050405020304" pitchFamily="18" charset="0"/>
              </a:rPr>
              <a:t>Data Preprocessing</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0595A54-3FAF-563A-84D0-62CD09E329C6}"/>
              </a:ext>
            </a:extLst>
          </p:cNvPr>
          <p:cNvSpPr>
            <a:spLocks noGrp="1"/>
          </p:cNvSpPr>
          <p:nvPr>
            <p:ph type="subTitle" idx="1"/>
          </p:nvPr>
        </p:nvSpPr>
        <p:spPr>
          <a:xfrm>
            <a:off x="2589762" y="3441866"/>
            <a:ext cx="6815669" cy="1735497"/>
          </a:xfrm>
        </p:spPr>
        <p:txBody>
          <a:bodyPr>
            <a:normAutofit fontScale="92500"/>
          </a:bodyPr>
          <a:lstStyle/>
          <a:p>
            <a:r>
              <a:rPr lang="en-US" b="1" dirty="0">
                <a:latin typeface="Times New Roman" panose="02020603050405020304" pitchFamily="18" charset="0"/>
                <a:cs typeface="Times New Roman" panose="02020603050405020304" pitchFamily="18" charset="0"/>
              </a:rPr>
              <a:t>Mr. Shrikrishna Anand Narvekar</a:t>
            </a:r>
          </a:p>
          <a:p>
            <a:r>
              <a:rPr lang="en-US" b="1" dirty="0">
                <a:latin typeface="Times New Roman" panose="02020603050405020304" pitchFamily="18" charset="0"/>
                <a:cs typeface="Times New Roman" panose="02020603050405020304" pitchFamily="18" charset="0"/>
              </a:rPr>
              <a:t>Assitant Professor</a:t>
            </a:r>
          </a:p>
          <a:p>
            <a:r>
              <a:rPr lang="en-US" b="1" dirty="0">
                <a:latin typeface="Times New Roman" panose="02020603050405020304" pitchFamily="18" charset="0"/>
                <a:cs typeface="Times New Roman" panose="02020603050405020304" pitchFamily="18" charset="0"/>
              </a:rPr>
              <a:t>Computer Engineering department</a:t>
            </a:r>
          </a:p>
          <a:p>
            <a:r>
              <a:rPr lang="en-US" b="1" dirty="0">
                <a:latin typeface="Times New Roman" panose="02020603050405020304" pitchFamily="18" charset="0"/>
                <a:cs typeface="Times New Roman" panose="02020603050405020304" pitchFamily="18" charset="0"/>
              </a:rPr>
              <a:t>Agnel Institute of Technology and Design</a:t>
            </a:r>
            <a:endParaRPr lang="en-IN" b="1"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86D017CD-FF28-19DA-E385-CC0833B9DAF2}"/>
              </a:ext>
            </a:extLst>
          </p:cNvPr>
          <p:cNvSpPr>
            <a:spLocks noGrp="1"/>
          </p:cNvSpPr>
          <p:nvPr>
            <p:ph type="dt" sz="half" idx="10"/>
          </p:nvPr>
        </p:nvSpPr>
        <p:spPr/>
        <p:txBody>
          <a:bodyPr/>
          <a:lstStyle/>
          <a:p>
            <a:fld id="{0222B1D7-E3F5-4D44-9210-DE2A1C5BB5EC}" type="datetime1">
              <a:rPr lang="en-IN" smtClean="0"/>
              <a:t>09-09-2025</a:t>
            </a:fld>
            <a:endParaRPr lang="en-IN"/>
          </a:p>
        </p:txBody>
      </p:sp>
      <p:sp>
        <p:nvSpPr>
          <p:cNvPr id="5" name="Footer Placeholder 4">
            <a:extLst>
              <a:ext uri="{FF2B5EF4-FFF2-40B4-BE49-F238E27FC236}">
                <a16:creationId xmlns:a16="http://schemas.microsoft.com/office/drawing/2014/main" id="{F725608D-12C9-4DB0-C5AB-FA284DCF40FF}"/>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ADA4CD4B-A25B-DD5D-DF47-E06EDAE3BA3D}"/>
              </a:ext>
            </a:extLst>
          </p:cNvPr>
          <p:cNvSpPr>
            <a:spLocks noGrp="1"/>
          </p:cNvSpPr>
          <p:nvPr>
            <p:ph type="sldNum" sz="quarter" idx="12"/>
          </p:nvPr>
        </p:nvSpPr>
        <p:spPr/>
        <p:txBody>
          <a:bodyPr/>
          <a:lstStyle/>
          <a:p>
            <a:fld id="{F112A010-EC74-4D7C-9F05-19D71910E8F2}" type="slidenum">
              <a:rPr lang="en-IN" smtClean="0"/>
              <a:t>1</a:t>
            </a:fld>
            <a:endParaRPr lang="en-IN"/>
          </a:p>
        </p:txBody>
      </p:sp>
    </p:spTree>
    <p:extLst>
      <p:ext uri="{BB962C8B-B14F-4D97-AF65-F5344CB8AC3E}">
        <p14:creationId xmlns:p14="http://schemas.microsoft.com/office/powerpoint/2010/main" val="3696562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8303A-E57B-D7D2-C175-1E3D2C4AC7A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data preprocessing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833436-018C-E9D7-076F-CFE3CABCFB4A}"/>
              </a:ext>
            </a:extLst>
          </p:cNvPr>
          <p:cNvSpPr>
            <a:spLocks noGrp="1"/>
          </p:cNvSpPr>
          <p:nvPr>
            <p:ph idx="1"/>
          </p:nvPr>
        </p:nvSpPr>
        <p:spPr>
          <a:xfrm>
            <a:off x="1027443" y="2511624"/>
            <a:ext cx="5068557" cy="3537484"/>
          </a:xfrm>
        </p:spPr>
        <p:txBody>
          <a:bodyPr/>
          <a:lstStyle/>
          <a:p>
            <a:r>
              <a:rPr lang="en-US" dirty="0">
                <a:solidFill>
                  <a:schemeClr val="tx1"/>
                </a:solidFill>
                <a:latin typeface="Times New Roman" panose="02020603050405020304" pitchFamily="18" charset="0"/>
                <a:cs typeface="Times New Roman" panose="02020603050405020304" pitchFamily="18" charset="0"/>
              </a:rPr>
              <a:t>Crucial step in data analytics that involves </a:t>
            </a:r>
            <a:r>
              <a:rPr lang="en-US" b="1" dirty="0">
                <a:solidFill>
                  <a:srgbClr val="FF0000"/>
                </a:solidFill>
                <a:latin typeface="Times New Roman" panose="02020603050405020304" pitchFamily="18" charset="0"/>
                <a:cs typeface="Times New Roman" panose="02020603050405020304" pitchFamily="18" charset="0"/>
              </a:rPr>
              <a:t>transforming raw data </a:t>
            </a:r>
            <a:r>
              <a:rPr lang="en-US" dirty="0">
                <a:solidFill>
                  <a:schemeClr val="tx1"/>
                </a:solidFill>
                <a:latin typeface="Times New Roman" panose="02020603050405020304" pitchFamily="18" charset="0"/>
                <a:cs typeface="Times New Roman" panose="02020603050405020304" pitchFamily="18" charset="0"/>
              </a:rPr>
              <a:t>into a </a:t>
            </a:r>
            <a:r>
              <a:rPr lang="en-US" b="1" dirty="0">
                <a:solidFill>
                  <a:srgbClr val="FF0000"/>
                </a:solidFill>
                <a:latin typeface="Times New Roman" panose="02020603050405020304" pitchFamily="18" charset="0"/>
                <a:cs typeface="Times New Roman" panose="02020603050405020304" pitchFamily="18" charset="0"/>
              </a:rPr>
              <a:t>clean and usable format </a:t>
            </a:r>
          </a:p>
          <a:p>
            <a:r>
              <a:rPr lang="en-US" dirty="0">
                <a:solidFill>
                  <a:schemeClr val="tx1"/>
                </a:solidFill>
                <a:latin typeface="Times New Roman" panose="02020603050405020304" pitchFamily="18" charset="0"/>
                <a:cs typeface="Times New Roman" panose="02020603050405020304" pitchFamily="18" charset="0"/>
              </a:rPr>
              <a:t>Process ensures that data is of </a:t>
            </a:r>
            <a:r>
              <a:rPr lang="en-US" b="1" dirty="0">
                <a:solidFill>
                  <a:srgbClr val="FF0000"/>
                </a:solidFill>
                <a:latin typeface="Times New Roman" panose="02020603050405020304" pitchFamily="18" charset="0"/>
                <a:cs typeface="Times New Roman" panose="02020603050405020304" pitchFamily="18" charset="0"/>
              </a:rPr>
              <a:t>high quality</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free from errors </a:t>
            </a:r>
            <a:r>
              <a:rPr lang="en-US" dirty="0">
                <a:solidFill>
                  <a:schemeClr val="tx1"/>
                </a:solidFill>
                <a:latin typeface="Times New Roman" panose="02020603050405020304" pitchFamily="18" charset="0"/>
                <a:cs typeface="Times New Roman" panose="02020603050405020304" pitchFamily="18" charset="0"/>
              </a:rPr>
              <a:t>and </a:t>
            </a:r>
            <a:r>
              <a:rPr lang="en-US" b="1" dirty="0">
                <a:solidFill>
                  <a:srgbClr val="FF0000"/>
                </a:solidFill>
                <a:latin typeface="Times New Roman" panose="02020603050405020304" pitchFamily="18" charset="0"/>
                <a:cs typeface="Times New Roman" panose="02020603050405020304" pitchFamily="18" charset="0"/>
              </a:rPr>
              <a:t>ready for analysis.</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5E38F1-F2F9-F732-7557-4972C521BD0D}"/>
              </a:ext>
            </a:extLst>
          </p:cNvPr>
          <p:cNvSpPr>
            <a:spLocks noGrp="1"/>
          </p:cNvSpPr>
          <p:nvPr>
            <p:ph type="dt" sz="half" idx="10"/>
          </p:nvPr>
        </p:nvSpPr>
        <p:spPr/>
        <p:txBody>
          <a:bodyPr/>
          <a:lstStyle/>
          <a:p>
            <a:fld id="{BF148B7E-4374-48BF-B185-8D2F92DF964F}" type="datetime1">
              <a:rPr lang="en-IN" smtClean="0"/>
              <a:t>09-09-2025</a:t>
            </a:fld>
            <a:endParaRPr lang="en-IN"/>
          </a:p>
        </p:txBody>
      </p:sp>
      <p:sp>
        <p:nvSpPr>
          <p:cNvPr id="5" name="Footer Placeholder 4">
            <a:extLst>
              <a:ext uri="{FF2B5EF4-FFF2-40B4-BE49-F238E27FC236}">
                <a16:creationId xmlns:a16="http://schemas.microsoft.com/office/drawing/2014/main" id="{E8161136-6DDA-BE5B-E91E-BFF3CA5AAEAE}"/>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6B910982-B486-619E-6C3A-C3E8247E5888}"/>
              </a:ext>
            </a:extLst>
          </p:cNvPr>
          <p:cNvSpPr>
            <a:spLocks noGrp="1"/>
          </p:cNvSpPr>
          <p:nvPr>
            <p:ph type="sldNum" sz="quarter" idx="12"/>
          </p:nvPr>
        </p:nvSpPr>
        <p:spPr/>
        <p:txBody>
          <a:bodyPr/>
          <a:lstStyle/>
          <a:p>
            <a:fld id="{F112A010-EC74-4D7C-9F05-19D71910E8F2}" type="slidenum">
              <a:rPr lang="en-IN" smtClean="0"/>
              <a:t>2</a:t>
            </a:fld>
            <a:endParaRPr lang="en-IN"/>
          </a:p>
        </p:txBody>
      </p:sp>
      <p:pic>
        <p:nvPicPr>
          <p:cNvPr id="1028" name="Picture 4">
            <a:extLst>
              <a:ext uri="{FF2B5EF4-FFF2-40B4-BE49-F238E27FC236}">
                <a16:creationId xmlns:a16="http://schemas.microsoft.com/office/drawing/2014/main" id="{CE714238-47E3-7B73-AD66-5572BFAF65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6146" y="2471570"/>
            <a:ext cx="5306226" cy="353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192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6D5CD-4CA7-9E87-E58A-CCF848A7C71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quality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CA3BD9-CCE4-BC0E-30BB-3144481D136B}"/>
              </a:ext>
            </a:extLst>
          </p:cNvPr>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Data quality refers to the condition of data and its fitness for particular purpose. High quality data is:</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Accurate: </a:t>
            </a:r>
            <a:r>
              <a:rPr lang="en-US" sz="2200" dirty="0">
                <a:solidFill>
                  <a:schemeClr val="tx1"/>
                </a:solidFill>
                <a:latin typeface="Times New Roman" panose="02020603050405020304" pitchFamily="18" charset="0"/>
                <a:cs typeface="Times New Roman" panose="02020603050405020304" pitchFamily="18" charset="0"/>
              </a:rPr>
              <a:t>Free from errors and inconsistencies</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Complete: </a:t>
            </a:r>
            <a:r>
              <a:rPr lang="en-US" sz="2200" dirty="0">
                <a:solidFill>
                  <a:schemeClr val="tx1"/>
                </a:solidFill>
                <a:latin typeface="Times New Roman" panose="02020603050405020304" pitchFamily="18" charset="0"/>
                <a:cs typeface="Times New Roman" panose="02020603050405020304" pitchFamily="18" charset="0"/>
              </a:rPr>
              <a:t>Contains all the necessary information without missing value</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Consistent: </a:t>
            </a:r>
            <a:r>
              <a:rPr lang="en-US" sz="2200" dirty="0">
                <a:solidFill>
                  <a:schemeClr val="tx1"/>
                </a:solidFill>
                <a:latin typeface="Times New Roman" panose="02020603050405020304" pitchFamily="18" charset="0"/>
                <a:cs typeface="Times New Roman" panose="02020603050405020304" pitchFamily="18" charset="0"/>
              </a:rPr>
              <a:t>Uniform across different database</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Timely: </a:t>
            </a:r>
            <a:r>
              <a:rPr lang="en-US" sz="2200" dirty="0">
                <a:solidFill>
                  <a:schemeClr val="tx1"/>
                </a:solidFill>
                <a:latin typeface="Times New Roman" panose="02020603050405020304" pitchFamily="18" charset="0"/>
                <a:cs typeface="Times New Roman" panose="02020603050405020304" pitchFamily="18" charset="0"/>
              </a:rPr>
              <a:t>Up-to-date and relevant to the current context</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Reliable: </a:t>
            </a:r>
            <a:r>
              <a:rPr lang="en-US" sz="2200" dirty="0">
                <a:solidFill>
                  <a:schemeClr val="tx1"/>
                </a:solidFill>
                <a:latin typeface="Times New Roman" panose="02020603050405020304" pitchFamily="18" charset="0"/>
                <a:cs typeface="Times New Roman" panose="02020603050405020304" pitchFamily="18" charset="0"/>
              </a:rPr>
              <a:t>Data can be trusted for analysis and decision making</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786650E-3581-9449-41CA-6C9513C7EC48}"/>
              </a:ext>
            </a:extLst>
          </p:cNvPr>
          <p:cNvSpPr>
            <a:spLocks noGrp="1"/>
          </p:cNvSpPr>
          <p:nvPr>
            <p:ph type="dt" sz="half" idx="10"/>
          </p:nvPr>
        </p:nvSpPr>
        <p:spPr/>
        <p:txBody>
          <a:bodyPr/>
          <a:lstStyle/>
          <a:p>
            <a:fld id="{B4E25E11-44F9-4EF1-810D-69CD5B7BB639}" type="datetime1">
              <a:rPr lang="en-IN" smtClean="0"/>
              <a:t>09-09-2025</a:t>
            </a:fld>
            <a:endParaRPr lang="en-IN"/>
          </a:p>
        </p:txBody>
      </p:sp>
      <p:sp>
        <p:nvSpPr>
          <p:cNvPr id="5" name="Footer Placeholder 4">
            <a:extLst>
              <a:ext uri="{FF2B5EF4-FFF2-40B4-BE49-F238E27FC236}">
                <a16:creationId xmlns:a16="http://schemas.microsoft.com/office/drawing/2014/main" id="{97DDDD10-E21B-C598-2266-B787513267FC}"/>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FECC52C0-F052-5B12-9740-176DA4FC2B5F}"/>
              </a:ext>
            </a:extLst>
          </p:cNvPr>
          <p:cNvSpPr>
            <a:spLocks noGrp="1"/>
          </p:cNvSpPr>
          <p:nvPr>
            <p:ph type="sldNum" sz="quarter" idx="12"/>
          </p:nvPr>
        </p:nvSpPr>
        <p:spPr/>
        <p:txBody>
          <a:bodyPr/>
          <a:lstStyle/>
          <a:p>
            <a:fld id="{F112A010-EC74-4D7C-9F05-19D71910E8F2}" type="slidenum">
              <a:rPr lang="en-IN" smtClean="0"/>
              <a:t>3</a:t>
            </a:fld>
            <a:endParaRPr lang="en-IN"/>
          </a:p>
        </p:txBody>
      </p:sp>
    </p:spTree>
    <p:extLst>
      <p:ext uri="{BB962C8B-B14F-4D97-AF65-F5344CB8AC3E}">
        <p14:creationId xmlns:p14="http://schemas.microsoft.com/office/powerpoint/2010/main" val="3883862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567E-4170-F274-B69D-A18A4F8990A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Why data preprocessing is required?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B585C7-0331-EA76-4EE9-41141A25843A}"/>
              </a:ext>
            </a:extLst>
          </p:cNvPr>
          <p:cNvSpPr>
            <a:spLocks noGrp="1"/>
          </p:cNvSpPr>
          <p:nvPr>
            <p:ph idx="1"/>
          </p:nvPr>
        </p:nvSpPr>
        <p:spPr>
          <a:xfrm>
            <a:off x="1482013" y="2556932"/>
            <a:ext cx="9601196" cy="3318936"/>
          </a:xfrm>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To ensure good quality of data so that data driven decisions doesn’t go wrong</a:t>
            </a:r>
          </a:p>
          <a:p>
            <a:r>
              <a:rPr lang="en-US" dirty="0">
                <a:solidFill>
                  <a:schemeClr val="tx1"/>
                </a:solidFill>
                <a:latin typeface="Times New Roman" panose="02020603050405020304" pitchFamily="18" charset="0"/>
                <a:cs typeface="Times New Roman" panose="02020603050405020304" pitchFamily="18" charset="0"/>
              </a:rPr>
              <a:t>Data quality is checked on following dimensions</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Accuracy: </a:t>
            </a:r>
            <a:r>
              <a:rPr lang="en-US" b="1" dirty="0">
                <a:solidFill>
                  <a:srgbClr val="FF0000"/>
                </a:solidFill>
                <a:latin typeface="Times New Roman" panose="02020603050405020304" pitchFamily="18" charset="0"/>
                <a:cs typeface="Times New Roman" panose="02020603050405020304" pitchFamily="18" charset="0"/>
              </a:rPr>
              <a:t>Correctness</a:t>
            </a:r>
            <a:r>
              <a:rPr lang="en-US" dirty="0">
                <a:solidFill>
                  <a:schemeClr val="tx1"/>
                </a:solidFill>
                <a:latin typeface="Times New Roman" panose="02020603050405020304" pitchFamily="18" charset="0"/>
                <a:cs typeface="Times New Roman" panose="02020603050405020304" pitchFamily="18" charset="0"/>
              </a:rPr>
              <a:t> of data</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Completeness: </a:t>
            </a:r>
            <a:r>
              <a:rPr lang="en-US" b="1" dirty="0">
                <a:solidFill>
                  <a:srgbClr val="FF0000"/>
                </a:solidFill>
                <a:latin typeface="Times New Roman" panose="02020603050405020304" pitchFamily="18" charset="0"/>
                <a:cs typeface="Times New Roman" panose="02020603050405020304" pitchFamily="18" charset="0"/>
              </a:rPr>
              <a:t>All</a:t>
            </a:r>
            <a:r>
              <a:rPr lang="en-US" dirty="0">
                <a:solidFill>
                  <a:schemeClr val="tx1"/>
                </a:solidFill>
                <a:latin typeface="Times New Roman" panose="02020603050405020304" pitchFamily="18" charset="0"/>
                <a:cs typeface="Times New Roman" panose="02020603050405020304" pitchFamily="18" charset="0"/>
              </a:rPr>
              <a:t> data is present. Incomplete data lead to gaps in analysis</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Consistency: </a:t>
            </a:r>
            <a:r>
              <a:rPr lang="en-US" b="1" dirty="0">
                <a:solidFill>
                  <a:srgbClr val="FF0000"/>
                </a:solidFill>
                <a:latin typeface="Times New Roman" panose="02020603050405020304" pitchFamily="18" charset="0"/>
                <a:cs typeface="Times New Roman" panose="02020603050405020304" pitchFamily="18" charset="0"/>
              </a:rPr>
              <a:t>Uniformity</a:t>
            </a:r>
            <a:r>
              <a:rPr lang="en-US" dirty="0">
                <a:solidFill>
                  <a:schemeClr val="tx1"/>
                </a:solidFill>
                <a:latin typeface="Times New Roman" panose="02020603050405020304" pitchFamily="18" charset="0"/>
                <a:cs typeface="Times New Roman" panose="02020603050405020304" pitchFamily="18" charset="0"/>
              </a:rPr>
              <a:t> of data across datasets</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Timeliness: Data is </a:t>
            </a:r>
            <a:r>
              <a:rPr lang="en-IN" b="1" dirty="0">
                <a:solidFill>
                  <a:srgbClr val="FF0000"/>
                </a:solidFill>
                <a:latin typeface="Times New Roman" panose="02020603050405020304" pitchFamily="18" charset="0"/>
                <a:cs typeface="Times New Roman" panose="02020603050405020304" pitchFamily="18" charset="0"/>
              </a:rPr>
              <a:t>timely updates</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Believability: How </a:t>
            </a:r>
            <a:r>
              <a:rPr lang="en-IN" b="1" dirty="0">
                <a:solidFill>
                  <a:srgbClr val="FF0000"/>
                </a:solidFill>
                <a:latin typeface="Times New Roman" panose="02020603050405020304" pitchFamily="18" charset="0"/>
                <a:cs typeface="Times New Roman" panose="02020603050405020304" pitchFamily="18" charset="0"/>
              </a:rPr>
              <a:t>trustworthy </a:t>
            </a:r>
            <a:r>
              <a:rPr lang="en-IN" dirty="0">
                <a:solidFill>
                  <a:schemeClr val="tx1"/>
                </a:solidFill>
                <a:latin typeface="Times New Roman" panose="02020603050405020304" pitchFamily="18" charset="0"/>
                <a:cs typeface="Times New Roman" panose="02020603050405020304" pitchFamily="18" charset="0"/>
              </a:rPr>
              <a:t>and </a:t>
            </a:r>
            <a:r>
              <a:rPr lang="en-IN" b="1" dirty="0">
                <a:solidFill>
                  <a:srgbClr val="FF0000"/>
                </a:solidFill>
                <a:latin typeface="Times New Roman" panose="02020603050405020304" pitchFamily="18" charset="0"/>
                <a:cs typeface="Times New Roman" panose="02020603050405020304" pitchFamily="18" charset="0"/>
              </a:rPr>
              <a:t>credible</a:t>
            </a:r>
            <a:r>
              <a:rPr lang="en-IN" dirty="0">
                <a:solidFill>
                  <a:schemeClr val="tx1"/>
                </a:solidFill>
                <a:latin typeface="Times New Roman" panose="02020603050405020304" pitchFamily="18" charset="0"/>
                <a:cs typeface="Times New Roman" panose="02020603050405020304" pitchFamily="18" charset="0"/>
              </a:rPr>
              <a:t> the data is perceived</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Interpretability: How </a:t>
            </a:r>
            <a:r>
              <a:rPr lang="en-IN" b="1" dirty="0">
                <a:solidFill>
                  <a:srgbClr val="FF0000"/>
                </a:solidFill>
                <a:latin typeface="Times New Roman" panose="02020603050405020304" pitchFamily="18" charset="0"/>
                <a:cs typeface="Times New Roman" panose="02020603050405020304" pitchFamily="18" charset="0"/>
              </a:rPr>
              <a:t>easily</a:t>
            </a:r>
            <a:r>
              <a:rPr lang="en-IN" dirty="0">
                <a:solidFill>
                  <a:schemeClr val="tx1"/>
                </a:solidFill>
                <a:latin typeface="Times New Roman" panose="02020603050405020304" pitchFamily="18" charset="0"/>
                <a:cs typeface="Times New Roman" panose="02020603050405020304" pitchFamily="18" charset="0"/>
              </a:rPr>
              <a:t> data can be </a:t>
            </a:r>
            <a:r>
              <a:rPr lang="en-IN" b="1" dirty="0">
                <a:solidFill>
                  <a:srgbClr val="FF0000"/>
                </a:solidFill>
                <a:latin typeface="Times New Roman" panose="02020603050405020304" pitchFamily="18" charset="0"/>
                <a:cs typeface="Times New Roman" panose="02020603050405020304" pitchFamily="18" charset="0"/>
              </a:rPr>
              <a:t>understood</a:t>
            </a:r>
          </a:p>
        </p:txBody>
      </p:sp>
      <p:sp>
        <p:nvSpPr>
          <p:cNvPr id="4" name="Date Placeholder 3">
            <a:extLst>
              <a:ext uri="{FF2B5EF4-FFF2-40B4-BE49-F238E27FC236}">
                <a16:creationId xmlns:a16="http://schemas.microsoft.com/office/drawing/2014/main" id="{B9E96087-4D52-BABB-59AE-85C0457B62A0}"/>
              </a:ext>
            </a:extLst>
          </p:cNvPr>
          <p:cNvSpPr>
            <a:spLocks noGrp="1"/>
          </p:cNvSpPr>
          <p:nvPr>
            <p:ph type="dt" sz="half" idx="10"/>
          </p:nvPr>
        </p:nvSpPr>
        <p:spPr/>
        <p:txBody>
          <a:bodyPr/>
          <a:lstStyle/>
          <a:p>
            <a:fld id="{0E711E25-F961-4E34-AEAF-B79B4C4476B4}" type="datetime1">
              <a:rPr lang="en-IN" smtClean="0"/>
              <a:t>09-09-2025</a:t>
            </a:fld>
            <a:endParaRPr lang="en-IN"/>
          </a:p>
        </p:txBody>
      </p:sp>
      <p:sp>
        <p:nvSpPr>
          <p:cNvPr id="5" name="Footer Placeholder 4">
            <a:extLst>
              <a:ext uri="{FF2B5EF4-FFF2-40B4-BE49-F238E27FC236}">
                <a16:creationId xmlns:a16="http://schemas.microsoft.com/office/drawing/2014/main" id="{402CF944-567C-974E-EA3F-8869CE6A7BD2}"/>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B210D56D-D327-74C9-8013-34214C563295}"/>
              </a:ext>
            </a:extLst>
          </p:cNvPr>
          <p:cNvSpPr>
            <a:spLocks noGrp="1"/>
          </p:cNvSpPr>
          <p:nvPr>
            <p:ph type="sldNum" sz="quarter" idx="12"/>
          </p:nvPr>
        </p:nvSpPr>
        <p:spPr/>
        <p:txBody>
          <a:bodyPr/>
          <a:lstStyle/>
          <a:p>
            <a:fld id="{F112A010-EC74-4D7C-9F05-19D71910E8F2}" type="slidenum">
              <a:rPr lang="en-IN" smtClean="0"/>
              <a:t>4</a:t>
            </a:fld>
            <a:endParaRPr lang="en-IN"/>
          </a:p>
        </p:txBody>
      </p:sp>
    </p:spTree>
    <p:extLst>
      <p:ext uri="{BB962C8B-B14F-4D97-AF65-F5344CB8AC3E}">
        <p14:creationId xmlns:p14="http://schemas.microsoft.com/office/powerpoint/2010/main" val="50791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875F-73D3-E9BD-B8D7-507139EEF37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Major tasks in data processing</a:t>
            </a:r>
            <a:endParaRPr lang="en-IN" b="1" dirty="0">
              <a:latin typeface="Times New Roman" panose="02020603050405020304" pitchFamily="18" charset="0"/>
              <a:cs typeface="Times New Roman" panose="02020603050405020304" pitchFamily="18" charset="0"/>
            </a:endParaRPr>
          </a:p>
        </p:txBody>
      </p:sp>
      <p:sp>
        <p:nvSpPr>
          <p:cNvPr id="10" name="AutoShape 10" descr="Data Preprocessing in Machine Learning - Python Geeks">
            <a:extLst>
              <a:ext uri="{FF2B5EF4-FFF2-40B4-BE49-F238E27FC236}">
                <a16:creationId xmlns:a16="http://schemas.microsoft.com/office/drawing/2014/main" id="{8039506B-FA27-6BB5-4AD2-245F6AE749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11599832-5774-5130-C984-8F1286CA4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9885" y="2420570"/>
            <a:ext cx="3977951" cy="3848668"/>
          </a:xfrm>
          <a:prstGeom prst="rect">
            <a:avLst/>
          </a:prstGeom>
        </p:spPr>
      </p:pic>
      <p:sp>
        <p:nvSpPr>
          <p:cNvPr id="13" name="Date Placeholder 12">
            <a:extLst>
              <a:ext uri="{FF2B5EF4-FFF2-40B4-BE49-F238E27FC236}">
                <a16:creationId xmlns:a16="http://schemas.microsoft.com/office/drawing/2014/main" id="{29B2DDE8-BAA0-832D-631E-8D69671DDA65}"/>
              </a:ext>
            </a:extLst>
          </p:cNvPr>
          <p:cNvSpPr>
            <a:spLocks noGrp="1"/>
          </p:cNvSpPr>
          <p:nvPr>
            <p:ph type="dt" sz="half" idx="10"/>
          </p:nvPr>
        </p:nvSpPr>
        <p:spPr/>
        <p:txBody>
          <a:bodyPr/>
          <a:lstStyle/>
          <a:p>
            <a:fld id="{7BFC9501-A0B2-4A3A-B902-1998504D14BC}" type="datetime1">
              <a:rPr lang="en-IN" smtClean="0"/>
              <a:t>09-09-2025</a:t>
            </a:fld>
            <a:endParaRPr lang="en-IN"/>
          </a:p>
        </p:txBody>
      </p:sp>
      <p:sp>
        <p:nvSpPr>
          <p:cNvPr id="14" name="Footer Placeholder 13">
            <a:extLst>
              <a:ext uri="{FF2B5EF4-FFF2-40B4-BE49-F238E27FC236}">
                <a16:creationId xmlns:a16="http://schemas.microsoft.com/office/drawing/2014/main" id="{8D5A5041-47F3-6D4E-AC1A-9C6CAF9ED4EC}"/>
              </a:ext>
            </a:extLst>
          </p:cNvPr>
          <p:cNvSpPr>
            <a:spLocks noGrp="1"/>
          </p:cNvSpPr>
          <p:nvPr>
            <p:ph type="ftr" sz="quarter" idx="11"/>
          </p:nvPr>
        </p:nvSpPr>
        <p:spPr/>
        <p:txBody>
          <a:bodyPr/>
          <a:lstStyle/>
          <a:p>
            <a:r>
              <a:rPr lang="en-IN"/>
              <a:t>Data analytics Session 3</a:t>
            </a:r>
          </a:p>
        </p:txBody>
      </p:sp>
      <p:sp>
        <p:nvSpPr>
          <p:cNvPr id="15" name="Slide Number Placeholder 14">
            <a:extLst>
              <a:ext uri="{FF2B5EF4-FFF2-40B4-BE49-F238E27FC236}">
                <a16:creationId xmlns:a16="http://schemas.microsoft.com/office/drawing/2014/main" id="{A9CEC590-6196-7C56-42B0-791FE9808430}"/>
              </a:ext>
            </a:extLst>
          </p:cNvPr>
          <p:cNvSpPr>
            <a:spLocks noGrp="1"/>
          </p:cNvSpPr>
          <p:nvPr>
            <p:ph type="sldNum" sz="quarter" idx="12"/>
          </p:nvPr>
        </p:nvSpPr>
        <p:spPr/>
        <p:txBody>
          <a:bodyPr/>
          <a:lstStyle/>
          <a:p>
            <a:fld id="{F112A010-EC74-4D7C-9F05-19D71910E8F2}" type="slidenum">
              <a:rPr lang="en-IN" smtClean="0"/>
              <a:t>5</a:t>
            </a:fld>
            <a:endParaRPr lang="en-IN"/>
          </a:p>
        </p:txBody>
      </p:sp>
    </p:spTree>
    <p:extLst>
      <p:ext uri="{BB962C8B-B14F-4D97-AF65-F5344CB8AC3E}">
        <p14:creationId xmlns:p14="http://schemas.microsoft.com/office/powerpoint/2010/main" val="96235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E602-5BA1-2101-63CA-E9AECFBBA07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cleaning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52C777-4D9B-3287-801B-F88D9D85785D}"/>
              </a:ext>
            </a:extLst>
          </p:cNvPr>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Process of detecting and correcting  errors</a:t>
            </a:r>
          </a:p>
          <a:p>
            <a:r>
              <a:rPr lang="en-US" dirty="0">
                <a:latin typeface="Times New Roman" panose="02020603050405020304" pitchFamily="18" charset="0"/>
                <a:cs typeface="Times New Roman" panose="02020603050405020304" pitchFamily="18" charset="0"/>
              </a:rPr>
              <a:t>Key steps include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Handling missing data: </a:t>
            </a:r>
            <a:r>
              <a:rPr lang="en-US" dirty="0">
                <a:latin typeface="Times New Roman" panose="02020603050405020304" pitchFamily="18" charset="0"/>
                <a:cs typeface="Times New Roman" panose="02020603050405020304" pitchFamily="18" charset="0"/>
              </a:rPr>
              <a:t>Filling in missing values with appropriate estimates, or removing records with too many fields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Removing duplicates: </a:t>
            </a:r>
            <a:r>
              <a:rPr lang="en-US" dirty="0">
                <a:latin typeface="Times New Roman" panose="02020603050405020304" pitchFamily="18" charset="0"/>
                <a:cs typeface="Times New Roman" panose="02020603050405020304" pitchFamily="18" charset="0"/>
              </a:rPr>
              <a:t>Identify and eliminate duplicate records that can skew the analysis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Correcting errors: </a:t>
            </a:r>
            <a:r>
              <a:rPr lang="en-US" dirty="0">
                <a:latin typeface="Times New Roman" panose="02020603050405020304" pitchFamily="18" charset="0"/>
                <a:cs typeface="Times New Roman" panose="02020603050405020304" pitchFamily="18" charset="0"/>
              </a:rPr>
              <a:t>fixing typographical errors, correcting mis formatted data</a:t>
            </a:r>
          </a:p>
          <a:p>
            <a:endParaRPr lang="en-US" dirty="0"/>
          </a:p>
          <a:p>
            <a:pPr marL="0" indent="0">
              <a:buNone/>
            </a:pPr>
            <a:endParaRPr lang="en-IN" dirty="0"/>
          </a:p>
        </p:txBody>
      </p:sp>
      <p:sp>
        <p:nvSpPr>
          <p:cNvPr id="4" name="Date Placeholder 3">
            <a:extLst>
              <a:ext uri="{FF2B5EF4-FFF2-40B4-BE49-F238E27FC236}">
                <a16:creationId xmlns:a16="http://schemas.microsoft.com/office/drawing/2014/main" id="{22BD9917-58F4-5B4E-A204-0CE7D10A5BBA}"/>
              </a:ext>
            </a:extLst>
          </p:cNvPr>
          <p:cNvSpPr>
            <a:spLocks noGrp="1"/>
          </p:cNvSpPr>
          <p:nvPr>
            <p:ph type="dt" sz="half" idx="10"/>
          </p:nvPr>
        </p:nvSpPr>
        <p:spPr/>
        <p:txBody>
          <a:bodyPr/>
          <a:lstStyle/>
          <a:p>
            <a:fld id="{3D35514E-13AD-45E4-A3E3-0B9A5C410A15}" type="datetime1">
              <a:rPr lang="en-IN" smtClean="0"/>
              <a:t>09-09-2025</a:t>
            </a:fld>
            <a:endParaRPr lang="en-IN"/>
          </a:p>
        </p:txBody>
      </p:sp>
      <p:sp>
        <p:nvSpPr>
          <p:cNvPr id="5" name="Footer Placeholder 4">
            <a:extLst>
              <a:ext uri="{FF2B5EF4-FFF2-40B4-BE49-F238E27FC236}">
                <a16:creationId xmlns:a16="http://schemas.microsoft.com/office/drawing/2014/main" id="{ABADD2B5-AE9C-1DF7-5E12-2B58B038FA88}"/>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20311D0A-77EE-8190-3688-5BA10FB09751}"/>
              </a:ext>
            </a:extLst>
          </p:cNvPr>
          <p:cNvSpPr>
            <a:spLocks noGrp="1"/>
          </p:cNvSpPr>
          <p:nvPr>
            <p:ph type="sldNum" sz="quarter" idx="12"/>
          </p:nvPr>
        </p:nvSpPr>
        <p:spPr/>
        <p:txBody>
          <a:bodyPr/>
          <a:lstStyle/>
          <a:p>
            <a:fld id="{F112A010-EC74-4D7C-9F05-19D71910E8F2}" type="slidenum">
              <a:rPr lang="en-IN" smtClean="0"/>
              <a:t>6</a:t>
            </a:fld>
            <a:endParaRPr lang="en-IN"/>
          </a:p>
        </p:txBody>
      </p:sp>
    </p:spTree>
    <p:extLst>
      <p:ext uri="{BB962C8B-B14F-4D97-AF65-F5344CB8AC3E}">
        <p14:creationId xmlns:p14="http://schemas.microsoft.com/office/powerpoint/2010/main" val="1770520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7D85-68DD-7418-BD91-47E1C9FE6607}"/>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Different ways of handling missing values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DB4FFD-596F-53EB-FD00-03E54A6872A2}"/>
              </a:ext>
            </a:extLst>
          </p:cNvPr>
          <p:cNvSpPr>
            <a:spLocks noGrp="1"/>
          </p:cNvSpPr>
          <p:nvPr>
            <p:ph idx="1"/>
          </p:nvPr>
        </p:nvSpPr>
        <p:spPr/>
        <p:txBody>
          <a:bodyPr>
            <a:normAutofit lnSpcReduction="10000"/>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Ignore the tuple: </a:t>
            </a:r>
            <a:r>
              <a:rPr lang="en-US" sz="2200" dirty="0">
                <a:latin typeface="Times New Roman" panose="02020603050405020304" pitchFamily="18" charset="0"/>
                <a:cs typeface="Times New Roman" panose="02020603050405020304" pitchFamily="18" charset="0"/>
              </a:rPr>
              <a:t>Works best when amount of data is small. Its is not good when </a:t>
            </a:r>
            <a:r>
              <a:rPr lang="en-IN" sz="2200" dirty="0">
                <a:solidFill>
                  <a:schemeClr val="tx1"/>
                </a:solidFill>
                <a:latin typeface="Times New Roman" panose="02020603050405020304" pitchFamily="18" charset="0"/>
                <a:cs typeface="Times New Roman" panose="02020603050405020304" pitchFamily="18" charset="0"/>
              </a:rPr>
              <a:t>different attributes (or columns) have varying percentages of missing values because you could lose too much important data.</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Fill missing values manually: </a:t>
            </a:r>
            <a:r>
              <a:rPr lang="en-IN" sz="2200" dirty="0">
                <a:solidFill>
                  <a:schemeClr val="tx1"/>
                </a:solidFill>
                <a:latin typeface="Times New Roman" panose="02020603050405020304" pitchFamily="18" charset="0"/>
                <a:cs typeface="Times New Roman" panose="02020603050405020304" pitchFamily="18" charset="0"/>
              </a:rPr>
              <a:t>This can be very tedious, especially if you have a large dataset.</a:t>
            </a:r>
          </a:p>
          <a:p>
            <a:pPr marL="457200" indent="-457200">
              <a:buFont typeface="+mj-lt"/>
              <a:buAutoNum type="arabicPeriod"/>
            </a:pPr>
            <a:r>
              <a:rPr lang="en-US" sz="2200" b="1" dirty="0">
                <a:latin typeface="Times New Roman" panose="02020603050405020304" pitchFamily="18" charset="0"/>
                <a:cs typeface="Times New Roman" panose="02020603050405020304" pitchFamily="18" charset="0"/>
              </a:rPr>
              <a:t>Fill missing values Automatically: </a:t>
            </a:r>
          </a:p>
          <a:p>
            <a:r>
              <a:rPr lang="en-US" sz="2200" dirty="0">
                <a:solidFill>
                  <a:schemeClr val="tx1"/>
                </a:solidFill>
                <a:latin typeface="Times New Roman" panose="02020603050405020304" pitchFamily="18" charset="0"/>
                <a:cs typeface="Times New Roman" panose="02020603050405020304" pitchFamily="18" charset="0"/>
              </a:rPr>
              <a:t>Using global constant</a:t>
            </a:r>
          </a:p>
          <a:p>
            <a:r>
              <a:rPr lang="en-US" sz="2200" dirty="0">
                <a:solidFill>
                  <a:schemeClr val="tx1"/>
                </a:solidFill>
                <a:latin typeface="Times New Roman" panose="02020603050405020304" pitchFamily="18" charset="0"/>
                <a:cs typeface="Times New Roman" panose="02020603050405020304" pitchFamily="18" charset="0"/>
              </a:rPr>
              <a:t>Using attribute mean</a:t>
            </a:r>
          </a:p>
          <a:p>
            <a:pPr marL="457200" indent="-457200">
              <a:buFont typeface="+mj-lt"/>
              <a:buAutoNum type="arabicPeriod"/>
            </a:pP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03C5016-DFB8-2FFC-8787-8ABE86E63CEA}"/>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A9ACDF1F-7EC8-FD4C-683B-46B32F8292D6}"/>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7ADB6474-0864-82F8-A59F-6413CB11C975}"/>
              </a:ext>
            </a:extLst>
          </p:cNvPr>
          <p:cNvSpPr>
            <a:spLocks noGrp="1"/>
          </p:cNvSpPr>
          <p:nvPr>
            <p:ph type="sldNum" sz="quarter" idx="12"/>
          </p:nvPr>
        </p:nvSpPr>
        <p:spPr/>
        <p:txBody>
          <a:bodyPr/>
          <a:lstStyle/>
          <a:p>
            <a:fld id="{F112A010-EC74-4D7C-9F05-19D71910E8F2}" type="slidenum">
              <a:rPr lang="en-IN" smtClean="0"/>
              <a:t>7</a:t>
            </a:fld>
            <a:endParaRPr lang="en-IN"/>
          </a:p>
        </p:txBody>
      </p:sp>
    </p:spTree>
    <p:extLst>
      <p:ext uri="{BB962C8B-B14F-4D97-AF65-F5344CB8AC3E}">
        <p14:creationId xmlns:p14="http://schemas.microsoft.com/office/powerpoint/2010/main" val="283389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1A2633-2DA8-63C4-8A1C-35FAAF4572AC}"/>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DA177344-B8CD-C115-43EE-321F9C13027C}"/>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87EC8F39-FB04-CE62-4941-7F6CB90AF1D1}"/>
              </a:ext>
            </a:extLst>
          </p:cNvPr>
          <p:cNvSpPr>
            <a:spLocks noGrp="1"/>
          </p:cNvSpPr>
          <p:nvPr>
            <p:ph type="sldNum" sz="quarter" idx="12"/>
          </p:nvPr>
        </p:nvSpPr>
        <p:spPr/>
        <p:txBody>
          <a:bodyPr/>
          <a:lstStyle/>
          <a:p>
            <a:fld id="{F112A010-EC74-4D7C-9F05-19D71910E8F2}" type="slidenum">
              <a:rPr lang="en-IN" smtClean="0"/>
              <a:t>8</a:t>
            </a:fld>
            <a:endParaRPr lang="en-IN"/>
          </a:p>
        </p:txBody>
      </p:sp>
      <p:pic>
        <p:nvPicPr>
          <p:cNvPr id="8" name="Picture 7">
            <a:extLst>
              <a:ext uri="{FF2B5EF4-FFF2-40B4-BE49-F238E27FC236}">
                <a16:creationId xmlns:a16="http://schemas.microsoft.com/office/drawing/2014/main" id="{5936B0F6-A417-9E12-D469-48A306415A37}"/>
              </a:ext>
            </a:extLst>
          </p:cNvPr>
          <p:cNvPicPr>
            <a:picLocks noChangeAspect="1"/>
          </p:cNvPicPr>
          <p:nvPr/>
        </p:nvPicPr>
        <p:blipFill>
          <a:blip r:embed="rId2"/>
          <a:stretch>
            <a:fillRect/>
          </a:stretch>
        </p:blipFill>
        <p:spPr>
          <a:xfrm>
            <a:off x="803868" y="1134125"/>
            <a:ext cx="7105283" cy="4834875"/>
          </a:xfrm>
          <a:prstGeom prst="rect">
            <a:avLst/>
          </a:prstGeom>
        </p:spPr>
      </p:pic>
      <p:pic>
        <p:nvPicPr>
          <p:cNvPr id="10" name="Picture 9">
            <a:extLst>
              <a:ext uri="{FF2B5EF4-FFF2-40B4-BE49-F238E27FC236}">
                <a16:creationId xmlns:a16="http://schemas.microsoft.com/office/drawing/2014/main" id="{E3FC6B4B-10B8-03D2-31F2-7F3280789134}"/>
              </a:ext>
            </a:extLst>
          </p:cNvPr>
          <p:cNvPicPr>
            <a:picLocks noChangeAspect="1"/>
          </p:cNvPicPr>
          <p:nvPr/>
        </p:nvPicPr>
        <p:blipFill>
          <a:blip r:embed="rId3"/>
          <a:stretch>
            <a:fillRect/>
          </a:stretch>
        </p:blipFill>
        <p:spPr>
          <a:xfrm>
            <a:off x="8091713" y="1985072"/>
            <a:ext cx="3195306" cy="2657265"/>
          </a:xfrm>
          <a:prstGeom prst="rect">
            <a:avLst/>
          </a:prstGeom>
        </p:spPr>
      </p:pic>
    </p:spTree>
    <p:extLst>
      <p:ext uri="{BB962C8B-B14F-4D97-AF65-F5344CB8AC3E}">
        <p14:creationId xmlns:p14="http://schemas.microsoft.com/office/powerpoint/2010/main" val="2357950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7E9B-EE28-AFC6-B766-FE7AA393F68E}"/>
              </a:ext>
            </a:extLst>
          </p:cNvPr>
          <p:cNvSpPr>
            <a:spLocks noGrp="1"/>
          </p:cNvSpPr>
          <p:nvPr>
            <p:ph type="title"/>
          </p:nvPr>
        </p:nvSpPr>
        <p:spPr>
          <a:xfrm>
            <a:off x="1295402" y="982132"/>
            <a:ext cx="4090514" cy="1288795"/>
          </a:xfrm>
        </p:spPr>
        <p:txBody>
          <a:bodyPr>
            <a:normAutofit/>
          </a:bodyPr>
          <a:lstStyle/>
          <a:p>
            <a:r>
              <a:rPr lang="en-US" sz="4000" b="1" dirty="0">
                <a:latin typeface="Times New Roman" panose="02020603050405020304" pitchFamily="18" charset="0"/>
                <a:cs typeface="Times New Roman" panose="02020603050405020304" pitchFamily="18" charset="0"/>
              </a:rPr>
              <a:t>Original data</a:t>
            </a:r>
            <a:endParaRPr lang="en-IN" sz="40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2FDD7C5-B62D-654E-90FB-38EDE599A0F0}"/>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3CF1C08B-AFB3-0ED4-2759-18E10B1817F5}"/>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D67AD7B9-2C5A-2E09-71DC-BE748A3616EF}"/>
              </a:ext>
            </a:extLst>
          </p:cNvPr>
          <p:cNvSpPr>
            <a:spLocks noGrp="1"/>
          </p:cNvSpPr>
          <p:nvPr>
            <p:ph type="sldNum" sz="quarter" idx="12"/>
          </p:nvPr>
        </p:nvSpPr>
        <p:spPr/>
        <p:txBody>
          <a:bodyPr/>
          <a:lstStyle/>
          <a:p>
            <a:fld id="{F112A010-EC74-4D7C-9F05-19D71910E8F2}" type="slidenum">
              <a:rPr lang="en-IN" smtClean="0"/>
              <a:t>9</a:t>
            </a:fld>
            <a:endParaRPr lang="en-IN"/>
          </a:p>
        </p:txBody>
      </p:sp>
      <p:pic>
        <p:nvPicPr>
          <p:cNvPr id="7" name="Content Placeholder 6">
            <a:extLst>
              <a:ext uri="{FF2B5EF4-FFF2-40B4-BE49-F238E27FC236}">
                <a16:creationId xmlns:a16="http://schemas.microsoft.com/office/drawing/2014/main" id="{099691E0-5458-F819-6992-1BF653915104}"/>
              </a:ext>
            </a:extLst>
          </p:cNvPr>
          <p:cNvPicPr>
            <a:picLocks noGrp="1" noChangeAspect="1"/>
          </p:cNvPicPr>
          <p:nvPr>
            <p:ph idx="1"/>
          </p:nvPr>
        </p:nvPicPr>
        <p:blipFill>
          <a:blip r:embed="rId2"/>
          <a:stretch>
            <a:fillRect/>
          </a:stretch>
        </p:blipFill>
        <p:spPr>
          <a:xfrm>
            <a:off x="1335866" y="2651125"/>
            <a:ext cx="4413742" cy="3076435"/>
          </a:xfrm>
          <a:prstGeom prst="rect">
            <a:avLst/>
          </a:prstGeom>
        </p:spPr>
      </p:pic>
      <p:sp>
        <p:nvSpPr>
          <p:cNvPr id="8" name="Title 1">
            <a:extLst>
              <a:ext uri="{FF2B5EF4-FFF2-40B4-BE49-F238E27FC236}">
                <a16:creationId xmlns:a16="http://schemas.microsoft.com/office/drawing/2014/main" id="{036D884A-35FF-8DC9-C2B9-F57DD5194DBD}"/>
              </a:ext>
            </a:extLst>
          </p:cNvPr>
          <p:cNvSpPr txBox="1">
            <a:spLocks/>
          </p:cNvSpPr>
          <p:nvPr/>
        </p:nvSpPr>
        <p:spPr>
          <a:xfrm>
            <a:off x="6187187" y="982131"/>
            <a:ext cx="4090514" cy="1288795"/>
          </a:xfrm>
          <a:prstGeom prst="rect">
            <a:avLst/>
          </a:prstGeom>
          <a:effectLst/>
        </p:spPr>
        <p:txBody>
          <a:bodyPr vert="horz" lIns="91440" tIns="45720" rIns="91440" bIns="45720" rtlCol="0" anchor="ctr">
            <a:normAutofit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a:latin typeface="Times New Roman" panose="02020603050405020304" pitchFamily="18" charset="0"/>
                <a:cs typeface="Times New Roman" panose="02020603050405020304" pitchFamily="18" charset="0"/>
              </a:rPr>
              <a:t> data after ignoring tuple</a:t>
            </a:r>
            <a:endParaRPr lang="en-IN" sz="4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07E5167-A03A-0AB7-EC82-D7BCE4F424D2}"/>
              </a:ext>
            </a:extLst>
          </p:cNvPr>
          <p:cNvPicPr>
            <a:picLocks noChangeAspect="1"/>
          </p:cNvPicPr>
          <p:nvPr/>
        </p:nvPicPr>
        <p:blipFill>
          <a:blip r:embed="rId3"/>
          <a:stretch>
            <a:fillRect/>
          </a:stretch>
        </p:blipFill>
        <p:spPr>
          <a:xfrm>
            <a:off x="6187187" y="2801242"/>
            <a:ext cx="5256607" cy="3047038"/>
          </a:xfrm>
          <a:prstGeom prst="rect">
            <a:avLst/>
          </a:prstGeom>
        </p:spPr>
      </p:pic>
    </p:spTree>
    <p:extLst>
      <p:ext uri="{BB962C8B-B14F-4D97-AF65-F5344CB8AC3E}">
        <p14:creationId xmlns:p14="http://schemas.microsoft.com/office/powerpoint/2010/main" val="2463485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6F7C-04DB-CF12-2550-5265878165C7}"/>
              </a:ext>
            </a:extLst>
          </p:cNvPr>
          <p:cNvSpPr>
            <a:spLocks noGrp="1"/>
          </p:cNvSpPr>
          <p:nvPr>
            <p:ph type="title"/>
          </p:nvPr>
        </p:nvSpPr>
        <p:spPr>
          <a:xfrm>
            <a:off x="1295401" y="1283582"/>
            <a:ext cx="3537855" cy="927055"/>
          </a:xfrm>
        </p:spPr>
        <p:txBody>
          <a:bodyPr>
            <a:normAutofit/>
          </a:bodyPr>
          <a:lstStyle/>
          <a:p>
            <a:r>
              <a:rPr lang="en-US" sz="3200" b="1" dirty="0">
                <a:latin typeface="Times New Roman" panose="02020603050405020304" pitchFamily="18" charset="0"/>
                <a:cs typeface="Times New Roman" panose="02020603050405020304" pitchFamily="18" charset="0"/>
              </a:rPr>
              <a:t>Original data</a:t>
            </a:r>
            <a:endParaRPr lang="en-IN" sz="3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33CA8E9-6981-94F8-CFD4-751EF3C38379}"/>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C87CA91B-6C79-28DB-24AC-88597FD02CE7}"/>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E0093CF3-7E3F-03D4-B551-08C4E25643C1}"/>
              </a:ext>
            </a:extLst>
          </p:cNvPr>
          <p:cNvSpPr>
            <a:spLocks noGrp="1"/>
          </p:cNvSpPr>
          <p:nvPr>
            <p:ph type="sldNum" sz="quarter" idx="12"/>
          </p:nvPr>
        </p:nvSpPr>
        <p:spPr/>
        <p:txBody>
          <a:bodyPr/>
          <a:lstStyle/>
          <a:p>
            <a:fld id="{F112A010-EC74-4D7C-9F05-19D71910E8F2}" type="slidenum">
              <a:rPr lang="en-IN" smtClean="0"/>
              <a:t>10</a:t>
            </a:fld>
            <a:endParaRPr lang="en-IN"/>
          </a:p>
        </p:txBody>
      </p:sp>
      <p:pic>
        <p:nvPicPr>
          <p:cNvPr id="7" name="Content Placeholder 6">
            <a:extLst>
              <a:ext uri="{FF2B5EF4-FFF2-40B4-BE49-F238E27FC236}">
                <a16:creationId xmlns:a16="http://schemas.microsoft.com/office/drawing/2014/main" id="{6AD73350-DAA9-2DC1-06F1-52E35ED238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03771" y="2862792"/>
            <a:ext cx="4774181" cy="3013076"/>
          </a:xfrm>
          <a:prstGeom prst="rect">
            <a:avLst/>
          </a:prstGeom>
          <a:noFill/>
          <a:ln>
            <a:noFill/>
          </a:ln>
        </p:spPr>
      </p:pic>
      <p:pic>
        <p:nvPicPr>
          <p:cNvPr id="8" name="Content Placeholder 6">
            <a:extLst>
              <a:ext uri="{FF2B5EF4-FFF2-40B4-BE49-F238E27FC236}">
                <a16:creationId xmlns:a16="http://schemas.microsoft.com/office/drawing/2014/main" id="{D4961981-A930-6388-C463-AD03CC2E96B7}"/>
              </a:ext>
            </a:extLst>
          </p:cNvPr>
          <p:cNvPicPr>
            <a:picLocks noChangeAspect="1"/>
          </p:cNvPicPr>
          <p:nvPr/>
        </p:nvPicPr>
        <p:blipFill>
          <a:blip r:embed="rId3"/>
          <a:stretch>
            <a:fillRect/>
          </a:stretch>
        </p:blipFill>
        <p:spPr>
          <a:xfrm>
            <a:off x="1374488" y="2892565"/>
            <a:ext cx="4413742" cy="3076435"/>
          </a:xfrm>
          <a:prstGeom prst="rect">
            <a:avLst/>
          </a:prstGeom>
        </p:spPr>
      </p:pic>
      <p:sp>
        <p:nvSpPr>
          <p:cNvPr id="9" name="Title 1">
            <a:extLst>
              <a:ext uri="{FF2B5EF4-FFF2-40B4-BE49-F238E27FC236}">
                <a16:creationId xmlns:a16="http://schemas.microsoft.com/office/drawing/2014/main" id="{71098281-B96A-2697-909D-54D37B07AEC0}"/>
              </a:ext>
            </a:extLst>
          </p:cNvPr>
          <p:cNvSpPr txBox="1">
            <a:spLocks/>
          </p:cNvSpPr>
          <p:nvPr/>
        </p:nvSpPr>
        <p:spPr>
          <a:xfrm>
            <a:off x="6096000" y="861047"/>
            <a:ext cx="4977284" cy="1651041"/>
          </a:xfrm>
          <a:prstGeom prst="rect">
            <a:avLst/>
          </a:prstGeom>
          <a:effectLst/>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latin typeface="Times New Roman" panose="02020603050405020304" pitchFamily="18" charset="0"/>
                <a:cs typeface="Times New Roman" panose="02020603050405020304" pitchFamily="18" charset="0"/>
              </a:rPr>
              <a:t>Fill the missing value manually (here check Age column for Bob and Eva)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661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11A04E-95D5-D514-6624-B51152C2A05B}"/>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F960F4E2-C2E1-FBD8-E345-F6561AA03A95}"/>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2F44AD6C-1E93-B45A-30F8-3A6E1CD3DCE5}"/>
              </a:ext>
            </a:extLst>
          </p:cNvPr>
          <p:cNvSpPr>
            <a:spLocks noGrp="1"/>
          </p:cNvSpPr>
          <p:nvPr>
            <p:ph type="sldNum" sz="quarter" idx="12"/>
          </p:nvPr>
        </p:nvSpPr>
        <p:spPr/>
        <p:txBody>
          <a:bodyPr/>
          <a:lstStyle/>
          <a:p>
            <a:fld id="{F112A010-EC74-4D7C-9F05-19D71910E8F2}" type="slidenum">
              <a:rPr lang="en-IN" smtClean="0"/>
              <a:t>11</a:t>
            </a:fld>
            <a:endParaRPr lang="en-IN"/>
          </a:p>
        </p:txBody>
      </p:sp>
      <p:sp>
        <p:nvSpPr>
          <p:cNvPr id="7" name="Title 1">
            <a:extLst>
              <a:ext uri="{FF2B5EF4-FFF2-40B4-BE49-F238E27FC236}">
                <a16:creationId xmlns:a16="http://schemas.microsoft.com/office/drawing/2014/main" id="{D89A59E1-00AE-3DE1-81A4-4F3466C4263C}"/>
              </a:ext>
            </a:extLst>
          </p:cNvPr>
          <p:cNvSpPr>
            <a:spLocks noGrp="1"/>
          </p:cNvSpPr>
          <p:nvPr>
            <p:ph type="title"/>
          </p:nvPr>
        </p:nvSpPr>
        <p:spPr>
          <a:xfrm>
            <a:off x="1506417" y="1062518"/>
            <a:ext cx="3537855" cy="927055"/>
          </a:xfrm>
        </p:spPr>
        <p:txBody>
          <a:bodyPr>
            <a:normAutofit/>
          </a:bodyPr>
          <a:lstStyle/>
          <a:p>
            <a:r>
              <a:rPr lang="en-US" sz="3200" b="1" dirty="0">
                <a:latin typeface="Times New Roman" panose="02020603050405020304" pitchFamily="18" charset="0"/>
                <a:cs typeface="Times New Roman" panose="02020603050405020304" pitchFamily="18" charset="0"/>
              </a:rPr>
              <a:t>Original data</a:t>
            </a:r>
            <a:endParaRPr lang="en-IN" sz="3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55CB591-4154-E1E1-2726-061B91B6A3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58758"/>
            <a:ext cx="5314910" cy="3018562"/>
          </a:xfrm>
          <a:prstGeom prst="rect">
            <a:avLst/>
          </a:prstGeom>
          <a:noFill/>
          <a:ln>
            <a:noFill/>
          </a:ln>
        </p:spPr>
      </p:pic>
      <p:pic>
        <p:nvPicPr>
          <p:cNvPr id="9" name="Content Placeholder 6">
            <a:extLst>
              <a:ext uri="{FF2B5EF4-FFF2-40B4-BE49-F238E27FC236}">
                <a16:creationId xmlns:a16="http://schemas.microsoft.com/office/drawing/2014/main" id="{E698FD5D-6762-BD9D-143F-F24BD3644EDF}"/>
              </a:ext>
            </a:extLst>
          </p:cNvPr>
          <p:cNvPicPr>
            <a:picLocks noChangeAspect="1"/>
          </p:cNvPicPr>
          <p:nvPr/>
        </p:nvPicPr>
        <p:blipFill>
          <a:blip r:embed="rId3"/>
          <a:stretch>
            <a:fillRect/>
          </a:stretch>
        </p:blipFill>
        <p:spPr>
          <a:xfrm>
            <a:off x="927795" y="2518080"/>
            <a:ext cx="4837617" cy="3371881"/>
          </a:xfrm>
          <a:prstGeom prst="rect">
            <a:avLst/>
          </a:prstGeom>
        </p:spPr>
      </p:pic>
      <p:sp>
        <p:nvSpPr>
          <p:cNvPr id="10" name="Title 1">
            <a:extLst>
              <a:ext uri="{FF2B5EF4-FFF2-40B4-BE49-F238E27FC236}">
                <a16:creationId xmlns:a16="http://schemas.microsoft.com/office/drawing/2014/main" id="{9A88D193-105E-4A61-22FB-DE71E8477F59}"/>
              </a:ext>
            </a:extLst>
          </p:cNvPr>
          <p:cNvSpPr txBox="1">
            <a:spLocks/>
          </p:cNvSpPr>
          <p:nvPr/>
        </p:nvSpPr>
        <p:spPr>
          <a:xfrm>
            <a:off x="5315578" y="763675"/>
            <a:ext cx="5948627" cy="1754405"/>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Fill Missing values Automatically</a:t>
            </a:r>
            <a:endParaRPr lang="en-IN"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Global constants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207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5A1D616-81FC-B6A8-1F18-DE469D4A9025}"/>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B00CF71E-215A-4849-2572-651A826A7D16}"/>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86BC0EB3-63CD-1882-F866-A0E576B4920A}"/>
              </a:ext>
            </a:extLst>
          </p:cNvPr>
          <p:cNvSpPr>
            <a:spLocks noGrp="1"/>
          </p:cNvSpPr>
          <p:nvPr>
            <p:ph type="sldNum" sz="quarter" idx="12"/>
          </p:nvPr>
        </p:nvSpPr>
        <p:spPr/>
        <p:txBody>
          <a:bodyPr/>
          <a:lstStyle/>
          <a:p>
            <a:fld id="{F112A010-EC74-4D7C-9F05-19D71910E8F2}" type="slidenum">
              <a:rPr lang="en-IN" smtClean="0"/>
              <a:t>12</a:t>
            </a:fld>
            <a:endParaRPr lang="en-IN"/>
          </a:p>
        </p:txBody>
      </p:sp>
      <p:sp>
        <p:nvSpPr>
          <p:cNvPr id="7" name="Title 1">
            <a:extLst>
              <a:ext uri="{FF2B5EF4-FFF2-40B4-BE49-F238E27FC236}">
                <a16:creationId xmlns:a16="http://schemas.microsoft.com/office/drawing/2014/main" id="{AF2D2F28-AFA4-9923-7C12-89D0DF7BE25A}"/>
              </a:ext>
            </a:extLst>
          </p:cNvPr>
          <p:cNvSpPr>
            <a:spLocks noGrp="1"/>
          </p:cNvSpPr>
          <p:nvPr>
            <p:ph type="title"/>
          </p:nvPr>
        </p:nvSpPr>
        <p:spPr>
          <a:xfrm>
            <a:off x="1124580" y="1062518"/>
            <a:ext cx="3899596" cy="1195123"/>
          </a:xfrm>
        </p:spPr>
        <p:txBody>
          <a:bodyPr>
            <a:normAutofit/>
          </a:bodyPr>
          <a:lstStyle/>
          <a:p>
            <a:r>
              <a:rPr lang="en-US" sz="3200" b="1" dirty="0">
                <a:latin typeface="Times New Roman" panose="02020603050405020304" pitchFamily="18" charset="0"/>
                <a:cs typeface="Times New Roman" panose="02020603050405020304" pitchFamily="18" charset="0"/>
              </a:rPr>
              <a:t>Original data</a:t>
            </a:r>
            <a:endParaRPr lang="en-IN" sz="3200" b="1" dirty="0">
              <a:latin typeface="Times New Roman" panose="02020603050405020304" pitchFamily="18" charset="0"/>
              <a:cs typeface="Times New Roman" panose="02020603050405020304" pitchFamily="18" charset="0"/>
            </a:endParaRPr>
          </a:p>
        </p:txBody>
      </p:sp>
      <p:pic>
        <p:nvPicPr>
          <p:cNvPr id="8" name="Content Placeholder 6">
            <a:extLst>
              <a:ext uri="{FF2B5EF4-FFF2-40B4-BE49-F238E27FC236}">
                <a16:creationId xmlns:a16="http://schemas.microsoft.com/office/drawing/2014/main" id="{01BFEC8B-31C0-FEFF-DC8F-BFE7B98B1701}"/>
              </a:ext>
            </a:extLst>
          </p:cNvPr>
          <p:cNvPicPr>
            <a:picLocks noChangeAspect="1"/>
          </p:cNvPicPr>
          <p:nvPr/>
        </p:nvPicPr>
        <p:blipFill>
          <a:blip r:embed="rId3"/>
          <a:stretch>
            <a:fillRect/>
          </a:stretch>
        </p:blipFill>
        <p:spPr>
          <a:xfrm>
            <a:off x="904349" y="2443697"/>
            <a:ext cx="5191651" cy="3618647"/>
          </a:xfrm>
          <a:prstGeom prst="rect">
            <a:avLst/>
          </a:prstGeom>
        </p:spPr>
      </p:pic>
      <p:sp>
        <p:nvSpPr>
          <p:cNvPr id="9" name="Title 1">
            <a:extLst>
              <a:ext uri="{FF2B5EF4-FFF2-40B4-BE49-F238E27FC236}">
                <a16:creationId xmlns:a16="http://schemas.microsoft.com/office/drawing/2014/main" id="{170F8702-9EDC-70C8-9206-AE15C020969A}"/>
              </a:ext>
            </a:extLst>
          </p:cNvPr>
          <p:cNvSpPr txBox="1">
            <a:spLocks/>
          </p:cNvSpPr>
          <p:nvPr/>
        </p:nvSpPr>
        <p:spPr>
          <a:xfrm>
            <a:off x="6454305" y="903419"/>
            <a:ext cx="3899596" cy="1195123"/>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Fill the missing value with attribute mean</a:t>
            </a:r>
            <a:endParaRPr lang="en-IN" sz="32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12767AF-4496-5AAA-5DD7-630D74890009}"/>
              </a:ext>
            </a:extLst>
          </p:cNvPr>
          <p:cNvPicPr>
            <a:picLocks noChangeAspect="1"/>
          </p:cNvPicPr>
          <p:nvPr/>
        </p:nvPicPr>
        <p:blipFill>
          <a:blip r:embed="rId4"/>
          <a:stretch>
            <a:fillRect/>
          </a:stretch>
        </p:blipFill>
        <p:spPr>
          <a:xfrm>
            <a:off x="6096000" y="2695824"/>
            <a:ext cx="5482250" cy="3180148"/>
          </a:xfrm>
          <a:prstGeom prst="rect">
            <a:avLst/>
          </a:prstGeom>
        </p:spPr>
      </p:pic>
    </p:spTree>
    <p:extLst>
      <p:ext uri="{BB962C8B-B14F-4D97-AF65-F5344CB8AC3E}">
        <p14:creationId xmlns:p14="http://schemas.microsoft.com/office/powerpoint/2010/main" val="2377349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3968-F30D-2DE0-2181-4F2943F162B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Different ways of handling missing values</a:t>
            </a:r>
            <a:endParaRPr lang="en-IN" dirty="0"/>
          </a:p>
        </p:txBody>
      </p:sp>
      <p:sp>
        <p:nvSpPr>
          <p:cNvPr id="3" name="Content Placeholder 2">
            <a:extLst>
              <a:ext uri="{FF2B5EF4-FFF2-40B4-BE49-F238E27FC236}">
                <a16:creationId xmlns:a16="http://schemas.microsoft.com/office/drawing/2014/main" id="{537FEC2E-EB39-DD2F-08C6-62C0345EDF8B}"/>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Use attribute mean for the same class: </a:t>
            </a:r>
            <a:r>
              <a:rPr lang="en-IN" sz="2200" dirty="0">
                <a:solidFill>
                  <a:schemeClr val="tx1"/>
                </a:solidFill>
                <a:latin typeface="Times New Roman" panose="02020603050405020304" pitchFamily="18" charset="0"/>
                <a:cs typeface="Times New Roman" panose="02020603050405020304" pitchFamily="18" charset="0"/>
              </a:rPr>
              <a:t>Instead of using the average value for the entire dataset, you use the average value only for the data points that belong to the same class (category) as the missing one.</a:t>
            </a:r>
          </a:p>
          <a:p>
            <a:r>
              <a:rPr lang="en-IN" sz="2200" b="1" dirty="0">
                <a:solidFill>
                  <a:schemeClr val="tx1"/>
                </a:solidFill>
                <a:latin typeface="Times New Roman" panose="02020603050405020304" pitchFamily="18" charset="0"/>
                <a:cs typeface="Times New Roman" panose="02020603050405020304" pitchFamily="18" charset="0"/>
              </a:rPr>
              <a:t>Use Most probable value: </a:t>
            </a:r>
            <a:r>
              <a:rPr lang="en-IN" sz="2200" dirty="0">
                <a:solidFill>
                  <a:schemeClr val="tx1"/>
                </a:solidFill>
                <a:latin typeface="Times New Roman" panose="02020603050405020304" pitchFamily="18" charset="0"/>
                <a:cs typeface="Times New Roman" panose="02020603050405020304" pitchFamily="18" charset="0"/>
              </a:rPr>
              <a:t>Here, you predict the missing value based on other information in the dataset. Techniques like the Bayesian formula or decision trees can be used to infer the most likely value.</a:t>
            </a:r>
          </a:p>
          <a:p>
            <a:endParaRPr lang="en-IN" sz="2200"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74BFCDD-CEBE-12DD-2FE8-44DB8F795582}"/>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282A9E28-58B5-324C-0602-EDE2986616C4}"/>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162F500B-7CE4-CA99-386D-55AF3BFAFAD6}"/>
              </a:ext>
            </a:extLst>
          </p:cNvPr>
          <p:cNvSpPr>
            <a:spLocks noGrp="1"/>
          </p:cNvSpPr>
          <p:nvPr>
            <p:ph type="sldNum" sz="quarter" idx="12"/>
          </p:nvPr>
        </p:nvSpPr>
        <p:spPr/>
        <p:txBody>
          <a:bodyPr/>
          <a:lstStyle/>
          <a:p>
            <a:fld id="{F112A010-EC74-4D7C-9F05-19D71910E8F2}" type="slidenum">
              <a:rPr lang="en-IN" smtClean="0"/>
              <a:t>13</a:t>
            </a:fld>
            <a:endParaRPr lang="en-IN"/>
          </a:p>
        </p:txBody>
      </p:sp>
    </p:spTree>
    <p:extLst>
      <p:ext uri="{BB962C8B-B14F-4D97-AF65-F5344CB8AC3E}">
        <p14:creationId xmlns:p14="http://schemas.microsoft.com/office/powerpoint/2010/main" val="193314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231819-C3C2-9B98-DD43-F5309F24199A}"/>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DCE97FE2-E060-F971-0671-ED8817491DA9}"/>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F61E318A-D362-30D5-DBA3-714FF6C23B2D}"/>
              </a:ext>
            </a:extLst>
          </p:cNvPr>
          <p:cNvSpPr>
            <a:spLocks noGrp="1"/>
          </p:cNvSpPr>
          <p:nvPr>
            <p:ph type="sldNum" sz="quarter" idx="12"/>
          </p:nvPr>
        </p:nvSpPr>
        <p:spPr/>
        <p:txBody>
          <a:bodyPr/>
          <a:lstStyle/>
          <a:p>
            <a:fld id="{F112A010-EC74-4D7C-9F05-19D71910E8F2}" type="slidenum">
              <a:rPr lang="en-IN" smtClean="0"/>
              <a:t>14</a:t>
            </a:fld>
            <a:endParaRPr lang="en-IN"/>
          </a:p>
        </p:txBody>
      </p:sp>
      <p:sp>
        <p:nvSpPr>
          <p:cNvPr id="7" name="Title 1">
            <a:extLst>
              <a:ext uri="{FF2B5EF4-FFF2-40B4-BE49-F238E27FC236}">
                <a16:creationId xmlns:a16="http://schemas.microsoft.com/office/drawing/2014/main" id="{95ECE413-B6AF-A630-445F-820F1CC1EB5B}"/>
              </a:ext>
            </a:extLst>
          </p:cNvPr>
          <p:cNvSpPr>
            <a:spLocks noGrp="1"/>
          </p:cNvSpPr>
          <p:nvPr>
            <p:ph type="title"/>
          </p:nvPr>
        </p:nvSpPr>
        <p:spPr>
          <a:xfrm>
            <a:off x="1204967" y="781164"/>
            <a:ext cx="3899596" cy="1195123"/>
          </a:xfrm>
        </p:spPr>
        <p:txBody>
          <a:bodyPr>
            <a:normAutofit/>
          </a:bodyPr>
          <a:lstStyle/>
          <a:p>
            <a:r>
              <a:rPr lang="en-US" sz="3200" b="1" dirty="0">
                <a:latin typeface="Times New Roman" panose="02020603050405020304" pitchFamily="18" charset="0"/>
                <a:cs typeface="Times New Roman" panose="02020603050405020304" pitchFamily="18" charset="0"/>
              </a:rPr>
              <a:t>Original data</a:t>
            </a:r>
            <a:endParaRPr lang="en-IN" sz="3200" b="1" dirty="0">
              <a:latin typeface="Times New Roman" panose="02020603050405020304" pitchFamily="18" charset="0"/>
              <a:cs typeface="Times New Roman" panose="02020603050405020304" pitchFamily="18" charset="0"/>
            </a:endParaRPr>
          </a:p>
        </p:txBody>
      </p:sp>
      <p:pic>
        <p:nvPicPr>
          <p:cNvPr id="8" name="Content Placeholder 6">
            <a:extLst>
              <a:ext uri="{FF2B5EF4-FFF2-40B4-BE49-F238E27FC236}">
                <a16:creationId xmlns:a16="http://schemas.microsoft.com/office/drawing/2014/main" id="{2175710E-362B-E5B6-D06C-02F0BE68441B}"/>
              </a:ext>
            </a:extLst>
          </p:cNvPr>
          <p:cNvPicPr>
            <a:picLocks noChangeAspect="1"/>
          </p:cNvPicPr>
          <p:nvPr/>
        </p:nvPicPr>
        <p:blipFill>
          <a:blip r:embed="rId3"/>
          <a:stretch>
            <a:fillRect/>
          </a:stretch>
        </p:blipFill>
        <p:spPr>
          <a:xfrm>
            <a:off x="918674" y="2458189"/>
            <a:ext cx="5191651" cy="3618647"/>
          </a:xfrm>
          <a:prstGeom prst="rect">
            <a:avLst/>
          </a:prstGeom>
        </p:spPr>
      </p:pic>
      <p:sp>
        <p:nvSpPr>
          <p:cNvPr id="9" name="Title 1">
            <a:extLst>
              <a:ext uri="{FF2B5EF4-FFF2-40B4-BE49-F238E27FC236}">
                <a16:creationId xmlns:a16="http://schemas.microsoft.com/office/drawing/2014/main" id="{FAFA1584-8210-567E-D6C5-BB7FE4965DC5}"/>
              </a:ext>
            </a:extLst>
          </p:cNvPr>
          <p:cNvSpPr txBox="1">
            <a:spLocks/>
          </p:cNvSpPr>
          <p:nvPr/>
        </p:nvSpPr>
        <p:spPr>
          <a:xfrm>
            <a:off x="6641960" y="933564"/>
            <a:ext cx="4345073" cy="1277073"/>
          </a:xfrm>
          <a:prstGeom prst="rect">
            <a:avLst/>
          </a:prstGeom>
          <a:effectLst/>
        </p:spPr>
        <p:txBody>
          <a:bodyPr vert="horz" lIns="91440" tIns="45720" rIns="91440" bIns="45720" rtlCol="0" anchor="ctr">
            <a:normAutofit fontScale="925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Fill with Attribute Mean for the Same Class</a:t>
            </a:r>
            <a:endParaRPr lang="en-IN" sz="32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C4AF89F-4748-FA62-6172-16FE4CD46FB0}"/>
              </a:ext>
            </a:extLst>
          </p:cNvPr>
          <p:cNvPicPr>
            <a:picLocks noChangeAspect="1"/>
          </p:cNvPicPr>
          <p:nvPr/>
        </p:nvPicPr>
        <p:blipFill>
          <a:blip r:embed="rId4"/>
          <a:stretch>
            <a:fillRect/>
          </a:stretch>
        </p:blipFill>
        <p:spPr>
          <a:xfrm>
            <a:off x="6094657" y="2458189"/>
            <a:ext cx="5439677" cy="3466247"/>
          </a:xfrm>
          <a:prstGeom prst="rect">
            <a:avLst/>
          </a:prstGeom>
        </p:spPr>
      </p:pic>
    </p:spTree>
    <p:extLst>
      <p:ext uri="{BB962C8B-B14F-4D97-AF65-F5344CB8AC3E}">
        <p14:creationId xmlns:p14="http://schemas.microsoft.com/office/powerpoint/2010/main" val="1014037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6CCC9A-8046-6F87-2547-F4D2557E5181}"/>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F2CE6610-2D54-24D4-745F-90658EE2FFDB}"/>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6A5BDA4A-B146-4281-1692-767DF4E259CA}"/>
              </a:ext>
            </a:extLst>
          </p:cNvPr>
          <p:cNvSpPr>
            <a:spLocks noGrp="1"/>
          </p:cNvSpPr>
          <p:nvPr>
            <p:ph type="sldNum" sz="quarter" idx="12"/>
          </p:nvPr>
        </p:nvSpPr>
        <p:spPr/>
        <p:txBody>
          <a:bodyPr/>
          <a:lstStyle/>
          <a:p>
            <a:fld id="{F112A010-EC74-4D7C-9F05-19D71910E8F2}" type="slidenum">
              <a:rPr lang="en-IN" smtClean="0"/>
              <a:t>15</a:t>
            </a:fld>
            <a:endParaRPr lang="en-IN"/>
          </a:p>
        </p:txBody>
      </p:sp>
      <p:sp>
        <p:nvSpPr>
          <p:cNvPr id="7" name="Title 1">
            <a:extLst>
              <a:ext uri="{FF2B5EF4-FFF2-40B4-BE49-F238E27FC236}">
                <a16:creationId xmlns:a16="http://schemas.microsoft.com/office/drawing/2014/main" id="{50781694-D18D-036E-17F4-B94BFCF875BF}"/>
              </a:ext>
            </a:extLst>
          </p:cNvPr>
          <p:cNvSpPr>
            <a:spLocks noGrp="1"/>
          </p:cNvSpPr>
          <p:nvPr>
            <p:ph type="title"/>
          </p:nvPr>
        </p:nvSpPr>
        <p:spPr>
          <a:xfrm>
            <a:off x="1204967" y="781164"/>
            <a:ext cx="3899596" cy="1195123"/>
          </a:xfrm>
        </p:spPr>
        <p:txBody>
          <a:bodyPr>
            <a:normAutofit/>
          </a:bodyPr>
          <a:lstStyle/>
          <a:p>
            <a:r>
              <a:rPr lang="en-US" sz="3200" b="1" dirty="0">
                <a:latin typeface="Times New Roman" panose="02020603050405020304" pitchFamily="18" charset="0"/>
                <a:cs typeface="Times New Roman" panose="02020603050405020304" pitchFamily="18" charset="0"/>
              </a:rPr>
              <a:t>Original data</a:t>
            </a:r>
            <a:endParaRPr lang="en-IN" sz="3200" b="1" dirty="0">
              <a:latin typeface="Times New Roman" panose="02020603050405020304" pitchFamily="18" charset="0"/>
              <a:cs typeface="Times New Roman" panose="02020603050405020304" pitchFamily="18" charset="0"/>
            </a:endParaRPr>
          </a:p>
        </p:txBody>
      </p:sp>
      <p:pic>
        <p:nvPicPr>
          <p:cNvPr id="8" name="Content Placeholder 6">
            <a:extLst>
              <a:ext uri="{FF2B5EF4-FFF2-40B4-BE49-F238E27FC236}">
                <a16:creationId xmlns:a16="http://schemas.microsoft.com/office/drawing/2014/main" id="{E5439F10-E1AA-1859-9B04-8DD155482B42}"/>
              </a:ext>
            </a:extLst>
          </p:cNvPr>
          <p:cNvPicPr>
            <a:picLocks noChangeAspect="1"/>
          </p:cNvPicPr>
          <p:nvPr/>
        </p:nvPicPr>
        <p:blipFill>
          <a:blip r:embed="rId2"/>
          <a:stretch>
            <a:fillRect/>
          </a:stretch>
        </p:blipFill>
        <p:spPr>
          <a:xfrm>
            <a:off x="918674" y="2458189"/>
            <a:ext cx="5191651" cy="3618647"/>
          </a:xfrm>
          <a:prstGeom prst="rect">
            <a:avLst/>
          </a:prstGeom>
        </p:spPr>
      </p:pic>
      <p:pic>
        <p:nvPicPr>
          <p:cNvPr id="10" name="Picture 9">
            <a:extLst>
              <a:ext uri="{FF2B5EF4-FFF2-40B4-BE49-F238E27FC236}">
                <a16:creationId xmlns:a16="http://schemas.microsoft.com/office/drawing/2014/main" id="{4B0B350B-3BFF-905E-3898-DBEB4D7D0AD7}"/>
              </a:ext>
            </a:extLst>
          </p:cNvPr>
          <p:cNvPicPr>
            <a:picLocks noChangeAspect="1"/>
          </p:cNvPicPr>
          <p:nvPr/>
        </p:nvPicPr>
        <p:blipFill>
          <a:blip r:embed="rId3"/>
          <a:stretch>
            <a:fillRect/>
          </a:stretch>
        </p:blipFill>
        <p:spPr>
          <a:xfrm>
            <a:off x="6119482" y="2647800"/>
            <a:ext cx="5153844" cy="3321200"/>
          </a:xfrm>
          <a:prstGeom prst="rect">
            <a:avLst/>
          </a:prstGeom>
        </p:spPr>
      </p:pic>
      <p:sp>
        <p:nvSpPr>
          <p:cNvPr id="11" name="Title 1">
            <a:extLst>
              <a:ext uri="{FF2B5EF4-FFF2-40B4-BE49-F238E27FC236}">
                <a16:creationId xmlns:a16="http://schemas.microsoft.com/office/drawing/2014/main" id="{53A43B57-99F2-C431-D5C2-12374822BC48}"/>
              </a:ext>
            </a:extLst>
          </p:cNvPr>
          <p:cNvSpPr txBox="1">
            <a:spLocks/>
          </p:cNvSpPr>
          <p:nvPr/>
        </p:nvSpPr>
        <p:spPr>
          <a:xfrm>
            <a:off x="6454305" y="781164"/>
            <a:ext cx="5231928" cy="1195123"/>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Fill with Most Probable Value (Mode)</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463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DDC6-D875-B014-02E2-51650CD307B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cleaning</a:t>
            </a:r>
            <a:endParaRPr lang="en-IN" dirty="0"/>
          </a:p>
        </p:txBody>
      </p:sp>
      <p:sp>
        <p:nvSpPr>
          <p:cNvPr id="3" name="Content Placeholder 2">
            <a:extLst>
              <a:ext uri="{FF2B5EF4-FFF2-40B4-BE49-F238E27FC236}">
                <a16:creationId xmlns:a16="http://schemas.microsoft.com/office/drawing/2014/main" id="{2352D7AB-A618-3424-A986-CD92A34A3FCA}"/>
              </a:ext>
            </a:extLst>
          </p:cNvPr>
          <p:cNvSpPr>
            <a:spLocks noGrp="1"/>
          </p:cNvSpPr>
          <p:nvPr>
            <p:ph idx="1"/>
          </p:nvPr>
        </p:nvSpPr>
        <p:spPr/>
        <p:txBody>
          <a:bodyPr>
            <a:normAutofit fontScale="92500"/>
          </a:bodyPr>
          <a:lstStyle/>
          <a:p>
            <a:r>
              <a:rPr lang="en-US" dirty="0">
                <a:solidFill>
                  <a:schemeClr val="tx1"/>
                </a:solidFill>
                <a:latin typeface="Times New Roman" panose="02020603050405020304" pitchFamily="18" charset="0"/>
                <a:cs typeface="Times New Roman" panose="02020603050405020304" pitchFamily="18" charset="0"/>
              </a:rPr>
              <a:t>Data in real world is dirty</a:t>
            </a: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Incomplete: </a:t>
            </a:r>
            <a:r>
              <a:rPr lang="en-US" dirty="0">
                <a:solidFill>
                  <a:schemeClr val="tx1"/>
                </a:solidFill>
                <a:latin typeface="Times New Roman" panose="02020603050405020304" pitchFamily="18" charset="0"/>
                <a:cs typeface="Times New Roman" panose="02020603050405020304" pitchFamily="18" charset="0"/>
              </a:rPr>
              <a:t>lacking attribute values, lacking certain attributes of interest, or containing only aggregate data. e.g., Occupation=“ ” (missing data)</a:t>
            </a: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Noisy data: </a:t>
            </a:r>
            <a:r>
              <a:rPr lang="en-US" dirty="0">
                <a:solidFill>
                  <a:schemeClr val="tx1"/>
                </a:solidFill>
                <a:latin typeface="Times New Roman" panose="02020603050405020304" pitchFamily="18" charset="0"/>
                <a:cs typeface="Times New Roman" panose="02020603050405020304" pitchFamily="18" charset="0"/>
              </a:rPr>
              <a:t>contains noise, errors or outliers</a:t>
            </a:r>
            <a:r>
              <a:rPr lang="en-IN"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e.g., Salary=“−10” (an error</a:t>
            </a:r>
            <a:r>
              <a:rPr lang="en-IN" dirty="0">
                <a:solidFill>
                  <a:schemeClr val="tx1"/>
                </a:solidFill>
                <a:latin typeface="Times New Roman" panose="02020603050405020304" pitchFamily="18" charset="0"/>
                <a:cs typeface="Times New Roman" panose="02020603050405020304" pitchFamily="18" charset="0"/>
              </a:rPr>
              <a:t>)</a:t>
            </a: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inconsistent : </a:t>
            </a:r>
            <a:r>
              <a:rPr lang="en-US" dirty="0">
                <a:solidFill>
                  <a:schemeClr val="tx1"/>
                </a:solidFill>
                <a:latin typeface="Times New Roman" panose="02020603050405020304" pitchFamily="18" charset="0"/>
                <a:cs typeface="Times New Roman" panose="02020603050405020304" pitchFamily="18" charset="0"/>
              </a:rPr>
              <a:t>containing discrepancies in codes or names, e.g.</a:t>
            </a:r>
            <a:r>
              <a:rPr lang="en-IN" dirty="0">
                <a:solidFill>
                  <a:schemeClr val="tx1"/>
                </a:solidFill>
                <a:latin typeface="Times New Roman" panose="02020603050405020304" pitchFamily="18" charset="0"/>
                <a:cs typeface="Times New Roman" panose="02020603050405020304" pitchFamily="18" charset="0"/>
              </a:rPr>
              <a:t> Age=“42”, Birthday=“03/07/2010”</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Intentional (e.g., disguised missing data)</a:t>
            </a:r>
          </a:p>
        </p:txBody>
      </p:sp>
      <p:sp>
        <p:nvSpPr>
          <p:cNvPr id="4" name="Date Placeholder 3">
            <a:extLst>
              <a:ext uri="{FF2B5EF4-FFF2-40B4-BE49-F238E27FC236}">
                <a16:creationId xmlns:a16="http://schemas.microsoft.com/office/drawing/2014/main" id="{AF38E26D-6A61-976D-0E0E-2E605EA449D0}"/>
              </a:ext>
            </a:extLst>
          </p:cNvPr>
          <p:cNvSpPr>
            <a:spLocks noGrp="1"/>
          </p:cNvSpPr>
          <p:nvPr>
            <p:ph type="dt" sz="half" idx="10"/>
          </p:nvPr>
        </p:nvSpPr>
        <p:spPr/>
        <p:txBody>
          <a:bodyPr/>
          <a:lstStyle/>
          <a:p>
            <a:fld id="{CCFE32F5-7696-4189-937C-68C344C464A6}" type="datetime1">
              <a:rPr lang="en-IN" smtClean="0"/>
              <a:t>09-09-2025</a:t>
            </a:fld>
            <a:endParaRPr lang="en-IN"/>
          </a:p>
        </p:txBody>
      </p:sp>
      <p:sp>
        <p:nvSpPr>
          <p:cNvPr id="5" name="Footer Placeholder 4">
            <a:extLst>
              <a:ext uri="{FF2B5EF4-FFF2-40B4-BE49-F238E27FC236}">
                <a16:creationId xmlns:a16="http://schemas.microsoft.com/office/drawing/2014/main" id="{77D61166-C34A-6B80-D270-99AA666158A5}"/>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66F2AD36-A150-3F29-B39A-DA4E5D7BC861}"/>
              </a:ext>
            </a:extLst>
          </p:cNvPr>
          <p:cNvSpPr>
            <a:spLocks noGrp="1"/>
          </p:cNvSpPr>
          <p:nvPr>
            <p:ph type="sldNum" sz="quarter" idx="12"/>
          </p:nvPr>
        </p:nvSpPr>
        <p:spPr/>
        <p:txBody>
          <a:bodyPr/>
          <a:lstStyle/>
          <a:p>
            <a:fld id="{F112A010-EC74-4D7C-9F05-19D71910E8F2}" type="slidenum">
              <a:rPr lang="en-IN" smtClean="0"/>
              <a:t>16</a:t>
            </a:fld>
            <a:endParaRPr lang="en-IN"/>
          </a:p>
        </p:txBody>
      </p:sp>
    </p:spTree>
    <p:extLst>
      <p:ext uri="{BB962C8B-B14F-4D97-AF65-F5344CB8AC3E}">
        <p14:creationId xmlns:p14="http://schemas.microsoft.com/office/powerpoint/2010/main" val="1013416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DCAB3-2CF1-C151-2BAC-02677DACBFA7}"/>
              </a:ext>
            </a:extLst>
          </p:cNvPr>
          <p:cNvSpPr>
            <a:spLocks noGrp="1"/>
          </p:cNvSpPr>
          <p:nvPr>
            <p:ph idx="1"/>
          </p:nvPr>
        </p:nvSpPr>
        <p:spPr>
          <a:xfrm>
            <a:off x="1176337" y="3002974"/>
            <a:ext cx="9720260" cy="2872894"/>
          </a:xfrm>
        </p:spPr>
        <p:txBody>
          <a:bodyPr/>
          <a:lstStyle/>
          <a:p>
            <a:r>
              <a:rPr lang="en-IN" dirty="0">
                <a:solidFill>
                  <a:schemeClr val="tx1"/>
                </a:solidFill>
                <a:latin typeface="Times New Roman" panose="02020603050405020304" pitchFamily="18" charset="0"/>
                <a:cs typeface="Times New Roman" panose="02020603050405020304" pitchFamily="18" charset="0"/>
              </a:rPr>
              <a:t>Here’s a </a:t>
            </a:r>
            <a:r>
              <a:rPr lang="en-IN" b="1" dirty="0">
                <a:solidFill>
                  <a:schemeClr val="tx1"/>
                </a:solidFill>
                <a:latin typeface="Times New Roman" panose="02020603050405020304" pitchFamily="18" charset="0"/>
                <a:cs typeface="Times New Roman" panose="02020603050405020304" pitchFamily="18" charset="0"/>
              </a:rPr>
              <a:t>sample dataset in Pandas</a:t>
            </a:r>
            <a:r>
              <a:rPr lang="en-IN" dirty="0">
                <a:solidFill>
                  <a:schemeClr val="tx1"/>
                </a:solidFill>
                <a:latin typeface="Times New Roman" panose="02020603050405020304" pitchFamily="18" charset="0"/>
                <a:cs typeface="Times New Roman" panose="02020603050405020304" pitchFamily="18" charset="0"/>
              </a:rPr>
              <a:t> that illustrates:</a:t>
            </a:r>
          </a:p>
          <a:p>
            <a:r>
              <a:rPr lang="en-IN" b="1" dirty="0">
                <a:solidFill>
                  <a:schemeClr val="tx1"/>
                </a:solidFill>
                <a:latin typeface="Times New Roman" panose="02020603050405020304" pitchFamily="18" charset="0"/>
                <a:cs typeface="Times New Roman" panose="02020603050405020304" pitchFamily="18" charset="0"/>
              </a:rPr>
              <a:t>Incomplete data</a:t>
            </a:r>
            <a:r>
              <a:rPr lang="en-IN" dirty="0">
                <a:solidFill>
                  <a:schemeClr val="tx1"/>
                </a:solidFill>
                <a:latin typeface="Times New Roman" panose="02020603050405020304" pitchFamily="18" charset="0"/>
                <a:cs typeface="Times New Roman" panose="02020603050405020304" pitchFamily="18" charset="0"/>
              </a:rPr>
              <a:t> → Occupation="" or None, Salary=</a:t>
            </a:r>
            <a:r>
              <a:rPr lang="en-IN" dirty="0" err="1">
                <a:solidFill>
                  <a:schemeClr val="tx1"/>
                </a:solidFill>
                <a:latin typeface="Times New Roman" panose="02020603050405020304" pitchFamily="18" charset="0"/>
                <a:cs typeface="Times New Roman" panose="02020603050405020304" pitchFamily="18" charset="0"/>
              </a:rPr>
              <a:t>NaN</a:t>
            </a:r>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Noisy data</a:t>
            </a:r>
            <a:r>
              <a:rPr lang="en-IN" dirty="0">
                <a:solidFill>
                  <a:schemeClr val="tx1"/>
                </a:solidFill>
                <a:latin typeface="Times New Roman" panose="02020603050405020304" pitchFamily="18" charset="0"/>
                <a:cs typeface="Times New Roman" panose="02020603050405020304" pitchFamily="18" charset="0"/>
              </a:rPr>
              <a:t> → Salary = -10 (impossible value)</a:t>
            </a:r>
          </a:p>
          <a:p>
            <a:r>
              <a:rPr lang="en-IN" b="1" dirty="0">
                <a:solidFill>
                  <a:schemeClr val="tx1"/>
                </a:solidFill>
                <a:latin typeface="Times New Roman" panose="02020603050405020304" pitchFamily="18" charset="0"/>
                <a:cs typeface="Times New Roman" panose="02020603050405020304" pitchFamily="18" charset="0"/>
              </a:rPr>
              <a:t>Inconsistent data</a:t>
            </a:r>
            <a:r>
              <a:rPr lang="en-IN" dirty="0">
                <a:solidFill>
                  <a:schemeClr val="tx1"/>
                </a:solidFill>
                <a:latin typeface="Times New Roman" panose="02020603050405020304" pitchFamily="18" charset="0"/>
                <a:cs typeface="Times New Roman" panose="02020603050405020304" pitchFamily="18" charset="0"/>
              </a:rPr>
              <a:t> → Age=42 but Birthday=2010-07-03</a:t>
            </a:r>
          </a:p>
          <a:p>
            <a:r>
              <a:rPr lang="en-IN" b="1" dirty="0">
                <a:solidFill>
                  <a:schemeClr val="tx1"/>
                </a:solidFill>
                <a:latin typeface="Times New Roman" panose="02020603050405020304" pitchFamily="18" charset="0"/>
                <a:cs typeface="Times New Roman" panose="02020603050405020304" pitchFamily="18" charset="0"/>
              </a:rPr>
              <a:t>Intentional missing data</a:t>
            </a:r>
            <a:r>
              <a:rPr lang="en-IN" dirty="0">
                <a:solidFill>
                  <a:schemeClr val="tx1"/>
                </a:solidFill>
                <a:latin typeface="Times New Roman" panose="02020603050405020304" pitchFamily="18" charset="0"/>
                <a:cs typeface="Times New Roman" panose="02020603050405020304" pitchFamily="18" charset="0"/>
              </a:rPr>
              <a:t> → Occupation left blank on purpose</a:t>
            </a:r>
          </a:p>
          <a:p>
            <a:endParaRPr lang="en-IN" dirty="0"/>
          </a:p>
        </p:txBody>
      </p:sp>
      <p:sp>
        <p:nvSpPr>
          <p:cNvPr id="4" name="Date Placeholder 3">
            <a:extLst>
              <a:ext uri="{FF2B5EF4-FFF2-40B4-BE49-F238E27FC236}">
                <a16:creationId xmlns:a16="http://schemas.microsoft.com/office/drawing/2014/main" id="{9EAC738F-4465-E20C-FDF6-B43A8EAAEF2A}"/>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1FF782EB-969F-5B4A-D778-9633716C8E36}"/>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643EA138-0A0F-AEAC-CBA0-800855D855A1}"/>
              </a:ext>
            </a:extLst>
          </p:cNvPr>
          <p:cNvSpPr>
            <a:spLocks noGrp="1"/>
          </p:cNvSpPr>
          <p:nvPr>
            <p:ph type="sldNum" sz="quarter" idx="12"/>
          </p:nvPr>
        </p:nvSpPr>
        <p:spPr/>
        <p:txBody>
          <a:bodyPr/>
          <a:lstStyle/>
          <a:p>
            <a:fld id="{F112A010-EC74-4D7C-9F05-19D71910E8F2}" type="slidenum">
              <a:rPr lang="en-IN" smtClean="0"/>
              <a:t>17</a:t>
            </a:fld>
            <a:endParaRPr lang="en-IN"/>
          </a:p>
        </p:txBody>
      </p:sp>
      <p:pic>
        <p:nvPicPr>
          <p:cNvPr id="11" name="Picture 10">
            <a:extLst>
              <a:ext uri="{FF2B5EF4-FFF2-40B4-BE49-F238E27FC236}">
                <a16:creationId xmlns:a16="http://schemas.microsoft.com/office/drawing/2014/main" id="{FD2AF93A-185F-ACB6-8A8E-2F5504E49FB1}"/>
              </a:ext>
            </a:extLst>
          </p:cNvPr>
          <p:cNvPicPr>
            <a:picLocks noChangeAspect="1"/>
          </p:cNvPicPr>
          <p:nvPr/>
        </p:nvPicPr>
        <p:blipFill>
          <a:blip r:embed="rId2"/>
          <a:stretch>
            <a:fillRect/>
          </a:stretch>
        </p:blipFill>
        <p:spPr>
          <a:xfrm>
            <a:off x="1176337" y="609600"/>
            <a:ext cx="9839325" cy="2247900"/>
          </a:xfrm>
          <a:prstGeom prst="rect">
            <a:avLst/>
          </a:prstGeom>
        </p:spPr>
      </p:pic>
    </p:spTree>
    <p:extLst>
      <p:ext uri="{BB962C8B-B14F-4D97-AF65-F5344CB8AC3E}">
        <p14:creationId xmlns:p14="http://schemas.microsoft.com/office/powerpoint/2010/main" val="907800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F794-A8C7-2325-545E-CE3CE48AD46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Reasons of missing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082403-F37D-1D6B-D050-D3065BFF49A2}"/>
              </a:ext>
            </a:extLst>
          </p:cNvPr>
          <p:cNvSpPr>
            <a:spLocks noGrp="1"/>
          </p:cNvSpPr>
          <p:nvPr>
            <p:ph idx="1"/>
          </p:nvPr>
        </p:nvSpPr>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Data is not always available E.g., many tuples have no recorded value for several attributes, such as customer income in sales data.</a:t>
            </a:r>
          </a:p>
          <a:p>
            <a:r>
              <a:rPr lang="en-US" dirty="0">
                <a:solidFill>
                  <a:schemeClr val="tx1"/>
                </a:solidFill>
                <a:latin typeface="Times New Roman" panose="02020603050405020304" pitchFamily="18" charset="0"/>
                <a:cs typeface="Times New Roman" panose="02020603050405020304" pitchFamily="18" charset="0"/>
              </a:rPr>
              <a:t>Missing data may be due to </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equipment malfunction</a:t>
            </a:r>
            <a:endParaRPr lang="en-US"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inconsistent with other recorded data and thus delete</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data not entered due to misunderstanding</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certain data may not be considered important at the time of entry</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not register history or changes of the data</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F07E0F1-4CFF-30E2-C064-B16AC4BED531}"/>
              </a:ext>
            </a:extLst>
          </p:cNvPr>
          <p:cNvSpPr>
            <a:spLocks noGrp="1"/>
          </p:cNvSpPr>
          <p:nvPr>
            <p:ph type="dt" sz="half" idx="10"/>
          </p:nvPr>
        </p:nvSpPr>
        <p:spPr/>
        <p:txBody>
          <a:bodyPr/>
          <a:lstStyle/>
          <a:p>
            <a:fld id="{0A86CAF4-18D9-4917-A180-3B2E3ACBF69F}" type="datetime1">
              <a:rPr lang="en-IN" smtClean="0"/>
              <a:t>09-09-2025</a:t>
            </a:fld>
            <a:endParaRPr lang="en-IN"/>
          </a:p>
        </p:txBody>
      </p:sp>
      <p:sp>
        <p:nvSpPr>
          <p:cNvPr id="5" name="Footer Placeholder 4">
            <a:extLst>
              <a:ext uri="{FF2B5EF4-FFF2-40B4-BE49-F238E27FC236}">
                <a16:creationId xmlns:a16="http://schemas.microsoft.com/office/drawing/2014/main" id="{2C95B19D-59C6-9DB1-1E74-AEBFFF1AD650}"/>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F46690E6-F074-B92F-C461-5D1F176F88B7}"/>
              </a:ext>
            </a:extLst>
          </p:cNvPr>
          <p:cNvSpPr>
            <a:spLocks noGrp="1"/>
          </p:cNvSpPr>
          <p:nvPr>
            <p:ph type="sldNum" sz="quarter" idx="12"/>
          </p:nvPr>
        </p:nvSpPr>
        <p:spPr/>
        <p:txBody>
          <a:bodyPr/>
          <a:lstStyle/>
          <a:p>
            <a:fld id="{F112A010-EC74-4D7C-9F05-19D71910E8F2}" type="slidenum">
              <a:rPr lang="en-IN" smtClean="0"/>
              <a:t>18</a:t>
            </a:fld>
            <a:endParaRPr lang="en-IN"/>
          </a:p>
        </p:txBody>
      </p:sp>
    </p:spTree>
    <p:extLst>
      <p:ext uri="{BB962C8B-B14F-4D97-AF65-F5344CB8AC3E}">
        <p14:creationId xmlns:p14="http://schemas.microsoft.com/office/powerpoint/2010/main" val="4148026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301D-DE8C-CA54-51D9-B9EE8810849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to handle noisy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EFAB58-8B25-75C5-AF98-CABA33847158}"/>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Binning</a:t>
            </a:r>
          </a:p>
          <a:p>
            <a:r>
              <a:rPr lang="en-US" dirty="0">
                <a:latin typeface="Times New Roman" panose="02020603050405020304" pitchFamily="18" charset="0"/>
                <a:cs typeface="Times New Roman" panose="02020603050405020304" pitchFamily="18" charset="0"/>
              </a:rPr>
              <a:t>first sort data and partition into (equal-frequency) bins.</a:t>
            </a:r>
          </a:p>
          <a:p>
            <a:r>
              <a:rPr lang="en-US" dirty="0">
                <a:latin typeface="Times New Roman" panose="02020603050405020304" pitchFamily="18" charset="0"/>
                <a:cs typeface="Times New Roman" panose="02020603050405020304" pitchFamily="18" charset="0"/>
              </a:rPr>
              <a:t>then one can smooth by bin means, smooth by bin median, smooth by bin boundaries, etc</a:t>
            </a:r>
          </a:p>
          <a:p>
            <a:pPr marL="0" indent="0">
              <a:buNone/>
            </a:pPr>
            <a:r>
              <a:rPr lang="en-US" b="1" dirty="0">
                <a:latin typeface="Times New Roman" panose="02020603050405020304" pitchFamily="18" charset="0"/>
                <a:cs typeface="Times New Roman" panose="02020603050405020304" pitchFamily="18" charset="0"/>
              </a:rPr>
              <a:t>Regression</a:t>
            </a:r>
          </a:p>
          <a:p>
            <a:r>
              <a:rPr lang="en-US" dirty="0">
                <a:latin typeface="Times New Roman" panose="02020603050405020304" pitchFamily="18" charset="0"/>
                <a:cs typeface="Times New Roman" panose="02020603050405020304" pitchFamily="18" charset="0"/>
              </a:rPr>
              <a:t>smooth by fitting the data into regression functions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C94348-D7F5-E092-B86A-5AAADC84C36A}"/>
              </a:ext>
            </a:extLst>
          </p:cNvPr>
          <p:cNvSpPr>
            <a:spLocks noGrp="1"/>
          </p:cNvSpPr>
          <p:nvPr>
            <p:ph type="dt" sz="half" idx="10"/>
          </p:nvPr>
        </p:nvSpPr>
        <p:spPr/>
        <p:txBody>
          <a:bodyPr/>
          <a:lstStyle/>
          <a:p>
            <a:fld id="{6C67A7C0-9B8D-4C97-B8FB-FDE97E216165}" type="datetime1">
              <a:rPr lang="en-IN" smtClean="0"/>
              <a:t>09-09-2025</a:t>
            </a:fld>
            <a:endParaRPr lang="en-IN"/>
          </a:p>
        </p:txBody>
      </p:sp>
      <p:sp>
        <p:nvSpPr>
          <p:cNvPr id="5" name="Footer Placeholder 4">
            <a:extLst>
              <a:ext uri="{FF2B5EF4-FFF2-40B4-BE49-F238E27FC236}">
                <a16:creationId xmlns:a16="http://schemas.microsoft.com/office/drawing/2014/main" id="{303B293E-13B4-A417-A393-F7DC1A57C62E}"/>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FFA3624D-FCAB-8F01-28F9-6D4F275F159F}"/>
              </a:ext>
            </a:extLst>
          </p:cNvPr>
          <p:cNvSpPr>
            <a:spLocks noGrp="1"/>
          </p:cNvSpPr>
          <p:nvPr>
            <p:ph type="sldNum" sz="quarter" idx="12"/>
          </p:nvPr>
        </p:nvSpPr>
        <p:spPr/>
        <p:txBody>
          <a:bodyPr/>
          <a:lstStyle/>
          <a:p>
            <a:fld id="{F112A010-EC74-4D7C-9F05-19D71910E8F2}" type="slidenum">
              <a:rPr lang="en-IN" smtClean="0"/>
              <a:t>19</a:t>
            </a:fld>
            <a:endParaRPr lang="en-IN"/>
          </a:p>
        </p:txBody>
      </p:sp>
    </p:spTree>
    <p:extLst>
      <p:ext uri="{BB962C8B-B14F-4D97-AF65-F5344CB8AC3E}">
        <p14:creationId xmlns:p14="http://schemas.microsoft.com/office/powerpoint/2010/main" val="4026267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5155C-087F-8E34-FD3C-BFBEBD477B3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to handle noisy data</a:t>
            </a:r>
            <a:endParaRPr lang="en-IN" dirty="0"/>
          </a:p>
        </p:txBody>
      </p:sp>
      <p:sp>
        <p:nvSpPr>
          <p:cNvPr id="3" name="Content Placeholder 2">
            <a:extLst>
              <a:ext uri="{FF2B5EF4-FFF2-40B4-BE49-F238E27FC236}">
                <a16:creationId xmlns:a16="http://schemas.microsoft.com/office/drawing/2014/main" id="{7CE18758-1C02-D772-0153-E74975BD3C51}"/>
              </a:ext>
            </a:extLst>
          </p:cNvPr>
          <p:cNvSpPr>
            <a:spLocks noGrp="1"/>
          </p:cNvSpPr>
          <p:nvPr>
            <p:ph idx="1"/>
          </p:nvPr>
        </p:nvSpPr>
        <p:spPr/>
        <p:txBody>
          <a:bodyPr>
            <a:normAutofit fontScale="70000" lnSpcReduction="20000"/>
          </a:bodyPr>
          <a:lstStyle/>
          <a:p>
            <a:pPr marL="0" indent="0">
              <a:buNone/>
            </a:pPr>
            <a:r>
              <a:rPr lang="en-US" sz="3400" b="1" dirty="0">
                <a:latin typeface="Times New Roman" panose="02020603050405020304" pitchFamily="18" charset="0"/>
                <a:cs typeface="Times New Roman" panose="02020603050405020304" pitchFamily="18" charset="0"/>
              </a:rPr>
              <a:t>Clustering</a:t>
            </a:r>
          </a:p>
          <a:p>
            <a:r>
              <a:rPr lang="en-US" sz="3200" dirty="0">
                <a:solidFill>
                  <a:schemeClr val="tx1"/>
                </a:solidFill>
                <a:latin typeface="Times New Roman" panose="02020603050405020304" pitchFamily="18" charset="0"/>
                <a:cs typeface="Times New Roman" panose="02020603050405020304" pitchFamily="18" charset="0"/>
              </a:rPr>
              <a:t>Detect and remove outliers</a:t>
            </a:r>
          </a:p>
          <a:p>
            <a:r>
              <a:rPr lang="en-US" sz="3200" b="1" dirty="0">
                <a:solidFill>
                  <a:schemeClr val="tx1"/>
                </a:solidFill>
                <a:latin typeface="Times New Roman" panose="02020603050405020304" pitchFamily="18" charset="0"/>
                <a:cs typeface="Times New Roman" panose="02020603050405020304" pitchFamily="18" charset="0"/>
              </a:rPr>
              <a:t>Example:</a:t>
            </a:r>
            <a:r>
              <a:rPr lang="en-US" sz="3200" dirty="0">
                <a:solidFill>
                  <a:schemeClr val="tx1"/>
                </a:solidFill>
                <a:latin typeface="Times New Roman" panose="02020603050405020304" pitchFamily="18" charset="0"/>
                <a:cs typeface="Times New Roman" panose="02020603050405020304" pitchFamily="18" charset="0"/>
              </a:rPr>
              <a:t> </a:t>
            </a:r>
            <a:r>
              <a:rPr lang="en-US" sz="3200" i="1" dirty="0">
                <a:solidFill>
                  <a:schemeClr val="tx1"/>
                </a:solidFill>
                <a:latin typeface="Times New Roman" panose="02020603050405020304" pitchFamily="18" charset="0"/>
                <a:cs typeface="Times New Roman" panose="02020603050405020304" pitchFamily="18" charset="0"/>
              </a:rPr>
              <a:t>Daily Step Count of People</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b="1" dirty="0">
                <a:solidFill>
                  <a:schemeClr val="tx1"/>
                </a:solidFill>
                <a:latin typeface="Times New Roman" panose="02020603050405020304" pitchFamily="18" charset="0"/>
                <a:cs typeface="Times New Roman" panose="02020603050405020304" pitchFamily="18" charset="0"/>
              </a:rPr>
              <a:t>Cluster 1:</a:t>
            </a:r>
            <a:r>
              <a:rPr lang="en-US" sz="3200" dirty="0">
                <a:solidFill>
                  <a:schemeClr val="tx1"/>
                </a:solidFill>
                <a:latin typeface="Times New Roman" panose="02020603050405020304" pitchFamily="18" charset="0"/>
                <a:cs typeface="Times New Roman" panose="02020603050405020304" pitchFamily="18" charset="0"/>
              </a:rPr>
              <a:t> Low activity group (3,000–6,000 steps).</a:t>
            </a:r>
          </a:p>
          <a:p>
            <a:r>
              <a:rPr lang="en-US" sz="3200" b="1" dirty="0">
                <a:solidFill>
                  <a:schemeClr val="tx1"/>
                </a:solidFill>
                <a:latin typeface="Times New Roman" panose="02020603050405020304" pitchFamily="18" charset="0"/>
                <a:cs typeface="Times New Roman" panose="02020603050405020304" pitchFamily="18" charset="0"/>
              </a:rPr>
              <a:t>Cluster 2:</a:t>
            </a:r>
            <a:r>
              <a:rPr lang="en-US" sz="3200" dirty="0">
                <a:solidFill>
                  <a:schemeClr val="tx1"/>
                </a:solidFill>
                <a:latin typeface="Times New Roman" panose="02020603050405020304" pitchFamily="18" charset="0"/>
                <a:cs typeface="Times New Roman" panose="02020603050405020304" pitchFamily="18" charset="0"/>
              </a:rPr>
              <a:t> Moderately active group (7,000–8,000 steps).</a:t>
            </a:r>
          </a:p>
          <a:p>
            <a:r>
              <a:rPr lang="en-US" sz="3200" b="1" dirty="0">
                <a:solidFill>
                  <a:schemeClr val="tx1"/>
                </a:solidFill>
                <a:latin typeface="Times New Roman" panose="02020603050405020304" pitchFamily="18" charset="0"/>
                <a:cs typeface="Times New Roman" panose="02020603050405020304" pitchFamily="18" charset="0"/>
              </a:rPr>
              <a:t>Cluster 3:</a:t>
            </a:r>
            <a:r>
              <a:rPr lang="en-US" sz="3200" dirty="0">
                <a:solidFill>
                  <a:schemeClr val="tx1"/>
                </a:solidFill>
                <a:latin typeface="Times New Roman" panose="02020603050405020304" pitchFamily="18" charset="0"/>
                <a:cs typeface="Times New Roman" panose="02020603050405020304" pitchFamily="18" charset="0"/>
              </a:rPr>
              <a:t> Very active group / athletes (12,000–15,000 steps).</a:t>
            </a:r>
          </a:p>
          <a:p>
            <a:r>
              <a:rPr lang="en-US" sz="3200" dirty="0">
                <a:solidFill>
                  <a:schemeClr val="tx1"/>
                </a:solidFill>
                <a:latin typeface="Times New Roman" panose="02020603050405020304" pitchFamily="18" charset="0"/>
                <a:cs typeface="Times New Roman" panose="02020603050405020304" pitchFamily="18" charset="0"/>
              </a:rPr>
              <a:t>⭐ </a:t>
            </a:r>
            <a:r>
              <a:rPr lang="en-US" sz="3200" b="1" dirty="0">
                <a:solidFill>
                  <a:schemeClr val="tx1"/>
                </a:solidFill>
                <a:latin typeface="Times New Roman" panose="02020603050405020304" pitchFamily="18" charset="0"/>
                <a:cs typeface="Times New Roman" panose="02020603050405020304" pitchFamily="18" charset="0"/>
              </a:rPr>
              <a:t>Outlier:</a:t>
            </a:r>
            <a:r>
              <a:rPr lang="en-US" sz="3200" dirty="0">
                <a:solidFill>
                  <a:schemeClr val="tx1"/>
                </a:solidFill>
                <a:latin typeface="Times New Roman" panose="02020603050405020304" pitchFamily="18" charset="0"/>
                <a:cs typeface="Times New Roman" panose="02020603050405020304" pitchFamily="18" charset="0"/>
              </a:rPr>
              <a:t> One person with </a:t>
            </a:r>
            <a:r>
              <a:rPr lang="en-US" sz="3200" b="1" dirty="0">
                <a:solidFill>
                  <a:schemeClr val="tx1"/>
                </a:solidFill>
                <a:latin typeface="Times New Roman" panose="02020603050405020304" pitchFamily="18" charset="0"/>
                <a:cs typeface="Times New Roman" panose="02020603050405020304" pitchFamily="18" charset="0"/>
              </a:rPr>
              <a:t>30,000 steps</a:t>
            </a:r>
            <a:r>
              <a:rPr lang="en-US" sz="3200" dirty="0">
                <a:solidFill>
                  <a:schemeClr val="tx1"/>
                </a:solidFill>
                <a:latin typeface="Times New Roman" panose="02020603050405020304" pitchFamily="18" charset="0"/>
                <a:cs typeface="Times New Roman" panose="02020603050405020304" pitchFamily="18" charset="0"/>
              </a:rPr>
              <a:t>, which is unusually high compared to all groups.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83387E8-C141-2F14-5B2C-67C138C83438}"/>
              </a:ext>
            </a:extLst>
          </p:cNvPr>
          <p:cNvSpPr>
            <a:spLocks noGrp="1"/>
          </p:cNvSpPr>
          <p:nvPr>
            <p:ph type="dt" sz="half" idx="10"/>
          </p:nvPr>
        </p:nvSpPr>
        <p:spPr/>
        <p:txBody>
          <a:bodyPr/>
          <a:lstStyle/>
          <a:p>
            <a:fld id="{42D09864-245F-49DF-A82B-601A744FC3EA}" type="datetime1">
              <a:rPr lang="en-IN" smtClean="0"/>
              <a:t>09-09-2025</a:t>
            </a:fld>
            <a:endParaRPr lang="en-IN"/>
          </a:p>
        </p:txBody>
      </p:sp>
      <p:sp>
        <p:nvSpPr>
          <p:cNvPr id="5" name="Footer Placeholder 4">
            <a:extLst>
              <a:ext uri="{FF2B5EF4-FFF2-40B4-BE49-F238E27FC236}">
                <a16:creationId xmlns:a16="http://schemas.microsoft.com/office/drawing/2014/main" id="{DCD6C338-E660-0870-AAC5-841F1F5E2B1C}"/>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DAB0AA9C-DF75-4D72-9696-A21E042DA102}"/>
              </a:ext>
            </a:extLst>
          </p:cNvPr>
          <p:cNvSpPr>
            <a:spLocks noGrp="1"/>
          </p:cNvSpPr>
          <p:nvPr>
            <p:ph type="sldNum" sz="quarter" idx="12"/>
          </p:nvPr>
        </p:nvSpPr>
        <p:spPr/>
        <p:txBody>
          <a:bodyPr/>
          <a:lstStyle/>
          <a:p>
            <a:fld id="{F112A010-EC74-4D7C-9F05-19D71910E8F2}" type="slidenum">
              <a:rPr lang="en-IN" smtClean="0"/>
              <a:t>20</a:t>
            </a:fld>
            <a:endParaRPr lang="en-IN"/>
          </a:p>
        </p:txBody>
      </p:sp>
    </p:spTree>
    <p:extLst>
      <p:ext uri="{BB962C8B-B14F-4D97-AF65-F5344CB8AC3E}">
        <p14:creationId xmlns:p14="http://schemas.microsoft.com/office/powerpoint/2010/main" val="2989571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401C2-6209-0EC8-DE37-2668F94BE5F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Numerical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31A473-A309-D149-33D9-7AB31A111DF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Unsorted data for price prediction</a:t>
            </a:r>
          </a:p>
          <a:p>
            <a:pPr marL="0" indent="0">
              <a:buNone/>
            </a:pPr>
            <a:r>
              <a:rPr lang="en-US" b="1" dirty="0">
                <a:latin typeface="Times New Roman" panose="02020603050405020304" pitchFamily="18" charset="0"/>
                <a:cs typeface="Times New Roman" panose="02020603050405020304" pitchFamily="18" charset="0"/>
              </a:rPr>
              <a:t>8,16,9,15,21,21,24,30,26,27,30,34</a:t>
            </a:r>
          </a:p>
          <a:p>
            <a:pPr marL="0" indent="0">
              <a:buNone/>
            </a:pPr>
            <a:r>
              <a:rPr lang="en-IN" b="1" dirty="0">
                <a:latin typeface="Times New Roman" panose="02020603050405020304" pitchFamily="18" charset="0"/>
                <a:cs typeface="Times New Roman" panose="02020603050405020304" pitchFamily="18" charset="0"/>
              </a:rPr>
              <a:t>Solution:</a:t>
            </a:r>
          </a:p>
          <a:p>
            <a:pPr marL="0" indent="0">
              <a:buNone/>
            </a:pPr>
            <a:r>
              <a:rPr lang="en-IN" b="1"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CFC81C84-C3A1-EA21-13FA-1830A4524F8E}"/>
              </a:ext>
            </a:extLst>
          </p:cNvPr>
          <p:cNvSpPr>
            <a:spLocks noGrp="1"/>
          </p:cNvSpPr>
          <p:nvPr>
            <p:ph type="dt" sz="half" idx="10"/>
          </p:nvPr>
        </p:nvSpPr>
        <p:spPr/>
        <p:txBody>
          <a:bodyPr/>
          <a:lstStyle/>
          <a:p>
            <a:fld id="{05D9D220-6318-4550-B094-8066EB03A841}" type="datetime1">
              <a:rPr lang="en-IN" smtClean="0"/>
              <a:t>09-09-2025</a:t>
            </a:fld>
            <a:endParaRPr lang="en-IN"/>
          </a:p>
        </p:txBody>
      </p:sp>
      <p:sp>
        <p:nvSpPr>
          <p:cNvPr id="5" name="Footer Placeholder 4">
            <a:extLst>
              <a:ext uri="{FF2B5EF4-FFF2-40B4-BE49-F238E27FC236}">
                <a16:creationId xmlns:a16="http://schemas.microsoft.com/office/drawing/2014/main" id="{D101A89C-432D-1532-61F1-B37F0AE9208A}"/>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45F5074C-8E35-A73D-6A8E-D55FC2636F3B}"/>
              </a:ext>
            </a:extLst>
          </p:cNvPr>
          <p:cNvSpPr>
            <a:spLocks noGrp="1"/>
          </p:cNvSpPr>
          <p:nvPr>
            <p:ph type="sldNum" sz="quarter" idx="12"/>
          </p:nvPr>
        </p:nvSpPr>
        <p:spPr/>
        <p:txBody>
          <a:bodyPr/>
          <a:lstStyle/>
          <a:p>
            <a:fld id="{F112A010-EC74-4D7C-9F05-19D71910E8F2}" type="slidenum">
              <a:rPr lang="en-IN" smtClean="0"/>
              <a:t>21</a:t>
            </a:fld>
            <a:endParaRPr lang="en-IN"/>
          </a:p>
        </p:txBody>
      </p:sp>
    </p:spTree>
    <p:extLst>
      <p:ext uri="{BB962C8B-B14F-4D97-AF65-F5344CB8AC3E}">
        <p14:creationId xmlns:p14="http://schemas.microsoft.com/office/powerpoint/2010/main" val="2472843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1EA1915-3D3A-D898-6507-15BA40F27072}"/>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76EAE6C8-481C-12AC-E034-3566D535932B}"/>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78105858-08A1-A02A-C8F0-483370C0250A}"/>
              </a:ext>
            </a:extLst>
          </p:cNvPr>
          <p:cNvSpPr>
            <a:spLocks noGrp="1"/>
          </p:cNvSpPr>
          <p:nvPr>
            <p:ph type="sldNum" sz="quarter" idx="12"/>
          </p:nvPr>
        </p:nvSpPr>
        <p:spPr/>
        <p:txBody>
          <a:bodyPr/>
          <a:lstStyle/>
          <a:p>
            <a:fld id="{F112A010-EC74-4D7C-9F05-19D71910E8F2}" type="slidenum">
              <a:rPr lang="en-IN" smtClean="0"/>
              <a:t>22</a:t>
            </a:fld>
            <a:endParaRPr lang="en-IN"/>
          </a:p>
        </p:txBody>
      </p:sp>
      <p:pic>
        <p:nvPicPr>
          <p:cNvPr id="9" name="Picture 8">
            <a:extLst>
              <a:ext uri="{FF2B5EF4-FFF2-40B4-BE49-F238E27FC236}">
                <a16:creationId xmlns:a16="http://schemas.microsoft.com/office/drawing/2014/main" id="{7411B328-7BDF-EFA1-0A57-46BCA2414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3" y="783774"/>
            <a:ext cx="7053942" cy="5290451"/>
          </a:xfrm>
          <a:prstGeom prst="rect">
            <a:avLst/>
          </a:prstGeom>
        </p:spPr>
      </p:pic>
      <p:sp>
        <p:nvSpPr>
          <p:cNvPr id="10" name="TextBox 9">
            <a:extLst>
              <a:ext uri="{FF2B5EF4-FFF2-40B4-BE49-F238E27FC236}">
                <a16:creationId xmlns:a16="http://schemas.microsoft.com/office/drawing/2014/main" id="{8B36EC15-2AFB-F775-1676-579C6544C1E2}"/>
              </a:ext>
            </a:extLst>
          </p:cNvPr>
          <p:cNvSpPr txBox="1"/>
          <p:nvPr/>
        </p:nvSpPr>
        <p:spPr>
          <a:xfrm>
            <a:off x="7968345" y="880906"/>
            <a:ext cx="3918856" cy="477053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Here’s the visual comparison 👇</a:t>
            </a:r>
          </a:p>
          <a:p>
            <a:r>
              <a:rPr lang="en-US" sz="2200" b="1" dirty="0">
                <a:latin typeface="Times New Roman" panose="02020603050405020304" pitchFamily="18" charset="0"/>
                <a:cs typeface="Times New Roman" panose="02020603050405020304" pitchFamily="18" charset="0"/>
              </a:rPr>
              <a:t>Top-left</a:t>
            </a:r>
            <a:r>
              <a:rPr lang="en-US" sz="2200" dirty="0">
                <a:latin typeface="Times New Roman" panose="02020603050405020304" pitchFamily="18" charset="0"/>
                <a:cs typeface="Times New Roman" panose="02020603050405020304" pitchFamily="18" charset="0"/>
              </a:rPr>
              <a:t>: Original sorted data (noisy)</a:t>
            </a:r>
          </a:p>
          <a:p>
            <a:r>
              <a:rPr lang="en-US" sz="2200" b="1" dirty="0">
                <a:latin typeface="Times New Roman" panose="02020603050405020304" pitchFamily="18" charset="0"/>
                <a:cs typeface="Times New Roman" panose="02020603050405020304" pitchFamily="18" charset="0"/>
              </a:rPr>
              <a:t>Top-right</a:t>
            </a:r>
            <a:r>
              <a:rPr lang="en-US" sz="2200" dirty="0">
                <a:latin typeface="Times New Roman" panose="02020603050405020304" pitchFamily="18" charset="0"/>
                <a:cs typeface="Times New Roman" panose="02020603050405020304" pitchFamily="18" charset="0"/>
              </a:rPr>
              <a:t>: Smoothed by </a:t>
            </a:r>
            <a:r>
              <a:rPr lang="en-US" sz="2200" b="1" dirty="0">
                <a:latin typeface="Times New Roman" panose="02020603050405020304" pitchFamily="18" charset="0"/>
                <a:cs typeface="Times New Roman" panose="02020603050405020304" pitchFamily="18" charset="0"/>
              </a:rPr>
              <a:t>Bin Means</a:t>
            </a:r>
            <a:r>
              <a:rPr lang="en-US" sz="2200" dirty="0">
                <a:latin typeface="Times New Roman" panose="02020603050405020304" pitchFamily="18" charset="0"/>
                <a:cs typeface="Times New Roman" panose="02020603050405020304" pitchFamily="18" charset="0"/>
              </a:rPr>
              <a:t> (values averaged per bin)</a:t>
            </a:r>
          </a:p>
          <a:p>
            <a:r>
              <a:rPr lang="en-US" sz="2200" b="1" dirty="0">
                <a:latin typeface="Times New Roman" panose="02020603050405020304" pitchFamily="18" charset="0"/>
                <a:cs typeface="Times New Roman" panose="02020603050405020304" pitchFamily="18" charset="0"/>
              </a:rPr>
              <a:t>Bottom-left</a:t>
            </a:r>
            <a:r>
              <a:rPr lang="en-US" sz="2200" dirty="0">
                <a:latin typeface="Times New Roman" panose="02020603050405020304" pitchFamily="18" charset="0"/>
                <a:cs typeface="Times New Roman" panose="02020603050405020304" pitchFamily="18" charset="0"/>
              </a:rPr>
              <a:t>: Smoothed by </a:t>
            </a:r>
            <a:r>
              <a:rPr lang="en-US" sz="2200" b="1" dirty="0">
                <a:latin typeface="Times New Roman" panose="02020603050405020304" pitchFamily="18" charset="0"/>
                <a:cs typeface="Times New Roman" panose="02020603050405020304" pitchFamily="18" charset="0"/>
              </a:rPr>
              <a:t>Bin Medians</a:t>
            </a:r>
            <a:r>
              <a:rPr lang="en-US" sz="2200" dirty="0">
                <a:latin typeface="Times New Roman" panose="02020603050405020304" pitchFamily="18" charset="0"/>
                <a:cs typeface="Times New Roman" panose="02020603050405020304" pitchFamily="18" charset="0"/>
              </a:rPr>
              <a:t> (middle value per bin)</a:t>
            </a:r>
          </a:p>
          <a:p>
            <a:r>
              <a:rPr lang="en-US" sz="2200" b="1" dirty="0">
                <a:latin typeface="Times New Roman" panose="02020603050405020304" pitchFamily="18" charset="0"/>
                <a:cs typeface="Times New Roman" panose="02020603050405020304" pitchFamily="18" charset="0"/>
              </a:rPr>
              <a:t>Bottom-right</a:t>
            </a:r>
            <a:r>
              <a:rPr lang="en-US" sz="2200" dirty="0">
                <a:latin typeface="Times New Roman" panose="02020603050405020304" pitchFamily="18" charset="0"/>
                <a:cs typeface="Times New Roman" panose="02020603050405020304" pitchFamily="18" charset="0"/>
              </a:rPr>
              <a:t>: Smoothed by </a:t>
            </a:r>
            <a:r>
              <a:rPr lang="en-US" sz="2200" b="1" dirty="0">
                <a:latin typeface="Times New Roman" panose="02020603050405020304" pitchFamily="18" charset="0"/>
                <a:cs typeface="Times New Roman" panose="02020603050405020304" pitchFamily="18" charset="0"/>
              </a:rPr>
              <a:t>Bin Boundaries</a:t>
            </a:r>
            <a:r>
              <a:rPr lang="en-US" sz="2200" dirty="0">
                <a:latin typeface="Times New Roman" panose="02020603050405020304" pitchFamily="18" charset="0"/>
                <a:cs typeface="Times New Roman" panose="02020603050405020304" pitchFamily="18" charset="0"/>
              </a:rPr>
              <a:t> (values snapped to nearest bin edge)</a:t>
            </a:r>
          </a:p>
          <a:p>
            <a:r>
              <a:rPr lang="en-US" sz="2200" dirty="0">
                <a:latin typeface="Times New Roman" panose="02020603050405020304" pitchFamily="18" charset="0"/>
                <a:cs typeface="Times New Roman" panose="02020603050405020304" pitchFamily="18" charset="0"/>
              </a:rPr>
              <a:t>This shows how binning reduces fluctuations and smooths the dataset.</a:t>
            </a:r>
          </a:p>
          <a:p>
            <a:endParaRPr lang="en-IN" dirty="0"/>
          </a:p>
        </p:txBody>
      </p:sp>
    </p:spTree>
    <p:extLst>
      <p:ext uri="{BB962C8B-B14F-4D97-AF65-F5344CB8AC3E}">
        <p14:creationId xmlns:p14="http://schemas.microsoft.com/office/powerpoint/2010/main" val="1377457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0941-C7F8-CE28-CE90-21D471A9DE8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Regression</a:t>
            </a:r>
            <a:endParaRPr lang="en-IN"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A25842E3-D451-6AE0-79A6-CE7345231E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63473" y="2461846"/>
            <a:ext cx="5154337" cy="3317875"/>
          </a:xfrm>
        </p:spPr>
      </p:pic>
      <p:sp>
        <p:nvSpPr>
          <p:cNvPr id="4" name="Date Placeholder 3">
            <a:extLst>
              <a:ext uri="{FF2B5EF4-FFF2-40B4-BE49-F238E27FC236}">
                <a16:creationId xmlns:a16="http://schemas.microsoft.com/office/drawing/2014/main" id="{CE0DABC7-4A21-7B86-7BFC-136D9F4857FE}"/>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CD6F34C3-BE14-9236-D128-8085B139FF38}"/>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C0DD343D-5E5C-CDCF-5A34-D211E9F355FF}"/>
              </a:ext>
            </a:extLst>
          </p:cNvPr>
          <p:cNvSpPr>
            <a:spLocks noGrp="1"/>
          </p:cNvSpPr>
          <p:nvPr>
            <p:ph type="sldNum" sz="quarter" idx="12"/>
          </p:nvPr>
        </p:nvSpPr>
        <p:spPr/>
        <p:txBody>
          <a:bodyPr/>
          <a:lstStyle/>
          <a:p>
            <a:fld id="{F112A010-EC74-4D7C-9F05-19D71910E8F2}" type="slidenum">
              <a:rPr lang="en-IN" smtClean="0"/>
              <a:t>23</a:t>
            </a:fld>
            <a:endParaRPr lang="en-IN"/>
          </a:p>
        </p:txBody>
      </p:sp>
      <p:sp>
        <p:nvSpPr>
          <p:cNvPr id="9" name="TextBox 8">
            <a:extLst>
              <a:ext uri="{FF2B5EF4-FFF2-40B4-BE49-F238E27FC236}">
                <a16:creationId xmlns:a16="http://schemas.microsoft.com/office/drawing/2014/main" id="{E07B6A2C-01B7-C448-EEDD-351F735789B1}"/>
              </a:ext>
            </a:extLst>
          </p:cNvPr>
          <p:cNvSpPr txBox="1"/>
          <p:nvPr/>
        </p:nvSpPr>
        <p:spPr>
          <a:xfrm>
            <a:off x="941663" y="2461846"/>
            <a:ext cx="5154337" cy="344709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Here’s a simple </a:t>
            </a:r>
            <a:r>
              <a:rPr lang="en-US" sz="2200" b="1" dirty="0">
                <a:latin typeface="Times New Roman" panose="02020603050405020304" pitchFamily="18" charset="0"/>
                <a:cs typeface="Times New Roman" panose="02020603050405020304" pitchFamily="18" charset="0"/>
              </a:rPr>
              <a:t>day-to-day example</a:t>
            </a:r>
            <a:r>
              <a:rPr lang="en-US" sz="2200" dirty="0">
                <a:latin typeface="Times New Roman" panose="02020603050405020304" pitchFamily="18" charset="0"/>
                <a:cs typeface="Times New Roman" panose="02020603050405020304" pitchFamily="18" charset="0"/>
              </a:rPr>
              <a:t> of regression:</a:t>
            </a:r>
          </a:p>
          <a:p>
            <a:r>
              <a:rPr lang="en-US" sz="2200" b="1" dirty="0">
                <a:latin typeface="Times New Roman" panose="02020603050405020304" pitchFamily="18" charset="0"/>
                <a:cs typeface="Times New Roman" panose="02020603050405020304" pitchFamily="18" charset="0"/>
              </a:rPr>
              <a:t>Example: </a:t>
            </a:r>
            <a:r>
              <a:rPr lang="en-US" sz="2200" b="1" i="1" dirty="0">
                <a:latin typeface="Times New Roman" panose="02020603050405020304" pitchFamily="18" charset="0"/>
                <a:cs typeface="Times New Roman" panose="02020603050405020304" pitchFamily="18" charset="0"/>
              </a:rPr>
              <a:t>Hours studied vs Exam Score</a:t>
            </a:r>
            <a:endParaRPr lang="en-US" sz="22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blue dots represent actual student exam scores based on hours studied.</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red line is the </a:t>
            </a:r>
            <a:r>
              <a:rPr lang="en-US" sz="2200" b="1" dirty="0">
                <a:latin typeface="Times New Roman" panose="02020603050405020304" pitchFamily="18" charset="0"/>
                <a:cs typeface="Times New Roman" panose="02020603050405020304" pitchFamily="18" charset="0"/>
              </a:rPr>
              <a:t>best fit regression line</a:t>
            </a:r>
            <a:r>
              <a:rPr lang="en-US" sz="2200" dirty="0">
                <a:latin typeface="Times New Roman" panose="02020603050405020304" pitchFamily="18" charset="0"/>
                <a:cs typeface="Times New Roman" panose="02020603050405020304" pitchFamily="18" charset="0"/>
              </a:rPr>
              <a:t>, showing the general trend.</a:t>
            </a:r>
          </a:p>
          <a:p>
            <a:r>
              <a:rPr lang="en-US" sz="2200" dirty="0">
                <a:latin typeface="Times New Roman" panose="02020603050405020304" pitchFamily="18" charset="0"/>
                <a:cs typeface="Times New Roman" panose="02020603050405020304" pitchFamily="18" charset="0"/>
              </a:rPr>
              <a:t>This line smooths the data and helps predict exam scores for any given study time.</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3717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5839-EACB-8874-2CC2-31D823A16C0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cleaning as a process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603A14-EE9D-A416-8DDE-179C684860B6}"/>
              </a:ext>
            </a:extLst>
          </p:cNvPr>
          <p:cNvSpPr>
            <a:spLocks noGrp="1"/>
          </p:cNvSpPr>
          <p:nvPr>
            <p:ph idx="1"/>
          </p:nvPr>
        </p:nvSpPr>
        <p:spPr/>
        <p:txBody>
          <a:bodyPr>
            <a:normAutofit lnSpcReduction="10000"/>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Data discrepancy detection</a:t>
            </a:r>
          </a:p>
          <a:p>
            <a:r>
              <a:rPr lang="en-US" dirty="0">
                <a:solidFill>
                  <a:schemeClr val="tx1"/>
                </a:solidFill>
                <a:latin typeface="Times New Roman" panose="02020603050405020304" pitchFamily="18" charset="0"/>
                <a:cs typeface="Times New Roman" panose="02020603050405020304" pitchFamily="18" charset="0"/>
              </a:rPr>
              <a:t>Use metadata (e.g., domain, range, dependency, distribution)</a:t>
            </a:r>
            <a:endParaRPr lang="en-US" b="1"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Check field overloading </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Check uniqueness rule, consecutive rule and null rule</a:t>
            </a:r>
            <a:endParaRPr lang="en-US" b="1"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Use commercial tools</a:t>
            </a:r>
          </a:p>
          <a:p>
            <a:pPr>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rPr>
              <a:t>Data scrubbing:</a:t>
            </a:r>
          </a:p>
          <a:p>
            <a:pPr>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rPr>
              <a:t>Data auditing</a:t>
            </a:r>
          </a:p>
        </p:txBody>
      </p:sp>
      <p:sp>
        <p:nvSpPr>
          <p:cNvPr id="4" name="Date Placeholder 3">
            <a:extLst>
              <a:ext uri="{FF2B5EF4-FFF2-40B4-BE49-F238E27FC236}">
                <a16:creationId xmlns:a16="http://schemas.microsoft.com/office/drawing/2014/main" id="{F3588FEC-19B4-31AC-D05B-0341369EE7CB}"/>
              </a:ext>
            </a:extLst>
          </p:cNvPr>
          <p:cNvSpPr>
            <a:spLocks noGrp="1"/>
          </p:cNvSpPr>
          <p:nvPr>
            <p:ph type="dt" sz="half" idx="10"/>
          </p:nvPr>
        </p:nvSpPr>
        <p:spPr/>
        <p:txBody>
          <a:bodyPr/>
          <a:lstStyle/>
          <a:p>
            <a:fld id="{93A1371E-DFE5-4297-8432-82F038FE4D4B}" type="datetime1">
              <a:rPr lang="en-IN" smtClean="0"/>
              <a:t>09-09-2025</a:t>
            </a:fld>
            <a:endParaRPr lang="en-IN"/>
          </a:p>
        </p:txBody>
      </p:sp>
      <p:sp>
        <p:nvSpPr>
          <p:cNvPr id="5" name="Footer Placeholder 4">
            <a:extLst>
              <a:ext uri="{FF2B5EF4-FFF2-40B4-BE49-F238E27FC236}">
                <a16:creationId xmlns:a16="http://schemas.microsoft.com/office/drawing/2014/main" id="{D1FD83D7-52F6-2B38-F735-F9921F019714}"/>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F5F9D0A9-477F-6B9F-DBAB-C932AAF09EE0}"/>
              </a:ext>
            </a:extLst>
          </p:cNvPr>
          <p:cNvSpPr>
            <a:spLocks noGrp="1"/>
          </p:cNvSpPr>
          <p:nvPr>
            <p:ph type="sldNum" sz="quarter" idx="12"/>
          </p:nvPr>
        </p:nvSpPr>
        <p:spPr/>
        <p:txBody>
          <a:bodyPr/>
          <a:lstStyle/>
          <a:p>
            <a:fld id="{F112A010-EC74-4D7C-9F05-19D71910E8F2}" type="slidenum">
              <a:rPr lang="en-IN" smtClean="0"/>
              <a:t>24</a:t>
            </a:fld>
            <a:endParaRPr lang="en-IN"/>
          </a:p>
        </p:txBody>
      </p:sp>
    </p:spTree>
    <p:extLst>
      <p:ext uri="{BB962C8B-B14F-4D97-AF65-F5344CB8AC3E}">
        <p14:creationId xmlns:p14="http://schemas.microsoft.com/office/powerpoint/2010/main" val="54540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40063-E589-5486-B781-0C9A759E86D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migration and integration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86842C-274A-4E45-A751-4DC3E0A906D9}"/>
              </a:ext>
            </a:extLst>
          </p:cNvPr>
          <p:cNvSpPr>
            <a:spLocks noGrp="1"/>
          </p:cNvSpPr>
          <p:nvPr>
            <p:ph idx="1"/>
          </p:nvPr>
        </p:nvSpPr>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Data migration tools: allow transformations to be specified</a:t>
            </a:r>
          </a:p>
          <a:p>
            <a:r>
              <a:rPr lang="en-US" dirty="0">
                <a:solidFill>
                  <a:schemeClr val="tx1"/>
                </a:solidFill>
                <a:latin typeface="Times New Roman" panose="02020603050405020304" pitchFamily="18" charset="0"/>
                <a:cs typeface="Times New Roman" panose="02020603050405020304" pitchFamily="18" charset="0"/>
              </a:rPr>
              <a:t>ETL (Extraction/Transformation/Loading) tools: allow users to specify transformations through a graphical user interface</a:t>
            </a:r>
          </a:p>
          <a:p>
            <a:pPr marL="0" indent="0">
              <a:buNone/>
            </a:pPr>
            <a:r>
              <a:rPr lang="en-US" dirty="0">
                <a:solidFill>
                  <a:schemeClr val="tx1"/>
                </a:solidFill>
                <a:latin typeface="Times New Roman" panose="02020603050405020304" pitchFamily="18" charset="0"/>
                <a:cs typeface="Times New Roman" panose="02020603050405020304" pitchFamily="18" charset="0"/>
              </a:rPr>
              <a:t>Integration of the two processes</a:t>
            </a:r>
          </a:p>
          <a:p>
            <a:r>
              <a:rPr lang="en-US" dirty="0">
                <a:solidFill>
                  <a:schemeClr val="tx1"/>
                </a:solidFill>
                <a:latin typeface="Times New Roman" panose="02020603050405020304" pitchFamily="18" charset="0"/>
                <a:cs typeface="Times New Roman" panose="02020603050405020304" pitchFamily="18" charset="0"/>
              </a:rPr>
              <a:t>Iterative and interactive (e.g., Potter’s Wheels)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E452231-BEE0-DA74-3BF9-5ECD12CD315E}"/>
              </a:ext>
            </a:extLst>
          </p:cNvPr>
          <p:cNvSpPr>
            <a:spLocks noGrp="1"/>
          </p:cNvSpPr>
          <p:nvPr>
            <p:ph type="dt" sz="half" idx="10"/>
          </p:nvPr>
        </p:nvSpPr>
        <p:spPr/>
        <p:txBody>
          <a:bodyPr/>
          <a:lstStyle/>
          <a:p>
            <a:fld id="{3507E476-5C2D-4AAF-8DC6-E5C877FB60F9}" type="datetime1">
              <a:rPr lang="en-IN" smtClean="0"/>
              <a:t>09-09-2025</a:t>
            </a:fld>
            <a:endParaRPr lang="en-IN"/>
          </a:p>
        </p:txBody>
      </p:sp>
      <p:sp>
        <p:nvSpPr>
          <p:cNvPr id="5" name="Footer Placeholder 4">
            <a:extLst>
              <a:ext uri="{FF2B5EF4-FFF2-40B4-BE49-F238E27FC236}">
                <a16:creationId xmlns:a16="http://schemas.microsoft.com/office/drawing/2014/main" id="{D55AF74A-CF15-EFD1-349A-6AF0D62D674A}"/>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DEF093E8-43E3-1E33-81D4-9D8B9F3DFDAB}"/>
              </a:ext>
            </a:extLst>
          </p:cNvPr>
          <p:cNvSpPr>
            <a:spLocks noGrp="1"/>
          </p:cNvSpPr>
          <p:nvPr>
            <p:ph type="sldNum" sz="quarter" idx="12"/>
          </p:nvPr>
        </p:nvSpPr>
        <p:spPr/>
        <p:txBody>
          <a:bodyPr/>
          <a:lstStyle/>
          <a:p>
            <a:fld id="{F112A010-EC74-4D7C-9F05-19D71910E8F2}" type="slidenum">
              <a:rPr lang="en-IN" smtClean="0"/>
              <a:t>25</a:t>
            </a:fld>
            <a:endParaRPr lang="en-IN"/>
          </a:p>
        </p:txBody>
      </p:sp>
    </p:spTree>
    <p:extLst>
      <p:ext uri="{BB962C8B-B14F-4D97-AF65-F5344CB8AC3E}">
        <p14:creationId xmlns:p14="http://schemas.microsoft.com/office/powerpoint/2010/main" val="1778912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F898B-8F85-523D-D158-AD21825A5A4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Integration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FAA3B7-A2A3-63ED-7CE0-133BE75906F5}"/>
              </a:ext>
            </a:extLst>
          </p:cNvPr>
          <p:cNvSpPr>
            <a:spLocks noGrp="1"/>
          </p:cNvSpPr>
          <p:nvPr>
            <p:ph idx="1"/>
          </p:nvPr>
        </p:nvSpPr>
        <p:spPr>
          <a:xfrm>
            <a:off x="1295401" y="2556932"/>
            <a:ext cx="9601196" cy="3318936"/>
          </a:xfrm>
        </p:spPr>
        <p:txBody>
          <a:bodyPr>
            <a:normAutofit fontScale="92500"/>
          </a:bodyPr>
          <a:lstStyle/>
          <a:p>
            <a:r>
              <a:rPr lang="en-US" dirty="0">
                <a:solidFill>
                  <a:schemeClr val="tx1"/>
                </a:solidFill>
                <a:latin typeface="Times New Roman" panose="02020603050405020304" pitchFamily="18" charset="0"/>
                <a:cs typeface="Times New Roman" panose="02020603050405020304" pitchFamily="18" charset="0"/>
              </a:rPr>
              <a:t>Data Integration</a:t>
            </a:r>
          </a:p>
          <a:p>
            <a:pPr marL="0" indent="0">
              <a:buNone/>
            </a:pPr>
            <a:r>
              <a:rPr lang="en-US" dirty="0">
                <a:solidFill>
                  <a:schemeClr val="tx1"/>
                </a:solidFill>
                <a:latin typeface="Times New Roman" panose="02020603050405020304" pitchFamily="18" charset="0"/>
                <a:cs typeface="Times New Roman" panose="02020603050405020304" pitchFamily="18" charset="0"/>
              </a:rPr>
              <a:t>Process of combining data from different sources</a:t>
            </a:r>
          </a:p>
          <a:p>
            <a:r>
              <a:rPr lang="en-US" dirty="0">
                <a:solidFill>
                  <a:schemeClr val="tx1"/>
                </a:solidFill>
                <a:latin typeface="Times New Roman" panose="02020603050405020304" pitchFamily="18" charset="0"/>
                <a:cs typeface="Times New Roman" panose="02020603050405020304" pitchFamily="18" charset="0"/>
              </a:rPr>
              <a:t>Schema integration</a:t>
            </a:r>
          </a:p>
          <a:p>
            <a:pPr marL="0" indent="0">
              <a:buNone/>
            </a:pPr>
            <a:r>
              <a:rPr lang="en-US" dirty="0">
                <a:solidFill>
                  <a:schemeClr val="tx1"/>
                </a:solidFill>
                <a:latin typeface="Times New Roman" panose="02020603050405020304" pitchFamily="18" charset="0"/>
                <a:cs typeface="Times New Roman" panose="02020603050405020304" pitchFamily="18" charset="0"/>
              </a:rPr>
              <a:t>Matching up the structure of different databases so that they can work together</a:t>
            </a:r>
          </a:p>
          <a:p>
            <a:pPr marL="0" indent="0">
              <a:buNone/>
            </a:pPr>
            <a:r>
              <a:rPr lang="en-US" dirty="0">
                <a:solidFill>
                  <a:schemeClr val="tx1"/>
                </a:solidFill>
                <a:latin typeface="Times New Roman" panose="02020603050405020304" pitchFamily="18" charset="0"/>
                <a:cs typeface="Times New Roman" panose="02020603050405020304" pitchFamily="18" charset="0"/>
              </a:rPr>
              <a:t>Detecting and resolving data value conflicts</a:t>
            </a:r>
          </a:p>
          <a:p>
            <a:r>
              <a:rPr lang="en-US" dirty="0">
                <a:solidFill>
                  <a:schemeClr val="tx1"/>
                </a:solidFill>
                <a:latin typeface="Times New Roman" panose="02020603050405020304" pitchFamily="18" charset="0"/>
                <a:cs typeface="Times New Roman" panose="02020603050405020304" pitchFamily="18" charset="0"/>
              </a:rPr>
              <a:t>For the same real-world entity, attribute values from different sources are different</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1235994-FE59-31C1-B1F3-AE24FF1E1D12}"/>
              </a:ext>
            </a:extLst>
          </p:cNvPr>
          <p:cNvSpPr>
            <a:spLocks noGrp="1"/>
          </p:cNvSpPr>
          <p:nvPr>
            <p:ph type="dt" sz="half" idx="10"/>
          </p:nvPr>
        </p:nvSpPr>
        <p:spPr/>
        <p:txBody>
          <a:bodyPr/>
          <a:lstStyle/>
          <a:p>
            <a:fld id="{6E33DB3A-28EA-4EFC-9B62-CB99C4885053}" type="datetime1">
              <a:rPr lang="en-IN" smtClean="0"/>
              <a:t>09-09-2025</a:t>
            </a:fld>
            <a:endParaRPr lang="en-IN"/>
          </a:p>
        </p:txBody>
      </p:sp>
      <p:sp>
        <p:nvSpPr>
          <p:cNvPr id="5" name="Footer Placeholder 4">
            <a:extLst>
              <a:ext uri="{FF2B5EF4-FFF2-40B4-BE49-F238E27FC236}">
                <a16:creationId xmlns:a16="http://schemas.microsoft.com/office/drawing/2014/main" id="{67AC0CD2-E3DD-D2F2-0C8C-1F150DA571F6}"/>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AF401883-943F-1B3B-A338-920E2BA63C9D}"/>
              </a:ext>
            </a:extLst>
          </p:cNvPr>
          <p:cNvSpPr>
            <a:spLocks noGrp="1"/>
          </p:cNvSpPr>
          <p:nvPr>
            <p:ph type="sldNum" sz="quarter" idx="12"/>
          </p:nvPr>
        </p:nvSpPr>
        <p:spPr/>
        <p:txBody>
          <a:bodyPr/>
          <a:lstStyle/>
          <a:p>
            <a:fld id="{F112A010-EC74-4D7C-9F05-19D71910E8F2}" type="slidenum">
              <a:rPr lang="en-IN" smtClean="0"/>
              <a:t>26</a:t>
            </a:fld>
            <a:endParaRPr lang="en-IN"/>
          </a:p>
        </p:txBody>
      </p:sp>
    </p:spTree>
    <p:extLst>
      <p:ext uri="{BB962C8B-B14F-4D97-AF65-F5344CB8AC3E}">
        <p14:creationId xmlns:p14="http://schemas.microsoft.com/office/powerpoint/2010/main" val="959715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AE90-8618-E05D-1ADA-7BED7896338C}"/>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Handling redundancy in data integration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1011E8-93C6-BDE0-AE6A-499B03B37233}"/>
              </a:ext>
            </a:extLst>
          </p:cNvPr>
          <p:cNvSpPr>
            <a:spLocks noGrp="1"/>
          </p:cNvSpPr>
          <p:nvPr>
            <p:ph idx="1"/>
          </p:nvPr>
        </p:nvSpPr>
        <p:spPr/>
        <p:txBody>
          <a:bodyPr>
            <a:normAutofit fontScale="92500" lnSpcReduction="20000"/>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Redundant data occur often when integration of multiple databases</a:t>
            </a:r>
          </a:p>
          <a:p>
            <a:r>
              <a:rPr lang="en-US" dirty="0">
                <a:solidFill>
                  <a:schemeClr val="tx1"/>
                </a:solidFill>
                <a:latin typeface="Times New Roman" panose="02020603050405020304" pitchFamily="18" charset="0"/>
                <a:cs typeface="Times New Roman" panose="02020603050405020304" pitchFamily="18" charset="0"/>
              </a:rPr>
              <a:t>Object identification: The same attribute or object may have different names in different databases</a:t>
            </a:r>
          </a:p>
          <a:p>
            <a:r>
              <a:rPr lang="en-US" dirty="0">
                <a:solidFill>
                  <a:schemeClr val="tx1"/>
                </a:solidFill>
                <a:latin typeface="Times New Roman" panose="02020603050405020304" pitchFamily="18" charset="0"/>
                <a:cs typeface="Times New Roman" panose="02020603050405020304" pitchFamily="18" charset="0"/>
              </a:rPr>
              <a:t>Derivable data: One attribute may be a “derived” attribute in another table, e.g., annual revenue</a:t>
            </a:r>
          </a:p>
          <a:p>
            <a:r>
              <a:rPr lang="en-US" dirty="0">
                <a:solidFill>
                  <a:schemeClr val="tx1"/>
                </a:solidFill>
                <a:latin typeface="Times New Roman" panose="02020603050405020304" pitchFamily="18" charset="0"/>
                <a:cs typeface="Times New Roman" panose="02020603050405020304" pitchFamily="18" charset="0"/>
              </a:rPr>
              <a:t>Redundant attributes may be able to be detected by correlation analysis and covariance analysis</a:t>
            </a:r>
          </a:p>
          <a:p>
            <a:r>
              <a:rPr lang="en-US" dirty="0">
                <a:solidFill>
                  <a:schemeClr val="tx1"/>
                </a:solidFill>
                <a:latin typeface="Times New Roman" panose="02020603050405020304" pitchFamily="18" charset="0"/>
                <a:cs typeface="Times New Roman" panose="02020603050405020304" pitchFamily="18" charset="0"/>
              </a:rPr>
              <a:t>Careful integration of the data from multiple sources may help reduce/avoid redundancies and inconsistencies and improve mining speed and quality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2DDF792-1652-3362-D929-AE5961C4C1B5}"/>
              </a:ext>
            </a:extLst>
          </p:cNvPr>
          <p:cNvSpPr>
            <a:spLocks noGrp="1"/>
          </p:cNvSpPr>
          <p:nvPr>
            <p:ph type="dt" sz="half" idx="10"/>
          </p:nvPr>
        </p:nvSpPr>
        <p:spPr/>
        <p:txBody>
          <a:bodyPr/>
          <a:lstStyle/>
          <a:p>
            <a:fld id="{687561D7-5926-4EB3-B5AD-0F26A055CF64}" type="datetime1">
              <a:rPr lang="en-IN" smtClean="0"/>
              <a:t>09-09-2025</a:t>
            </a:fld>
            <a:endParaRPr lang="en-IN"/>
          </a:p>
        </p:txBody>
      </p:sp>
      <p:sp>
        <p:nvSpPr>
          <p:cNvPr id="5" name="Footer Placeholder 4">
            <a:extLst>
              <a:ext uri="{FF2B5EF4-FFF2-40B4-BE49-F238E27FC236}">
                <a16:creationId xmlns:a16="http://schemas.microsoft.com/office/drawing/2014/main" id="{80C86C03-DF66-7939-D154-34C85E8190DC}"/>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BD3103CF-D294-279B-E995-5119874C90D5}"/>
              </a:ext>
            </a:extLst>
          </p:cNvPr>
          <p:cNvSpPr>
            <a:spLocks noGrp="1"/>
          </p:cNvSpPr>
          <p:nvPr>
            <p:ph type="sldNum" sz="quarter" idx="12"/>
          </p:nvPr>
        </p:nvSpPr>
        <p:spPr/>
        <p:txBody>
          <a:bodyPr/>
          <a:lstStyle/>
          <a:p>
            <a:fld id="{F112A010-EC74-4D7C-9F05-19D71910E8F2}" type="slidenum">
              <a:rPr lang="en-IN" smtClean="0"/>
              <a:t>27</a:t>
            </a:fld>
            <a:endParaRPr lang="en-IN"/>
          </a:p>
        </p:txBody>
      </p:sp>
    </p:spTree>
    <p:extLst>
      <p:ext uri="{BB962C8B-B14F-4D97-AF65-F5344CB8AC3E}">
        <p14:creationId xmlns:p14="http://schemas.microsoft.com/office/powerpoint/2010/main" val="3998774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506D-8170-214F-0F1E-15591FEA71E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Reduction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C4C1075-CD5A-68E8-3AB9-8B5EAAFEF6A9}"/>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Data reduction: </a:t>
            </a:r>
            <a:r>
              <a:rPr lang="en-US" dirty="0">
                <a:latin typeface="Times New Roman" panose="02020603050405020304" pitchFamily="18" charset="0"/>
                <a:cs typeface="Times New Roman" panose="02020603050405020304" pitchFamily="18" charset="0"/>
              </a:rPr>
              <a:t>Obtain a reduced representation of the data set that is much smaller in volume but yet produces the same (or almost the same) analytical results.</a:t>
            </a:r>
          </a:p>
          <a:p>
            <a:pPr algn="just"/>
            <a:r>
              <a:rPr lang="en-US" b="1" dirty="0"/>
              <a:t>Why data reduction? </a:t>
            </a:r>
            <a:r>
              <a:rPr lang="en-US" dirty="0"/>
              <a:t>— A database/data warehouse may store terabytes of data. Complex data analysis may take a very long time to run on the complete data set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5FCA2AF-42D7-E5DA-C2FC-42E817238D6A}"/>
              </a:ext>
            </a:extLst>
          </p:cNvPr>
          <p:cNvSpPr>
            <a:spLocks noGrp="1"/>
          </p:cNvSpPr>
          <p:nvPr>
            <p:ph type="dt" sz="half" idx="10"/>
          </p:nvPr>
        </p:nvSpPr>
        <p:spPr/>
        <p:txBody>
          <a:bodyPr/>
          <a:lstStyle/>
          <a:p>
            <a:fld id="{E3C5A6E9-AE03-4AD7-B86D-DB93139BCE01}" type="datetime1">
              <a:rPr lang="en-IN" smtClean="0"/>
              <a:t>09-09-2025</a:t>
            </a:fld>
            <a:endParaRPr lang="en-IN"/>
          </a:p>
        </p:txBody>
      </p:sp>
      <p:sp>
        <p:nvSpPr>
          <p:cNvPr id="5" name="Footer Placeholder 4">
            <a:extLst>
              <a:ext uri="{FF2B5EF4-FFF2-40B4-BE49-F238E27FC236}">
                <a16:creationId xmlns:a16="http://schemas.microsoft.com/office/drawing/2014/main" id="{F14382B6-33EA-F8A2-0943-23CE31892478}"/>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C1C1127E-D9AB-AE7F-E163-03AD9DD55CE0}"/>
              </a:ext>
            </a:extLst>
          </p:cNvPr>
          <p:cNvSpPr>
            <a:spLocks noGrp="1"/>
          </p:cNvSpPr>
          <p:nvPr>
            <p:ph type="sldNum" sz="quarter" idx="12"/>
          </p:nvPr>
        </p:nvSpPr>
        <p:spPr/>
        <p:txBody>
          <a:bodyPr/>
          <a:lstStyle/>
          <a:p>
            <a:fld id="{F112A010-EC74-4D7C-9F05-19D71910E8F2}" type="slidenum">
              <a:rPr lang="en-IN" smtClean="0"/>
              <a:t>28</a:t>
            </a:fld>
            <a:endParaRPr lang="en-IN"/>
          </a:p>
        </p:txBody>
      </p:sp>
    </p:spTree>
    <p:extLst>
      <p:ext uri="{BB962C8B-B14F-4D97-AF65-F5344CB8AC3E}">
        <p14:creationId xmlns:p14="http://schemas.microsoft.com/office/powerpoint/2010/main" val="2527511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A9886-CAB4-F189-C05B-FA0DD9B78B8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reduction strategies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C478B8-F4FC-FF88-878F-EDC3DF4BFF26}"/>
              </a:ext>
            </a:extLst>
          </p:cNvPr>
          <p:cNvSpPr>
            <a:spLocks noGrp="1"/>
          </p:cNvSpPr>
          <p:nvPr>
            <p:ph idx="1"/>
          </p:nvPr>
        </p:nvSpPr>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Dimensionality reduction, e.g., remove unimportant attributes</a:t>
            </a:r>
          </a:p>
          <a:p>
            <a:r>
              <a:rPr lang="en-US" dirty="0">
                <a:latin typeface="Times New Roman" panose="02020603050405020304" pitchFamily="18" charset="0"/>
                <a:cs typeface="Times New Roman" panose="02020603050405020304" pitchFamily="18" charset="0"/>
              </a:rPr>
              <a:t>Wavelet transforms </a:t>
            </a:r>
          </a:p>
          <a:p>
            <a:r>
              <a:rPr lang="en-US" dirty="0">
                <a:latin typeface="Times New Roman" panose="02020603050405020304" pitchFamily="18" charset="0"/>
                <a:cs typeface="Times New Roman" panose="02020603050405020304" pitchFamily="18" charset="0"/>
              </a:rPr>
              <a:t>Principal Components Analysis (PCA) </a:t>
            </a:r>
          </a:p>
          <a:p>
            <a:r>
              <a:rPr lang="en-US" dirty="0">
                <a:latin typeface="Times New Roman" panose="02020603050405020304" pitchFamily="18" charset="0"/>
                <a:cs typeface="Times New Roman" panose="02020603050405020304" pitchFamily="18" charset="0"/>
              </a:rPr>
              <a:t>Feature subset selection, feature creation</a:t>
            </a:r>
          </a:p>
          <a:p>
            <a:pPr marL="0" indent="0">
              <a:buNone/>
            </a:pPr>
            <a:r>
              <a:rPr lang="en-US" b="1" dirty="0">
                <a:latin typeface="Times New Roman" panose="02020603050405020304" pitchFamily="18" charset="0"/>
                <a:cs typeface="Times New Roman" panose="02020603050405020304" pitchFamily="18" charset="0"/>
              </a:rPr>
              <a:t>Numerosity reduction (some simply call it: Data Reduction)</a:t>
            </a:r>
          </a:p>
          <a:p>
            <a:r>
              <a:rPr lang="en-US" dirty="0">
                <a:latin typeface="Times New Roman" panose="02020603050405020304" pitchFamily="18" charset="0"/>
                <a:cs typeface="Times New Roman" panose="02020603050405020304" pitchFamily="18" charset="0"/>
              </a:rPr>
              <a:t>Regression and Log-Linear Models </a:t>
            </a:r>
          </a:p>
          <a:p>
            <a:r>
              <a:rPr lang="en-US" dirty="0">
                <a:latin typeface="Times New Roman" panose="02020603050405020304" pitchFamily="18" charset="0"/>
                <a:cs typeface="Times New Roman" panose="02020603050405020304" pitchFamily="18" charset="0"/>
              </a:rPr>
              <a:t> Histograms, clustering, sampling </a:t>
            </a:r>
          </a:p>
          <a:p>
            <a:r>
              <a:rPr lang="en-US" dirty="0">
                <a:latin typeface="Times New Roman" panose="02020603050405020304" pitchFamily="18" charset="0"/>
                <a:cs typeface="Times New Roman" panose="02020603050405020304" pitchFamily="18" charset="0"/>
              </a:rPr>
              <a:t>Data cube aggregation</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D1273E9-4A36-C132-8D8A-892CDB0AD687}"/>
              </a:ext>
            </a:extLst>
          </p:cNvPr>
          <p:cNvSpPr>
            <a:spLocks noGrp="1"/>
          </p:cNvSpPr>
          <p:nvPr>
            <p:ph type="dt" sz="half" idx="10"/>
          </p:nvPr>
        </p:nvSpPr>
        <p:spPr/>
        <p:txBody>
          <a:bodyPr/>
          <a:lstStyle/>
          <a:p>
            <a:fld id="{6D636D88-5674-4ADB-B6BC-20E5EE870B4C}" type="datetime1">
              <a:rPr lang="en-IN" smtClean="0"/>
              <a:t>09-09-2025</a:t>
            </a:fld>
            <a:endParaRPr lang="en-IN"/>
          </a:p>
        </p:txBody>
      </p:sp>
      <p:sp>
        <p:nvSpPr>
          <p:cNvPr id="5" name="Footer Placeholder 4">
            <a:extLst>
              <a:ext uri="{FF2B5EF4-FFF2-40B4-BE49-F238E27FC236}">
                <a16:creationId xmlns:a16="http://schemas.microsoft.com/office/drawing/2014/main" id="{ED536358-5C21-FF53-ADA1-25C056FCE8C0}"/>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C35BB240-F69A-DC73-4525-6C0B5D9E9863}"/>
              </a:ext>
            </a:extLst>
          </p:cNvPr>
          <p:cNvSpPr>
            <a:spLocks noGrp="1"/>
          </p:cNvSpPr>
          <p:nvPr>
            <p:ph type="sldNum" sz="quarter" idx="12"/>
          </p:nvPr>
        </p:nvSpPr>
        <p:spPr/>
        <p:txBody>
          <a:bodyPr/>
          <a:lstStyle/>
          <a:p>
            <a:fld id="{F112A010-EC74-4D7C-9F05-19D71910E8F2}" type="slidenum">
              <a:rPr lang="en-IN" smtClean="0"/>
              <a:t>29</a:t>
            </a:fld>
            <a:endParaRPr lang="en-IN"/>
          </a:p>
        </p:txBody>
      </p:sp>
    </p:spTree>
    <p:extLst>
      <p:ext uri="{BB962C8B-B14F-4D97-AF65-F5344CB8AC3E}">
        <p14:creationId xmlns:p14="http://schemas.microsoft.com/office/powerpoint/2010/main" val="226674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F991-7ACD-10AE-5D12-3EA5D473404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Transformation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966CB5-F9E1-8C07-50DC-3E153877B7FE}"/>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 function that maps the entire set of values of a given attribute to a new set of replacement values </a:t>
            </a:r>
            <a:r>
              <a:rPr lang="en-US" dirty="0" err="1">
                <a:solidFill>
                  <a:schemeClr val="tx1"/>
                </a:solidFill>
                <a:latin typeface="Times New Roman" panose="02020603050405020304" pitchFamily="18" charset="0"/>
                <a:cs typeface="Times New Roman" panose="02020603050405020304" pitchFamily="18" charset="0"/>
              </a:rPr>
              <a:t>s.t.</a:t>
            </a:r>
            <a:r>
              <a:rPr lang="en-US" dirty="0">
                <a:solidFill>
                  <a:schemeClr val="tx1"/>
                </a:solidFill>
                <a:latin typeface="Times New Roman" panose="02020603050405020304" pitchFamily="18" charset="0"/>
                <a:cs typeface="Times New Roman" panose="02020603050405020304" pitchFamily="18" charset="0"/>
              </a:rPr>
              <a:t> each old value can be identified with one of the new values</a:t>
            </a:r>
          </a:p>
          <a:p>
            <a:r>
              <a:rPr lang="en-US" dirty="0">
                <a:solidFill>
                  <a:schemeClr val="tx1"/>
                </a:solidFill>
                <a:latin typeface="Times New Roman" panose="02020603050405020304" pitchFamily="18" charset="0"/>
                <a:cs typeface="Times New Roman" panose="02020603050405020304" pitchFamily="18" charset="0"/>
              </a:rPr>
              <a:t>Methods</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Smoothing: Remove noise from data</a:t>
            </a:r>
          </a:p>
          <a:p>
            <a:pP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Attribute/feature construction</a:t>
            </a:r>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Aggregation: Summarization, data cube construction</a:t>
            </a:r>
          </a:p>
        </p:txBody>
      </p:sp>
      <p:sp>
        <p:nvSpPr>
          <p:cNvPr id="4" name="Date Placeholder 3">
            <a:extLst>
              <a:ext uri="{FF2B5EF4-FFF2-40B4-BE49-F238E27FC236}">
                <a16:creationId xmlns:a16="http://schemas.microsoft.com/office/drawing/2014/main" id="{B93144F2-634E-76F6-D839-5392201DF9E2}"/>
              </a:ext>
            </a:extLst>
          </p:cNvPr>
          <p:cNvSpPr>
            <a:spLocks noGrp="1"/>
          </p:cNvSpPr>
          <p:nvPr>
            <p:ph type="dt" sz="half" idx="10"/>
          </p:nvPr>
        </p:nvSpPr>
        <p:spPr/>
        <p:txBody>
          <a:bodyPr/>
          <a:lstStyle/>
          <a:p>
            <a:fld id="{FB061643-818A-4D15-A136-F1596B19DD74}" type="datetime1">
              <a:rPr lang="en-IN" smtClean="0"/>
              <a:t>09-09-2025</a:t>
            </a:fld>
            <a:endParaRPr lang="en-IN"/>
          </a:p>
        </p:txBody>
      </p:sp>
      <p:sp>
        <p:nvSpPr>
          <p:cNvPr id="5" name="Footer Placeholder 4">
            <a:extLst>
              <a:ext uri="{FF2B5EF4-FFF2-40B4-BE49-F238E27FC236}">
                <a16:creationId xmlns:a16="http://schemas.microsoft.com/office/drawing/2014/main" id="{D3B0B29F-33A1-B0C7-4A39-6E683AB6EB33}"/>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43F6859B-6889-2072-5270-051225DC2E31}"/>
              </a:ext>
            </a:extLst>
          </p:cNvPr>
          <p:cNvSpPr>
            <a:spLocks noGrp="1"/>
          </p:cNvSpPr>
          <p:nvPr>
            <p:ph type="sldNum" sz="quarter" idx="12"/>
          </p:nvPr>
        </p:nvSpPr>
        <p:spPr/>
        <p:txBody>
          <a:bodyPr/>
          <a:lstStyle/>
          <a:p>
            <a:fld id="{F112A010-EC74-4D7C-9F05-19D71910E8F2}" type="slidenum">
              <a:rPr lang="en-IN" smtClean="0"/>
              <a:t>30</a:t>
            </a:fld>
            <a:endParaRPr lang="en-IN"/>
          </a:p>
        </p:txBody>
      </p:sp>
    </p:spTree>
    <p:extLst>
      <p:ext uri="{BB962C8B-B14F-4D97-AF65-F5344CB8AC3E}">
        <p14:creationId xmlns:p14="http://schemas.microsoft.com/office/powerpoint/2010/main" val="2550349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9CE5-006E-3D4A-23ED-8ED300621B5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Transformation</a:t>
            </a:r>
            <a:endParaRPr lang="en-IN" dirty="0"/>
          </a:p>
        </p:txBody>
      </p:sp>
      <p:sp>
        <p:nvSpPr>
          <p:cNvPr id="3" name="Content Placeholder 2">
            <a:extLst>
              <a:ext uri="{FF2B5EF4-FFF2-40B4-BE49-F238E27FC236}">
                <a16:creationId xmlns:a16="http://schemas.microsoft.com/office/drawing/2014/main" id="{7249C9F9-172E-D65B-5722-B853E12667AD}"/>
              </a:ext>
            </a:extLst>
          </p:cNvPr>
          <p:cNvSpPr>
            <a:spLocks noGrp="1"/>
          </p:cNvSpPr>
          <p:nvPr>
            <p:ph idx="1"/>
          </p:nvPr>
        </p:nvSpPr>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Normalization: Scaled to fall within a smaller, specified range</a:t>
            </a:r>
          </a:p>
          <a:p>
            <a:r>
              <a:rPr lang="en-IN" dirty="0">
                <a:solidFill>
                  <a:schemeClr val="tx1"/>
                </a:solidFill>
                <a:latin typeface="Times New Roman" panose="02020603050405020304" pitchFamily="18" charset="0"/>
                <a:cs typeface="Times New Roman" panose="02020603050405020304" pitchFamily="18" charset="0"/>
              </a:rPr>
              <a:t>min-max normalization</a:t>
            </a:r>
          </a:p>
          <a:p>
            <a:r>
              <a:rPr lang="en-IN" dirty="0">
                <a:solidFill>
                  <a:schemeClr val="tx1"/>
                </a:solidFill>
                <a:latin typeface="Times New Roman" panose="02020603050405020304" pitchFamily="18" charset="0"/>
                <a:cs typeface="Times New Roman" panose="02020603050405020304" pitchFamily="18" charset="0"/>
              </a:rPr>
              <a:t>z-score normalization</a:t>
            </a:r>
          </a:p>
          <a:p>
            <a:r>
              <a:rPr lang="en-IN" dirty="0">
                <a:solidFill>
                  <a:schemeClr val="tx1"/>
                </a:solidFill>
                <a:latin typeface="Times New Roman" panose="02020603050405020304" pitchFamily="18" charset="0"/>
                <a:cs typeface="Times New Roman" panose="02020603050405020304" pitchFamily="18" charset="0"/>
              </a:rPr>
              <a:t>normalization by decimal scaling</a:t>
            </a:r>
          </a:p>
        </p:txBody>
      </p:sp>
      <p:sp>
        <p:nvSpPr>
          <p:cNvPr id="4" name="Date Placeholder 3">
            <a:extLst>
              <a:ext uri="{FF2B5EF4-FFF2-40B4-BE49-F238E27FC236}">
                <a16:creationId xmlns:a16="http://schemas.microsoft.com/office/drawing/2014/main" id="{594A1F59-BA14-0EF9-F5A6-6E29B55F2CD1}"/>
              </a:ext>
            </a:extLst>
          </p:cNvPr>
          <p:cNvSpPr>
            <a:spLocks noGrp="1"/>
          </p:cNvSpPr>
          <p:nvPr>
            <p:ph type="dt" sz="half" idx="10"/>
          </p:nvPr>
        </p:nvSpPr>
        <p:spPr/>
        <p:txBody>
          <a:bodyPr/>
          <a:lstStyle/>
          <a:p>
            <a:fld id="{5A9099E9-D334-4094-86D5-D975F0159755}" type="datetime1">
              <a:rPr lang="en-IN" smtClean="0"/>
              <a:t>09-09-2025</a:t>
            </a:fld>
            <a:endParaRPr lang="en-IN"/>
          </a:p>
        </p:txBody>
      </p:sp>
      <p:sp>
        <p:nvSpPr>
          <p:cNvPr id="5" name="Footer Placeholder 4">
            <a:extLst>
              <a:ext uri="{FF2B5EF4-FFF2-40B4-BE49-F238E27FC236}">
                <a16:creationId xmlns:a16="http://schemas.microsoft.com/office/drawing/2014/main" id="{AEF8B787-031D-019F-D8DF-340EC7666BCE}"/>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EB2C2F52-2B2D-AC4A-1313-794B328ECA99}"/>
              </a:ext>
            </a:extLst>
          </p:cNvPr>
          <p:cNvSpPr>
            <a:spLocks noGrp="1"/>
          </p:cNvSpPr>
          <p:nvPr>
            <p:ph type="sldNum" sz="quarter" idx="12"/>
          </p:nvPr>
        </p:nvSpPr>
        <p:spPr/>
        <p:txBody>
          <a:bodyPr/>
          <a:lstStyle/>
          <a:p>
            <a:fld id="{F112A010-EC74-4D7C-9F05-19D71910E8F2}" type="slidenum">
              <a:rPr lang="en-IN" smtClean="0"/>
              <a:t>31</a:t>
            </a:fld>
            <a:endParaRPr lang="en-IN"/>
          </a:p>
        </p:txBody>
      </p:sp>
    </p:spTree>
    <p:extLst>
      <p:ext uri="{BB962C8B-B14F-4D97-AF65-F5344CB8AC3E}">
        <p14:creationId xmlns:p14="http://schemas.microsoft.com/office/powerpoint/2010/main" val="1524843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12F9A-4CA4-0316-DF2F-087E776AB9D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Normalization</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39F5E0A3-BBE9-056C-FD41-9887AA876CEF}"/>
              </a:ext>
            </a:extLst>
          </p:cNvPr>
          <p:cNvGraphicFramePr>
            <a:graphicFrameLocks noGrp="1"/>
          </p:cNvGraphicFramePr>
          <p:nvPr>
            <p:ph idx="1"/>
            <p:extLst>
              <p:ext uri="{D42A27DB-BD31-4B8C-83A1-F6EECF244321}">
                <p14:modId xmlns:p14="http://schemas.microsoft.com/office/powerpoint/2010/main" val="1797722467"/>
              </p:ext>
            </p:extLst>
          </p:nvPr>
        </p:nvGraphicFramePr>
        <p:xfrm>
          <a:off x="1670180" y="2828051"/>
          <a:ext cx="8172061" cy="1981200"/>
        </p:xfrm>
        <a:graphic>
          <a:graphicData uri="http://schemas.openxmlformats.org/drawingml/2006/table">
            <a:tbl>
              <a:tblPr firstRow="1" bandRow="1">
                <a:tableStyleId>{5C22544A-7EE6-4342-B048-85BDC9FD1C3A}</a:tableStyleId>
              </a:tblPr>
              <a:tblGrid>
                <a:gridCol w="923730">
                  <a:extLst>
                    <a:ext uri="{9D8B030D-6E8A-4147-A177-3AD203B41FA5}">
                      <a16:colId xmlns:a16="http://schemas.microsoft.com/office/drawing/2014/main" val="3582247035"/>
                    </a:ext>
                  </a:extLst>
                </a:gridCol>
                <a:gridCol w="2447731">
                  <a:extLst>
                    <a:ext uri="{9D8B030D-6E8A-4147-A177-3AD203B41FA5}">
                      <a16:colId xmlns:a16="http://schemas.microsoft.com/office/drawing/2014/main" val="3659555047"/>
                    </a:ext>
                  </a:extLst>
                </a:gridCol>
                <a:gridCol w="2400300">
                  <a:extLst>
                    <a:ext uri="{9D8B030D-6E8A-4147-A177-3AD203B41FA5}">
                      <a16:colId xmlns:a16="http://schemas.microsoft.com/office/drawing/2014/main" val="627293614"/>
                    </a:ext>
                  </a:extLst>
                </a:gridCol>
                <a:gridCol w="2400300">
                  <a:extLst>
                    <a:ext uri="{9D8B030D-6E8A-4147-A177-3AD203B41FA5}">
                      <a16:colId xmlns:a16="http://schemas.microsoft.com/office/drawing/2014/main" val="1534196164"/>
                    </a:ext>
                  </a:extLst>
                </a:gridCol>
              </a:tblGrid>
              <a:tr h="370840">
                <a:tc>
                  <a:txBody>
                    <a:bodyPr/>
                    <a:lstStyle/>
                    <a:p>
                      <a:r>
                        <a:rPr lang="en-US" sz="2000" dirty="0">
                          <a:latin typeface="Times New Roman" panose="02020603050405020304" pitchFamily="18" charset="0"/>
                          <a:cs typeface="Times New Roman" panose="02020603050405020304" pitchFamily="18" charset="0"/>
                        </a:rPr>
                        <a:t>House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Square foot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Bedrooms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Price(in Lakhs)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4393333"/>
                  </a:ext>
                </a:extLst>
              </a:tr>
              <a:tr h="370840">
                <a:tc>
                  <a:txBody>
                    <a:bodyPr/>
                    <a:lstStyle/>
                    <a:p>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1200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8548257"/>
                  </a:ext>
                </a:extLst>
              </a:tr>
              <a:tr h="370840">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60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41474246"/>
                  </a:ext>
                </a:extLst>
              </a:tr>
              <a:tr h="370840">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2630048"/>
                  </a:ext>
                </a:extLst>
              </a:tr>
              <a:tr h="370840">
                <a:tc>
                  <a:txBody>
                    <a:bodyPr/>
                    <a:lstStyle/>
                    <a:p>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1800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243975"/>
                  </a:ext>
                </a:extLst>
              </a:tr>
            </a:tbl>
          </a:graphicData>
        </a:graphic>
      </p:graphicFrame>
      <p:sp>
        <p:nvSpPr>
          <p:cNvPr id="4" name="Date Placeholder 3">
            <a:extLst>
              <a:ext uri="{FF2B5EF4-FFF2-40B4-BE49-F238E27FC236}">
                <a16:creationId xmlns:a16="http://schemas.microsoft.com/office/drawing/2014/main" id="{57CDFF98-D1C0-E0F2-BAC1-6107F230C40C}"/>
              </a:ext>
            </a:extLst>
          </p:cNvPr>
          <p:cNvSpPr>
            <a:spLocks noGrp="1"/>
          </p:cNvSpPr>
          <p:nvPr>
            <p:ph type="dt" sz="half" idx="10"/>
          </p:nvPr>
        </p:nvSpPr>
        <p:spPr/>
        <p:txBody>
          <a:bodyPr/>
          <a:lstStyle/>
          <a:p>
            <a:fld id="{0DCA4EEB-BD14-437E-B54E-5A75A1D3F3CF}" type="datetime1">
              <a:rPr lang="en-IN" smtClean="0"/>
              <a:t>09-09-2025</a:t>
            </a:fld>
            <a:endParaRPr lang="en-IN"/>
          </a:p>
        </p:txBody>
      </p:sp>
      <p:sp>
        <p:nvSpPr>
          <p:cNvPr id="5" name="Footer Placeholder 4">
            <a:extLst>
              <a:ext uri="{FF2B5EF4-FFF2-40B4-BE49-F238E27FC236}">
                <a16:creationId xmlns:a16="http://schemas.microsoft.com/office/drawing/2014/main" id="{17A98F2B-D097-94A0-F240-C9243F69E231}"/>
              </a:ext>
            </a:extLst>
          </p:cNvPr>
          <p:cNvSpPr>
            <a:spLocks noGrp="1"/>
          </p:cNvSpPr>
          <p:nvPr>
            <p:ph type="ftr" sz="quarter" idx="11"/>
          </p:nvPr>
        </p:nvSpPr>
        <p:spPr/>
        <p:txBody>
          <a:bodyPr/>
          <a:lstStyle/>
          <a:p>
            <a:r>
              <a:rPr lang="en-IN"/>
              <a:t>Data analytics Session 3</a:t>
            </a:r>
          </a:p>
        </p:txBody>
      </p:sp>
      <p:sp>
        <p:nvSpPr>
          <p:cNvPr id="6" name="Slide Number Placeholder 5">
            <a:extLst>
              <a:ext uri="{FF2B5EF4-FFF2-40B4-BE49-F238E27FC236}">
                <a16:creationId xmlns:a16="http://schemas.microsoft.com/office/drawing/2014/main" id="{9841D492-B0C4-61D4-5C2E-53CD1381852D}"/>
              </a:ext>
            </a:extLst>
          </p:cNvPr>
          <p:cNvSpPr>
            <a:spLocks noGrp="1"/>
          </p:cNvSpPr>
          <p:nvPr>
            <p:ph type="sldNum" sz="quarter" idx="12"/>
          </p:nvPr>
        </p:nvSpPr>
        <p:spPr/>
        <p:txBody>
          <a:bodyPr/>
          <a:lstStyle/>
          <a:p>
            <a:fld id="{F112A010-EC74-4D7C-9F05-19D71910E8F2}" type="slidenum">
              <a:rPr lang="en-IN" smtClean="0"/>
              <a:t>32</a:t>
            </a:fld>
            <a:endParaRPr lang="en-IN"/>
          </a:p>
        </p:txBody>
      </p:sp>
    </p:spTree>
    <p:extLst>
      <p:ext uri="{BB962C8B-B14F-4D97-AF65-F5344CB8AC3E}">
        <p14:creationId xmlns:p14="http://schemas.microsoft.com/office/powerpoint/2010/main" val="299324222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601</TotalTime>
  <Words>2305</Words>
  <Application>Microsoft Office PowerPoint</Application>
  <PresentationFormat>Widescreen</PresentationFormat>
  <Paragraphs>311</Paragraphs>
  <Slides>32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Garamond</vt:lpstr>
      <vt:lpstr>Times New Roman</vt:lpstr>
      <vt:lpstr>Wingdings</vt:lpstr>
      <vt:lpstr>Organic</vt:lpstr>
      <vt:lpstr>Data Preprocessing</vt:lpstr>
      <vt:lpstr>What is data preprocessing</vt:lpstr>
      <vt:lpstr>Data quality</vt:lpstr>
      <vt:lpstr>Why data preprocessing is required?</vt:lpstr>
      <vt:lpstr>Major tasks in data processing</vt:lpstr>
      <vt:lpstr>Data cleaning</vt:lpstr>
      <vt:lpstr>Different ways of handling missing values</vt:lpstr>
      <vt:lpstr>PowerPoint Presentation</vt:lpstr>
      <vt:lpstr>Original data</vt:lpstr>
      <vt:lpstr>Original data</vt:lpstr>
      <vt:lpstr>Original data</vt:lpstr>
      <vt:lpstr>Original data</vt:lpstr>
      <vt:lpstr>Different ways of handling missing values</vt:lpstr>
      <vt:lpstr>Original data</vt:lpstr>
      <vt:lpstr>Original data</vt:lpstr>
      <vt:lpstr>Data cleaning</vt:lpstr>
      <vt:lpstr>PowerPoint Presentation</vt:lpstr>
      <vt:lpstr>Reasons of missing data</vt:lpstr>
      <vt:lpstr>How to handle noisy data</vt:lpstr>
      <vt:lpstr>How to handle noisy data</vt:lpstr>
      <vt:lpstr>Numerical</vt:lpstr>
      <vt:lpstr>PowerPoint Presentation</vt:lpstr>
      <vt:lpstr>Regression</vt:lpstr>
      <vt:lpstr>Data cleaning as a process</vt:lpstr>
      <vt:lpstr>Data migration and integration</vt:lpstr>
      <vt:lpstr>Data Integration</vt:lpstr>
      <vt:lpstr>Handling redundancy in data integration</vt:lpstr>
      <vt:lpstr>Data Reduction</vt:lpstr>
      <vt:lpstr>Data reduction strategies</vt:lpstr>
      <vt:lpstr>Data Transformation</vt:lpstr>
      <vt:lpstr>Data Transformation</vt:lpstr>
      <vt:lpstr>Normalization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13</cp:revision>
  <dcterms:created xsi:type="dcterms:W3CDTF">2024-08-27T15:20:23Z</dcterms:created>
  <dcterms:modified xsi:type="dcterms:W3CDTF">2025-09-09T15:28:27Z</dcterms:modified>
</cp:coreProperties>
</file>