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63" r:id="rId3"/>
    <p:sldId id="264" r:id="rId4"/>
    <p:sldId id="265" r:id="rId5"/>
    <p:sldId id="266" r:id="rId6"/>
    <p:sldId id="267" r:id="rId7"/>
    <p:sldId id="268" r:id="rId8"/>
    <p:sldId id="260" r:id="rId9"/>
    <p:sldId id="258" r:id="rId10"/>
    <p:sldId id="259" r:id="rId11"/>
    <p:sldId id="261" r:id="rId12"/>
    <p:sldId id="262"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762"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95855" units="1/cm"/>
          <inkml:channelProperty channel="T" name="resolution" value="1" units="1/dev"/>
        </inkml:channelProperties>
      </inkml:inkSource>
      <inkml:timestamp xml:id="ts0" timeString="2025-09-08T04:43:41.491"/>
    </inkml:context>
    <inkml:brush xml:id="br0">
      <inkml:brushProperty name="width" value="0.05292" units="cm"/>
      <inkml:brushProperty name="height" value="0.05292" units="cm"/>
      <inkml:brushProperty name="color" value="#FF0000"/>
    </inkml:brush>
  </inkml:definitions>
  <inkml:trace contextRef="#ctx0" brushRef="#br0">5710 10825 0</inkml:trace>
  <inkml:trace contextRef="#ctx0" brushRef="#br0" timeOffset="23728.04">10284 13480 0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C04EF1-8D6C-4D8D-8E52-7B9BC3299FD6}" type="datetimeFigureOut">
              <a:rPr lang="en-IN" smtClean="0"/>
              <a:t>08-09-2025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77E697-65E9-4E70-8FE0-7F81DDF1BCC1}" type="slidenum">
              <a:rPr lang="en-IN" smtClean="0"/>
              <a:t>‹#›</a:t>
            </a:fld>
            <a:endParaRPr lang="en-IN"/>
          </a:p>
        </p:txBody>
      </p:sp>
    </p:spTree>
    <p:extLst>
      <p:ext uri="{BB962C8B-B14F-4D97-AF65-F5344CB8AC3E}">
        <p14:creationId xmlns:p14="http://schemas.microsoft.com/office/powerpoint/2010/main" val="2209413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b="1" kern="1200" dirty="0">
                <a:solidFill>
                  <a:schemeClr val="tx1"/>
                </a:solidFill>
                <a:effectLst/>
                <a:latin typeface="+mn-lt"/>
                <a:ea typeface="+mn-ea"/>
                <a:cs typeface="+mn-cs"/>
              </a:rPr>
              <a:t>Understand foundations of data analytics so that you can interpret and communicate results and make informed decisions</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Learn the basics of data analytics, which will help you understand the results you get from data analysis. This understanding will enable you to explain these results clearly to others and make better decisions based on data.</a:t>
            </a:r>
          </a:p>
          <a:p>
            <a:pPr lvl="0"/>
            <a:r>
              <a:rPr lang="en-IN" sz="1200" b="1" kern="1200" dirty="0">
                <a:solidFill>
                  <a:schemeClr val="tx1"/>
                </a:solidFill>
                <a:effectLst/>
                <a:latin typeface="+mn-lt"/>
                <a:ea typeface="+mn-ea"/>
                <a:cs typeface="+mn-cs"/>
              </a:rPr>
              <a:t>Study and learn to apply common statistical methods and machine learning algorithms to solve business problems</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Learn about statistical methods and machine learning techniques. These are tools that help you analyze data and find patterns or predictions, which can be used to solve real-world business challenges.</a:t>
            </a:r>
          </a:p>
          <a:p>
            <a:pPr lvl="0"/>
            <a:r>
              <a:rPr lang="en-IN" sz="1200" b="1" kern="1200" dirty="0">
                <a:solidFill>
                  <a:schemeClr val="tx1"/>
                </a:solidFill>
                <a:effectLst/>
                <a:latin typeface="+mn-lt"/>
                <a:ea typeface="+mn-ea"/>
                <a:cs typeface="+mn-cs"/>
              </a:rPr>
              <a:t>Learn to work with popular tools to analyze and visualize data; more importantly encourage consistency across departments on analytics/tools used</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Get familiar with popular software and tools that are used to analyze and create visual representations of data. It’s important to ensure that everyone in your organization uses the same tools and methods to maintain consistency in data analysis.</a:t>
            </a:r>
          </a:p>
          <a:p>
            <a:pPr lvl="0"/>
            <a:r>
              <a:rPr lang="en-IN" sz="1200" b="1" kern="1200" dirty="0">
                <a:solidFill>
                  <a:schemeClr val="tx1"/>
                </a:solidFill>
                <a:effectLst/>
                <a:latin typeface="+mn-lt"/>
                <a:ea typeface="+mn-ea"/>
                <a:cs typeface="+mn-cs"/>
              </a:rPr>
              <a:t>Working with data storage and for deployment of applications</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Understand how to store data securely and effectively. Also, learn how to deploy (launch) data-driven applications that can be used by others in your business.</a:t>
            </a:r>
          </a:p>
          <a:p>
            <a:pPr lvl="0"/>
            <a:r>
              <a:rPr lang="en-IN" sz="1200" b="1" kern="1200" dirty="0">
                <a:solidFill>
                  <a:schemeClr val="tx1"/>
                </a:solidFill>
                <a:effectLst/>
                <a:latin typeface="+mn-lt"/>
                <a:ea typeface="+mn-ea"/>
                <a:cs typeface="+mn-cs"/>
              </a:rPr>
              <a:t>Learn methods for mastering and applying emerging concepts and technologies for continuous data-driven improvements to your business processes</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Stay updated with the latest trends and technologies in data analytics. By applying these new concepts, you can continuously improve your business processes based on data-driven insights.</a:t>
            </a:r>
          </a:p>
          <a:p>
            <a:pPr lvl="0"/>
            <a:r>
              <a:rPr lang="en-IN" sz="1200" b="1" kern="1200" dirty="0">
                <a:solidFill>
                  <a:schemeClr val="tx1"/>
                </a:solidFill>
                <a:effectLst/>
                <a:latin typeface="+mn-lt"/>
                <a:ea typeface="+mn-ea"/>
                <a:cs typeface="+mn-cs"/>
              </a:rPr>
              <a:t>Transform complex analytics into routine processes</a:t>
            </a:r>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Take complicated data analyses and turn them into regular, automated processes. This means making data analysis a normal part of how your business operates, so that it’s easier and faster to make decisions based on data.</a:t>
            </a:r>
          </a:p>
          <a:p>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8</a:t>
            </a:fld>
            <a:endParaRPr lang="en-IN"/>
          </a:p>
        </p:txBody>
      </p:sp>
    </p:spTree>
    <p:extLst>
      <p:ext uri="{BB962C8B-B14F-4D97-AF65-F5344CB8AC3E}">
        <p14:creationId xmlns:p14="http://schemas.microsoft.com/office/powerpoint/2010/main" val="3004757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Large Data Sources Available</a:t>
            </a:r>
            <a:br>
              <a:rPr lang="en-US" dirty="0"/>
            </a:br>
            <a:r>
              <a:rPr lang="en-US" dirty="0"/>
              <a:t>In today’s digital world, an enormous amount of data is generated every second. This comes from social media posts, online shopping, banking transactions, mobile apps, GPS sensors, and even smart devices like fitness bands.</a:t>
            </a:r>
            <a:br>
              <a:rPr lang="en-US" dirty="0"/>
            </a:br>
            <a:r>
              <a:rPr lang="en-US" dirty="0"/>
              <a:t>👉 </a:t>
            </a:r>
            <a:r>
              <a:rPr lang="en-US" i="1" dirty="0"/>
              <a:t>Example</a:t>
            </a:r>
            <a:r>
              <a:rPr lang="en-US" dirty="0"/>
              <a:t>: Every time you swipe your card at a shop, post a selfie on Instagram, or watch a video on YouTube, data is being generated and stored.</a:t>
            </a:r>
          </a:p>
          <a:p>
            <a:r>
              <a:rPr lang="en-US" b="1" dirty="0"/>
              <a:t>Need to Make Value out of Data</a:t>
            </a:r>
            <a:br>
              <a:rPr lang="en-US" dirty="0"/>
            </a:br>
            <a:r>
              <a:rPr lang="en-US" dirty="0"/>
              <a:t>Having a lot of data is not useful unless we process it to extract meaningful insights. Data analytics helps us understand hidden patterns, trends, and relationships within the data.</a:t>
            </a:r>
            <a:br>
              <a:rPr lang="en-US" dirty="0"/>
            </a:br>
            <a:r>
              <a:rPr lang="en-US" dirty="0"/>
              <a:t>👉 </a:t>
            </a:r>
            <a:r>
              <a:rPr lang="en-US" i="1" dirty="0"/>
              <a:t>Example</a:t>
            </a:r>
            <a:r>
              <a:rPr lang="en-US" dirty="0"/>
              <a:t>: Online stores like Amazon don’t just collect your purchase history; they analyze it to recommend products you are most likely to buy, thereby increasing sales.</a:t>
            </a:r>
          </a:p>
          <a:p>
            <a:r>
              <a:rPr lang="en-US" b="1" dirty="0"/>
              <a:t>Personalized Content (YouTube, Instagram, Facebook, Google)</a:t>
            </a:r>
            <a:br>
              <a:rPr lang="en-US" dirty="0"/>
            </a:br>
            <a:r>
              <a:rPr lang="en-US" dirty="0"/>
              <a:t>Companies use data analytics to personalize user experiences by showing tailored content, ads, or suggestions. This makes the platforms engaging and relevant for each individual.</a:t>
            </a:r>
            <a:br>
              <a:rPr lang="en-US" dirty="0"/>
            </a:br>
            <a:r>
              <a:rPr lang="en-US" dirty="0"/>
              <a:t>👉 </a:t>
            </a:r>
            <a:r>
              <a:rPr lang="en-US" i="1" dirty="0"/>
              <a:t>Example</a:t>
            </a:r>
            <a:r>
              <a:rPr lang="en-US" dirty="0"/>
              <a:t>: If you watch cooking videos on YouTube, the platform will suggest more recipe videos. Similarly, if you search for “running shoes” on Google, you may start seeing ads for sports shoes on Instagram or Facebook.</a:t>
            </a:r>
          </a:p>
          <a:p>
            <a:r>
              <a:rPr lang="en-US" b="1" dirty="0"/>
              <a:t>Making Performance Decisions Across All Sectors</a:t>
            </a:r>
            <a:br>
              <a:rPr lang="en-US" dirty="0"/>
            </a:br>
            <a:r>
              <a:rPr lang="en-US" dirty="0"/>
              <a:t>Data analytics supports decision-making in almost every field—business, healthcare, sports, media, politics, environment, and more. It helps improve efficiency, reduce risks, and enhance performance.</a:t>
            </a:r>
            <a:br>
              <a:rPr lang="en-US" dirty="0"/>
            </a:br>
            <a:r>
              <a:rPr lang="en-US" dirty="0"/>
              <a:t>👉 </a:t>
            </a:r>
            <a:r>
              <a:rPr lang="en-US" i="1" dirty="0"/>
              <a:t>Examples</a:t>
            </a:r>
            <a:r>
              <a:rPr lang="en-US" dirty="0"/>
              <a:t>:</a:t>
            </a:r>
          </a:p>
          <a:p>
            <a:r>
              <a:rPr lang="en-US" dirty="0"/>
              <a:t>In </a:t>
            </a:r>
            <a:r>
              <a:rPr lang="en-US" b="1" dirty="0"/>
              <a:t>healthcare</a:t>
            </a:r>
            <a:r>
              <a:rPr lang="en-US" dirty="0"/>
              <a:t>, doctors use patient data and AI tools to detect diseases early.</a:t>
            </a:r>
          </a:p>
          <a:p>
            <a:r>
              <a:rPr lang="en-US" dirty="0"/>
              <a:t>In </a:t>
            </a:r>
            <a:r>
              <a:rPr lang="en-US" b="1" dirty="0"/>
              <a:t>sports</a:t>
            </a:r>
            <a:r>
              <a:rPr lang="en-US" dirty="0"/>
              <a:t>, coaches analyze player statistics to design winning strategies.</a:t>
            </a:r>
          </a:p>
          <a:p>
            <a:r>
              <a:rPr lang="en-US" dirty="0"/>
              <a:t>In </a:t>
            </a:r>
            <a:r>
              <a:rPr lang="en-US" b="1" dirty="0"/>
              <a:t>business</a:t>
            </a:r>
            <a:r>
              <a:rPr lang="en-US" dirty="0"/>
              <a:t>, companies analyze customer data to design better marketing campaigns.</a:t>
            </a:r>
          </a:p>
          <a:p>
            <a:r>
              <a:rPr lang="en-US" dirty="0"/>
              <a:t>In </a:t>
            </a:r>
            <a:r>
              <a:rPr lang="en-US" b="1" dirty="0"/>
              <a:t>environment</a:t>
            </a:r>
            <a:r>
              <a:rPr lang="en-US" dirty="0"/>
              <a:t>, data from sensors helps monitor air quality and predict natural disasters.</a:t>
            </a:r>
          </a:p>
          <a:p>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9</a:t>
            </a:fld>
            <a:endParaRPr lang="en-IN"/>
          </a:p>
        </p:txBody>
      </p:sp>
    </p:spTree>
    <p:extLst>
      <p:ext uri="{BB962C8B-B14F-4D97-AF65-F5344CB8AC3E}">
        <p14:creationId xmlns:p14="http://schemas.microsoft.com/office/powerpoint/2010/main" val="2855494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 is the New Oil!”</a:t>
            </a:r>
            <a:br>
              <a:rPr lang="en-US" dirty="0"/>
            </a:br>
            <a:r>
              <a:rPr lang="en-US" dirty="0"/>
              <a:t>Just like oil powered industries in the past, data today powers the digital economy. Organizations that know how to collect, refine, and use data can generate immense value.</a:t>
            </a:r>
            <a:br>
              <a:rPr lang="en-US" dirty="0"/>
            </a:br>
            <a:r>
              <a:rPr lang="en-US" dirty="0"/>
              <a:t>👉 </a:t>
            </a:r>
            <a:r>
              <a:rPr lang="en-US" i="1" dirty="0"/>
              <a:t>Example</a:t>
            </a:r>
            <a:r>
              <a:rPr lang="en-US" dirty="0"/>
              <a:t>: Companies like Google, Amazon, and Netflix are so successful because they use customer data to refine their services—just as oil was refined into fuel to drive industries.</a:t>
            </a:r>
          </a:p>
          <a:p>
            <a:r>
              <a:rPr lang="en-US" b="1" dirty="0"/>
              <a:t>New Opportunities for Organizations to Create Value</a:t>
            </a:r>
            <a:br>
              <a:rPr lang="en-US" dirty="0"/>
            </a:br>
            <a:r>
              <a:rPr lang="en-US" dirty="0"/>
              <a:t>With the massive data generated daily, businesses and governments can create new products, improve services, and design better customer experiences.</a:t>
            </a:r>
            <a:br>
              <a:rPr lang="en-US" dirty="0"/>
            </a:br>
            <a:r>
              <a:rPr lang="en-US" dirty="0"/>
              <a:t>👉 </a:t>
            </a:r>
            <a:r>
              <a:rPr lang="en-US" i="1" dirty="0"/>
              <a:t>Example</a:t>
            </a:r>
            <a:r>
              <a:rPr lang="en-US" dirty="0"/>
              <a:t>: Food delivery apps (Swiggy, Zomato) analyze order patterns to suggest new restaurants and offer personalized discounts, creating value for both customers and restaurants.</a:t>
            </a:r>
          </a:p>
          <a:p>
            <a:r>
              <a:rPr lang="en-US" b="1" dirty="0"/>
              <a:t>Competitive Advantage</a:t>
            </a:r>
            <a:br>
              <a:rPr lang="en-US" dirty="0"/>
            </a:br>
            <a:r>
              <a:rPr lang="en-US" dirty="0"/>
              <a:t>Organizations that use data analytics effectively gain an edge over their competitors by making smarter and quicker decisions.</a:t>
            </a:r>
            <a:br>
              <a:rPr lang="en-US" dirty="0"/>
            </a:br>
            <a:r>
              <a:rPr lang="en-US" dirty="0"/>
              <a:t>👉 </a:t>
            </a:r>
            <a:r>
              <a:rPr lang="en-US" i="1" dirty="0"/>
              <a:t>Example</a:t>
            </a:r>
            <a:r>
              <a:rPr lang="en-US" dirty="0"/>
              <a:t>: In e-commerce, Flipkart uses customer browsing and purchase data to recommend products, while competitors without such insights may lose sales opportunities.</a:t>
            </a:r>
          </a:p>
          <a:p>
            <a:r>
              <a:rPr lang="en-US" b="1" dirty="0"/>
              <a:t>Advances in Statistical Methods, Machine Learning, and Visualization</a:t>
            </a:r>
            <a:br>
              <a:rPr lang="en-US" dirty="0"/>
            </a:br>
            <a:r>
              <a:rPr lang="en-US" dirty="0"/>
              <a:t>Tremendous progress has been made in statistical techniques, machine learning models, and easy-to-use visualization tools. These advances make it possible to uncover complex patterns and present them in simple ways.</a:t>
            </a:r>
            <a:br>
              <a:rPr lang="en-US" dirty="0"/>
            </a:br>
            <a:r>
              <a:rPr lang="en-US" dirty="0"/>
              <a:t>👉 </a:t>
            </a:r>
            <a:r>
              <a:rPr lang="en-US" i="1" dirty="0"/>
              <a:t>Example</a:t>
            </a:r>
            <a:r>
              <a:rPr lang="en-US" dirty="0"/>
              <a:t>: COVID-19 dashboards used across the world relied on advanced statistical forecasting models and interactive visualizations to track cases, vaccinations, and predict future waves.</a:t>
            </a:r>
          </a:p>
          <a:p>
            <a:r>
              <a:rPr lang="en-US" b="1" dirty="0"/>
              <a:t>Open-Source Tools Freely Available</a:t>
            </a:r>
            <a:br>
              <a:rPr lang="en-US" dirty="0"/>
            </a:br>
            <a:r>
              <a:rPr lang="en-US" dirty="0"/>
              <a:t>Many powerful tools for data analysis (e.g., R, Python, Weka, Orange, Tableau Public) are open-source and free to use, making analytics accessible to students, researchers, and startups.</a:t>
            </a:r>
            <a:br>
              <a:rPr lang="en-US" dirty="0"/>
            </a:br>
            <a:r>
              <a:rPr lang="en-US" dirty="0"/>
              <a:t>👉 </a:t>
            </a:r>
            <a:r>
              <a:rPr lang="en-US" i="1" dirty="0"/>
              <a:t>Example</a:t>
            </a:r>
            <a:r>
              <a:rPr lang="en-US" dirty="0"/>
              <a:t>: A small business can use free tools like Google Analytics or Python libraries (Pandas, Matplotlib) to analyze customer traffic without spending huge money on paid software.</a:t>
            </a:r>
          </a:p>
          <a:p>
            <a:r>
              <a:rPr lang="en-US" b="1" dirty="0"/>
              <a:t>Applications of Statistical Methods in Data Analytics</a:t>
            </a:r>
            <a:br>
              <a:rPr lang="en-US" dirty="0"/>
            </a:br>
            <a:r>
              <a:rPr lang="en-US" dirty="0"/>
              <a:t>Statistical methods form the backbone of analytics. Techniques like mean, median, variance, regression, and hypothesis testing help in making informed decisions.</a:t>
            </a:r>
            <a:br>
              <a:rPr lang="en-US" dirty="0"/>
            </a:br>
            <a:r>
              <a:rPr lang="en-US" dirty="0"/>
              <a:t>👉 </a:t>
            </a:r>
            <a:r>
              <a:rPr lang="en-US" i="1" dirty="0"/>
              <a:t>Examples</a:t>
            </a:r>
            <a:r>
              <a:rPr lang="en-US" dirty="0"/>
              <a:t>:</a:t>
            </a:r>
          </a:p>
          <a:p>
            <a:pPr lvl="1"/>
            <a:r>
              <a:rPr lang="en-US" dirty="0"/>
              <a:t>In </a:t>
            </a:r>
            <a:r>
              <a:rPr lang="en-US" b="1" dirty="0"/>
              <a:t>sports</a:t>
            </a:r>
            <a:r>
              <a:rPr lang="en-US" dirty="0"/>
              <a:t>, batting averages and strike rates help in selecting players.</a:t>
            </a:r>
          </a:p>
          <a:p>
            <a:pPr lvl="1"/>
            <a:r>
              <a:rPr lang="en-US" dirty="0"/>
              <a:t>In </a:t>
            </a:r>
            <a:r>
              <a:rPr lang="en-US" b="1" dirty="0"/>
              <a:t>business</a:t>
            </a:r>
            <a:r>
              <a:rPr lang="en-US" dirty="0"/>
              <a:t>, regression analysis helps forecast sales for the next quarter.</a:t>
            </a:r>
          </a:p>
          <a:p>
            <a:pPr lvl="1"/>
            <a:r>
              <a:rPr lang="en-US" dirty="0"/>
              <a:t>In </a:t>
            </a:r>
            <a:r>
              <a:rPr lang="en-US" b="1" dirty="0"/>
              <a:t>healthcare</a:t>
            </a:r>
            <a:r>
              <a:rPr lang="en-US" dirty="0"/>
              <a:t>, statistical tests help in checking if a new medicine is effective.</a:t>
            </a:r>
          </a:p>
          <a:p>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11</a:t>
            </a:fld>
            <a:endParaRPr lang="en-IN"/>
          </a:p>
        </p:txBody>
      </p:sp>
    </p:spTree>
    <p:extLst>
      <p:ext uri="{BB962C8B-B14F-4D97-AF65-F5344CB8AC3E}">
        <p14:creationId xmlns:p14="http://schemas.microsoft.com/office/powerpoint/2010/main" val="3055710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Nowadays, data comes from a wide variety of sources, such as social media posts (tweets), GPS location data, emails, blogs, videos, and audio recordings. This shows the diversity of information that can be analysed.</a:t>
            </a:r>
          </a:p>
          <a:p>
            <a:pPr marL="228600" indent="-228600">
              <a:buFont typeface="+mj-lt"/>
              <a:buAutoNum type="arabicPeriod"/>
            </a:pPr>
            <a:r>
              <a:rPr lang="en-IN" sz="1200" kern="1200" dirty="0">
                <a:solidFill>
                  <a:schemeClr val="tx1"/>
                </a:solidFill>
                <a:effectLst/>
                <a:latin typeface="+mn-lt"/>
                <a:ea typeface="+mn-ea"/>
                <a:cs typeface="+mn-cs"/>
              </a:rPr>
              <a:t>Data can be divided into two main categories: structured and unstructured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Structured data is organized in a clear and specific way, often in tables with rows and columns. An example is real-time stock market data, where each piece of information fits into a specific format (e.g., date, time, price).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Unstructured data doesn’t follow a strict format and can be more complex. Examples include social media messages, news articles, speeches, books, letters, and court documents. This type of data is more difficult to analyze because it doesn’t have a consistent structure.</a:t>
            </a:r>
          </a:p>
          <a:p>
            <a:pPr lvl="1"/>
            <a:r>
              <a:rPr lang="en-IN" sz="1200" kern="1200" dirty="0">
                <a:solidFill>
                  <a:schemeClr val="tx1"/>
                </a:solidFill>
                <a:effectLst/>
                <a:latin typeface="+mn-lt"/>
                <a:ea typeface="+mn-ea"/>
                <a:cs typeface="+mn-cs"/>
              </a:rPr>
              <a:t>Even though structured and unstructured data are different, they can be used together effectively in big data operations. Companies that want to get the most value from their data should use tools that can handle both types, making sure to take advantage of their unique benefits.</a:t>
            </a:r>
            <a:endParaRPr lang="en-IN" sz="11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 </a:t>
            </a:r>
            <a:endParaRPr lang="en-IN" sz="11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There are different techniques and tools for analyzing structured and unstructured data, and these will be discussed to help understand how to work with both types of data.</a:t>
            </a:r>
          </a:p>
          <a:p>
            <a:pPr marL="228600" indent="-228600">
              <a:buFont typeface="+mj-lt"/>
              <a:buAutoNum type="arabicPeriod"/>
            </a:pPr>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12</a:t>
            </a:fld>
            <a:endParaRPr lang="en-IN"/>
          </a:p>
        </p:txBody>
      </p:sp>
    </p:spTree>
    <p:extLst>
      <p:ext uri="{BB962C8B-B14F-4D97-AF65-F5344CB8AC3E}">
        <p14:creationId xmlns:p14="http://schemas.microsoft.com/office/powerpoint/2010/main" val="14263245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Example: A streaming service like Netflix uses Big Data to analyze users' viewing habits, such as what shows they watch, when they pause or stop watching, and what they search for. Based on this data, Netflix recommends personalized content that aligns with the user's preferences, leading to increased user engagement and satisfaction.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Example: Social media platforms like Facebook and Instagram collect vast amounts of user data, including likes, shares, and comments. This data is their primary product, used to create detailed profiles of users. These profiles are then used to sell targeted advertising to businesses, making the social companies highly profitable.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Example: A coffee shop chain uses location-based data to send promotional offers to customers when they are near one of their outlets. If a customer passes by a shop, they might receive a notification offering a discount on their </a:t>
            </a:r>
            <a:r>
              <a:rPr lang="en-IN" sz="1200" kern="1200" dirty="0" err="1">
                <a:solidFill>
                  <a:schemeClr val="tx1"/>
                </a:solidFill>
                <a:effectLst/>
                <a:latin typeface="+mn-lt"/>
                <a:ea typeface="+mn-ea"/>
                <a:cs typeface="+mn-cs"/>
              </a:rPr>
              <a:t>favorite</a:t>
            </a:r>
            <a:r>
              <a:rPr lang="en-IN" sz="1200" kern="1200" dirty="0">
                <a:solidFill>
                  <a:schemeClr val="tx1"/>
                </a:solidFill>
                <a:effectLst/>
                <a:latin typeface="+mn-lt"/>
                <a:ea typeface="+mn-ea"/>
                <a:cs typeface="+mn-cs"/>
              </a:rPr>
              <a:t> drink, enticing them to visit.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Example: In a car manufacturing plant, sensors on the assembly line collect data on machine performance. This data is </a:t>
            </a:r>
            <a:r>
              <a:rPr lang="en-IN" sz="1200" kern="1200" dirty="0" err="1">
                <a:solidFill>
                  <a:schemeClr val="tx1"/>
                </a:solidFill>
                <a:effectLst/>
                <a:latin typeface="+mn-lt"/>
                <a:ea typeface="+mn-ea"/>
                <a:cs typeface="+mn-cs"/>
              </a:rPr>
              <a:t>analyzed</a:t>
            </a:r>
            <a:r>
              <a:rPr lang="en-IN" sz="1200" kern="1200" dirty="0">
                <a:solidFill>
                  <a:schemeClr val="tx1"/>
                </a:solidFill>
                <a:effectLst/>
                <a:latin typeface="+mn-lt"/>
                <a:ea typeface="+mn-ea"/>
                <a:cs typeface="+mn-cs"/>
              </a:rPr>
              <a:t> in real-time to predict when a machine might fail, allowing for preventative maintenance. This reduces downtime and keeps production running smoothly.</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Example: Genetic sequencing companies analyze vast amounts of DNA data to provide personalized health insights. For example, a company might sequence a person’s DNA and use that data to recommend personalized diet plans or predict susceptibility to certain diseases.</a:t>
            </a:r>
          </a:p>
          <a:p>
            <a:pPr marL="228600" indent="-228600">
              <a:buFont typeface="+mj-lt"/>
              <a:buAutoNum type="arabicPeriod"/>
            </a:pPr>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15</a:t>
            </a:fld>
            <a:endParaRPr lang="en-IN"/>
          </a:p>
        </p:txBody>
      </p:sp>
    </p:spTree>
    <p:extLst>
      <p:ext uri="{BB962C8B-B14F-4D97-AF65-F5344CB8AC3E}">
        <p14:creationId xmlns:p14="http://schemas.microsoft.com/office/powerpoint/2010/main" val="14994822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b="1" kern="1200" dirty="0">
                <a:solidFill>
                  <a:schemeClr val="tx1"/>
                </a:solidFill>
                <a:effectLst/>
                <a:latin typeface="+mn-lt"/>
                <a:ea typeface="+mn-ea"/>
                <a:cs typeface="+mn-cs"/>
              </a:rPr>
              <a:t>Example: </a:t>
            </a:r>
            <a:r>
              <a:rPr lang="en-IN" sz="1200" kern="1200" dirty="0">
                <a:solidFill>
                  <a:schemeClr val="tx1"/>
                </a:solidFill>
                <a:effectLst/>
                <a:latin typeface="+mn-lt"/>
                <a:ea typeface="+mn-ea"/>
                <a:cs typeface="+mn-cs"/>
              </a:rPr>
              <a:t>Consider social media platforms like Facebook, which generate immense amounts of user data daily. Every post, like, comment, and interaction contributes to a vast pool of information that can be </a:t>
            </a:r>
            <a:r>
              <a:rPr lang="en-IN" sz="1200" kern="1200" dirty="0" err="1">
                <a:solidFill>
                  <a:schemeClr val="tx1"/>
                </a:solidFill>
                <a:effectLst/>
                <a:latin typeface="+mn-lt"/>
                <a:ea typeface="+mn-ea"/>
                <a:cs typeface="+mn-cs"/>
              </a:rPr>
              <a:t>analyzed</a:t>
            </a:r>
            <a:r>
              <a:rPr lang="en-IN" sz="1200" kern="1200" dirty="0">
                <a:solidFill>
                  <a:schemeClr val="tx1"/>
                </a:solidFill>
                <a:effectLst/>
                <a:latin typeface="+mn-lt"/>
                <a:ea typeface="+mn-ea"/>
                <a:cs typeface="+mn-cs"/>
              </a:rPr>
              <a:t> to understand user </a:t>
            </a:r>
            <a:r>
              <a:rPr lang="en-IN" sz="1200" kern="1200" dirty="0" err="1">
                <a:solidFill>
                  <a:schemeClr val="tx1"/>
                </a:solidFill>
                <a:effectLst/>
                <a:latin typeface="+mn-lt"/>
                <a:ea typeface="+mn-ea"/>
                <a:cs typeface="+mn-cs"/>
              </a:rPr>
              <a:t>behavior</a:t>
            </a:r>
            <a:r>
              <a:rPr lang="en-IN" sz="1200" kern="1200" dirty="0">
                <a:solidFill>
                  <a:schemeClr val="tx1"/>
                </a:solidFill>
                <a:effectLst/>
                <a:latin typeface="+mn-lt"/>
                <a:ea typeface="+mn-ea"/>
                <a:cs typeface="+mn-cs"/>
              </a:rPr>
              <a:t>, preferences, and trends.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b="1" kern="1200" dirty="0">
                <a:solidFill>
                  <a:schemeClr val="tx1"/>
                </a:solidFill>
                <a:effectLst/>
                <a:latin typeface="+mn-lt"/>
                <a:ea typeface="+mn-ea"/>
                <a:cs typeface="+mn-cs"/>
              </a:rPr>
              <a:t>Example: </a:t>
            </a:r>
            <a:r>
              <a:rPr lang="en-IN" sz="1200" kern="1200" dirty="0">
                <a:solidFill>
                  <a:schemeClr val="tx1"/>
                </a:solidFill>
                <a:effectLst/>
                <a:latin typeface="+mn-lt"/>
                <a:ea typeface="+mn-ea"/>
                <a:cs typeface="+mn-cs"/>
              </a:rPr>
              <a:t>A retail company might collect data from various sources such as transactional data from its online store, customer reviews, social media mentions, and IoT sensor data from its supply chain. Each of these sources presents data in different formats and structures, requiring specialized techniques to process and analyze them.</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In the financial industry, stock market data streams in real-time, and traders rely on rapid analysis to make decisions within seconds. Similarly, IoT devices in smart cities generate continuous streams of data that need to be processed and </a:t>
            </a:r>
            <a:r>
              <a:rPr lang="en-IN" sz="1200" kern="1200" dirty="0" err="1">
                <a:solidFill>
                  <a:schemeClr val="tx1"/>
                </a:solidFill>
                <a:effectLst/>
                <a:latin typeface="+mn-lt"/>
                <a:ea typeface="+mn-ea"/>
                <a:cs typeface="+mn-cs"/>
              </a:rPr>
              <a:t>analyzed</a:t>
            </a:r>
            <a:r>
              <a:rPr lang="en-IN" sz="1200" kern="1200" dirty="0">
                <a:solidFill>
                  <a:schemeClr val="tx1"/>
                </a:solidFill>
                <a:effectLst/>
                <a:latin typeface="+mn-lt"/>
                <a:ea typeface="+mn-ea"/>
                <a:cs typeface="+mn-cs"/>
              </a:rPr>
              <a:t> in real-time to monitor and manage urban infrastructure.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b="1" kern="1200" dirty="0">
                <a:solidFill>
                  <a:schemeClr val="tx1"/>
                </a:solidFill>
                <a:effectLst/>
                <a:latin typeface="+mn-lt"/>
                <a:ea typeface="+mn-ea"/>
                <a:cs typeface="+mn-cs"/>
              </a:rPr>
              <a:t>Example</a:t>
            </a:r>
            <a:r>
              <a:rPr lang="en-IN" sz="1200" kern="1200" dirty="0">
                <a:solidFill>
                  <a:schemeClr val="tx1"/>
                </a:solidFill>
                <a:effectLst/>
                <a:latin typeface="+mn-lt"/>
                <a:ea typeface="+mn-ea"/>
                <a:cs typeface="+mn-cs"/>
              </a:rPr>
              <a:t>: Apache Hadoop provides a distributed storage and processing framework that can handle large-scale data across multiple servers. Apache Spark offers fast in-memory processing, making it suitable for real-time analytics. Cloud-based platforms like Amazon Web Services (AWS), Google Cloud Platform (GCP), and Microsoft Azure provide scalable infrastructure to manage Big Data workloads.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IN" sz="1200" kern="1200" dirty="0">
              <a:solidFill>
                <a:schemeClr val="tx1"/>
              </a:solidFill>
              <a:effectLst/>
              <a:latin typeface="+mn-lt"/>
              <a:ea typeface="+mn-ea"/>
              <a:cs typeface="+mn-cs"/>
            </a:endParaRPr>
          </a:p>
          <a:p>
            <a:pPr marL="228600" indent="-228600">
              <a:buFont typeface="+mj-lt"/>
              <a:buAutoNum type="arabicPeriod"/>
            </a:pPr>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16</a:t>
            </a:fld>
            <a:endParaRPr lang="en-IN"/>
          </a:p>
        </p:txBody>
      </p:sp>
    </p:spTree>
    <p:extLst>
      <p:ext uri="{BB962C8B-B14F-4D97-AF65-F5344CB8AC3E}">
        <p14:creationId xmlns:p14="http://schemas.microsoft.com/office/powerpoint/2010/main" val="1234783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b="1" kern="1200" dirty="0">
                <a:solidFill>
                  <a:schemeClr val="tx1"/>
                </a:solidFill>
                <a:effectLst/>
                <a:latin typeface="+mn-lt"/>
                <a:ea typeface="+mn-ea"/>
                <a:cs typeface="+mn-cs"/>
              </a:rPr>
              <a:t>Volume</a:t>
            </a:r>
            <a:r>
              <a:rPr lang="en-IN" sz="1200" kern="1200" dirty="0">
                <a:solidFill>
                  <a:schemeClr val="tx1"/>
                </a:solidFill>
                <a:effectLst/>
                <a:latin typeface="+mn-lt"/>
                <a:ea typeface="+mn-ea"/>
                <a:cs typeface="+mn-cs"/>
              </a:rPr>
              <a:t>: Refers to the vast amounts of data generated every second from various sources like social media, sensors, transactions, etc. The sheer size of this data requires advanced storage, processing, and analysis capabilities.</a:t>
            </a:r>
          </a:p>
          <a:p>
            <a:pPr lvl="0"/>
            <a:r>
              <a:rPr lang="en-IN" sz="1200" b="1" kern="1200" dirty="0">
                <a:solidFill>
                  <a:schemeClr val="tx1"/>
                </a:solidFill>
                <a:effectLst/>
                <a:latin typeface="+mn-lt"/>
                <a:ea typeface="+mn-ea"/>
                <a:cs typeface="+mn-cs"/>
              </a:rPr>
              <a:t>Velocity</a:t>
            </a:r>
            <a:r>
              <a:rPr lang="en-IN" sz="1200" kern="1200" dirty="0">
                <a:solidFill>
                  <a:schemeClr val="tx1"/>
                </a:solidFill>
                <a:effectLst/>
                <a:latin typeface="+mn-lt"/>
                <a:ea typeface="+mn-ea"/>
                <a:cs typeface="+mn-cs"/>
              </a:rPr>
              <a:t>: This characteristic highlights the speed at which data is generated, collected, and processed. Real-time or near-real-time data processing is often required for timely insights and decision-making.</a:t>
            </a:r>
          </a:p>
          <a:p>
            <a:pPr lvl="0"/>
            <a:r>
              <a:rPr lang="en-IN" sz="1200" b="1" kern="1200" dirty="0">
                <a:solidFill>
                  <a:schemeClr val="tx1"/>
                </a:solidFill>
                <a:effectLst/>
                <a:latin typeface="+mn-lt"/>
                <a:ea typeface="+mn-ea"/>
                <a:cs typeface="+mn-cs"/>
              </a:rPr>
              <a:t>Variety</a:t>
            </a:r>
            <a:r>
              <a:rPr lang="en-IN" sz="1200" kern="1200" dirty="0">
                <a:solidFill>
                  <a:schemeClr val="tx1"/>
                </a:solidFill>
                <a:effectLst/>
                <a:latin typeface="+mn-lt"/>
                <a:ea typeface="+mn-ea"/>
                <a:cs typeface="+mn-cs"/>
              </a:rPr>
              <a:t>: Big Data comes in multiple formats such as structured data (databases), semi-structured data (XML, JSON), and unstructured data (text, images, videos). This diversity necessitates different techniques and tools to process and analyze the data.</a:t>
            </a:r>
          </a:p>
          <a:p>
            <a:pPr lvl="0"/>
            <a:r>
              <a:rPr lang="en-IN" sz="1200" b="1" kern="1200" dirty="0">
                <a:solidFill>
                  <a:schemeClr val="tx1"/>
                </a:solidFill>
                <a:effectLst/>
                <a:latin typeface="+mn-lt"/>
                <a:ea typeface="+mn-ea"/>
                <a:cs typeface="+mn-cs"/>
              </a:rPr>
              <a:t>Veracity</a:t>
            </a:r>
            <a:r>
              <a:rPr lang="en-IN" sz="1200" kern="1200" dirty="0">
                <a:solidFill>
                  <a:schemeClr val="tx1"/>
                </a:solidFill>
                <a:effectLst/>
                <a:latin typeface="+mn-lt"/>
                <a:ea typeface="+mn-ea"/>
                <a:cs typeface="+mn-cs"/>
              </a:rPr>
              <a:t>: Refers to the uncertainty or quality of the data. Big Data can be noisy, incomplete, or inconsistent, making it essential to have robust data cleansing and validation processes to ensure accurate analysis.</a:t>
            </a:r>
          </a:p>
          <a:p>
            <a:pPr lvl="0"/>
            <a:r>
              <a:rPr lang="en-IN" sz="1200" b="1" kern="1200" dirty="0">
                <a:solidFill>
                  <a:schemeClr val="tx1"/>
                </a:solidFill>
                <a:effectLst/>
                <a:latin typeface="+mn-lt"/>
                <a:ea typeface="+mn-ea"/>
                <a:cs typeface="+mn-cs"/>
              </a:rPr>
              <a:t>Value</a:t>
            </a:r>
            <a:r>
              <a:rPr lang="en-IN" sz="1200" kern="1200" dirty="0">
                <a:solidFill>
                  <a:schemeClr val="tx1"/>
                </a:solidFill>
                <a:effectLst/>
                <a:latin typeface="+mn-lt"/>
                <a:ea typeface="+mn-ea"/>
                <a:cs typeface="+mn-cs"/>
              </a:rPr>
              <a:t>: Ultimately, the most critical aspect of Big Data is its potential to generate value. This involves extracting actionable insights that can drive business decisions, innovation, and competitive advantage.</a:t>
            </a:r>
          </a:p>
          <a:p>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20</a:t>
            </a:fld>
            <a:endParaRPr lang="en-IN"/>
          </a:p>
        </p:txBody>
      </p:sp>
    </p:spTree>
    <p:extLst>
      <p:ext uri="{BB962C8B-B14F-4D97-AF65-F5344CB8AC3E}">
        <p14:creationId xmlns:p14="http://schemas.microsoft.com/office/powerpoint/2010/main" val="673867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buFont typeface="+mj-lt"/>
              <a:buAutoNum type="arabicPeriod"/>
            </a:pPr>
            <a:r>
              <a:rPr lang="en-IN" sz="1200" b="1" kern="1200" dirty="0">
                <a:solidFill>
                  <a:schemeClr val="tx1"/>
                </a:solidFill>
                <a:effectLst/>
                <a:latin typeface="+mn-lt"/>
                <a:ea typeface="+mn-ea"/>
                <a:cs typeface="+mn-cs"/>
              </a:rPr>
              <a:t>Data Structure:</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Structured Data:</a:t>
            </a:r>
            <a:r>
              <a:rPr lang="en-IN" sz="1200" kern="1200" dirty="0">
                <a:solidFill>
                  <a:schemeClr val="tx1"/>
                </a:solidFill>
                <a:effectLst/>
                <a:latin typeface="+mn-lt"/>
                <a:ea typeface="+mn-ea"/>
                <a:cs typeface="+mn-cs"/>
              </a:rPr>
              <a:t> Highly organized data that fits into tables or databases.</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Semi-Structured Data:</a:t>
            </a:r>
            <a:r>
              <a:rPr lang="en-IN" sz="1200" kern="1200" dirty="0">
                <a:solidFill>
                  <a:schemeClr val="tx1"/>
                </a:solidFill>
                <a:effectLst/>
                <a:latin typeface="+mn-lt"/>
                <a:ea typeface="+mn-ea"/>
                <a:cs typeface="+mn-cs"/>
              </a:rPr>
              <a:t> Somewhat organized data like XML files or JSON files.</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Unstructured Data:</a:t>
            </a:r>
            <a:r>
              <a:rPr lang="en-IN" sz="1200" kern="1200" dirty="0">
                <a:solidFill>
                  <a:schemeClr val="tx1"/>
                </a:solidFill>
                <a:effectLst/>
                <a:latin typeface="+mn-lt"/>
                <a:ea typeface="+mn-ea"/>
                <a:cs typeface="+mn-cs"/>
              </a:rPr>
              <a:t> Data without a predefined structure, such as videos, images, or text files.</a:t>
            </a:r>
            <a:endParaRPr lang="en-IN" sz="1100" kern="1200" dirty="0">
              <a:solidFill>
                <a:schemeClr val="tx1"/>
              </a:solidFill>
              <a:effectLst/>
              <a:latin typeface="+mn-lt"/>
              <a:ea typeface="+mn-ea"/>
              <a:cs typeface="+mn-cs"/>
            </a:endParaRPr>
          </a:p>
          <a:p>
            <a:pPr marL="228600" lvl="0" indent="-228600">
              <a:buFont typeface="+mj-lt"/>
              <a:buAutoNum type="arabicPeriod"/>
            </a:pPr>
            <a:r>
              <a:rPr lang="en-IN" sz="1200" b="1" kern="1200" dirty="0">
                <a:solidFill>
                  <a:schemeClr val="tx1"/>
                </a:solidFill>
                <a:effectLst/>
                <a:latin typeface="+mn-lt"/>
                <a:ea typeface="+mn-ea"/>
                <a:cs typeface="+mn-cs"/>
              </a:rPr>
              <a:t>Data Velocity:</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Real-time:</a:t>
            </a:r>
            <a:r>
              <a:rPr lang="en-IN" sz="1200" kern="1200" dirty="0">
                <a:solidFill>
                  <a:schemeClr val="tx1"/>
                </a:solidFill>
                <a:effectLst/>
                <a:latin typeface="+mn-lt"/>
                <a:ea typeface="+mn-ea"/>
                <a:cs typeface="+mn-cs"/>
              </a:rPr>
              <a:t> Data is processed immediately as it comes in.</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Batch: </a:t>
            </a:r>
            <a:r>
              <a:rPr lang="en-IN" sz="1200" kern="1200" dirty="0">
                <a:solidFill>
                  <a:schemeClr val="tx1"/>
                </a:solidFill>
                <a:effectLst/>
                <a:latin typeface="+mn-lt"/>
                <a:ea typeface="+mn-ea"/>
                <a:cs typeface="+mn-cs"/>
              </a:rPr>
              <a:t>Data is collected over time and processed later.</a:t>
            </a:r>
            <a:endParaRPr lang="en-IN" sz="1100" kern="1200" dirty="0">
              <a:solidFill>
                <a:schemeClr val="tx1"/>
              </a:solidFill>
              <a:effectLst/>
              <a:latin typeface="+mn-lt"/>
              <a:ea typeface="+mn-ea"/>
              <a:cs typeface="+mn-cs"/>
            </a:endParaRPr>
          </a:p>
          <a:p>
            <a:pPr marL="0" indent="0">
              <a:buFont typeface="+mj-lt"/>
              <a:buNone/>
            </a:pPr>
            <a:r>
              <a:rPr lang="en-IN" b="1" dirty="0"/>
              <a:t>Summary</a:t>
            </a:r>
          </a:p>
          <a:p>
            <a:pPr lvl="0"/>
            <a:r>
              <a:rPr lang="en-IN" sz="1200" kern="1200" dirty="0">
                <a:solidFill>
                  <a:schemeClr val="tx1"/>
                </a:solidFill>
                <a:effectLst/>
                <a:latin typeface="+mn-lt"/>
                <a:ea typeface="+mn-ea"/>
                <a:cs typeface="+mn-cs"/>
              </a:rPr>
              <a:t>The </a:t>
            </a:r>
            <a:r>
              <a:rPr lang="en-IN" sz="1200" b="1" kern="1200" dirty="0">
                <a:solidFill>
                  <a:schemeClr val="tx1"/>
                </a:solidFill>
                <a:effectLst/>
                <a:latin typeface="+mn-lt"/>
                <a:ea typeface="+mn-ea"/>
                <a:cs typeface="+mn-cs"/>
              </a:rPr>
              <a:t>top half</a:t>
            </a:r>
            <a:r>
              <a:rPr lang="en-IN" sz="1200" kern="1200" dirty="0">
                <a:solidFill>
                  <a:schemeClr val="tx1"/>
                </a:solidFill>
                <a:effectLst/>
                <a:latin typeface="+mn-lt"/>
                <a:ea typeface="+mn-ea"/>
                <a:cs typeface="+mn-cs"/>
              </a:rPr>
              <a:t> of the diagram focuses on </a:t>
            </a:r>
            <a:r>
              <a:rPr lang="en-IN" sz="1200" b="1" kern="1200" dirty="0">
                <a:solidFill>
                  <a:schemeClr val="tx1"/>
                </a:solidFill>
                <a:effectLst/>
                <a:latin typeface="+mn-lt"/>
                <a:ea typeface="+mn-ea"/>
                <a:cs typeface="+mn-cs"/>
              </a:rPr>
              <a:t>real-time</a:t>
            </a:r>
            <a:r>
              <a:rPr lang="en-IN" sz="1200" kern="1200" dirty="0">
                <a:solidFill>
                  <a:schemeClr val="tx1"/>
                </a:solidFill>
                <a:effectLst/>
                <a:latin typeface="+mn-lt"/>
                <a:ea typeface="+mn-ea"/>
                <a:cs typeface="+mn-cs"/>
              </a:rPr>
              <a:t> data processing, where data is processed as it arrives.</a:t>
            </a:r>
          </a:p>
          <a:p>
            <a:pPr lvl="0"/>
            <a:r>
              <a:rPr lang="en-IN" sz="1200" kern="1200" dirty="0">
                <a:solidFill>
                  <a:schemeClr val="tx1"/>
                </a:solidFill>
                <a:effectLst/>
                <a:latin typeface="+mn-lt"/>
                <a:ea typeface="+mn-ea"/>
                <a:cs typeface="+mn-cs"/>
              </a:rPr>
              <a:t>The </a:t>
            </a:r>
            <a:r>
              <a:rPr lang="en-IN" sz="1200" b="1" kern="1200" dirty="0">
                <a:solidFill>
                  <a:schemeClr val="tx1"/>
                </a:solidFill>
                <a:effectLst/>
                <a:latin typeface="+mn-lt"/>
                <a:ea typeface="+mn-ea"/>
                <a:cs typeface="+mn-cs"/>
              </a:rPr>
              <a:t>bottom half</a:t>
            </a:r>
            <a:r>
              <a:rPr lang="en-IN" sz="1200" kern="1200" dirty="0">
                <a:solidFill>
                  <a:schemeClr val="tx1"/>
                </a:solidFill>
                <a:effectLst/>
                <a:latin typeface="+mn-lt"/>
                <a:ea typeface="+mn-ea"/>
                <a:cs typeface="+mn-cs"/>
              </a:rPr>
              <a:t> focuses on </a:t>
            </a:r>
            <a:r>
              <a:rPr lang="en-IN" sz="1200" b="1" kern="1200" dirty="0">
                <a:solidFill>
                  <a:schemeClr val="tx1"/>
                </a:solidFill>
                <a:effectLst/>
                <a:latin typeface="+mn-lt"/>
                <a:ea typeface="+mn-ea"/>
                <a:cs typeface="+mn-cs"/>
              </a:rPr>
              <a:t>batch processing</a:t>
            </a:r>
            <a:r>
              <a:rPr lang="en-IN" sz="1200" kern="1200" dirty="0">
                <a:solidFill>
                  <a:schemeClr val="tx1"/>
                </a:solidFill>
                <a:effectLst/>
                <a:latin typeface="+mn-lt"/>
                <a:ea typeface="+mn-ea"/>
                <a:cs typeface="+mn-cs"/>
              </a:rPr>
              <a:t>, where data is collected and processed later.</a:t>
            </a:r>
          </a:p>
          <a:p>
            <a:pPr lvl="0"/>
            <a:r>
              <a:rPr lang="en-IN" sz="1200" kern="1200" dirty="0">
                <a:solidFill>
                  <a:schemeClr val="tx1"/>
                </a:solidFill>
                <a:effectLst/>
                <a:latin typeface="+mn-lt"/>
                <a:ea typeface="+mn-ea"/>
                <a:cs typeface="+mn-cs"/>
              </a:rPr>
              <a:t>The </a:t>
            </a:r>
            <a:r>
              <a:rPr lang="en-IN" sz="1200" b="1" kern="1200" dirty="0">
                <a:solidFill>
                  <a:schemeClr val="tx1"/>
                </a:solidFill>
                <a:effectLst/>
                <a:latin typeface="+mn-lt"/>
                <a:ea typeface="+mn-ea"/>
                <a:cs typeface="+mn-cs"/>
              </a:rPr>
              <a:t>left side</a:t>
            </a:r>
            <a:r>
              <a:rPr lang="en-IN" sz="1200" kern="1200" dirty="0">
                <a:solidFill>
                  <a:schemeClr val="tx1"/>
                </a:solidFill>
                <a:effectLst/>
                <a:latin typeface="+mn-lt"/>
                <a:ea typeface="+mn-ea"/>
                <a:cs typeface="+mn-cs"/>
              </a:rPr>
              <a:t> deals with </a:t>
            </a:r>
            <a:r>
              <a:rPr lang="en-IN" sz="1200" b="1" kern="1200" dirty="0">
                <a:solidFill>
                  <a:schemeClr val="tx1"/>
                </a:solidFill>
                <a:effectLst/>
                <a:latin typeface="+mn-lt"/>
                <a:ea typeface="+mn-ea"/>
                <a:cs typeface="+mn-cs"/>
              </a:rPr>
              <a:t>structured data</a:t>
            </a:r>
            <a:r>
              <a:rPr lang="en-IN" sz="1200" kern="1200" dirty="0">
                <a:solidFill>
                  <a:schemeClr val="tx1"/>
                </a:solidFill>
                <a:effectLst/>
                <a:latin typeface="+mn-lt"/>
                <a:ea typeface="+mn-ea"/>
                <a:cs typeface="+mn-cs"/>
              </a:rPr>
              <a:t> that is well-organized, while the </a:t>
            </a:r>
            <a:r>
              <a:rPr lang="en-IN" sz="1200" b="1" kern="1200" dirty="0">
                <a:solidFill>
                  <a:schemeClr val="tx1"/>
                </a:solidFill>
                <a:effectLst/>
                <a:latin typeface="+mn-lt"/>
                <a:ea typeface="+mn-ea"/>
                <a:cs typeface="+mn-cs"/>
              </a:rPr>
              <a:t>right-side</a:t>
            </a:r>
            <a:r>
              <a:rPr lang="en-IN" sz="1200" kern="1200" dirty="0">
                <a:solidFill>
                  <a:schemeClr val="tx1"/>
                </a:solidFill>
                <a:effectLst/>
                <a:latin typeface="+mn-lt"/>
                <a:ea typeface="+mn-ea"/>
                <a:cs typeface="+mn-cs"/>
              </a:rPr>
              <a:t> deals with </a:t>
            </a:r>
            <a:r>
              <a:rPr lang="en-IN" sz="1200" b="1" kern="1200" dirty="0">
                <a:solidFill>
                  <a:schemeClr val="tx1"/>
                </a:solidFill>
                <a:effectLst/>
                <a:latin typeface="+mn-lt"/>
                <a:ea typeface="+mn-ea"/>
                <a:cs typeface="+mn-cs"/>
              </a:rPr>
              <a:t>unstructured data</a:t>
            </a:r>
            <a:r>
              <a:rPr lang="en-IN" sz="1200" kern="1200" dirty="0">
                <a:solidFill>
                  <a:schemeClr val="tx1"/>
                </a:solidFill>
                <a:effectLst/>
                <a:latin typeface="+mn-lt"/>
                <a:ea typeface="+mn-ea"/>
                <a:cs typeface="+mn-cs"/>
              </a:rPr>
              <a:t> that is less organized, with semi-structured data in between.</a:t>
            </a:r>
          </a:p>
          <a:p>
            <a:pPr marL="0" indent="0">
              <a:buFont typeface="+mj-lt"/>
              <a:buNone/>
            </a:pPr>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21</a:t>
            </a:fld>
            <a:endParaRPr lang="en-IN"/>
          </a:p>
        </p:txBody>
      </p:sp>
    </p:spTree>
    <p:extLst>
      <p:ext uri="{BB962C8B-B14F-4D97-AF65-F5344CB8AC3E}">
        <p14:creationId xmlns:p14="http://schemas.microsoft.com/office/powerpoint/2010/main" val="3044156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22</a:t>
            </a:fld>
            <a:endParaRPr lang="en-IN"/>
          </a:p>
        </p:txBody>
      </p:sp>
    </p:spTree>
    <p:extLst>
      <p:ext uri="{BB962C8B-B14F-4D97-AF65-F5344CB8AC3E}">
        <p14:creationId xmlns:p14="http://schemas.microsoft.com/office/powerpoint/2010/main" val="4149791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Spreadsheets are a tool that allows people to organize data into rows and columns, much like a table. Business users can use them to create formulas and calculations to analyze business problems without needing advanced technical skills.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You don't need special training or knowledge of databases to use a spreadsheet. It's simple enough for most people to learn and use on their own.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You can start using a spreadsheet almost immediately. Just open a new file, enter your data, and you’re ready to go. There’s no complex setup process.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Spreadsheets can be easily shared with others, either by emailing the file or using cloud services like Google Sheets or Excel Online. This makes collaboration straightforward.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The person using the spreadsheet has full control over the formulas and calculations. They can decide how the data is processed and </a:t>
            </a:r>
            <a:r>
              <a:rPr lang="en-IN" sz="1200" kern="1200" dirty="0" err="1">
                <a:solidFill>
                  <a:schemeClr val="tx1"/>
                </a:solidFill>
                <a:effectLst/>
                <a:latin typeface="+mn-lt"/>
                <a:ea typeface="+mn-ea"/>
                <a:cs typeface="+mn-cs"/>
              </a:rPr>
              <a:t>analyzed</a:t>
            </a:r>
            <a:r>
              <a:rPr lang="en-IN" sz="1200" kern="1200" dirty="0">
                <a:solidFill>
                  <a:schemeClr val="tx1"/>
                </a:solidFill>
                <a:effectLst/>
                <a:latin typeface="+mn-lt"/>
                <a:ea typeface="+mn-ea"/>
                <a:cs typeface="+mn-cs"/>
              </a:rPr>
              <a:t> according to their needs.</a:t>
            </a:r>
          </a:p>
          <a:p>
            <a:pPr marL="0" indent="0">
              <a:buFont typeface="+mj-lt"/>
              <a:buNone/>
            </a:pPr>
            <a:endParaRPr lang="en-IN" dirty="0"/>
          </a:p>
          <a:p>
            <a:pPr marL="0" indent="0">
              <a:buFont typeface="+mj-lt"/>
              <a:buNone/>
            </a:pPr>
            <a:r>
              <a:rPr lang="en-IN" dirty="0"/>
              <a:t>Challenges with spreadsheet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When multiple people work on or share the same spreadsheet, they might create different versions. It can be difficult to know which version has the most accurate or up-to-date information. This can lead to confusion.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Since there might be many versions of the same spreadsheet floating around, it’s hard to tell which one has the latest data or the correct formulas. This could lead to wrong decisions if an outdated or incorrect version is used.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If the computer (laptop) where the spreadsheet is stored gets lost, stolen, or damaged, or if the file gets corrupted, all the data and calculations in the spreadsheet could be lost. This could be a significant setback, especially if there’s no backup.</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When different spreadsheets are used by different people or departments, the data becomes scattered or isolated in separate files. This is called "data islands," and it makes it hard to get a complete and accurate picture of the information because it’s spread out in various locations.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Spreadsheets work well for small amounts of data or simple analyses. However, as the amount of data grows or the analysis becomes more complex, spreadsheets can become slow, difficult to manage, and prone to errors. They aren’t designed to handle large-scale data analysis efficiently.</a:t>
            </a:r>
          </a:p>
          <a:p>
            <a:pPr marL="228600" indent="-228600">
              <a:buFont typeface="+mj-lt"/>
              <a:buAutoNum type="arabicPeriod"/>
            </a:pPr>
            <a:endParaRPr lang="en-IN" dirty="0"/>
          </a:p>
          <a:p>
            <a:pPr marL="0" indent="0">
              <a:buFont typeface="+mj-lt"/>
              <a:buNone/>
            </a:pPr>
            <a:r>
              <a:rPr lang="en-IN" dirty="0"/>
              <a:t>Summary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IN" sz="1200" kern="1200" dirty="0">
                <a:solidFill>
                  <a:schemeClr val="tx1"/>
                </a:solidFill>
                <a:effectLst/>
                <a:latin typeface="+mn-lt"/>
                <a:ea typeface="+mn-ea"/>
                <a:cs typeface="+mn-cs"/>
              </a:rPr>
              <a:t>Spreadsheets are great for quick, easy, and user-controlled data analysis, but they come with risks, especially when it comes to managing multiple versions, ensuring data security, and handling large amounts of data. As businesses grow, relying solely on spreadsheets can lead to inefficiencies and data management challenges.</a:t>
            </a:r>
          </a:p>
          <a:p>
            <a:pPr marL="0" indent="0">
              <a:buFont typeface="+mj-lt"/>
              <a:buNone/>
            </a:pPr>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23</a:t>
            </a:fld>
            <a:endParaRPr lang="en-IN"/>
          </a:p>
        </p:txBody>
      </p:sp>
    </p:spTree>
    <p:extLst>
      <p:ext uri="{BB962C8B-B14F-4D97-AF65-F5344CB8AC3E}">
        <p14:creationId xmlns:p14="http://schemas.microsoft.com/office/powerpoint/2010/main" val="467662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24</a:t>
            </a:fld>
            <a:endParaRPr lang="en-IN"/>
          </a:p>
        </p:txBody>
      </p:sp>
    </p:spTree>
    <p:extLst>
      <p:ext uri="{BB962C8B-B14F-4D97-AF65-F5344CB8AC3E}">
        <p14:creationId xmlns:p14="http://schemas.microsoft.com/office/powerpoint/2010/main" val="956561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EDWs are designed to handle large amounts of data. As a business grows and collects more data, the EDW can expand to accommodate this growth without becoming overwhelmed.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All data is stored and managed in one place. This central management makes it easier to keep track of data, ensure it's up-to-date, and maintain consistency across the organization.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b="1" kern="1200" dirty="0">
                <a:solidFill>
                  <a:schemeClr val="tx1"/>
                </a:solidFill>
                <a:effectLst/>
                <a:latin typeface="+mn-lt"/>
                <a:ea typeface="+mn-ea"/>
                <a:cs typeface="+mn-cs"/>
              </a:rPr>
              <a:t>Benefit of security, failover and single repository </a:t>
            </a:r>
          </a:p>
          <a:p>
            <a:pPr lvl="1"/>
            <a:r>
              <a:rPr lang="en-IN" sz="1200" b="1" kern="1200" dirty="0">
                <a:solidFill>
                  <a:schemeClr val="tx1"/>
                </a:solidFill>
                <a:effectLst/>
                <a:latin typeface="+mn-lt"/>
                <a:ea typeface="+mn-ea"/>
                <a:cs typeface="+mn-cs"/>
              </a:rPr>
              <a:t>Security:</a:t>
            </a:r>
            <a:r>
              <a:rPr lang="en-IN" sz="1200" kern="1200" dirty="0">
                <a:solidFill>
                  <a:schemeClr val="tx1"/>
                </a:solidFill>
                <a:effectLst/>
                <a:latin typeface="+mn-lt"/>
                <a:ea typeface="+mn-ea"/>
                <a:cs typeface="+mn-cs"/>
              </a:rPr>
              <a:t> Since the data is all in one place, it’s easier to protect it with strong security measures.</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Failover:</a:t>
            </a:r>
            <a:r>
              <a:rPr lang="en-IN" sz="1200" kern="1200" dirty="0">
                <a:solidFill>
                  <a:schemeClr val="tx1"/>
                </a:solidFill>
                <a:effectLst/>
                <a:latin typeface="+mn-lt"/>
                <a:ea typeface="+mn-ea"/>
                <a:cs typeface="+mn-cs"/>
              </a:rPr>
              <a:t> If something goes wrong, like a system failure, there are backup systems in place to keep the data safe and the EDW running.</a:t>
            </a:r>
            <a:endParaRPr lang="en-IN" sz="1100" kern="1200" dirty="0">
              <a:solidFill>
                <a:schemeClr val="tx1"/>
              </a:solidFill>
              <a:effectLst/>
              <a:latin typeface="+mn-lt"/>
              <a:ea typeface="+mn-ea"/>
              <a:cs typeface="+mn-cs"/>
            </a:endParaRPr>
          </a:p>
          <a:p>
            <a:pPr lvl="1"/>
            <a:r>
              <a:rPr lang="en-IN" sz="1200" b="1" kern="1200" dirty="0">
                <a:solidFill>
                  <a:schemeClr val="tx1"/>
                </a:solidFill>
                <a:effectLst/>
                <a:latin typeface="+mn-lt"/>
                <a:ea typeface="+mn-ea"/>
                <a:cs typeface="+mn-cs"/>
              </a:rPr>
              <a:t>Single Repository (Official Source):</a:t>
            </a:r>
            <a:r>
              <a:rPr lang="en-IN" sz="1200" kern="1200" dirty="0">
                <a:solidFill>
                  <a:schemeClr val="tx1"/>
                </a:solidFill>
                <a:effectLst/>
                <a:latin typeface="+mn-lt"/>
                <a:ea typeface="+mn-ea"/>
                <a:cs typeface="+mn-cs"/>
              </a:rPr>
              <a:t> The EDW serves as the "single source of truth" for the organization. Everyone uses the same data, so there’s no confusion about which numbers are correct.</a:t>
            </a:r>
            <a:endParaRPr lang="en-IN" sz="1100" kern="1200" dirty="0">
              <a:solidFill>
                <a:schemeClr val="tx1"/>
              </a:solidFill>
              <a:effectLst/>
              <a:latin typeface="+mn-lt"/>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Because the data is managed centrally, there are strict rules and processes to ensure that the data is accurate and reliable. This means fewer errors and more trustworthy data for analysis.</a:t>
            </a:r>
          </a:p>
          <a:p>
            <a:pPr marL="228600" indent="-228600">
              <a:buFont typeface="+mj-lt"/>
              <a:buAutoNum type="arabicPeriod"/>
            </a:pPr>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25</a:t>
            </a:fld>
            <a:endParaRPr lang="en-IN"/>
          </a:p>
        </p:txBody>
      </p:sp>
    </p:spTree>
    <p:extLst>
      <p:ext uri="{BB962C8B-B14F-4D97-AF65-F5344CB8AC3E}">
        <p14:creationId xmlns:p14="http://schemas.microsoft.com/office/powerpoint/2010/main" val="2969648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Since the EDW is tightly controlled by the IT department, it can be challenging for analysts to experiment with the data or explore it in new ways. The strict controls can limit creativity and flexibility in analysis.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Making changes or adding new data to the EDW can take time because everything has to go through the IT department. This can slow down the process and make it harder to respond quickly to new business needs.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The rules and processes around the EDW are often very strict, which means analysts may not have the freedom to create their own datasets or work with the data in the way they want. This can be frustrating for those who need to do more in-depth or specialized analysis.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IN" sz="1200" kern="1200" dirty="0">
                <a:solidFill>
                  <a:schemeClr val="tx1"/>
                </a:solidFill>
                <a:effectLst/>
                <a:latin typeface="+mn-lt"/>
                <a:ea typeface="+mn-ea"/>
                <a:cs typeface="+mn-cs"/>
              </a:rPr>
              <a:t>IT departments managing the EDW may not like it when data is stored outside the EDW, such as in separate spreadsheets or other databases. They prefer everything to be in one place, which can cause tension if analysts want to use outside data sources.</a:t>
            </a:r>
          </a:p>
          <a:p>
            <a:pPr marL="228600" indent="-228600">
              <a:buFont typeface="+mj-lt"/>
              <a:buAutoNum type="arabicPeriod"/>
            </a:pPr>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26</a:t>
            </a:fld>
            <a:endParaRPr lang="en-IN"/>
          </a:p>
        </p:txBody>
      </p:sp>
    </p:spTree>
    <p:extLst>
      <p:ext uri="{BB962C8B-B14F-4D97-AF65-F5344CB8AC3E}">
        <p14:creationId xmlns:p14="http://schemas.microsoft.com/office/powerpoint/2010/main" val="11332903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kern="1200" dirty="0">
                <a:solidFill>
                  <a:schemeClr val="tx1"/>
                </a:solidFill>
                <a:effectLst/>
                <a:latin typeface="+mn-lt"/>
                <a:ea typeface="+mn-ea"/>
                <a:cs typeface="+mn-cs"/>
              </a:rPr>
              <a:t>Summary:</a:t>
            </a:r>
            <a:endParaRPr lang="en-IN" sz="1200" kern="1200" dirty="0">
              <a:solidFill>
                <a:schemeClr val="tx1"/>
              </a:solidFill>
              <a:effectLst/>
              <a:latin typeface="+mn-lt"/>
              <a:ea typeface="+mn-ea"/>
              <a:cs typeface="+mn-cs"/>
            </a:endParaRPr>
          </a:p>
          <a:p>
            <a:pPr lvl="0"/>
            <a:r>
              <a:rPr lang="en-IN" sz="1200" b="1" kern="1200" dirty="0">
                <a:solidFill>
                  <a:schemeClr val="tx1"/>
                </a:solidFill>
                <a:effectLst/>
                <a:latin typeface="+mn-lt"/>
                <a:ea typeface="+mn-ea"/>
                <a:cs typeface="+mn-cs"/>
              </a:rPr>
              <a:t>EDWs</a:t>
            </a:r>
            <a:r>
              <a:rPr lang="en-IN" sz="1200" kern="1200" dirty="0">
                <a:solidFill>
                  <a:schemeClr val="tx1"/>
                </a:solidFill>
                <a:effectLst/>
                <a:latin typeface="+mn-lt"/>
                <a:ea typeface="+mn-ea"/>
                <a:cs typeface="+mn-cs"/>
              </a:rPr>
              <a:t> are great for centralizing and securing data, ensuring accuracy, and scaling as a business grows. However, they can be restrictive and slow for analysts who need more flexibility.</a:t>
            </a:r>
          </a:p>
          <a:p>
            <a:pPr lvl="0"/>
            <a:r>
              <a:rPr lang="en-IN" sz="1200" b="1" kern="1200" dirty="0">
                <a:solidFill>
                  <a:schemeClr val="tx1"/>
                </a:solidFill>
                <a:effectLst/>
                <a:latin typeface="+mn-lt"/>
                <a:ea typeface="+mn-ea"/>
                <a:cs typeface="+mn-cs"/>
              </a:rPr>
              <a:t>Analytic sandboxes</a:t>
            </a:r>
            <a:r>
              <a:rPr lang="en-IN" sz="1200" kern="1200" dirty="0">
                <a:solidFill>
                  <a:schemeClr val="tx1"/>
                </a:solidFill>
                <a:effectLst/>
                <a:latin typeface="+mn-lt"/>
                <a:ea typeface="+mn-ea"/>
                <a:cs typeface="+mn-cs"/>
              </a:rPr>
              <a:t> provide a solution by giving analysts a space to work independently while maintaining the security and integrity of the main EDW.</a:t>
            </a:r>
          </a:p>
          <a:p>
            <a:r>
              <a:rPr lang="en-IN" sz="1200" kern="1200" dirty="0">
                <a:solidFill>
                  <a:schemeClr val="tx1"/>
                </a:solidFill>
                <a:effectLst/>
                <a:latin typeface="+mn-lt"/>
                <a:ea typeface="+mn-ea"/>
                <a:cs typeface="+mn-cs"/>
              </a:rPr>
              <a:t> </a:t>
            </a:r>
          </a:p>
          <a:p>
            <a:endParaRPr lang="en-IN" dirty="0"/>
          </a:p>
        </p:txBody>
      </p:sp>
      <p:sp>
        <p:nvSpPr>
          <p:cNvPr id="4" name="Slide Number Placeholder 3"/>
          <p:cNvSpPr>
            <a:spLocks noGrp="1"/>
          </p:cNvSpPr>
          <p:nvPr>
            <p:ph type="sldNum" sz="quarter" idx="5"/>
          </p:nvPr>
        </p:nvSpPr>
        <p:spPr/>
        <p:txBody>
          <a:bodyPr/>
          <a:lstStyle/>
          <a:p>
            <a:fld id="{5D77E697-65E9-4E70-8FE0-7F81DDF1BCC1}" type="slidenum">
              <a:rPr lang="en-IN" smtClean="0"/>
              <a:t>27</a:t>
            </a:fld>
            <a:endParaRPr lang="en-IN"/>
          </a:p>
        </p:txBody>
      </p:sp>
    </p:spTree>
    <p:extLst>
      <p:ext uri="{BB962C8B-B14F-4D97-AF65-F5344CB8AC3E}">
        <p14:creationId xmlns:p14="http://schemas.microsoft.com/office/powerpoint/2010/main" val="25463023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7388916E-0763-4DA5-B245-E4F6F97B12AC}"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3045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88916E-0763-4DA5-B245-E4F6F97B12AC}" type="slidenum">
              <a:rPr lang="en-IN" smtClean="0"/>
              <a:t>‹#›</a:t>
            </a:fld>
            <a:endParaRPr lang="en-IN"/>
          </a:p>
        </p:txBody>
      </p:sp>
    </p:spTree>
    <p:extLst>
      <p:ext uri="{BB962C8B-B14F-4D97-AF65-F5344CB8AC3E}">
        <p14:creationId xmlns:p14="http://schemas.microsoft.com/office/powerpoint/2010/main" val="2813902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88916E-0763-4DA5-B245-E4F6F97B12AC}"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6209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22BB2C0-74D2-41CF-BF78-21CB10727760}"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88916E-0763-4DA5-B245-E4F6F97B12AC}" type="slidenum">
              <a:rPr lang="en-IN" smtClean="0"/>
              <a:t>‹#›</a:t>
            </a:fld>
            <a:endParaRPr lang="en-IN"/>
          </a:p>
        </p:txBody>
      </p:sp>
    </p:spTree>
    <p:extLst>
      <p:ext uri="{BB962C8B-B14F-4D97-AF65-F5344CB8AC3E}">
        <p14:creationId xmlns:p14="http://schemas.microsoft.com/office/powerpoint/2010/main" val="3072960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2BB2C0-74D2-41CF-BF78-21CB10727760}" type="datetimeFigureOut">
              <a:rPr lang="en-IN" smtClean="0"/>
              <a:t>08-09-2025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388916E-0763-4DA5-B245-E4F6F97B12AC}"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25640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2BB2C0-74D2-41CF-BF78-21CB10727760}" type="datetimeFigureOut">
              <a:rPr lang="en-IN" smtClean="0"/>
              <a:t>08-09-2025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388916E-0763-4DA5-B245-E4F6F97B12AC}"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8154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2BB2C0-74D2-41CF-BF78-21CB10727760}" type="datetimeFigureOut">
              <a:rPr lang="en-IN" smtClean="0"/>
              <a:t>08-09-2025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388916E-0763-4DA5-B245-E4F6F97B12AC}" type="slidenum">
              <a:rPr lang="en-IN" smtClean="0"/>
              <a:t>‹#›</a:t>
            </a:fld>
            <a:endParaRPr lang="en-IN"/>
          </a:p>
        </p:txBody>
      </p:sp>
    </p:spTree>
    <p:extLst>
      <p:ext uri="{BB962C8B-B14F-4D97-AF65-F5344CB8AC3E}">
        <p14:creationId xmlns:p14="http://schemas.microsoft.com/office/powerpoint/2010/main" val="17946699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2BB2C0-74D2-41CF-BF78-21CB10727760}"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88916E-0763-4DA5-B245-E4F6F97B12AC}"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7811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2BB2C0-74D2-41CF-BF78-21CB10727760}"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88916E-0763-4DA5-B245-E4F6F97B12AC}" type="slidenum">
              <a:rPr lang="en-IN" smtClean="0"/>
              <a:t>‹#›</a:t>
            </a:fld>
            <a:endParaRPr lang="en-IN"/>
          </a:p>
        </p:txBody>
      </p:sp>
    </p:spTree>
    <p:extLst>
      <p:ext uri="{BB962C8B-B14F-4D97-AF65-F5344CB8AC3E}">
        <p14:creationId xmlns:p14="http://schemas.microsoft.com/office/powerpoint/2010/main" val="1272509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2BB2C0-74D2-41CF-BF78-21CB10727760}" type="datetimeFigureOut">
              <a:rPr lang="en-IN" smtClean="0"/>
              <a:t>08-09-2025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388916E-0763-4DA5-B245-E4F6F97B12AC}" type="slidenum">
              <a:rPr lang="en-IN" smtClean="0"/>
              <a:t>‹#›</a:t>
            </a:fld>
            <a:endParaRPr lang="en-IN"/>
          </a:p>
        </p:txBody>
      </p:sp>
    </p:spTree>
    <p:extLst>
      <p:ext uri="{BB962C8B-B14F-4D97-AF65-F5344CB8AC3E}">
        <p14:creationId xmlns:p14="http://schemas.microsoft.com/office/powerpoint/2010/main" val="17366262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88916E-0763-4DA5-B245-E4F6F97B12AC}"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7923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88916E-0763-4DA5-B245-E4F6F97B12AC}"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1947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88916E-0763-4DA5-B245-E4F6F97B12AC}" type="slidenum">
              <a:rPr lang="en-IN" smtClean="0"/>
              <a:t>‹#›</a:t>
            </a:fld>
            <a:endParaRPr lang="en-IN"/>
          </a:p>
        </p:txBody>
      </p:sp>
    </p:spTree>
    <p:extLst>
      <p:ext uri="{BB962C8B-B14F-4D97-AF65-F5344CB8AC3E}">
        <p14:creationId xmlns:p14="http://schemas.microsoft.com/office/powerpoint/2010/main" val="10480705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88916E-0763-4DA5-B245-E4F6F97B12AC}"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7247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88916E-0763-4DA5-B245-E4F6F97B12AC}"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47471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88916E-0763-4DA5-B245-E4F6F97B12AC}"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05888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22BB2C0-74D2-41CF-BF78-21CB10727760}" type="datetimeFigureOut">
              <a:rPr lang="en-IN" smtClean="0"/>
              <a:t>08-09-2025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388916E-0763-4DA5-B245-E4F6F97B12AC}"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0923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22BB2C0-74D2-41CF-BF78-21CB10727760}" type="datetimeFigureOut">
              <a:rPr lang="en-IN" smtClean="0"/>
              <a:t>08-09-2025</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388916E-0763-4DA5-B245-E4F6F97B12AC}" type="slidenum">
              <a:rPr lang="en-IN" smtClean="0"/>
              <a:t>‹#›</a:t>
            </a:fld>
            <a:endParaRPr lang="en-IN"/>
          </a:p>
        </p:txBody>
      </p:sp>
    </p:spTree>
    <p:extLst>
      <p:ext uri="{BB962C8B-B14F-4D97-AF65-F5344CB8AC3E}">
        <p14:creationId xmlns:p14="http://schemas.microsoft.com/office/powerpoint/2010/main" val="12573870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customXml" Target="../ink/ink1.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DCF29-5D24-D4BE-C551-5CC455EF1D64}"/>
              </a:ext>
            </a:extLst>
          </p:cNvPr>
          <p:cNvSpPr>
            <a:spLocks noGrp="1"/>
          </p:cNvSpPr>
          <p:nvPr>
            <p:ph type="ctrTitle"/>
          </p:nvPr>
        </p:nvSpPr>
        <p:spPr/>
        <p:txBody>
          <a:bodyPr/>
          <a:lstStyle/>
          <a:p>
            <a:r>
              <a:rPr lang="en-US" sz="4400" b="1" dirty="0">
                <a:latin typeface="Times New Roman" panose="02020603050405020304" pitchFamily="18" charset="0"/>
                <a:cs typeface="Times New Roman" panose="02020603050405020304" pitchFamily="18" charset="0"/>
              </a:rPr>
              <a:t>Data Analytics</a:t>
            </a:r>
            <a:endParaRPr lang="en-IN" sz="44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A3ECBBD-5EBE-24E6-2F89-7B58919D3F00}"/>
              </a:ext>
            </a:extLst>
          </p:cNvPr>
          <p:cNvSpPr>
            <a:spLocks noGrp="1"/>
          </p:cNvSpPr>
          <p:nvPr>
            <p:ph type="subTitle" idx="1"/>
          </p:nvPr>
        </p:nvSpPr>
        <p:spPr>
          <a:xfrm>
            <a:off x="2692398" y="3657596"/>
            <a:ext cx="6815669" cy="1707505"/>
          </a:xfrm>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Mr. Shrikrishna Anand Narvekar</a:t>
            </a:r>
          </a:p>
          <a:p>
            <a:r>
              <a:rPr lang="en-US" dirty="0">
                <a:latin typeface="Times New Roman" panose="02020603050405020304" pitchFamily="18" charset="0"/>
                <a:cs typeface="Times New Roman" panose="02020603050405020304" pitchFamily="18" charset="0"/>
              </a:rPr>
              <a:t>Assitant Professor</a:t>
            </a:r>
          </a:p>
          <a:p>
            <a:r>
              <a:rPr lang="en-US" dirty="0">
                <a:latin typeface="Times New Roman" panose="02020603050405020304" pitchFamily="18" charset="0"/>
                <a:cs typeface="Times New Roman" panose="02020603050405020304" pitchFamily="18" charset="0"/>
              </a:rPr>
              <a:t>Computer Engineering department</a:t>
            </a:r>
          </a:p>
          <a:p>
            <a:r>
              <a:rPr lang="en-US" dirty="0">
                <a:latin typeface="Times New Roman" panose="02020603050405020304" pitchFamily="18" charset="0"/>
                <a:cs typeface="Times New Roman" panose="02020603050405020304" pitchFamily="18" charset="0"/>
              </a:rPr>
              <a:t>Agnel Institute of Technology and Design</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69053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4860-230F-38E5-BC05-885EBE512D91}"/>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About the course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9350571-40D0-6E50-E156-B1A7C1C4819E}"/>
              </a:ext>
            </a:extLst>
          </p:cNvPr>
          <p:cNvSpPr>
            <a:spLocks noGrp="1"/>
          </p:cNvSpPr>
          <p:nvPr>
            <p:ph idx="1"/>
          </p:nvPr>
        </p:nvSpPr>
        <p:spPr/>
        <p:txBody>
          <a:bodyPr>
            <a:normAutofit fontScale="70000" lnSpcReduction="20000"/>
          </a:bodyPr>
          <a:lstStyle/>
          <a:p>
            <a:r>
              <a:rPr lang="en-IN" sz="3100" dirty="0">
                <a:solidFill>
                  <a:schemeClr val="tx1"/>
                </a:solidFill>
                <a:latin typeface="Times New Roman" panose="02020603050405020304" pitchFamily="18" charset="0"/>
                <a:cs typeface="Times New Roman" panose="02020603050405020304" pitchFamily="18" charset="0"/>
              </a:rPr>
              <a:t>Will involve some math &amp; programming but certainly no derivations!</a:t>
            </a:r>
          </a:p>
          <a:p>
            <a:r>
              <a:rPr lang="en-IN" sz="3100" dirty="0">
                <a:solidFill>
                  <a:schemeClr val="tx1"/>
                </a:solidFill>
                <a:latin typeface="Times New Roman" panose="02020603050405020304" pitchFamily="18" charset="0"/>
                <a:cs typeface="Times New Roman" panose="02020603050405020304" pitchFamily="18" charset="0"/>
              </a:rPr>
              <a:t>Heavily conceptual.</a:t>
            </a:r>
          </a:p>
          <a:p>
            <a:r>
              <a:rPr lang="en-IN" sz="3100" dirty="0">
                <a:solidFill>
                  <a:schemeClr val="tx1"/>
                </a:solidFill>
                <a:latin typeface="Times New Roman" panose="02020603050405020304" pitchFamily="18" charset="0"/>
                <a:cs typeface="Times New Roman" panose="02020603050405020304" pitchFamily="18" charset="0"/>
              </a:rPr>
              <a:t>What's &amp; Whys of data analytics.</a:t>
            </a:r>
          </a:p>
          <a:p>
            <a:pPr lvl="1"/>
            <a:r>
              <a:rPr lang="en-IN" sz="3100" dirty="0">
                <a:solidFill>
                  <a:schemeClr val="tx1"/>
                </a:solidFill>
                <a:latin typeface="Times New Roman" panose="02020603050405020304" pitchFamily="18" charset="0"/>
                <a:cs typeface="Times New Roman" panose="02020603050405020304" pitchFamily="18" charset="0"/>
              </a:rPr>
              <a:t>Statistics to Machine Learning</a:t>
            </a:r>
          </a:p>
          <a:p>
            <a:pPr lvl="1"/>
            <a:r>
              <a:rPr lang="en-IN" sz="3100" dirty="0">
                <a:solidFill>
                  <a:schemeClr val="tx1"/>
                </a:solidFill>
                <a:latin typeface="Times New Roman" panose="02020603050405020304" pitchFamily="18" charset="0"/>
                <a:cs typeface="Times New Roman" panose="02020603050405020304" pitchFamily="18" charset="0"/>
              </a:rPr>
              <a:t>Techniques &amp; tools you will apply</a:t>
            </a:r>
          </a:p>
          <a:p>
            <a:pPr lvl="1"/>
            <a:r>
              <a:rPr lang="en-IN" sz="3100" dirty="0">
                <a:solidFill>
                  <a:schemeClr val="tx1"/>
                </a:solidFill>
                <a:latin typeface="Times New Roman" panose="02020603050405020304" pitchFamily="18" charset="0"/>
                <a:cs typeface="Times New Roman" panose="02020603050405020304" pitchFamily="18" charset="0"/>
              </a:rPr>
              <a:t>Where &amp; why some methods work some does not</a:t>
            </a:r>
          </a:p>
          <a:p>
            <a:pPr lvl="1"/>
            <a:r>
              <a:rPr lang="en-IN" sz="3100" dirty="0">
                <a:solidFill>
                  <a:schemeClr val="tx1"/>
                </a:solidFill>
                <a:latin typeface="Times New Roman" panose="02020603050405020304" pitchFamily="18" charset="0"/>
                <a:cs typeface="Times New Roman" panose="02020603050405020304" pitchFamily="18" charset="0"/>
              </a:rPr>
              <a:t>Background logic</a:t>
            </a:r>
          </a:p>
          <a:p>
            <a:pPr lvl="1"/>
            <a:r>
              <a:rPr lang="en-IN" sz="3100" dirty="0">
                <a:solidFill>
                  <a:schemeClr val="tx1"/>
                </a:solidFill>
                <a:latin typeface="Times New Roman" panose="02020603050405020304" pitchFamily="18" charset="0"/>
                <a:cs typeface="Times New Roman" panose="02020603050405020304" pitchFamily="18" charset="0"/>
              </a:rPr>
              <a:t>Lots of application!</a:t>
            </a:r>
          </a:p>
          <a:p>
            <a:endParaRPr lang="en-IN" dirty="0"/>
          </a:p>
        </p:txBody>
      </p:sp>
    </p:spTree>
    <p:extLst>
      <p:ext uri="{BB962C8B-B14F-4D97-AF65-F5344CB8AC3E}">
        <p14:creationId xmlns:p14="http://schemas.microsoft.com/office/powerpoint/2010/main" val="4248203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856E3-4BEA-8AE4-980D-A06EDA0A7841}"/>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Format of the course</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60B5B5B-159D-195B-B2E6-E477DBA7253B}"/>
              </a:ext>
            </a:extLst>
          </p:cNvPr>
          <p:cNvSpPr>
            <a:spLocks noGrp="1"/>
          </p:cNvSpPr>
          <p:nvPr>
            <p:ph idx="1"/>
          </p:nvPr>
        </p:nvSpPr>
        <p:spPr/>
        <p:txBody>
          <a:bodyPr>
            <a:normAutofit fontScale="92500" lnSpcReduction="20000"/>
          </a:bodyPr>
          <a:lstStyle/>
          <a:p>
            <a:r>
              <a:rPr lang="en-US" dirty="0">
                <a:solidFill>
                  <a:schemeClr val="tx1"/>
                </a:solidFill>
                <a:latin typeface="Times New Roman" panose="02020603050405020304" pitchFamily="18" charset="0"/>
                <a:cs typeface="Times New Roman" panose="02020603050405020304" pitchFamily="18" charset="0"/>
              </a:rPr>
              <a:t>Focus on a single topic per session</a:t>
            </a:r>
          </a:p>
          <a:p>
            <a:r>
              <a:rPr lang="en-US" dirty="0">
                <a:solidFill>
                  <a:schemeClr val="tx1"/>
                </a:solidFill>
                <a:latin typeface="Times New Roman" panose="02020603050405020304" pitchFamily="18" charset="0"/>
                <a:cs typeface="Times New Roman" panose="02020603050405020304" pitchFamily="18" charset="0"/>
              </a:rPr>
              <a:t>Begin with general introduction to the topic</a:t>
            </a:r>
          </a:p>
          <a:p>
            <a:r>
              <a:rPr lang="en-US" dirty="0">
                <a:solidFill>
                  <a:schemeClr val="tx1"/>
                </a:solidFill>
                <a:latin typeface="Times New Roman" panose="02020603050405020304" pitchFamily="18" charset="0"/>
                <a:cs typeface="Times New Roman" panose="02020603050405020304" pitchFamily="18" charset="0"/>
              </a:rPr>
              <a:t>Related concepts explained</a:t>
            </a:r>
          </a:p>
          <a:p>
            <a:r>
              <a:rPr lang="en-US" dirty="0">
                <a:solidFill>
                  <a:schemeClr val="tx1"/>
                </a:solidFill>
                <a:latin typeface="Times New Roman" panose="02020603050405020304" pitchFamily="18" charset="0"/>
                <a:cs typeface="Times New Roman" panose="02020603050405020304" pitchFamily="18" charset="0"/>
              </a:rPr>
              <a:t>Sample problems and solutions, algorithms, methods</a:t>
            </a:r>
          </a:p>
          <a:p>
            <a:r>
              <a:rPr lang="en-US" dirty="0">
                <a:solidFill>
                  <a:schemeClr val="tx1"/>
                </a:solidFill>
                <a:latin typeface="Times New Roman" panose="02020603050405020304" pitchFamily="18" charset="0"/>
                <a:cs typeface="Times New Roman" panose="02020603050405020304" pitchFamily="18" charset="0"/>
              </a:rPr>
              <a:t>Implement solutions using tools (R Tool)</a:t>
            </a:r>
          </a:p>
          <a:p>
            <a:r>
              <a:rPr lang="en-US" dirty="0">
                <a:solidFill>
                  <a:schemeClr val="tx1"/>
                </a:solidFill>
                <a:latin typeface="Times New Roman" panose="02020603050405020304" pitchFamily="18" charset="0"/>
                <a:cs typeface="Times New Roman" panose="02020603050405020304" pitchFamily="18" charset="0"/>
              </a:rPr>
              <a:t>Don’t hesitate to provide feedback, ask questions</a:t>
            </a:r>
          </a:p>
          <a:p>
            <a:r>
              <a:rPr lang="en-US" dirty="0">
                <a:solidFill>
                  <a:schemeClr val="tx1"/>
                </a:solidFill>
                <a:latin typeface="Times New Roman" panose="02020603050405020304" pitchFamily="18" charset="0"/>
                <a:cs typeface="Times New Roman" panose="02020603050405020304" pitchFamily="18" charset="0"/>
              </a:rPr>
              <a:t>We will learn how to apply statistics/machine learning and use them for data analytics!</a:t>
            </a: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1719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0B0C7-2C7B-21EA-BB5B-E7D8A22295C3}"/>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Course Overview</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EF3C20D-8E46-8C4D-A619-C5AE8A1409B9}"/>
              </a:ext>
            </a:extLst>
          </p:cNvPr>
          <p:cNvSpPr>
            <a:spLocks noGrp="1"/>
          </p:cNvSpPr>
          <p:nvPr>
            <p:ph idx="1"/>
          </p:nvPr>
        </p:nvSpPr>
        <p:spPr/>
        <p:txBody>
          <a:bodyPr/>
          <a:lstStyle/>
          <a:p>
            <a:pPr marL="457200" indent="-457200">
              <a:buFont typeface="+mj-lt"/>
              <a:buAutoNum type="arabicPeriod"/>
            </a:pPr>
            <a:r>
              <a:rPr lang="en-US" b="1" dirty="0">
                <a:latin typeface="Times New Roman" panose="02020603050405020304" pitchFamily="18" charset="0"/>
                <a:cs typeface="Times New Roman" panose="02020603050405020304" pitchFamily="18" charset="0"/>
              </a:rPr>
              <a:t>Unit 1</a:t>
            </a:r>
          </a:p>
          <a:p>
            <a:r>
              <a:rPr lang="en-IN" dirty="0">
                <a:latin typeface="Times New Roman" panose="02020603050405020304" pitchFamily="18" charset="0"/>
                <a:cs typeface="Times New Roman" panose="02020603050405020304" pitchFamily="18" charset="0"/>
              </a:rPr>
              <a:t>Introduction to data analytics and data-Preprocessing</a:t>
            </a:r>
          </a:p>
          <a:p>
            <a:r>
              <a:rPr lang="en-IN" dirty="0">
                <a:latin typeface="Times New Roman" panose="02020603050405020304" pitchFamily="18" charset="0"/>
                <a:cs typeface="Times New Roman" panose="02020603050405020304" pitchFamily="18" charset="0"/>
              </a:rPr>
              <a:t>Concept of supervised and unsupervised learning</a:t>
            </a:r>
          </a:p>
          <a:p>
            <a:r>
              <a:rPr lang="en-IN" dirty="0">
                <a:latin typeface="Times New Roman" panose="02020603050405020304" pitchFamily="18" charset="0"/>
                <a:cs typeface="Times New Roman" panose="02020603050405020304" pitchFamily="18" charset="0"/>
              </a:rPr>
              <a:t>Sampling methods and resampling</a:t>
            </a:r>
          </a:p>
          <a:p>
            <a:r>
              <a:rPr lang="en-IN" dirty="0">
                <a:latin typeface="Times New Roman" panose="02020603050405020304" pitchFamily="18" charset="0"/>
                <a:cs typeface="Times New Roman" panose="02020603050405020304" pitchFamily="18" charset="0"/>
              </a:rPr>
              <a:t>Descriptive statistics</a:t>
            </a:r>
          </a:p>
          <a:p>
            <a:r>
              <a:rPr lang="en-IN" dirty="0">
                <a:latin typeface="Times New Roman" panose="02020603050405020304" pitchFamily="18" charset="0"/>
                <a:cs typeface="Times New Roman" panose="02020603050405020304" pitchFamily="18" charset="0"/>
              </a:rPr>
              <a:t>Linear regression and multiple regression</a:t>
            </a:r>
          </a:p>
        </p:txBody>
      </p:sp>
    </p:spTree>
    <p:extLst>
      <p:ext uri="{BB962C8B-B14F-4D97-AF65-F5344CB8AC3E}">
        <p14:creationId xmlns:p14="http://schemas.microsoft.com/office/powerpoint/2010/main" val="301704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1A9AD-EB5D-486E-F3F4-B75986911AEC}"/>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Course Overview</a:t>
            </a:r>
            <a:endParaRPr lang="en-IN" dirty="0"/>
          </a:p>
        </p:txBody>
      </p:sp>
      <p:sp>
        <p:nvSpPr>
          <p:cNvPr id="3" name="Content Placeholder 2">
            <a:extLst>
              <a:ext uri="{FF2B5EF4-FFF2-40B4-BE49-F238E27FC236}">
                <a16:creationId xmlns:a16="http://schemas.microsoft.com/office/drawing/2014/main" id="{8D0769F2-00F3-BD9B-ABF6-DEB5200AFC33}"/>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Unit 2</a:t>
            </a:r>
          </a:p>
          <a:p>
            <a:r>
              <a:rPr lang="en-US" dirty="0">
                <a:latin typeface="Times New Roman" panose="02020603050405020304" pitchFamily="18" charset="0"/>
                <a:cs typeface="Times New Roman" panose="02020603050405020304" pitchFamily="18" charset="0"/>
              </a:rPr>
              <a:t>Inferential statistics</a:t>
            </a:r>
          </a:p>
          <a:p>
            <a:r>
              <a:rPr lang="en-US" dirty="0">
                <a:latin typeface="Times New Roman" panose="02020603050405020304" pitchFamily="18" charset="0"/>
                <a:cs typeface="Times New Roman" panose="02020603050405020304" pitchFamily="18" charset="0"/>
              </a:rPr>
              <a:t>Classification</a:t>
            </a:r>
          </a:p>
          <a:p>
            <a:r>
              <a:rPr lang="en-US" dirty="0">
                <a:latin typeface="Times New Roman" panose="02020603050405020304" pitchFamily="18" charset="0"/>
                <a:cs typeface="Times New Roman" panose="02020603050405020304" pitchFamily="18" charset="0"/>
              </a:rPr>
              <a:t>Ensemble methods</a:t>
            </a:r>
          </a:p>
          <a:p>
            <a:r>
              <a:rPr lang="en-IN" dirty="0">
                <a:latin typeface="Times New Roman" panose="02020603050405020304" pitchFamily="18" charset="0"/>
                <a:cs typeface="Times New Roman" panose="02020603050405020304" pitchFamily="18" charset="0"/>
              </a:rPr>
              <a:t>Clustering</a:t>
            </a:r>
          </a:p>
          <a:p>
            <a:r>
              <a:rPr lang="en-IN" dirty="0">
                <a:latin typeface="Times New Roman" panose="02020603050405020304" pitchFamily="18" charset="0"/>
                <a:cs typeface="Times New Roman" panose="02020603050405020304" pitchFamily="18" charset="0"/>
              </a:rPr>
              <a:t>Association rules</a:t>
            </a:r>
          </a:p>
        </p:txBody>
      </p:sp>
    </p:spTree>
    <p:extLst>
      <p:ext uri="{BB962C8B-B14F-4D97-AF65-F5344CB8AC3E}">
        <p14:creationId xmlns:p14="http://schemas.microsoft.com/office/powerpoint/2010/main" val="598552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E0829-4A57-22E6-13CA-79091E39A37D}"/>
              </a:ext>
            </a:extLst>
          </p:cNvPr>
          <p:cNvSpPr>
            <a:spLocks noGrp="1"/>
          </p:cNvSpPr>
          <p:nvPr>
            <p:ph type="title"/>
          </p:nvPr>
        </p:nvSpPr>
        <p:spPr/>
        <p:txBody>
          <a:bodyPr/>
          <a:lstStyle/>
          <a:p>
            <a:r>
              <a:rPr lang="en-US" sz="4400" b="1" dirty="0">
                <a:latin typeface="Times New Roman" panose="02020603050405020304" pitchFamily="18" charset="0"/>
                <a:cs typeface="Times New Roman" panose="02020603050405020304" pitchFamily="18" charset="0"/>
              </a:rPr>
              <a:t>Course Overview</a:t>
            </a:r>
            <a:endParaRPr lang="en-IN" dirty="0"/>
          </a:p>
        </p:txBody>
      </p:sp>
      <p:sp>
        <p:nvSpPr>
          <p:cNvPr id="3" name="Content Placeholder 2">
            <a:extLst>
              <a:ext uri="{FF2B5EF4-FFF2-40B4-BE49-F238E27FC236}">
                <a16:creationId xmlns:a16="http://schemas.microsoft.com/office/drawing/2014/main" id="{D4F4DBA1-7121-67CD-77C0-90F793F2EB0D}"/>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Unit 3</a:t>
            </a:r>
          </a:p>
          <a:p>
            <a:r>
              <a:rPr lang="en-US" dirty="0">
                <a:latin typeface="Times New Roman" panose="02020603050405020304" pitchFamily="18" charset="0"/>
                <a:cs typeface="Times New Roman" panose="02020603050405020304" pitchFamily="18" charset="0"/>
              </a:rPr>
              <a:t>DBMS, </a:t>
            </a:r>
            <a:r>
              <a:rPr lang="en-US" dirty="0" err="1">
                <a:latin typeface="Times New Roman" panose="02020603050405020304" pitchFamily="18" charset="0"/>
                <a:cs typeface="Times New Roman" panose="02020603050405020304" pitchFamily="18" charset="0"/>
              </a:rPr>
              <a:t>NoSQl</a:t>
            </a:r>
            <a:r>
              <a:rPr lang="en-US" dirty="0">
                <a:latin typeface="Times New Roman" panose="02020603050405020304" pitchFamily="18" charset="0"/>
                <a:cs typeface="Times New Roman" panose="02020603050405020304" pitchFamily="18" charset="0"/>
              </a:rPr>
              <a:t> database, Basic Data Analytics Lifecycle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Unit 4</a:t>
            </a:r>
          </a:p>
          <a:p>
            <a:r>
              <a:rPr lang="en-US" dirty="0">
                <a:latin typeface="Times New Roman" panose="02020603050405020304" pitchFamily="18" charset="0"/>
                <a:cs typeface="Times New Roman" panose="02020603050405020304" pitchFamily="18" charset="0"/>
              </a:rPr>
              <a:t>Data Analytics using R-Theory, Methods and case studies</a:t>
            </a:r>
          </a:p>
          <a:p>
            <a:endParaRPr lang="en-US" dirty="0"/>
          </a:p>
        </p:txBody>
      </p:sp>
    </p:spTree>
    <p:extLst>
      <p:ext uri="{BB962C8B-B14F-4D97-AF65-F5344CB8AC3E}">
        <p14:creationId xmlns:p14="http://schemas.microsoft.com/office/powerpoint/2010/main" val="1479338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3256A-EB2E-2263-A2BC-5A3CB569D42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Books and Readings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7AA33C-E315-E6A9-399D-67CEF44ED373}"/>
              </a:ext>
            </a:extLst>
          </p:cNvPr>
          <p:cNvSpPr>
            <a:spLocks noGrp="1"/>
          </p:cNvSpPr>
          <p:nvPr>
            <p:ph idx="1"/>
          </p:nvPr>
        </p:nvSpPr>
        <p:spPr/>
        <p:txBody>
          <a:bodyPr>
            <a:normAutofit fontScale="62500" lnSpcReduction="20000"/>
          </a:bodyPr>
          <a:lstStyle/>
          <a:p>
            <a:r>
              <a:rPr lang="en-US" sz="2900" b="1" dirty="0">
                <a:solidFill>
                  <a:schemeClr val="tx1"/>
                </a:solidFill>
                <a:latin typeface="Times New Roman" panose="02020603050405020304" pitchFamily="18" charset="0"/>
                <a:cs typeface="Times New Roman" panose="02020603050405020304" pitchFamily="18" charset="0"/>
              </a:rPr>
              <a:t>“Data Science &amp; Big Data Analytics”, David Dietrich, Barry Hiller</a:t>
            </a:r>
            <a:r>
              <a:rPr lang="en-US" sz="2900" dirty="0">
                <a:solidFill>
                  <a:schemeClr val="tx1"/>
                </a:solidFill>
                <a:latin typeface="Times New Roman" panose="02020603050405020304" pitchFamily="18" charset="0"/>
                <a:cs typeface="Times New Roman" panose="02020603050405020304" pitchFamily="18" charset="0"/>
              </a:rPr>
              <a:t>, EMC education services, Wiley publications, 2012</a:t>
            </a:r>
          </a:p>
          <a:p>
            <a:r>
              <a:rPr lang="en-US" sz="2900" dirty="0">
                <a:solidFill>
                  <a:schemeClr val="tx1"/>
                </a:solidFill>
                <a:latin typeface="Times New Roman" panose="02020603050405020304" pitchFamily="18" charset="0"/>
                <a:cs typeface="Times New Roman" panose="02020603050405020304" pitchFamily="18" charset="0"/>
              </a:rPr>
              <a:t>"</a:t>
            </a:r>
            <a:r>
              <a:rPr lang="en-US" sz="2900" b="1" dirty="0">
                <a:solidFill>
                  <a:schemeClr val="tx1"/>
                </a:solidFill>
                <a:latin typeface="Times New Roman" panose="02020603050405020304" pitchFamily="18" charset="0"/>
                <a:cs typeface="Times New Roman" panose="02020603050405020304" pitchFamily="18" charset="0"/>
              </a:rPr>
              <a:t>The Elements of Statistical Learning", Trevor Hastie, Robert </a:t>
            </a:r>
            <a:r>
              <a:rPr lang="en-US" sz="2900" b="1" dirty="0" err="1">
                <a:solidFill>
                  <a:schemeClr val="tx1"/>
                </a:solidFill>
                <a:latin typeface="Times New Roman" panose="02020603050405020304" pitchFamily="18" charset="0"/>
                <a:cs typeface="Times New Roman" panose="02020603050405020304" pitchFamily="18" charset="0"/>
              </a:rPr>
              <a:t>Tibshirani</a:t>
            </a:r>
            <a:r>
              <a:rPr lang="en-US" sz="2900" b="1" dirty="0">
                <a:solidFill>
                  <a:schemeClr val="tx1"/>
                </a:solidFill>
                <a:latin typeface="Times New Roman" panose="02020603050405020304" pitchFamily="18" charset="0"/>
                <a:cs typeface="Times New Roman" panose="02020603050405020304" pitchFamily="18" charset="0"/>
              </a:rPr>
              <a:t>, Jerome Friedman</a:t>
            </a:r>
            <a:r>
              <a:rPr lang="en-US" sz="2900" dirty="0">
                <a:solidFill>
                  <a:schemeClr val="tx1"/>
                </a:solidFill>
                <a:latin typeface="Times New Roman" panose="02020603050405020304" pitchFamily="18" charset="0"/>
                <a:cs typeface="Times New Roman" panose="02020603050405020304" pitchFamily="18" charset="0"/>
              </a:rPr>
              <a:t>, Second Edition, 2011, Springer</a:t>
            </a:r>
          </a:p>
          <a:p>
            <a:r>
              <a:rPr lang="en-US" sz="2900" dirty="0">
                <a:solidFill>
                  <a:schemeClr val="tx1"/>
                </a:solidFill>
                <a:latin typeface="Times New Roman" panose="02020603050405020304" pitchFamily="18" charset="0"/>
                <a:cs typeface="Times New Roman" panose="02020603050405020304" pitchFamily="18" charset="0"/>
              </a:rPr>
              <a:t>"</a:t>
            </a:r>
            <a:r>
              <a:rPr lang="en-US" sz="2900" b="1" dirty="0">
                <a:solidFill>
                  <a:schemeClr val="tx1"/>
                </a:solidFill>
                <a:latin typeface="Times New Roman" panose="02020603050405020304" pitchFamily="18" charset="0"/>
                <a:cs typeface="Times New Roman" panose="02020603050405020304" pitchFamily="18" charset="0"/>
              </a:rPr>
              <a:t>Database System Concepts", </a:t>
            </a:r>
            <a:r>
              <a:rPr lang="en-US" sz="2900" b="1" dirty="0" err="1">
                <a:solidFill>
                  <a:schemeClr val="tx1"/>
                </a:solidFill>
                <a:latin typeface="Times New Roman" panose="02020603050405020304" pitchFamily="18" charset="0"/>
                <a:cs typeface="Times New Roman" panose="02020603050405020304" pitchFamily="18" charset="0"/>
              </a:rPr>
              <a:t>Silberschatz</a:t>
            </a:r>
            <a:r>
              <a:rPr lang="en-US" sz="2900" b="1" dirty="0">
                <a:solidFill>
                  <a:schemeClr val="tx1"/>
                </a:solidFill>
                <a:latin typeface="Times New Roman" panose="02020603050405020304" pitchFamily="18" charset="0"/>
                <a:cs typeface="Times New Roman" panose="02020603050405020304" pitchFamily="18" charset="0"/>
              </a:rPr>
              <a:t> A., </a:t>
            </a:r>
            <a:r>
              <a:rPr lang="en-US" sz="2900" b="1" dirty="0" err="1">
                <a:solidFill>
                  <a:schemeClr val="tx1"/>
                </a:solidFill>
                <a:latin typeface="Times New Roman" panose="02020603050405020304" pitchFamily="18" charset="0"/>
                <a:cs typeface="Times New Roman" panose="02020603050405020304" pitchFamily="18" charset="0"/>
              </a:rPr>
              <a:t>Korth</a:t>
            </a:r>
            <a:r>
              <a:rPr lang="en-US" sz="2900" b="1" dirty="0">
                <a:solidFill>
                  <a:schemeClr val="tx1"/>
                </a:solidFill>
                <a:latin typeface="Times New Roman" panose="02020603050405020304" pitchFamily="18" charset="0"/>
                <a:cs typeface="Times New Roman" panose="02020603050405020304" pitchFamily="18" charset="0"/>
              </a:rPr>
              <a:t> H., Sudarshan S.</a:t>
            </a:r>
            <a:r>
              <a:rPr lang="en-US" sz="2900" dirty="0">
                <a:solidFill>
                  <a:schemeClr val="tx1"/>
                </a:solidFill>
                <a:latin typeface="Times New Roman" panose="02020603050405020304" pitchFamily="18" charset="0"/>
                <a:cs typeface="Times New Roman" panose="02020603050405020304" pitchFamily="18" charset="0"/>
              </a:rPr>
              <a:t>, 6</a:t>
            </a:r>
            <a:r>
              <a:rPr lang="en-US" sz="2900" baseline="30000" dirty="0">
                <a:solidFill>
                  <a:schemeClr val="tx1"/>
                </a:solidFill>
                <a:latin typeface="Times New Roman" panose="02020603050405020304" pitchFamily="18" charset="0"/>
                <a:cs typeface="Times New Roman" panose="02020603050405020304" pitchFamily="18" charset="0"/>
              </a:rPr>
              <a:t>th</a:t>
            </a:r>
            <a:r>
              <a:rPr lang="en-US" sz="2900" dirty="0">
                <a:solidFill>
                  <a:schemeClr val="tx1"/>
                </a:solidFill>
                <a:latin typeface="Times New Roman" panose="02020603050405020304" pitchFamily="18" charset="0"/>
                <a:cs typeface="Times New Roman" panose="02020603050405020304" pitchFamily="18" charset="0"/>
              </a:rPr>
              <a:t> edition, McGraw Hill Publishers.</a:t>
            </a:r>
          </a:p>
          <a:p>
            <a:r>
              <a:rPr lang="en-US" sz="2900" dirty="0">
                <a:solidFill>
                  <a:schemeClr val="tx1"/>
                </a:solidFill>
                <a:latin typeface="Times New Roman" panose="02020603050405020304" pitchFamily="18" charset="0"/>
                <a:cs typeface="Times New Roman" panose="02020603050405020304" pitchFamily="18" charset="0"/>
              </a:rPr>
              <a:t>“</a:t>
            </a:r>
            <a:r>
              <a:rPr lang="en-US" sz="2900" b="1" dirty="0">
                <a:solidFill>
                  <a:schemeClr val="tx1"/>
                </a:solidFill>
                <a:latin typeface="Times New Roman" panose="02020603050405020304" pitchFamily="18" charset="0"/>
                <a:cs typeface="Times New Roman" panose="02020603050405020304" pitchFamily="18" charset="0"/>
              </a:rPr>
              <a:t>Beginning R: The Statistical Programming Language”, Mark Gardner,</a:t>
            </a:r>
            <a:r>
              <a:rPr lang="en-US" sz="2900" dirty="0">
                <a:solidFill>
                  <a:schemeClr val="tx1"/>
                </a:solidFill>
                <a:latin typeface="Times New Roman" panose="02020603050405020304" pitchFamily="18" charset="0"/>
                <a:cs typeface="Times New Roman" panose="02020603050405020304" pitchFamily="18" charset="0"/>
              </a:rPr>
              <a:t> </a:t>
            </a:r>
            <a:r>
              <a:rPr lang="en-US" sz="2900" dirty="0" err="1">
                <a:solidFill>
                  <a:schemeClr val="tx1"/>
                </a:solidFill>
                <a:latin typeface="Times New Roman" panose="02020603050405020304" pitchFamily="18" charset="0"/>
                <a:cs typeface="Times New Roman" panose="02020603050405020304" pitchFamily="18" charset="0"/>
              </a:rPr>
              <a:t>Wrox</a:t>
            </a:r>
            <a:r>
              <a:rPr lang="en-US" sz="2900" dirty="0">
                <a:solidFill>
                  <a:schemeClr val="tx1"/>
                </a:solidFill>
                <a:latin typeface="Times New Roman" panose="02020603050405020304" pitchFamily="18" charset="0"/>
                <a:cs typeface="Times New Roman" panose="02020603050405020304" pitchFamily="18" charset="0"/>
              </a:rPr>
              <a:t> Press (WILEY), 2012</a:t>
            </a:r>
          </a:p>
          <a:p>
            <a:r>
              <a:rPr lang="en-US" sz="2900" b="1" dirty="0">
                <a:solidFill>
                  <a:schemeClr val="tx1"/>
                </a:solidFill>
                <a:latin typeface="Times New Roman" panose="02020603050405020304" pitchFamily="18" charset="0"/>
                <a:cs typeface="Times New Roman" panose="02020603050405020304" pitchFamily="18" charset="0"/>
              </a:rPr>
              <a:t>“NoSQL For Dummies”, Adam Fowler</a:t>
            </a:r>
            <a:r>
              <a:rPr lang="en-US" sz="2900" dirty="0">
                <a:solidFill>
                  <a:schemeClr val="tx1"/>
                </a:solidFill>
                <a:latin typeface="Times New Roman" panose="02020603050405020304" pitchFamily="18" charset="0"/>
                <a:cs typeface="Times New Roman" panose="02020603050405020304" pitchFamily="18" charset="0"/>
              </a:rPr>
              <a:t>, John Wiley &amp; Sons, 2015</a:t>
            </a:r>
          </a:p>
          <a:p>
            <a:r>
              <a:rPr lang="en-US" sz="2900" b="1" dirty="0">
                <a:solidFill>
                  <a:schemeClr val="tx1"/>
                </a:solidFill>
                <a:latin typeface="Times New Roman" panose="02020603050405020304" pitchFamily="18" charset="0"/>
                <a:cs typeface="Times New Roman" panose="02020603050405020304" pitchFamily="18" charset="0"/>
              </a:rPr>
              <a:t>“Applied statistics and probability for engineers”. Montgomery, Douglas C., and George C. </a:t>
            </a:r>
            <a:r>
              <a:rPr lang="en-US" sz="2900" b="1" dirty="0" err="1">
                <a:solidFill>
                  <a:schemeClr val="tx1"/>
                </a:solidFill>
                <a:latin typeface="Times New Roman" panose="02020603050405020304" pitchFamily="18" charset="0"/>
                <a:cs typeface="Times New Roman" panose="02020603050405020304" pitchFamily="18" charset="0"/>
              </a:rPr>
              <a:t>Runger</a:t>
            </a:r>
            <a:r>
              <a:rPr lang="en-US" sz="2900" dirty="0">
                <a:solidFill>
                  <a:schemeClr val="tx1"/>
                </a:solidFill>
                <a:latin typeface="Times New Roman" panose="02020603050405020304" pitchFamily="18" charset="0"/>
                <a:cs typeface="Times New Roman" panose="02020603050405020304" pitchFamily="18" charset="0"/>
              </a:rPr>
              <a:t>. John Wiley &amp; Sons, 2010</a:t>
            </a:r>
            <a:endParaRPr lang="en-IN" sz="29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88460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F6EEF-E045-389E-95FE-C340519092CA}"/>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Objectives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D6CBCCA-AB31-D217-18A2-DA2CD84F3B79}"/>
              </a:ext>
            </a:extLst>
          </p:cNvPr>
          <p:cNvSpPr>
            <a:spLocks noGrp="1"/>
          </p:cNvSpPr>
          <p:nvPr>
            <p:ph idx="1"/>
          </p:nvPr>
        </p:nvSpPr>
        <p:spPr/>
        <p:txBody>
          <a:bodyPr>
            <a:normAutofit fontScale="85000" lnSpcReduction="20000"/>
          </a:bodyPr>
          <a:lstStyle/>
          <a:p>
            <a:r>
              <a:rPr lang="en-US" dirty="0">
                <a:solidFill>
                  <a:schemeClr val="tx1"/>
                </a:solidFill>
                <a:latin typeface="Times New Roman" panose="02020603050405020304" pitchFamily="18" charset="0"/>
                <a:cs typeface="Times New Roman" panose="02020603050405020304" pitchFamily="18" charset="0"/>
              </a:rPr>
              <a:t>Understand foundations of data analytics so that you can </a:t>
            </a:r>
            <a:r>
              <a:rPr lang="en-US" b="1" dirty="0">
                <a:solidFill>
                  <a:schemeClr val="tx1"/>
                </a:solidFill>
                <a:latin typeface="Times New Roman" panose="02020603050405020304" pitchFamily="18" charset="0"/>
                <a:cs typeface="Times New Roman" panose="02020603050405020304" pitchFamily="18" charset="0"/>
              </a:rPr>
              <a:t>interpret and communicate results and make informed decisions </a:t>
            </a:r>
          </a:p>
          <a:p>
            <a:r>
              <a:rPr lang="en-US" dirty="0">
                <a:solidFill>
                  <a:schemeClr val="tx1"/>
                </a:solidFill>
                <a:latin typeface="Times New Roman" panose="02020603050405020304" pitchFamily="18" charset="0"/>
                <a:cs typeface="Times New Roman" panose="02020603050405020304" pitchFamily="18" charset="0"/>
              </a:rPr>
              <a:t>Study and learn to apply common </a:t>
            </a:r>
            <a:r>
              <a:rPr lang="en-US" b="1" dirty="0">
                <a:solidFill>
                  <a:schemeClr val="tx1"/>
                </a:solidFill>
                <a:latin typeface="Times New Roman" panose="02020603050405020304" pitchFamily="18" charset="0"/>
                <a:cs typeface="Times New Roman" panose="02020603050405020304" pitchFamily="18" charset="0"/>
              </a:rPr>
              <a:t>statistical methods</a:t>
            </a:r>
            <a:r>
              <a:rPr lang="en-US" dirty="0">
                <a:solidFill>
                  <a:schemeClr val="tx1"/>
                </a:solidFill>
                <a:latin typeface="Times New Roman" panose="02020603050405020304" pitchFamily="18" charset="0"/>
                <a:cs typeface="Times New Roman" panose="02020603050405020304" pitchFamily="18" charset="0"/>
              </a:rPr>
              <a:t> and </a:t>
            </a:r>
            <a:r>
              <a:rPr lang="en-US" b="1" dirty="0">
                <a:solidFill>
                  <a:schemeClr val="tx1"/>
                </a:solidFill>
                <a:latin typeface="Times New Roman" panose="02020603050405020304" pitchFamily="18" charset="0"/>
                <a:cs typeface="Times New Roman" panose="02020603050405020304" pitchFamily="18" charset="0"/>
              </a:rPr>
              <a:t> machine learning algorithms </a:t>
            </a:r>
            <a:r>
              <a:rPr lang="en-US" dirty="0">
                <a:solidFill>
                  <a:schemeClr val="tx1"/>
                </a:solidFill>
                <a:latin typeface="Times New Roman" panose="02020603050405020304" pitchFamily="18" charset="0"/>
                <a:cs typeface="Times New Roman" panose="02020603050405020304" pitchFamily="18" charset="0"/>
              </a:rPr>
              <a:t>to solve business problems</a:t>
            </a:r>
          </a:p>
          <a:p>
            <a:r>
              <a:rPr lang="en-US" dirty="0">
                <a:solidFill>
                  <a:schemeClr val="tx1"/>
                </a:solidFill>
                <a:latin typeface="Times New Roman" panose="02020603050405020304" pitchFamily="18" charset="0"/>
                <a:cs typeface="Times New Roman" panose="02020603050405020304" pitchFamily="18" charset="0"/>
              </a:rPr>
              <a:t>Learn to work with popular </a:t>
            </a:r>
            <a:r>
              <a:rPr lang="en-US" b="1" dirty="0">
                <a:solidFill>
                  <a:schemeClr val="tx1"/>
                </a:solidFill>
                <a:latin typeface="Times New Roman" panose="02020603050405020304" pitchFamily="18" charset="0"/>
                <a:cs typeface="Times New Roman" panose="02020603050405020304" pitchFamily="18" charset="0"/>
              </a:rPr>
              <a:t>tools</a:t>
            </a:r>
            <a:r>
              <a:rPr lang="en-US" dirty="0">
                <a:solidFill>
                  <a:schemeClr val="tx1"/>
                </a:solidFill>
                <a:latin typeface="Times New Roman" panose="02020603050405020304" pitchFamily="18" charset="0"/>
                <a:cs typeface="Times New Roman" panose="02020603050405020304" pitchFamily="18" charset="0"/>
              </a:rPr>
              <a:t> to analyze and visualize data; more importantly encourage consistency across departments on analytics/tools used</a:t>
            </a:r>
          </a:p>
          <a:p>
            <a:r>
              <a:rPr lang="en-US" b="1" dirty="0">
                <a:solidFill>
                  <a:schemeClr val="tx1"/>
                </a:solidFill>
                <a:latin typeface="Times New Roman" panose="02020603050405020304" pitchFamily="18" charset="0"/>
                <a:cs typeface="Times New Roman" panose="02020603050405020304" pitchFamily="18" charset="0"/>
              </a:rPr>
              <a:t>Working with </a:t>
            </a:r>
            <a:r>
              <a:rPr lang="en-US" dirty="0">
                <a:solidFill>
                  <a:schemeClr val="tx1"/>
                </a:solidFill>
                <a:latin typeface="Times New Roman" panose="02020603050405020304" pitchFamily="18" charset="0"/>
                <a:cs typeface="Times New Roman" panose="02020603050405020304" pitchFamily="18" charset="0"/>
              </a:rPr>
              <a:t>data storage and for deployment of applications </a:t>
            </a:r>
          </a:p>
          <a:p>
            <a:r>
              <a:rPr lang="en-US" dirty="0">
                <a:solidFill>
                  <a:schemeClr val="tx1"/>
                </a:solidFill>
                <a:latin typeface="Times New Roman" panose="02020603050405020304" pitchFamily="18" charset="0"/>
                <a:cs typeface="Times New Roman" panose="02020603050405020304" pitchFamily="18" charset="0"/>
              </a:rPr>
              <a:t>Learn methods for mastering and applying emerging concepts and technologies for </a:t>
            </a:r>
            <a:r>
              <a:rPr lang="en-US" b="1" dirty="0">
                <a:solidFill>
                  <a:schemeClr val="tx1"/>
                </a:solidFill>
                <a:latin typeface="Times New Roman" panose="02020603050405020304" pitchFamily="18" charset="0"/>
                <a:cs typeface="Times New Roman" panose="02020603050405020304" pitchFamily="18" charset="0"/>
              </a:rPr>
              <a:t>continuous data-driven improvements to your business processes</a:t>
            </a:r>
          </a:p>
          <a:p>
            <a:r>
              <a:rPr lang="en-US" b="1" dirty="0">
                <a:solidFill>
                  <a:schemeClr val="tx1"/>
                </a:solidFill>
                <a:latin typeface="Times New Roman" panose="02020603050405020304" pitchFamily="18" charset="0"/>
                <a:cs typeface="Times New Roman" panose="02020603050405020304" pitchFamily="18" charset="0"/>
              </a:rPr>
              <a:t>Transform complex analytics into routine processes</a:t>
            </a:r>
          </a:p>
          <a:p>
            <a:endParaRPr lang="en-IN" dirty="0"/>
          </a:p>
        </p:txBody>
      </p:sp>
    </p:spTree>
    <p:extLst>
      <p:ext uri="{BB962C8B-B14F-4D97-AF65-F5344CB8AC3E}">
        <p14:creationId xmlns:p14="http://schemas.microsoft.com/office/powerpoint/2010/main" val="35802079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9C424-FFBE-D7EC-7550-A27ABA334CF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The world of data</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BD708CE-EBF2-364A-3618-1326B64F7CF8}"/>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Large data source available!</a:t>
            </a:r>
          </a:p>
          <a:p>
            <a:r>
              <a:rPr lang="en-IN" dirty="0">
                <a:latin typeface="Times New Roman" panose="02020603050405020304" pitchFamily="18" charset="0"/>
                <a:cs typeface="Times New Roman" panose="02020603050405020304" pitchFamily="18" charset="0"/>
              </a:rPr>
              <a:t>Need to make value out of data!</a:t>
            </a:r>
          </a:p>
          <a:p>
            <a:r>
              <a:rPr lang="en-IN" dirty="0">
                <a:latin typeface="Times New Roman" panose="02020603050405020304" pitchFamily="18" charset="0"/>
                <a:cs typeface="Times New Roman" panose="02020603050405020304" pitchFamily="18" charset="0"/>
              </a:rPr>
              <a:t>Personalized content! – YouTube, Instagram, Facebook, Google</a:t>
            </a:r>
          </a:p>
          <a:p>
            <a:r>
              <a:rPr lang="en-IN" dirty="0">
                <a:latin typeface="Times New Roman" panose="02020603050405020304" pitchFamily="18" charset="0"/>
                <a:cs typeface="Times New Roman" panose="02020603050405020304" pitchFamily="18" charset="0"/>
              </a:rPr>
              <a:t>Making performance decisions on all sectors</a:t>
            </a:r>
          </a:p>
          <a:p>
            <a:pPr lvl="1"/>
            <a:r>
              <a:rPr lang="en-IN" dirty="0">
                <a:latin typeface="Times New Roman" panose="02020603050405020304" pitchFamily="18" charset="0"/>
                <a:cs typeface="Times New Roman" panose="02020603050405020304" pitchFamily="18" charset="0"/>
              </a:rPr>
              <a:t>Business, medicine, social networks, bioinformation's, sports, media , politics, environment etc</a:t>
            </a:r>
          </a:p>
          <a:p>
            <a:endParaRPr lang="en-IN" dirty="0"/>
          </a:p>
        </p:txBody>
      </p:sp>
    </p:spTree>
    <p:extLst>
      <p:ext uri="{BB962C8B-B14F-4D97-AF65-F5344CB8AC3E}">
        <p14:creationId xmlns:p14="http://schemas.microsoft.com/office/powerpoint/2010/main" val="1865749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CADBA-78E4-CD35-A7F3-AEF862E84B62}"/>
              </a:ext>
            </a:extLst>
          </p:cNvPr>
          <p:cNvSpPr>
            <a:spLocks noGrp="1"/>
          </p:cNvSpPr>
          <p:nvPr>
            <p:ph type="title"/>
          </p:nvPr>
        </p:nvSpPr>
        <p:spPr>
          <a:xfrm>
            <a:off x="1346051" y="690466"/>
            <a:ext cx="9546769" cy="675576"/>
          </a:xfrm>
        </p:spPr>
        <p:txBody>
          <a:bodyPr>
            <a:normAutofit fontScale="90000"/>
          </a:bodyPr>
          <a:lstStyle/>
          <a:p>
            <a:r>
              <a:rPr lang="en-US" b="1" dirty="0">
                <a:latin typeface="Times New Roman" panose="02020603050405020304" pitchFamily="18" charset="0"/>
                <a:cs typeface="Times New Roman" panose="02020603050405020304" pitchFamily="18" charset="0"/>
              </a:rPr>
              <a:t>Covid Data </a:t>
            </a:r>
            <a:endParaRPr lang="en-IN"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D4E2067-6764-F2B3-236A-37FB9AEE7934}"/>
              </a:ext>
            </a:extLst>
          </p:cNvPr>
          <p:cNvPicPr>
            <a:picLocks noChangeAspect="1"/>
          </p:cNvPicPr>
          <p:nvPr/>
        </p:nvPicPr>
        <p:blipFill>
          <a:blip r:embed="rId2"/>
          <a:stretch>
            <a:fillRect/>
          </a:stretch>
        </p:blipFill>
        <p:spPr>
          <a:xfrm>
            <a:off x="810210" y="1748126"/>
            <a:ext cx="4966324" cy="2171537"/>
          </a:xfrm>
          <a:prstGeom prst="rect">
            <a:avLst/>
          </a:prstGeom>
        </p:spPr>
      </p:pic>
      <p:pic>
        <p:nvPicPr>
          <p:cNvPr id="11" name="Picture 10">
            <a:extLst>
              <a:ext uri="{FF2B5EF4-FFF2-40B4-BE49-F238E27FC236}">
                <a16:creationId xmlns:a16="http://schemas.microsoft.com/office/drawing/2014/main" id="{8B78F836-555D-6F85-3E88-CFE7A3491B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7517" y="1653770"/>
            <a:ext cx="4824034" cy="2412017"/>
          </a:xfrm>
          <a:prstGeom prst="rect">
            <a:avLst/>
          </a:prstGeom>
        </p:spPr>
      </p:pic>
      <p:pic>
        <p:nvPicPr>
          <p:cNvPr id="13" name="Picture 12">
            <a:extLst>
              <a:ext uri="{FF2B5EF4-FFF2-40B4-BE49-F238E27FC236}">
                <a16:creationId xmlns:a16="http://schemas.microsoft.com/office/drawing/2014/main" id="{48C8F4F2-B987-1BF1-926C-3E8AB3EFA4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80791" y="4039903"/>
            <a:ext cx="4366726" cy="2183363"/>
          </a:xfrm>
          <a:prstGeom prst="rect">
            <a:avLst/>
          </a:prstGeom>
        </p:spPr>
      </p:pic>
      <p:pic>
        <p:nvPicPr>
          <p:cNvPr id="15" name="Picture 14">
            <a:extLst>
              <a:ext uri="{FF2B5EF4-FFF2-40B4-BE49-F238E27FC236}">
                <a16:creationId xmlns:a16="http://schemas.microsoft.com/office/drawing/2014/main" id="{1A869C28-5CA4-1813-C937-6987803AB8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3436" y="3998221"/>
            <a:ext cx="4030824" cy="2015412"/>
          </a:xfrm>
          <a:prstGeom prst="rect">
            <a:avLst/>
          </a:prstGeom>
        </p:spPr>
      </p:pic>
    </p:spTree>
    <p:extLst>
      <p:ext uri="{BB962C8B-B14F-4D97-AF65-F5344CB8AC3E}">
        <p14:creationId xmlns:p14="http://schemas.microsoft.com/office/powerpoint/2010/main" val="2727103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55D4F-8552-4C81-09C3-B06E1961A8D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Motivation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FA24070-60E7-B916-444C-AC5206D50260}"/>
              </a:ext>
            </a:extLst>
          </p:cNvPr>
          <p:cNvSpPr>
            <a:spLocks noGrp="1"/>
          </p:cNvSpPr>
          <p:nvPr>
            <p:ph idx="1"/>
          </p:nvPr>
        </p:nvSpPr>
        <p:spPr/>
        <p:txBody>
          <a:bodyPr>
            <a:normAutofit lnSpcReduction="10000"/>
          </a:bodyPr>
          <a:lstStyle/>
          <a:p>
            <a:r>
              <a:rPr lang="en-US" sz="2200" dirty="0">
                <a:solidFill>
                  <a:schemeClr val="tx1"/>
                </a:solidFill>
                <a:latin typeface="Times New Roman" panose="02020603050405020304" pitchFamily="18" charset="0"/>
                <a:cs typeface="Times New Roman" panose="02020603050405020304" pitchFamily="18" charset="0"/>
              </a:rPr>
              <a:t>Data is the new oil!</a:t>
            </a:r>
          </a:p>
          <a:p>
            <a:pPr lvl="1"/>
            <a:r>
              <a:rPr lang="en-US" sz="2200" dirty="0">
                <a:solidFill>
                  <a:schemeClr val="tx1"/>
                </a:solidFill>
                <a:latin typeface="Times New Roman" panose="02020603050405020304" pitchFamily="18" charset="0"/>
                <a:cs typeface="Times New Roman" panose="02020603050405020304" pitchFamily="18" charset="0"/>
              </a:rPr>
              <a:t>New opportunities for organizations to create value!</a:t>
            </a:r>
          </a:p>
          <a:p>
            <a:pPr lvl="1"/>
            <a:r>
              <a:rPr lang="en-US" sz="2200" dirty="0">
                <a:solidFill>
                  <a:schemeClr val="tx1"/>
                </a:solidFill>
                <a:latin typeface="Times New Roman" panose="02020603050405020304" pitchFamily="18" charset="0"/>
                <a:cs typeface="Times New Roman" panose="02020603050405020304" pitchFamily="18" charset="0"/>
              </a:rPr>
              <a:t>Competitive advantage!</a:t>
            </a:r>
          </a:p>
          <a:p>
            <a:r>
              <a:rPr lang="en-US" sz="2200" dirty="0">
                <a:solidFill>
                  <a:schemeClr val="tx1"/>
                </a:solidFill>
                <a:latin typeface="Times New Roman" panose="02020603050405020304" pitchFamily="18" charset="0"/>
                <a:cs typeface="Times New Roman" panose="02020603050405020304" pitchFamily="18" charset="0"/>
              </a:rPr>
              <a:t>Tremendous advances have taken place in statistical methods and tools, machine learning and data mining approaches, and internet-based dissemination tools for analysis and visualization.</a:t>
            </a:r>
          </a:p>
          <a:p>
            <a:r>
              <a:rPr lang="en-US" sz="2200" dirty="0">
                <a:solidFill>
                  <a:schemeClr val="tx1"/>
                </a:solidFill>
                <a:latin typeface="Times New Roman" panose="02020603050405020304" pitchFamily="18" charset="0"/>
                <a:cs typeface="Times New Roman" panose="02020603050405020304" pitchFamily="18" charset="0"/>
              </a:rPr>
              <a:t>Many tools are open source and freely available for anybody to use.</a:t>
            </a:r>
          </a:p>
          <a:p>
            <a:r>
              <a:rPr lang="en-US" sz="2200" dirty="0">
                <a:solidFill>
                  <a:schemeClr val="tx1"/>
                </a:solidFill>
                <a:latin typeface="Times New Roman" panose="02020603050405020304" pitchFamily="18" charset="0"/>
                <a:cs typeface="Times New Roman" panose="02020603050405020304" pitchFamily="18" charset="0"/>
              </a:rPr>
              <a:t>Understand the applications of statistical methods in data analytics.</a:t>
            </a:r>
          </a:p>
          <a:p>
            <a:endParaRPr lang="en-IN" dirty="0"/>
          </a:p>
        </p:txBody>
      </p:sp>
    </p:spTree>
    <p:extLst>
      <p:ext uri="{BB962C8B-B14F-4D97-AF65-F5344CB8AC3E}">
        <p14:creationId xmlns:p14="http://schemas.microsoft.com/office/powerpoint/2010/main" val="3580998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CA171-BAF2-C0A4-2D60-5E6DD17C2A7E}"/>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Newer kinds of data</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4EB838-15AB-8E78-3547-AFD501009770}"/>
              </a:ext>
            </a:extLst>
          </p:cNvPr>
          <p:cNvSpPr>
            <a:spLocks noGrp="1"/>
          </p:cNvSpPr>
          <p:nvPr>
            <p:ph idx="1"/>
          </p:nvPr>
        </p:nvSpPr>
        <p:spPr/>
        <p:txBody>
          <a:bodyPr>
            <a:normAutofit lnSpcReduction="10000"/>
          </a:bodyPr>
          <a:lstStyle/>
          <a:p>
            <a:r>
              <a:rPr lang="en-US" sz="2200" dirty="0">
                <a:solidFill>
                  <a:schemeClr val="tx1"/>
                </a:solidFill>
                <a:latin typeface="Times New Roman" panose="02020603050405020304" pitchFamily="18" charset="0"/>
                <a:cs typeface="Times New Roman" panose="02020603050405020304" pitchFamily="18" charset="0"/>
              </a:rPr>
              <a:t>New kinds of data from different sources: Tweets ,</a:t>
            </a:r>
            <a:r>
              <a:rPr lang="en-IN" sz="22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geo-location, Emails etc</a:t>
            </a:r>
          </a:p>
          <a:p>
            <a:r>
              <a:rPr lang="en-US" sz="2200" dirty="0">
                <a:solidFill>
                  <a:schemeClr val="tx1"/>
                </a:solidFill>
                <a:latin typeface="Times New Roman" panose="02020603050405020304" pitchFamily="18" charset="0"/>
                <a:cs typeface="Times New Roman" panose="02020603050405020304" pitchFamily="18" charset="0"/>
              </a:rPr>
              <a:t>Two major types: structured and unstructured data</a:t>
            </a:r>
          </a:p>
          <a:p>
            <a:pPr marL="0" indent="0">
              <a:buNone/>
            </a:pPr>
            <a:r>
              <a:rPr lang="en-IN" sz="2200" b="1" dirty="0">
                <a:solidFill>
                  <a:schemeClr val="tx1"/>
                </a:solidFill>
                <a:latin typeface="Times New Roman" panose="02020603050405020304" pitchFamily="18" charset="0"/>
                <a:cs typeface="Times New Roman" panose="02020603050405020304" pitchFamily="18" charset="0"/>
              </a:rPr>
              <a:t>For structured we have well defined schema</a:t>
            </a:r>
          </a:p>
          <a:p>
            <a:pPr marL="0" indent="0">
              <a:buNone/>
            </a:pPr>
            <a:r>
              <a:rPr lang="en-IN" sz="2200" b="1" dirty="0">
                <a:solidFill>
                  <a:schemeClr val="tx1"/>
                </a:solidFill>
                <a:latin typeface="Times New Roman" panose="02020603050405020304" pitchFamily="18" charset="0"/>
                <a:cs typeface="Times New Roman" panose="02020603050405020304" pitchFamily="18" charset="0"/>
              </a:rPr>
              <a:t>For unstructured we do not have well defined schema</a:t>
            </a:r>
          </a:p>
          <a:p>
            <a:r>
              <a:rPr lang="en-US" sz="2200" dirty="0">
                <a:solidFill>
                  <a:schemeClr val="tx1"/>
                </a:solidFill>
                <a:latin typeface="Times New Roman" panose="02020603050405020304" pitchFamily="18" charset="0"/>
                <a:cs typeface="Times New Roman" panose="02020603050405020304" pitchFamily="18" charset="0"/>
              </a:rPr>
              <a:t>Regardless of their differences, they work in tandem in any effective big data operation. Companies wishing to make the most of their data should use tools that utilize the benefits of both.”</a:t>
            </a:r>
            <a:r>
              <a:rPr lang="en-US" sz="2200" baseline="30000" dirty="0">
                <a:solidFill>
                  <a:schemeClr val="tx1"/>
                </a:solidFill>
                <a:latin typeface="Times New Roman" panose="02020603050405020304" pitchFamily="18" charset="0"/>
                <a:cs typeface="Times New Roman" panose="02020603050405020304" pitchFamily="18" charset="0"/>
              </a:rPr>
              <a:t>5</a:t>
            </a:r>
          </a:p>
          <a:p>
            <a:r>
              <a:rPr lang="en-US" sz="2200" dirty="0">
                <a:solidFill>
                  <a:schemeClr val="tx1"/>
                </a:solidFill>
                <a:latin typeface="Times New Roman" panose="02020603050405020304" pitchFamily="18" charset="0"/>
                <a:cs typeface="Times New Roman" panose="02020603050405020304" pitchFamily="18" charset="0"/>
              </a:rPr>
              <a:t>We will discuss methods for analyzing both structured and unstructured data</a:t>
            </a:r>
          </a:p>
          <a:p>
            <a:pPr marL="0" indent="0">
              <a:buNone/>
            </a:pPr>
            <a:endParaRPr lang="en-IN" dirty="0"/>
          </a:p>
        </p:txBody>
      </p:sp>
    </p:spTree>
    <p:extLst>
      <p:ext uri="{BB962C8B-B14F-4D97-AF65-F5344CB8AC3E}">
        <p14:creationId xmlns:p14="http://schemas.microsoft.com/office/powerpoint/2010/main" val="1601992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94409-756C-7B26-345D-9C022FF91B6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Introduction to Data analytics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241C271-F9F4-5FD1-B21D-EAF531181537}"/>
              </a:ext>
            </a:extLst>
          </p:cNvPr>
          <p:cNvSpPr>
            <a:spLocks noGrp="1"/>
          </p:cNvSpPr>
          <p:nvPr>
            <p:ph idx="1"/>
          </p:nvPr>
        </p:nvSpPr>
        <p:spPr>
          <a:xfrm>
            <a:off x="1211425" y="2358227"/>
            <a:ext cx="9601196" cy="3967928"/>
          </a:xfrm>
        </p:spPr>
        <p:txBody>
          <a:bodyPr>
            <a:normAutofit fontScale="25000" lnSpcReduction="20000"/>
          </a:bodyPr>
          <a:lstStyle/>
          <a:p>
            <a:pPr>
              <a:lnSpc>
                <a:spcPct val="120000"/>
              </a:lnSpc>
            </a:pPr>
            <a:r>
              <a:rPr lang="en-IN" sz="8800" b="1" dirty="0">
                <a:latin typeface="Times New Roman" panose="02020603050405020304" pitchFamily="18" charset="0"/>
                <a:cs typeface="Times New Roman" panose="02020603050405020304" pitchFamily="18" charset="0"/>
              </a:rPr>
              <a:t>Data : </a:t>
            </a:r>
            <a:r>
              <a:rPr lang="en-IN" sz="8800" dirty="0">
                <a:latin typeface="Times New Roman" panose="02020603050405020304" pitchFamily="18" charset="0"/>
                <a:cs typeface="Times New Roman" panose="02020603050405020304" pitchFamily="18" charset="0"/>
              </a:rPr>
              <a:t>Data is a set of values of qualitative or quantitative variables. It is information in raw or unorganized form. It may be a fact figure, characters, symbols etc.</a:t>
            </a:r>
          </a:p>
          <a:p>
            <a:pPr>
              <a:lnSpc>
                <a:spcPct val="120000"/>
              </a:lnSpc>
            </a:pPr>
            <a:r>
              <a:rPr lang="en-IN" sz="8800" b="1" dirty="0">
                <a:latin typeface="Times New Roman" panose="02020603050405020304" pitchFamily="18" charset="0"/>
                <a:cs typeface="Times New Roman" panose="02020603050405020304" pitchFamily="18" charset="0"/>
              </a:rPr>
              <a:t>Information: </a:t>
            </a:r>
            <a:r>
              <a:rPr lang="en-IN" sz="8800" dirty="0">
                <a:latin typeface="Times New Roman" panose="02020603050405020304" pitchFamily="18" charset="0"/>
                <a:cs typeface="Times New Roman" panose="02020603050405020304" pitchFamily="18" charset="0"/>
              </a:rPr>
              <a:t>meaningful or organized data is information.</a:t>
            </a:r>
          </a:p>
          <a:p>
            <a:pPr>
              <a:lnSpc>
                <a:spcPct val="120000"/>
              </a:lnSpc>
            </a:pPr>
            <a:r>
              <a:rPr lang="en-IN" sz="8800" b="1" dirty="0">
                <a:latin typeface="Times New Roman" panose="02020603050405020304" pitchFamily="18" charset="0"/>
                <a:cs typeface="Times New Roman" panose="02020603050405020304" pitchFamily="18" charset="0"/>
              </a:rPr>
              <a:t>Analytics</a:t>
            </a:r>
            <a:r>
              <a:rPr lang="en-IN" sz="8800" dirty="0">
                <a:latin typeface="Times New Roman" panose="02020603050405020304" pitchFamily="18" charset="0"/>
                <a:cs typeface="Times New Roman" panose="02020603050405020304" pitchFamily="18" charset="0"/>
              </a:rPr>
              <a:t>: Analytics is discovery, interpretation and communication of meaningful patterns or summary of data.</a:t>
            </a:r>
          </a:p>
          <a:p>
            <a:pPr>
              <a:lnSpc>
                <a:spcPct val="120000"/>
              </a:lnSpc>
            </a:pPr>
            <a:r>
              <a:rPr lang="en-IN" sz="8800" b="1" dirty="0">
                <a:latin typeface="Times New Roman" panose="02020603050405020304" pitchFamily="18" charset="0"/>
                <a:cs typeface="Times New Roman" panose="02020603050405020304" pitchFamily="18" charset="0"/>
              </a:rPr>
              <a:t>Data Analytics </a:t>
            </a:r>
            <a:r>
              <a:rPr lang="en-IN" sz="8800" dirty="0">
                <a:latin typeface="Times New Roman" panose="02020603050405020304" pitchFamily="18" charset="0"/>
                <a:cs typeface="Times New Roman" panose="02020603050405020304" pitchFamily="18" charset="0"/>
              </a:rPr>
              <a:t>: It is the process of examining data sets in order to draw conclusion about the information it contains.</a:t>
            </a:r>
          </a:p>
          <a:p>
            <a:pPr>
              <a:lnSpc>
                <a:spcPct val="120000"/>
              </a:lnSpc>
            </a:pPr>
            <a:r>
              <a:rPr lang="en-IN" sz="8800" dirty="0">
                <a:latin typeface="Times New Roman" panose="02020603050405020304" pitchFamily="18" charset="0"/>
                <a:cs typeface="Times New Roman" panose="02020603050405020304" pitchFamily="18" charset="0"/>
              </a:rPr>
              <a:t>Analytics is not a tool or technology, rather it is the way of thinking &amp; acting on data.</a:t>
            </a:r>
          </a:p>
          <a:p>
            <a:endParaRPr lang="en-IN" dirty="0"/>
          </a:p>
        </p:txBody>
      </p:sp>
    </p:spTree>
    <p:extLst>
      <p:ext uri="{BB962C8B-B14F-4D97-AF65-F5344CB8AC3E}">
        <p14:creationId xmlns:p14="http://schemas.microsoft.com/office/powerpoint/2010/main" val="3790038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C7159-F873-A891-1EFC-E994CAFA6829}"/>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Data Overview</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8D12C58-768C-9C92-76E2-13A0D47C75EB}"/>
              </a:ext>
            </a:extLst>
          </p:cNvPr>
          <p:cNvSpPr>
            <a:spLocks noGrp="1"/>
          </p:cNvSpPr>
          <p:nvPr>
            <p:ph idx="1"/>
          </p:nvPr>
        </p:nvSpPr>
        <p:spPr>
          <a:xfrm>
            <a:off x="1295402" y="2463625"/>
            <a:ext cx="9798696" cy="3806545"/>
          </a:xfrm>
        </p:spPr>
        <p:txBody>
          <a:bodyPr/>
          <a:lstStyle/>
          <a:p>
            <a:r>
              <a:rPr lang="en-US" sz="2000" dirty="0">
                <a:solidFill>
                  <a:schemeClr val="tx1"/>
                </a:solidFill>
                <a:latin typeface="Times New Roman" panose="02020603050405020304" pitchFamily="18" charset="0"/>
                <a:cs typeface="Times New Roman" panose="02020603050405020304" pitchFamily="18" charset="0"/>
              </a:rPr>
              <a:t>Data is created constantly, and at an ever-increasing rate.</a:t>
            </a:r>
          </a:p>
          <a:p>
            <a:pPr lvl="1"/>
            <a:r>
              <a:rPr lang="en-US" dirty="0">
                <a:solidFill>
                  <a:schemeClr val="tx1"/>
                </a:solidFill>
                <a:latin typeface="Times New Roman" panose="02020603050405020304" pitchFamily="18" charset="0"/>
                <a:cs typeface="Times New Roman" panose="02020603050405020304" pitchFamily="18" charset="0"/>
              </a:rPr>
              <a:t>Mobile phones, social media, imaging technologies to determine a medical diagnosis</a:t>
            </a:r>
          </a:p>
          <a:p>
            <a:r>
              <a:rPr lang="en-US" sz="2000" dirty="0">
                <a:solidFill>
                  <a:schemeClr val="tx1"/>
                </a:solidFill>
                <a:latin typeface="Times New Roman" panose="02020603050405020304" pitchFamily="18" charset="0"/>
                <a:cs typeface="Times New Roman" panose="02020603050405020304" pitchFamily="18" charset="0"/>
              </a:rPr>
              <a:t>Devices and sensors automatically generate diagnostic information that needs to be stored and processed in real time. </a:t>
            </a:r>
          </a:p>
          <a:p>
            <a:r>
              <a:rPr lang="en-US" sz="2000" dirty="0">
                <a:solidFill>
                  <a:schemeClr val="tx1"/>
                </a:solidFill>
                <a:latin typeface="Times New Roman" panose="02020603050405020304" pitchFamily="18" charset="0"/>
                <a:cs typeface="Times New Roman" panose="02020603050405020304" pitchFamily="18" charset="0"/>
              </a:rPr>
              <a:t>Analysis of large amount of data is</a:t>
            </a:r>
          </a:p>
          <a:p>
            <a:pPr marL="0" indent="0">
              <a:buNone/>
            </a:pPr>
            <a:r>
              <a:rPr lang="en-US" sz="2000" dirty="0">
                <a:solidFill>
                  <a:schemeClr val="tx1"/>
                </a:solidFill>
                <a:latin typeface="Times New Roman" panose="02020603050405020304" pitchFamily="18" charset="0"/>
                <a:cs typeface="Times New Roman" panose="02020603050405020304" pitchFamily="18" charset="0"/>
              </a:rPr>
              <a:t>     challenging.</a:t>
            </a:r>
          </a:p>
          <a:p>
            <a:endParaRPr lang="en-IN" dirty="0"/>
          </a:p>
        </p:txBody>
      </p:sp>
      <p:pic>
        <p:nvPicPr>
          <p:cNvPr id="4" name="Content Placeholder 5">
            <a:extLst>
              <a:ext uri="{FF2B5EF4-FFF2-40B4-BE49-F238E27FC236}">
                <a16:creationId xmlns:a16="http://schemas.microsoft.com/office/drawing/2014/main" id="{B1A16473-F94B-86E5-AE6C-5662DF9CC1BD}"/>
              </a:ext>
            </a:extLst>
          </p:cNvPr>
          <p:cNvPicPr>
            <a:picLocks noChangeAspect="1"/>
          </p:cNvPicPr>
          <p:nvPr/>
        </p:nvPicPr>
        <p:blipFill>
          <a:blip r:embed="rId2"/>
          <a:stretch>
            <a:fillRect/>
          </a:stretch>
        </p:blipFill>
        <p:spPr>
          <a:xfrm>
            <a:off x="6353487" y="3638938"/>
            <a:ext cx="4297096" cy="2398833"/>
          </a:xfrm>
          <a:prstGeom prst="rect">
            <a:avLst/>
          </a:prstGeom>
        </p:spPr>
      </p:pic>
    </p:spTree>
    <p:extLst>
      <p:ext uri="{BB962C8B-B14F-4D97-AF65-F5344CB8AC3E}">
        <p14:creationId xmlns:p14="http://schemas.microsoft.com/office/powerpoint/2010/main" val="1541138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19F94-819F-CC8E-6C9B-F507D4AE5A9E}"/>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Applications of Data analytics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3683C0A-FB71-0AC5-456E-A0FBD6130AC6}"/>
              </a:ext>
            </a:extLst>
          </p:cNvPr>
          <p:cNvSpPr>
            <a:spLocks noGrp="1"/>
          </p:cNvSpPr>
          <p:nvPr>
            <p:ph idx="1"/>
          </p:nvPr>
        </p:nvSpPr>
        <p:spPr/>
        <p:txBody>
          <a:bodyPr>
            <a:normAutofit fontScale="77500" lnSpcReduction="20000"/>
          </a:bodyPr>
          <a:lstStyle/>
          <a:p>
            <a:pPr marL="514350" indent="-514350">
              <a:buFont typeface="+mj-lt"/>
              <a:buAutoNum type="arabicPeriod"/>
            </a:pPr>
            <a:r>
              <a:rPr lang="en-US" sz="2900" dirty="0">
                <a:latin typeface="Times New Roman" panose="02020603050405020304" pitchFamily="18" charset="0"/>
                <a:cs typeface="Times New Roman" panose="02020603050405020304" pitchFamily="18" charset="0"/>
              </a:rPr>
              <a:t>Personalized market to the consumer</a:t>
            </a:r>
          </a:p>
          <a:p>
            <a:pPr marL="514350" indent="-514350">
              <a:buFont typeface="+mj-lt"/>
              <a:buAutoNum type="arabicPeriod"/>
            </a:pPr>
            <a:r>
              <a:rPr lang="en-IN" sz="2900" dirty="0">
                <a:effectLst/>
                <a:latin typeface="Times New Roman" panose="02020603050405020304" pitchFamily="18" charset="0"/>
                <a:ea typeface="Calibri" panose="020F0502020204030204" pitchFamily="34" charset="0"/>
                <a:cs typeface="Times New Roman" panose="02020603050405020304" pitchFamily="18" charset="0"/>
              </a:rPr>
              <a:t>Social Companies with Data as Primary Product</a:t>
            </a:r>
          </a:p>
          <a:p>
            <a:pPr marL="514350" indent="-514350">
              <a:buFont typeface="+mj-lt"/>
              <a:buAutoNum type="arabicPeriod"/>
            </a:pPr>
            <a:r>
              <a:rPr lang="en-IN" sz="2900" dirty="0">
                <a:latin typeface="Times New Roman" panose="02020603050405020304" pitchFamily="18" charset="0"/>
                <a:cs typeface="Times New Roman" panose="02020603050405020304" pitchFamily="18" charset="0"/>
              </a:rPr>
              <a:t>Location based advertising</a:t>
            </a:r>
          </a:p>
          <a:p>
            <a:pPr marL="514350" indent="-514350">
              <a:buFont typeface="+mj-lt"/>
              <a:buAutoNum type="arabicPeriod"/>
            </a:pPr>
            <a:r>
              <a:rPr lang="en-IN" sz="2900" dirty="0">
                <a:latin typeface="Times New Roman" panose="02020603050405020304" pitchFamily="18" charset="0"/>
                <a:cs typeface="Times New Roman" panose="02020603050405020304" pitchFamily="18" charset="0"/>
              </a:rPr>
              <a:t>Manufacturing Industry</a:t>
            </a:r>
          </a:p>
          <a:p>
            <a:pPr marL="514350" indent="-514350">
              <a:buFont typeface="+mj-lt"/>
              <a:buAutoNum type="arabicPeriod"/>
            </a:pPr>
            <a:r>
              <a:rPr lang="en-US" sz="2900" dirty="0">
                <a:latin typeface="Times New Roman" panose="02020603050405020304" pitchFamily="18" charset="0"/>
                <a:cs typeface="Times New Roman" panose="02020603050405020304" pitchFamily="18" charset="0"/>
              </a:rPr>
              <a:t>Genetic sequencing and human genome mapping provide a detailed understanding of genetic makeup and lineage,</a:t>
            </a:r>
          </a:p>
          <a:p>
            <a:pPr lvl="1"/>
            <a:r>
              <a:rPr lang="en-US" sz="2900" dirty="0">
                <a:latin typeface="Times New Roman" panose="02020603050405020304" pitchFamily="18" charset="0"/>
                <a:cs typeface="Times New Roman" panose="02020603050405020304" pitchFamily="18" charset="0"/>
              </a:rPr>
              <a:t>Predict illness &amp; take steps to avoid.</a:t>
            </a:r>
          </a:p>
          <a:p>
            <a:pPr lvl="1"/>
            <a:r>
              <a:rPr lang="en-US" sz="2900" dirty="0">
                <a:latin typeface="Times New Roman" panose="02020603050405020304" pitchFamily="18" charset="0"/>
                <a:cs typeface="Times New Roman" panose="02020603050405020304" pitchFamily="18" charset="0"/>
              </a:rPr>
              <a:t>Tests response to different medications.</a:t>
            </a:r>
          </a:p>
          <a:p>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5014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9ADB5-CF3C-F5F5-518B-C7CEDCCD7EDB}"/>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Attributes of Big data</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735E1D-4D76-28F4-1837-276D5B5B1620}"/>
              </a:ext>
            </a:extLst>
          </p:cNvPr>
          <p:cNvSpPr>
            <a:spLocks noGrp="1"/>
          </p:cNvSpPr>
          <p:nvPr>
            <p:ph idx="1"/>
          </p:nvPr>
        </p:nvSpPr>
        <p:spPr>
          <a:xfrm>
            <a:off x="352372" y="2036616"/>
            <a:ext cx="5601620" cy="4073239"/>
          </a:xfrm>
        </p:spPr>
        <p:txBody>
          <a:bodyPr>
            <a:noAutofit/>
          </a:bodyPr>
          <a:lstStyle/>
          <a:p>
            <a:pPr marL="0" indent="0">
              <a:buNone/>
            </a:pPr>
            <a:r>
              <a:rPr lang="en-US" sz="2000" b="1" dirty="0">
                <a:solidFill>
                  <a:schemeClr val="tx1"/>
                </a:solidFill>
                <a:latin typeface="Times New Roman" panose="02020603050405020304" pitchFamily="18" charset="0"/>
                <a:cs typeface="Times New Roman" panose="02020603050405020304" pitchFamily="18" charset="0"/>
              </a:rPr>
              <a:t>     </a:t>
            </a:r>
            <a:r>
              <a:rPr lang="en-US" sz="2200" b="1" dirty="0">
                <a:solidFill>
                  <a:schemeClr val="tx1"/>
                </a:solidFill>
                <a:latin typeface="Times New Roman" panose="02020603050405020304" pitchFamily="18" charset="0"/>
                <a:cs typeface="Times New Roman" panose="02020603050405020304" pitchFamily="18" charset="0"/>
              </a:rPr>
              <a:t>1.  Huge volume of data: </a:t>
            </a:r>
          </a:p>
          <a:p>
            <a:pPr lvl="1"/>
            <a:r>
              <a:rPr lang="en-US" sz="2200" dirty="0">
                <a:solidFill>
                  <a:schemeClr val="tx1"/>
                </a:solidFill>
                <a:latin typeface="Times New Roman" panose="02020603050405020304" pitchFamily="18" charset="0"/>
                <a:cs typeface="Times New Roman" panose="02020603050405020304" pitchFamily="18" charset="0"/>
              </a:rPr>
              <a:t>Rather than thousands or millions of rows, Big Data can be billions of rows and millions of columns.</a:t>
            </a:r>
          </a:p>
          <a:p>
            <a:pPr marL="457200" lvl="1" indent="0">
              <a:buNone/>
            </a:pPr>
            <a:r>
              <a:rPr lang="en-US" sz="2200" b="1" dirty="0">
                <a:solidFill>
                  <a:schemeClr val="tx1"/>
                </a:solidFill>
                <a:latin typeface="Times New Roman" panose="02020603050405020304" pitchFamily="18" charset="0"/>
                <a:cs typeface="Times New Roman" panose="02020603050405020304" pitchFamily="18" charset="0"/>
              </a:rPr>
              <a:t>2. Complexity of data types and structures: </a:t>
            </a:r>
          </a:p>
          <a:p>
            <a:pPr lvl="1"/>
            <a:r>
              <a:rPr lang="en-US" sz="2200" dirty="0">
                <a:solidFill>
                  <a:schemeClr val="tx1"/>
                </a:solidFill>
                <a:latin typeface="Times New Roman" panose="02020603050405020304" pitchFamily="18" charset="0"/>
                <a:cs typeface="Times New Roman" panose="02020603050405020304" pitchFamily="18" charset="0"/>
              </a:rPr>
              <a:t>Big Data reflects the variety of new data sources, formats, and structures, including digital traces being left on the web and other digital repositories for subsequent analysis.</a:t>
            </a:r>
          </a:p>
          <a:p>
            <a:pPr marL="0" indent="0">
              <a:buNone/>
            </a:pPr>
            <a:r>
              <a:rPr lang="en-US" sz="2200" b="1" dirty="0">
                <a:solidFill>
                  <a:schemeClr val="tx1"/>
                </a:solidFill>
                <a:latin typeface="Times New Roman" panose="02020603050405020304" pitchFamily="18" charset="0"/>
                <a:cs typeface="Times New Roman" panose="02020603050405020304" pitchFamily="18" charset="0"/>
              </a:rPr>
              <a:t>       </a:t>
            </a: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8397B3D-50FB-2824-2947-5DC71709F817}"/>
              </a:ext>
            </a:extLst>
          </p:cNvPr>
          <p:cNvSpPr txBox="1"/>
          <p:nvPr/>
        </p:nvSpPr>
        <p:spPr>
          <a:xfrm>
            <a:off x="6238011" y="2036616"/>
            <a:ext cx="5456146" cy="4093428"/>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3. Speed of new data creation and growth: </a:t>
            </a:r>
          </a:p>
          <a:p>
            <a:pPr lvl="1"/>
            <a:r>
              <a:rPr lang="en-US" sz="2200" dirty="0">
                <a:latin typeface="Times New Roman" panose="02020603050405020304" pitchFamily="18" charset="0"/>
                <a:cs typeface="Times New Roman" panose="02020603050405020304" pitchFamily="18" charset="0"/>
              </a:rPr>
              <a:t>Big Data can describe high velocity data, with rapid data ingestion and near real time analysis.</a:t>
            </a:r>
          </a:p>
          <a:p>
            <a:r>
              <a:rPr lang="en-US" sz="2200" dirty="0">
                <a:latin typeface="Times New Roman" panose="02020603050405020304" pitchFamily="18" charset="0"/>
                <a:cs typeface="Times New Roman" panose="02020603050405020304" pitchFamily="18" charset="0"/>
              </a:rPr>
              <a:t>      </a:t>
            </a:r>
          </a:p>
          <a:p>
            <a:pPr marL="457200" indent="-457200">
              <a:buAutoNum type="arabicPeriod" startAt="4"/>
            </a:pPr>
            <a:r>
              <a:rPr lang="en-US" sz="2200" b="1" dirty="0">
                <a:latin typeface="Times New Roman" panose="02020603050405020304" pitchFamily="18" charset="0"/>
                <a:cs typeface="Times New Roman" panose="02020603050405020304" pitchFamily="18" charset="0"/>
              </a:rPr>
              <a:t>Require new tools &amp; technologies</a:t>
            </a:r>
          </a:p>
          <a:p>
            <a:r>
              <a:rPr lang="en-IN" sz="2200" dirty="0">
                <a:latin typeface="Times New Roman" panose="02020603050405020304" pitchFamily="18" charset="0"/>
                <a:cs typeface="Times New Roman" panose="02020603050405020304" pitchFamily="18" charset="0"/>
              </a:rPr>
              <a:t>Due to the vast volume, variety, and velocity of Big Data, traditional data processing tools are often inadequate. New tools and technologies have been developed specifically to store, manage, and analyze Big Data</a:t>
            </a:r>
          </a:p>
          <a:p>
            <a:endParaRPr lang="en-IN" dirty="0"/>
          </a:p>
        </p:txBody>
      </p:sp>
    </p:spTree>
    <p:extLst>
      <p:ext uri="{BB962C8B-B14F-4D97-AF65-F5344CB8AC3E}">
        <p14:creationId xmlns:p14="http://schemas.microsoft.com/office/powerpoint/2010/main" val="3487750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2CA55-8EF8-8303-C23F-02C1A737066B}"/>
              </a:ext>
            </a:extLst>
          </p:cNvPr>
          <p:cNvSpPr>
            <a:spLocks noGrp="1"/>
          </p:cNvSpPr>
          <p:nvPr>
            <p:ph type="title"/>
          </p:nvPr>
        </p:nvSpPr>
        <p:spPr>
          <a:xfrm>
            <a:off x="1118119" y="478279"/>
            <a:ext cx="9601196" cy="1303867"/>
          </a:xfrm>
        </p:spPr>
        <p:txBody>
          <a:bodyPr>
            <a:normAutofit/>
          </a:bodyPr>
          <a:lstStyle/>
          <a:p>
            <a:r>
              <a:rPr lang="en-US" sz="4000" b="1" dirty="0">
                <a:latin typeface="Times New Roman" panose="02020603050405020304" pitchFamily="18" charset="0"/>
                <a:cs typeface="Times New Roman" panose="02020603050405020304" pitchFamily="18" charset="0"/>
              </a:rPr>
              <a:t>Data structures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4D8781-81C7-3F4E-7D1E-59309C11B636}"/>
              </a:ext>
            </a:extLst>
          </p:cNvPr>
          <p:cNvSpPr>
            <a:spLocks noGrp="1"/>
          </p:cNvSpPr>
          <p:nvPr>
            <p:ph idx="1"/>
          </p:nvPr>
        </p:nvSpPr>
        <p:spPr>
          <a:xfrm>
            <a:off x="1017037" y="1698514"/>
            <a:ext cx="9702278" cy="4403706"/>
          </a:xfrm>
        </p:spPr>
        <p:txBody>
          <a:bodyPr>
            <a:normAutofit fontScale="25000" lnSpcReduction="20000"/>
          </a:bodyPr>
          <a:lstStyle/>
          <a:p>
            <a:r>
              <a:rPr lang="en-IN" sz="8000" dirty="0">
                <a:solidFill>
                  <a:schemeClr val="tx1"/>
                </a:solidFill>
                <a:latin typeface="Times New Roman" panose="02020603050405020304" pitchFamily="18" charset="0"/>
                <a:cs typeface="Times New Roman" panose="02020603050405020304" pitchFamily="18" charset="0"/>
              </a:rPr>
              <a:t>Data can be structured, semi structured &amp; un structured.</a:t>
            </a:r>
          </a:p>
          <a:p>
            <a:pPr lvl="1"/>
            <a:r>
              <a:rPr lang="en-IN" sz="8000" dirty="0" err="1">
                <a:solidFill>
                  <a:schemeClr val="tx1"/>
                </a:solidFill>
                <a:latin typeface="Times New Roman" panose="02020603050405020304" pitchFamily="18" charset="0"/>
                <a:cs typeface="Times New Roman" panose="02020603050405020304" pitchFamily="18" charset="0"/>
              </a:rPr>
              <a:t>Eg</a:t>
            </a:r>
            <a:r>
              <a:rPr lang="en-IN" sz="8000" dirty="0">
                <a:solidFill>
                  <a:schemeClr val="tx1"/>
                </a:solidFill>
                <a:latin typeface="Times New Roman" panose="02020603050405020304" pitchFamily="18" charset="0"/>
                <a:cs typeface="Times New Roman" panose="02020603050405020304" pitchFamily="18" charset="0"/>
              </a:rPr>
              <a:t> financial data, text files, multimedia files &amp; genetic mapping.</a:t>
            </a:r>
          </a:p>
          <a:p>
            <a:r>
              <a:rPr lang="en-IN" sz="8000" dirty="0">
                <a:solidFill>
                  <a:schemeClr val="tx1"/>
                </a:solidFill>
                <a:latin typeface="Times New Roman" panose="02020603050405020304" pitchFamily="18" charset="0"/>
                <a:cs typeface="Times New Roman" panose="02020603050405020304" pitchFamily="18" charset="0"/>
              </a:rPr>
              <a:t>Structured data: </a:t>
            </a:r>
          </a:p>
          <a:p>
            <a:pPr lvl="1"/>
            <a:r>
              <a:rPr lang="en-IN" sz="8000" dirty="0">
                <a:solidFill>
                  <a:schemeClr val="tx1"/>
                </a:solidFill>
                <a:latin typeface="Times New Roman" panose="02020603050405020304" pitchFamily="18" charset="0"/>
                <a:cs typeface="Times New Roman" panose="02020603050405020304" pitchFamily="18" charset="0"/>
              </a:rPr>
              <a:t>Data containing a defined data type, format, and structure (that is, transaction data, online analytical processing [OLAP] data cubes, traditional RDBMS, CSV files, and even simple spreadsheets)</a:t>
            </a:r>
          </a:p>
          <a:p>
            <a:r>
              <a:rPr lang="en-US" sz="8000" dirty="0">
                <a:solidFill>
                  <a:schemeClr val="tx1"/>
                </a:solidFill>
                <a:latin typeface="Times New Roman" panose="02020603050405020304" pitchFamily="18" charset="0"/>
                <a:cs typeface="Times New Roman" panose="02020603050405020304" pitchFamily="18" charset="0"/>
              </a:rPr>
              <a:t>Semi-structured data: </a:t>
            </a:r>
          </a:p>
          <a:p>
            <a:pPr lvl="1"/>
            <a:r>
              <a:rPr lang="en-US" sz="8000" dirty="0">
                <a:solidFill>
                  <a:schemeClr val="tx1"/>
                </a:solidFill>
                <a:latin typeface="Times New Roman" panose="02020603050405020304" pitchFamily="18" charset="0"/>
                <a:cs typeface="Times New Roman" panose="02020603050405020304" pitchFamily="18" charset="0"/>
              </a:rPr>
              <a:t>Textual data files with a discernible pattern that enables parsing (such as Extensible Markup Language [XML] data files that are self-describing and defined by an XML schema). </a:t>
            </a:r>
          </a:p>
          <a:p>
            <a:r>
              <a:rPr lang="en-US" sz="8000" dirty="0">
                <a:solidFill>
                  <a:schemeClr val="tx1"/>
                </a:solidFill>
                <a:latin typeface="Times New Roman" panose="02020603050405020304" pitchFamily="18" charset="0"/>
                <a:cs typeface="Times New Roman" panose="02020603050405020304" pitchFamily="18" charset="0"/>
              </a:rPr>
              <a:t>Unstructured data: </a:t>
            </a:r>
          </a:p>
          <a:p>
            <a:pPr lvl="1"/>
            <a:r>
              <a:rPr lang="en-US" sz="8000" dirty="0">
                <a:solidFill>
                  <a:schemeClr val="tx1"/>
                </a:solidFill>
                <a:latin typeface="Times New Roman" panose="02020603050405020304" pitchFamily="18" charset="0"/>
                <a:cs typeface="Times New Roman" panose="02020603050405020304" pitchFamily="18" charset="0"/>
              </a:rPr>
              <a:t>Data that has no inherent structure, which may include text documents, PDFs, images, and video. </a:t>
            </a:r>
            <a:endParaRPr lang="en-IN" sz="80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89309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0B81-4105-7B8C-BB2A-9C5738337E35}"/>
              </a:ext>
            </a:extLst>
          </p:cNvPr>
          <p:cNvSpPr>
            <a:spLocks noGrp="1"/>
          </p:cNvSpPr>
          <p:nvPr>
            <p:ph type="title"/>
          </p:nvPr>
        </p:nvSpPr>
        <p:spPr/>
        <p:txBody>
          <a:bodyPr>
            <a:normAutofit fontScale="90000"/>
          </a:bodyPr>
          <a:lstStyle/>
          <a:p>
            <a:r>
              <a:rPr lang="en-US" b="1" dirty="0">
                <a:latin typeface="Times New Roman" panose="02020603050405020304" pitchFamily="18" charset="0"/>
                <a:cs typeface="Times New Roman" panose="02020603050405020304" pitchFamily="18" charset="0"/>
              </a:rPr>
              <a:t>Structured semi structured and unstructured data  </a:t>
            </a:r>
            <a:endParaRPr lang="en-IN"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C2D5CDA-1DAC-67FD-2CAF-4B34153FF3AD}"/>
              </a:ext>
            </a:extLst>
          </p:cNvPr>
          <p:cNvPicPr>
            <a:picLocks noGrp="1" noChangeAspect="1"/>
          </p:cNvPicPr>
          <p:nvPr>
            <p:ph idx="1"/>
          </p:nvPr>
        </p:nvPicPr>
        <p:blipFill>
          <a:blip r:embed="rId2"/>
          <a:stretch>
            <a:fillRect/>
          </a:stretch>
        </p:blipFill>
        <p:spPr>
          <a:xfrm>
            <a:off x="1103733" y="2605230"/>
            <a:ext cx="3374961" cy="1647540"/>
          </a:xfrm>
        </p:spPr>
      </p:pic>
      <p:pic>
        <p:nvPicPr>
          <p:cNvPr id="1026" name="Picture 2">
            <a:extLst>
              <a:ext uri="{FF2B5EF4-FFF2-40B4-BE49-F238E27FC236}">
                <a16:creationId xmlns:a16="http://schemas.microsoft.com/office/drawing/2014/main" id="{AC3E2283-2F3A-E747-6D2F-57A566F719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9196" y="2377806"/>
            <a:ext cx="6550091" cy="187496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iles Converter music docs PDF - Apps on Google Play">
            <a:extLst>
              <a:ext uri="{FF2B5EF4-FFF2-40B4-BE49-F238E27FC236}">
                <a16:creationId xmlns:a16="http://schemas.microsoft.com/office/drawing/2014/main" id="{9228973B-8893-9FF3-02AF-6CFC9B296D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1469" y="4344577"/>
            <a:ext cx="1875453" cy="187545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AB15D129-48A2-82CE-1655-4D652601F11A}"/>
                  </a:ext>
                </a:extLst>
              </p14:cNvPr>
              <p14:cNvContentPartPr/>
              <p14:nvPr/>
            </p14:nvContentPartPr>
            <p14:xfrm>
              <a:off x="2055600" y="3897000"/>
              <a:ext cx="1647000" cy="956160"/>
            </p14:xfrm>
          </p:contentPart>
        </mc:Choice>
        <mc:Fallback>
          <p:pic>
            <p:nvPicPr>
              <p:cNvPr id="3" name="Ink 2">
                <a:extLst>
                  <a:ext uri="{FF2B5EF4-FFF2-40B4-BE49-F238E27FC236}">
                    <a16:creationId xmlns:a16="http://schemas.microsoft.com/office/drawing/2014/main" id="{AB15D129-48A2-82CE-1655-4D652601F11A}"/>
                  </a:ext>
                </a:extLst>
              </p:cNvPr>
              <p:cNvPicPr/>
              <p:nvPr/>
            </p:nvPicPr>
            <p:blipFill>
              <a:blip r:embed="rId6"/>
              <a:stretch>
                <a:fillRect/>
              </a:stretch>
            </p:blipFill>
            <p:spPr>
              <a:xfrm>
                <a:off x="2046240" y="3887640"/>
                <a:ext cx="1665720" cy="974880"/>
              </a:xfrm>
              <a:prstGeom prst="rect">
                <a:avLst/>
              </a:prstGeom>
            </p:spPr>
          </p:pic>
        </mc:Fallback>
      </mc:AlternateContent>
    </p:spTree>
    <p:extLst>
      <p:ext uri="{BB962C8B-B14F-4D97-AF65-F5344CB8AC3E}">
        <p14:creationId xmlns:p14="http://schemas.microsoft.com/office/powerpoint/2010/main" val="127769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3975E-93D1-9748-E059-6C96FF595976}"/>
              </a:ext>
            </a:extLst>
          </p:cNvPr>
          <p:cNvSpPr>
            <a:spLocks noGrp="1"/>
          </p:cNvSpPr>
          <p:nvPr>
            <p:ph type="title"/>
          </p:nvPr>
        </p:nvSpPr>
        <p:spPr>
          <a:xfrm>
            <a:off x="1220757" y="608907"/>
            <a:ext cx="9601196" cy="1303867"/>
          </a:xfrm>
        </p:spPr>
        <p:txBody>
          <a:bodyPr>
            <a:normAutofit fontScale="90000"/>
          </a:bodyPr>
          <a:lstStyle/>
          <a:p>
            <a:r>
              <a:rPr lang="en-US" b="1" dirty="0">
                <a:latin typeface="Times New Roman" panose="02020603050405020304" pitchFamily="18" charset="0"/>
                <a:cs typeface="Times New Roman" panose="02020603050405020304" pitchFamily="18" charset="0"/>
              </a:rPr>
              <a:t>Compare and contrast structured and unstructured data </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509FFC80-48B9-9464-ECC2-7985447D1FC8}"/>
              </a:ext>
            </a:extLst>
          </p:cNvPr>
          <p:cNvGraphicFramePr>
            <a:graphicFrameLocks noGrp="1"/>
          </p:cNvGraphicFramePr>
          <p:nvPr>
            <p:ph idx="1"/>
            <p:extLst>
              <p:ext uri="{D42A27DB-BD31-4B8C-83A1-F6EECF244321}">
                <p14:modId xmlns:p14="http://schemas.microsoft.com/office/powerpoint/2010/main" val="1132411390"/>
              </p:ext>
            </p:extLst>
          </p:nvPr>
        </p:nvGraphicFramePr>
        <p:xfrm>
          <a:off x="1220757" y="1912774"/>
          <a:ext cx="9808027" cy="4890028"/>
        </p:xfrm>
        <a:graphic>
          <a:graphicData uri="http://schemas.openxmlformats.org/drawingml/2006/table">
            <a:tbl>
              <a:tblPr firstRow="1" bandRow="1">
                <a:tableStyleId>{5C22544A-7EE6-4342-B048-85BDC9FD1C3A}</a:tableStyleId>
              </a:tblPr>
              <a:tblGrid>
                <a:gridCol w="1501023">
                  <a:extLst>
                    <a:ext uri="{9D8B030D-6E8A-4147-A177-3AD203B41FA5}">
                      <a16:colId xmlns:a16="http://schemas.microsoft.com/office/drawing/2014/main" val="2673314865"/>
                    </a:ext>
                  </a:extLst>
                </a:gridCol>
                <a:gridCol w="3918918">
                  <a:extLst>
                    <a:ext uri="{9D8B030D-6E8A-4147-A177-3AD203B41FA5}">
                      <a16:colId xmlns:a16="http://schemas.microsoft.com/office/drawing/2014/main" val="2244037352"/>
                    </a:ext>
                  </a:extLst>
                </a:gridCol>
                <a:gridCol w="4388086">
                  <a:extLst>
                    <a:ext uri="{9D8B030D-6E8A-4147-A177-3AD203B41FA5}">
                      <a16:colId xmlns:a16="http://schemas.microsoft.com/office/drawing/2014/main" val="137983870"/>
                    </a:ext>
                  </a:extLst>
                </a:gridCol>
              </a:tblGrid>
              <a:tr h="592348">
                <a:tc>
                  <a:txBody>
                    <a:bodyPr/>
                    <a:lstStyle/>
                    <a:p>
                      <a:pPr>
                        <a:buNone/>
                      </a:pPr>
                      <a:r>
                        <a:rPr lang="en-IN">
                          <a:latin typeface="Times New Roman" panose="02020603050405020304" pitchFamily="18" charset="0"/>
                          <a:cs typeface="Times New Roman" panose="02020603050405020304" pitchFamily="18" charset="0"/>
                        </a:rPr>
                        <a:t>Aspect</a:t>
                      </a:r>
                    </a:p>
                  </a:txBody>
                  <a:tcPr anchor="ctr"/>
                </a:tc>
                <a:tc>
                  <a:txBody>
                    <a:bodyPr/>
                    <a:lstStyle/>
                    <a:p>
                      <a:pPr>
                        <a:buNone/>
                      </a:pPr>
                      <a:r>
                        <a:rPr lang="en-IN">
                          <a:latin typeface="Times New Roman" panose="02020603050405020304" pitchFamily="18" charset="0"/>
                          <a:cs typeface="Times New Roman" panose="02020603050405020304" pitchFamily="18" charset="0"/>
                        </a:rPr>
                        <a:t>Structured Data</a:t>
                      </a:r>
                    </a:p>
                  </a:txBody>
                  <a:tcPr anchor="ctr"/>
                </a:tc>
                <a:tc>
                  <a:txBody>
                    <a:bodyPr/>
                    <a:lstStyle/>
                    <a:p>
                      <a:pPr>
                        <a:buNone/>
                      </a:pPr>
                      <a:r>
                        <a:rPr lang="en-IN">
                          <a:latin typeface="Times New Roman" panose="02020603050405020304" pitchFamily="18" charset="0"/>
                          <a:cs typeface="Times New Roman" panose="02020603050405020304" pitchFamily="18" charset="0"/>
                        </a:rPr>
                        <a:t>Unstructured Data</a:t>
                      </a:r>
                    </a:p>
                  </a:txBody>
                  <a:tcPr anchor="ctr"/>
                </a:tc>
                <a:extLst>
                  <a:ext uri="{0D108BD9-81ED-4DB2-BD59-A6C34878D82A}">
                    <a16:rowId xmlns:a16="http://schemas.microsoft.com/office/drawing/2014/main" val="3496259585"/>
                  </a:ext>
                </a:extLst>
              </a:tr>
              <a:tr h="592348">
                <a:tc>
                  <a:txBody>
                    <a:bodyPr/>
                    <a:lstStyle/>
                    <a:p>
                      <a:pPr>
                        <a:buNone/>
                      </a:pPr>
                      <a:r>
                        <a:rPr lang="en-IN" b="1">
                          <a:latin typeface="Times New Roman" panose="02020603050405020304" pitchFamily="18" charset="0"/>
                          <a:cs typeface="Times New Roman" panose="02020603050405020304" pitchFamily="18" charset="0"/>
                        </a:rPr>
                        <a:t>1. Definition</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Structured data is organized in a tabular form (rows and columns) with a predefined schema.</a:t>
                      </a:r>
                    </a:p>
                  </a:txBody>
                  <a:tcPr anchor="ctr"/>
                </a:tc>
                <a:tc>
                  <a:txBody>
                    <a:bodyPr/>
                    <a:lstStyle/>
                    <a:p>
                      <a:pPr>
                        <a:buNone/>
                      </a:pPr>
                      <a:r>
                        <a:rPr lang="en-US">
                          <a:latin typeface="Times New Roman" panose="02020603050405020304" pitchFamily="18" charset="0"/>
                          <a:cs typeface="Times New Roman" panose="02020603050405020304" pitchFamily="18" charset="0"/>
                        </a:rPr>
                        <a:t>Unstructured data has no fixed format or schema; it is often raw and irregular.</a:t>
                      </a:r>
                    </a:p>
                  </a:txBody>
                  <a:tcPr anchor="ctr"/>
                </a:tc>
                <a:extLst>
                  <a:ext uri="{0D108BD9-81ED-4DB2-BD59-A6C34878D82A}">
                    <a16:rowId xmlns:a16="http://schemas.microsoft.com/office/drawing/2014/main" val="3192174635"/>
                  </a:ext>
                </a:extLst>
              </a:tr>
              <a:tr h="592348">
                <a:tc>
                  <a:txBody>
                    <a:bodyPr/>
                    <a:lstStyle/>
                    <a:p>
                      <a:pPr>
                        <a:buNone/>
                      </a:pPr>
                      <a:r>
                        <a:rPr lang="en-IN" b="1" dirty="0">
                          <a:latin typeface="Times New Roman" panose="02020603050405020304" pitchFamily="18" charset="0"/>
                          <a:cs typeface="Times New Roman" panose="02020603050405020304" pitchFamily="18" charset="0"/>
                        </a:rPr>
                        <a:t>2. Examples</a:t>
                      </a:r>
                      <a:endParaRPr lang="en-IN" dirty="0">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Examples include employee records, student database, bank transactions.</a:t>
                      </a:r>
                    </a:p>
                  </a:txBody>
                  <a:tcPr anchor="ctr"/>
                </a:tc>
                <a:tc>
                  <a:txBody>
                    <a:bodyPr/>
                    <a:lstStyle/>
                    <a:p>
                      <a:pPr>
                        <a:buNone/>
                      </a:pPr>
                      <a:r>
                        <a:rPr lang="en-US">
                          <a:latin typeface="Times New Roman" panose="02020603050405020304" pitchFamily="18" charset="0"/>
                          <a:cs typeface="Times New Roman" panose="02020603050405020304" pitchFamily="18" charset="0"/>
                        </a:rPr>
                        <a:t>Examples include images, videos, emails, PDF files, social media posts, sensor data.</a:t>
                      </a:r>
                    </a:p>
                  </a:txBody>
                  <a:tcPr anchor="ctr"/>
                </a:tc>
                <a:extLst>
                  <a:ext uri="{0D108BD9-81ED-4DB2-BD59-A6C34878D82A}">
                    <a16:rowId xmlns:a16="http://schemas.microsoft.com/office/drawing/2014/main" val="3101402745"/>
                  </a:ext>
                </a:extLst>
              </a:tr>
              <a:tr h="592348">
                <a:tc>
                  <a:txBody>
                    <a:bodyPr/>
                    <a:lstStyle/>
                    <a:p>
                      <a:pPr>
                        <a:buNone/>
                      </a:pPr>
                      <a:r>
                        <a:rPr lang="en-IN" b="1">
                          <a:latin typeface="Times New Roman" panose="02020603050405020304" pitchFamily="18" charset="0"/>
                          <a:cs typeface="Times New Roman" panose="02020603050405020304" pitchFamily="18" charset="0"/>
                        </a:rPr>
                        <a:t>3. Storage</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Stored in </a:t>
                      </a:r>
                      <a:r>
                        <a:rPr lang="en-US" b="1">
                          <a:latin typeface="Times New Roman" panose="02020603050405020304" pitchFamily="18" charset="0"/>
                          <a:cs typeface="Times New Roman" panose="02020603050405020304" pitchFamily="18" charset="0"/>
                        </a:rPr>
                        <a:t>Relational Databases (RDBMS)</a:t>
                      </a:r>
                      <a:r>
                        <a:rPr lang="en-US">
                          <a:latin typeface="Times New Roman" panose="02020603050405020304" pitchFamily="18" charset="0"/>
                          <a:cs typeface="Times New Roman" panose="02020603050405020304" pitchFamily="18" charset="0"/>
                        </a:rPr>
                        <a:t> like MySQL, Oracle, SQL Server.</a:t>
                      </a:r>
                    </a:p>
                  </a:txBody>
                  <a:tcPr anchor="ctr"/>
                </a:tc>
                <a:tc>
                  <a:txBody>
                    <a:bodyPr/>
                    <a:lstStyle/>
                    <a:p>
                      <a:pPr>
                        <a:buNone/>
                      </a:pPr>
                      <a:r>
                        <a:rPr lang="en-US">
                          <a:latin typeface="Times New Roman" panose="02020603050405020304" pitchFamily="18" charset="0"/>
                          <a:cs typeface="Times New Roman" panose="02020603050405020304" pitchFamily="18" charset="0"/>
                        </a:rPr>
                        <a:t>Stored in </a:t>
                      </a:r>
                      <a:r>
                        <a:rPr lang="en-US" b="1">
                          <a:latin typeface="Times New Roman" panose="02020603050405020304" pitchFamily="18" charset="0"/>
                          <a:cs typeface="Times New Roman" panose="02020603050405020304" pitchFamily="18" charset="0"/>
                        </a:rPr>
                        <a:t>Data Lakes, NoSQL databases</a:t>
                      </a:r>
                      <a:r>
                        <a:rPr lang="en-US">
                          <a:latin typeface="Times New Roman" panose="02020603050405020304" pitchFamily="18" charset="0"/>
                          <a:cs typeface="Times New Roman" panose="02020603050405020304" pitchFamily="18" charset="0"/>
                        </a:rPr>
                        <a:t>, or distributed file systems (e.g., Hadoop HDFS).</a:t>
                      </a:r>
                    </a:p>
                  </a:txBody>
                  <a:tcPr anchor="ctr"/>
                </a:tc>
                <a:extLst>
                  <a:ext uri="{0D108BD9-81ED-4DB2-BD59-A6C34878D82A}">
                    <a16:rowId xmlns:a16="http://schemas.microsoft.com/office/drawing/2014/main" val="2595698820"/>
                  </a:ext>
                </a:extLst>
              </a:tr>
              <a:tr h="592348">
                <a:tc>
                  <a:txBody>
                    <a:bodyPr/>
                    <a:lstStyle/>
                    <a:p>
                      <a:pPr>
                        <a:buNone/>
                      </a:pPr>
                      <a:r>
                        <a:rPr lang="en-IN" b="1">
                          <a:latin typeface="Times New Roman" panose="02020603050405020304" pitchFamily="18" charset="0"/>
                          <a:cs typeface="Times New Roman" panose="02020603050405020304" pitchFamily="18" charset="0"/>
                        </a:rPr>
                        <a:t>4. Processing</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Easy to query and analyze using </a:t>
                      </a:r>
                      <a:r>
                        <a:rPr lang="en-US" b="1">
                          <a:latin typeface="Times New Roman" panose="02020603050405020304" pitchFamily="18" charset="0"/>
                          <a:cs typeface="Times New Roman" panose="02020603050405020304" pitchFamily="18" charset="0"/>
                        </a:rPr>
                        <a:t>SQL queries</a:t>
                      </a:r>
                      <a:r>
                        <a:rPr lang="en-US">
                          <a:latin typeface="Times New Roman" panose="02020603050405020304" pitchFamily="18" charset="0"/>
                          <a:cs typeface="Times New Roman" panose="02020603050405020304" pitchFamily="18" charset="0"/>
                        </a:rPr>
                        <a:t>; fast for structured analysis.</a:t>
                      </a:r>
                    </a:p>
                  </a:txBody>
                  <a:tcPr anchor="ctr"/>
                </a:tc>
                <a:tc>
                  <a:txBody>
                    <a:bodyPr/>
                    <a:lstStyle/>
                    <a:p>
                      <a:pPr>
                        <a:buNone/>
                      </a:pPr>
                      <a:r>
                        <a:rPr lang="en-US">
                          <a:latin typeface="Times New Roman" panose="02020603050405020304" pitchFamily="18" charset="0"/>
                          <a:cs typeface="Times New Roman" panose="02020603050405020304" pitchFamily="18" charset="0"/>
                        </a:rPr>
                        <a:t>Requires </a:t>
                      </a:r>
                      <a:r>
                        <a:rPr lang="en-US" b="1">
                          <a:latin typeface="Times New Roman" panose="02020603050405020304" pitchFamily="18" charset="0"/>
                          <a:cs typeface="Times New Roman" panose="02020603050405020304" pitchFamily="18" charset="0"/>
                        </a:rPr>
                        <a:t>advanced tools</a:t>
                      </a:r>
                      <a:r>
                        <a:rPr lang="en-US">
                          <a:latin typeface="Times New Roman" panose="02020603050405020304" pitchFamily="18" charset="0"/>
                          <a:cs typeface="Times New Roman" panose="02020603050405020304" pitchFamily="18" charset="0"/>
                        </a:rPr>
                        <a:t> like Hadoop, Spark, NLP, and Machine Learning to extract insights.</a:t>
                      </a:r>
                    </a:p>
                  </a:txBody>
                  <a:tcPr anchor="ctr"/>
                </a:tc>
                <a:extLst>
                  <a:ext uri="{0D108BD9-81ED-4DB2-BD59-A6C34878D82A}">
                    <a16:rowId xmlns:a16="http://schemas.microsoft.com/office/drawing/2014/main" val="2411751463"/>
                  </a:ext>
                </a:extLst>
              </a:tr>
              <a:tr h="592348">
                <a:tc>
                  <a:txBody>
                    <a:bodyPr/>
                    <a:lstStyle/>
                    <a:p>
                      <a:pPr>
                        <a:buNone/>
                      </a:pPr>
                      <a:r>
                        <a:rPr lang="en-IN" b="1">
                          <a:latin typeface="Times New Roman" panose="02020603050405020304" pitchFamily="18" charset="0"/>
                          <a:cs typeface="Times New Roman" panose="02020603050405020304" pitchFamily="18" charset="0"/>
                        </a:rPr>
                        <a:t>5. Flexibility</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US">
                          <a:latin typeface="Times New Roman" panose="02020603050405020304" pitchFamily="18" charset="0"/>
                          <a:cs typeface="Times New Roman" panose="02020603050405020304" pitchFamily="18" charset="0"/>
                        </a:rPr>
                        <a:t>Less flexible, as data must follow a strict schema; changes are difficult.</a:t>
                      </a:r>
                    </a:p>
                  </a:txBody>
                  <a:tcPr anchor="ctr"/>
                </a:tc>
                <a:tc>
                  <a:txBody>
                    <a:bodyPr/>
                    <a:lstStyle/>
                    <a:p>
                      <a:pPr>
                        <a:buNone/>
                      </a:pPr>
                      <a:r>
                        <a:rPr lang="en-US" dirty="0">
                          <a:latin typeface="Times New Roman" panose="02020603050405020304" pitchFamily="18" charset="0"/>
                          <a:cs typeface="Times New Roman" panose="02020603050405020304" pitchFamily="18" charset="0"/>
                        </a:rPr>
                        <a:t>Highly flexible, can accommodate multiple data types and evolving formats without strict schema.</a:t>
                      </a:r>
                    </a:p>
                  </a:txBody>
                  <a:tcPr anchor="ctr"/>
                </a:tc>
                <a:extLst>
                  <a:ext uri="{0D108BD9-81ED-4DB2-BD59-A6C34878D82A}">
                    <a16:rowId xmlns:a16="http://schemas.microsoft.com/office/drawing/2014/main" val="1451658466"/>
                  </a:ext>
                </a:extLst>
              </a:tr>
            </a:tbl>
          </a:graphicData>
        </a:graphic>
      </p:graphicFrame>
    </p:spTree>
    <p:extLst>
      <p:ext uri="{BB962C8B-B14F-4D97-AF65-F5344CB8AC3E}">
        <p14:creationId xmlns:p14="http://schemas.microsoft.com/office/powerpoint/2010/main" val="4229346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BF80E-4CB0-D2F9-80BD-A9CC7D4163F4}"/>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Highlight characteristics of big data used in data analytics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05D1601-0AC3-E84C-71C1-F0DA6A9C9980}"/>
              </a:ext>
            </a:extLst>
          </p:cNvPr>
          <p:cNvSpPr>
            <a:spLocks noGrp="1"/>
          </p:cNvSpPr>
          <p:nvPr>
            <p:ph idx="1"/>
          </p:nvPr>
        </p:nvSpPr>
        <p:spPr/>
        <p:txBody>
          <a:bodyPr>
            <a:normAutofit/>
          </a:bodyPr>
          <a:lstStyle/>
          <a:p>
            <a:r>
              <a:rPr lang="en-IN" sz="2200" dirty="0">
                <a:solidFill>
                  <a:schemeClr val="tx1"/>
                </a:solidFill>
                <a:latin typeface="Times New Roman" panose="02020603050405020304" pitchFamily="18" charset="0"/>
                <a:cs typeface="Times New Roman" panose="02020603050405020304" pitchFamily="18" charset="0"/>
              </a:rPr>
              <a:t>The key characteristics of Big Data used in analytics are often summarized by the </a:t>
            </a:r>
            <a:r>
              <a:rPr lang="en-IN" sz="2200" b="1" dirty="0">
                <a:solidFill>
                  <a:schemeClr val="tx1"/>
                </a:solidFill>
                <a:latin typeface="Times New Roman" panose="02020603050405020304" pitchFamily="18" charset="0"/>
                <a:cs typeface="Times New Roman" panose="02020603050405020304" pitchFamily="18" charset="0"/>
              </a:rPr>
              <a:t>5 Vs</a:t>
            </a:r>
            <a:r>
              <a:rPr lang="en-IN" sz="2200" dirty="0">
                <a:solidFill>
                  <a:schemeClr val="tx1"/>
                </a:solidFill>
                <a:latin typeface="Times New Roman" panose="02020603050405020304" pitchFamily="18" charset="0"/>
                <a:cs typeface="Times New Roman" panose="02020603050405020304" pitchFamily="18" charset="0"/>
              </a:rPr>
              <a:t>:</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Volume</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Velocity</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Variety</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Veracity</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Value</a:t>
            </a:r>
          </a:p>
        </p:txBody>
      </p:sp>
    </p:spTree>
    <p:extLst>
      <p:ext uri="{BB962C8B-B14F-4D97-AF65-F5344CB8AC3E}">
        <p14:creationId xmlns:p14="http://schemas.microsoft.com/office/powerpoint/2010/main" val="536902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0C213-A619-FC2A-BC55-B66EE35201FF}"/>
              </a:ext>
            </a:extLst>
          </p:cNvPr>
          <p:cNvSpPr>
            <a:spLocks noGrp="1"/>
          </p:cNvSpPr>
          <p:nvPr>
            <p:ph type="title"/>
          </p:nvPr>
        </p:nvSpPr>
        <p:spPr>
          <a:xfrm>
            <a:off x="1295402" y="633341"/>
            <a:ext cx="9601196" cy="1303867"/>
          </a:xfrm>
        </p:spPr>
        <p:txBody>
          <a:bodyPr/>
          <a:lstStyle/>
          <a:p>
            <a:r>
              <a:rPr lang="en-US" b="1" dirty="0">
                <a:latin typeface="Times New Roman" panose="02020603050405020304" pitchFamily="18" charset="0"/>
                <a:cs typeface="Times New Roman" panose="02020603050405020304" pitchFamily="18" charset="0"/>
              </a:rPr>
              <a:t>Data Structure</a:t>
            </a:r>
            <a:endParaRPr lang="en-IN" b="1" dirty="0">
              <a:latin typeface="Times New Roman" panose="02020603050405020304" pitchFamily="18" charset="0"/>
              <a:cs typeface="Times New Roman" panose="02020603050405020304" pitchFamily="18" charset="0"/>
            </a:endParaRPr>
          </a:p>
        </p:txBody>
      </p:sp>
      <p:pic>
        <p:nvPicPr>
          <p:cNvPr id="4" name="Picture 2" descr="C:\Users\Min Sup\Desktop\2012년 1학기\Big Data\big data image\data structure.png">
            <a:extLst>
              <a:ext uri="{FF2B5EF4-FFF2-40B4-BE49-F238E27FC236}">
                <a16:creationId xmlns:a16="http://schemas.microsoft.com/office/drawing/2014/main" id="{149E06C4-9741-93EC-7106-73B7549BE5DD}"/>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7597771" y="1545784"/>
            <a:ext cx="3953282" cy="44303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AAD3F20-07D5-977C-7EA1-1100D294EEB9}"/>
              </a:ext>
            </a:extLst>
          </p:cNvPr>
          <p:cNvSpPr txBox="1"/>
          <p:nvPr/>
        </p:nvSpPr>
        <p:spPr>
          <a:xfrm>
            <a:off x="747271" y="1545784"/>
            <a:ext cx="6929435" cy="6832640"/>
          </a:xfrm>
          <a:prstGeom prst="rect">
            <a:avLst/>
          </a:prstGeom>
          <a:noFill/>
        </p:spPr>
        <p:txBody>
          <a:bodyPr wrap="square" rtlCol="0">
            <a:spAutoFit/>
          </a:bodyPr>
          <a:lstStyle/>
          <a:p>
            <a:pPr marL="285750" indent="-28575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This image is a diagram that categorizes different types of data-related activities based on </a:t>
            </a:r>
            <a:r>
              <a:rPr lang="en-IN" sz="2200" b="1" dirty="0">
                <a:latin typeface="Times New Roman" panose="02020603050405020304" pitchFamily="18" charset="0"/>
                <a:cs typeface="Times New Roman" panose="02020603050405020304" pitchFamily="18" charset="0"/>
              </a:rPr>
              <a:t>two factors: Data Structure </a:t>
            </a:r>
            <a:r>
              <a:rPr lang="en-IN" sz="2200" dirty="0">
                <a:latin typeface="Times New Roman" panose="02020603050405020304" pitchFamily="18" charset="0"/>
                <a:cs typeface="Times New Roman" panose="02020603050405020304" pitchFamily="18" charset="0"/>
              </a:rPr>
              <a:t>(</a:t>
            </a:r>
            <a:r>
              <a:rPr lang="en-IN" sz="2200" dirty="0">
                <a:solidFill>
                  <a:srgbClr val="FF0000"/>
                </a:solidFill>
                <a:latin typeface="Times New Roman" panose="02020603050405020304" pitchFamily="18" charset="0"/>
                <a:cs typeface="Times New Roman" panose="02020603050405020304" pitchFamily="18" charset="0"/>
              </a:rPr>
              <a:t>Structured, Semi-Structured, and Unstructured</a:t>
            </a:r>
            <a:r>
              <a:rPr lang="en-IN" sz="2200" dirty="0">
                <a:latin typeface="Times New Roman" panose="02020603050405020304" pitchFamily="18" charset="0"/>
                <a:cs typeface="Times New Roman" panose="02020603050405020304" pitchFamily="18" charset="0"/>
              </a:rPr>
              <a:t>) and </a:t>
            </a:r>
            <a:r>
              <a:rPr lang="en-IN" sz="2200" b="1" dirty="0">
                <a:latin typeface="Times New Roman" panose="02020603050405020304" pitchFamily="18" charset="0"/>
                <a:cs typeface="Times New Roman" panose="02020603050405020304" pitchFamily="18" charset="0"/>
              </a:rPr>
              <a:t>Data Velocity </a:t>
            </a:r>
            <a:r>
              <a:rPr lang="en-IN" sz="2200" dirty="0">
                <a:latin typeface="Times New Roman" panose="02020603050405020304" pitchFamily="18" charset="0"/>
                <a:cs typeface="Times New Roman" panose="02020603050405020304" pitchFamily="18" charset="0"/>
              </a:rPr>
              <a:t>(</a:t>
            </a:r>
            <a:r>
              <a:rPr lang="en-IN" sz="2200" dirty="0">
                <a:solidFill>
                  <a:srgbClr val="FF0000"/>
                </a:solidFill>
                <a:latin typeface="Times New Roman" panose="02020603050405020304" pitchFamily="18" charset="0"/>
                <a:cs typeface="Times New Roman" panose="02020603050405020304" pitchFamily="18" charset="0"/>
              </a:rPr>
              <a:t>Real-time processing and Batch processing</a:t>
            </a:r>
            <a:r>
              <a:rPr lang="en-IN" sz="2200" dirty="0">
                <a:latin typeface="Times New Roman" panose="02020603050405020304" pitchFamily="18" charset="0"/>
                <a:cs typeface="Times New Roman" panose="02020603050405020304" pitchFamily="18" charset="0"/>
              </a:rPr>
              <a:t>).</a:t>
            </a:r>
          </a:p>
          <a:p>
            <a:pPr lvl="0"/>
            <a:r>
              <a:rPr lang="en-IN" sz="1600" b="1" dirty="0"/>
              <a:t>    </a:t>
            </a:r>
          </a:p>
          <a:p>
            <a:pPr marL="457200" indent="-457200">
              <a:buFont typeface="+mj-lt"/>
              <a:buAutoNum type="arabicPeriod"/>
            </a:pPr>
            <a:r>
              <a:rPr lang="en-IN" sz="2000" b="1" dirty="0">
                <a:latin typeface="Times New Roman" panose="02020603050405020304" pitchFamily="18" charset="0"/>
                <a:cs typeface="Times New Roman" panose="02020603050405020304" pitchFamily="18" charset="0"/>
              </a:rPr>
              <a:t>Structured + Real-time:</a:t>
            </a:r>
          </a:p>
          <a:p>
            <a:pPr marL="800100" lvl="1"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Credit &amp; Market Risk in Banks:</a:t>
            </a:r>
            <a:r>
              <a:rPr lang="en-IN" sz="2000" dirty="0">
                <a:latin typeface="Times New Roman" panose="02020603050405020304" pitchFamily="18" charset="0"/>
                <a:cs typeface="Times New Roman" panose="02020603050405020304" pitchFamily="18" charset="0"/>
              </a:rPr>
              <a:t> Managing risks in banking using well-organized data in real-time.</a:t>
            </a:r>
          </a:p>
          <a:p>
            <a:pPr marL="800100" lvl="1"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Fraud Detection (Credit Card) &amp; Financial Crimes (AML) in Banks:</a:t>
            </a:r>
            <a:r>
              <a:rPr lang="en-IN" sz="2000" dirty="0">
                <a:latin typeface="Times New Roman" panose="02020603050405020304" pitchFamily="18" charset="0"/>
                <a:cs typeface="Times New Roman" panose="02020603050405020304" pitchFamily="18" charset="0"/>
              </a:rPr>
              <a:t> Monitoring transactions in real-time to detect fraud.</a:t>
            </a:r>
          </a:p>
          <a:p>
            <a:pPr marL="800100" lvl="1" indent="-34290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Event-based Marketing in Financial Services and Telecoms:</a:t>
            </a:r>
            <a:r>
              <a:rPr lang="en-IN" sz="2000" dirty="0">
                <a:latin typeface="Times New Roman" panose="02020603050405020304" pitchFamily="18" charset="0"/>
                <a:cs typeface="Times New Roman" panose="02020603050405020304" pitchFamily="18" charset="0"/>
              </a:rPr>
              <a:t> Using customer data in real-time to offer personalized marketing.</a:t>
            </a:r>
          </a:p>
          <a:p>
            <a:pPr marL="457200" indent="-457200">
              <a:buFont typeface="+mj-lt"/>
              <a:buAutoNum type="arabicPeriod"/>
            </a:pPr>
            <a:endParaRPr lang="en-IN" sz="2000" b="1" dirty="0">
              <a:latin typeface="Times New Roman" panose="02020603050405020304" pitchFamily="18" charset="0"/>
              <a:cs typeface="Times New Roman" panose="02020603050405020304" pitchFamily="18" charset="0"/>
            </a:endParaRPr>
          </a:p>
          <a:p>
            <a:pPr lvl="0"/>
            <a:endParaRPr lang="en-IN" sz="2000" b="1" dirty="0">
              <a:latin typeface="Times New Roman" panose="02020603050405020304" pitchFamily="18" charset="0"/>
              <a:cs typeface="Times New Roman" panose="02020603050405020304" pitchFamily="18" charset="0"/>
            </a:endParaRPr>
          </a:p>
          <a:p>
            <a:pPr marL="342900" lvl="0" indent="-342900">
              <a:buFont typeface="+mj-lt"/>
              <a:buAutoNum type="arabicPeriod"/>
            </a:pPr>
            <a:endParaRPr lang="en-IN" sz="1600" b="1" dirty="0"/>
          </a:p>
          <a:p>
            <a:pPr marL="342900" lvl="0" indent="-342900">
              <a:buFont typeface="+mj-lt"/>
              <a:buAutoNum type="arabicPeriod"/>
            </a:pPr>
            <a:endParaRPr lang="en-IN" sz="2000" dirty="0"/>
          </a:p>
          <a:p>
            <a:pPr lvl="0"/>
            <a:endParaRPr lang="en-IN" sz="1600" dirty="0"/>
          </a:p>
          <a:p>
            <a:pPr marL="285750" indent="-28575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457356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09A0F5-81E4-21C8-47FB-7F9283C9BC92}"/>
              </a:ext>
            </a:extLst>
          </p:cNvPr>
          <p:cNvSpPr>
            <a:spLocks noGrp="1"/>
          </p:cNvSpPr>
          <p:nvPr>
            <p:ph idx="1"/>
          </p:nvPr>
        </p:nvSpPr>
        <p:spPr>
          <a:xfrm>
            <a:off x="763555" y="756123"/>
            <a:ext cx="10535815" cy="5598023"/>
          </a:xfrm>
        </p:spPr>
        <p:txBody>
          <a:bodyPr>
            <a:normAutofit fontScale="92500" lnSpcReduction="20000"/>
          </a:bodyPr>
          <a:lstStyle/>
          <a:p>
            <a:pPr marL="457200" lvl="0" indent="-457200">
              <a:buFont typeface="+mj-lt"/>
              <a:buAutoNum type="arabicPeriod"/>
            </a:pPr>
            <a:r>
              <a:rPr lang="en-IN" sz="2200" b="1" dirty="0">
                <a:latin typeface="Times New Roman" panose="02020603050405020304" pitchFamily="18" charset="0"/>
                <a:cs typeface="Times New Roman" panose="02020603050405020304" pitchFamily="18" charset="0"/>
              </a:rPr>
              <a:t>Structured + Batch:</a:t>
            </a:r>
            <a:endParaRPr lang="en-IN" sz="2200" dirty="0">
              <a:latin typeface="Times New Roman" panose="02020603050405020304" pitchFamily="18" charset="0"/>
              <a:cs typeface="Times New Roman" panose="02020603050405020304" pitchFamily="18" charset="0"/>
            </a:endParaRPr>
          </a:p>
          <a:p>
            <a:pPr lvl="1"/>
            <a:r>
              <a:rPr lang="en-IN" sz="2200" b="1" dirty="0">
                <a:latin typeface="Times New Roman" panose="02020603050405020304" pitchFamily="18" charset="0"/>
                <a:cs typeface="Times New Roman" panose="02020603050405020304" pitchFamily="18" charset="0"/>
              </a:rPr>
              <a:t>Predictive Maintenance in Aerospace:</a:t>
            </a:r>
            <a:r>
              <a:rPr lang="en-IN" sz="2200" dirty="0">
                <a:latin typeface="Times New Roman" panose="02020603050405020304" pitchFamily="18" charset="0"/>
                <a:cs typeface="Times New Roman" panose="02020603050405020304" pitchFamily="18" charset="0"/>
              </a:rPr>
              <a:t> Using collected data to predict when maintenance is needed.</a:t>
            </a:r>
          </a:p>
          <a:p>
            <a:pPr lvl="1"/>
            <a:r>
              <a:rPr lang="en-IN" sz="2200" b="1" dirty="0">
                <a:latin typeface="Times New Roman" panose="02020603050405020304" pitchFamily="18" charset="0"/>
                <a:cs typeface="Times New Roman" panose="02020603050405020304" pitchFamily="18" charset="0"/>
              </a:rPr>
              <a:t>Demand Forecasting in Manufacturing:</a:t>
            </a:r>
            <a:r>
              <a:rPr lang="en-IN" sz="2200" dirty="0">
                <a:latin typeface="Times New Roman" panose="02020603050405020304" pitchFamily="18" charset="0"/>
                <a:cs typeface="Times New Roman" panose="02020603050405020304" pitchFamily="18" charset="0"/>
              </a:rPr>
              <a:t> Analyzing past data to forecast future demand.</a:t>
            </a:r>
          </a:p>
          <a:p>
            <a:pPr lvl="1"/>
            <a:r>
              <a:rPr lang="en-IN" sz="2200" b="1" dirty="0">
                <a:latin typeface="Times New Roman" panose="02020603050405020304" pitchFamily="18" charset="0"/>
                <a:cs typeface="Times New Roman" panose="02020603050405020304" pitchFamily="18" charset="0"/>
              </a:rPr>
              <a:t>Traditional Data Warehousing:</a:t>
            </a:r>
            <a:r>
              <a:rPr lang="en-IN" sz="2200" dirty="0">
                <a:latin typeface="Times New Roman" panose="02020603050405020304" pitchFamily="18" charset="0"/>
                <a:cs typeface="Times New Roman" panose="02020603050405020304" pitchFamily="18" charset="0"/>
              </a:rPr>
              <a:t> Storing and managing large amounts of structured data for later analysis.</a:t>
            </a:r>
          </a:p>
          <a:p>
            <a:pPr marL="457200" lvl="0" indent="-457200">
              <a:buFont typeface="+mj-lt"/>
              <a:buAutoNum type="arabicPeriod"/>
            </a:pPr>
            <a:r>
              <a:rPr lang="en-IN" sz="2200" b="1" dirty="0">
                <a:latin typeface="Times New Roman" panose="02020603050405020304" pitchFamily="18" charset="0"/>
                <a:cs typeface="Times New Roman" panose="02020603050405020304" pitchFamily="18" charset="0"/>
              </a:rPr>
              <a:t>Semi-Structured + Real-time:</a:t>
            </a:r>
            <a:endParaRPr lang="en-IN" sz="2200" dirty="0">
              <a:latin typeface="Times New Roman" panose="02020603050405020304" pitchFamily="18" charset="0"/>
              <a:cs typeface="Times New Roman" panose="02020603050405020304" pitchFamily="18" charset="0"/>
            </a:endParaRPr>
          </a:p>
          <a:p>
            <a:pPr lvl="1"/>
            <a:r>
              <a:rPr lang="en-IN" sz="2200" b="1" dirty="0">
                <a:latin typeface="Times New Roman" panose="02020603050405020304" pitchFamily="18" charset="0"/>
                <a:cs typeface="Times New Roman" panose="02020603050405020304" pitchFamily="18" charset="0"/>
              </a:rPr>
              <a:t>Social Media Sentiment Analysis</a:t>
            </a:r>
            <a:r>
              <a:rPr lang="en-IN" sz="2200" dirty="0">
                <a:latin typeface="Times New Roman" panose="02020603050405020304" pitchFamily="18" charset="0"/>
                <a:cs typeface="Times New Roman" panose="02020603050405020304" pitchFamily="18" charset="0"/>
              </a:rPr>
              <a:t>: Analyzing social media posts in real-time to understand public sentiment.</a:t>
            </a:r>
          </a:p>
          <a:p>
            <a:pPr marL="457200" lvl="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Semi-Structured + Batch:</a:t>
            </a:r>
            <a:endParaRPr lang="en-IN" sz="2200" dirty="0">
              <a:solidFill>
                <a:schemeClr val="tx1"/>
              </a:solidFill>
              <a:latin typeface="Times New Roman" panose="02020603050405020304" pitchFamily="18" charset="0"/>
              <a:cs typeface="Times New Roman" panose="02020603050405020304" pitchFamily="18" charset="0"/>
            </a:endParaRPr>
          </a:p>
          <a:p>
            <a:pPr lvl="1"/>
            <a:r>
              <a:rPr lang="en-IN" sz="2200" b="1" dirty="0">
                <a:solidFill>
                  <a:schemeClr val="tx1"/>
                </a:solidFill>
                <a:latin typeface="Times New Roman" panose="02020603050405020304" pitchFamily="18" charset="0"/>
                <a:cs typeface="Times New Roman" panose="02020603050405020304" pitchFamily="18" charset="0"/>
              </a:rPr>
              <a:t>Disease Analysis on Electronic Health Records:</a:t>
            </a:r>
            <a:r>
              <a:rPr lang="en-IN" sz="2200" dirty="0">
                <a:solidFill>
                  <a:schemeClr val="tx1"/>
                </a:solidFill>
                <a:latin typeface="Times New Roman" panose="02020603050405020304" pitchFamily="18" charset="0"/>
                <a:cs typeface="Times New Roman" panose="02020603050405020304" pitchFamily="18" charset="0"/>
              </a:rPr>
              <a:t> Using health records to analyze diseases over time.</a:t>
            </a:r>
          </a:p>
          <a:p>
            <a:pPr lvl="1"/>
            <a:r>
              <a:rPr lang="en-IN" sz="2200" dirty="0">
                <a:solidFill>
                  <a:schemeClr val="tx1"/>
                </a:solidFill>
                <a:latin typeface="Times New Roman" panose="02020603050405020304" pitchFamily="18" charset="0"/>
                <a:cs typeface="Times New Roman" panose="02020603050405020304" pitchFamily="18" charset="0"/>
              </a:rPr>
              <a:t>Text Mining: Extracting information from text data, often done in batches.</a:t>
            </a:r>
          </a:p>
          <a:p>
            <a:pPr marL="457200" lvl="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Unstructured + Batch:</a:t>
            </a:r>
            <a:endParaRPr lang="en-IN" sz="2200" dirty="0">
              <a:solidFill>
                <a:schemeClr val="tx1"/>
              </a:solidFill>
              <a:latin typeface="Times New Roman" panose="02020603050405020304" pitchFamily="18" charset="0"/>
              <a:cs typeface="Times New Roman" panose="02020603050405020304" pitchFamily="18" charset="0"/>
            </a:endParaRPr>
          </a:p>
          <a:p>
            <a:pPr lvl="1"/>
            <a:r>
              <a:rPr lang="en-IN" sz="2200" b="1" dirty="0">
                <a:solidFill>
                  <a:schemeClr val="tx1"/>
                </a:solidFill>
                <a:latin typeface="Times New Roman" panose="02020603050405020304" pitchFamily="18" charset="0"/>
                <a:cs typeface="Times New Roman" panose="02020603050405020304" pitchFamily="18" charset="0"/>
              </a:rPr>
              <a:t>Video Surveillance/Analysis:</a:t>
            </a:r>
            <a:r>
              <a:rPr lang="en-IN" sz="2200" dirty="0">
                <a:solidFill>
                  <a:schemeClr val="tx1"/>
                </a:solidFill>
                <a:latin typeface="Times New Roman" panose="02020603050405020304" pitchFamily="18" charset="0"/>
                <a:cs typeface="Times New Roman" panose="02020603050405020304" pitchFamily="18" charset="0"/>
              </a:rPr>
              <a:t> Analyzing video footage, usually done after the fact in batches.</a:t>
            </a:r>
          </a:p>
          <a:p>
            <a:endParaRPr lang="en-IN" dirty="0"/>
          </a:p>
        </p:txBody>
      </p:sp>
    </p:spTree>
    <p:extLst>
      <p:ext uri="{BB962C8B-B14F-4D97-AF65-F5344CB8AC3E}">
        <p14:creationId xmlns:p14="http://schemas.microsoft.com/office/powerpoint/2010/main" val="36509244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C34D2-CFD6-1771-4923-115328B9B18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Data Repositories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7260CD9-FC98-4F6E-3E59-8A18FF2CE9ED}"/>
              </a:ext>
            </a:extLst>
          </p:cNvPr>
          <p:cNvSpPr>
            <a:spLocks noGrp="1"/>
          </p:cNvSpPr>
          <p:nvPr>
            <p:ph idx="1"/>
          </p:nvPr>
        </p:nvSpPr>
        <p:spPr>
          <a:xfrm>
            <a:off x="1295401" y="2556932"/>
            <a:ext cx="5311876" cy="3318936"/>
          </a:xfrm>
        </p:spPr>
        <p:txBody>
          <a:bodyPr/>
          <a:lstStyle/>
          <a:p>
            <a:r>
              <a:rPr lang="en-IN" sz="2200" b="1" dirty="0">
                <a:latin typeface="Times New Roman" panose="02020603050405020304" pitchFamily="18" charset="0"/>
                <a:cs typeface="Times New Roman" panose="02020603050405020304" pitchFamily="18" charset="0"/>
              </a:rPr>
              <a:t>Spreadsheets and Their Use:</a:t>
            </a:r>
            <a:endParaRPr lang="en-IN" sz="2200" dirty="0">
              <a:latin typeface="Times New Roman" panose="02020603050405020304" pitchFamily="18" charset="0"/>
              <a:cs typeface="Times New Roman" panose="02020603050405020304" pitchFamily="18" charset="0"/>
            </a:endParaRPr>
          </a:p>
          <a:p>
            <a:pPr marL="457200" lvl="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Spreadsheets </a:t>
            </a:r>
            <a:r>
              <a:rPr lang="en-IN" sz="2200" b="1" dirty="0">
                <a:solidFill>
                  <a:schemeClr val="tx1"/>
                </a:solidFill>
                <a:latin typeface="Times New Roman" panose="02020603050405020304" pitchFamily="18" charset="0"/>
                <a:cs typeface="Times New Roman" panose="02020603050405020304" pitchFamily="18" charset="0"/>
              </a:rPr>
              <a:t>Enabled Business Users</a:t>
            </a:r>
            <a:r>
              <a:rPr lang="en-IN" sz="2200" dirty="0">
                <a:solidFill>
                  <a:schemeClr val="tx1"/>
                </a:solidFill>
                <a:latin typeface="Times New Roman" panose="02020603050405020304" pitchFamily="18" charset="0"/>
                <a:cs typeface="Times New Roman" panose="02020603050405020304" pitchFamily="18" charset="0"/>
              </a:rPr>
              <a:t>:</a:t>
            </a:r>
          </a:p>
          <a:p>
            <a:pPr marL="457200" indent="-457200">
              <a:buFont typeface="+mj-lt"/>
              <a:buAutoNum type="arabicPeriod"/>
            </a:pPr>
            <a:r>
              <a:rPr lang="en-IN" sz="2200" b="1" dirty="0">
                <a:solidFill>
                  <a:schemeClr val="tx1"/>
                </a:solidFill>
                <a:latin typeface="Times New Roman" panose="02020603050405020304" pitchFamily="18" charset="0"/>
                <a:cs typeface="Times New Roman" panose="02020603050405020304" pitchFamily="18" charset="0"/>
              </a:rPr>
              <a:t>Does Not </a:t>
            </a:r>
            <a:r>
              <a:rPr lang="en-IN" sz="2200" dirty="0">
                <a:solidFill>
                  <a:schemeClr val="tx1"/>
                </a:solidFill>
                <a:latin typeface="Times New Roman" panose="02020603050405020304" pitchFamily="18" charset="0"/>
                <a:cs typeface="Times New Roman" panose="02020603050405020304" pitchFamily="18" charset="0"/>
              </a:rPr>
              <a:t>Require </a:t>
            </a:r>
            <a:r>
              <a:rPr lang="en-IN" sz="2200" b="1" dirty="0">
                <a:solidFill>
                  <a:schemeClr val="tx1"/>
                </a:solidFill>
                <a:latin typeface="Times New Roman" panose="02020603050405020304" pitchFamily="18" charset="0"/>
                <a:cs typeface="Times New Roman" panose="02020603050405020304" pitchFamily="18" charset="0"/>
              </a:rPr>
              <a:t>database Training:</a:t>
            </a:r>
          </a:p>
          <a:p>
            <a:pPr marL="45720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Can Be </a:t>
            </a:r>
            <a:r>
              <a:rPr lang="en-IN" sz="2200" b="1" dirty="0">
                <a:solidFill>
                  <a:schemeClr val="tx1"/>
                </a:solidFill>
                <a:latin typeface="Times New Roman" panose="02020603050405020304" pitchFamily="18" charset="0"/>
                <a:cs typeface="Times New Roman" panose="02020603050405020304" pitchFamily="18" charset="0"/>
              </a:rPr>
              <a:t>Set Up Quick</a:t>
            </a:r>
            <a:r>
              <a:rPr lang="en-IN" sz="2200" dirty="0">
                <a:solidFill>
                  <a:schemeClr val="tx1"/>
                </a:solidFill>
                <a:latin typeface="Times New Roman" panose="02020603050405020304" pitchFamily="18" charset="0"/>
                <a:cs typeface="Times New Roman" panose="02020603050405020304" pitchFamily="18" charset="0"/>
              </a:rPr>
              <a:t>ly:</a:t>
            </a:r>
          </a:p>
          <a:p>
            <a:pPr marL="45720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Easy to </a:t>
            </a:r>
            <a:r>
              <a:rPr lang="en-IN" sz="2200" b="1" dirty="0">
                <a:solidFill>
                  <a:schemeClr val="tx1"/>
                </a:solidFill>
                <a:latin typeface="Times New Roman" panose="02020603050405020304" pitchFamily="18" charset="0"/>
                <a:cs typeface="Times New Roman" panose="02020603050405020304" pitchFamily="18" charset="0"/>
              </a:rPr>
              <a:t>Share</a:t>
            </a:r>
            <a:r>
              <a:rPr lang="en-IN" sz="2200" dirty="0">
                <a:solidFill>
                  <a:schemeClr val="tx1"/>
                </a:solidFill>
                <a:latin typeface="Times New Roman" panose="02020603050405020304" pitchFamily="18" charset="0"/>
                <a:cs typeface="Times New Roman" panose="02020603050405020304" pitchFamily="18" charset="0"/>
              </a:rPr>
              <a:t>:</a:t>
            </a:r>
          </a:p>
          <a:p>
            <a:pPr marL="457200" indent="-457200">
              <a:buFont typeface="+mj-lt"/>
              <a:buAutoNum type="arabicPeriod"/>
            </a:pPr>
            <a:r>
              <a:rPr lang="en-IN" sz="2200" dirty="0">
                <a:solidFill>
                  <a:schemeClr val="tx1"/>
                </a:solidFill>
                <a:latin typeface="Times New Roman" panose="02020603050405020304" pitchFamily="18" charset="0"/>
                <a:cs typeface="Times New Roman" panose="02020603050405020304" pitchFamily="18" charset="0"/>
              </a:rPr>
              <a:t>End Users have </a:t>
            </a:r>
            <a:r>
              <a:rPr lang="en-IN" sz="2200" b="1" dirty="0">
                <a:solidFill>
                  <a:schemeClr val="tx1"/>
                </a:solidFill>
                <a:latin typeface="Times New Roman" panose="02020603050405020304" pitchFamily="18" charset="0"/>
                <a:cs typeface="Times New Roman" panose="02020603050405020304" pitchFamily="18" charset="0"/>
              </a:rPr>
              <a:t>Control Over the Logic</a:t>
            </a:r>
            <a:r>
              <a:rPr lang="en-IN" sz="2200" dirty="0">
                <a:solidFill>
                  <a:schemeClr val="tx1"/>
                </a:solidFill>
                <a:latin typeface="Times New Roman" panose="02020603050405020304" pitchFamily="18" charset="0"/>
                <a:cs typeface="Times New Roman" panose="02020603050405020304" pitchFamily="18" charset="0"/>
              </a:rPr>
              <a:t>:</a:t>
            </a:r>
          </a:p>
          <a:p>
            <a:pPr marL="457200" lvl="0" indent="-457200">
              <a:buFont typeface="+mj-lt"/>
              <a:buAutoNum type="arabicPeriod"/>
            </a:pPr>
            <a:endParaRPr lang="en-IN" sz="2200" dirty="0">
              <a:latin typeface="Times New Roman" panose="02020603050405020304" pitchFamily="18" charset="0"/>
              <a:cs typeface="Times New Roman" panose="02020603050405020304" pitchFamily="18" charset="0"/>
            </a:endParaRPr>
          </a:p>
          <a:p>
            <a:endParaRPr lang="en-IN" dirty="0"/>
          </a:p>
        </p:txBody>
      </p:sp>
      <p:sp>
        <p:nvSpPr>
          <p:cNvPr id="4" name="Content Placeholder 2">
            <a:extLst>
              <a:ext uri="{FF2B5EF4-FFF2-40B4-BE49-F238E27FC236}">
                <a16:creationId xmlns:a16="http://schemas.microsoft.com/office/drawing/2014/main" id="{AA229703-6046-1B32-1473-D8421DAA1228}"/>
              </a:ext>
            </a:extLst>
          </p:cNvPr>
          <p:cNvSpPr txBox="1">
            <a:spLocks/>
          </p:cNvSpPr>
          <p:nvPr/>
        </p:nvSpPr>
        <p:spPr>
          <a:xfrm>
            <a:off x="6607277" y="2556932"/>
            <a:ext cx="5311876" cy="3318936"/>
          </a:xfrm>
          <a:prstGeom prst="rect">
            <a:avLst/>
          </a:prstGeom>
        </p:spPr>
        <p:txBody>
          <a:bodyPr vert="horz" lIns="91440" tIns="45720" rIns="91440" bIns="45720" rtlCol="0" anchor="t">
            <a:normAutofit/>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r>
              <a:rPr lang="en-IN" sz="2200" b="1" dirty="0">
                <a:latin typeface="Times New Roman" panose="02020603050405020304" pitchFamily="18" charset="0"/>
                <a:cs typeface="Times New Roman" panose="02020603050405020304" pitchFamily="18" charset="0"/>
              </a:rPr>
              <a:t>Challenges with Spreadsheets:</a:t>
            </a:r>
            <a:endParaRPr lang="en-IN" sz="22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"Many Versions of the Truth":</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Challenging to Determine the Most Relevant Version:</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Data and Logic Could Be Lost:</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Proliferation of Data Islands:</a:t>
            </a:r>
          </a:p>
          <a:p>
            <a:pPr marL="457200" indent="-457200">
              <a:buFont typeface="+mj-lt"/>
              <a:buAutoNum type="arabicPeriod"/>
            </a:pPr>
            <a:r>
              <a:rPr lang="en-IN" sz="2200" dirty="0">
                <a:latin typeface="Times New Roman" panose="02020603050405020304" pitchFamily="18" charset="0"/>
                <a:cs typeface="Times New Roman" panose="02020603050405020304" pitchFamily="18" charset="0"/>
              </a:rPr>
              <a:t>Unscalable:</a:t>
            </a:r>
          </a:p>
          <a:p>
            <a:pPr marL="457200" indent="-457200">
              <a:buFont typeface="+mj-lt"/>
              <a:buAutoNum type="arabicPeriod"/>
            </a:pPr>
            <a:endParaRPr lang="en-IN" sz="22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IN" sz="2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28157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68D71-3743-A746-4FE1-E8418B233DC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Enterprise Data Warehouse</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D37178-AAE7-A482-AADC-EDEBC13C9226}"/>
              </a:ext>
            </a:extLst>
          </p:cNvPr>
          <p:cNvSpPr>
            <a:spLocks noGrp="1"/>
          </p:cNvSpPr>
          <p:nvPr>
            <p:ph idx="1"/>
          </p:nvPr>
        </p:nvSpPr>
        <p:spPr/>
        <p:txBody>
          <a:bodyPr/>
          <a:lstStyle/>
          <a:p>
            <a:r>
              <a:rPr lang="en-IN" sz="2200" dirty="0">
                <a:latin typeface="Times New Roman" panose="02020603050405020304" pitchFamily="18" charset="0"/>
                <a:cs typeface="Times New Roman" panose="02020603050405020304" pitchFamily="18" charset="0"/>
              </a:rPr>
              <a:t>An </a:t>
            </a:r>
            <a:r>
              <a:rPr lang="en-IN" sz="2200" b="1" dirty="0">
                <a:latin typeface="Times New Roman" panose="02020603050405020304" pitchFamily="18" charset="0"/>
                <a:cs typeface="Times New Roman" panose="02020603050405020304" pitchFamily="18" charset="0"/>
              </a:rPr>
              <a:t>Enterprise Data Warehouse </a:t>
            </a:r>
            <a:r>
              <a:rPr lang="en-IN" sz="2200" dirty="0">
                <a:latin typeface="Times New Roman" panose="02020603050405020304" pitchFamily="18" charset="0"/>
                <a:cs typeface="Times New Roman" panose="02020603050405020304" pitchFamily="18" charset="0"/>
              </a:rPr>
              <a:t>is a large system </a:t>
            </a:r>
            <a:r>
              <a:rPr lang="en-IN" sz="2200" b="1" dirty="0">
                <a:latin typeface="Times New Roman" panose="02020603050405020304" pitchFamily="18" charset="0"/>
                <a:cs typeface="Times New Roman" panose="02020603050405020304" pitchFamily="18" charset="0"/>
              </a:rPr>
              <a:t>that stores all of a company's data in one central place.</a:t>
            </a:r>
            <a:r>
              <a:rPr lang="en-IN" sz="2200" dirty="0">
                <a:latin typeface="Times New Roman" panose="02020603050405020304" pitchFamily="18" charset="0"/>
                <a:cs typeface="Times New Roman" panose="02020603050405020304" pitchFamily="18" charset="0"/>
              </a:rPr>
              <a:t> It's designed to help </a:t>
            </a:r>
            <a:r>
              <a:rPr lang="en-IN" sz="2200" b="1" dirty="0">
                <a:latin typeface="Times New Roman" panose="02020603050405020304" pitchFamily="18" charset="0"/>
                <a:cs typeface="Times New Roman" panose="02020603050405020304" pitchFamily="18" charset="0"/>
              </a:rPr>
              <a:t>businesses manage, analyze</a:t>
            </a:r>
            <a:r>
              <a:rPr lang="en-IN" sz="2200" dirty="0">
                <a:latin typeface="Times New Roman" panose="02020603050405020304" pitchFamily="18" charset="0"/>
                <a:cs typeface="Times New Roman" panose="02020603050405020304" pitchFamily="18" charset="0"/>
              </a:rPr>
              <a:t>, and </a:t>
            </a:r>
            <a:r>
              <a:rPr lang="en-IN" sz="2200" b="1" dirty="0">
                <a:latin typeface="Times New Roman" panose="02020603050405020304" pitchFamily="18" charset="0"/>
                <a:cs typeface="Times New Roman" panose="02020603050405020304" pitchFamily="18" charset="0"/>
              </a:rPr>
              <a:t>report</a:t>
            </a: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on</a:t>
            </a:r>
            <a:r>
              <a:rPr lang="en-IN" sz="2200" dirty="0">
                <a:latin typeface="Times New Roman" panose="02020603050405020304" pitchFamily="18" charset="0"/>
                <a:cs typeface="Times New Roman" panose="02020603050405020304" pitchFamily="18" charset="0"/>
              </a:rPr>
              <a:t> their </a:t>
            </a:r>
            <a:r>
              <a:rPr lang="en-IN" sz="2200" b="1" dirty="0">
                <a:latin typeface="Times New Roman" panose="02020603050405020304" pitchFamily="18" charset="0"/>
                <a:cs typeface="Times New Roman" panose="02020603050405020304" pitchFamily="18" charset="0"/>
              </a:rPr>
              <a:t>data </a:t>
            </a:r>
            <a:r>
              <a:rPr lang="en-IN" sz="2200" dirty="0">
                <a:latin typeface="Times New Roman" panose="02020603050405020304" pitchFamily="18" charset="0"/>
                <a:cs typeface="Times New Roman" panose="02020603050405020304" pitchFamily="18" charset="0"/>
              </a:rPr>
              <a:t>efficiently.</a:t>
            </a:r>
          </a:p>
          <a:p>
            <a:r>
              <a:rPr lang="en-IN" sz="2200" b="1" dirty="0">
                <a:latin typeface="Times New Roman" panose="02020603050405020304" pitchFamily="18" charset="0"/>
                <a:cs typeface="Times New Roman" panose="02020603050405020304" pitchFamily="18" charset="0"/>
              </a:rPr>
              <a:t>Why</a:t>
            </a:r>
            <a:r>
              <a:rPr lang="en-IN" sz="2200" dirty="0">
                <a:latin typeface="Times New Roman" panose="02020603050405020304" pitchFamily="18" charset="0"/>
                <a:cs typeface="Times New Roman" panose="02020603050405020304" pitchFamily="18" charset="0"/>
              </a:rPr>
              <a:t> </a:t>
            </a:r>
            <a:r>
              <a:rPr lang="en-IN" sz="2200" b="1" dirty="0">
                <a:latin typeface="Times New Roman" panose="02020603050405020304" pitchFamily="18" charset="0"/>
                <a:cs typeface="Times New Roman" panose="02020603050405020304" pitchFamily="18" charset="0"/>
              </a:rPr>
              <a:t>use</a:t>
            </a:r>
            <a:r>
              <a:rPr lang="en-IN" sz="2200" dirty="0">
                <a:latin typeface="Times New Roman" panose="02020603050405020304" pitchFamily="18" charset="0"/>
                <a:cs typeface="Times New Roman" panose="02020603050405020304" pitchFamily="18" charset="0"/>
              </a:rPr>
              <a:t> an </a:t>
            </a:r>
            <a:r>
              <a:rPr lang="en-IN" sz="2200" b="1" dirty="0">
                <a:latin typeface="Times New Roman" panose="02020603050405020304" pitchFamily="18" charset="0"/>
                <a:cs typeface="Times New Roman" panose="02020603050405020304" pitchFamily="18" charset="0"/>
              </a:rPr>
              <a:t>EDW’s</a:t>
            </a:r>
            <a:r>
              <a:rPr lang="en-IN" sz="2200" dirty="0">
                <a:latin typeface="Times New Roman" panose="02020603050405020304" pitchFamily="18" charset="0"/>
                <a:cs typeface="Times New Roman" panose="02020603050405020304" pitchFamily="18" charset="0"/>
              </a:rPr>
              <a:t>?</a:t>
            </a:r>
          </a:p>
          <a:p>
            <a:r>
              <a:rPr lang="en-IN" sz="2200" dirty="0">
                <a:solidFill>
                  <a:schemeClr val="tx1"/>
                </a:solidFill>
                <a:latin typeface="Times New Roman" panose="02020603050405020304" pitchFamily="18" charset="0"/>
                <a:cs typeface="Times New Roman" panose="02020603050405020304" pitchFamily="18" charset="0"/>
              </a:rPr>
              <a:t>Companies often have data scattered across different departments and systems.  An </a:t>
            </a:r>
            <a:r>
              <a:rPr lang="en-IN" sz="2200" b="1" dirty="0">
                <a:solidFill>
                  <a:schemeClr val="tx1"/>
                </a:solidFill>
                <a:latin typeface="Times New Roman" panose="02020603050405020304" pitchFamily="18" charset="0"/>
                <a:cs typeface="Times New Roman" panose="02020603050405020304" pitchFamily="18" charset="0"/>
              </a:rPr>
              <a:t>EDW</a:t>
            </a:r>
            <a:r>
              <a:rPr lang="en-IN" sz="2200" dirty="0">
                <a:solidFill>
                  <a:schemeClr val="tx1"/>
                </a:solidFill>
                <a:latin typeface="Times New Roman" panose="02020603050405020304" pitchFamily="18" charset="0"/>
                <a:cs typeface="Times New Roman" panose="02020603050405020304" pitchFamily="18" charset="0"/>
              </a:rPr>
              <a:t> </a:t>
            </a:r>
            <a:r>
              <a:rPr lang="en-IN" sz="2200" b="1" dirty="0">
                <a:solidFill>
                  <a:schemeClr val="tx1"/>
                </a:solidFill>
                <a:latin typeface="Times New Roman" panose="02020603050405020304" pitchFamily="18" charset="0"/>
                <a:cs typeface="Times New Roman" panose="02020603050405020304" pitchFamily="18" charset="0"/>
              </a:rPr>
              <a:t>brings all this data together </a:t>
            </a:r>
            <a:r>
              <a:rPr lang="en-IN" sz="2200" dirty="0">
                <a:solidFill>
                  <a:schemeClr val="tx1"/>
                </a:solidFill>
                <a:latin typeface="Times New Roman" panose="02020603050405020304" pitchFamily="18" charset="0"/>
                <a:cs typeface="Times New Roman" panose="02020603050405020304" pitchFamily="18" charset="0"/>
              </a:rPr>
              <a:t>in one place,</a:t>
            </a:r>
            <a:r>
              <a:rPr lang="en-IN" sz="2200" dirty="0">
                <a:latin typeface="Times New Roman" panose="02020603050405020304" pitchFamily="18" charset="0"/>
                <a:cs typeface="Times New Roman" panose="02020603050405020304" pitchFamily="18" charset="0"/>
              </a:rPr>
              <a:t> </a:t>
            </a:r>
            <a:r>
              <a:rPr lang="en-IN" sz="2200" dirty="0">
                <a:solidFill>
                  <a:schemeClr val="tx1"/>
                </a:solidFill>
                <a:latin typeface="Times New Roman" panose="02020603050405020304" pitchFamily="18" charset="0"/>
                <a:cs typeface="Times New Roman" panose="02020603050405020304" pitchFamily="18" charset="0"/>
              </a:rPr>
              <a:t>making it </a:t>
            </a:r>
            <a:r>
              <a:rPr lang="en-IN" sz="2200" b="1" dirty="0">
                <a:solidFill>
                  <a:schemeClr val="tx1"/>
                </a:solidFill>
                <a:latin typeface="Times New Roman" panose="02020603050405020304" pitchFamily="18" charset="0"/>
                <a:cs typeface="Times New Roman" panose="02020603050405020304" pitchFamily="18" charset="0"/>
              </a:rPr>
              <a:t>easier to access</a:t>
            </a:r>
            <a:r>
              <a:rPr lang="en-IN" sz="2200" dirty="0">
                <a:solidFill>
                  <a:schemeClr val="tx1"/>
                </a:solidFill>
                <a:latin typeface="Times New Roman" panose="02020603050405020304" pitchFamily="18" charset="0"/>
                <a:cs typeface="Times New Roman" panose="02020603050405020304" pitchFamily="18" charset="0"/>
              </a:rPr>
              <a:t>, </a:t>
            </a:r>
            <a:r>
              <a:rPr lang="en-IN" sz="2200" b="1" dirty="0">
                <a:solidFill>
                  <a:schemeClr val="tx1"/>
                </a:solidFill>
                <a:latin typeface="Times New Roman" panose="02020603050405020304" pitchFamily="18" charset="0"/>
                <a:cs typeface="Times New Roman" panose="02020603050405020304" pitchFamily="18" charset="0"/>
              </a:rPr>
              <a:t>analyze</a:t>
            </a:r>
            <a:r>
              <a:rPr lang="en-IN" sz="2200" dirty="0">
                <a:solidFill>
                  <a:schemeClr val="tx1"/>
                </a:solidFill>
                <a:latin typeface="Times New Roman" panose="02020603050405020304" pitchFamily="18" charset="0"/>
                <a:cs typeface="Times New Roman" panose="02020603050405020304" pitchFamily="18" charset="0"/>
              </a:rPr>
              <a:t>, and </a:t>
            </a:r>
            <a:r>
              <a:rPr lang="en-IN" sz="2200" b="1" dirty="0">
                <a:solidFill>
                  <a:schemeClr val="tx1"/>
                </a:solidFill>
                <a:latin typeface="Times New Roman" panose="02020603050405020304" pitchFamily="18" charset="0"/>
                <a:cs typeface="Times New Roman" panose="02020603050405020304" pitchFamily="18" charset="0"/>
              </a:rPr>
              <a:t>make decisions based on </a:t>
            </a:r>
            <a:r>
              <a:rPr lang="en-IN" sz="2200" dirty="0">
                <a:solidFill>
                  <a:schemeClr val="tx1"/>
                </a:solidFill>
                <a:latin typeface="Times New Roman" panose="02020603050405020304" pitchFamily="18" charset="0"/>
                <a:cs typeface="Times New Roman" panose="02020603050405020304" pitchFamily="18" charset="0"/>
              </a:rPr>
              <a:t>the full picture.</a:t>
            </a:r>
          </a:p>
          <a:p>
            <a:endParaRPr lang="en-IN" sz="2200" dirty="0">
              <a:solidFill>
                <a:schemeClr val="tx1"/>
              </a:solidFill>
              <a:latin typeface="Times New Roman" panose="02020603050405020304" pitchFamily="18" charset="0"/>
              <a:cs typeface="Times New Roman" panose="02020603050405020304" pitchFamily="18" charset="0"/>
            </a:endParaRPr>
          </a:p>
          <a:p>
            <a:endParaRPr lang="en-IN" sz="22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6765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C68F8-0D72-00C6-5197-7AB9BEB59A1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Advantages of EDW</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60F50A-05BE-B395-A57C-A32FD0A3DB1D}"/>
              </a:ext>
            </a:extLst>
          </p:cNvPr>
          <p:cNvSpPr>
            <a:spLocks noGrp="1"/>
          </p:cNvSpPr>
          <p:nvPr>
            <p:ph idx="1"/>
          </p:nvPr>
        </p:nvSpPr>
        <p:spPr/>
        <p:txBody>
          <a:bodyPr/>
          <a:lstStyle/>
          <a:p>
            <a:pPr marL="457200" indent="-457200">
              <a:buFont typeface="+mj-lt"/>
              <a:buAutoNum type="arabicPeriod"/>
            </a:pPr>
            <a:r>
              <a:rPr lang="en-US" dirty="0">
                <a:solidFill>
                  <a:schemeClr val="tx1"/>
                </a:solidFill>
                <a:latin typeface="Times New Roman" panose="02020603050405020304" pitchFamily="18" charset="0"/>
                <a:cs typeface="Times New Roman" panose="02020603050405020304" pitchFamily="18" charset="0"/>
              </a:rPr>
              <a:t>Scalable </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Data Managed Centrally:</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Benefits of Security, Failover, &amp; Single Repository:</a:t>
            </a:r>
          </a:p>
          <a:p>
            <a:pPr marL="457200" indent="-457200">
              <a:buFont typeface="+mj-lt"/>
              <a:buAutoNum type="arabicPeriod"/>
            </a:pPr>
            <a:r>
              <a:rPr lang="en-IN" dirty="0">
                <a:solidFill>
                  <a:schemeClr val="tx1"/>
                </a:solidFill>
                <a:latin typeface="Times New Roman" panose="02020603050405020304" pitchFamily="18" charset="0"/>
                <a:cs typeface="Times New Roman" panose="02020603050405020304" pitchFamily="18" charset="0"/>
              </a:rPr>
              <a:t>Data Accuracy:</a:t>
            </a:r>
          </a:p>
          <a:p>
            <a:pPr marL="457200" indent="-457200">
              <a:buFont typeface="+mj-lt"/>
              <a:buAutoNum type="arabicPeriod"/>
            </a:pPr>
            <a:endParaRPr lang="en-IN"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41562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DFAFB-953D-6DEC-7D6C-174A55B75026}"/>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Disadvantages  of EDW</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204431-8B16-BCA5-F0C0-20A49F110297}"/>
              </a:ext>
            </a:extLst>
          </p:cNvPr>
          <p:cNvSpPr>
            <a:spLocks noGrp="1"/>
          </p:cNvSpPr>
          <p:nvPr>
            <p:ph idx="1"/>
          </p:nvPr>
        </p:nvSpPr>
        <p:spPr/>
        <p:txBody>
          <a:bodyPr/>
          <a:lstStyle/>
          <a:p>
            <a:pPr marL="457200" indent="-457200">
              <a:buFont typeface="+mj-lt"/>
              <a:buAutoNum type="arabicPeriod"/>
            </a:pPr>
            <a:r>
              <a:rPr lang="en-IN" dirty="0">
                <a:latin typeface="Times New Roman" panose="02020603050405020304" pitchFamily="18" charset="0"/>
                <a:cs typeface="Times New Roman" panose="02020603050405020304" pitchFamily="18" charset="0"/>
              </a:rPr>
              <a:t>Restrict the Flexibility Needed for Robust or Exploratory Data Analysis:</a:t>
            </a:r>
          </a:p>
          <a:p>
            <a:pPr marL="457200" indent="-457200">
              <a:buFont typeface="+mj-lt"/>
              <a:buAutoNum type="arabicPeriod"/>
            </a:pPr>
            <a:r>
              <a:rPr lang="en-IN" dirty="0">
                <a:latin typeface="Times New Roman" panose="02020603050405020304" pitchFamily="18" charset="0"/>
                <a:cs typeface="Times New Roman" panose="02020603050405020304" pitchFamily="18" charset="0"/>
              </a:rPr>
              <a:t>Longer Lead Times:</a:t>
            </a:r>
          </a:p>
          <a:p>
            <a:pPr marL="457200" indent="-457200">
              <a:buFont typeface="+mj-lt"/>
              <a:buAutoNum type="arabicPeriod"/>
            </a:pPr>
            <a:r>
              <a:rPr lang="en-IN" dirty="0">
                <a:latin typeface="Times New Roman" panose="02020603050405020304" pitchFamily="18" charset="0"/>
                <a:cs typeface="Times New Roman" panose="02020603050405020304" pitchFamily="18" charset="0"/>
              </a:rPr>
              <a:t>EDW Rules Restrict Analysts from Building Datasets:</a:t>
            </a:r>
          </a:p>
          <a:p>
            <a:pPr marL="457200" indent="-457200">
              <a:buFont typeface="+mj-lt"/>
              <a:buAutoNum type="arabicPeriod"/>
            </a:pPr>
            <a:r>
              <a:rPr lang="en-IN" dirty="0">
                <a:latin typeface="Times New Roman" panose="02020603050405020304" pitchFamily="18" charset="0"/>
                <a:cs typeface="Times New Roman" panose="02020603050405020304" pitchFamily="18" charset="0"/>
              </a:rPr>
              <a:t>Dislike of Outside Data Existence by IT Groups:</a:t>
            </a:r>
          </a:p>
          <a:p>
            <a:pPr marL="0" indent="0">
              <a:buNone/>
            </a:pPr>
            <a:endParaRPr lang="en-IN" dirty="0"/>
          </a:p>
        </p:txBody>
      </p:sp>
    </p:spTree>
    <p:extLst>
      <p:ext uri="{BB962C8B-B14F-4D97-AF65-F5344CB8AC3E}">
        <p14:creationId xmlns:p14="http://schemas.microsoft.com/office/powerpoint/2010/main" val="1576724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A0CE1-E4A4-40D1-F421-B0F4C93FC2CF}"/>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Analytic Sandbox (Workspaces):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E2D969-2D37-B577-672F-CE2C1256C2F0}"/>
              </a:ext>
            </a:extLst>
          </p:cNvPr>
          <p:cNvSpPr>
            <a:spLocks noGrp="1"/>
          </p:cNvSpPr>
          <p:nvPr>
            <p:ph idx="1"/>
          </p:nvPr>
        </p:nvSpPr>
        <p:spPr>
          <a:xfrm>
            <a:off x="1295400" y="2556932"/>
            <a:ext cx="9903541" cy="3755378"/>
          </a:xfrm>
        </p:spPr>
        <p:txBody>
          <a:bodyPr>
            <a:normAutofit fontScale="70000" lnSpcReduction="20000"/>
          </a:bodyPr>
          <a:lstStyle/>
          <a:p>
            <a:r>
              <a:rPr lang="en-IN" sz="3100" b="1" dirty="0">
                <a:solidFill>
                  <a:schemeClr val="tx1"/>
                </a:solidFill>
                <a:latin typeface="Times New Roman" panose="02020603050405020304" pitchFamily="18" charset="0"/>
                <a:cs typeface="Times New Roman" panose="02020603050405020304" pitchFamily="18" charset="0"/>
              </a:rPr>
              <a:t>What is an Analytic Sandbox?</a:t>
            </a:r>
            <a:endParaRPr lang="en-IN" sz="3100" dirty="0">
              <a:solidFill>
                <a:schemeClr val="tx1"/>
              </a:solidFill>
              <a:latin typeface="Times New Roman" panose="02020603050405020304" pitchFamily="18" charset="0"/>
              <a:cs typeface="Times New Roman" panose="02020603050405020304" pitchFamily="18" charset="0"/>
            </a:endParaRPr>
          </a:p>
          <a:p>
            <a:r>
              <a:rPr lang="en-IN" sz="3100" dirty="0">
                <a:solidFill>
                  <a:schemeClr val="tx1"/>
                </a:solidFill>
                <a:latin typeface="Times New Roman" panose="02020603050405020304" pitchFamily="18" charset="0"/>
                <a:cs typeface="Times New Roman" panose="02020603050405020304" pitchFamily="18" charset="0"/>
              </a:rPr>
              <a:t>An analytic sandbox is a separate space where analysts can work with data more freely without the strict controls of the EDW. </a:t>
            </a:r>
          </a:p>
          <a:p>
            <a:r>
              <a:rPr lang="en-IN" sz="3100" dirty="0">
                <a:solidFill>
                  <a:schemeClr val="tx1"/>
                </a:solidFill>
                <a:latin typeface="Times New Roman" panose="02020603050405020304" pitchFamily="18" charset="0"/>
                <a:cs typeface="Times New Roman" panose="02020603050405020304" pitchFamily="18" charset="0"/>
              </a:rPr>
              <a:t>It’s like a playground where they can experiment, explore, and create new analyses without affecting the main data warehouse.</a:t>
            </a:r>
          </a:p>
          <a:p>
            <a:r>
              <a:rPr lang="en-IN" sz="3100" b="1" dirty="0">
                <a:latin typeface="Times New Roman" panose="02020603050405020304" pitchFamily="18" charset="0"/>
                <a:cs typeface="Times New Roman" panose="02020603050405020304" pitchFamily="18" charset="0"/>
              </a:rPr>
              <a:t>Why use Analytical sandbox</a:t>
            </a:r>
          </a:p>
          <a:p>
            <a:r>
              <a:rPr lang="en-IN" sz="3100" dirty="0">
                <a:latin typeface="Times New Roman" panose="02020603050405020304" pitchFamily="18" charset="0"/>
                <a:cs typeface="Times New Roman" panose="02020603050405020304" pitchFamily="18" charset="0"/>
              </a:rPr>
              <a:t>It gives analysts the flexibility they need to explore data, test new ideas, and perform more complex analyses without waiting for IT to approve change</a:t>
            </a:r>
          </a:p>
          <a:p>
            <a:r>
              <a:rPr lang="en-IN" sz="3100" dirty="0">
                <a:latin typeface="Times New Roman" panose="02020603050405020304" pitchFamily="18" charset="0"/>
                <a:cs typeface="Times New Roman" panose="02020603050405020304" pitchFamily="18" charset="0"/>
              </a:rPr>
              <a:t>It’s a compromise that allows for creativity and exploration while keeping the main EDW safe and secure.</a:t>
            </a:r>
          </a:p>
          <a:p>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129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29036-4D74-6B5C-B2B9-F65D8E2AF7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6181929-523D-1755-A2B2-364E803B0C89}"/>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06905506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920</TotalTime>
  <Words>4877</Words>
  <Application>Microsoft Office PowerPoint</Application>
  <PresentationFormat>Widescreen</PresentationFormat>
  <Paragraphs>307</Paragraphs>
  <Slides>28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Garamond</vt:lpstr>
      <vt:lpstr>Times New Roman</vt:lpstr>
      <vt:lpstr>Organic</vt:lpstr>
      <vt:lpstr>Data Analytics</vt:lpstr>
      <vt:lpstr>About the course</vt:lpstr>
      <vt:lpstr>Format of the course</vt:lpstr>
      <vt:lpstr>Course Overview</vt:lpstr>
      <vt:lpstr>Course Overview</vt:lpstr>
      <vt:lpstr>Course Overview</vt:lpstr>
      <vt:lpstr>Books and Readings</vt:lpstr>
      <vt:lpstr>Objectives</vt:lpstr>
      <vt:lpstr>The world of data</vt:lpstr>
      <vt:lpstr>Covid Data </vt:lpstr>
      <vt:lpstr>Motivation</vt:lpstr>
      <vt:lpstr>Newer kinds of data</vt:lpstr>
      <vt:lpstr>Introduction to Data analytics</vt:lpstr>
      <vt:lpstr>Data Overview</vt:lpstr>
      <vt:lpstr>Applications of Data analytics</vt:lpstr>
      <vt:lpstr>Attributes of Big data</vt:lpstr>
      <vt:lpstr>Data structures</vt:lpstr>
      <vt:lpstr>Structured semi structured and unstructured data  </vt:lpstr>
      <vt:lpstr>Compare and contrast structured and unstructured data </vt:lpstr>
      <vt:lpstr>Highlight characteristics of big data used in data analytics </vt:lpstr>
      <vt:lpstr>Data Structure</vt:lpstr>
      <vt:lpstr>PowerPoint Presentation</vt:lpstr>
      <vt:lpstr>Data Repositories</vt:lpstr>
      <vt:lpstr>Enterprise Data Warehouse</vt:lpstr>
      <vt:lpstr>Advantages of EDW</vt:lpstr>
      <vt:lpstr>Disadvantages  of EDW</vt:lpstr>
      <vt:lpstr>Analytic Sandbox (Workspaces):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Shrikrishna Narvekar</dc:creator>
  <cp:lastModifiedBy>Shrikrishna Narvekar</cp:lastModifiedBy>
  <cp:revision>17</cp:revision>
  <dcterms:created xsi:type="dcterms:W3CDTF">2024-08-21T09:33:13Z</dcterms:created>
  <dcterms:modified xsi:type="dcterms:W3CDTF">2025-09-08T09:41:42Z</dcterms:modified>
</cp:coreProperties>
</file>