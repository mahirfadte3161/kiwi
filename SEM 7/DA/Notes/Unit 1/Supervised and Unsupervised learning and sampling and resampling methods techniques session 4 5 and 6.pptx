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9"/>
  </p:notesMasterIdLst>
  <p:sldIdLst>
    <p:sldId id="256" r:id="rId2"/>
    <p:sldId id="257" r:id="rId3"/>
    <p:sldId id="259" r:id="rId4"/>
    <p:sldId id="258" r:id="rId5"/>
    <p:sldId id="260" r:id="rId6"/>
    <p:sldId id="261" r:id="rId7"/>
    <p:sldId id="262" r:id="rId8"/>
    <p:sldId id="277" r:id="rId9"/>
    <p:sldId id="263" r:id="rId10"/>
    <p:sldId id="264" r:id="rId11"/>
    <p:sldId id="265" r:id="rId12"/>
    <p:sldId id="266" r:id="rId13"/>
    <p:sldId id="279" r:id="rId14"/>
    <p:sldId id="278" r:id="rId15"/>
    <p:sldId id="267" r:id="rId16"/>
    <p:sldId id="268" r:id="rId17"/>
    <p:sldId id="269" r:id="rId18"/>
    <p:sldId id="270" r:id="rId19"/>
    <p:sldId id="280" r:id="rId20"/>
    <p:sldId id="271" r:id="rId21"/>
    <p:sldId id="272" r:id="rId22"/>
    <p:sldId id="273" r:id="rId23"/>
    <p:sldId id="274" r:id="rId24"/>
    <p:sldId id="275" r:id="rId25"/>
    <p:sldId id="276" r:id="rId26"/>
    <p:sldId id="281" r:id="rId27"/>
    <p:sldId id="282" r:id="rId28"/>
    <p:sldId id="283" r:id="rId29"/>
    <p:sldId id="284" r:id="rId30"/>
    <p:sldId id="285" r:id="rId31"/>
    <p:sldId id="286" r:id="rId32"/>
    <p:sldId id="287" r:id="rId33"/>
    <p:sldId id="288" r:id="rId34"/>
    <p:sldId id="289" r:id="rId35"/>
    <p:sldId id="297" r:id="rId36"/>
    <p:sldId id="290" r:id="rId37"/>
    <p:sldId id="291" r:id="rId38"/>
    <p:sldId id="296" r:id="rId39"/>
    <p:sldId id="292" r:id="rId40"/>
    <p:sldId id="293" r:id="rId41"/>
    <p:sldId id="294" r:id="rId42"/>
    <p:sldId id="295" r:id="rId43"/>
    <p:sldId id="298" r:id="rId44"/>
    <p:sldId id="299" r:id="rId45"/>
    <p:sldId id="300" r:id="rId46"/>
    <p:sldId id="301" r:id="rId47"/>
    <p:sldId id="302"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rikrishna Narvekar" initials="SN" lastIdx="1" clrIdx="0">
    <p:extLst>
      <p:ext uri="{19B8F6BF-5375-455C-9EA6-DF929625EA0E}">
        <p15:presenceInfo xmlns:p15="http://schemas.microsoft.com/office/powerpoint/2012/main" userId="f4bc5d624d5605f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0275" autoAdjust="0"/>
  </p:normalViewPr>
  <p:slideViewPr>
    <p:cSldViewPr snapToGrid="0">
      <p:cViewPr varScale="1">
        <p:scale>
          <a:sx n="69" d="100"/>
          <a:sy n="69" d="100"/>
        </p:scale>
        <p:origin x="123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9CC6E2-647F-4D8B-9909-069C3344F1E3}" type="datetimeFigureOut">
              <a:rPr lang="en-IN" smtClean="0"/>
              <a:t>11-09-2025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637726-8F05-4D2A-BE3B-C98A367B43AD}" type="slidenum">
              <a:rPr lang="en-IN" smtClean="0"/>
              <a:t>‹#›</a:t>
            </a:fld>
            <a:endParaRPr lang="en-IN"/>
          </a:p>
        </p:txBody>
      </p:sp>
    </p:spTree>
    <p:extLst>
      <p:ext uri="{BB962C8B-B14F-4D97-AF65-F5344CB8AC3E}">
        <p14:creationId xmlns:p14="http://schemas.microsoft.com/office/powerpoint/2010/main" val="4262652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07637726-8F05-4D2A-BE3B-C98A367B43AD}" type="slidenum">
              <a:rPr lang="en-IN" smtClean="0"/>
              <a:t>1</a:t>
            </a:fld>
            <a:endParaRPr lang="en-IN"/>
          </a:p>
        </p:txBody>
      </p:sp>
    </p:spTree>
    <p:extLst>
      <p:ext uri="{BB962C8B-B14F-4D97-AF65-F5344CB8AC3E}">
        <p14:creationId xmlns:p14="http://schemas.microsoft.com/office/powerpoint/2010/main" val="4061933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lvl="0" indent="-228600">
              <a:buFont typeface="+mj-lt"/>
              <a:buAutoNum type="arabicPeriod"/>
            </a:pPr>
            <a:r>
              <a:rPr lang="en-IN" sz="1200" b="1" kern="1200" dirty="0">
                <a:solidFill>
                  <a:schemeClr val="tx1"/>
                </a:solidFill>
                <a:effectLst/>
                <a:latin typeface="+mn-lt"/>
                <a:ea typeface="+mn-ea"/>
                <a:cs typeface="+mn-cs"/>
              </a:rPr>
              <a:t>Real-Life Example</a:t>
            </a:r>
            <a:r>
              <a:rPr lang="en-IN" sz="1200" b="1" kern="1200" dirty="0">
                <a:solidFill>
                  <a:schemeClr val="tx1"/>
                </a:solidFill>
                <a:effectLst/>
                <a:latin typeface="+mn-lt"/>
                <a:ea typeface="+mn-ea"/>
                <a:cs typeface="+mn-cs"/>
                <a:sym typeface="Wingdings" panose="05000000000000000000" pitchFamily="2" charset="2"/>
              </a:rPr>
              <a:t> (Bootstrap)</a:t>
            </a:r>
            <a:endParaRPr lang="en-IN" sz="1100" kern="1200" dirty="0">
              <a:solidFill>
                <a:schemeClr val="tx1"/>
              </a:solidFill>
              <a:effectLst/>
              <a:latin typeface="+mn-lt"/>
              <a:ea typeface="+mn-ea"/>
              <a:cs typeface="+mn-cs"/>
            </a:endParaRPr>
          </a:p>
          <a:p>
            <a:pPr lvl="1"/>
            <a:r>
              <a:rPr lang="en-IN" sz="1200" b="1" kern="1200" dirty="0">
                <a:solidFill>
                  <a:schemeClr val="tx1"/>
                </a:solidFill>
                <a:effectLst/>
                <a:latin typeface="+mn-lt"/>
                <a:ea typeface="+mn-ea"/>
                <a:cs typeface="+mn-cs"/>
              </a:rPr>
              <a:t>Scenario:</a:t>
            </a:r>
            <a:r>
              <a:rPr lang="en-IN" sz="1200" kern="1200" dirty="0">
                <a:solidFill>
                  <a:schemeClr val="tx1"/>
                </a:solidFill>
                <a:effectLst/>
                <a:latin typeface="+mn-lt"/>
                <a:ea typeface="+mn-ea"/>
                <a:cs typeface="+mn-cs"/>
              </a:rPr>
              <a:t> Imagine you're a baker trying to estimate the average weight of cookies you bake. You have a batch of 100 cookies, and you randomly select 10 cookies to measure their weight. In bootstrap resampling, you might select one cookie, measure its weight, put it back in the batch, and then pick another (possibly the same cookie again). You do this until you have a sample of 10 cookies.</a:t>
            </a:r>
            <a:endParaRPr lang="en-IN" sz="1100" kern="1200" dirty="0">
              <a:solidFill>
                <a:schemeClr val="tx1"/>
              </a:solidFill>
              <a:effectLst/>
              <a:latin typeface="+mn-lt"/>
              <a:ea typeface="+mn-ea"/>
              <a:cs typeface="+mn-cs"/>
            </a:endParaRPr>
          </a:p>
          <a:p>
            <a:pPr lvl="1"/>
            <a:r>
              <a:rPr lang="en-IN" sz="1200" b="1" kern="1200" dirty="0">
                <a:solidFill>
                  <a:schemeClr val="tx1"/>
                </a:solidFill>
                <a:effectLst/>
                <a:latin typeface="+mn-lt"/>
                <a:ea typeface="+mn-ea"/>
                <a:cs typeface="+mn-cs"/>
              </a:rPr>
              <a:t>Purpose:</a:t>
            </a:r>
            <a:r>
              <a:rPr lang="en-IN" sz="1200" kern="1200" dirty="0">
                <a:solidFill>
                  <a:schemeClr val="tx1"/>
                </a:solidFill>
                <a:effectLst/>
                <a:latin typeface="+mn-lt"/>
                <a:ea typeface="+mn-ea"/>
                <a:cs typeface="+mn-cs"/>
              </a:rPr>
              <a:t> By repeating this process many times, you generate multiple samples of 10 cookies each. This helps you understand how much the average weight might vary and gives you a better estimate of the true average weight for all the cookies you bake.</a:t>
            </a:r>
          </a:p>
          <a:p>
            <a:pPr lvl="1"/>
            <a:endParaRPr lang="en-IN" sz="1200" kern="1200" dirty="0">
              <a:solidFill>
                <a:schemeClr val="tx1"/>
              </a:solidFill>
              <a:effectLst/>
              <a:latin typeface="+mn-lt"/>
              <a:ea typeface="+mn-ea"/>
              <a:cs typeface="+mn-cs"/>
            </a:endParaRPr>
          </a:p>
          <a:p>
            <a:pPr lvl="1"/>
            <a:endParaRPr lang="en-IN" sz="1200" kern="1200" dirty="0">
              <a:solidFill>
                <a:schemeClr val="tx1"/>
              </a:solidFill>
              <a:effectLst/>
              <a:latin typeface="+mn-lt"/>
              <a:ea typeface="+mn-ea"/>
              <a:cs typeface="+mn-cs"/>
            </a:endParaRPr>
          </a:p>
          <a:p>
            <a:pPr lvl="1"/>
            <a:r>
              <a:rPr lang="en-US" b="1" dirty="0">
                <a:solidFill>
                  <a:schemeClr val="tx1"/>
                </a:solidFill>
                <a:latin typeface="Times New Roman" panose="02020603050405020304" pitchFamily="18" charset="0"/>
                <a:cs typeface="Times New Roman" panose="02020603050405020304" pitchFamily="18" charset="0"/>
              </a:rPr>
              <a:t>k-fold Cross-Validation</a:t>
            </a:r>
            <a:endParaRPr lang="en-IN" sz="1200" kern="1200" dirty="0">
              <a:solidFill>
                <a:schemeClr val="tx1"/>
              </a:solidFill>
              <a:effectLst/>
              <a:latin typeface="+mn-lt"/>
              <a:ea typeface="+mn-ea"/>
              <a:cs typeface="+mn-cs"/>
            </a:endParaRPr>
          </a:p>
          <a:p>
            <a:pPr lvl="0"/>
            <a:r>
              <a:rPr lang="en-IN" sz="1200" b="1" kern="1200" dirty="0">
                <a:solidFill>
                  <a:schemeClr val="tx1"/>
                </a:solidFill>
                <a:effectLst/>
                <a:latin typeface="+mn-lt"/>
                <a:ea typeface="+mn-ea"/>
                <a:cs typeface="+mn-cs"/>
              </a:rPr>
              <a:t>Explanation:</a:t>
            </a:r>
            <a:r>
              <a:rPr lang="en-IN" sz="1200" kern="1200" dirty="0">
                <a:solidFill>
                  <a:schemeClr val="tx1"/>
                </a:solidFill>
                <a:effectLst/>
                <a:latin typeface="+mn-lt"/>
                <a:ea typeface="+mn-ea"/>
                <a:cs typeface="+mn-cs"/>
              </a:rPr>
              <a:t> In k-fold cross-validation, you divide your dataset into k equal parts or "folds." You then train your model on k-1 folds (using them as the training set) and test it on the remaining fold (the test set). This process is repeated k times, with each fold being used as the test set once. The performance of the model is then averaged across all k trials.</a:t>
            </a:r>
            <a:endParaRPr lang="en-IN" sz="1100" kern="1200" dirty="0">
              <a:solidFill>
                <a:schemeClr val="tx1"/>
              </a:solidFill>
              <a:effectLst/>
              <a:latin typeface="+mn-lt"/>
              <a:ea typeface="+mn-ea"/>
              <a:cs typeface="+mn-cs"/>
            </a:endParaRPr>
          </a:p>
          <a:p>
            <a:pPr lvl="0"/>
            <a:r>
              <a:rPr lang="en-IN" sz="1200" b="1" kern="1200" dirty="0">
                <a:solidFill>
                  <a:schemeClr val="tx1"/>
                </a:solidFill>
                <a:effectLst/>
                <a:latin typeface="+mn-lt"/>
                <a:ea typeface="+mn-ea"/>
                <a:cs typeface="+mn-cs"/>
              </a:rPr>
              <a:t>Real-Life Example:</a:t>
            </a:r>
            <a:endParaRPr lang="en-IN" sz="1100" kern="1200" dirty="0">
              <a:solidFill>
                <a:schemeClr val="tx1"/>
              </a:solidFill>
              <a:effectLst/>
              <a:latin typeface="+mn-lt"/>
              <a:ea typeface="+mn-ea"/>
              <a:cs typeface="+mn-cs"/>
            </a:endParaRPr>
          </a:p>
          <a:p>
            <a:pPr lvl="1"/>
            <a:r>
              <a:rPr lang="en-IN" sz="1200" b="1" kern="1200" dirty="0">
                <a:solidFill>
                  <a:schemeClr val="tx1"/>
                </a:solidFill>
                <a:effectLst/>
                <a:latin typeface="+mn-lt"/>
                <a:ea typeface="+mn-ea"/>
                <a:cs typeface="+mn-cs"/>
              </a:rPr>
              <a:t>Scenario:</a:t>
            </a:r>
            <a:r>
              <a:rPr lang="en-IN" sz="1200" kern="1200" dirty="0">
                <a:solidFill>
                  <a:schemeClr val="tx1"/>
                </a:solidFill>
                <a:effectLst/>
                <a:latin typeface="+mn-lt"/>
                <a:ea typeface="+mn-ea"/>
                <a:cs typeface="+mn-cs"/>
              </a:rPr>
              <a:t> Suppose you're a teacher evaluating a new teaching method. You have test scores from 100 students and want to predict future student performance. You divide the students into 5 groups (k=5). You then train your model on 4 groups and test it on the 5th group to see how well your model predicts their scores.</a:t>
            </a:r>
            <a:endParaRPr lang="en-IN" sz="1100" kern="1200" dirty="0">
              <a:solidFill>
                <a:schemeClr val="tx1"/>
              </a:solidFill>
              <a:effectLst/>
              <a:latin typeface="+mn-lt"/>
              <a:ea typeface="+mn-ea"/>
              <a:cs typeface="+mn-cs"/>
            </a:endParaRPr>
          </a:p>
          <a:p>
            <a:pPr lvl="1"/>
            <a:endParaRPr lang="en-IN" sz="1200" kern="1200" dirty="0">
              <a:solidFill>
                <a:schemeClr val="tx1"/>
              </a:solidFill>
              <a:effectLst/>
              <a:latin typeface="+mn-lt"/>
              <a:ea typeface="+mn-ea"/>
              <a:cs typeface="+mn-cs"/>
            </a:endParaRPr>
          </a:p>
          <a:p>
            <a:pPr lvl="1"/>
            <a:endParaRPr lang="en-IN" sz="1100" kern="1200" dirty="0">
              <a:solidFill>
                <a:schemeClr val="tx1"/>
              </a:solidFill>
              <a:effectLst/>
              <a:latin typeface="+mn-lt"/>
              <a:ea typeface="+mn-ea"/>
              <a:cs typeface="+mn-cs"/>
            </a:endParaRPr>
          </a:p>
          <a:p>
            <a:pPr marL="0" indent="0">
              <a:buFont typeface="+mj-lt"/>
              <a:buNone/>
            </a:pPr>
            <a:endParaRPr lang="en-IN" dirty="0"/>
          </a:p>
        </p:txBody>
      </p:sp>
      <p:sp>
        <p:nvSpPr>
          <p:cNvPr id="4" name="Slide Number Placeholder 3"/>
          <p:cNvSpPr>
            <a:spLocks noGrp="1"/>
          </p:cNvSpPr>
          <p:nvPr>
            <p:ph type="sldNum" sz="quarter" idx="5"/>
          </p:nvPr>
        </p:nvSpPr>
        <p:spPr/>
        <p:txBody>
          <a:bodyPr/>
          <a:lstStyle/>
          <a:p>
            <a:fld id="{07637726-8F05-4D2A-BE3B-C98A367B43AD}" type="slidenum">
              <a:rPr lang="en-IN" smtClean="0"/>
              <a:t>46</a:t>
            </a:fld>
            <a:endParaRPr lang="en-IN"/>
          </a:p>
        </p:txBody>
      </p:sp>
    </p:spTree>
    <p:extLst>
      <p:ext uri="{BB962C8B-B14F-4D97-AF65-F5344CB8AC3E}">
        <p14:creationId xmlns:p14="http://schemas.microsoft.com/office/powerpoint/2010/main" val="11547405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FC49504-3A8F-4B10-AEB6-9C5DAE133D30}" type="datetime1">
              <a:rPr lang="en-IN" smtClean="0"/>
              <a:t>11-09-2025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D75E712A-30F9-4F5C-A4F1-6DC8A3808094}"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66765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AFCF49-4DE3-4AAC-8722-AB0BE711BCF9}" type="datetime1">
              <a:rPr lang="en-IN" smtClean="0"/>
              <a:t>11-09-2025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5E712A-30F9-4F5C-A4F1-6DC8A3808094}" type="slidenum">
              <a:rPr lang="en-IN" smtClean="0"/>
              <a:t>‹#›</a:t>
            </a:fld>
            <a:endParaRPr lang="en-IN"/>
          </a:p>
        </p:txBody>
      </p:sp>
    </p:spTree>
    <p:extLst>
      <p:ext uri="{BB962C8B-B14F-4D97-AF65-F5344CB8AC3E}">
        <p14:creationId xmlns:p14="http://schemas.microsoft.com/office/powerpoint/2010/main" val="688589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AC88F6-C895-472B-BAC9-F7C3B6C36B0A}" type="datetime1">
              <a:rPr lang="en-IN" smtClean="0"/>
              <a:t>11-09-2025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5E712A-30F9-4F5C-A4F1-6DC8A3808094}"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6813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25D946-8747-4492-BF07-C2526E89CE25}" type="datetime1">
              <a:rPr lang="en-IN" smtClean="0"/>
              <a:t>11-09-2025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5E712A-30F9-4F5C-A4F1-6DC8A3808094}" type="slidenum">
              <a:rPr lang="en-IN" smtClean="0"/>
              <a:t>‹#›</a:t>
            </a:fld>
            <a:endParaRPr lang="en-IN"/>
          </a:p>
        </p:txBody>
      </p:sp>
    </p:spTree>
    <p:extLst>
      <p:ext uri="{BB962C8B-B14F-4D97-AF65-F5344CB8AC3E}">
        <p14:creationId xmlns:p14="http://schemas.microsoft.com/office/powerpoint/2010/main" val="755586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42A165F-C385-452B-9036-9C992DB013E3}" type="datetime1">
              <a:rPr lang="en-IN" smtClean="0"/>
              <a:t>11-09-2025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75E712A-30F9-4F5C-A4F1-6DC8A3808094}"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90643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13CD03E-71DF-4E66-B42D-530A94D4F24D}" type="datetime1">
              <a:rPr lang="en-IN" smtClean="0"/>
              <a:t>11-09-2025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75E712A-30F9-4F5C-A4F1-6DC8A3808094}"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3838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7CF6E6-51ED-4F3D-AC09-8406ECB37157}" type="datetime1">
              <a:rPr lang="en-IN" smtClean="0"/>
              <a:t>11-09-2025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75E712A-30F9-4F5C-A4F1-6DC8A3808094}" type="slidenum">
              <a:rPr lang="en-IN" smtClean="0"/>
              <a:t>‹#›</a:t>
            </a:fld>
            <a:endParaRPr lang="en-IN"/>
          </a:p>
        </p:txBody>
      </p:sp>
    </p:spTree>
    <p:extLst>
      <p:ext uri="{BB962C8B-B14F-4D97-AF65-F5344CB8AC3E}">
        <p14:creationId xmlns:p14="http://schemas.microsoft.com/office/powerpoint/2010/main" val="4292680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E54D65-3D7F-4B03-97FA-B18A2F1A6A1F}" type="datetime1">
              <a:rPr lang="en-IN" smtClean="0"/>
              <a:t>11-09-2025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5E712A-30F9-4F5C-A4F1-6DC8A3808094}"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92343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FBE2FC9-0920-4A65-82DA-FAA22A40A81A}" type="datetime1">
              <a:rPr lang="en-IN" smtClean="0"/>
              <a:t>11-09-2025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5E712A-30F9-4F5C-A4F1-6DC8A3808094}" type="slidenum">
              <a:rPr lang="en-IN" smtClean="0"/>
              <a:t>‹#›</a:t>
            </a:fld>
            <a:endParaRPr lang="en-IN"/>
          </a:p>
        </p:txBody>
      </p:sp>
    </p:spTree>
    <p:extLst>
      <p:ext uri="{BB962C8B-B14F-4D97-AF65-F5344CB8AC3E}">
        <p14:creationId xmlns:p14="http://schemas.microsoft.com/office/powerpoint/2010/main" val="3134612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176A5B1-E1C6-4AD0-9B3B-EDEDCCDB4918}" type="datetime1">
              <a:rPr lang="en-IN" smtClean="0"/>
              <a:t>11-09-2025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5E712A-30F9-4F5C-A4F1-6DC8A3808094}" type="slidenum">
              <a:rPr lang="en-IN" smtClean="0"/>
              <a:t>‹#›</a:t>
            </a:fld>
            <a:endParaRPr lang="en-IN"/>
          </a:p>
        </p:txBody>
      </p:sp>
    </p:spTree>
    <p:extLst>
      <p:ext uri="{BB962C8B-B14F-4D97-AF65-F5344CB8AC3E}">
        <p14:creationId xmlns:p14="http://schemas.microsoft.com/office/powerpoint/2010/main" val="73944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F4392E-8C5D-429A-9C9F-D8EB53D1B871}" type="datetime1">
              <a:rPr lang="en-IN" smtClean="0"/>
              <a:t>11-09-2025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5E712A-30F9-4F5C-A4F1-6DC8A3808094}"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504015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28C78B-0345-4887-990C-81B75C614268}" type="datetime1">
              <a:rPr lang="en-IN" smtClean="0"/>
              <a:t>11-09-2025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5E712A-30F9-4F5C-A4F1-6DC8A3808094}"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86074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D16BBE-5B4C-4ECB-9984-758220F9F52B}" type="datetime1">
              <a:rPr lang="en-IN" smtClean="0"/>
              <a:t>11-09-2025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5E712A-30F9-4F5C-A4F1-6DC8A3808094}" type="slidenum">
              <a:rPr lang="en-IN" smtClean="0"/>
              <a:t>‹#›</a:t>
            </a:fld>
            <a:endParaRPr lang="en-IN"/>
          </a:p>
        </p:txBody>
      </p:sp>
    </p:spTree>
    <p:extLst>
      <p:ext uri="{BB962C8B-B14F-4D97-AF65-F5344CB8AC3E}">
        <p14:creationId xmlns:p14="http://schemas.microsoft.com/office/powerpoint/2010/main" val="6796247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B28BCE-D69D-4CDA-A8B6-A0B9A6E82F6E}" type="datetime1">
              <a:rPr lang="en-IN" smtClean="0"/>
              <a:t>11-09-2025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5E712A-30F9-4F5C-A4F1-6DC8A3808094}"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874223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8305A7-D000-4186-827D-DDE9D90E3FE8}" type="datetime1">
              <a:rPr lang="en-IN" smtClean="0"/>
              <a:t>11-09-2025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5E712A-30F9-4F5C-A4F1-6DC8A3808094}"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26648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2223C9-2F71-45B6-ADC9-732367EC2906}" type="datetime1">
              <a:rPr lang="en-IN" smtClean="0"/>
              <a:t>11-09-2025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5E712A-30F9-4F5C-A4F1-6DC8A3808094}"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292211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102744-62EE-417A-8730-7D602BCB614C}" type="datetime1">
              <a:rPr lang="en-IN" smtClean="0"/>
              <a:t>11-09-2025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5E712A-30F9-4F5C-A4F1-6DC8A3808094}"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42812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8A3A56A-185C-40A0-935D-5897F4A647D3}" type="datetime1">
              <a:rPr lang="en-IN" smtClean="0"/>
              <a:t>11-09-2025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75E712A-30F9-4F5C-A4F1-6DC8A3808094}" type="slidenum">
              <a:rPr lang="en-IN" smtClean="0"/>
              <a:t>‹#›</a:t>
            </a:fld>
            <a:endParaRPr lang="en-IN"/>
          </a:p>
        </p:txBody>
      </p:sp>
    </p:spTree>
    <p:extLst>
      <p:ext uri="{BB962C8B-B14F-4D97-AF65-F5344CB8AC3E}">
        <p14:creationId xmlns:p14="http://schemas.microsoft.com/office/powerpoint/2010/main" val="35522227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36551-A6CC-CDE7-EAA0-6644604A2868}"/>
              </a:ext>
            </a:extLst>
          </p:cNvPr>
          <p:cNvSpPr>
            <a:spLocks noGrp="1"/>
          </p:cNvSpPr>
          <p:nvPr>
            <p:ph type="ctrTitle"/>
          </p:nvPr>
        </p:nvSpPr>
        <p:spPr/>
        <p:txBody>
          <a:bodyPr/>
          <a:lstStyle/>
          <a:p>
            <a:r>
              <a:rPr lang="en-US" sz="4000" b="1" dirty="0">
                <a:latin typeface="Times New Roman" panose="02020603050405020304" pitchFamily="18" charset="0"/>
                <a:cs typeface="Times New Roman" panose="02020603050405020304" pitchFamily="18" charset="0"/>
              </a:rPr>
              <a:t>Supervised and Unsupervised learning Statistics and Sampling</a:t>
            </a:r>
            <a:endParaRPr lang="en-IN" sz="4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02DCDC6-5BD1-3E15-F1F7-FE57AB3EA903}"/>
              </a:ext>
            </a:extLst>
          </p:cNvPr>
          <p:cNvSpPr>
            <a:spLocks noGrp="1"/>
          </p:cNvSpPr>
          <p:nvPr>
            <p:ph type="subTitle" idx="1"/>
          </p:nvPr>
        </p:nvSpPr>
        <p:spPr>
          <a:xfrm>
            <a:off x="2692398" y="3657596"/>
            <a:ext cx="6740851" cy="1670183"/>
          </a:xfrm>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Mr. Shrikrishna Anand Narvekar</a:t>
            </a:r>
          </a:p>
          <a:p>
            <a:r>
              <a:rPr lang="en-US" dirty="0">
                <a:latin typeface="Times New Roman" panose="02020603050405020304" pitchFamily="18" charset="0"/>
                <a:cs typeface="Times New Roman" panose="02020603050405020304" pitchFamily="18" charset="0"/>
              </a:rPr>
              <a:t>Assitant Professor</a:t>
            </a:r>
          </a:p>
          <a:p>
            <a:r>
              <a:rPr lang="en-US" dirty="0">
                <a:latin typeface="Times New Roman" panose="02020603050405020304" pitchFamily="18" charset="0"/>
                <a:cs typeface="Times New Roman" panose="02020603050405020304" pitchFamily="18" charset="0"/>
              </a:rPr>
              <a:t>Computer Engineering department</a:t>
            </a:r>
          </a:p>
          <a:p>
            <a:r>
              <a:rPr lang="en-US" dirty="0">
                <a:latin typeface="Times New Roman" panose="02020603050405020304" pitchFamily="18" charset="0"/>
                <a:cs typeface="Times New Roman" panose="02020603050405020304" pitchFamily="18" charset="0"/>
              </a:rPr>
              <a:t>Agnel Institute of Technology and Design</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65082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767A2-D750-2641-E06C-F180A16BA1D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Supervised Learning</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5A84D44-ED74-EF3F-3A02-69E76D0A19D0}"/>
              </a:ext>
            </a:extLst>
          </p:cNvPr>
          <p:cNvSpPr>
            <a:spLocks noGrp="1"/>
          </p:cNvSpPr>
          <p:nvPr>
            <p:ph idx="1"/>
          </p:nvPr>
        </p:nvSpPr>
        <p:spPr/>
        <p:txBody>
          <a:bodyPr>
            <a:normAutofit lnSpcReduction="10000"/>
          </a:bodyPr>
          <a:lstStyle/>
          <a:p>
            <a:r>
              <a:rPr lang="en-IN" sz="1800" dirty="0">
                <a:effectLst/>
                <a:latin typeface="Times New Roman" panose="02020603050405020304" pitchFamily="18" charset="0"/>
                <a:ea typeface="Calibri" panose="020F0502020204030204" pitchFamily="34" charset="0"/>
              </a:rPr>
              <a:t> </a:t>
            </a:r>
            <a:r>
              <a:rPr lang="en-IN" dirty="0">
                <a:effectLst/>
                <a:latin typeface="Times New Roman" panose="02020603050405020304" pitchFamily="18" charset="0"/>
                <a:ea typeface="Calibri" panose="020F0502020204030204" pitchFamily="34" charset="0"/>
              </a:rPr>
              <a:t>Models are trained using </a:t>
            </a:r>
            <a:r>
              <a:rPr lang="en-IN" b="1" dirty="0">
                <a:effectLst/>
                <a:latin typeface="Times New Roman" panose="02020603050405020304" pitchFamily="18" charset="0"/>
                <a:ea typeface="Calibri" panose="020F0502020204030204" pitchFamily="34" charset="0"/>
              </a:rPr>
              <a:t>labelled data </a:t>
            </a:r>
            <a:r>
              <a:rPr lang="en-IN" dirty="0">
                <a:effectLst/>
                <a:latin typeface="Times New Roman" panose="02020603050405020304" pitchFamily="18" charset="0"/>
                <a:ea typeface="Calibri" panose="020F0502020204030204" pitchFamily="34" charset="0"/>
              </a:rPr>
              <a:t>i.e. </a:t>
            </a:r>
            <a:r>
              <a:rPr lang="en-IN" dirty="0">
                <a:latin typeface="Times New Roman" panose="02020603050405020304" pitchFamily="18" charset="0"/>
                <a:ea typeface="Calibri" panose="020F0502020204030204" pitchFamily="34" charset="0"/>
              </a:rPr>
              <a:t>input data used is for training it is paired with corresponding </a:t>
            </a:r>
            <a:r>
              <a:rPr lang="en-IN" b="1" dirty="0">
                <a:latin typeface="Times New Roman" panose="02020603050405020304" pitchFamily="18" charset="0"/>
                <a:ea typeface="Calibri" panose="020F0502020204030204" pitchFamily="34" charset="0"/>
              </a:rPr>
              <a:t>output labels</a:t>
            </a:r>
            <a:r>
              <a:rPr lang="en-IN" dirty="0">
                <a:latin typeface="Times New Roman" panose="02020603050405020304" pitchFamily="18" charset="0"/>
                <a:ea typeface="Calibri" panose="020F0502020204030204" pitchFamily="34" charset="0"/>
              </a:rPr>
              <a:t>.</a:t>
            </a:r>
          </a:p>
          <a:p>
            <a:r>
              <a:rPr lang="en-IN" dirty="0">
                <a:solidFill>
                  <a:schemeClr val="tx1"/>
                </a:solidFill>
                <a:effectLst/>
                <a:latin typeface="Times New Roman" panose="02020603050405020304" pitchFamily="18" charset="0"/>
                <a:ea typeface="Calibri" panose="020F0502020204030204" pitchFamily="34" charset="0"/>
              </a:rPr>
              <a:t>Supervised learning needs supervision to train the model</a:t>
            </a:r>
            <a:endParaRPr lang="en-IN" dirty="0">
              <a:solidFill>
                <a:schemeClr val="tx1"/>
              </a:solidFill>
              <a:latin typeface="Times New Roman" panose="02020603050405020304" pitchFamily="18" charset="0"/>
              <a:ea typeface="Calibri" panose="020F0502020204030204" pitchFamily="34" charset="0"/>
            </a:endParaRPr>
          </a:p>
          <a:p>
            <a:r>
              <a:rPr lang="en-US" b="1" dirty="0">
                <a:latin typeface="Times New Roman" panose="02020603050405020304" pitchFamily="18" charset="0"/>
                <a:cs typeface="Times New Roman" panose="02020603050405020304" pitchFamily="18" charset="0"/>
              </a:rPr>
              <a:t>Image Classification</a:t>
            </a:r>
            <a:r>
              <a:rPr lang="en-US"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Input</a:t>
            </a:r>
            <a:r>
              <a:rPr lang="en-US" dirty="0">
                <a:latin typeface="Times New Roman" panose="02020603050405020304" pitchFamily="18" charset="0"/>
                <a:cs typeface="Times New Roman" panose="02020603050405020304" pitchFamily="18" charset="0"/>
              </a:rPr>
              <a:t>: Images of animals (e.g., cats, dogs, birds).</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Output Label</a:t>
            </a:r>
            <a:r>
              <a:rPr lang="en-US" dirty="0">
                <a:latin typeface="Times New Roman" panose="02020603050405020304" pitchFamily="18" charset="0"/>
                <a:cs typeface="Times New Roman" panose="02020603050405020304" pitchFamily="18" charset="0"/>
              </a:rPr>
              <a:t>: The type of animal in the image (e.g., "Cat," "Dog," "Bird").</a:t>
            </a:r>
          </a:p>
          <a:p>
            <a:endParaRPr lang="en-IN" dirty="0"/>
          </a:p>
        </p:txBody>
      </p:sp>
      <p:sp>
        <p:nvSpPr>
          <p:cNvPr id="4" name="Date Placeholder 3">
            <a:extLst>
              <a:ext uri="{FF2B5EF4-FFF2-40B4-BE49-F238E27FC236}">
                <a16:creationId xmlns:a16="http://schemas.microsoft.com/office/drawing/2014/main" id="{A460B6A2-0A88-0A90-ADE0-00F311CF0745}"/>
              </a:ext>
            </a:extLst>
          </p:cNvPr>
          <p:cNvSpPr>
            <a:spLocks noGrp="1"/>
          </p:cNvSpPr>
          <p:nvPr>
            <p:ph type="dt" sz="half" idx="10"/>
          </p:nvPr>
        </p:nvSpPr>
        <p:spPr/>
        <p:txBody>
          <a:bodyPr/>
          <a:lstStyle/>
          <a:p>
            <a:fld id="{4AE82969-C212-40CA-921C-01E264A15565}" type="datetime1">
              <a:rPr lang="en-IN" smtClean="0"/>
              <a:t>11-09-2025</a:t>
            </a:fld>
            <a:endParaRPr lang="en-IN"/>
          </a:p>
        </p:txBody>
      </p:sp>
      <p:sp>
        <p:nvSpPr>
          <p:cNvPr id="5" name="Slide Number Placeholder 4">
            <a:extLst>
              <a:ext uri="{FF2B5EF4-FFF2-40B4-BE49-F238E27FC236}">
                <a16:creationId xmlns:a16="http://schemas.microsoft.com/office/drawing/2014/main" id="{A68265E6-9031-708E-FF77-69A1588C04A3}"/>
              </a:ext>
            </a:extLst>
          </p:cNvPr>
          <p:cNvSpPr>
            <a:spLocks noGrp="1"/>
          </p:cNvSpPr>
          <p:nvPr>
            <p:ph type="sldNum" sz="quarter" idx="12"/>
          </p:nvPr>
        </p:nvSpPr>
        <p:spPr/>
        <p:txBody>
          <a:bodyPr/>
          <a:lstStyle/>
          <a:p>
            <a:fld id="{D75E712A-30F9-4F5C-A4F1-6DC8A3808094}" type="slidenum">
              <a:rPr lang="en-IN" smtClean="0"/>
              <a:t>2</a:t>
            </a:fld>
            <a:endParaRPr lang="en-IN"/>
          </a:p>
        </p:txBody>
      </p:sp>
    </p:spTree>
    <p:extLst>
      <p:ext uri="{BB962C8B-B14F-4D97-AF65-F5344CB8AC3E}">
        <p14:creationId xmlns:p14="http://schemas.microsoft.com/office/powerpoint/2010/main" val="874886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6A8F3-EE25-6247-3A4A-A2B968588C96}"/>
              </a:ext>
            </a:extLst>
          </p:cNvPr>
          <p:cNvSpPr>
            <a:spLocks noGrp="1"/>
          </p:cNvSpPr>
          <p:nvPr>
            <p:ph type="title"/>
          </p:nvPr>
        </p:nvSpPr>
        <p:spPr>
          <a:xfrm>
            <a:off x="1295402" y="730206"/>
            <a:ext cx="9601196" cy="1303867"/>
          </a:xfrm>
        </p:spPr>
        <p:txBody>
          <a:bodyPr/>
          <a:lstStyle/>
          <a:p>
            <a:r>
              <a:rPr lang="en-US" b="1" dirty="0">
                <a:latin typeface="Times New Roman" panose="02020603050405020304" pitchFamily="18" charset="0"/>
                <a:cs typeface="Times New Roman" panose="02020603050405020304" pitchFamily="18" charset="0"/>
              </a:rPr>
              <a:t>Supervised Learning</a:t>
            </a:r>
            <a:endParaRPr lang="en-IN" b="1" dirty="0">
              <a:latin typeface="Times New Roman" panose="02020603050405020304" pitchFamily="18" charset="0"/>
              <a:cs typeface="Times New Roman" panose="02020603050405020304" pitchFamily="18" charset="0"/>
            </a:endParaRPr>
          </a:p>
        </p:txBody>
      </p:sp>
      <p:pic>
        <p:nvPicPr>
          <p:cNvPr id="1026" name="Picture 2" descr="Labelled images">
            <a:extLst>
              <a:ext uri="{FF2B5EF4-FFF2-40B4-BE49-F238E27FC236}">
                <a16:creationId xmlns:a16="http://schemas.microsoft.com/office/drawing/2014/main" id="{66B374F5-19A2-A508-5345-FCAFF40AEC9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07423" y="2436165"/>
            <a:ext cx="5077352" cy="358946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ogs vs Cats Image Classification using ResNet | by Anubhav Shrimal |  Anubhav Shrimal | Medium">
            <a:extLst>
              <a:ext uri="{FF2B5EF4-FFF2-40B4-BE49-F238E27FC236}">
                <a16:creationId xmlns:a16="http://schemas.microsoft.com/office/drawing/2014/main" id="{3124D8FE-3AD1-3440-B559-9FABEF4D5A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2554" y="2659225"/>
            <a:ext cx="4511869" cy="2537926"/>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F0BCBA92-34DC-A849-5F1F-C389CFD7C92C}"/>
              </a:ext>
            </a:extLst>
          </p:cNvPr>
          <p:cNvSpPr>
            <a:spLocks noGrp="1"/>
          </p:cNvSpPr>
          <p:nvPr>
            <p:ph type="dt" sz="half" idx="10"/>
          </p:nvPr>
        </p:nvSpPr>
        <p:spPr/>
        <p:txBody>
          <a:bodyPr/>
          <a:lstStyle/>
          <a:p>
            <a:fld id="{F9EB0D22-684F-4A36-AFDF-AD8E7FC627C4}" type="datetime1">
              <a:rPr lang="en-IN" smtClean="0"/>
              <a:t>11-09-2025</a:t>
            </a:fld>
            <a:endParaRPr lang="en-IN"/>
          </a:p>
        </p:txBody>
      </p:sp>
      <p:sp>
        <p:nvSpPr>
          <p:cNvPr id="4" name="Slide Number Placeholder 3">
            <a:extLst>
              <a:ext uri="{FF2B5EF4-FFF2-40B4-BE49-F238E27FC236}">
                <a16:creationId xmlns:a16="http://schemas.microsoft.com/office/drawing/2014/main" id="{0455E9B8-162C-5E94-8E40-F625DCCA360F}"/>
              </a:ext>
            </a:extLst>
          </p:cNvPr>
          <p:cNvSpPr>
            <a:spLocks noGrp="1"/>
          </p:cNvSpPr>
          <p:nvPr>
            <p:ph type="sldNum" sz="quarter" idx="12"/>
          </p:nvPr>
        </p:nvSpPr>
        <p:spPr/>
        <p:txBody>
          <a:bodyPr/>
          <a:lstStyle/>
          <a:p>
            <a:fld id="{D75E712A-30F9-4F5C-A4F1-6DC8A3808094}" type="slidenum">
              <a:rPr lang="en-IN" smtClean="0"/>
              <a:t>3</a:t>
            </a:fld>
            <a:endParaRPr lang="en-IN"/>
          </a:p>
        </p:txBody>
      </p:sp>
    </p:spTree>
    <p:extLst>
      <p:ext uri="{BB962C8B-B14F-4D97-AF65-F5344CB8AC3E}">
        <p14:creationId xmlns:p14="http://schemas.microsoft.com/office/powerpoint/2010/main" val="2255801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73131-C7F6-4428-A68F-70EDB58E80B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Unsupervised Learning</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896FA62-83A2-341D-9171-4D0C1DDE6A4C}"/>
              </a:ext>
            </a:extLst>
          </p:cNvPr>
          <p:cNvSpPr>
            <a:spLocks noGrp="1"/>
          </p:cNvSpPr>
          <p:nvPr>
            <p:ph idx="1"/>
          </p:nvPr>
        </p:nvSpPr>
        <p:spPr/>
        <p:txBody>
          <a:bodyPr>
            <a:normAutofit/>
          </a:bodyPr>
          <a:lstStyle/>
          <a:p>
            <a:r>
              <a:rPr lang="en-IN" dirty="0">
                <a:solidFill>
                  <a:schemeClr val="tx1"/>
                </a:solidFill>
                <a:latin typeface="Times New Roman" panose="02020603050405020304" pitchFamily="18" charset="0"/>
                <a:ea typeface="Calibri" panose="020F0502020204030204" pitchFamily="34" charset="0"/>
              </a:rPr>
              <a:t>P</a:t>
            </a:r>
            <a:r>
              <a:rPr lang="en-IN" dirty="0">
                <a:solidFill>
                  <a:schemeClr val="tx1"/>
                </a:solidFill>
                <a:effectLst/>
                <a:latin typeface="Times New Roman" panose="02020603050405020304" pitchFamily="18" charset="0"/>
                <a:ea typeface="Calibri" panose="020F0502020204030204" pitchFamily="34" charset="0"/>
              </a:rPr>
              <a:t>atterns inferred from the unlabelled input data</a:t>
            </a:r>
          </a:p>
          <a:p>
            <a:r>
              <a:rPr lang="en-IN" dirty="0">
                <a:solidFill>
                  <a:schemeClr val="tx1"/>
                </a:solidFill>
                <a:latin typeface="Times New Roman" panose="02020603050405020304" pitchFamily="18" charset="0"/>
                <a:ea typeface="Calibri" panose="020F0502020204030204" pitchFamily="34" charset="0"/>
              </a:rPr>
              <a:t>T</a:t>
            </a:r>
            <a:r>
              <a:rPr lang="en-IN" dirty="0">
                <a:solidFill>
                  <a:schemeClr val="tx1"/>
                </a:solidFill>
                <a:effectLst/>
                <a:latin typeface="Times New Roman" panose="02020603050405020304" pitchFamily="18" charset="0"/>
                <a:ea typeface="Calibri" panose="020F0502020204030204" pitchFamily="34" charset="0"/>
              </a:rPr>
              <a:t>o find the structure and patterns from the input data</a:t>
            </a:r>
          </a:p>
          <a:p>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Unsupervised learning does not need any supervision. Instead, it finds patterns from the data by its own.</a:t>
            </a:r>
          </a:p>
          <a:p>
            <a:endParaRPr lang="en-IN" sz="4000" dirty="0">
              <a:solidFill>
                <a:schemeClr val="tx1"/>
              </a:solidFill>
            </a:endParaRPr>
          </a:p>
        </p:txBody>
      </p:sp>
      <p:sp>
        <p:nvSpPr>
          <p:cNvPr id="4" name="Date Placeholder 3">
            <a:extLst>
              <a:ext uri="{FF2B5EF4-FFF2-40B4-BE49-F238E27FC236}">
                <a16:creationId xmlns:a16="http://schemas.microsoft.com/office/drawing/2014/main" id="{A4B1C259-75B4-8C7D-2325-5F350CE6DCC7}"/>
              </a:ext>
            </a:extLst>
          </p:cNvPr>
          <p:cNvSpPr>
            <a:spLocks noGrp="1"/>
          </p:cNvSpPr>
          <p:nvPr>
            <p:ph type="dt" sz="half" idx="10"/>
          </p:nvPr>
        </p:nvSpPr>
        <p:spPr/>
        <p:txBody>
          <a:bodyPr/>
          <a:lstStyle/>
          <a:p>
            <a:fld id="{4863E748-B6F5-4975-88AB-0325EC5F57AC}" type="datetime1">
              <a:rPr lang="en-IN" smtClean="0"/>
              <a:t>11-09-2025</a:t>
            </a:fld>
            <a:endParaRPr lang="en-IN"/>
          </a:p>
        </p:txBody>
      </p:sp>
      <p:sp>
        <p:nvSpPr>
          <p:cNvPr id="5" name="Slide Number Placeholder 4">
            <a:extLst>
              <a:ext uri="{FF2B5EF4-FFF2-40B4-BE49-F238E27FC236}">
                <a16:creationId xmlns:a16="http://schemas.microsoft.com/office/drawing/2014/main" id="{9372FF41-AA14-EDEF-BEB2-7F1FE6EB60F6}"/>
              </a:ext>
            </a:extLst>
          </p:cNvPr>
          <p:cNvSpPr>
            <a:spLocks noGrp="1"/>
          </p:cNvSpPr>
          <p:nvPr>
            <p:ph type="sldNum" sz="quarter" idx="12"/>
          </p:nvPr>
        </p:nvSpPr>
        <p:spPr/>
        <p:txBody>
          <a:bodyPr/>
          <a:lstStyle/>
          <a:p>
            <a:fld id="{D75E712A-30F9-4F5C-A4F1-6DC8A3808094}" type="slidenum">
              <a:rPr lang="en-IN" smtClean="0"/>
              <a:t>4</a:t>
            </a:fld>
            <a:endParaRPr lang="en-IN"/>
          </a:p>
        </p:txBody>
      </p:sp>
    </p:spTree>
    <p:extLst>
      <p:ext uri="{BB962C8B-B14F-4D97-AF65-F5344CB8AC3E}">
        <p14:creationId xmlns:p14="http://schemas.microsoft.com/office/powerpoint/2010/main" val="981804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A5CD1-B7FF-4BD9-A4BF-1818DD56FFE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Unsupervised Learning</a:t>
            </a:r>
            <a:endParaRPr lang="en-IN" dirty="0"/>
          </a:p>
        </p:txBody>
      </p:sp>
      <p:pic>
        <p:nvPicPr>
          <p:cNvPr id="2050" name="Picture 2" descr="Visualization of discovered groupings">
            <a:extLst>
              <a:ext uri="{FF2B5EF4-FFF2-40B4-BE49-F238E27FC236}">
                <a16:creationId xmlns:a16="http://schemas.microsoft.com/office/drawing/2014/main" id="{C561B9E0-1C43-5DD2-90BD-9B0FD1B2D4C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8721" y="2697422"/>
            <a:ext cx="4693187" cy="331787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Dogs vs Cats Image Classification using ResNet | by Anubhav Shrimal |  Anubhav Shrimal | Medium">
            <a:extLst>
              <a:ext uri="{FF2B5EF4-FFF2-40B4-BE49-F238E27FC236}">
                <a16:creationId xmlns:a16="http://schemas.microsoft.com/office/drawing/2014/main" id="{7802F4D2-F406-8405-231E-7E308CF18A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4729" y="3087396"/>
            <a:ext cx="4511869" cy="2537926"/>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EC9184E5-B940-C00A-5872-D4CBFD787C9F}"/>
              </a:ext>
            </a:extLst>
          </p:cNvPr>
          <p:cNvSpPr>
            <a:spLocks noGrp="1"/>
          </p:cNvSpPr>
          <p:nvPr>
            <p:ph type="dt" sz="half" idx="10"/>
          </p:nvPr>
        </p:nvSpPr>
        <p:spPr/>
        <p:txBody>
          <a:bodyPr/>
          <a:lstStyle/>
          <a:p>
            <a:fld id="{6C50D78C-4E24-40DD-9598-8F64B4E459C1}" type="datetime1">
              <a:rPr lang="en-IN" smtClean="0"/>
              <a:t>11-09-2025</a:t>
            </a:fld>
            <a:endParaRPr lang="en-IN"/>
          </a:p>
        </p:txBody>
      </p:sp>
      <p:sp>
        <p:nvSpPr>
          <p:cNvPr id="5" name="Slide Number Placeholder 4">
            <a:extLst>
              <a:ext uri="{FF2B5EF4-FFF2-40B4-BE49-F238E27FC236}">
                <a16:creationId xmlns:a16="http://schemas.microsoft.com/office/drawing/2014/main" id="{ECB0D195-0021-4428-4944-3F93CC4B5E2B}"/>
              </a:ext>
            </a:extLst>
          </p:cNvPr>
          <p:cNvSpPr>
            <a:spLocks noGrp="1"/>
          </p:cNvSpPr>
          <p:nvPr>
            <p:ph type="sldNum" sz="quarter" idx="12"/>
          </p:nvPr>
        </p:nvSpPr>
        <p:spPr/>
        <p:txBody>
          <a:bodyPr/>
          <a:lstStyle/>
          <a:p>
            <a:fld id="{D75E712A-30F9-4F5C-A4F1-6DC8A3808094}" type="slidenum">
              <a:rPr lang="en-IN" smtClean="0"/>
              <a:t>5</a:t>
            </a:fld>
            <a:endParaRPr lang="en-IN"/>
          </a:p>
        </p:txBody>
      </p:sp>
    </p:spTree>
    <p:extLst>
      <p:ext uri="{BB962C8B-B14F-4D97-AF65-F5344CB8AC3E}">
        <p14:creationId xmlns:p14="http://schemas.microsoft.com/office/powerpoint/2010/main" val="1487442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90C3F-1D4E-7AA7-B61D-51CD65E46F0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Unsupervised Learning</a:t>
            </a:r>
            <a:endParaRPr lang="en-IN" dirty="0"/>
          </a:p>
        </p:txBody>
      </p:sp>
      <p:pic>
        <p:nvPicPr>
          <p:cNvPr id="3082" name="Picture 10" descr="Premium Photo | A vibrant basket brimming with a diverse assortment of  fresh and juicy fruits showcasing their rich colors and variety A fruit  basket in the style of pointillism AI Generated">
            <a:extLst>
              <a:ext uri="{FF2B5EF4-FFF2-40B4-BE49-F238E27FC236}">
                <a16:creationId xmlns:a16="http://schemas.microsoft.com/office/drawing/2014/main" id="{FB4DD256-E8DF-9D30-50A5-8809C89840A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53075" y="2746057"/>
            <a:ext cx="4284860" cy="2854292"/>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The number of fruits in the basket are shown below Answer the following  question Which fruit is least in the number">
            <a:extLst>
              <a:ext uri="{FF2B5EF4-FFF2-40B4-BE49-F238E27FC236}">
                <a16:creationId xmlns:a16="http://schemas.microsoft.com/office/drawing/2014/main" id="{B7B7867F-FDCE-F26A-C629-B0E9819E59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7134" y="2746057"/>
            <a:ext cx="5997303" cy="2290179"/>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C0621FD2-1CCB-68CC-1AF3-953CE09A7FFC}"/>
              </a:ext>
            </a:extLst>
          </p:cNvPr>
          <p:cNvSpPr>
            <a:spLocks noGrp="1"/>
          </p:cNvSpPr>
          <p:nvPr>
            <p:ph type="dt" sz="half" idx="10"/>
          </p:nvPr>
        </p:nvSpPr>
        <p:spPr/>
        <p:txBody>
          <a:bodyPr/>
          <a:lstStyle/>
          <a:p>
            <a:fld id="{E6ED0668-FE86-4694-9BF0-3B4A569117CC}" type="datetime1">
              <a:rPr lang="en-IN" smtClean="0"/>
              <a:t>11-09-2025</a:t>
            </a:fld>
            <a:endParaRPr lang="en-IN"/>
          </a:p>
        </p:txBody>
      </p:sp>
      <p:sp>
        <p:nvSpPr>
          <p:cNvPr id="4" name="Slide Number Placeholder 3">
            <a:extLst>
              <a:ext uri="{FF2B5EF4-FFF2-40B4-BE49-F238E27FC236}">
                <a16:creationId xmlns:a16="http://schemas.microsoft.com/office/drawing/2014/main" id="{70801499-8B86-9C62-5EDE-AF92F78F3485}"/>
              </a:ext>
            </a:extLst>
          </p:cNvPr>
          <p:cNvSpPr>
            <a:spLocks noGrp="1"/>
          </p:cNvSpPr>
          <p:nvPr>
            <p:ph type="sldNum" sz="quarter" idx="12"/>
          </p:nvPr>
        </p:nvSpPr>
        <p:spPr/>
        <p:txBody>
          <a:bodyPr/>
          <a:lstStyle/>
          <a:p>
            <a:fld id="{D75E712A-30F9-4F5C-A4F1-6DC8A3808094}" type="slidenum">
              <a:rPr lang="en-IN" smtClean="0"/>
              <a:t>6</a:t>
            </a:fld>
            <a:endParaRPr lang="en-IN"/>
          </a:p>
        </p:txBody>
      </p:sp>
    </p:spTree>
    <p:extLst>
      <p:ext uri="{BB962C8B-B14F-4D97-AF65-F5344CB8AC3E}">
        <p14:creationId xmlns:p14="http://schemas.microsoft.com/office/powerpoint/2010/main" val="3440137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47A8A-B1C9-E7D2-D00F-7DDE0148C321}"/>
              </a:ext>
            </a:extLst>
          </p:cNvPr>
          <p:cNvSpPr>
            <a:spLocks noGrp="1"/>
          </p:cNvSpPr>
          <p:nvPr>
            <p:ph type="title"/>
          </p:nvPr>
        </p:nvSpPr>
        <p:spPr>
          <a:xfrm>
            <a:off x="699796" y="879495"/>
            <a:ext cx="10562253" cy="1341191"/>
          </a:xfrm>
        </p:spPr>
        <p:txBody>
          <a:bodyPr>
            <a:noAutofit/>
          </a:bodyPr>
          <a:lstStyle/>
          <a:p>
            <a:r>
              <a:rPr lang="en-US" sz="3600" b="1" dirty="0">
                <a:latin typeface="Times New Roman" panose="02020603050405020304" pitchFamily="18" charset="0"/>
                <a:cs typeface="Times New Roman" panose="02020603050405020304" pitchFamily="18" charset="0"/>
              </a:rPr>
              <a:t>Distinguish between Supervised and Unsupervised learning Methods in data analytics</a:t>
            </a:r>
            <a:endParaRPr lang="en-IN" sz="3600"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16B8E1AB-9564-331B-00C4-32F69705BC20}"/>
              </a:ext>
            </a:extLst>
          </p:cNvPr>
          <p:cNvGraphicFramePr>
            <a:graphicFrameLocks noGrp="1"/>
          </p:cNvGraphicFramePr>
          <p:nvPr>
            <p:ph idx="1"/>
            <p:extLst>
              <p:ext uri="{D42A27DB-BD31-4B8C-83A1-F6EECF244321}">
                <p14:modId xmlns:p14="http://schemas.microsoft.com/office/powerpoint/2010/main" val="4203643273"/>
              </p:ext>
            </p:extLst>
          </p:nvPr>
        </p:nvGraphicFramePr>
        <p:xfrm>
          <a:off x="830424" y="2445495"/>
          <a:ext cx="10431625" cy="4515143"/>
        </p:xfrm>
        <a:graphic>
          <a:graphicData uri="http://schemas.openxmlformats.org/drawingml/2006/table">
            <a:tbl>
              <a:tblPr firstRow="1" bandRow="1">
                <a:tableStyleId>{5C22544A-7EE6-4342-B048-85BDC9FD1C3A}</a:tableStyleId>
              </a:tblPr>
              <a:tblGrid>
                <a:gridCol w="5128549">
                  <a:extLst>
                    <a:ext uri="{9D8B030D-6E8A-4147-A177-3AD203B41FA5}">
                      <a16:colId xmlns:a16="http://schemas.microsoft.com/office/drawing/2014/main" val="1637285924"/>
                    </a:ext>
                  </a:extLst>
                </a:gridCol>
                <a:gridCol w="5303076">
                  <a:extLst>
                    <a:ext uri="{9D8B030D-6E8A-4147-A177-3AD203B41FA5}">
                      <a16:colId xmlns:a16="http://schemas.microsoft.com/office/drawing/2014/main" val="2828784279"/>
                    </a:ext>
                  </a:extLst>
                </a:gridCol>
              </a:tblGrid>
              <a:tr h="398564">
                <a:tc>
                  <a:txBody>
                    <a:bodyPr/>
                    <a:lstStyle/>
                    <a:p>
                      <a:r>
                        <a:rPr lang="en-US" sz="2000" dirty="0">
                          <a:latin typeface="Times New Roman" panose="02020603050405020304" pitchFamily="18" charset="0"/>
                          <a:cs typeface="Times New Roman" panose="02020603050405020304" pitchFamily="18" charset="0"/>
                        </a:rPr>
                        <a:t>Supervised Learning</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Unsupervised Learning</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92648884"/>
                  </a:ext>
                </a:extLst>
              </a:tr>
              <a:tr h="398564">
                <a:tc>
                  <a:txBody>
                    <a:bodyPr/>
                    <a:lstStyle/>
                    <a:p>
                      <a:r>
                        <a:rPr lang="en-US" sz="2000" dirty="0">
                          <a:latin typeface="Times New Roman" panose="02020603050405020304" pitchFamily="18" charset="0"/>
                          <a:cs typeface="Times New Roman" panose="02020603050405020304" pitchFamily="18" charset="0"/>
                        </a:rPr>
                        <a:t>Trained using labelled data</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Trained using unlabeled data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54162039"/>
                  </a:ext>
                </a:extLst>
              </a:tr>
              <a:tr h="705152">
                <a:tc>
                  <a:txBody>
                    <a:bodyPr/>
                    <a:lstStyle/>
                    <a:p>
                      <a:r>
                        <a:rPr lang="en-IN" sz="2000" kern="1200" dirty="0">
                          <a:solidFill>
                            <a:schemeClr val="dk1"/>
                          </a:solidFill>
                          <a:effectLst/>
                          <a:latin typeface="Times New Roman" panose="02020603050405020304" pitchFamily="18" charset="0"/>
                          <a:ea typeface="+mn-ea"/>
                          <a:cs typeface="Times New Roman" panose="02020603050405020304" pitchFamily="18" charset="0"/>
                        </a:rPr>
                        <a:t>Input data is provided to the model along with the output labels.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kern="1200" dirty="0">
                          <a:solidFill>
                            <a:schemeClr val="dk1"/>
                          </a:solidFill>
                          <a:effectLst/>
                          <a:latin typeface="Times New Roman" panose="02020603050405020304" pitchFamily="18" charset="0"/>
                          <a:ea typeface="+mn-ea"/>
                          <a:cs typeface="Times New Roman" panose="02020603050405020304" pitchFamily="18" charset="0"/>
                        </a:rPr>
                        <a:t>Only input data is provided to the model.</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45688840"/>
                  </a:ext>
                </a:extLst>
              </a:tr>
              <a:tr h="1011739">
                <a:tc>
                  <a:txBody>
                    <a:bodyPr/>
                    <a:lstStyle/>
                    <a:p>
                      <a:r>
                        <a:rPr lang="en-IN" sz="2000" kern="1200" dirty="0">
                          <a:solidFill>
                            <a:schemeClr val="dk1"/>
                          </a:solidFill>
                          <a:effectLst/>
                          <a:latin typeface="Times New Roman" panose="02020603050405020304" pitchFamily="18" charset="0"/>
                          <a:ea typeface="+mn-ea"/>
                          <a:cs typeface="Times New Roman" panose="02020603050405020304" pitchFamily="18" charset="0"/>
                        </a:rPr>
                        <a:t>goal of supervised learning is to train the model so that it can predict the output when it is given new data</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kern="1200" dirty="0">
                          <a:solidFill>
                            <a:schemeClr val="dk1"/>
                          </a:solidFill>
                          <a:effectLst/>
                          <a:latin typeface="Times New Roman" panose="02020603050405020304" pitchFamily="18" charset="0"/>
                          <a:ea typeface="+mn-ea"/>
                          <a:cs typeface="Times New Roman" panose="02020603050405020304" pitchFamily="18" charset="0"/>
                        </a:rPr>
                        <a:t>The goal of unsupervised learning is to find the hidden patterns and useful insights from the unknown dataset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12655146"/>
                  </a:ext>
                </a:extLst>
              </a:tr>
              <a:tr h="1295972">
                <a:tc>
                  <a:txBody>
                    <a:bodyPr/>
                    <a:lstStyle/>
                    <a:p>
                      <a:r>
                        <a:rPr lang="en-US" sz="2000" dirty="0">
                          <a:latin typeface="Times New Roman" panose="02020603050405020304" pitchFamily="18" charset="0"/>
                          <a:cs typeface="Times New Roman" panose="02020603050405020304" pitchFamily="18" charset="0"/>
                        </a:rPr>
                        <a:t>Typically used for regression(</a:t>
                      </a:r>
                      <a:r>
                        <a:rPr lang="en-IN" sz="2000" kern="1200" dirty="0">
                          <a:solidFill>
                            <a:schemeClr val="dk1"/>
                          </a:solidFill>
                          <a:effectLst/>
                          <a:latin typeface="Times New Roman" panose="02020603050405020304" pitchFamily="18" charset="0"/>
                          <a:ea typeface="+mn-ea"/>
                          <a:cs typeface="Times New Roman" panose="02020603050405020304" pitchFamily="18" charset="0"/>
                        </a:rPr>
                        <a:t>predicting continuous values)</a:t>
                      </a:r>
                      <a:r>
                        <a:rPr lang="en-US" sz="2000" dirty="0">
                          <a:latin typeface="Times New Roman" panose="02020603050405020304" pitchFamily="18" charset="0"/>
                          <a:cs typeface="Times New Roman" panose="02020603050405020304" pitchFamily="18" charset="0"/>
                        </a:rPr>
                        <a:t> and Classification (</a:t>
                      </a:r>
                      <a:r>
                        <a:rPr lang="en-IN" sz="2000" kern="1200" dirty="0">
                          <a:solidFill>
                            <a:schemeClr val="dk1"/>
                          </a:solidFill>
                          <a:effectLst/>
                          <a:latin typeface="Times New Roman" panose="02020603050405020304" pitchFamily="18" charset="0"/>
                          <a:ea typeface="+mn-ea"/>
                          <a:cs typeface="Times New Roman" panose="02020603050405020304" pitchFamily="18" charset="0"/>
                        </a:rPr>
                        <a:t>predicting categorical values)</a:t>
                      </a:r>
                      <a:endParaRPr lang="en-IN" sz="2000" dirty="0">
                        <a:latin typeface="Times New Roman" panose="02020603050405020304" pitchFamily="18" charset="0"/>
                        <a:cs typeface="Times New Roman" panose="02020603050405020304" pitchFamily="18" charset="0"/>
                      </a:endParaRPr>
                    </a:p>
                  </a:txBody>
                  <a:tcPr/>
                </a:tc>
                <a:tc>
                  <a:txBody>
                    <a:bodyPr/>
                    <a:lstStyle/>
                    <a:p>
                      <a:pPr>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Commonly used for clustering (grouping similar items), association (finding relationships between variables), and dimensionality reduction (reducing the number of variables).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34460946"/>
                  </a:ext>
                </a:extLst>
              </a:tr>
              <a:tr h="705152">
                <a:tc>
                  <a:txBody>
                    <a:bodyPr/>
                    <a:lstStyle/>
                    <a:p>
                      <a:pPr>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The output is typically a specific prediction or classification based on the labelled data.</a:t>
                      </a:r>
                    </a:p>
                  </a:txBody>
                  <a:tcPr marL="68580" marR="68580" marT="0" marB="0"/>
                </a:tc>
                <a:tc>
                  <a:txBody>
                    <a:bodyPr/>
                    <a:lstStyle/>
                    <a:p>
                      <a:r>
                        <a:rPr lang="en-IN" sz="2000" kern="1200" dirty="0">
                          <a:solidFill>
                            <a:schemeClr val="dk1"/>
                          </a:solidFill>
                          <a:effectLst/>
                          <a:latin typeface="Times New Roman" panose="02020603050405020304" pitchFamily="18" charset="0"/>
                          <a:ea typeface="+mn-ea"/>
                          <a:cs typeface="Times New Roman" panose="02020603050405020304" pitchFamily="18" charset="0"/>
                        </a:rPr>
                        <a:t>The results are generally more exploratory and descriptive.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1856139"/>
                  </a:ext>
                </a:extLst>
              </a:tr>
            </a:tbl>
          </a:graphicData>
        </a:graphic>
      </p:graphicFrame>
      <p:sp>
        <p:nvSpPr>
          <p:cNvPr id="3" name="Date Placeholder 2">
            <a:extLst>
              <a:ext uri="{FF2B5EF4-FFF2-40B4-BE49-F238E27FC236}">
                <a16:creationId xmlns:a16="http://schemas.microsoft.com/office/drawing/2014/main" id="{64F79849-5965-FE8F-279F-AB84CA4F7123}"/>
              </a:ext>
            </a:extLst>
          </p:cNvPr>
          <p:cNvSpPr>
            <a:spLocks noGrp="1"/>
          </p:cNvSpPr>
          <p:nvPr>
            <p:ph type="dt" sz="half" idx="10"/>
          </p:nvPr>
        </p:nvSpPr>
        <p:spPr/>
        <p:txBody>
          <a:bodyPr/>
          <a:lstStyle/>
          <a:p>
            <a:fld id="{E7359093-4503-474C-93B6-8C238B38B6F6}" type="datetime1">
              <a:rPr lang="en-IN" smtClean="0"/>
              <a:t>11-09-2025</a:t>
            </a:fld>
            <a:endParaRPr lang="en-IN"/>
          </a:p>
        </p:txBody>
      </p:sp>
      <p:sp>
        <p:nvSpPr>
          <p:cNvPr id="5" name="Slide Number Placeholder 4">
            <a:extLst>
              <a:ext uri="{FF2B5EF4-FFF2-40B4-BE49-F238E27FC236}">
                <a16:creationId xmlns:a16="http://schemas.microsoft.com/office/drawing/2014/main" id="{B2BEB3AA-90CD-57EB-EBA7-1E0DF7A5F524}"/>
              </a:ext>
            </a:extLst>
          </p:cNvPr>
          <p:cNvSpPr>
            <a:spLocks noGrp="1"/>
          </p:cNvSpPr>
          <p:nvPr>
            <p:ph type="sldNum" sz="quarter" idx="12"/>
          </p:nvPr>
        </p:nvSpPr>
        <p:spPr/>
        <p:txBody>
          <a:bodyPr/>
          <a:lstStyle/>
          <a:p>
            <a:fld id="{D75E712A-30F9-4F5C-A4F1-6DC8A3808094}" type="slidenum">
              <a:rPr lang="en-IN" smtClean="0"/>
              <a:t>7</a:t>
            </a:fld>
            <a:endParaRPr lang="en-IN"/>
          </a:p>
        </p:txBody>
      </p:sp>
    </p:spTree>
    <p:extLst>
      <p:ext uri="{BB962C8B-B14F-4D97-AF65-F5344CB8AC3E}">
        <p14:creationId xmlns:p14="http://schemas.microsoft.com/office/powerpoint/2010/main" val="4120014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CE120-04DE-C924-D5BC-37EFCD917E6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What are statistics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C18D41-9F44-4BB4-9D26-0B03708D4CAD}"/>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Statistics (a discipline) is a science of dealing with data. </a:t>
            </a:r>
          </a:p>
          <a:p>
            <a:r>
              <a:rPr lang="en-US" dirty="0">
                <a:solidFill>
                  <a:schemeClr val="tx1"/>
                </a:solidFill>
                <a:latin typeface="Times New Roman" panose="02020603050405020304" pitchFamily="18" charset="0"/>
                <a:cs typeface="Times New Roman" panose="02020603050405020304" pitchFamily="18" charset="0"/>
              </a:rPr>
              <a:t>It consists of tools and methods to </a:t>
            </a:r>
            <a:r>
              <a:rPr lang="en-US" b="1" dirty="0">
                <a:solidFill>
                  <a:srgbClr val="FF0000"/>
                </a:solidFill>
                <a:latin typeface="Times New Roman" panose="02020603050405020304" pitchFamily="18" charset="0"/>
                <a:cs typeface="Times New Roman" panose="02020603050405020304" pitchFamily="18" charset="0"/>
              </a:rPr>
              <a:t>collect data</a:t>
            </a:r>
            <a:r>
              <a:rPr lang="en-US" dirty="0">
                <a:solidFill>
                  <a:schemeClr val="tx1"/>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organize data</a:t>
            </a:r>
            <a:r>
              <a:rPr lang="en-US" dirty="0">
                <a:solidFill>
                  <a:schemeClr val="tx1"/>
                </a:solidFill>
                <a:latin typeface="Times New Roman" panose="02020603050405020304" pitchFamily="18" charset="0"/>
                <a:cs typeface="Times New Roman" panose="02020603050405020304" pitchFamily="18" charset="0"/>
              </a:rPr>
              <a:t>, and </a:t>
            </a:r>
            <a:r>
              <a:rPr lang="en-US" b="1" dirty="0">
                <a:solidFill>
                  <a:srgbClr val="FF0000"/>
                </a:solidFill>
                <a:latin typeface="Times New Roman" panose="02020603050405020304" pitchFamily="18" charset="0"/>
                <a:cs typeface="Times New Roman" panose="02020603050405020304" pitchFamily="18" charset="0"/>
              </a:rPr>
              <a:t>interpret the information </a:t>
            </a:r>
            <a:r>
              <a:rPr lang="en-US" dirty="0">
                <a:solidFill>
                  <a:schemeClr val="tx1"/>
                </a:solidFill>
                <a:latin typeface="Times New Roman" panose="02020603050405020304" pitchFamily="18" charset="0"/>
                <a:cs typeface="Times New Roman" panose="02020603050405020304" pitchFamily="18" charset="0"/>
              </a:rPr>
              <a:t>or </a:t>
            </a:r>
            <a:r>
              <a:rPr lang="en-US" b="1" dirty="0">
                <a:solidFill>
                  <a:srgbClr val="FF0000"/>
                </a:solidFill>
                <a:latin typeface="Times New Roman" panose="02020603050405020304" pitchFamily="18" charset="0"/>
                <a:cs typeface="Times New Roman" panose="02020603050405020304" pitchFamily="18" charset="0"/>
              </a:rPr>
              <a:t>draw conclusion </a:t>
            </a:r>
            <a:r>
              <a:rPr lang="en-US" dirty="0">
                <a:solidFill>
                  <a:schemeClr val="tx1"/>
                </a:solidFill>
                <a:latin typeface="Times New Roman" panose="02020603050405020304" pitchFamily="18" charset="0"/>
                <a:cs typeface="Times New Roman" panose="02020603050405020304" pitchFamily="18" charset="0"/>
              </a:rPr>
              <a:t>from data.</a:t>
            </a:r>
          </a:p>
          <a:p>
            <a:r>
              <a:rPr lang="en-US" dirty="0">
                <a:solidFill>
                  <a:schemeClr val="tx1"/>
                </a:solidFill>
                <a:latin typeface="Times New Roman" panose="02020603050405020304" pitchFamily="18" charset="0"/>
                <a:cs typeface="Times New Roman" panose="02020603050405020304" pitchFamily="18" charset="0"/>
              </a:rPr>
              <a:t>In context of data analytics , </a:t>
            </a:r>
            <a:r>
              <a:rPr lang="en-IN"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statistics serve as the foundation for making data-driven decisions</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a:t>
            </a:r>
          </a:p>
          <a:p>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613F8E5-27F1-74EB-C438-90F7EA7EB7D9}"/>
              </a:ext>
            </a:extLst>
          </p:cNvPr>
          <p:cNvSpPr>
            <a:spLocks noGrp="1"/>
          </p:cNvSpPr>
          <p:nvPr>
            <p:ph type="dt" sz="half" idx="10"/>
          </p:nvPr>
        </p:nvSpPr>
        <p:spPr/>
        <p:txBody>
          <a:bodyPr/>
          <a:lstStyle/>
          <a:p>
            <a:fld id="{1358F1E5-650E-48CA-B7E6-2F96B69EA225}" type="datetime1">
              <a:rPr lang="en-IN" smtClean="0"/>
              <a:t>11-09-2025</a:t>
            </a:fld>
            <a:endParaRPr lang="en-IN"/>
          </a:p>
        </p:txBody>
      </p:sp>
      <p:sp>
        <p:nvSpPr>
          <p:cNvPr id="5" name="Slide Number Placeholder 4">
            <a:extLst>
              <a:ext uri="{FF2B5EF4-FFF2-40B4-BE49-F238E27FC236}">
                <a16:creationId xmlns:a16="http://schemas.microsoft.com/office/drawing/2014/main" id="{1269232D-A9CE-8129-8FCC-E49860178C79}"/>
              </a:ext>
            </a:extLst>
          </p:cNvPr>
          <p:cNvSpPr>
            <a:spLocks noGrp="1"/>
          </p:cNvSpPr>
          <p:nvPr>
            <p:ph type="sldNum" sz="quarter" idx="12"/>
          </p:nvPr>
        </p:nvSpPr>
        <p:spPr/>
        <p:txBody>
          <a:bodyPr/>
          <a:lstStyle/>
          <a:p>
            <a:fld id="{D75E712A-30F9-4F5C-A4F1-6DC8A3808094}" type="slidenum">
              <a:rPr lang="en-IN" smtClean="0"/>
              <a:t>8</a:t>
            </a:fld>
            <a:endParaRPr lang="en-IN"/>
          </a:p>
        </p:txBody>
      </p:sp>
    </p:spTree>
    <p:extLst>
      <p:ext uri="{BB962C8B-B14F-4D97-AF65-F5344CB8AC3E}">
        <p14:creationId xmlns:p14="http://schemas.microsoft.com/office/powerpoint/2010/main" val="2649352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16435-B2C5-94FD-4CA3-3F0E897165A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Basic Terms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926DD37-E416-ED11-30D5-8F833D877F5D}"/>
              </a:ext>
            </a:extLst>
          </p:cNvPr>
          <p:cNvSpPr>
            <a:spLocks noGrp="1"/>
          </p:cNvSpPr>
          <p:nvPr>
            <p:ph idx="1"/>
          </p:nvPr>
        </p:nvSpPr>
        <p:spPr>
          <a:xfrm>
            <a:off x="1192764" y="2556932"/>
            <a:ext cx="9601196" cy="3318936"/>
          </a:xfrm>
        </p:spPr>
        <p:txBody>
          <a:bodyPr/>
          <a:lstStyle/>
          <a:p>
            <a:r>
              <a:rPr lang="en-US" b="1" dirty="0">
                <a:latin typeface="Times New Roman" panose="02020603050405020304" pitchFamily="18" charset="0"/>
                <a:cs typeface="Times New Roman" panose="02020603050405020304" pitchFamily="18" charset="0"/>
              </a:rPr>
              <a:t>Population: </a:t>
            </a:r>
            <a:r>
              <a:rPr lang="en-US" dirty="0">
                <a:latin typeface="Times New Roman" panose="02020603050405020304" pitchFamily="18" charset="0"/>
                <a:cs typeface="Times New Roman" panose="02020603050405020304" pitchFamily="18" charset="0"/>
              </a:rPr>
              <a:t>A collection, or set, of individuals or objects or events whose properties are to be analyzed.</a:t>
            </a:r>
          </a:p>
          <a:p>
            <a:r>
              <a:rPr lang="en-US" b="1" dirty="0">
                <a:latin typeface="Times New Roman" panose="02020603050405020304" pitchFamily="18" charset="0"/>
                <a:cs typeface="Times New Roman" panose="02020603050405020304" pitchFamily="18" charset="0"/>
              </a:rPr>
              <a:t>Sample: </a:t>
            </a:r>
            <a:r>
              <a:rPr lang="en-US" dirty="0">
                <a:latin typeface="Times New Roman" panose="02020603050405020304" pitchFamily="18" charset="0"/>
                <a:cs typeface="Times New Roman" panose="02020603050405020304" pitchFamily="18" charset="0"/>
              </a:rPr>
              <a:t>A subset of the population.</a:t>
            </a:r>
          </a:p>
          <a:p>
            <a:r>
              <a:rPr lang="en-US" b="1" dirty="0">
                <a:latin typeface="Times New Roman" panose="02020603050405020304" pitchFamily="18" charset="0"/>
                <a:cs typeface="Times New Roman" panose="02020603050405020304" pitchFamily="18" charset="0"/>
              </a:rPr>
              <a:t>Parameter: </a:t>
            </a:r>
            <a:r>
              <a:rPr lang="en-US" dirty="0">
                <a:latin typeface="Times New Roman" panose="02020603050405020304" pitchFamily="18" charset="0"/>
                <a:cs typeface="Times New Roman" panose="02020603050405020304" pitchFamily="18" charset="0"/>
              </a:rPr>
              <a:t>A numerical value summarizing all the data of an entire population , for instance, a population mean.</a:t>
            </a:r>
          </a:p>
          <a:p>
            <a:r>
              <a:rPr lang="en-US" b="1" dirty="0">
                <a:latin typeface="Times New Roman" panose="02020603050405020304" pitchFamily="18" charset="0"/>
                <a:cs typeface="Times New Roman" panose="02020603050405020304" pitchFamily="18" charset="0"/>
              </a:rPr>
              <a:t>Statistic: </a:t>
            </a:r>
            <a:r>
              <a:rPr lang="en-US" dirty="0">
                <a:latin typeface="Times New Roman" panose="02020603050405020304" pitchFamily="18" charset="0"/>
                <a:cs typeface="Times New Roman" panose="02020603050405020304" pitchFamily="18" charset="0"/>
              </a:rPr>
              <a:t>A numerical value summarizing the sample instance, a sample mean.</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D6308AC-423C-078A-0509-D34AA398CDAC}"/>
              </a:ext>
            </a:extLst>
          </p:cNvPr>
          <p:cNvSpPr>
            <a:spLocks noGrp="1"/>
          </p:cNvSpPr>
          <p:nvPr>
            <p:ph type="dt" sz="half" idx="10"/>
          </p:nvPr>
        </p:nvSpPr>
        <p:spPr/>
        <p:txBody>
          <a:bodyPr/>
          <a:lstStyle/>
          <a:p>
            <a:fld id="{C233A632-7155-4511-8C36-00B0D8559B5E}" type="datetime1">
              <a:rPr lang="en-IN" smtClean="0"/>
              <a:t>11-09-2025</a:t>
            </a:fld>
            <a:endParaRPr lang="en-IN"/>
          </a:p>
        </p:txBody>
      </p:sp>
      <p:sp>
        <p:nvSpPr>
          <p:cNvPr id="5" name="Slide Number Placeholder 4">
            <a:extLst>
              <a:ext uri="{FF2B5EF4-FFF2-40B4-BE49-F238E27FC236}">
                <a16:creationId xmlns:a16="http://schemas.microsoft.com/office/drawing/2014/main" id="{282520AE-1892-2CA2-E08B-11EADB651140}"/>
              </a:ext>
            </a:extLst>
          </p:cNvPr>
          <p:cNvSpPr>
            <a:spLocks noGrp="1"/>
          </p:cNvSpPr>
          <p:nvPr>
            <p:ph type="sldNum" sz="quarter" idx="12"/>
          </p:nvPr>
        </p:nvSpPr>
        <p:spPr/>
        <p:txBody>
          <a:bodyPr/>
          <a:lstStyle/>
          <a:p>
            <a:fld id="{D75E712A-30F9-4F5C-A4F1-6DC8A3808094}" type="slidenum">
              <a:rPr lang="en-IN" smtClean="0"/>
              <a:t>9</a:t>
            </a:fld>
            <a:endParaRPr lang="en-IN"/>
          </a:p>
        </p:txBody>
      </p:sp>
    </p:spTree>
    <p:extLst>
      <p:ext uri="{BB962C8B-B14F-4D97-AF65-F5344CB8AC3E}">
        <p14:creationId xmlns:p14="http://schemas.microsoft.com/office/powerpoint/2010/main" val="1822788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EFE65-4342-B4D9-DCB0-6E43E54E049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Two areas of statistics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9023CCF-9478-046F-DD90-1FA67CECC201}"/>
              </a:ext>
            </a:extLst>
          </p:cNvPr>
          <p:cNvSpPr>
            <a:spLocks noGrp="1"/>
          </p:cNvSpPr>
          <p:nvPr>
            <p:ph idx="1"/>
          </p:nvPr>
        </p:nvSpPr>
        <p:spPr/>
        <p:txBody>
          <a:bodyPr>
            <a:normAutofit/>
          </a:bodyPr>
          <a:lstStyle/>
          <a:p>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Statistics is broadly divided into two main areas: </a:t>
            </a: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Descriptive Statistics</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Inferential Statistics</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Scores: 85, 78, 92, 88, 76, etc.</a:t>
            </a:r>
          </a:p>
          <a:p>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descriptive statistics is used to calculate mean, median , mode, range,</a:t>
            </a:r>
          </a:p>
          <a:p>
            <a:pPr marL="0" indent="0">
              <a:buNone/>
            </a:pPr>
            <a:r>
              <a:rPr lang="en-IN" dirty="0">
                <a:latin typeface="Times New Roman" panose="02020603050405020304" pitchFamily="18" charset="0"/>
                <a:cs typeface="Times New Roman" panose="02020603050405020304" pitchFamily="18" charset="0"/>
              </a:rPr>
              <a:t>Standard deviations</a:t>
            </a:r>
          </a:p>
          <a:p>
            <a:r>
              <a:rPr lang="en-IN" dirty="0">
                <a:latin typeface="Times New Roman" panose="02020603050405020304" pitchFamily="18" charset="0"/>
                <a:cs typeface="Times New Roman" panose="02020603050405020304" pitchFamily="18" charset="0"/>
              </a:rPr>
              <a:t>You can use bar chart, histogram to visualize data and get insights from it</a:t>
            </a:r>
          </a:p>
        </p:txBody>
      </p:sp>
      <p:sp>
        <p:nvSpPr>
          <p:cNvPr id="4" name="Date Placeholder 3">
            <a:extLst>
              <a:ext uri="{FF2B5EF4-FFF2-40B4-BE49-F238E27FC236}">
                <a16:creationId xmlns:a16="http://schemas.microsoft.com/office/drawing/2014/main" id="{0F7EA7A4-5A08-8285-DD62-73738892A92A}"/>
              </a:ext>
            </a:extLst>
          </p:cNvPr>
          <p:cNvSpPr>
            <a:spLocks noGrp="1"/>
          </p:cNvSpPr>
          <p:nvPr>
            <p:ph type="dt" sz="half" idx="10"/>
          </p:nvPr>
        </p:nvSpPr>
        <p:spPr/>
        <p:txBody>
          <a:bodyPr/>
          <a:lstStyle/>
          <a:p>
            <a:fld id="{A339AA99-73CB-4EEB-8A89-EE0AD4E9E14D}" type="datetime1">
              <a:rPr lang="en-IN" smtClean="0"/>
              <a:t>11-09-2025</a:t>
            </a:fld>
            <a:endParaRPr lang="en-IN"/>
          </a:p>
        </p:txBody>
      </p:sp>
      <p:sp>
        <p:nvSpPr>
          <p:cNvPr id="5" name="Slide Number Placeholder 4">
            <a:extLst>
              <a:ext uri="{FF2B5EF4-FFF2-40B4-BE49-F238E27FC236}">
                <a16:creationId xmlns:a16="http://schemas.microsoft.com/office/drawing/2014/main" id="{09AE4DF3-B1F9-A8DC-78D0-D32AB7B5ED05}"/>
              </a:ext>
            </a:extLst>
          </p:cNvPr>
          <p:cNvSpPr>
            <a:spLocks noGrp="1"/>
          </p:cNvSpPr>
          <p:nvPr>
            <p:ph type="sldNum" sz="quarter" idx="12"/>
          </p:nvPr>
        </p:nvSpPr>
        <p:spPr/>
        <p:txBody>
          <a:bodyPr/>
          <a:lstStyle/>
          <a:p>
            <a:fld id="{D75E712A-30F9-4F5C-A4F1-6DC8A3808094}" type="slidenum">
              <a:rPr lang="en-IN" smtClean="0"/>
              <a:t>10</a:t>
            </a:fld>
            <a:endParaRPr lang="en-IN"/>
          </a:p>
        </p:txBody>
      </p:sp>
    </p:spTree>
    <p:extLst>
      <p:ext uri="{BB962C8B-B14F-4D97-AF65-F5344CB8AC3E}">
        <p14:creationId xmlns:p14="http://schemas.microsoft.com/office/powerpoint/2010/main" val="509230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EECB8-82DA-1CC3-6252-A2C2F651898C}"/>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Inferential statistics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5E66795-CC63-4813-C913-624DC791FDE9}"/>
              </a:ext>
            </a:extLst>
          </p:cNvPr>
          <p:cNvSpPr>
            <a:spLocks noGrp="1"/>
          </p:cNvSpPr>
          <p:nvPr>
            <p:ph idx="1"/>
          </p:nvPr>
        </p:nvSpPr>
        <p:spPr/>
        <p:txBody>
          <a:bodyPr>
            <a:normAutofit fontScale="92500"/>
          </a:bodyPr>
          <a:lstStyle/>
          <a:p>
            <a:r>
              <a:rPr lang="en-US" dirty="0">
                <a:solidFill>
                  <a:schemeClr val="tx1"/>
                </a:solidFill>
                <a:latin typeface="Times New Roman" panose="02020603050405020304" pitchFamily="18" charset="0"/>
                <a:cs typeface="Times New Roman" panose="02020603050405020304" pitchFamily="18" charset="0"/>
              </a:rPr>
              <a:t>It involves using sample data to make predictions or draw conclusion about large population.</a:t>
            </a:r>
          </a:p>
          <a:p>
            <a:r>
              <a:rPr lang="en-US" dirty="0">
                <a:solidFill>
                  <a:schemeClr val="tx1"/>
                </a:solidFill>
                <a:latin typeface="Times New Roman" panose="02020603050405020304" pitchFamily="18" charset="0"/>
                <a:cs typeface="Times New Roman" panose="02020603050405020304" pitchFamily="18" charset="0"/>
              </a:rPr>
              <a:t>Example: Suppose you want to know average height of all students in a university (Population). Then it is not practical to take sample of 100 students and find their average height  i.e. 170cm. Using inferential statistics you can use this sample data to estimate average height of all students in the university. </a:t>
            </a:r>
          </a:p>
          <a:p>
            <a:r>
              <a:rPr lang="en-US" dirty="0">
                <a:solidFill>
                  <a:schemeClr val="tx1"/>
                </a:solidFill>
                <a:latin typeface="Times New Roman" panose="02020603050405020304" pitchFamily="18" charset="0"/>
                <a:cs typeface="Times New Roman" panose="02020603050405020304" pitchFamily="18" charset="0"/>
              </a:rPr>
              <a:t>You might calculate confidence interval to say “ We are 95% confident  that the average height of all students at the university is between 168cm to 170 cm.</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775707B-69AE-3D87-9A35-280F7B618C07}"/>
              </a:ext>
            </a:extLst>
          </p:cNvPr>
          <p:cNvSpPr>
            <a:spLocks noGrp="1"/>
          </p:cNvSpPr>
          <p:nvPr>
            <p:ph type="dt" sz="half" idx="10"/>
          </p:nvPr>
        </p:nvSpPr>
        <p:spPr/>
        <p:txBody>
          <a:bodyPr/>
          <a:lstStyle/>
          <a:p>
            <a:fld id="{A5341274-D944-40A6-9CB3-07B4303CEB4C}" type="datetime1">
              <a:rPr lang="en-IN" smtClean="0"/>
              <a:t>11-09-2025</a:t>
            </a:fld>
            <a:endParaRPr lang="en-IN"/>
          </a:p>
        </p:txBody>
      </p:sp>
      <p:sp>
        <p:nvSpPr>
          <p:cNvPr id="5" name="Slide Number Placeholder 4">
            <a:extLst>
              <a:ext uri="{FF2B5EF4-FFF2-40B4-BE49-F238E27FC236}">
                <a16:creationId xmlns:a16="http://schemas.microsoft.com/office/drawing/2014/main" id="{559271B9-46FA-88A1-5640-EB32148C08FB}"/>
              </a:ext>
            </a:extLst>
          </p:cNvPr>
          <p:cNvSpPr>
            <a:spLocks noGrp="1"/>
          </p:cNvSpPr>
          <p:nvPr>
            <p:ph type="sldNum" sz="quarter" idx="12"/>
          </p:nvPr>
        </p:nvSpPr>
        <p:spPr/>
        <p:txBody>
          <a:bodyPr/>
          <a:lstStyle/>
          <a:p>
            <a:fld id="{D75E712A-30F9-4F5C-A4F1-6DC8A3808094}" type="slidenum">
              <a:rPr lang="en-IN" smtClean="0"/>
              <a:t>11</a:t>
            </a:fld>
            <a:endParaRPr lang="en-IN"/>
          </a:p>
        </p:txBody>
      </p:sp>
    </p:spTree>
    <p:extLst>
      <p:ext uri="{BB962C8B-B14F-4D97-AF65-F5344CB8AC3E}">
        <p14:creationId xmlns:p14="http://schemas.microsoft.com/office/powerpoint/2010/main" val="1209701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2607A-794A-C3EB-6924-38785BB23B10}"/>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Variable </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E5E013F-7C77-1143-2E1C-59BC32621CC8}"/>
              </a:ext>
            </a:extLst>
          </p:cNvPr>
          <p:cNvSpPr>
            <a:spLocks noGrp="1"/>
          </p:cNvSpPr>
          <p:nvPr>
            <p:ph idx="1"/>
          </p:nvPr>
        </p:nvSpPr>
        <p:spPr>
          <a:xfrm>
            <a:off x="1295402" y="2556932"/>
            <a:ext cx="9601196" cy="3318936"/>
          </a:xfrm>
        </p:spPr>
        <p:txBody>
          <a:bodyPr/>
          <a:lstStyle/>
          <a:p>
            <a:r>
              <a:rPr lang="en-US" dirty="0">
                <a:latin typeface="Times New Roman" panose="02020603050405020304" pitchFamily="18" charset="0"/>
                <a:cs typeface="Times New Roman" panose="02020603050405020304" pitchFamily="18" charset="0"/>
              </a:rPr>
              <a:t>Variables are characteristics or properties that are recorded for each </a:t>
            </a:r>
            <a:r>
              <a:rPr lang="en-US" b="1" dirty="0">
                <a:latin typeface="Times New Roman" panose="02020603050405020304" pitchFamily="18" charset="0"/>
                <a:cs typeface="Times New Roman" panose="02020603050405020304" pitchFamily="18" charset="0"/>
              </a:rPr>
              <a:t>individual or object </a:t>
            </a:r>
            <a:r>
              <a:rPr lang="en-US" dirty="0">
                <a:latin typeface="Times New Roman" panose="02020603050405020304" pitchFamily="18" charset="0"/>
                <a:cs typeface="Times New Roman" panose="02020603050405020304" pitchFamily="18" charset="0"/>
              </a:rPr>
              <a:t>in study or dataset. It represents different attributes or pieces of information that we collect to </a:t>
            </a:r>
            <a:r>
              <a:rPr lang="en-US" b="1" dirty="0">
                <a:latin typeface="Times New Roman" panose="02020603050405020304" pitchFamily="18" charset="0"/>
                <a:cs typeface="Times New Roman" panose="02020603050405020304" pitchFamily="18" charset="0"/>
              </a:rPr>
              <a:t>understand , analyze </a:t>
            </a:r>
            <a:r>
              <a:rPr lang="en-US" dirty="0">
                <a:latin typeface="Times New Roman" panose="02020603050405020304" pitchFamily="18" charset="0"/>
                <a:cs typeface="Times New Roman" panose="02020603050405020304" pitchFamily="18" charset="0"/>
              </a:rPr>
              <a:t>and draw </a:t>
            </a:r>
            <a:r>
              <a:rPr lang="en-US" b="1" dirty="0">
                <a:latin typeface="Times New Roman" panose="02020603050405020304" pitchFamily="18" charset="0"/>
                <a:cs typeface="Times New Roman" panose="02020603050405020304" pitchFamily="18" charset="0"/>
              </a:rPr>
              <a:t>conclusion</a:t>
            </a:r>
            <a:r>
              <a:rPr lang="en-US" dirty="0">
                <a:latin typeface="Times New Roman" panose="02020603050405020304" pitchFamily="18" charset="0"/>
                <a:cs typeface="Times New Roman" panose="02020603050405020304" pitchFamily="18" charset="0"/>
              </a:rPr>
              <a:t> about the data.</a:t>
            </a:r>
          </a:p>
          <a:p>
            <a:r>
              <a:rPr lang="en-IN" dirty="0">
                <a:latin typeface="Times New Roman" panose="02020603050405020304" pitchFamily="18" charset="0"/>
                <a:cs typeface="Times New Roman" panose="02020603050405020304" pitchFamily="18" charset="0"/>
              </a:rPr>
              <a:t>Variables can be quantitative (Numeric) or qualitative(Categorical)</a:t>
            </a:r>
          </a:p>
          <a:p>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CD1CDDD-4600-79E2-0FC8-72BCCC730442}"/>
              </a:ext>
            </a:extLst>
          </p:cNvPr>
          <p:cNvSpPr>
            <a:spLocks noGrp="1"/>
          </p:cNvSpPr>
          <p:nvPr>
            <p:ph type="dt" sz="half" idx="10"/>
          </p:nvPr>
        </p:nvSpPr>
        <p:spPr/>
        <p:txBody>
          <a:bodyPr/>
          <a:lstStyle/>
          <a:p>
            <a:fld id="{43B9AE7E-BF65-49BF-8C08-0081EB347C93}" type="datetime1">
              <a:rPr lang="en-IN" smtClean="0"/>
              <a:t>11-09-2025</a:t>
            </a:fld>
            <a:endParaRPr lang="en-IN"/>
          </a:p>
        </p:txBody>
      </p:sp>
      <p:sp>
        <p:nvSpPr>
          <p:cNvPr id="5" name="Slide Number Placeholder 4">
            <a:extLst>
              <a:ext uri="{FF2B5EF4-FFF2-40B4-BE49-F238E27FC236}">
                <a16:creationId xmlns:a16="http://schemas.microsoft.com/office/drawing/2014/main" id="{4D028D61-F934-03D6-A563-F68721F46F3B}"/>
              </a:ext>
            </a:extLst>
          </p:cNvPr>
          <p:cNvSpPr>
            <a:spLocks noGrp="1"/>
          </p:cNvSpPr>
          <p:nvPr>
            <p:ph type="sldNum" sz="quarter" idx="12"/>
          </p:nvPr>
        </p:nvSpPr>
        <p:spPr/>
        <p:txBody>
          <a:bodyPr/>
          <a:lstStyle/>
          <a:p>
            <a:fld id="{D75E712A-30F9-4F5C-A4F1-6DC8A3808094}" type="slidenum">
              <a:rPr lang="en-IN" smtClean="0"/>
              <a:t>12</a:t>
            </a:fld>
            <a:endParaRPr lang="en-IN"/>
          </a:p>
        </p:txBody>
      </p:sp>
    </p:spTree>
    <p:extLst>
      <p:ext uri="{BB962C8B-B14F-4D97-AF65-F5344CB8AC3E}">
        <p14:creationId xmlns:p14="http://schemas.microsoft.com/office/powerpoint/2010/main" val="1358324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73181CB-D77F-372F-46B8-17D8C61357CA}"/>
              </a:ext>
            </a:extLst>
          </p:cNvPr>
          <p:cNvSpPr/>
          <p:nvPr/>
        </p:nvSpPr>
        <p:spPr>
          <a:xfrm>
            <a:off x="4180113" y="1240970"/>
            <a:ext cx="2883159" cy="10450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latin typeface="Times New Roman" panose="02020603050405020304" pitchFamily="18" charset="0"/>
                <a:cs typeface="Times New Roman" panose="02020603050405020304" pitchFamily="18" charset="0"/>
              </a:rPr>
              <a:t>Variables</a:t>
            </a:r>
            <a:endParaRPr lang="en-IN" sz="3200" b="1" dirty="0">
              <a:latin typeface="Times New Roman" panose="02020603050405020304" pitchFamily="18" charset="0"/>
              <a:cs typeface="Times New Roman" panose="02020603050405020304" pitchFamily="18" charset="0"/>
            </a:endParaRPr>
          </a:p>
        </p:txBody>
      </p:sp>
      <p:cxnSp>
        <p:nvCxnSpPr>
          <p:cNvPr id="6" name="Straight Arrow Connector 5">
            <a:extLst>
              <a:ext uri="{FF2B5EF4-FFF2-40B4-BE49-F238E27FC236}">
                <a16:creationId xmlns:a16="http://schemas.microsoft.com/office/drawing/2014/main" id="{733DEA91-AF80-1E38-C660-32C54B23360C}"/>
              </a:ext>
            </a:extLst>
          </p:cNvPr>
          <p:cNvCxnSpPr>
            <a:cxnSpLocks/>
            <a:stCxn id="4" idx="2"/>
            <a:endCxn id="4" idx="2"/>
          </p:cNvCxnSpPr>
          <p:nvPr/>
        </p:nvCxnSpPr>
        <p:spPr>
          <a:xfrm>
            <a:off x="5621693" y="2285999"/>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721BA92-9FA5-60F6-0873-168C10C5AA5E}"/>
              </a:ext>
            </a:extLst>
          </p:cNvPr>
          <p:cNvCxnSpPr>
            <a:stCxn id="4" idx="2"/>
          </p:cNvCxnSpPr>
          <p:nvPr/>
        </p:nvCxnSpPr>
        <p:spPr>
          <a:xfrm flipH="1">
            <a:off x="5621692" y="2285999"/>
            <a:ext cx="1" cy="73711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7F73376-65B2-A2CF-DC42-70AC4D8A0897}"/>
              </a:ext>
            </a:extLst>
          </p:cNvPr>
          <p:cNvCxnSpPr>
            <a:cxnSpLocks/>
          </p:cNvCxnSpPr>
          <p:nvPr/>
        </p:nvCxnSpPr>
        <p:spPr>
          <a:xfrm flipH="1">
            <a:off x="3200399" y="3023118"/>
            <a:ext cx="5047861"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B3278A7-A2F8-124F-C79D-93ACF60CC74E}"/>
              </a:ext>
            </a:extLst>
          </p:cNvPr>
          <p:cNvCxnSpPr/>
          <p:nvPr/>
        </p:nvCxnSpPr>
        <p:spPr>
          <a:xfrm>
            <a:off x="3200399" y="3023118"/>
            <a:ext cx="0" cy="60649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5B639BF-AE30-250C-8E7D-4B2A6D1AA1C8}"/>
              </a:ext>
            </a:extLst>
          </p:cNvPr>
          <p:cNvCxnSpPr/>
          <p:nvPr/>
        </p:nvCxnSpPr>
        <p:spPr>
          <a:xfrm>
            <a:off x="8248260" y="3023118"/>
            <a:ext cx="0" cy="60649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A0AD5AB-A93B-DA37-2AA1-07BD052F45F2}"/>
              </a:ext>
            </a:extLst>
          </p:cNvPr>
          <p:cNvSpPr txBox="1"/>
          <p:nvPr/>
        </p:nvSpPr>
        <p:spPr>
          <a:xfrm>
            <a:off x="2295524" y="3629608"/>
            <a:ext cx="2466975"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Qualitative</a:t>
            </a:r>
            <a:endParaRPr lang="en-IN" sz="32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469E84BB-1D8C-AD78-931D-2EC942394694}"/>
              </a:ext>
            </a:extLst>
          </p:cNvPr>
          <p:cNvSpPr txBox="1"/>
          <p:nvPr/>
        </p:nvSpPr>
        <p:spPr>
          <a:xfrm>
            <a:off x="7172324" y="3542494"/>
            <a:ext cx="2466975"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Quantitative</a:t>
            </a:r>
            <a:endParaRPr lang="en-IN" sz="3200" b="1" dirty="0">
              <a:latin typeface="Times New Roman" panose="02020603050405020304" pitchFamily="18" charset="0"/>
              <a:cs typeface="Times New Roman" panose="02020603050405020304" pitchFamily="18" charset="0"/>
            </a:endParaRPr>
          </a:p>
        </p:txBody>
      </p:sp>
      <p:cxnSp>
        <p:nvCxnSpPr>
          <p:cNvPr id="20" name="Straight Connector 19">
            <a:extLst>
              <a:ext uri="{FF2B5EF4-FFF2-40B4-BE49-F238E27FC236}">
                <a16:creationId xmlns:a16="http://schemas.microsoft.com/office/drawing/2014/main" id="{5CBEE579-8A4E-D114-2D21-3C4C6D219708}"/>
              </a:ext>
            </a:extLst>
          </p:cNvPr>
          <p:cNvCxnSpPr>
            <a:cxnSpLocks/>
            <a:stCxn id="17" idx="2"/>
          </p:cNvCxnSpPr>
          <p:nvPr/>
        </p:nvCxnSpPr>
        <p:spPr>
          <a:xfrm flipH="1">
            <a:off x="2676525" y="4214383"/>
            <a:ext cx="852487" cy="76719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A42278A-C16C-6BF6-E400-756D7B9ECB52}"/>
              </a:ext>
            </a:extLst>
          </p:cNvPr>
          <p:cNvCxnSpPr>
            <a:cxnSpLocks/>
          </p:cNvCxnSpPr>
          <p:nvPr/>
        </p:nvCxnSpPr>
        <p:spPr>
          <a:xfrm flipH="1">
            <a:off x="7429503" y="4127269"/>
            <a:ext cx="781531" cy="85430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3EF4307-C963-60E2-8934-B0788BC2AE36}"/>
              </a:ext>
            </a:extLst>
          </p:cNvPr>
          <p:cNvCxnSpPr>
            <a:cxnSpLocks/>
          </p:cNvCxnSpPr>
          <p:nvPr/>
        </p:nvCxnSpPr>
        <p:spPr>
          <a:xfrm>
            <a:off x="8248260" y="4127269"/>
            <a:ext cx="971066" cy="71956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946BF79-3131-7559-EA91-33714CF30097}"/>
              </a:ext>
            </a:extLst>
          </p:cNvPr>
          <p:cNvCxnSpPr>
            <a:cxnSpLocks/>
          </p:cNvCxnSpPr>
          <p:nvPr/>
        </p:nvCxnSpPr>
        <p:spPr>
          <a:xfrm>
            <a:off x="3529011" y="4194638"/>
            <a:ext cx="971066" cy="71956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48E506E9-BD9A-5C92-C0B6-B589410421DF}"/>
              </a:ext>
            </a:extLst>
          </p:cNvPr>
          <p:cNvSpPr txBox="1"/>
          <p:nvPr/>
        </p:nvSpPr>
        <p:spPr>
          <a:xfrm>
            <a:off x="1685925" y="4981575"/>
            <a:ext cx="1348446"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Nominal</a:t>
            </a:r>
            <a:endParaRPr lang="en-IN" sz="2400" b="1"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AF7979BB-AA4F-0B04-0440-0242520CDC17}"/>
              </a:ext>
            </a:extLst>
          </p:cNvPr>
          <p:cNvSpPr txBox="1"/>
          <p:nvPr/>
        </p:nvSpPr>
        <p:spPr>
          <a:xfrm>
            <a:off x="3803914" y="4981574"/>
            <a:ext cx="1226618"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Ordinal</a:t>
            </a:r>
            <a:endParaRPr lang="en-IN" sz="2400" b="1"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40BB6A63-3A72-B5E0-1430-B07FC9B876F4}"/>
              </a:ext>
            </a:extLst>
          </p:cNvPr>
          <p:cNvSpPr txBox="1"/>
          <p:nvPr/>
        </p:nvSpPr>
        <p:spPr>
          <a:xfrm>
            <a:off x="6816194" y="4981574"/>
            <a:ext cx="1254702"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Discrete</a:t>
            </a:r>
            <a:endParaRPr lang="en-IN" sz="2400" b="1" dirty="0">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D5F69369-C0B4-83CD-22E9-A017B47BA487}"/>
              </a:ext>
            </a:extLst>
          </p:cNvPr>
          <p:cNvSpPr txBox="1"/>
          <p:nvPr/>
        </p:nvSpPr>
        <p:spPr>
          <a:xfrm>
            <a:off x="8746184" y="4981574"/>
            <a:ext cx="1709122"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Continuous</a:t>
            </a:r>
            <a:endParaRPr lang="en-IN" sz="24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0C0F24FB-4493-ABA8-0D87-793545A81D34}"/>
              </a:ext>
            </a:extLst>
          </p:cNvPr>
          <p:cNvSpPr>
            <a:spLocks noGrp="1"/>
          </p:cNvSpPr>
          <p:nvPr>
            <p:ph type="dt" sz="half" idx="10"/>
          </p:nvPr>
        </p:nvSpPr>
        <p:spPr/>
        <p:txBody>
          <a:bodyPr/>
          <a:lstStyle/>
          <a:p>
            <a:fld id="{369FF2FF-4515-4422-A3F7-6BA17E68F4CE}" type="datetime1">
              <a:rPr lang="en-IN" smtClean="0"/>
              <a:t>11-09-2025</a:t>
            </a:fld>
            <a:endParaRPr lang="en-IN"/>
          </a:p>
        </p:txBody>
      </p:sp>
      <p:sp>
        <p:nvSpPr>
          <p:cNvPr id="3" name="Slide Number Placeholder 2">
            <a:extLst>
              <a:ext uri="{FF2B5EF4-FFF2-40B4-BE49-F238E27FC236}">
                <a16:creationId xmlns:a16="http://schemas.microsoft.com/office/drawing/2014/main" id="{5DF6777A-4639-E641-E225-C471D8859238}"/>
              </a:ext>
            </a:extLst>
          </p:cNvPr>
          <p:cNvSpPr>
            <a:spLocks noGrp="1"/>
          </p:cNvSpPr>
          <p:nvPr>
            <p:ph type="sldNum" sz="quarter" idx="12"/>
          </p:nvPr>
        </p:nvSpPr>
        <p:spPr/>
        <p:txBody>
          <a:bodyPr/>
          <a:lstStyle/>
          <a:p>
            <a:fld id="{D75E712A-30F9-4F5C-A4F1-6DC8A3808094}" type="slidenum">
              <a:rPr lang="en-IN" smtClean="0"/>
              <a:t>13</a:t>
            </a:fld>
            <a:endParaRPr lang="en-IN"/>
          </a:p>
        </p:txBody>
      </p:sp>
    </p:spTree>
    <p:extLst>
      <p:ext uri="{BB962C8B-B14F-4D97-AF65-F5344CB8AC3E}">
        <p14:creationId xmlns:p14="http://schemas.microsoft.com/office/powerpoint/2010/main" val="2620002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F27A6-0DCE-88F4-758E-C12C8DB24C5A}"/>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Quantitative variables </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4A5418F-9EC9-D751-53BD-7BE0F74A5FE2}"/>
              </a:ext>
            </a:extLst>
          </p:cNvPr>
          <p:cNvSpPr>
            <a:spLocks noGrp="1"/>
          </p:cNvSpPr>
          <p:nvPr>
            <p:ph idx="1"/>
          </p:nvPr>
        </p:nvSpPr>
        <p:spPr>
          <a:xfrm>
            <a:off x="1295402" y="2426302"/>
            <a:ext cx="9601196" cy="3741231"/>
          </a:xfrm>
        </p:spPr>
        <p:txBody>
          <a:bodyPr>
            <a:normAutofit lnSpcReduction="10000"/>
          </a:bodyPr>
          <a:lstStyle/>
          <a:p>
            <a:r>
              <a:rPr lang="en-US" dirty="0">
                <a:latin typeface="Times New Roman" panose="02020603050405020304" pitchFamily="18" charset="0"/>
                <a:cs typeface="Times New Roman" panose="02020603050405020304" pitchFamily="18" charset="0"/>
              </a:rPr>
              <a:t>These variables can be measured or counted. Further divided into two types: </a:t>
            </a:r>
            <a:r>
              <a:rPr lang="en-US" b="1" dirty="0">
                <a:latin typeface="Times New Roman" panose="02020603050405020304" pitchFamily="18" charset="0"/>
                <a:cs typeface="Times New Roman" panose="02020603050405020304" pitchFamily="18" charset="0"/>
              </a:rPr>
              <a:t>Discrete and continuous</a:t>
            </a:r>
          </a:p>
          <a:p>
            <a:r>
              <a:rPr lang="en-US" b="1" dirty="0">
                <a:latin typeface="Times New Roman" panose="02020603050405020304" pitchFamily="18" charset="0"/>
                <a:cs typeface="Times New Roman" panose="02020603050405020304" pitchFamily="18" charset="0"/>
              </a:rPr>
              <a:t>Discrete variables: Countable </a:t>
            </a:r>
            <a:r>
              <a:rPr lang="en-US" dirty="0">
                <a:latin typeface="Times New Roman" panose="02020603050405020304" pitchFamily="18" charset="0"/>
                <a:cs typeface="Times New Roman" panose="02020603050405020304" pitchFamily="18" charset="0"/>
              </a:rPr>
              <a:t>numbers, typically </a:t>
            </a:r>
            <a:r>
              <a:rPr lang="en-US" b="1" dirty="0">
                <a:latin typeface="Times New Roman" panose="02020603050405020304" pitchFamily="18" charset="0"/>
                <a:cs typeface="Times New Roman" panose="02020603050405020304" pitchFamily="18" charset="0"/>
              </a:rPr>
              <a:t>integers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Number of children: how may children each family has. 0,1,2,3 etc</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Number of courses taken: how many courses student has enrolled. 1,2,3</a:t>
            </a:r>
          </a:p>
          <a:p>
            <a:r>
              <a:rPr lang="en-IN" b="1" dirty="0">
                <a:latin typeface="Times New Roman" panose="02020603050405020304" pitchFamily="18" charset="0"/>
                <a:cs typeface="Times New Roman" panose="02020603050405020304" pitchFamily="18" charset="0"/>
              </a:rPr>
              <a:t>Continuous variables: Measurable </a:t>
            </a:r>
            <a:r>
              <a:rPr lang="en-IN" dirty="0">
                <a:latin typeface="Times New Roman" panose="02020603050405020304" pitchFamily="18" charset="0"/>
                <a:cs typeface="Times New Roman" panose="02020603050405020304" pitchFamily="18" charset="0"/>
              </a:rPr>
              <a:t>quantities that can take </a:t>
            </a:r>
            <a:r>
              <a:rPr lang="en-IN" b="1" dirty="0">
                <a:latin typeface="Times New Roman" panose="02020603050405020304" pitchFamily="18" charset="0"/>
                <a:cs typeface="Times New Roman" panose="02020603050405020304" pitchFamily="18" charset="0"/>
              </a:rPr>
              <a:t>any value.</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Variable named “Height” (170.5 cm,162.3cm)</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Weight (60.5 kg,72.8 kg)</a:t>
            </a:r>
          </a:p>
          <a:p>
            <a:pPr>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0EEE6D7-0C25-F92F-E73D-A647B60FB297}"/>
              </a:ext>
            </a:extLst>
          </p:cNvPr>
          <p:cNvSpPr>
            <a:spLocks noGrp="1"/>
          </p:cNvSpPr>
          <p:nvPr>
            <p:ph type="dt" sz="half" idx="10"/>
          </p:nvPr>
        </p:nvSpPr>
        <p:spPr/>
        <p:txBody>
          <a:bodyPr/>
          <a:lstStyle/>
          <a:p>
            <a:fld id="{E1591276-4B6B-4053-A13A-312DDDD8AC44}" type="datetime1">
              <a:rPr lang="en-IN" smtClean="0"/>
              <a:t>11-09-2025</a:t>
            </a:fld>
            <a:endParaRPr lang="en-IN"/>
          </a:p>
        </p:txBody>
      </p:sp>
      <p:sp>
        <p:nvSpPr>
          <p:cNvPr id="5" name="Slide Number Placeholder 4">
            <a:extLst>
              <a:ext uri="{FF2B5EF4-FFF2-40B4-BE49-F238E27FC236}">
                <a16:creationId xmlns:a16="http://schemas.microsoft.com/office/drawing/2014/main" id="{73EAE50E-2339-546B-477C-4DA091D1385E}"/>
              </a:ext>
            </a:extLst>
          </p:cNvPr>
          <p:cNvSpPr>
            <a:spLocks noGrp="1"/>
          </p:cNvSpPr>
          <p:nvPr>
            <p:ph type="sldNum" sz="quarter" idx="12"/>
          </p:nvPr>
        </p:nvSpPr>
        <p:spPr/>
        <p:txBody>
          <a:bodyPr/>
          <a:lstStyle/>
          <a:p>
            <a:fld id="{D75E712A-30F9-4F5C-A4F1-6DC8A3808094}" type="slidenum">
              <a:rPr lang="en-IN" smtClean="0"/>
              <a:t>14</a:t>
            </a:fld>
            <a:endParaRPr lang="en-IN"/>
          </a:p>
        </p:txBody>
      </p:sp>
    </p:spTree>
    <p:extLst>
      <p:ext uri="{BB962C8B-B14F-4D97-AF65-F5344CB8AC3E}">
        <p14:creationId xmlns:p14="http://schemas.microsoft.com/office/powerpoint/2010/main" val="3833618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189A5-900B-BF7F-F64A-E25C94647E8E}"/>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Qualitative variables </a:t>
            </a:r>
            <a:endParaRPr lang="en-IN" dirty="0"/>
          </a:p>
        </p:txBody>
      </p:sp>
      <p:sp>
        <p:nvSpPr>
          <p:cNvPr id="3" name="Content Placeholder 2">
            <a:extLst>
              <a:ext uri="{FF2B5EF4-FFF2-40B4-BE49-F238E27FC236}">
                <a16:creationId xmlns:a16="http://schemas.microsoft.com/office/drawing/2014/main" id="{DDCF4C65-AF9D-1433-78E3-9E83E938E564}"/>
              </a:ext>
            </a:extLst>
          </p:cNvPr>
          <p:cNvSpPr>
            <a:spLocks noGrp="1"/>
          </p:cNvSpPr>
          <p:nvPr>
            <p:ph idx="1"/>
          </p:nvPr>
        </p:nvSpPr>
        <p:spPr>
          <a:xfrm>
            <a:off x="1295401" y="2556931"/>
            <a:ext cx="9601196" cy="3731901"/>
          </a:xfrm>
        </p:spPr>
        <p:txBody>
          <a:bodyPr>
            <a:normAutofit fontScale="92500" lnSpcReduction="10000"/>
          </a:bodyPr>
          <a:lstStyle/>
          <a:p>
            <a:r>
              <a:rPr lang="en-US" sz="2200" dirty="0">
                <a:solidFill>
                  <a:schemeClr val="tx1"/>
                </a:solidFill>
                <a:latin typeface="Times New Roman" panose="02020603050405020304" pitchFamily="18" charset="0"/>
                <a:cs typeface="Times New Roman" panose="02020603050405020304" pitchFamily="18" charset="0"/>
              </a:rPr>
              <a:t>Variables represents categories or labels used to describe non-numerical attributes or qualities.. They can be either </a:t>
            </a:r>
            <a:r>
              <a:rPr lang="en-US" sz="2200" b="1" dirty="0">
                <a:solidFill>
                  <a:schemeClr val="tx1"/>
                </a:solidFill>
                <a:latin typeface="Times New Roman" panose="02020603050405020304" pitchFamily="18" charset="0"/>
                <a:cs typeface="Times New Roman" panose="02020603050405020304" pitchFamily="18" charset="0"/>
              </a:rPr>
              <a:t>nominal(</a:t>
            </a:r>
            <a:r>
              <a:rPr lang="en-US" sz="2200" dirty="0">
                <a:solidFill>
                  <a:schemeClr val="tx1"/>
                </a:solidFill>
                <a:latin typeface="Times New Roman" panose="02020603050405020304" pitchFamily="18" charset="0"/>
                <a:cs typeface="Times New Roman" panose="02020603050405020304" pitchFamily="18" charset="0"/>
              </a:rPr>
              <a:t>no specific order) or </a:t>
            </a:r>
            <a:r>
              <a:rPr lang="en-US" sz="2200" b="1" dirty="0">
                <a:solidFill>
                  <a:schemeClr val="tx1"/>
                </a:solidFill>
                <a:latin typeface="Times New Roman" panose="02020603050405020304" pitchFamily="18" charset="0"/>
                <a:cs typeface="Times New Roman" panose="02020603050405020304" pitchFamily="18" charset="0"/>
              </a:rPr>
              <a:t>ordinal</a:t>
            </a:r>
            <a:r>
              <a:rPr lang="en-US" sz="2200" dirty="0">
                <a:solidFill>
                  <a:schemeClr val="tx1"/>
                </a:solidFill>
                <a:latin typeface="Times New Roman" panose="02020603050405020304" pitchFamily="18" charset="0"/>
                <a:cs typeface="Times New Roman" panose="02020603050405020304" pitchFamily="18" charset="0"/>
              </a:rPr>
              <a:t>(having specific order).</a:t>
            </a:r>
          </a:p>
          <a:p>
            <a:r>
              <a:rPr lang="en-US" sz="2200" b="1" dirty="0">
                <a:solidFill>
                  <a:schemeClr val="tx1"/>
                </a:solidFill>
                <a:latin typeface="Times New Roman" panose="02020603050405020304" pitchFamily="18" charset="0"/>
                <a:cs typeface="Times New Roman" panose="02020603050405020304" pitchFamily="18" charset="0"/>
              </a:rPr>
              <a:t>Nominal </a:t>
            </a:r>
            <a:r>
              <a:rPr lang="en-US" sz="2200" dirty="0">
                <a:solidFill>
                  <a:schemeClr val="tx1"/>
                </a:solidFill>
                <a:latin typeface="Times New Roman" panose="02020603050405020304" pitchFamily="18" charset="0"/>
                <a:cs typeface="Times New Roman" panose="02020603050405020304" pitchFamily="18" charset="0"/>
              </a:rPr>
              <a:t>: do not have specific order</a:t>
            </a:r>
          </a:p>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Gender records each person is “Male” or “Female”</a:t>
            </a:r>
          </a:p>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Favorite color: Like “Red”, “Blue”, “Green”</a:t>
            </a:r>
          </a:p>
          <a:p>
            <a:r>
              <a:rPr lang="en-US" sz="2200" b="1" dirty="0">
                <a:solidFill>
                  <a:schemeClr val="tx1"/>
                </a:solidFill>
                <a:latin typeface="Times New Roman" panose="02020603050405020304" pitchFamily="18" charset="0"/>
                <a:cs typeface="Times New Roman" panose="02020603050405020304" pitchFamily="18" charset="0"/>
              </a:rPr>
              <a:t>Ordinal : </a:t>
            </a:r>
            <a:r>
              <a:rPr lang="en-US" sz="2200" dirty="0">
                <a:solidFill>
                  <a:schemeClr val="tx1"/>
                </a:solidFill>
                <a:latin typeface="Times New Roman" panose="02020603050405020304" pitchFamily="18" charset="0"/>
                <a:cs typeface="Times New Roman" panose="02020603050405020304" pitchFamily="18" charset="0"/>
              </a:rPr>
              <a:t>Categories have </a:t>
            </a:r>
            <a:r>
              <a:rPr lang="en-US" sz="2200" b="1" dirty="0">
                <a:solidFill>
                  <a:schemeClr val="tx1"/>
                </a:solidFill>
                <a:latin typeface="Times New Roman" panose="02020603050405020304" pitchFamily="18" charset="0"/>
                <a:cs typeface="Times New Roman" panose="02020603050405020304" pitchFamily="18" charset="0"/>
              </a:rPr>
              <a:t>specific order</a:t>
            </a:r>
          </a:p>
          <a:p>
            <a:r>
              <a:rPr lang="en-US" sz="2200" b="1" dirty="0">
                <a:solidFill>
                  <a:schemeClr val="tx1"/>
                </a:solidFill>
                <a:latin typeface="Times New Roman" panose="02020603050405020304" pitchFamily="18" charset="0"/>
                <a:cs typeface="Times New Roman" panose="02020603050405020304" pitchFamily="18" charset="0"/>
              </a:rPr>
              <a:t>Educational level:</a:t>
            </a:r>
            <a:r>
              <a:rPr lang="en-US" sz="2200" dirty="0">
                <a:solidFill>
                  <a:schemeClr val="tx1"/>
                </a:solidFill>
                <a:latin typeface="Times New Roman" panose="02020603050405020304" pitchFamily="18" charset="0"/>
                <a:cs typeface="Times New Roman" panose="02020603050405020304" pitchFamily="18" charset="0"/>
              </a:rPr>
              <a:t> “High School”, “Under graduate”, “Post Graduate”, </a:t>
            </a:r>
          </a:p>
          <a:p>
            <a:r>
              <a:rPr lang="en-US" sz="2200" b="1" dirty="0">
                <a:solidFill>
                  <a:schemeClr val="tx1"/>
                </a:solidFill>
                <a:latin typeface="Times New Roman" panose="02020603050405020304" pitchFamily="18" charset="0"/>
                <a:cs typeface="Times New Roman" panose="02020603050405020304" pitchFamily="18" charset="0"/>
              </a:rPr>
              <a:t>Satisfaction rating:  Customer satisfaction like “satisfied”, “unsatisfied”</a:t>
            </a:r>
          </a:p>
          <a:p>
            <a:pPr marL="0" indent="0">
              <a:buNone/>
            </a:pPr>
            <a:endParaRPr lang="en-US" sz="2200" b="1" dirty="0">
              <a:solidFill>
                <a:schemeClr val="tx1"/>
              </a:solidFill>
              <a:latin typeface="Times New Roman" panose="02020603050405020304" pitchFamily="18" charset="0"/>
              <a:cs typeface="Times New Roman" panose="02020603050405020304" pitchFamily="18" charset="0"/>
            </a:endParaRPr>
          </a:p>
          <a:p>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C355D62-2002-2011-1EC0-0FAAEB030D8C}"/>
              </a:ext>
            </a:extLst>
          </p:cNvPr>
          <p:cNvSpPr>
            <a:spLocks noGrp="1"/>
          </p:cNvSpPr>
          <p:nvPr>
            <p:ph type="dt" sz="half" idx="10"/>
          </p:nvPr>
        </p:nvSpPr>
        <p:spPr/>
        <p:txBody>
          <a:bodyPr/>
          <a:lstStyle/>
          <a:p>
            <a:fld id="{969115C6-E235-44CD-BDB7-815F5478952C}" type="datetime1">
              <a:rPr lang="en-IN" smtClean="0"/>
              <a:t>11-09-2025</a:t>
            </a:fld>
            <a:endParaRPr lang="en-IN"/>
          </a:p>
        </p:txBody>
      </p:sp>
      <p:sp>
        <p:nvSpPr>
          <p:cNvPr id="5" name="Slide Number Placeholder 4">
            <a:extLst>
              <a:ext uri="{FF2B5EF4-FFF2-40B4-BE49-F238E27FC236}">
                <a16:creationId xmlns:a16="http://schemas.microsoft.com/office/drawing/2014/main" id="{A6F6A939-A6BD-8C48-4E12-E2D31A63F99B}"/>
              </a:ext>
            </a:extLst>
          </p:cNvPr>
          <p:cNvSpPr>
            <a:spLocks noGrp="1"/>
          </p:cNvSpPr>
          <p:nvPr>
            <p:ph type="sldNum" sz="quarter" idx="12"/>
          </p:nvPr>
        </p:nvSpPr>
        <p:spPr/>
        <p:txBody>
          <a:bodyPr/>
          <a:lstStyle/>
          <a:p>
            <a:fld id="{D75E712A-30F9-4F5C-A4F1-6DC8A3808094}" type="slidenum">
              <a:rPr lang="en-IN" smtClean="0"/>
              <a:t>15</a:t>
            </a:fld>
            <a:endParaRPr lang="en-IN"/>
          </a:p>
        </p:txBody>
      </p:sp>
    </p:spTree>
    <p:extLst>
      <p:ext uri="{BB962C8B-B14F-4D97-AF65-F5344CB8AC3E}">
        <p14:creationId xmlns:p14="http://schemas.microsoft.com/office/powerpoint/2010/main" val="3023044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044E9-08CB-DD38-16F9-F5B5A5C4967F}"/>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Exercise</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8B54BEA-E28A-EEC2-88CD-18835C0A7878}"/>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Tell me if the variables mentioned below are what type?</a:t>
            </a:r>
          </a:p>
          <a:p>
            <a:r>
              <a:rPr lang="en-US" dirty="0">
                <a:latin typeface="Times New Roman" panose="02020603050405020304" pitchFamily="18" charset="0"/>
                <a:cs typeface="Times New Roman" panose="02020603050405020304" pitchFamily="18" charset="0"/>
              </a:rPr>
              <a:t>Employee ID: </a:t>
            </a:r>
          </a:p>
          <a:p>
            <a:r>
              <a:rPr lang="en-US" dirty="0">
                <a:latin typeface="Times New Roman" panose="02020603050405020304" pitchFamily="18" charset="0"/>
                <a:cs typeface="Times New Roman" panose="02020603050405020304" pitchFamily="18" charset="0"/>
              </a:rPr>
              <a:t>Age</a:t>
            </a:r>
          </a:p>
          <a:p>
            <a:r>
              <a:rPr lang="en-US" dirty="0">
                <a:latin typeface="Times New Roman" panose="02020603050405020304" pitchFamily="18" charset="0"/>
                <a:cs typeface="Times New Roman" panose="02020603050405020304" pitchFamily="18" charset="0"/>
              </a:rPr>
              <a:t>Department</a:t>
            </a:r>
          </a:p>
          <a:p>
            <a:r>
              <a:rPr lang="en-US" dirty="0">
                <a:latin typeface="Times New Roman" panose="02020603050405020304" pitchFamily="18" charset="0"/>
                <a:cs typeface="Times New Roman" panose="02020603050405020304" pitchFamily="18" charset="0"/>
              </a:rPr>
              <a:t>Years of experience</a:t>
            </a:r>
          </a:p>
          <a:p>
            <a:r>
              <a:rPr lang="en-US" dirty="0">
                <a:latin typeface="Times New Roman" panose="02020603050405020304" pitchFamily="18" charset="0"/>
                <a:cs typeface="Times New Roman" panose="02020603050405020304" pitchFamily="18" charset="0"/>
              </a:rPr>
              <a:t>Job satisfaction level</a:t>
            </a:r>
          </a:p>
          <a:p>
            <a:r>
              <a:rPr lang="en-US" dirty="0">
                <a:latin typeface="Times New Roman" panose="02020603050405020304" pitchFamily="18" charset="0"/>
                <a:cs typeface="Times New Roman" panose="02020603050405020304" pitchFamily="18" charset="0"/>
              </a:rPr>
              <a:t>Salary</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FD39123-F338-9BEA-5E2A-8B86213E1FBF}"/>
              </a:ext>
            </a:extLst>
          </p:cNvPr>
          <p:cNvSpPr>
            <a:spLocks noGrp="1"/>
          </p:cNvSpPr>
          <p:nvPr>
            <p:ph type="dt" sz="half" idx="10"/>
          </p:nvPr>
        </p:nvSpPr>
        <p:spPr/>
        <p:txBody>
          <a:bodyPr/>
          <a:lstStyle/>
          <a:p>
            <a:fld id="{46E21FD5-F1DD-4797-96C0-7C4BC84E3AF8}" type="datetime1">
              <a:rPr lang="en-IN" smtClean="0"/>
              <a:t>11-09-2025</a:t>
            </a:fld>
            <a:endParaRPr lang="en-IN"/>
          </a:p>
        </p:txBody>
      </p:sp>
      <p:sp>
        <p:nvSpPr>
          <p:cNvPr id="5" name="Slide Number Placeholder 4">
            <a:extLst>
              <a:ext uri="{FF2B5EF4-FFF2-40B4-BE49-F238E27FC236}">
                <a16:creationId xmlns:a16="http://schemas.microsoft.com/office/drawing/2014/main" id="{3759893B-E5DC-F41D-DBDC-7D9F8F2523C2}"/>
              </a:ext>
            </a:extLst>
          </p:cNvPr>
          <p:cNvSpPr>
            <a:spLocks noGrp="1"/>
          </p:cNvSpPr>
          <p:nvPr>
            <p:ph type="sldNum" sz="quarter" idx="12"/>
          </p:nvPr>
        </p:nvSpPr>
        <p:spPr/>
        <p:txBody>
          <a:bodyPr/>
          <a:lstStyle/>
          <a:p>
            <a:fld id="{D75E712A-30F9-4F5C-A4F1-6DC8A3808094}" type="slidenum">
              <a:rPr lang="en-IN" smtClean="0"/>
              <a:t>16</a:t>
            </a:fld>
            <a:endParaRPr lang="en-IN"/>
          </a:p>
        </p:txBody>
      </p:sp>
    </p:spTree>
    <p:extLst>
      <p:ext uri="{BB962C8B-B14F-4D97-AF65-F5344CB8AC3E}">
        <p14:creationId xmlns:p14="http://schemas.microsoft.com/office/powerpoint/2010/main" val="136381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5B055-5E1E-3832-C6DA-C5A040721D15}"/>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Data Collection</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316306D-FDA5-0CD3-7455-7C6B707E83EB}"/>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First Problem statistician faces is how to obtain data.</a:t>
            </a:r>
          </a:p>
          <a:p>
            <a:r>
              <a:rPr lang="en-US" dirty="0">
                <a:latin typeface="Times New Roman" panose="02020603050405020304" pitchFamily="18" charset="0"/>
                <a:cs typeface="Times New Roman" panose="02020603050405020304" pitchFamily="18" charset="0"/>
              </a:rPr>
              <a:t>Usually the data are sample data collected from a portion of the population. It is important to obtain </a:t>
            </a:r>
            <a:r>
              <a:rPr lang="en-US" b="1" dirty="0">
                <a:solidFill>
                  <a:srgbClr val="FF0000"/>
                </a:solidFill>
                <a:latin typeface="Times New Roman" panose="02020603050405020304" pitchFamily="18" charset="0"/>
                <a:cs typeface="Times New Roman" panose="02020603050405020304" pitchFamily="18" charset="0"/>
              </a:rPr>
              <a:t>good</a:t>
            </a:r>
            <a:r>
              <a:rPr lang="en-US" dirty="0">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representative </a:t>
            </a:r>
            <a:r>
              <a:rPr lang="en-US" dirty="0">
                <a:latin typeface="Times New Roman" panose="02020603050405020304" pitchFamily="18" charset="0"/>
                <a:cs typeface="Times New Roman" panose="02020603050405020304" pitchFamily="18" charset="0"/>
              </a:rPr>
              <a:t>sample data.</a:t>
            </a:r>
          </a:p>
          <a:p>
            <a:r>
              <a:rPr lang="en-US" b="1" dirty="0">
                <a:latin typeface="Times New Roman" panose="02020603050405020304" pitchFamily="18" charset="0"/>
                <a:cs typeface="Times New Roman" panose="02020603050405020304" pitchFamily="18" charset="0"/>
              </a:rPr>
              <a:t>Statistical Inferences</a:t>
            </a:r>
            <a:r>
              <a:rPr lang="en-US" dirty="0">
                <a:latin typeface="Times New Roman" panose="02020603050405020304" pitchFamily="18" charset="0"/>
                <a:cs typeface="Times New Roman" panose="02020603050405020304" pitchFamily="18" charset="0"/>
              </a:rPr>
              <a:t>: Once a good, representative sample is obtained, statistician use the information from sample data to make conclusion or predictions about the entire population.</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533E7B5-4A82-D134-F67F-9B580546408F}"/>
              </a:ext>
            </a:extLst>
          </p:cNvPr>
          <p:cNvSpPr>
            <a:spLocks noGrp="1"/>
          </p:cNvSpPr>
          <p:nvPr>
            <p:ph type="dt" sz="half" idx="10"/>
          </p:nvPr>
        </p:nvSpPr>
        <p:spPr/>
        <p:txBody>
          <a:bodyPr/>
          <a:lstStyle/>
          <a:p>
            <a:fld id="{9AA95994-4954-4F61-B05B-BF63E3307D47}" type="datetime1">
              <a:rPr lang="en-IN" smtClean="0"/>
              <a:t>11-09-2025</a:t>
            </a:fld>
            <a:endParaRPr lang="en-IN"/>
          </a:p>
        </p:txBody>
      </p:sp>
      <p:sp>
        <p:nvSpPr>
          <p:cNvPr id="5" name="Slide Number Placeholder 4">
            <a:extLst>
              <a:ext uri="{FF2B5EF4-FFF2-40B4-BE49-F238E27FC236}">
                <a16:creationId xmlns:a16="http://schemas.microsoft.com/office/drawing/2014/main" id="{ADE7ED96-A108-630B-1BBA-8A2F8F3D125E}"/>
              </a:ext>
            </a:extLst>
          </p:cNvPr>
          <p:cNvSpPr>
            <a:spLocks noGrp="1"/>
          </p:cNvSpPr>
          <p:nvPr>
            <p:ph type="sldNum" sz="quarter" idx="12"/>
          </p:nvPr>
        </p:nvSpPr>
        <p:spPr/>
        <p:txBody>
          <a:bodyPr/>
          <a:lstStyle/>
          <a:p>
            <a:fld id="{D75E712A-30F9-4F5C-A4F1-6DC8A3808094}" type="slidenum">
              <a:rPr lang="en-IN" smtClean="0"/>
              <a:t>17</a:t>
            </a:fld>
            <a:endParaRPr lang="en-IN"/>
          </a:p>
        </p:txBody>
      </p:sp>
    </p:spTree>
    <p:extLst>
      <p:ext uri="{BB962C8B-B14F-4D97-AF65-F5344CB8AC3E}">
        <p14:creationId xmlns:p14="http://schemas.microsoft.com/office/powerpoint/2010/main" val="2994700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1B681-729C-84D5-679E-F5B4DFE0CD2E}"/>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Biased sampling</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B93817C-5675-98D3-AAF9-0947E69B3B69}"/>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Biased sampling </a:t>
            </a:r>
            <a:r>
              <a:rPr lang="en-US" dirty="0">
                <a:latin typeface="Times New Roman" panose="02020603050405020304" pitchFamily="18" charset="0"/>
                <a:cs typeface="Times New Roman" panose="02020603050405020304" pitchFamily="18" charset="0"/>
              </a:rPr>
              <a:t>method is one that produces data that is not truly representative of the whole population</a:t>
            </a:r>
          </a:p>
          <a:p>
            <a:r>
              <a:rPr lang="en-US" b="1" dirty="0">
                <a:latin typeface="Times New Roman" panose="02020603050405020304" pitchFamily="18" charset="0"/>
                <a:cs typeface="Times New Roman" panose="02020603050405020304" pitchFamily="18" charset="0"/>
              </a:rPr>
              <a:t>Unbiased sampling </a:t>
            </a:r>
            <a:r>
              <a:rPr lang="en-US" dirty="0">
                <a:latin typeface="Times New Roman" panose="02020603050405020304" pitchFamily="18" charset="0"/>
                <a:cs typeface="Times New Roman" panose="02020603050405020304" pitchFamily="18" charset="0"/>
              </a:rPr>
              <a:t>provides sample which is fair representation of the population</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B5182D8-0005-C9EC-52C1-9301FEC58B05}"/>
              </a:ext>
            </a:extLst>
          </p:cNvPr>
          <p:cNvSpPr>
            <a:spLocks noGrp="1"/>
          </p:cNvSpPr>
          <p:nvPr>
            <p:ph type="dt" sz="half" idx="10"/>
          </p:nvPr>
        </p:nvSpPr>
        <p:spPr/>
        <p:txBody>
          <a:bodyPr/>
          <a:lstStyle/>
          <a:p>
            <a:fld id="{AC634EE5-8177-437D-B43B-2BCD5E638635}" type="datetime1">
              <a:rPr lang="en-IN" smtClean="0"/>
              <a:t>11-09-2025</a:t>
            </a:fld>
            <a:endParaRPr lang="en-IN"/>
          </a:p>
        </p:txBody>
      </p:sp>
      <p:sp>
        <p:nvSpPr>
          <p:cNvPr id="5" name="Slide Number Placeholder 4">
            <a:extLst>
              <a:ext uri="{FF2B5EF4-FFF2-40B4-BE49-F238E27FC236}">
                <a16:creationId xmlns:a16="http://schemas.microsoft.com/office/drawing/2014/main" id="{74307AFB-A3F9-3D2D-1805-A0F7E1B60943}"/>
              </a:ext>
            </a:extLst>
          </p:cNvPr>
          <p:cNvSpPr>
            <a:spLocks noGrp="1"/>
          </p:cNvSpPr>
          <p:nvPr>
            <p:ph type="sldNum" sz="quarter" idx="12"/>
          </p:nvPr>
        </p:nvSpPr>
        <p:spPr/>
        <p:txBody>
          <a:bodyPr/>
          <a:lstStyle/>
          <a:p>
            <a:fld id="{D75E712A-30F9-4F5C-A4F1-6DC8A3808094}" type="slidenum">
              <a:rPr lang="en-IN" smtClean="0"/>
              <a:t>18</a:t>
            </a:fld>
            <a:endParaRPr lang="en-IN"/>
          </a:p>
        </p:txBody>
      </p:sp>
    </p:spTree>
    <p:extLst>
      <p:ext uri="{BB962C8B-B14F-4D97-AF65-F5344CB8AC3E}">
        <p14:creationId xmlns:p14="http://schemas.microsoft.com/office/powerpoint/2010/main" val="15662230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345D1-CA4A-4602-AF07-F8FADCD186C5}"/>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Biased sampling</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8F91994-84F5-94AF-7343-C5F9FD09454C}"/>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Leads to incorrect or misleading results. Two common type of biased sampling methods are:</a:t>
            </a:r>
          </a:p>
          <a:p>
            <a:pPr marL="457200" indent="-457200">
              <a:buFont typeface="+mj-lt"/>
              <a:buAutoNum type="arabicPeriod"/>
            </a:pPr>
            <a:r>
              <a:rPr lang="en-US" b="1" dirty="0">
                <a:solidFill>
                  <a:schemeClr val="tx1"/>
                </a:solidFill>
                <a:latin typeface="Times New Roman" panose="02020603050405020304" pitchFamily="18" charset="0"/>
                <a:cs typeface="Times New Roman" panose="02020603050405020304" pitchFamily="18" charset="0"/>
              </a:rPr>
              <a:t>Convenience sample: </a:t>
            </a:r>
            <a:r>
              <a:rPr lang="en-US" dirty="0">
                <a:solidFill>
                  <a:schemeClr val="tx1"/>
                </a:solidFill>
                <a:latin typeface="Times New Roman" panose="02020603050405020304" pitchFamily="18" charset="0"/>
                <a:cs typeface="Times New Roman" panose="02020603050405020304" pitchFamily="18" charset="0"/>
              </a:rPr>
              <a:t>Sample selected from elements of a population that are easily accessible.</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Volunteer sample: </a:t>
            </a:r>
            <a:r>
              <a:rPr lang="en-US" dirty="0">
                <a:latin typeface="Times New Roman" panose="02020603050405020304" pitchFamily="18" charset="0"/>
                <a:cs typeface="Times New Roman" panose="02020603050405020304" pitchFamily="18" charset="0"/>
              </a:rPr>
              <a:t>sample collected from those elements of the population which chose to contribute the needed information on their own initiative</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6958F950-2556-FF9F-F918-D99F1FF08D1D}"/>
              </a:ext>
            </a:extLst>
          </p:cNvPr>
          <p:cNvSpPr>
            <a:spLocks noGrp="1"/>
          </p:cNvSpPr>
          <p:nvPr>
            <p:ph type="dt" sz="half" idx="10"/>
          </p:nvPr>
        </p:nvSpPr>
        <p:spPr/>
        <p:txBody>
          <a:bodyPr/>
          <a:lstStyle/>
          <a:p>
            <a:fld id="{3AB1F9B8-0A9E-41F2-958A-A0FF01CBFA89}" type="datetime1">
              <a:rPr lang="en-IN" smtClean="0"/>
              <a:t>11-09-2025</a:t>
            </a:fld>
            <a:endParaRPr lang="en-IN"/>
          </a:p>
        </p:txBody>
      </p:sp>
      <p:sp>
        <p:nvSpPr>
          <p:cNvPr id="5" name="Slide Number Placeholder 4">
            <a:extLst>
              <a:ext uri="{FF2B5EF4-FFF2-40B4-BE49-F238E27FC236}">
                <a16:creationId xmlns:a16="http://schemas.microsoft.com/office/drawing/2014/main" id="{455727D7-5E4F-B0F0-306D-B35A29B557F7}"/>
              </a:ext>
            </a:extLst>
          </p:cNvPr>
          <p:cNvSpPr>
            <a:spLocks noGrp="1"/>
          </p:cNvSpPr>
          <p:nvPr>
            <p:ph type="sldNum" sz="quarter" idx="12"/>
          </p:nvPr>
        </p:nvSpPr>
        <p:spPr/>
        <p:txBody>
          <a:bodyPr/>
          <a:lstStyle/>
          <a:p>
            <a:fld id="{D75E712A-30F9-4F5C-A4F1-6DC8A3808094}" type="slidenum">
              <a:rPr lang="en-IN" smtClean="0"/>
              <a:t>19</a:t>
            </a:fld>
            <a:endParaRPr lang="en-IN"/>
          </a:p>
        </p:txBody>
      </p:sp>
    </p:spTree>
    <p:extLst>
      <p:ext uri="{BB962C8B-B14F-4D97-AF65-F5344CB8AC3E}">
        <p14:creationId xmlns:p14="http://schemas.microsoft.com/office/powerpoint/2010/main" val="1654102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BD108-6DAD-A9AC-CB04-9278AB92E649}"/>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Unbiased sampling</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FD6E7B6-8C11-6BD7-F0E3-602B2A965D9A}"/>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It gives every member of the population an equal chance of being selected. This leads to a sample that more accurately reflects diversity and characteristics of whole population.</a:t>
            </a:r>
          </a:p>
          <a:p>
            <a:r>
              <a:rPr lang="en-US" dirty="0">
                <a:solidFill>
                  <a:schemeClr val="tx1"/>
                </a:solidFill>
                <a:latin typeface="Times New Roman" panose="02020603050405020304" pitchFamily="18" charset="0"/>
                <a:cs typeface="Times New Roman" panose="02020603050405020304" pitchFamily="18" charset="0"/>
              </a:rPr>
              <a:t>Example of </a:t>
            </a:r>
            <a:r>
              <a:rPr lang="en-US" b="1" dirty="0">
                <a:solidFill>
                  <a:schemeClr val="tx1"/>
                </a:solidFill>
                <a:latin typeface="Times New Roman" panose="02020603050405020304" pitchFamily="18" charset="0"/>
                <a:cs typeface="Times New Roman" panose="02020603050405020304" pitchFamily="18" charset="0"/>
              </a:rPr>
              <a:t>unbiased sampling </a:t>
            </a:r>
            <a:r>
              <a:rPr lang="en-US" dirty="0">
                <a:solidFill>
                  <a:schemeClr val="tx1"/>
                </a:solidFill>
                <a:latin typeface="Times New Roman" panose="02020603050405020304" pitchFamily="18" charset="0"/>
                <a:cs typeface="Times New Roman" panose="02020603050405020304" pitchFamily="18" charset="0"/>
              </a:rPr>
              <a:t>is </a:t>
            </a:r>
          </a:p>
          <a:p>
            <a:r>
              <a:rPr lang="en-US" b="1" dirty="0">
                <a:solidFill>
                  <a:schemeClr val="tx1"/>
                </a:solidFill>
                <a:latin typeface="Times New Roman" panose="02020603050405020304" pitchFamily="18" charset="0"/>
                <a:cs typeface="Times New Roman" panose="02020603050405020304" pitchFamily="18" charset="0"/>
              </a:rPr>
              <a:t>Random sampling: </a:t>
            </a:r>
            <a:r>
              <a:rPr lang="en-US" dirty="0">
                <a:solidFill>
                  <a:schemeClr val="tx1"/>
                </a:solidFill>
                <a:latin typeface="Times New Roman" panose="02020603050405020304" pitchFamily="18" charset="0"/>
                <a:cs typeface="Times New Roman" panose="02020603050405020304" pitchFamily="18" charset="0"/>
              </a:rPr>
              <a:t>Select people randomly from entire population, like drawing names out of hat, ensures </a:t>
            </a:r>
            <a:r>
              <a:rPr lang="en-US" b="1" dirty="0">
                <a:solidFill>
                  <a:schemeClr val="tx1"/>
                </a:solidFill>
                <a:latin typeface="Times New Roman" panose="02020603050405020304" pitchFamily="18" charset="0"/>
                <a:cs typeface="Times New Roman" panose="02020603050405020304" pitchFamily="18" charset="0"/>
              </a:rPr>
              <a:t>everyone </a:t>
            </a:r>
            <a:r>
              <a:rPr lang="en-US" dirty="0">
                <a:solidFill>
                  <a:schemeClr val="tx1"/>
                </a:solidFill>
                <a:latin typeface="Times New Roman" panose="02020603050405020304" pitchFamily="18" charset="0"/>
                <a:cs typeface="Times New Roman" panose="02020603050405020304" pitchFamily="18" charset="0"/>
              </a:rPr>
              <a:t>has </a:t>
            </a:r>
            <a:r>
              <a:rPr lang="en-US" b="1" dirty="0">
                <a:solidFill>
                  <a:schemeClr val="tx1"/>
                </a:solidFill>
                <a:latin typeface="Times New Roman" panose="02020603050405020304" pitchFamily="18" charset="0"/>
                <a:cs typeface="Times New Roman" panose="02020603050405020304" pitchFamily="18" charset="0"/>
              </a:rPr>
              <a:t>equal chance </a:t>
            </a:r>
            <a:r>
              <a:rPr lang="en-US" dirty="0">
                <a:solidFill>
                  <a:schemeClr val="tx1"/>
                </a:solidFill>
                <a:latin typeface="Times New Roman" panose="02020603050405020304" pitchFamily="18" charset="0"/>
                <a:cs typeface="Times New Roman" panose="02020603050405020304" pitchFamily="18" charset="0"/>
              </a:rPr>
              <a:t>of being chosen making </a:t>
            </a:r>
            <a:r>
              <a:rPr lang="en-US" b="1" dirty="0">
                <a:solidFill>
                  <a:schemeClr val="tx1"/>
                </a:solidFill>
                <a:latin typeface="Times New Roman" panose="02020603050405020304" pitchFamily="18" charset="0"/>
                <a:cs typeface="Times New Roman" panose="02020603050405020304" pitchFamily="18" charset="0"/>
              </a:rPr>
              <a:t>sample</a:t>
            </a:r>
            <a:r>
              <a:rPr lang="en-US" dirty="0">
                <a:solidFill>
                  <a:schemeClr val="tx1"/>
                </a:solidFill>
                <a:latin typeface="Times New Roman" panose="02020603050405020304" pitchFamily="18" charset="0"/>
                <a:cs typeface="Times New Roman" panose="02020603050405020304" pitchFamily="18" charset="0"/>
              </a:rPr>
              <a:t> more likely to be </a:t>
            </a:r>
            <a:r>
              <a:rPr lang="en-US" b="1" dirty="0">
                <a:solidFill>
                  <a:schemeClr val="tx1"/>
                </a:solidFill>
                <a:latin typeface="Times New Roman" panose="02020603050405020304" pitchFamily="18" charset="0"/>
                <a:cs typeface="Times New Roman" panose="02020603050405020304" pitchFamily="18" charset="0"/>
              </a:rPr>
              <a:t>representative</a:t>
            </a:r>
            <a:r>
              <a:rPr lang="en-US" dirty="0">
                <a:solidFill>
                  <a:schemeClr val="tx1"/>
                </a:solidFill>
                <a:latin typeface="Times New Roman" panose="02020603050405020304" pitchFamily="18" charset="0"/>
                <a:cs typeface="Times New Roman" panose="02020603050405020304" pitchFamily="18" charset="0"/>
              </a:rPr>
              <a:t> of the </a:t>
            </a:r>
            <a:r>
              <a:rPr lang="en-US" b="1" dirty="0">
                <a:solidFill>
                  <a:schemeClr val="tx1"/>
                </a:solidFill>
                <a:latin typeface="Times New Roman" panose="02020603050405020304" pitchFamily="18" charset="0"/>
                <a:cs typeface="Times New Roman" panose="02020603050405020304" pitchFamily="18" charset="0"/>
              </a:rPr>
              <a:t>whole population</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E09F715-96AD-60A8-F79C-EFA740DE547C}"/>
              </a:ext>
            </a:extLst>
          </p:cNvPr>
          <p:cNvSpPr>
            <a:spLocks noGrp="1"/>
          </p:cNvSpPr>
          <p:nvPr>
            <p:ph type="dt" sz="half" idx="10"/>
          </p:nvPr>
        </p:nvSpPr>
        <p:spPr/>
        <p:txBody>
          <a:bodyPr/>
          <a:lstStyle/>
          <a:p>
            <a:fld id="{62ECDB3C-BE88-4199-BF27-8F862C31DCB4}" type="datetime1">
              <a:rPr lang="en-IN" smtClean="0"/>
              <a:t>11-09-2025</a:t>
            </a:fld>
            <a:endParaRPr lang="en-IN"/>
          </a:p>
        </p:txBody>
      </p:sp>
      <p:sp>
        <p:nvSpPr>
          <p:cNvPr id="5" name="Slide Number Placeholder 4">
            <a:extLst>
              <a:ext uri="{FF2B5EF4-FFF2-40B4-BE49-F238E27FC236}">
                <a16:creationId xmlns:a16="http://schemas.microsoft.com/office/drawing/2014/main" id="{E722ABEA-3ECF-6B5C-48F7-610E441AF8C1}"/>
              </a:ext>
            </a:extLst>
          </p:cNvPr>
          <p:cNvSpPr>
            <a:spLocks noGrp="1"/>
          </p:cNvSpPr>
          <p:nvPr>
            <p:ph type="sldNum" sz="quarter" idx="12"/>
          </p:nvPr>
        </p:nvSpPr>
        <p:spPr/>
        <p:txBody>
          <a:bodyPr/>
          <a:lstStyle/>
          <a:p>
            <a:fld id="{D75E712A-30F9-4F5C-A4F1-6DC8A3808094}" type="slidenum">
              <a:rPr lang="en-IN" smtClean="0"/>
              <a:t>20</a:t>
            </a:fld>
            <a:endParaRPr lang="en-IN"/>
          </a:p>
        </p:txBody>
      </p:sp>
    </p:spTree>
    <p:extLst>
      <p:ext uri="{BB962C8B-B14F-4D97-AF65-F5344CB8AC3E}">
        <p14:creationId xmlns:p14="http://schemas.microsoft.com/office/powerpoint/2010/main" val="20789201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D9BB-25B6-14AC-6767-CB544343EA09}"/>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Sampling </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7CC7B66-DD4B-0CBA-35FF-CBB48D784DE5}"/>
              </a:ext>
            </a:extLst>
          </p:cNvPr>
          <p:cNvSpPr>
            <a:spLocks noGrp="1"/>
          </p:cNvSpPr>
          <p:nvPr>
            <p:ph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Select smaller portion(</a:t>
            </a:r>
            <a:r>
              <a:rPr lang="en-US" b="1" dirty="0">
                <a:latin typeface="Times New Roman" panose="02020603050405020304" pitchFamily="18" charset="0"/>
                <a:cs typeface="Times New Roman" panose="02020603050405020304" pitchFamily="18" charset="0"/>
              </a:rPr>
              <a:t>sample S</a:t>
            </a:r>
            <a:r>
              <a:rPr lang="en-US" dirty="0">
                <a:latin typeface="Times New Roman" panose="02020603050405020304" pitchFamily="18" charset="0"/>
                <a:cs typeface="Times New Roman" panose="02020603050405020304" pitchFamily="18" charset="0"/>
              </a:rPr>
              <a:t>) from a larger dataset </a:t>
            </a:r>
            <a:r>
              <a:rPr lang="en-US" b="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to represent the entire dataset.</a:t>
            </a:r>
          </a:p>
          <a:p>
            <a:r>
              <a:rPr lang="en-US" b="1" dirty="0">
                <a:latin typeface="Times New Roman" panose="02020603050405020304" pitchFamily="18" charset="0"/>
                <a:cs typeface="Times New Roman" panose="02020603050405020304" pitchFamily="18" charset="0"/>
              </a:rPr>
              <a:t>Why is sampling useful?</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Efficiency: </a:t>
            </a:r>
            <a:r>
              <a:rPr lang="en-US" dirty="0">
                <a:latin typeface="Times New Roman" panose="02020603050405020304" pitchFamily="18" charset="0"/>
                <a:cs typeface="Times New Roman" panose="02020603050405020304" pitchFamily="18" charset="0"/>
              </a:rPr>
              <a:t>Running algorithm on entire dataset can be slow and computationally expensive. By taking a smaller representative sample time and resources required is reduced.</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Complexity: </a:t>
            </a:r>
            <a:r>
              <a:rPr lang="en-US" dirty="0">
                <a:latin typeface="Times New Roman" panose="02020603050405020304" pitchFamily="18" charset="0"/>
                <a:cs typeface="Times New Roman" panose="02020603050405020304" pitchFamily="18" charset="0"/>
              </a:rPr>
              <a:t>Allows some algorithms to run more efficiently, with complexity which is potentially sub-linear to the size of data i.e. it does not increase as quick as size of data</a:t>
            </a:r>
            <a:endParaRPr lang="en-IN"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2E473F1-4BB9-FBA2-C3F4-9E7E0F81E73B}"/>
              </a:ext>
            </a:extLst>
          </p:cNvPr>
          <p:cNvSpPr>
            <a:spLocks noGrp="1"/>
          </p:cNvSpPr>
          <p:nvPr>
            <p:ph type="dt" sz="half" idx="10"/>
          </p:nvPr>
        </p:nvSpPr>
        <p:spPr/>
        <p:txBody>
          <a:bodyPr/>
          <a:lstStyle/>
          <a:p>
            <a:fld id="{1AB66748-89DB-44C0-9D8F-DD14B2D7CFC5}" type="datetime1">
              <a:rPr lang="en-IN" smtClean="0"/>
              <a:t>11-09-2025</a:t>
            </a:fld>
            <a:endParaRPr lang="en-IN"/>
          </a:p>
        </p:txBody>
      </p:sp>
      <p:sp>
        <p:nvSpPr>
          <p:cNvPr id="5" name="Slide Number Placeholder 4">
            <a:extLst>
              <a:ext uri="{FF2B5EF4-FFF2-40B4-BE49-F238E27FC236}">
                <a16:creationId xmlns:a16="http://schemas.microsoft.com/office/drawing/2014/main" id="{A659958B-6843-D278-6A0C-E1F5EE4F3D33}"/>
              </a:ext>
            </a:extLst>
          </p:cNvPr>
          <p:cNvSpPr>
            <a:spLocks noGrp="1"/>
          </p:cNvSpPr>
          <p:nvPr>
            <p:ph type="sldNum" sz="quarter" idx="12"/>
          </p:nvPr>
        </p:nvSpPr>
        <p:spPr/>
        <p:txBody>
          <a:bodyPr/>
          <a:lstStyle/>
          <a:p>
            <a:fld id="{D75E712A-30F9-4F5C-A4F1-6DC8A3808094}" type="slidenum">
              <a:rPr lang="en-IN" smtClean="0"/>
              <a:t>21</a:t>
            </a:fld>
            <a:endParaRPr lang="en-IN"/>
          </a:p>
        </p:txBody>
      </p:sp>
    </p:spTree>
    <p:extLst>
      <p:ext uri="{BB962C8B-B14F-4D97-AF65-F5344CB8AC3E}">
        <p14:creationId xmlns:p14="http://schemas.microsoft.com/office/powerpoint/2010/main" val="3300817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3A8A9-E896-7246-DE52-82D797531924}"/>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Key principle</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01AD9B7-427C-9870-A1AD-1848D8DAE8B8}"/>
              </a:ext>
            </a:extLst>
          </p:cNvPr>
          <p:cNvSpPr>
            <a:spLocks noGrp="1"/>
          </p:cNvSpPr>
          <p:nvPr>
            <p:ph idx="1"/>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Representative sample: </a:t>
            </a:r>
            <a:r>
              <a:rPr lang="en-US" dirty="0">
                <a:solidFill>
                  <a:schemeClr val="tx1"/>
                </a:solidFill>
                <a:latin typeface="Times New Roman" panose="02020603050405020304" pitchFamily="18" charset="0"/>
                <a:cs typeface="Times New Roman" panose="02020603050405020304" pitchFamily="18" charset="0"/>
              </a:rPr>
              <a:t>Sample you choose should reflect characteristics of entire population. If it is not so then analysis may be misleading.</a:t>
            </a:r>
          </a:p>
          <a:p>
            <a:r>
              <a:rPr lang="en-US" b="1" dirty="0">
                <a:solidFill>
                  <a:schemeClr val="tx1"/>
                </a:solidFill>
                <a:latin typeface="Times New Roman" panose="02020603050405020304" pitchFamily="18" charset="0"/>
                <a:cs typeface="Times New Roman" panose="02020603050405020304" pitchFamily="18" charset="0"/>
              </a:rPr>
              <a:t>Simple random sampling </a:t>
            </a:r>
            <a:r>
              <a:rPr lang="en-US" dirty="0">
                <a:solidFill>
                  <a:schemeClr val="tx1"/>
                </a:solidFill>
                <a:latin typeface="Times New Roman" panose="02020603050405020304" pitchFamily="18" charset="0"/>
                <a:cs typeface="Times New Roman" panose="02020603050405020304" pitchFamily="18" charset="0"/>
              </a:rPr>
              <a:t>is the most basic method, where each data has equal chance of being selected. It may lead to poor result if data is skewed.</a:t>
            </a:r>
          </a:p>
          <a:p>
            <a:r>
              <a:rPr lang="en-IN" dirty="0">
                <a:solidFill>
                  <a:schemeClr val="tx1"/>
                </a:solidFill>
                <a:latin typeface="Times New Roman" panose="02020603050405020304" pitchFamily="18" charset="0"/>
                <a:cs typeface="Times New Roman" panose="02020603050405020304" pitchFamily="18" charset="0"/>
              </a:rPr>
              <a:t>When </a:t>
            </a:r>
            <a:r>
              <a:rPr lang="en-IN" b="1" dirty="0">
                <a:solidFill>
                  <a:schemeClr val="tx1"/>
                </a:solidFill>
                <a:latin typeface="Times New Roman" panose="02020603050405020304" pitchFamily="18" charset="0"/>
                <a:cs typeface="Times New Roman" panose="02020603050405020304" pitchFamily="18" charset="0"/>
              </a:rPr>
              <a:t>data is skewed </a:t>
            </a:r>
            <a:r>
              <a:rPr lang="en-IN" dirty="0">
                <a:solidFill>
                  <a:schemeClr val="tx1"/>
                </a:solidFill>
                <a:latin typeface="Times New Roman" panose="02020603050405020304" pitchFamily="18" charset="0"/>
                <a:cs typeface="Times New Roman" panose="02020603050405020304" pitchFamily="18" charset="0"/>
              </a:rPr>
              <a:t>then adapting methods like </a:t>
            </a:r>
            <a:r>
              <a:rPr lang="en-IN" b="1" dirty="0">
                <a:solidFill>
                  <a:schemeClr val="tx1"/>
                </a:solidFill>
                <a:latin typeface="Times New Roman" panose="02020603050405020304" pitchFamily="18" charset="0"/>
                <a:cs typeface="Times New Roman" panose="02020603050405020304" pitchFamily="18" charset="0"/>
              </a:rPr>
              <a:t>stratified sampling </a:t>
            </a:r>
            <a:r>
              <a:rPr lang="en-IN" dirty="0">
                <a:solidFill>
                  <a:schemeClr val="tx1"/>
                </a:solidFill>
                <a:latin typeface="Times New Roman" panose="02020603050405020304" pitchFamily="18" charset="0"/>
                <a:cs typeface="Times New Roman" panose="02020603050405020304" pitchFamily="18" charset="0"/>
              </a:rPr>
              <a:t>is used. In stratified sampling data is divided into different groups based on certain characteristics and then sample is taken from each group</a:t>
            </a:r>
          </a:p>
        </p:txBody>
      </p:sp>
      <p:sp>
        <p:nvSpPr>
          <p:cNvPr id="4" name="Date Placeholder 3">
            <a:extLst>
              <a:ext uri="{FF2B5EF4-FFF2-40B4-BE49-F238E27FC236}">
                <a16:creationId xmlns:a16="http://schemas.microsoft.com/office/drawing/2014/main" id="{A98F2F55-76E5-DB33-24A2-4A363CCFE08D}"/>
              </a:ext>
            </a:extLst>
          </p:cNvPr>
          <p:cNvSpPr>
            <a:spLocks noGrp="1"/>
          </p:cNvSpPr>
          <p:nvPr>
            <p:ph type="dt" sz="half" idx="10"/>
          </p:nvPr>
        </p:nvSpPr>
        <p:spPr/>
        <p:txBody>
          <a:bodyPr/>
          <a:lstStyle/>
          <a:p>
            <a:fld id="{FC5ED57C-7187-4D73-A6F6-514B0F3190E9}" type="datetime1">
              <a:rPr lang="en-IN" smtClean="0"/>
              <a:t>11-09-2025</a:t>
            </a:fld>
            <a:endParaRPr lang="en-IN"/>
          </a:p>
        </p:txBody>
      </p:sp>
      <p:sp>
        <p:nvSpPr>
          <p:cNvPr id="5" name="Slide Number Placeholder 4">
            <a:extLst>
              <a:ext uri="{FF2B5EF4-FFF2-40B4-BE49-F238E27FC236}">
                <a16:creationId xmlns:a16="http://schemas.microsoft.com/office/drawing/2014/main" id="{FEDF0889-0511-3A82-0D87-69125D69924B}"/>
              </a:ext>
            </a:extLst>
          </p:cNvPr>
          <p:cNvSpPr>
            <a:spLocks noGrp="1"/>
          </p:cNvSpPr>
          <p:nvPr>
            <p:ph type="sldNum" sz="quarter" idx="12"/>
          </p:nvPr>
        </p:nvSpPr>
        <p:spPr/>
        <p:txBody>
          <a:bodyPr/>
          <a:lstStyle/>
          <a:p>
            <a:fld id="{D75E712A-30F9-4F5C-A4F1-6DC8A3808094}" type="slidenum">
              <a:rPr lang="en-IN" smtClean="0"/>
              <a:t>22</a:t>
            </a:fld>
            <a:endParaRPr lang="en-IN"/>
          </a:p>
        </p:txBody>
      </p:sp>
    </p:spTree>
    <p:extLst>
      <p:ext uri="{BB962C8B-B14F-4D97-AF65-F5344CB8AC3E}">
        <p14:creationId xmlns:p14="http://schemas.microsoft.com/office/powerpoint/2010/main" val="26131974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D8011-BB48-72B5-2489-D9763252DB5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How should we choose samples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D65F447-3DC7-B390-A369-FD7309F5AE80}"/>
              </a:ext>
            </a:extLst>
          </p:cNvPr>
          <p:cNvSpPr>
            <a:spLocks noGrp="1"/>
          </p:cNvSpPr>
          <p:nvPr>
            <p:ph idx="1"/>
          </p:nvPr>
        </p:nvSpPr>
        <p:spPr/>
        <p:txBody>
          <a:bodyPr/>
          <a:lstStyle/>
          <a:p>
            <a:pPr marL="457200" indent="-457200">
              <a:buFont typeface="+mj-lt"/>
              <a:buAutoNum type="arabicPeriod"/>
            </a:pPr>
            <a:r>
              <a:rPr lang="en-US" b="1" dirty="0">
                <a:solidFill>
                  <a:schemeClr val="tx1"/>
                </a:solidFill>
                <a:latin typeface="Times New Roman" panose="02020603050405020304" pitchFamily="18" charset="0"/>
                <a:cs typeface="Times New Roman" panose="02020603050405020304" pitchFamily="18" charset="0"/>
              </a:rPr>
              <a:t>Probability sampling: </a:t>
            </a:r>
            <a:r>
              <a:rPr lang="en-US" dirty="0">
                <a:solidFill>
                  <a:schemeClr val="tx1"/>
                </a:solidFill>
                <a:latin typeface="Times New Roman" panose="02020603050405020304" pitchFamily="18" charset="0"/>
                <a:cs typeface="Times New Roman" panose="02020603050405020304" pitchFamily="18" charset="0"/>
              </a:rPr>
              <a:t>Each member of the population has a chance of being selected . It is mainly quantitative approach.</a:t>
            </a:r>
          </a:p>
          <a:p>
            <a:pPr marL="457200" indent="-457200">
              <a:buFont typeface="+mj-lt"/>
              <a:buAutoNum type="arabicPeriod"/>
            </a:pPr>
            <a:r>
              <a:rPr lang="en-US" b="1" dirty="0">
                <a:solidFill>
                  <a:schemeClr val="tx1"/>
                </a:solidFill>
                <a:latin typeface="Times New Roman" panose="02020603050405020304" pitchFamily="18" charset="0"/>
                <a:cs typeface="Times New Roman" panose="02020603050405020304" pitchFamily="18" charset="0"/>
              </a:rPr>
              <a:t>Non-Probability sampling: </a:t>
            </a:r>
            <a:r>
              <a:rPr lang="en-US" dirty="0">
                <a:solidFill>
                  <a:schemeClr val="tx1"/>
                </a:solidFill>
                <a:latin typeface="Times New Roman" panose="02020603050405020304" pitchFamily="18" charset="0"/>
                <a:cs typeface="Times New Roman" panose="02020603050405020304" pitchFamily="18" charset="0"/>
              </a:rPr>
              <a:t>Not all samples have equal chance of participating in the study.</a:t>
            </a:r>
          </a:p>
          <a:p>
            <a:pPr marL="457200" indent="-457200">
              <a:buFont typeface="+mj-lt"/>
              <a:buAutoNum type="arabicPeriod"/>
            </a:pPr>
            <a:endParaRPr lang="en-US" dirty="0">
              <a:solidFill>
                <a:schemeClr val="tx1"/>
              </a:solidFill>
              <a:latin typeface="Times New Roman" panose="02020603050405020304" pitchFamily="18" charset="0"/>
              <a:cs typeface="Times New Roman" panose="02020603050405020304" pitchFamily="18" charset="0"/>
            </a:endParaRPr>
          </a:p>
          <a:p>
            <a:pPr marL="0" indent="0">
              <a:buNone/>
            </a:pPr>
            <a:r>
              <a:rPr lang="en-US" dirty="0">
                <a:solidFill>
                  <a:schemeClr val="tx1"/>
                </a:solidFill>
                <a:latin typeface="Times New Roman" panose="02020603050405020304" pitchFamily="18" charset="0"/>
                <a:cs typeface="Times New Roman" panose="02020603050405020304" pitchFamily="18" charset="0"/>
              </a:rPr>
              <a:t>Our focus is on probability sampling</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D33A62F-0A15-8297-3B63-1BF5C44E3F65}"/>
              </a:ext>
            </a:extLst>
          </p:cNvPr>
          <p:cNvSpPr>
            <a:spLocks noGrp="1"/>
          </p:cNvSpPr>
          <p:nvPr>
            <p:ph type="dt" sz="half" idx="10"/>
          </p:nvPr>
        </p:nvSpPr>
        <p:spPr/>
        <p:txBody>
          <a:bodyPr/>
          <a:lstStyle/>
          <a:p>
            <a:fld id="{6AE80C85-1936-4216-ABA9-5D2EDE0D1252}" type="datetime1">
              <a:rPr lang="en-IN" smtClean="0"/>
              <a:t>11-09-2025</a:t>
            </a:fld>
            <a:endParaRPr lang="en-IN"/>
          </a:p>
        </p:txBody>
      </p:sp>
      <p:sp>
        <p:nvSpPr>
          <p:cNvPr id="5" name="Slide Number Placeholder 4">
            <a:extLst>
              <a:ext uri="{FF2B5EF4-FFF2-40B4-BE49-F238E27FC236}">
                <a16:creationId xmlns:a16="http://schemas.microsoft.com/office/drawing/2014/main" id="{B73AEF74-033C-91E5-B7E7-A5DD0FC03074}"/>
              </a:ext>
            </a:extLst>
          </p:cNvPr>
          <p:cNvSpPr>
            <a:spLocks noGrp="1"/>
          </p:cNvSpPr>
          <p:nvPr>
            <p:ph type="sldNum" sz="quarter" idx="12"/>
          </p:nvPr>
        </p:nvSpPr>
        <p:spPr/>
        <p:txBody>
          <a:bodyPr/>
          <a:lstStyle/>
          <a:p>
            <a:fld id="{D75E712A-30F9-4F5C-A4F1-6DC8A3808094}" type="slidenum">
              <a:rPr lang="en-IN" smtClean="0"/>
              <a:t>23</a:t>
            </a:fld>
            <a:endParaRPr lang="en-IN"/>
          </a:p>
        </p:txBody>
      </p:sp>
    </p:spTree>
    <p:extLst>
      <p:ext uri="{BB962C8B-B14F-4D97-AF65-F5344CB8AC3E}">
        <p14:creationId xmlns:p14="http://schemas.microsoft.com/office/powerpoint/2010/main" val="39300184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E91B-A093-4FAB-5D8E-C0ED7B61A0FE}"/>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Probability sampling</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FE777CA-A11B-DAE0-8A67-A3231C1DF0A6}"/>
              </a:ext>
            </a:extLst>
          </p:cNvPr>
          <p:cNvSpPr>
            <a:spLocks noGrp="1"/>
          </p:cNvSpPr>
          <p:nvPr>
            <p:ph idx="1"/>
          </p:nvPr>
        </p:nvSpPr>
        <p:spPr/>
        <p:txBody>
          <a:bodyPr/>
          <a:lstStyle/>
          <a:p>
            <a:pPr marL="457200" indent="-457200">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Simple random sampling</a:t>
            </a:r>
          </a:p>
          <a:p>
            <a:pPr marL="457200" indent="-457200">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Systematic sampling</a:t>
            </a:r>
          </a:p>
          <a:p>
            <a:pPr marL="457200" indent="-457200">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Stratified sampling</a:t>
            </a:r>
          </a:p>
          <a:p>
            <a:pPr marL="457200" indent="-457200">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Proportional sampling</a:t>
            </a:r>
          </a:p>
          <a:p>
            <a:pPr marL="457200" indent="-457200">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Cluster Sampling</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D75B9CA-B390-DB6C-829A-63E5822B96EF}"/>
              </a:ext>
            </a:extLst>
          </p:cNvPr>
          <p:cNvSpPr>
            <a:spLocks noGrp="1"/>
          </p:cNvSpPr>
          <p:nvPr>
            <p:ph type="dt" sz="half" idx="10"/>
          </p:nvPr>
        </p:nvSpPr>
        <p:spPr/>
        <p:txBody>
          <a:bodyPr/>
          <a:lstStyle/>
          <a:p>
            <a:fld id="{89E6D636-D487-4A72-A18F-A084D7F7C160}" type="datetime1">
              <a:rPr lang="en-IN" smtClean="0"/>
              <a:t>11-09-2025</a:t>
            </a:fld>
            <a:endParaRPr lang="en-IN"/>
          </a:p>
        </p:txBody>
      </p:sp>
      <p:sp>
        <p:nvSpPr>
          <p:cNvPr id="5" name="Slide Number Placeholder 4">
            <a:extLst>
              <a:ext uri="{FF2B5EF4-FFF2-40B4-BE49-F238E27FC236}">
                <a16:creationId xmlns:a16="http://schemas.microsoft.com/office/drawing/2014/main" id="{C1059E22-CC5D-C8F3-4B78-0800702A8A6B}"/>
              </a:ext>
            </a:extLst>
          </p:cNvPr>
          <p:cNvSpPr>
            <a:spLocks noGrp="1"/>
          </p:cNvSpPr>
          <p:nvPr>
            <p:ph type="sldNum" sz="quarter" idx="12"/>
          </p:nvPr>
        </p:nvSpPr>
        <p:spPr/>
        <p:txBody>
          <a:bodyPr/>
          <a:lstStyle/>
          <a:p>
            <a:fld id="{D75E712A-30F9-4F5C-A4F1-6DC8A3808094}" type="slidenum">
              <a:rPr lang="en-IN" smtClean="0"/>
              <a:t>24</a:t>
            </a:fld>
            <a:endParaRPr lang="en-IN"/>
          </a:p>
        </p:txBody>
      </p:sp>
    </p:spTree>
    <p:extLst>
      <p:ext uri="{BB962C8B-B14F-4D97-AF65-F5344CB8AC3E}">
        <p14:creationId xmlns:p14="http://schemas.microsoft.com/office/powerpoint/2010/main" val="817193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03563-FEED-8E26-D389-AC384D3CE16F}"/>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Simple random sampling</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370054D-06BB-05D8-CEF1-81460050BBC2}"/>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Every data point in the dataset has an equal probability of being selected</a:t>
            </a:r>
          </a:p>
          <a:p>
            <a:r>
              <a:rPr lang="en-US" dirty="0">
                <a:solidFill>
                  <a:schemeClr val="tx1"/>
                </a:solidFill>
                <a:latin typeface="Times New Roman" panose="02020603050405020304" pitchFamily="18" charset="0"/>
                <a:cs typeface="Times New Roman" panose="02020603050405020304" pitchFamily="18" charset="0"/>
              </a:rPr>
              <a:t>Easy to implement</a:t>
            </a:r>
          </a:p>
          <a:p>
            <a:r>
              <a:rPr lang="en-US" dirty="0">
                <a:solidFill>
                  <a:schemeClr val="tx1"/>
                </a:solidFill>
                <a:latin typeface="Times New Roman" panose="02020603050405020304" pitchFamily="18" charset="0"/>
                <a:cs typeface="Times New Roman" panose="02020603050405020304" pitchFamily="18" charset="0"/>
              </a:rPr>
              <a:t>Obtained either by sampling with replacement from finite population</a:t>
            </a:r>
          </a:p>
          <a:p>
            <a:r>
              <a:rPr lang="en-US" dirty="0">
                <a:solidFill>
                  <a:schemeClr val="tx1"/>
                </a:solidFill>
                <a:latin typeface="Times New Roman" panose="02020603050405020304" pitchFamily="18" charset="0"/>
                <a:cs typeface="Times New Roman" panose="02020603050405020304" pitchFamily="18" charset="0"/>
              </a:rPr>
              <a:t>Without replacement from infinite population</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0B97671-D2D1-3524-D64F-E8A3111CA63D}"/>
              </a:ext>
            </a:extLst>
          </p:cNvPr>
          <p:cNvSpPr>
            <a:spLocks noGrp="1"/>
          </p:cNvSpPr>
          <p:nvPr>
            <p:ph type="dt" sz="half" idx="10"/>
          </p:nvPr>
        </p:nvSpPr>
        <p:spPr/>
        <p:txBody>
          <a:bodyPr/>
          <a:lstStyle/>
          <a:p>
            <a:fld id="{4DA49832-7D46-455C-B64F-A573897DFFA1}" type="datetime1">
              <a:rPr lang="en-IN" smtClean="0"/>
              <a:t>11-09-2025</a:t>
            </a:fld>
            <a:endParaRPr lang="en-IN"/>
          </a:p>
        </p:txBody>
      </p:sp>
      <p:sp>
        <p:nvSpPr>
          <p:cNvPr id="5" name="Slide Number Placeholder 4">
            <a:extLst>
              <a:ext uri="{FF2B5EF4-FFF2-40B4-BE49-F238E27FC236}">
                <a16:creationId xmlns:a16="http://schemas.microsoft.com/office/drawing/2014/main" id="{FD5EB03E-BDB4-B2BA-32EF-78EEE6C1B0F9}"/>
              </a:ext>
            </a:extLst>
          </p:cNvPr>
          <p:cNvSpPr>
            <a:spLocks noGrp="1"/>
          </p:cNvSpPr>
          <p:nvPr>
            <p:ph type="sldNum" sz="quarter" idx="12"/>
          </p:nvPr>
        </p:nvSpPr>
        <p:spPr/>
        <p:txBody>
          <a:bodyPr/>
          <a:lstStyle/>
          <a:p>
            <a:fld id="{D75E712A-30F9-4F5C-A4F1-6DC8A3808094}" type="slidenum">
              <a:rPr lang="en-IN" smtClean="0"/>
              <a:t>25</a:t>
            </a:fld>
            <a:endParaRPr lang="en-IN"/>
          </a:p>
        </p:txBody>
      </p:sp>
    </p:spTree>
    <p:extLst>
      <p:ext uri="{BB962C8B-B14F-4D97-AF65-F5344CB8AC3E}">
        <p14:creationId xmlns:p14="http://schemas.microsoft.com/office/powerpoint/2010/main" val="9237476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AB120-B1F9-F1D0-4581-7DF04A995D4B}"/>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Sampling without replacement</a:t>
            </a:r>
            <a:endParaRPr lang="en-IN" sz="4000" b="1"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7A855EC2-DD8A-11D2-D4F2-AE1E383DDB74}"/>
              </a:ext>
            </a:extLst>
          </p:cNvPr>
          <p:cNvPicPr>
            <a:picLocks noGrp="1" noChangeAspect="1"/>
          </p:cNvPicPr>
          <p:nvPr>
            <p:ph idx="1"/>
          </p:nvPr>
        </p:nvPicPr>
        <p:blipFill>
          <a:blip r:embed="rId2"/>
          <a:stretch>
            <a:fillRect/>
          </a:stretch>
        </p:blipFill>
        <p:spPr>
          <a:xfrm>
            <a:off x="3059109" y="2651125"/>
            <a:ext cx="5140719" cy="3317875"/>
          </a:xfrm>
        </p:spPr>
      </p:pic>
      <p:sp>
        <p:nvSpPr>
          <p:cNvPr id="4" name="Date Placeholder 3">
            <a:extLst>
              <a:ext uri="{FF2B5EF4-FFF2-40B4-BE49-F238E27FC236}">
                <a16:creationId xmlns:a16="http://schemas.microsoft.com/office/drawing/2014/main" id="{827BB285-DD8F-69FB-AF29-425F8BE9DE77}"/>
              </a:ext>
            </a:extLst>
          </p:cNvPr>
          <p:cNvSpPr>
            <a:spLocks noGrp="1"/>
          </p:cNvSpPr>
          <p:nvPr>
            <p:ph type="dt" sz="half" idx="10"/>
          </p:nvPr>
        </p:nvSpPr>
        <p:spPr/>
        <p:txBody>
          <a:bodyPr/>
          <a:lstStyle/>
          <a:p>
            <a:fld id="{BDAFCF49-4DE3-4AAC-8722-AB0BE711BCF9}" type="datetime1">
              <a:rPr lang="en-IN" smtClean="0"/>
              <a:t>11-09-2025</a:t>
            </a:fld>
            <a:endParaRPr lang="en-IN"/>
          </a:p>
        </p:txBody>
      </p:sp>
      <p:sp>
        <p:nvSpPr>
          <p:cNvPr id="5" name="Slide Number Placeholder 4">
            <a:extLst>
              <a:ext uri="{FF2B5EF4-FFF2-40B4-BE49-F238E27FC236}">
                <a16:creationId xmlns:a16="http://schemas.microsoft.com/office/drawing/2014/main" id="{E7B0D6DC-4F68-97C1-5F13-3B9DD979D09A}"/>
              </a:ext>
            </a:extLst>
          </p:cNvPr>
          <p:cNvSpPr>
            <a:spLocks noGrp="1"/>
          </p:cNvSpPr>
          <p:nvPr>
            <p:ph type="sldNum" sz="quarter" idx="12"/>
          </p:nvPr>
        </p:nvSpPr>
        <p:spPr/>
        <p:txBody>
          <a:bodyPr/>
          <a:lstStyle/>
          <a:p>
            <a:fld id="{D75E712A-30F9-4F5C-A4F1-6DC8A3808094}" type="slidenum">
              <a:rPr lang="en-IN" smtClean="0"/>
              <a:t>26</a:t>
            </a:fld>
            <a:endParaRPr lang="en-IN"/>
          </a:p>
        </p:txBody>
      </p:sp>
    </p:spTree>
    <p:extLst>
      <p:ext uri="{BB962C8B-B14F-4D97-AF65-F5344CB8AC3E}">
        <p14:creationId xmlns:p14="http://schemas.microsoft.com/office/powerpoint/2010/main" val="20511901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C27EA-AB55-ACE6-DF48-A251F8A2BAA1}"/>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Example of simple random sampling</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0911A19-84AC-1031-15A6-E19F7381BCE4}"/>
              </a:ext>
            </a:extLst>
          </p:cNvPr>
          <p:cNvSpPr>
            <a:spLocks noGrp="1"/>
          </p:cNvSpPr>
          <p:nvPr>
            <p:ph idx="1"/>
          </p:nvPr>
        </p:nvSpPr>
        <p:spPr/>
        <p:txBody>
          <a:bodyPr>
            <a:normAutofit lnSpcReduction="10000"/>
          </a:bodyPr>
          <a:lstStyle/>
          <a:p>
            <a:r>
              <a:rPr lang="en-US" dirty="0">
                <a:solidFill>
                  <a:schemeClr val="tx1"/>
                </a:solidFill>
                <a:latin typeface="Times New Roman" panose="02020603050405020304" pitchFamily="18" charset="0"/>
                <a:cs typeface="Times New Roman" panose="02020603050405020304" pitchFamily="18" charset="0"/>
              </a:rPr>
              <a:t>Suppose you have small dataset consisting of following 10 students each represented by their student IDs: 1,2,3,4,5,6,7,8,9,10. Each have equal chance of being selected . </a:t>
            </a:r>
            <a:r>
              <a:rPr lang="en-US" b="1" dirty="0">
                <a:solidFill>
                  <a:schemeClr val="tx1"/>
                </a:solidFill>
                <a:latin typeface="Times New Roman" panose="02020603050405020304" pitchFamily="18" charset="0"/>
                <a:cs typeface="Times New Roman" panose="02020603050405020304" pitchFamily="18" charset="0"/>
              </a:rPr>
              <a:t>What is the probability of selecting one student?</a:t>
            </a:r>
          </a:p>
          <a:p>
            <a:r>
              <a:rPr lang="en-US" dirty="0">
                <a:solidFill>
                  <a:schemeClr val="tx1"/>
                </a:solidFill>
                <a:latin typeface="Times New Roman" panose="02020603050405020304" pitchFamily="18" charset="0"/>
                <a:cs typeface="Times New Roman" panose="02020603050405020304" pitchFamily="18" charset="0"/>
              </a:rPr>
              <a:t>We have randomly selected any 4 IDs two times and result is as shown below</a:t>
            </a:r>
          </a:p>
          <a:p>
            <a:r>
              <a:rPr lang="en-US" b="1" dirty="0">
                <a:solidFill>
                  <a:schemeClr val="tx1"/>
                </a:solidFill>
                <a:latin typeface="Times New Roman" panose="02020603050405020304" pitchFamily="18" charset="0"/>
                <a:cs typeface="Times New Roman" panose="02020603050405020304" pitchFamily="18" charset="0"/>
              </a:rPr>
              <a:t>First time Student ID: </a:t>
            </a:r>
            <a:r>
              <a:rPr lang="en-US" dirty="0">
                <a:solidFill>
                  <a:schemeClr val="tx1"/>
                </a:solidFill>
                <a:latin typeface="Times New Roman" panose="02020603050405020304" pitchFamily="18" charset="0"/>
                <a:cs typeface="Times New Roman" panose="02020603050405020304" pitchFamily="18" charset="0"/>
              </a:rPr>
              <a:t>3,7,1,10</a:t>
            </a:r>
          </a:p>
          <a:p>
            <a:r>
              <a:rPr lang="en-US" b="1" dirty="0">
                <a:solidFill>
                  <a:schemeClr val="tx1"/>
                </a:solidFill>
                <a:latin typeface="Times New Roman" panose="02020603050405020304" pitchFamily="18" charset="0"/>
                <a:cs typeface="Times New Roman" panose="02020603050405020304" pitchFamily="18" charset="0"/>
              </a:rPr>
              <a:t>Second time Student ID: </a:t>
            </a:r>
            <a:r>
              <a:rPr lang="en-US" dirty="0">
                <a:solidFill>
                  <a:schemeClr val="tx1"/>
                </a:solidFill>
                <a:latin typeface="Times New Roman" panose="02020603050405020304" pitchFamily="18" charset="0"/>
                <a:cs typeface="Times New Roman" panose="02020603050405020304" pitchFamily="18" charset="0"/>
              </a:rPr>
              <a:t>3,7,3,10</a:t>
            </a:r>
          </a:p>
          <a:p>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E71F38E-F37A-0DB6-2DED-847676C94166}"/>
              </a:ext>
            </a:extLst>
          </p:cNvPr>
          <p:cNvSpPr>
            <a:spLocks noGrp="1"/>
          </p:cNvSpPr>
          <p:nvPr>
            <p:ph type="dt" sz="half" idx="10"/>
          </p:nvPr>
        </p:nvSpPr>
        <p:spPr/>
        <p:txBody>
          <a:bodyPr/>
          <a:lstStyle/>
          <a:p>
            <a:fld id="{BDAFCF49-4DE3-4AAC-8722-AB0BE711BCF9}" type="datetime1">
              <a:rPr lang="en-IN" smtClean="0"/>
              <a:t>11-09-2025</a:t>
            </a:fld>
            <a:endParaRPr lang="en-IN"/>
          </a:p>
        </p:txBody>
      </p:sp>
      <p:sp>
        <p:nvSpPr>
          <p:cNvPr id="5" name="Slide Number Placeholder 4">
            <a:extLst>
              <a:ext uri="{FF2B5EF4-FFF2-40B4-BE49-F238E27FC236}">
                <a16:creationId xmlns:a16="http://schemas.microsoft.com/office/drawing/2014/main" id="{6B633462-9481-A0A0-3CF2-F47CE1C14F65}"/>
              </a:ext>
            </a:extLst>
          </p:cNvPr>
          <p:cNvSpPr>
            <a:spLocks noGrp="1"/>
          </p:cNvSpPr>
          <p:nvPr>
            <p:ph type="sldNum" sz="quarter" idx="12"/>
          </p:nvPr>
        </p:nvSpPr>
        <p:spPr/>
        <p:txBody>
          <a:bodyPr/>
          <a:lstStyle/>
          <a:p>
            <a:fld id="{D75E712A-30F9-4F5C-A4F1-6DC8A3808094}" type="slidenum">
              <a:rPr lang="en-IN" smtClean="0"/>
              <a:t>27</a:t>
            </a:fld>
            <a:endParaRPr lang="en-IN"/>
          </a:p>
        </p:txBody>
      </p:sp>
    </p:spTree>
    <p:extLst>
      <p:ext uri="{BB962C8B-B14F-4D97-AF65-F5344CB8AC3E}">
        <p14:creationId xmlns:p14="http://schemas.microsoft.com/office/powerpoint/2010/main" val="1136899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573AE-00C5-6138-8713-003BC6B13FDB}"/>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Systematic sampling</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A24169F-45F0-E290-D7B6-F125764CBC05}"/>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A sample in which every kth item of the sampling frame is selected, starting from the first element which is randomly selected from the first k elements.</a:t>
            </a:r>
          </a:p>
          <a:p>
            <a:r>
              <a:rPr lang="en-US" dirty="0">
                <a:solidFill>
                  <a:srgbClr val="FF0000"/>
                </a:solidFill>
                <a:latin typeface="Times New Roman" panose="02020603050405020304" pitchFamily="18" charset="0"/>
                <a:cs typeface="Times New Roman" panose="02020603050405020304" pitchFamily="18" charset="0"/>
              </a:rPr>
              <a:t>Note: </a:t>
            </a:r>
            <a:r>
              <a:rPr lang="en-US" dirty="0">
                <a:solidFill>
                  <a:schemeClr val="tx1"/>
                </a:solidFill>
                <a:latin typeface="Times New Roman" panose="02020603050405020304" pitchFamily="18" charset="0"/>
                <a:cs typeface="Times New Roman" panose="02020603050405020304" pitchFamily="18" charset="0"/>
              </a:rPr>
              <a:t>The systematic technique is easy to execute. However, it has some inherent dangers when the sampling frame is repetitive or cyclical in nature. In these situations the results may not approximate a simple random sample</a:t>
            </a:r>
          </a:p>
          <a:p>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67FB8361-A77C-924D-FA22-9007A3A08E0C}"/>
              </a:ext>
            </a:extLst>
          </p:cNvPr>
          <p:cNvSpPr>
            <a:spLocks noGrp="1"/>
          </p:cNvSpPr>
          <p:nvPr>
            <p:ph type="dt" sz="half" idx="10"/>
          </p:nvPr>
        </p:nvSpPr>
        <p:spPr/>
        <p:txBody>
          <a:bodyPr/>
          <a:lstStyle/>
          <a:p>
            <a:fld id="{BDAFCF49-4DE3-4AAC-8722-AB0BE711BCF9}" type="datetime1">
              <a:rPr lang="en-IN" smtClean="0"/>
              <a:t>11-09-2025</a:t>
            </a:fld>
            <a:endParaRPr lang="en-IN"/>
          </a:p>
        </p:txBody>
      </p:sp>
      <p:sp>
        <p:nvSpPr>
          <p:cNvPr id="5" name="Slide Number Placeholder 4">
            <a:extLst>
              <a:ext uri="{FF2B5EF4-FFF2-40B4-BE49-F238E27FC236}">
                <a16:creationId xmlns:a16="http://schemas.microsoft.com/office/drawing/2014/main" id="{E4BC1E27-E9D7-8FD9-0C6A-792CAA8226AA}"/>
              </a:ext>
            </a:extLst>
          </p:cNvPr>
          <p:cNvSpPr>
            <a:spLocks noGrp="1"/>
          </p:cNvSpPr>
          <p:nvPr>
            <p:ph type="sldNum" sz="quarter" idx="12"/>
          </p:nvPr>
        </p:nvSpPr>
        <p:spPr/>
        <p:txBody>
          <a:bodyPr/>
          <a:lstStyle/>
          <a:p>
            <a:fld id="{D75E712A-30F9-4F5C-A4F1-6DC8A3808094}" type="slidenum">
              <a:rPr lang="en-IN" smtClean="0"/>
              <a:t>28</a:t>
            </a:fld>
            <a:endParaRPr lang="en-IN"/>
          </a:p>
        </p:txBody>
      </p:sp>
    </p:spTree>
    <p:extLst>
      <p:ext uri="{BB962C8B-B14F-4D97-AF65-F5344CB8AC3E}">
        <p14:creationId xmlns:p14="http://schemas.microsoft.com/office/powerpoint/2010/main" val="4008714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306E9-242A-F808-7F4C-99B3EF286F94}"/>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How systematic sampling works</a:t>
            </a:r>
            <a:endParaRPr lang="en-IN"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ACE2C6-E204-C7E9-061B-8F407BDA0D6F}"/>
                  </a:ext>
                </a:extLst>
              </p:cNvPr>
              <p:cNvSpPr>
                <a:spLocks noGrp="1"/>
              </p:cNvSpPr>
              <p:nvPr>
                <p:ph idx="1"/>
              </p:nvPr>
            </p:nvSpPr>
            <p:spPr/>
            <p:txBody>
              <a:bodyPr>
                <a:normAutofit fontScale="85000" lnSpcReduction="10000"/>
              </a:bodyPr>
              <a:lstStyle/>
              <a:p>
                <a:pPr marL="342900" lvl="0" indent="-342900">
                  <a:lnSpc>
                    <a:spcPct val="107000"/>
                  </a:lnSpc>
                  <a:spcAft>
                    <a:spcPts val="800"/>
                  </a:spcAft>
                  <a:buFont typeface="+mj-lt"/>
                  <a:buAutoNum type="arabicPeriod"/>
                  <a:tabLst>
                    <a:tab pos="457200" algn="l"/>
                  </a:tabLst>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Start with an Ordered List:</a:t>
                </a:r>
                <a:br>
                  <a:rPr lang="en-IN"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Imagine you have a list of items, like a list of 100 students in alphabetical order.</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Decide the Sample Size:</a:t>
                </a:r>
                <a:br>
                  <a:rPr lang="en-IN"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Let’s say you want to create a sample of 10 students from this list.</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Calculate the Sampling Interval:</a:t>
                </a:r>
                <a:br>
                  <a:rPr lang="en-IN"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The sampling interval is the number of steps you take between each selected item. You calculate it by dividing the total population size by the desired sample size:</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Sampling interval=    </a:t>
                </a:r>
                <a14:m>
                  <m:oMath xmlns:m="http://schemas.openxmlformats.org/officeDocument/2006/math">
                    <m:f>
                      <m:fPr>
                        <m:ctrlPr>
                          <a:rPr lang="en-IN" i="1" kern="100">
                            <a:effectLst/>
                            <a:latin typeface="Cambria Math" panose="02040503050406030204" pitchFamily="18" charset="0"/>
                            <a:ea typeface="Calibri" panose="020F0502020204030204" pitchFamily="34" charset="0"/>
                            <a:cs typeface="Times New Roman" panose="02020603050405020304" pitchFamily="18" charset="0"/>
                          </a:rPr>
                        </m:ctrlPr>
                      </m:fPr>
                      <m:num>
                        <m:r>
                          <a:rPr lang="en-IN" i="1" kern="100">
                            <a:effectLst/>
                            <a:latin typeface="Cambria Math" panose="02040503050406030204" pitchFamily="18" charset="0"/>
                            <a:ea typeface="Calibri" panose="020F0502020204030204" pitchFamily="34" charset="0"/>
                            <a:cs typeface="Times New Roman" panose="02020603050405020304" pitchFamily="18" charset="0"/>
                          </a:rPr>
                          <m:t>𝑇𝑜𝑡𝑎𝑙</m:t>
                        </m:r>
                        <m:r>
                          <a:rPr lang="en-IN" i="1" kern="100">
                            <a:effectLst/>
                            <a:latin typeface="Cambria Math" panose="02040503050406030204" pitchFamily="18" charset="0"/>
                            <a:ea typeface="Calibri" panose="020F0502020204030204" pitchFamily="34" charset="0"/>
                            <a:cs typeface="Times New Roman" panose="02020603050405020304" pitchFamily="18" charset="0"/>
                          </a:rPr>
                          <m:t> </m:t>
                        </m:r>
                        <m:r>
                          <a:rPr lang="en-IN" i="1" kern="100">
                            <a:effectLst/>
                            <a:latin typeface="Cambria Math" panose="02040503050406030204" pitchFamily="18" charset="0"/>
                            <a:ea typeface="Calibri" panose="020F0502020204030204" pitchFamily="34" charset="0"/>
                            <a:cs typeface="Times New Roman" panose="02020603050405020304" pitchFamily="18" charset="0"/>
                          </a:rPr>
                          <m:t>𝑃𝑜𝑝𝑢𝑙𝑎𝑡𝑖𝑜𝑛</m:t>
                        </m:r>
                      </m:num>
                      <m:den>
                        <m:r>
                          <a:rPr lang="en-IN" i="1" kern="100">
                            <a:effectLst/>
                            <a:latin typeface="Cambria Math" panose="02040503050406030204" pitchFamily="18" charset="0"/>
                            <a:ea typeface="Calibri" panose="020F0502020204030204" pitchFamily="34" charset="0"/>
                            <a:cs typeface="Times New Roman" panose="02020603050405020304" pitchFamily="18" charset="0"/>
                          </a:rPr>
                          <m:t>𝑆𝑎𝑚𝑝𝑙𝑒</m:t>
                        </m:r>
                        <m:r>
                          <a:rPr lang="en-IN" i="1" kern="100">
                            <a:effectLst/>
                            <a:latin typeface="Cambria Math" panose="02040503050406030204" pitchFamily="18" charset="0"/>
                            <a:ea typeface="Calibri" panose="020F0502020204030204" pitchFamily="34" charset="0"/>
                            <a:cs typeface="Times New Roman" panose="02020603050405020304" pitchFamily="18" charset="0"/>
                          </a:rPr>
                          <m:t> </m:t>
                        </m:r>
                        <m:r>
                          <a:rPr lang="en-IN" i="1" kern="100">
                            <a:effectLst/>
                            <a:latin typeface="Cambria Math" panose="02040503050406030204" pitchFamily="18" charset="0"/>
                            <a:ea typeface="Calibri" panose="020F0502020204030204" pitchFamily="34" charset="0"/>
                            <a:cs typeface="Times New Roman" panose="02020603050405020304" pitchFamily="18" charset="0"/>
                          </a:rPr>
                          <m:t>𝑠𝑖𝑧𝑒</m:t>
                        </m:r>
                      </m:den>
                    </m:f>
                  </m:oMath>
                </a14:m>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mc:Choice>
        <mc:Fallback xmlns="">
          <p:sp>
            <p:nvSpPr>
              <p:cNvPr id="3" name="Content Placeholder 2">
                <a:extLst>
                  <a:ext uri="{FF2B5EF4-FFF2-40B4-BE49-F238E27FC236}">
                    <a16:creationId xmlns:a16="http://schemas.microsoft.com/office/drawing/2014/main" id="{32ACE2C6-E204-C7E9-061B-8F407BDA0D6F}"/>
                  </a:ext>
                </a:extLst>
              </p:cNvPr>
              <p:cNvSpPr>
                <a:spLocks noGrp="1" noRot="1" noChangeAspect="1" noMove="1" noResize="1" noEditPoints="1" noAdjustHandles="1" noChangeArrowheads="1" noChangeShapeType="1" noTextEdit="1"/>
              </p:cNvSpPr>
              <p:nvPr>
                <p:ph idx="1"/>
              </p:nvPr>
            </p:nvSpPr>
            <p:spPr>
              <a:blipFill>
                <a:blip r:embed="rId2"/>
                <a:stretch>
                  <a:fillRect l="-762" t="-1835"/>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33CFCC72-1270-015B-DFFD-CE9F0FA89E56}"/>
              </a:ext>
            </a:extLst>
          </p:cNvPr>
          <p:cNvSpPr>
            <a:spLocks noGrp="1"/>
          </p:cNvSpPr>
          <p:nvPr>
            <p:ph type="dt" sz="half" idx="10"/>
          </p:nvPr>
        </p:nvSpPr>
        <p:spPr/>
        <p:txBody>
          <a:bodyPr/>
          <a:lstStyle/>
          <a:p>
            <a:fld id="{BDAFCF49-4DE3-4AAC-8722-AB0BE711BCF9}" type="datetime1">
              <a:rPr lang="en-IN" smtClean="0"/>
              <a:t>11-09-2025</a:t>
            </a:fld>
            <a:endParaRPr lang="en-IN"/>
          </a:p>
        </p:txBody>
      </p:sp>
      <p:sp>
        <p:nvSpPr>
          <p:cNvPr id="5" name="Slide Number Placeholder 4">
            <a:extLst>
              <a:ext uri="{FF2B5EF4-FFF2-40B4-BE49-F238E27FC236}">
                <a16:creationId xmlns:a16="http://schemas.microsoft.com/office/drawing/2014/main" id="{7C8A003B-D008-1933-5EA8-3694E682B873}"/>
              </a:ext>
            </a:extLst>
          </p:cNvPr>
          <p:cNvSpPr>
            <a:spLocks noGrp="1"/>
          </p:cNvSpPr>
          <p:nvPr>
            <p:ph type="sldNum" sz="quarter" idx="12"/>
          </p:nvPr>
        </p:nvSpPr>
        <p:spPr/>
        <p:txBody>
          <a:bodyPr/>
          <a:lstStyle/>
          <a:p>
            <a:fld id="{D75E712A-30F9-4F5C-A4F1-6DC8A3808094}" type="slidenum">
              <a:rPr lang="en-IN" smtClean="0"/>
              <a:t>29</a:t>
            </a:fld>
            <a:endParaRPr lang="en-IN"/>
          </a:p>
        </p:txBody>
      </p:sp>
    </p:spTree>
    <p:extLst>
      <p:ext uri="{BB962C8B-B14F-4D97-AF65-F5344CB8AC3E}">
        <p14:creationId xmlns:p14="http://schemas.microsoft.com/office/powerpoint/2010/main" val="14632252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90C-9225-0BE1-C259-31521CA8F004}"/>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How systematic sampling works</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14EBAE-BD3A-9CD5-A2F9-9E56D2837D6B}"/>
                  </a:ext>
                </a:extLst>
              </p:cNvPr>
              <p:cNvSpPr>
                <a:spLocks noGrp="1"/>
              </p:cNvSpPr>
              <p:nvPr>
                <p:ph idx="1"/>
              </p:nvPr>
            </p:nvSpPr>
            <p:spPr/>
            <p:txBody>
              <a:bodyPr>
                <a:normAutofit fontScale="85000" lnSpcReduction="20000"/>
              </a:bodyPr>
              <a:lstStyle/>
              <a:p>
                <a:pPr algn="just">
                  <a:lnSpc>
                    <a:spcPct val="107000"/>
                  </a:lnSpc>
                  <a:spcAft>
                    <a:spcPts val="800"/>
                  </a:spcAft>
                </a:pPr>
                <a:r>
                  <a:rPr lang="en-IN" sz="2400" kern="100" dirty="0">
                    <a:effectLst/>
                    <a:latin typeface="Times New Roman" panose="02020603050405020304" pitchFamily="18" charset="0"/>
                    <a:ea typeface="Times New Roman" panose="02020603050405020304" pitchFamily="18" charset="0"/>
                    <a:cs typeface="Times New Roman" panose="02020603050405020304" pitchFamily="18" charset="0"/>
                  </a:rPr>
                  <a:t> In our example: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2400" kern="100" dirty="0">
                    <a:effectLst/>
                    <a:latin typeface="Times New Roman" panose="02020603050405020304" pitchFamily="18" charset="0"/>
                    <a:ea typeface="Times New Roman" panose="02020603050405020304" pitchFamily="18" charset="0"/>
                    <a:cs typeface="Times New Roman" panose="02020603050405020304" pitchFamily="18" charset="0"/>
                  </a:rPr>
                  <a:t>                    Sampling Interval =</a:t>
                </a:r>
                <a14:m>
                  <m:oMath xmlns:m="http://schemas.openxmlformats.org/officeDocument/2006/math">
                    <m:f>
                      <m:fPr>
                        <m:ctrlP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t>100</m:t>
                        </m:r>
                      </m:num>
                      <m:den>
                        <m: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t>10</m:t>
                        </m:r>
                      </m:den>
                    </m:f>
                  </m:oMath>
                </a14:m>
                <a:r>
                  <a:rPr lang="en-IN" sz="2400" kern="100" dirty="0">
                    <a:effectLst/>
                    <a:latin typeface="Times New Roman" panose="02020603050405020304" pitchFamily="18" charset="0"/>
                    <a:ea typeface="Times New Roman" panose="02020603050405020304" pitchFamily="18" charset="0"/>
                    <a:cs typeface="Times New Roman" panose="02020603050405020304" pitchFamily="18" charset="0"/>
                  </a:rPr>
                  <a:t> = 10</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So, you’ll pick every 10th student.</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4"/>
                  <a:tabLst>
                    <a:tab pos="457200" algn="l"/>
                  </a:tabLs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Choose a Random Starting Point:</a:t>
                </a:r>
                <a:b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Pick a random number to start with that’s within your sampling interval. For example, if you choose 3 as your starting point, you’ll start with the 3rd student.</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4"/>
                  <a:tabLst>
                    <a:tab pos="457200" algn="l"/>
                  </a:tabLs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Select Every 10th Student:</a:t>
                </a:r>
                <a:b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From your starting point (student 3), you then pick every 10th student on the list. So, you would select students at positions 3, 13, 23, 33, and so on.</a:t>
                </a:r>
                <a:endParaRPr lang="en-IN" dirty="0"/>
              </a:p>
            </p:txBody>
          </p:sp>
        </mc:Choice>
        <mc:Fallback xmlns="">
          <p:sp>
            <p:nvSpPr>
              <p:cNvPr id="3" name="Content Placeholder 2">
                <a:extLst>
                  <a:ext uri="{FF2B5EF4-FFF2-40B4-BE49-F238E27FC236}">
                    <a16:creationId xmlns:a16="http://schemas.microsoft.com/office/drawing/2014/main" id="{D414EBAE-BD3A-9CD5-A2F9-9E56D2837D6B}"/>
                  </a:ext>
                </a:extLst>
              </p:cNvPr>
              <p:cNvSpPr>
                <a:spLocks noGrp="1" noRot="1" noChangeAspect="1" noMove="1" noResize="1" noEditPoints="1" noAdjustHandles="1" noChangeArrowheads="1" noChangeShapeType="1" noTextEdit="1"/>
              </p:cNvSpPr>
              <p:nvPr>
                <p:ph idx="1"/>
              </p:nvPr>
            </p:nvSpPr>
            <p:spPr>
              <a:blipFill>
                <a:blip r:embed="rId2"/>
                <a:stretch>
                  <a:fillRect l="-762" t="-2936" r="-1080" b="-1468"/>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AB3FFA66-0958-75CC-B8C0-F6E57156DC44}"/>
              </a:ext>
            </a:extLst>
          </p:cNvPr>
          <p:cNvSpPr>
            <a:spLocks noGrp="1"/>
          </p:cNvSpPr>
          <p:nvPr>
            <p:ph type="dt" sz="half" idx="10"/>
          </p:nvPr>
        </p:nvSpPr>
        <p:spPr/>
        <p:txBody>
          <a:bodyPr/>
          <a:lstStyle/>
          <a:p>
            <a:fld id="{BDAFCF49-4DE3-4AAC-8722-AB0BE711BCF9}" type="datetime1">
              <a:rPr lang="en-IN" smtClean="0"/>
              <a:t>11-09-2025</a:t>
            </a:fld>
            <a:endParaRPr lang="en-IN"/>
          </a:p>
        </p:txBody>
      </p:sp>
      <p:sp>
        <p:nvSpPr>
          <p:cNvPr id="5" name="Slide Number Placeholder 4">
            <a:extLst>
              <a:ext uri="{FF2B5EF4-FFF2-40B4-BE49-F238E27FC236}">
                <a16:creationId xmlns:a16="http://schemas.microsoft.com/office/drawing/2014/main" id="{2F2F7647-C136-F1AB-FCC1-DC40D5BF119C}"/>
              </a:ext>
            </a:extLst>
          </p:cNvPr>
          <p:cNvSpPr>
            <a:spLocks noGrp="1"/>
          </p:cNvSpPr>
          <p:nvPr>
            <p:ph type="sldNum" sz="quarter" idx="12"/>
          </p:nvPr>
        </p:nvSpPr>
        <p:spPr/>
        <p:txBody>
          <a:bodyPr/>
          <a:lstStyle/>
          <a:p>
            <a:fld id="{D75E712A-30F9-4F5C-A4F1-6DC8A3808094}" type="slidenum">
              <a:rPr lang="en-IN" smtClean="0"/>
              <a:t>30</a:t>
            </a:fld>
            <a:endParaRPr lang="en-IN"/>
          </a:p>
        </p:txBody>
      </p:sp>
    </p:spTree>
    <p:extLst>
      <p:ext uri="{BB962C8B-B14F-4D97-AF65-F5344CB8AC3E}">
        <p14:creationId xmlns:p14="http://schemas.microsoft.com/office/powerpoint/2010/main" val="19033558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A0A01-EDF8-D3FC-EEEE-00F20DD026D8}"/>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Example</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20A4366-FD96-0A8E-4161-591D7E839356}"/>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Suppose you want to obtain a systematic sample of 8 houses from a street of 120 houses., so </a:t>
            </a:r>
          </a:p>
          <a:p>
            <a:r>
              <a:rPr lang="en-US" dirty="0">
                <a:solidFill>
                  <a:schemeClr val="tx1"/>
                </a:solidFill>
                <a:latin typeface="Times New Roman" panose="02020603050405020304" pitchFamily="18" charset="0"/>
                <a:cs typeface="Times New Roman" panose="02020603050405020304" pitchFamily="18" charset="0"/>
              </a:rPr>
              <a:t> First, since 120/8=15, </a:t>
            </a:r>
          </a:p>
          <a:p>
            <a:r>
              <a:rPr lang="en-US" dirty="0">
                <a:solidFill>
                  <a:schemeClr val="tx1"/>
                </a:solidFill>
                <a:latin typeface="Times New Roman" panose="02020603050405020304" pitchFamily="18" charset="0"/>
                <a:cs typeface="Times New Roman" panose="02020603050405020304" pitchFamily="18" charset="0"/>
              </a:rPr>
              <a:t>choose a random starting point between 1 and 15. </a:t>
            </a:r>
          </a:p>
          <a:p>
            <a:r>
              <a:rPr lang="en-US" dirty="0">
                <a:solidFill>
                  <a:schemeClr val="tx1"/>
                </a:solidFill>
                <a:latin typeface="Times New Roman" panose="02020603050405020304" pitchFamily="18" charset="0"/>
                <a:cs typeface="Times New Roman" panose="02020603050405020304" pitchFamily="18" charset="0"/>
              </a:rPr>
              <a:t>Let’s say, 11. </a:t>
            </a:r>
          </a:p>
          <a:p>
            <a:r>
              <a:rPr lang="en-US" dirty="0">
                <a:solidFill>
                  <a:schemeClr val="tx1"/>
                </a:solidFill>
                <a:latin typeface="Times New Roman" panose="02020603050405020304" pitchFamily="18" charset="0"/>
                <a:cs typeface="Times New Roman" panose="02020603050405020304" pitchFamily="18" charset="0"/>
              </a:rPr>
              <a:t>Then, choose every 15th house after the 11th house. The list of houses selected are 11, 26, 41, 56, 71, 86, 101, and 116. </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9AE283C-A59F-FB58-88AC-671DA6A82248}"/>
              </a:ext>
            </a:extLst>
          </p:cNvPr>
          <p:cNvSpPr>
            <a:spLocks noGrp="1"/>
          </p:cNvSpPr>
          <p:nvPr>
            <p:ph type="dt" sz="half" idx="10"/>
          </p:nvPr>
        </p:nvSpPr>
        <p:spPr/>
        <p:txBody>
          <a:bodyPr/>
          <a:lstStyle/>
          <a:p>
            <a:fld id="{BDAFCF49-4DE3-4AAC-8722-AB0BE711BCF9}" type="datetime1">
              <a:rPr lang="en-IN" smtClean="0"/>
              <a:t>11-09-2025</a:t>
            </a:fld>
            <a:endParaRPr lang="en-IN"/>
          </a:p>
        </p:txBody>
      </p:sp>
      <p:sp>
        <p:nvSpPr>
          <p:cNvPr id="5" name="Slide Number Placeholder 4">
            <a:extLst>
              <a:ext uri="{FF2B5EF4-FFF2-40B4-BE49-F238E27FC236}">
                <a16:creationId xmlns:a16="http://schemas.microsoft.com/office/drawing/2014/main" id="{1A9D4568-9133-FE71-D52D-CD406BCDB8D7}"/>
              </a:ext>
            </a:extLst>
          </p:cNvPr>
          <p:cNvSpPr>
            <a:spLocks noGrp="1"/>
          </p:cNvSpPr>
          <p:nvPr>
            <p:ph type="sldNum" sz="quarter" idx="12"/>
          </p:nvPr>
        </p:nvSpPr>
        <p:spPr/>
        <p:txBody>
          <a:bodyPr/>
          <a:lstStyle/>
          <a:p>
            <a:fld id="{D75E712A-30F9-4F5C-A4F1-6DC8A3808094}" type="slidenum">
              <a:rPr lang="en-IN" smtClean="0"/>
              <a:t>31</a:t>
            </a:fld>
            <a:endParaRPr lang="en-IN"/>
          </a:p>
        </p:txBody>
      </p:sp>
    </p:spTree>
    <p:extLst>
      <p:ext uri="{BB962C8B-B14F-4D97-AF65-F5344CB8AC3E}">
        <p14:creationId xmlns:p14="http://schemas.microsoft.com/office/powerpoint/2010/main" val="39211409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628EB-3320-5FF3-8293-C1F9BA773FF2}"/>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Stratified sampling</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CB67B95-DAE7-DEEE-EA87-B565479EF463}"/>
              </a:ext>
            </a:extLst>
          </p:cNvPr>
          <p:cNvSpPr>
            <a:spLocks noGrp="1"/>
          </p:cNvSpPr>
          <p:nvPr>
            <p:ph idx="1"/>
          </p:nvPr>
        </p:nvSpPr>
        <p:spPr/>
        <p:txBody>
          <a:bodyPr/>
          <a:lstStyle/>
          <a:p>
            <a:pPr marL="457200" indent="-457200">
              <a:buFont typeface="+mj-lt"/>
              <a:buAutoNum type="arabicPeriod"/>
            </a:pPr>
            <a:r>
              <a:rPr lang="en-IN" dirty="0">
                <a:effectLst/>
                <a:latin typeface="Times New Roman" panose="02020603050405020304" pitchFamily="18" charset="0"/>
                <a:ea typeface="Calibri" panose="020F0502020204030204" pitchFamily="34" charset="0"/>
              </a:rPr>
              <a:t>Population is divided into mutually exclusive groups and random samples are drawn from each group.</a:t>
            </a:r>
          </a:p>
          <a:p>
            <a:pPr marL="457200" indent="-457200">
              <a:buFont typeface="+mj-lt"/>
              <a:buAutoNum type="arabicPeriod"/>
            </a:pPr>
            <a:r>
              <a:rPr lang="en-IN" dirty="0">
                <a:effectLst/>
                <a:latin typeface="Times New Roman" panose="02020603050405020304" pitchFamily="18" charset="0"/>
                <a:ea typeface="Calibri" panose="020F0502020204030204" pitchFamily="34" charset="0"/>
              </a:rPr>
              <a:t>Divide the population into sub groups (called strata) and based on relevant characteristics (</a:t>
            </a:r>
            <a:r>
              <a:rPr lang="en-IN" dirty="0" err="1">
                <a:effectLst/>
                <a:latin typeface="Times New Roman" panose="02020603050405020304" pitchFamily="18" charset="0"/>
                <a:ea typeface="Calibri" panose="020F0502020204030204" pitchFamily="34" charset="0"/>
              </a:rPr>
              <a:t>eg</a:t>
            </a:r>
            <a:r>
              <a:rPr lang="en-IN" dirty="0">
                <a:effectLst/>
                <a:latin typeface="Times New Roman" panose="02020603050405020304" pitchFamily="18" charset="0"/>
                <a:ea typeface="Calibri" panose="020F0502020204030204" pitchFamily="34" charset="0"/>
              </a:rPr>
              <a:t>: gender, age range, income bracket, job role etc</a:t>
            </a:r>
            <a:r>
              <a:rPr lang="en-IN" sz="1800" dirty="0">
                <a:effectLst/>
                <a:latin typeface="Times New Roman" panose="02020603050405020304" pitchFamily="18" charset="0"/>
                <a:ea typeface="Calibri" panose="020F0502020204030204" pitchFamily="34" charset="0"/>
              </a:rPr>
              <a:t>)</a:t>
            </a:r>
          </a:p>
          <a:p>
            <a:pPr marL="457200" indent="-457200">
              <a:buFont typeface="+mj-lt"/>
              <a:buAutoNum type="arabicPeriod"/>
            </a:pPr>
            <a:r>
              <a:rPr lang="en-IN" kern="100" dirty="0">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Mutually exclusive means</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If one particular element is present in one group then it cannot be part of other group</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buFont typeface="+mj-lt"/>
              <a:buAutoNum type="arabicPeriod"/>
            </a:pPr>
            <a:endParaRPr lang="en-IN" dirty="0"/>
          </a:p>
        </p:txBody>
      </p:sp>
      <p:sp>
        <p:nvSpPr>
          <p:cNvPr id="4" name="Date Placeholder 3">
            <a:extLst>
              <a:ext uri="{FF2B5EF4-FFF2-40B4-BE49-F238E27FC236}">
                <a16:creationId xmlns:a16="http://schemas.microsoft.com/office/drawing/2014/main" id="{45A46364-9C4B-469B-49A6-DC6E24923F3E}"/>
              </a:ext>
            </a:extLst>
          </p:cNvPr>
          <p:cNvSpPr>
            <a:spLocks noGrp="1"/>
          </p:cNvSpPr>
          <p:nvPr>
            <p:ph type="dt" sz="half" idx="10"/>
          </p:nvPr>
        </p:nvSpPr>
        <p:spPr/>
        <p:txBody>
          <a:bodyPr/>
          <a:lstStyle/>
          <a:p>
            <a:fld id="{BDAFCF49-4DE3-4AAC-8722-AB0BE711BCF9}" type="datetime1">
              <a:rPr lang="en-IN" smtClean="0"/>
              <a:t>11-09-2025</a:t>
            </a:fld>
            <a:endParaRPr lang="en-IN"/>
          </a:p>
        </p:txBody>
      </p:sp>
      <p:sp>
        <p:nvSpPr>
          <p:cNvPr id="5" name="Slide Number Placeholder 4">
            <a:extLst>
              <a:ext uri="{FF2B5EF4-FFF2-40B4-BE49-F238E27FC236}">
                <a16:creationId xmlns:a16="http://schemas.microsoft.com/office/drawing/2014/main" id="{4B5D05E6-CDCB-B596-0502-924273D1FFBE}"/>
              </a:ext>
            </a:extLst>
          </p:cNvPr>
          <p:cNvSpPr>
            <a:spLocks noGrp="1"/>
          </p:cNvSpPr>
          <p:nvPr>
            <p:ph type="sldNum" sz="quarter" idx="12"/>
          </p:nvPr>
        </p:nvSpPr>
        <p:spPr/>
        <p:txBody>
          <a:bodyPr/>
          <a:lstStyle/>
          <a:p>
            <a:fld id="{D75E712A-30F9-4F5C-A4F1-6DC8A3808094}" type="slidenum">
              <a:rPr lang="en-IN" smtClean="0"/>
              <a:t>32</a:t>
            </a:fld>
            <a:endParaRPr lang="en-IN"/>
          </a:p>
        </p:txBody>
      </p:sp>
    </p:spTree>
    <p:extLst>
      <p:ext uri="{BB962C8B-B14F-4D97-AF65-F5344CB8AC3E}">
        <p14:creationId xmlns:p14="http://schemas.microsoft.com/office/powerpoint/2010/main" val="37610459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F5F04-08B3-E453-670B-C83083A22B7D}"/>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Stratified sampling</a:t>
            </a:r>
            <a:endParaRPr lang="en-IN" dirty="0"/>
          </a:p>
        </p:txBody>
      </p:sp>
      <p:sp>
        <p:nvSpPr>
          <p:cNvPr id="4" name="Date Placeholder 3">
            <a:extLst>
              <a:ext uri="{FF2B5EF4-FFF2-40B4-BE49-F238E27FC236}">
                <a16:creationId xmlns:a16="http://schemas.microsoft.com/office/drawing/2014/main" id="{D1A2CDB1-C5FD-6578-6A72-B5F5BB4D41B2}"/>
              </a:ext>
            </a:extLst>
          </p:cNvPr>
          <p:cNvSpPr>
            <a:spLocks noGrp="1"/>
          </p:cNvSpPr>
          <p:nvPr>
            <p:ph type="dt" sz="half" idx="10"/>
          </p:nvPr>
        </p:nvSpPr>
        <p:spPr/>
        <p:txBody>
          <a:bodyPr/>
          <a:lstStyle/>
          <a:p>
            <a:fld id="{BDAFCF49-4DE3-4AAC-8722-AB0BE711BCF9}" type="datetime1">
              <a:rPr lang="en-IN" smtClean="0"/>
              <a:t>11-09-2025</a:t>
            </a:fld>
            <a:endParaRPr lang="en-IN"/>
          </a:p>
        </p:txBody>
      </p:sp>
      <p:sp>
        <p:nvSpPr>
          <p:cNvPr id="5" name="Slide Number Placeholder 4">
            <a:extLst>
              <a:ext uri="{FF2B5EF4-FFF2-40B4-BE49-F238E27FC236}">
                <a16:creationId xmlns:a16="http://schemas.microsoft.com/office/drawing/2014/main" id="{35F637DC-561B-CAF7-BDF5-3A25F48A6C10}"/>
              </a:ext>
            </a:extLst>
          </p:cNvPr>
          <p:cNvSpPr>
            <a:spLocks noGrp="1"/>
          </p:cNvSpPr>
          <p:nvPr>
            <p:ph type="sldNum" sz="quarter" idx="12"/>
          </p:nvPr>
        </p:nvSpPr>
        <p:spPr/>
        <p:txBody>
          <a:bodyPr/>
          <a:lstStyle/>
          <a:p>
            <a:fld id="{D75E712A-30F9-4F5C-A4F1-6DC8A3808094}" type="slidenum">
              <a:rPr lang="en-IN" smtClean="0"/>
              <a:t>33</a:t>
            </a:fld>
            <a:endParaRPr lang="en-IN"/>
          </a:p>
        </p:txBody>
      </p:sp>
      <p:pic>
        <p:nvPicPr>
          <p:cNvPr id="6" name="Content Placeholder 5">
            <a:extLst>
              <a:ext uri="{FF2B5EF4-FFF2-40B4-BE49-F238E27FC236}">
                <a16:creationId xmlns:a16="http://schemas.microsoft.com/office/drawing/2014/main" id="{CA77D41E-6FA4-4F0C-B3B7-3E00784F014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24934" y="2557463"/>
            <a:ext cx="5942132" cy="3317875"/>
          </a:xfrm>
          <a:prstGeom prst="rect">
            <a:avLst/>
          </a:prstGeom>
          <a:noFill/>
          <a:ln>
            <a:noFill/>
          </a:ln>
        </p:spPr>
      </p:pic>
    </p:spTree>
    <p:extLst>
      <p:ext uri="{BB962C8B-B14F-4D97-AF65-F5344CB8AC3E}">
        <p14:creationId xmlns:p14="http://schemas.microsoft.com/office/powerpoint/2010/main" val="12166461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72356-4641-4F55-AC8F-927135B78CCF}"/>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Proportional sampling</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8B170AA-3E98-4C43-9B98-DBF93D71F3F7}"/>
              </a:ext>
            </a:extLst>
          </p:cNvPr>
          <p:cNvSpPr>
            <a:spLocks noGrp="1"/>
          </p:cNvSpPr>
          <p:nvPr>
            <p:ph idx="1"/>
          </p:nvPr>
        </p:nvSpPr>
        <p:spPr>
          <a:xfrm>
            <a:off x="1295402" y="2146384"/>
            <a:ext cx="9601196" cy="3318936"/>
          </a:xfrm>
        </p:spPr>
        <p:txBody>
          <a:bodyPr>
            <a:noAutofit/>
          </a:bodyPr>
          <a:lstStyle/>
          <a:p>
            <a:endParaRPr lang="en-IN" sz="22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r>
              <a:rPr lang="en-IN" sz="22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Proportional sampling, also known as quota sampling, </a:t>
            </a:r>
          </a:p>
          <a:p>
            <a:r>
              <a:rPr lang="en-IN" sz="2200" b="1" dirty="0">
                <a:latin typeface="Times New Roman" panose="02020603050405020304" pitchFamily="18" charset="0"/>
                <a:cs typeface="Times New Roman" panose="02020603050405020304" pitchFamily="18" charset="0"/>
              </a:rPr>
              <a:t>Proportional Sampling: Key Steps</a:t>
            </a:r>
          </a:p>
          <a:p>
            <a:pPr marL="342900" indent="-342900">
              <a:buFont typeface="+mj-lt"/>
              <a:buAutoNum type="arabicPeriod"/>
            </a:pPr>
            <a:r>
              <a:rPr lang="en-US" sz="2200" b="1" dirty="0">
                <a:latin typeface="Times New Roman" panose="02020603050405020304" pitchFamily="18" charset="0"/>
                <a:cs typeface="Times New Roman" panose="02020603050405020304" pitchFamily="18" charset="0"/>
              </a:rPr>
              <a:t>Divide the Population</a:t>
            </a:r>
            <a:r>
              <a:rPr lang="en-US" sz="2200" dirty="0">
                <a:latin typeface="Times New Roman" panose="02020603050405020304" pitchFamily="18" charset="0"/>
                <a:cs typeface="Times New Roman" panose="02020603050405020304" pitchFamily="18" charset="0"/>
              </a:rPr>
              <a:t>: Split the population into distinct groups (strata) based on specific characteristics like age, gender, or income</a:t>
            </a:r>
            <a:endParaRPr lang="en-IN" sz="2200" b="1"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2200" b="1" dirty="0">
                <a:latin typeface="Times New Roman" panose="02020603050405020304" pitchFamily="18" charset="0"/>
                <a:cs typeface="Times New Roman" panose="02020603050405020304" pitchFamily="18" charset="0"/>
              </a:rPr>
              <a:t>Proportional Selection</a:t>
            </a:r>
            <a:r>
              <a:rPr lang="en-US" sz="2200" dirty="0">
                <a:latin typeface="Times New Roman" panose="02020603050405020304" pitchFamily="18" charset="0"/>
                <a:cs typeface="Times New Roman" panose="02020603050405020304" pitchFamily="18" charset="0"/>
              </a:rPr>
              <a:t>: Select samples from each group in proportion to their size in the overall population (e.g., if a group is 20% of the population, it should make up 20% of the sample).</a:t>
            </a:r>
            <a:endParaRPr lang="en-IN" sz="2200" b="1"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2200" b="1" dirty="0">
                <a:latin typeface="Times New Roman" panose="02020603050405020304" pitchFamily="18" charset="0"/>
                <a:cs typeface="Times New Roman" panose="02020603050405020304" pitchFamily="18" charset="0"/>
              </a:rPr>
              <a:t>Random Selection</a:t>
            </a:r>
            <a:r>
              <a:rPr lang="en-US" sz="2200" dirty="0">
                <a:latin typeface="Times New Roman" panose="02020603050405020304" pitchFamily="18" charset="0"/>
                <a:cs typeface="Times New Roman" panose="02020603050405020304" pitchFamily="18" charset="0"/>
              </a:rPr>
              <a:t>: Randomly choose individuals or items within each group to ensure the sample is unbiased and representative.</a:t>
            </a:r>
            <a:endParaRPr lang="en-IN" sz="22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44C1E69-CC71-234E-F2D3-2C87360A3FC5}"/>
              </a:ext>
            </a:extLst>
          </p:cNvPr>
          <p:cNvSpPr>
            <a:spLocks noGrp="1"/>
          </p:cNvSpPr>
          <p:nvPr>
            <p:ph type="dt" sz="half" idx="10"/>
          </p:nvPr>
        </p:nvSpPr>
        <p:spPr/>
        <p:txBody>
          <a:bodyPr/>
          <a:lstStyle/>
          <a:p>
            <a:fld id="{BDAFCF49-4DE3-4AAC-8722-AB0BE711BCF9}" type="datetime1">
              <a:rPr lang="en-IN" smtClean="0"/>
              <a:t>11-09-2025</a:t>
            </a:fld>
            <a:endParaRPr lang="en-IN"/>
          </a:p>
        </p:txBody>
      </p:sp>
      <p:sp>
        <p:nvSpPr>
          <p:cNvPr id="5" name="Slide Number Placeholder 4">
            <a:extLst>
              <a:ext uri="{FF2B5EF4-FFF2-40B4-BE49-F238E27FC236}">
                <a16:creationId xmlns:a16="http://schemas.microsoft.com/office/drawing/2014/main" id="{13E6015C-3FC3-5554-90E3-6B2756D6A71A}"/>
              </a:ext>
            </a:extLst>
          </p:cNvPr>
          <p:cNvSpPr>
            <a:spLocks noGrp="1"/>
          </p:cNvSpPr>
          <p:nvPr>
            <p:ph type="sldNum" sz="quarter" idx="12"/>
          </p:nvPr>
        </p:nvSpPr>
        <p:spPr/>
        <p:txBody>
          <a:bodyPr/>
          <a:lstStyle/>
          <a:p>
            <a:fld id="{D75E712A-30F9-4F5C-A4F1-6DC8A3808094}" type="slidenum">
              <a:rPr lang="en-IN" smtClean="0"/>
              <a:t>34</a:t>
            </a:fld>
            <a:endParaRPr lang="en-IN"/>
          </a:p>
        </p:txBody>
      </p:sp>
    </p:spTree>
    <p:extLst>
      <p:ext uri="{BB962C8B-B14F-4D97-AF65-F5344CB8AC3E}">
        <p14:creationId xmlns:p14="http://schemas.microsoft.com/office/powerpoint/2010/main" val="13705030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5CE91-565B-FCEB-72AA-C42B263B1672}"/>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Example</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E208F99-CEEA-E36F-A031-92E9D0FBC7FA}"/>
              </a:ext>
            </a:extLst>
          </p:cNvPr>
          <p:cNvSpPr>
            <a:spLocks noGrp="1"/>
          </p:cNvSpPr>
          <p:nvPr>
            <p:ph idx="1"/>
          </p:nvPr>
        </p:nvSpPr>
        <p:spPr>
          <a:xfrm>
            <a:off x="1295400" y="2631232"/>
            <a:ext cx="10190583" cy="3244635"/>
          </a:xfrm>
        </p:spPr>
        <p:txBody>
          <a:bodyPr>
            <a:normAutofit/>
          </a:bodyPr>
          <a:lstStyle/>
          <a:p>
            <a:r>
              <a:rPr lang="en-US" sz="2200" dirty="0">
                <a:solidFill>
                  <a:schemeClr val="tx1"/>
                </a:solidFill>
                <a:latin typeface="Times New Roman" panose="02020603050405020304" pitchFamily="18" charset="0"/>
                <a:cs typeface="Times New Roman" panose="02020603050405020304" pitchFamily="18" charset="0"/>
              </a:rPr>
              <a:t>Suppose that in a company there are 180 staff include</a:t>
            </a:r>
          </a:p>
          <a:p>
            <a:r>
              <a:rPr lang="en-US" sz="2200" dirty="0">
                <a:solidFill>
                  <a:schemeClr val="tx1"/>
                </a:solidFill>
                <a:latin typeface="Times New Roman" panose="02020603050405020304" pitchFamily="18" charset="0"/>
                <a:cs typeface="Times New Roman" panose="02020603050405020304" pitchFamily="18" charset="0"/>
              </a:rPr>
              <a:t>we are asked to take a proportional sample of 40 staff, </a:t>
            </a:r>
          </a:p>
          <a:p>
            <a:pPr marL="0" indent="0">
              <a:buNone/>
            </a:pPr>
            <a:r>
              <a:rPr lang="en-US" sz="2200" dirty="0">
                <a:solidFill>
                  <a:schemeClr val="tx1"/>
                </a:solidFill>
                <a:latin typeface="Times New Roman" panose="02020603050405020304" pitchFamily="18" charset="0"/>
                <a:cs typeface="Times New Roman" panose="02020603050405020304" pitchFamily="18" charset="0"/>
              </a:rPr>
              <a:t>stratified according to the above categories.</a:t>
            </a:r>
          </a:p>
          <a:p>
            <a:pPr marL="0" indent="0">
              <a:buNone/>
            </a:pPr>
            <a:r>
              <a:rPr lang="en-US" sz="2200" dirty="0">
                <a:solidFill>
                  <a:schemeClr val="tx1"/>
                </a:solidFill>
                <a:latin typeface="Times New Roman" panose="02020603050405020304" pitchFamily="18" charset="0"/>
                <a:cs typeface="Times New Roman" panose="02020603050405020304" pitchFamily="18" charset="0"/>
              </a:rPr>
              <a:t>The first step is to calculate the percentage of staff in each group</a:t>
            </a:r>
            <a:endParaRPr lang="en-IN" sz="2200"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54A06B2-4C6D-EBFB-E5DD-EED7059A365E}"/>
              </a:ext>
            </a:extLst>
          </p:cNvPr>
          <p:cNvSpPr>
            <a:spLocks noGrp="1"/>
          </p:cNvSpPr>
          <p:nvPr>
            <p:ph type="dt" sz="half" idx="10"/>
          </p:nvPr>
        </p:nvSpPr>
        <p:spPr/>
        <p:txBody>
          <a:bodyPr/>
          <a:lstStyle/>
          <a:p>
            <a:fld id="{BDAFCF49-4DE3-4AAC-8722-AB0BE711BCF9}" type="datetime1">
              <a:rPr lang="en-IN" smtClean="0"/>
              <a:t>11-09-2025</a:t>
            </a:fld>
            <a:endParaRPr lang="en-IN"/>
          </a:p>
        </p:txBody>
      </p:sp>
      <p:sp>
        <p:nvSpPr>
          <p:cNvPr id="5" name="Slide Number Placeholder 4">
            <a:extLst>
              <a:ext uri="{FF2B5EF4-FFF2-40B4-BE49-F238E27FC236}">
                <a16:creationId xmlns:a16="http://schemas.microsoft.com/office/drawing/2014/main" id="{C3139212-6B15-FE1D-7B11-E464EBC6CE3B}"/>
              </a:ext>
            </a:extLst>
          </p:cNvPr>
          <p:cNvSpPr>
            <a:spLocks noGrp="1"/>
          </p:cNvSpPr>
          <p:nvPr>
            <p:ph type="sldNum" sz="quarter" idx="12"/>
          </p:nvPr>
        </p:nvSpPr>
        <p:spPr/>
        <p:txBody>
          <a:bodyPr/>
          <a:lstStyle/>
          <a:p>
            <a:fld id="{D75E712A-30F9-4F5C-A4F1-6DC8A3808094}" type="slidenum">
              <a:rPr lang="en-IN" smtClean="0"/>
              <a:t>35</a:t>
            </a:fld>
            <a:endParaRPr lang="en-IN"/>
          </a:p>
        </p:txBody>
      </p:sp>
      <p:graphicFrame>
        <p:nvGraphicFramePr>
          <p:cNvPr id="6" name="Table 5">
            <a:extLst>
              <a:ext uri="{FF2B5EF4-FFF2-40B4-BE49-F238E27FC236}">
                <a16:creationId xmlns:a16="http://schemas.microsoft.com/office/drawing/2014/main" id="{B30791C6-2B68-C13C-84EE-2A5596C5DF90}"/>
              </a:ext>
            </a:extLst>
          </p:cNvPr>
          <p:cNvGraphicFramePr>
            <a:graphicFrameLocks noGrp="1"/>
          </p:cNvGraphicFramePr>
          <p:nvPr>
            <p:extLst>
              <p:ext uri="{D42A27DB-BD31-4B8C-83A1-F6EECF244321}">
                <p14:modId xmlns:p14="http://schemas.microsoft.com/office/powerpoint/2010/main" val="2664717412"/>
              </p:ext>
            </p:extLst>
          </p:nvPr>
        </p:nvGraphicFramePr>
        <p:xfrm>
          <a:off x="9237306" y="2631231"/>
          <a:ext cx="2024743" cy="2603240"/>
        </p:xfrm>
        <a:graphic>
          <a:graphicData uri="http://schemas.openxmlformats.org/drawingml/2006/table">
            <a:tbl>
              <a:tblPr firstRow="1" bandRow="1">
                <a:tableStyleId>{7E9639D4-E3E2-4D34-9284-5A2195B3D0D7}</a:tableStyleId>
              </a:tblPr>
              <a:tblGrid>
                <a:gridCol w="1006624">
                  <a:extLst>
                    <a:ext uri="{9D8B030D-6E8A-4147-A177-3AD203B41FA5}">
                      <a16:colId xmlns:a16="http://schemas.microsoft.com/office/drawing/2014/main" val="3366393290"/>
                    </a:ext>
                  </a:extLst>
                </a:gridCol>
                <a:gridCol w="1018119">
                  <a:extLst>
                    <a:ext uri="{9D8B030D-6E8A-4147-A177-3AD203B41FA5}">
                      <a16:colId xmlns:a16="http://schemas.microsoft.com/office/drawing/2014/main" val="1346509204"/>
                    </a:ext>
                  </a:extLst>
                </a:gridCol>
              </a:tblGrid>
              <a:tr h="650810">
                <a:tc>
                  <a:txBody>
                    <a:bodyPr/>
                    <a:lstStyle/>
                    <a:p>
                      <a:r>
                        <a:rPr lang="en-US" dirty="0"/>
                        <a:t>Male, full time</a:t>
                      </a:r>
                      <a:endParaRPr lang="en-IN" dirty="0"/>
                    </a:p>
                  </a:txBody>
                  <a:tcPr/>
                </a:tc>
                <a:tc>
                  <a:txBody>
                    <a:bodyPr/>
                    <a:lstStyle/>
                    <a:p>
                      <a:r>
                        <a:rPr lang="en-US" dirty="0"/>
                        <a:t>90</a:t>
                      </a:r>
                      <a:endParaRPr lang="en-IN" dirty="0"/>
                    </a:p>
                  </a:txBody>
                  <a:tcPr/>
                </a:tc>
                <a:extLst>
                  <a:ext uri="{0D108BD9-81ED-4DB2-BD59-A6C34878D82A}">
                    <a16:rowId xmlns:a16="http://schemas.microsoft.com/office/drawing/2014/main" val="1069690729"/>
                  </a:ext>
                </a:extLst>
              </a:tr>
              <a:tr h="650810">
                <a:tc>
                  <a:txBody>
                    <a:bodyPr/>
                    <a:lstStyle/>
                    <a:p>
                      <a:r>
                        <a:rPr lang="en-US" dirty="0"/>
                        <a:t>Male, part time</a:t>
                      </a:r>
                      <a:endParaRPr lang="en-IN" dirty="0"/>
                    </a:p>
                  </a:txBody>
                  <a:tcPr/>
                </a:tc>
                <a:tc>
                  <a:txBody>
                    <a:bodyPr/>
                    <a:lstStyle/>
                    <a:p>
                      <a:r>
                        <a:rPr lang="en-US" dirty="0"/>
                        <a:t>18</a:t>
                      </a:r>
                      <a:endParaRPr lang="en-IN" dirty="0"/>
                    </a:p>
                  </a:txBody>
                  <a:tcPr/>
                </a:tc>
                <a:extLst>
                  <a:ext uri="{0D108BD9-81ED-4DB2-BD59-A6C34878D82A}">
                    <a16:rowId xmlns:a16="http://schemas.microsoft.com/office/drawing/2014/main" val="2491119405"/>
                  </a:ext>
                </a:extLst>
              </a:tr>
              <a:tr h="650810">
                <a:tc>
                  <a:txBody>
                    <a:bodyPr/>
                    <a:lstStyle/>
                    <a:p>
                      <a:r>
                        <a:rPr lang="en-US" dirty="0"/>
                        <a:t>Female, full time</a:t>
                      </a:r>
                      <a:endParaRPr lang="en-IN" dirty="0"/>
                    </a:p>
                  </a:txBody>
                  <a:tcPr/>
                </a:tc>
                <a:tc>
                  <a:txBody>
                    <a:bodyPr/>
                    <a:lstStyle/>
                    <a:p>
                      <a:r>
                        <a:rPr lang="en-US" dirty="0"/>
                        <a:t>9</a:t>
                      </a:r>
                      <a:endParaRPr lang="en-IN" dirty="0"/>
                    </a:p>
                  </a:txBody>
                  <a:tcPr/>
                </a:tc>
                <a:extLst>
                  <a:ext uri="{0D108BD9-81ED-4DB2-BD59-A6C34878D82A}">
                    <a16:rowId xmlns:a16="http://schemas.microsoft.com/office/drawing/2014/main" val="1975570436"/>
                  </a:ext>
                </a:extLst>
              </a:tr>
              <a:tr h="650810">
                <a:tc>
                  <a:txBody>
                    <a:bodyPr/>
                    <a:lstStyle/>
                    <a:p>
                      <a:r>
                        <a:rPr lang="en-US" dirty="0"/>
                        <a:t>Female, part time</a:t>
                      </a:r>
                      <a:endParaRPr lang="en-IN" dirty="0"/>
                    </a:p>
                  </a:txBody>
                  <a:tcPr/>
                </a:tc>
                <a:tc>
                  <a:txBody>
                    <a:bodyPr/>
                    <a:lstStyle/>
                    <a:p>
                      <a:r>
                        <a:rPr lang="en-US" dirty="0"/>
                        <a:t>63</a:t>
                      </a:r>
                      <a:endParaRPr lang="en-IN" dirty="0"/>
                    </a:p>
                  </a:txBody>
                  <a:tcPr/>
                </a:tc>
                <a:extLst>
                  <a:ext uri="{0D108BD9-81ED-4DB2-BD59-A6C34878D82A}">
                    <a16:rowId xmlns:a16="http://schemas.microsoft.com/office/drawing/2014/main" val="2851638532"/>
                  </a:ext>
                </a:extLst>
              </a:tr>
            </a:tbl>
          </a:graphicData>
        </a:graphic>
      </p:graphicFrame>
    </p:spTree>
    <p:extLst>
      <p:ext uri="{BB962C8B-B14F-4D97-AF65-F5344CB8AC3E}">
        <p14:creationId xmlns:p14="http://schemas.microsoft.com/office/powerpoint/2010/main" val="2918566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B013F-B9D3-1D03-B108-23F4E71250C2}"/>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Cluster sampling</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C803624-697A-688B-A187-DBCEC33C21CD}"/>
              </a:ext>
            </a:extLst>
          </p:cNvPr>
          <p:cNvSpPr>
            <a:spLocks noGrp="1"/>
          </p:cNvSpPr>
          <p:nvPr>
            <p:ph idx="1"/>
          </p:nvPr>
        </p:nvSpPr>
        <p:spPr/>
        <p:txBody>
          <a:bodyPr>
            <a:normAutofit fontScale="77500" lnSpcReduction="20000"/>
          </a:bodyPr>
          <a:lstStyle/>
          <a:p>
            <a:r>
              <a:rPr lang="en-US" dirty="0">
                <a:solidFill>
                  <a:schemeClr val="tx1"/>
                </a:solidFill>
                <a:latin typeface="Times New Roman" panose="02020603050405020304" pitchFamily="18" charset="0"/>
                <a:cs typeface="Times New Roman" panose="02020603050405020304" pitchFamily="18" charset="0"/>
              </a:rPr>
              <a:t>Create a sample from large population by grouping population into cluster.</a:t>
            </a:r>
          </a:p>
          <a:p>
            <a:r>
              <a:rPr lang="en-IN" dirty="0">
                <a:solidFill>
                  <a:schemeClr val="tx1"/>
                </a:solidFill>
                <a:latin typeface="Times New Roman" panose="02020603050405020304" pitchFamily="18" charset="0"/>
                <a:ea typeface="Calibri" panose="020F0502020204030204" pitchFamily="34" charset="0"/>
              </a:rPr>
              <a:t>T</a:t>
            </a:r>
            <a:r>
              <a:rPr lang="en-IN" dirty="0">
                <a:solidFill>
                  <a:schemeClr val="tx1"/>
                </a:solidFill>
                <a:effectLst/>
                <a:latin typeface="Times New Roman" panose="02020603050405020304" pitchFamily="18" charset="0"/>
                <a:ea typeface="Calibri" panose="020F0502020204030204" pitchFamily="34" charset="0"/>
              </a:rPr>
              <a:t>hen randomly selecting some of these clusters for study</a:t>
            </a:r>
          </a:p>
          <a:p>
            <a:pPr marL="0" indent="0">
              <a:buNone/>
            </a:pPr>
            <a:r>
              <a:rPr lang="en-IN" b="1" dirty="0">
                <a:solidFill>
                  <a:schemeClr val="tx1"/>
                </a:solidFill>
                <a:latin typeface="Times New Roman" panose="02020603050405020304" pitchFamily="18" charset="0"/>
                <a:cs typeface="Times New Roman" panose="02020603050405020304" pitchFamily="18" charset="0"/>
              </a:rPr>
              <a:t>Group the population into cluster</a:t>
            </a:r>
          </a:p>
          <a:p>
            <a:pPr>
              <a:buFont typeface="Wingdings" panose="05000000000000000000" pitchFamily="2" charset="2"/>
              <a:buChar char="Ø"/>
            </a:pPr>
            <a:r>
              <a:rPr lang="en-IN" sz="2300" dirty="0">
                <a:solidFill>
                  <a:schemeClr val="tx1"/>
                </a:solidFill>
                <a:effectLst/>
                <a:latin typeface="Times New Roman" panose="02020603050405020304" pitchFamily="18" charset="0"/>
                <a:ea typeface="Calibri" panose="020F0502020204030204" pitchFamily="34" charset="0"/>
              </a:rPr>
              <a:t>The entire population is divided into smaller groups called clusters. </a:t>
            </a:r>
            <a:endParaRPr lang="en-IN" sz="23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a:buFont typeface="Wingdings" panose="05000000000000000000" pitchFamily="2" charset="2"/>
              <a:buChar char="Ø"/>
            </a:pPr>
            <a:r>
              <a:rPr lang="en-IN" sz="2300" dirty="0">
                <a:solidFill>
                  <a:schemeClr val="tx1"/>
                </a:solidFill>
                <a:effectLst/>
                <a:latin typeface="Times New Roman" panose="02020603050405020304" pitchFamily="18" charset="0"/>
                <a:ea typeface="Calibri" panose="020F0502020204030204" pitchFamily="34" charset="0"/>
              </a:rPr>
              <a:t>While forming a cluster keep in mind that each population cluster is highly </a:t>
            </a:r>
            <a:r>
              <a:rPr lang="en-IN" sz="2300" dirty="0" err="1">
                <a:solidFill>
                  <a:schemeClr val="tx1"/>
                </a:solidFill>
                <a:effectLst/>
                <a:latin typeface="Times New Roman" panose="02020603050405020304" pitchFamily="18" charset="0"/>
                <a:ea typeface="Calibri" panose="020F0502020204030204" pitchFamily="34" charset="0"/>
              </a:rPr>
              <a:t>diversed</a:t>
            </a:r>
            <a:r>
              <a:rPr lang="en-IN" sz="2300" dirty="0">
                <a:solidFill>
                  <a:schemeClr val="tx1"/>
                </a:solidFill>
                <a:effectLst/>
                <a:latin typeface="Times New Roman" panose="02020603050405020304" pitchFamily="18" charset="0"/>
                <a:ea typeface="Calibri" panose="020F0502020204030204" pitchFamily="34" charset="0"/>
              </a:rPr>
              <a:t> so that all the characteristics of the population can be represented</a:t>
            </a:r>
            <a:endParaRPr lang="en-IN" sz="23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buFont typeface="Wingdings" panose="05000000000000000000" pitchFamily="2" charset="2"/>
              <a:buChar char="Ø"/>
            </a:pPr>
            <a:r>
              <a:rPr lang="en-IN" sz="2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Each cluster should have similar distribution of characteristics as a distribution of population.</a:t>
            </a:r>
            <a:endParaRPr lang="en-IN" sz="23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buFont typeface="Wingdings" panose="05000000000000000000" pitchFamily="2" charset="2"/>
              <a:buChar char="Ø"/>
            </a:pPr>
            <a:r>
              <a:rPr lang="en-IN" sz="2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Further there should not be any overlapping between the cluster(i.e. mutually exclusive elements)</a:t>
            </a:r>
            <a:endParaRPr lang="en-IN" sz="23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buFont typeface="Wingdings" panose="05000000000000000000" pitchFamily="2" charset="2"/>
              <a:buChar char="Ø"/>
            </a:pPr>
            <a:r>
              <a:rPr lang="en-IN" sz="23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When taken together cluster should cover the whole population</a:t>
            </a:r>
            <a:endParaRPr lang="en-IN" sz="23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07F1F48-6F7E-1461-F826-CB62E50C4A09}"/>
              </a:ext>
            </a:extLst>
          </p:cNvPr>
          <p:cNvSpPr>
            <a:spLocks noGrp="1"/>
          </p:cNvSpPr>
          <p:nvPr>
            <p:ph type="dt" sz="half" idx="10"/>
          </p:nvPr>
        </p:nvSpPr>
        <p:spPr/>
        <p:txBody>
          <a:bodyPr/>
          <a:lstStyle/>
          <a:p>
            <a:fld id="{BDAFCF49-4DE3-4AAC-8722-AB0BE711BCF9}" type="datetime1">
              <a:rPr lang="en-IN" smtClean="0"/>
              <a:t>11-09-2025</a:t>
            </a:fld>
            <a:endParaRPr lang="en-IN"/>
          </a:p>
        </p:txBody>
      </p:sp>
      <p:sp>
        <p:nvSpPr>
          <p:cNvPr id="5" name="Slide Number Placeholder 4">
            <a:extLst>
              <a:ext uri="{FF2B5EF4-FFF2-40B4-BE49-F238E27FC236}">
                <a16:creationId xmlns:a16="http://schemas.microsoft.com/office/drawing/2014/main" id="{7C407F98-C05C-8107-2A38-3ACEBB0D1B04}"/>
              </a:ext>
            </a:extLst>
          </p:cNvPr>
          <p:cNvSpPr>
            <a:spLocks noGrp="1"/>
          </p:cNvSpPr>
          <p:nvPr>
            <p:ph type="sldNum" sz="quarter" idx="12"/>
          </p:nvPr>
        </p:nvSpPr>
        <p:spPr/>
        <p:txBody>
          <a:bodyPr/>
          <a:lstStyle/>
          <a:p>
            <a:fld id="{D75E712A-30F9-4F5C-A4F1-6DC8A3808094}" type="slidenum">
              <a:rPr lang="en-IN" smtClean="0"/>
              <a:t>36</a:t>
            </a:fld>
            <a:endParaRPr lang="en-IN"/>
          </a:p>
        </p:txBody>
      </p:sp>
    </p:spTree>
    <p:extLst>
      <p:ext uri="{BB962C8B-B14F-4D97-AF65-F5344CB8AC3E}">
        <p14:creationId xmlns:p14="http://schemas.microsoft.com/office/powerpoint/2010/main" val="7005624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A8108-A7A5-17B9-59C0-A5F4214C5F89}"/>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Cluster sampling</a:t>
            </a:r>
            <a:endParaRPr lang="en-IN" dirty="0"/>
          </a:p>
        </p:txBody>
      </p:sp>
      <p:sp>
        <p:nvSpPr>
          <p:cNvPr id="3" name="Content Placeholder 2">
            <a:extLst>
              <a:ext uri="{FF2B5EF4-FFF2-40B4-BE49-F238E27FC236}">
                <a16:creationId xmlns:a16="http://schemas.microsoft.com/office/drawing/2014/main" id="{06608346-44F7-8381-AE59-D53504B44D72}"/>
              </a:ext>
            </a:extLst>
          </p:cNvPr>
          <p:cNvSpPr>
            <a:spLocks noGrp="1"/>
          </p:cNvSpPr>
          <p:nvPr>
            <p:ph idx="1"/>
          </p:nvPr>
        </p:nvSpPr>
        <p:spPr/>
        <p:txBody>
          <a:bodyPr/>
          <a:lstStyle/>
          <a:p>
            <a:r>
              <a:rPr lang="en-IN" sz="2000" b="1" dirty="0">
                <a:effectLst/>
                <a:latin typeface="Times New Roman" panose="02020603050405020304" pitchFamily="18" charset="0"/>
                <a:ea typeface="Calibri" panose="020F0502020204030204" pitchFamily="34" charset="0"/>
              </a:rPr>
              <a:t>Randomly Select Clusters:</a:t>
            </a:r>
            <a:r>
              <a:rPr lang="en-IN" sz="2000" dirty="0">
                <a:effectLst/>
                <a:latin typeface="Times New Roman" panose="02020603050405020304" pitchFamily="18" charset="0"/>
                <a:ea typeface="Calibri" panose="020F0502020204030204" pitchFamily="34" charset="0"/>
              </a:rPr>
              <a:t> Instead of picking individuals from every group, only a few clusters are randomly chosen for the sample</a:t>
            </a:r>
          </a:p>
          <a:p>
            <a:r>
              <a:rPr lang="en-IN" sz="2000" b="1" kern="100" dirty="0">
                <a:effectLst/>
                <a:latin typeface="Times New Roman" panose="02020603050405020304" pitchFamily="18" charset="0"/>
                <a:ea typeface="Calibri" panose="020F0502020204030204" pitchFamily="34" charset="0"/>
                <a:cs typeface="Times New Roman" panose="02020603050405020304" pitchFamily="18" charset="0"/>
              </a:rPr>
              <a:t>Choose the Sample from Clusters:</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Once the clusters are selected, you either include all the individuals or items from those clusters in your sample, or you randomly select a certain number of individuals from each chosen cluster.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2000" b="1" kern="100" dirty="0">
                <a:effectLst/>
                <a:latin typeface="Times New Roman" panose="02020603050405020304" pitchFamily="18" charset="0"/>
                <a:ea typeface="Calibri" panose="020F0502020204030204" pitchFamily="34" charset="0"/>
                <a:cs typeface="Times New Roman" panose="02020603050405020304" pitchFamily="18" charset="0"/>
              </a:rPr>
              <a:t>Key Difference from Stratified Sampling?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2F0D75B3-BC80-FFF2-DA09-2F9BF84DF0B7}"/>
              </a:ext>
            </a:extLst>
          </p:cNvPr>
          <p:cNvSpPr>
            <a:spLocks noGrp="1"/>
          </p:cNvSpPr>
          <p:nvPr>
            <p:ph type="dt" sz="half" idx="10"/>
          </p:nvPr>
        </p:nvSpPr>
        <p:spPr/>
        <p:txBody>
          <a:bodyPr/>
          <a:lstStyle/>
          <a:p>
            <a:fld id="{BDAFCF49-4DE3-4AAC-8722-AB0BE711BCF9}" type="datetime1">
              <a:rPr lang="en-IN" smtClean="0"/>
              <a:t>11-09-2025</a:t>
            </a:fld>
            <a:endParaRPr lang="en-IN"/>
          </a:p>
        </p:txBody>
      </p:sp>
      <p:sp>
        <p:nvSpPr>
          <p:cNvPr id="5" name="Slide Number Placeholder 4">
            <a:extLst>
              <a:ext uri="{FF2B5EF4-FFF2-40B4-BE49-F238E27FC236}">
                <a16:creationId xmlns:a16="http://schemas.microsoft.com/office/drawing/2014/main" id="{7BFF5227-5542-D19B-8390-D9E827FB706B}"/>
              </a:ext>
            </a:extLst>
          </p:cNvPr>
          <p:cNvSpPr>
            <a:spLocks noGrp="1"/>
          </p:cNvSpPr>
          <p:nvPr>
            <p:ph type="sldNum" sz="quarter" idx="12"/>
          </p:nvPr>
        </p:nvSpPr>
        <p:spPr/>
        <p:txBody>
          <a:bodyPr/>
          <a:lstStyle/>
          <a:p>
            <a:fld id="{D75E712A-30F9-4F5C-A4F1-6DC8A3808094}" type="slidenum">
              <a:rPr lang="en-IN" smtClean="0"/>
              <a:t>37</a:t>
            </a:fld>
            <a:endParaRPr lang="en-IN"/>
          </a:p>
        </p:txBody>
      </p:sp>
    </p:spTree>
    <p:extLst>
      <p:ext uri="{BB962C8B-B14F-4D97-AF65-F5344CB8AC3E}">
        <p14:creationId xmlns:p14="http://schemas.microsoft.com/office/powerpoint/2010/main" val="2840158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306F2-5436-77E6-BFA9-FB53958F9723}"/>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Cluster sampling</a:t>
            </a:r>
            <a:endParaRPr lang="en-IN" dirty="0"/>
          </a:p>
        </p:txBody>
      </p:sp>
      <p:sp>
        <p:nvSpPr>
          <p:cNvPr id="4" name="Date Placeholder 3">
            <a:extLst>
              <a:ext uri="{FF2B5EF4-FFF2-40B4-BE49-F238E27FC236}">
                <a16:creationId xmlns:a16="http://schemas.microsoft.com/office/drawing/2014/main" id="{A2D15880-5965-65EC-E1BB-5109BF05AD1E}"/>
              </a:ext>
            </a:extLst>
          </p:cNvPr>
          <p:cNvSpPr>
            <a:spLocks noGrp="1"/>
          </p:cNvSpPr>
          <p:nvPr>
            <p:ph type="dt" sz="half" idx="10"/>
          </p:nvPr>
        </p:nvSpPr>
        <p:spPr/>
        <p:txBody>
          <a:bodyPr/>
          <a:lstStyle/>
          <a:p>
            <a:fld id="{BDAFCF49-4DE3-4AAC-8722-AB0BE711BCF9}" type="datetime1">
              <a:rPr lang="en-IN" smtClean="0"/>
              <a:t>11-09-2025</a:t>
            </a:fld>
            <a:endParaRPr lang="en-IN"/>
          </a:p>
        </p:txBody>
      </p:sp>
      <p:sp>
        <p:nvSpPr>
          <p:cNvPr id="5" name="Slide Number Placeholder 4">
            <a:extLst>
              <a:ext uri="{FF2B5EF4-FFF2-40B4-BE49-F238E27FC236}">
                <a16:creationId xmlns:a16="http://schemas.microsoft.com/office/drawing/2014/main" id="{0A6AD5D6-4A07-76AA-4177-8D4195DC2413}"/>
              </a:ext>
            </a:extLst>
          </p:cNvPr>
          <p:cNvSpPr>
            <a:spLocks noGrp="1"/>
          </p:cNvSpPr>
          <p:nvPr>
            <p:ph type="sldNum" sz="quarter" idx="12"/>
          </p:nvPr>
        </p:nvSpPr>
        <p:spPr/>
        <p:txBody>
          <a:bodyPr/>
          <a:lstStyle/>
          <a:p>
            <a:fld id="{D75E712A-30F9-4F5C-A4F1-6DC8A3808094}" type="slidenum">
              <a:rPr lang="en-IN" smtClean="0"/>
              <a:t>38</a:t>
            </a:fld>
            <a:endParaRPr lang="en-IN"/>
          </a:p>
        </p:txBody>
      </p:sp>
      <p:pic>
        <p:nvPicPr>
          <p:cNvPr id="6" name="Content Placeholder 5">
            <a:extLst>
              <a:ext uri="{FF2B5EF4-FFF2-40B4-BE49-F238E27FC236}">
                <a16:creationId xmlns:a16="http://schemas.microsoft.com/office/drawing/2014/main" id="{AF68D75A-A46B-F2E1-7F4D-D2241E31AD4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98599" y="2071076"/>
            <a:ext cx="7113737" cy="4001478"/>
          </a:xfrm>
          <a:prstGeom prst="rect">
            <a:avLst/>
          </a:prstGeom>
          <a:noFill/>
          <a:ln>
            <a:noFill/>
          </a:ln>
        </p:spPr>
      </p:pic>
    </p:spTree>
    <p:extLst>
      <p:ext uri="{BB962C8B-B14F-4D97-AF65-F5344CB8AC3E}">
        <p14:creationId xmlns:p14="http://schemas.microsoft.com/office/powerpoint/2010/main" val="14020405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BD3C1-D4B0-F7D3-1F08-9A361DFCD102}"/>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Probability &amp; statistics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D8D194-7E6B-819C-F17A-7BCD2E1595E7}"/>
              </a:ext>
            </a:extLst>
          </p:cNvPr>
          <p:cNvSpPr>
            <a:spLocks noGrp="1"/>
          </p:cNvSpPr>
          <p:nvPr>
            <p:ph idx="1"/>
          </p:nvPr>
        </p:nvSpPr>
        <p:spPr>
          <a:xfrm>
            <a:off x="1444691" y="2650064"/>
            <a:ext cx="9601196" cy="3318936"/>
          </a:xfrm>
        </p:spPr>
        <p:txBody>
          <a:bodyPr>
            <a:normAutofit lnSpcReduction="10000"/>
          </a:bodyPr>
          <a:lstStyle/>
          <a:p>
            <a:r>
              <a:rPr lang="en-US" sz="2200" b="1" dirty="0">
                <a:solidFill>
                  <a:schemeClr val="tx1"/>
                </a:solidFill>
                <a:latin typeface="Times New Roman" panose="02020603050405020304" pitchFamily="18" charset="0"/>
                <a:cs typeface="Times New Roman" panose="02020603050405020304" pitchFamily="18" charset="0"/>
              </a:rPr>
              <a:t>Probability</a:t>
            </a:r>
            <a:r>
              <a:rPr lang="en-US" sz="2200" dirty="0">
                <a:solidFill>
                  <a:schemeClr val="tx1"/>
                </a:solidFill>
                <a:latin typeface="Times New Roman" panose="02020603050405020304" pitchFamily="18" charset="0"/>
                <a:cs typeface="Times New Roman" panose="02020603050405020304" pitchFamily="18" charset="0"/>
              </a:rPr>
              <a:t> is the science of making statement about what will occur when samples are drawn from a known population.</a:t>
            </a:r>
          </a:p>
          <a:p>
            <a:r>
              <a:rPr lang="en-US" sz="2200" b="1" dirty="0">
                <a:solidFill>
                  <a:srgbClr val="FF0000"/>
                </a:solidFill>
                <a:latin typeface="Times New Roman" panose="02020603050405020304" pitchFamily="18" charset="0"/>
                <a:cs typeface="Times New Roman" panose="02020603050405020304" pitchFamily="18" charset="0"/>
              </a:rPr>
              <a:t>Example: </a:t>
            </a:r>
            <a:r>
              <a:rPr lang="en-US" sz="2200" dirty="0">
                <a:solidFill>
                  <a:schemeClr val="tx1"/>
                </a:solidFill>
                <a:latin typeface="Times New Roman" panose="02020603050405020304" pitchFamily="18" charset="0"/>
                <a:cs typeface="Times New Roman" panose="02020603050405020304" pitchFamily="18" charset="0"/>
              </a:rPr>
              <a:t>Imagine you have a jar with 100  marbles, 70 of which is red, 30 are blue. If you randomly pick one marble then what is the probability that it is red?</a:t>
            </a:r>
          </a:p>
          <a:p>
            <a:r>
              <a:rPr lang="en-US" sz="2200" b="1" dirty="0">
                <a:solidFill>
                  <a:schemeClr val="tx1"/>
                </a:solidFill>
                <a:latin typeface="Times New Roman" panose="02020603050405020304" pitchFamily="18" charset="0"/>
                <a:cs typeface="Times New Roman" panose="02020603050405020304" pitchFamily="18" charset="0"/>
              </a:rPr>
              <a:t>Statistics </a:t>
            </a:r>
            <a:r>
              <a:rPr lang="en-US" sz="2200" dirty="0">
                <a:solidFill>
                  <a:schemeClr val="tx1"/>
                </a:solidFill>
                <a:latin typeface="Times New Roman" panose="02020603050405020304" pitchFamily="18" charset="0"/>
                <a:cs typeface="Times New Roman" panose="02020603050405020304" pitchFamily="18" charset="0"/>
              </a:rPr>
              <a:t>is the science of organizing a sample data and making inferences about the unknown population from which the sample is drawn.</a:t>
            </a:r>
          </a:p>
          <a:p>
            <a:r>
              <a:rPr lang="en-US" sz="2200" b="1" dirty="0">
                <a:solidFill>
                  <a:srgbClr val="FF0000"/>
                </a:solidFill>
                <a:latin typeface="Times New Roman" panose="02020603050405020304" pitchFamily="18" charset="0"/>
                <a:cs typeface="Times New Roman" panose="02020603050405020304" pitchFamily="18" charset="0"/>
              </a:rPr>
              <a:t>Example: </a:t>
            </a:r>
            <a:r>
              <a:rPr lang="en-US" sz="2200" dirty="0">
                <a:solidFill>
                  <a:schemeClr val="tx1"/>
                </a:solidFill>
                <a:latin typeface="Times New Roman" panose="02020603050405020304" pitchFamily="18" charset="0"/>
                <a:cs typeface="Times New Roman" panose="02020603050405020304" pitchFamily="18" charset="0"/>
              </a:rPr>
              <a:t>You don’t know the actual proportion of red and blue marbles in the jar. You take random sample of 10 marble and find that 7 are red and 3 are blue. Based on this sample you might infer that 70% of the marbles are red.</a:t>
            </a:r>
            <a:endParaRPr lang="en-IN" sz="2200"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5E6AA99-7624-D72B-57A7-FE1301FED406}"/>
              </a:ext>
            </a:extLst>
          </p:cNvPr>
          <p:cNvSpPr>
            <a:spLocks noGrp="1"/>
          </p:cNvSpPr>
          <p:nvPr>
            <p:ph type="dt" sz="half" idx="10"/>
          </p:nvPr>
        </p:nvSpPr>
        <p:spPr/>
        <p:txBody>
          <a:bodyPr/>
          <a:lstStyle/>
          <a:p>
            <a:fld id="{BDAFCF49-4DE3-4AAC-8722-AB0BE711BCF9}" type="datetime1">
              <a:rPr lang="en-IN" smtClean="0"/>
              <a:t>11-09-2025</a:t>
            </a:fld>
            <a:endParaRPr lang="en-IN"/>
          </a:p>
        </p:txBody>
      </p:sp>
      <p:sp>
        <p:nvSpPr>
          <p:cNvPr id="5" name="Slide Number Placeholder 4">
            <a:extLst>
              <a:ext uri="{FF2B5EF4-FFF2-40B4-BE49-F238E27FC236}">
                <a16:creationId xmlns:a16="http://schemas.microsoft.com/office/drawing/2014/main" id="{A6DD1BC3-B064-CBEC-C057-231DCA6948B4}"/>
              </a:ext>
            </a:extLst>
          </p:cNvPr>
          <p:cNvSpPr>
            <a:spLocks noGrp="1"/>
          </p:cNvSpPr>
          <p:nvPr>
            <p:ph type="sldNum" sz="quarter" idx="12"/>
          </p:nvPr>
        </p:nvSpPr>
        <p:spPr/>
        <p:txBody>
          <a:bodyPr/>
          <a:lstStyle/>
          <a:p>
            <a:fld id="{D75E712A-30F9-4F5C-A4F1-6DC8A3808094}" type="slidenum">
              <a:rPr lang="en-IN" smtClean="0"/>
              <a:t>39</a:t>
            </a:fld>
            <a:endParaRPr lang="en-IN"/>
          </a:p>
        </p:txBody>
      </p:sp>
    </p:spTree>
    <p:extLst>
      <p:ext uri="{BB962C8B-B14F-4D97-AF65-F5344CB8AC3E}">
        <p14:creationId xmlns:p14="http://schemas.microsoft.com/office/powerpoint/2010/main" val="4005530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CDD9F-336E-77CD-A28E-AC004589F1AF}"/>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How probability supports statistics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AD1A670-60AC-E2A5-7BA8-08A1CFB7D988}"/>
              </a:ext>
            </a:extLst>
          </p:cNvPr>
          <p:cNvSpPr>
            <a:spLocks noGrp="1"/>
          </p:cNvSpPr>
          <p:nvPr>
            <p:ph idx="1"/>
          </p:nvPr>
        </p:nvSpPr>
        <p:spPr/>
        <p:txBody>
          <a:bodyPr>
            <a:normAutofit/>
          </a:bodyPr>
          <a:lstStyle/>
          <a:p>
            <a:r>
              <a:rPr lang="en-US" sz="2200" b="1" dirty="0">
                <a:solidFill>
                  <a:schemeClr val="tx1"/>
                </a:solidFill>
                <a:latin typeface="Times New Roman" panose="02020603050405020304" pitchFamily="18" charset="0"/>
                <a:cs typeface="Times New Roman" panose="02020603050405020304" pitchFamily="18" charset="0"/>
              </a:rPr>
              <a:t>Probability</a:t>
            </a:r>
            <a:r>
              <a:rPr lang="en-US" sz="2200" dirty="0">
                <a:solidFill>
                  <a:schemeClr val="tx1"/>
                </a:solidFill>
                <a:latin typeface="Times New Roman" panose="02020603050405020304" pitchFamily="18" charset="0"/>
                <a:cs typeface="Times New Roman" panose="02020603050405020304" pitchFamily="18" charset="0"/>
              </a:rPr>
              <a:t> helps us to understand how likely it is our statistical conclusions are accurate. It provides way to measure the reliability of our inferences from sample to the entire population.</a:t>
            </a:r>
          </a:p>
          <a:p>
            <a:r>
              <a:rPr lang="en-US" b="1" dirty="0">
                <a:solidFill>
                  <a:schemeClr val="tx1"/>
                </a:solidFill>
                <a:latin typeface="Times New Roman" panose="02020603050405020304" pitchFamily="18" charset="0"/>
                <a:cs typeface="Times New Roman" panose="02020603050405020304" pitchFamily="18" charset="0"/>
              </a:rPr>
              <a:t>Example: </a:t>
            </a:r>
            <a:r>
              <a:rPr lang="en-US" sz="2200" dirty="0">
                <a:solidFill>
                  <a:schemeClr val="tx1"/>
                </a:solidFill>
                <a:latin typeface="Times New Roman" panose="02020603050405020304" pitchFamily="18" charset="0"/>
                <a:cs typeface="Times New Roman" panose="02020603050405020304" pitchFamily="18" charset="0"/>
              </a:rPr>
              <a:t>If you repeatedly take sample of 10 marbles from the jar, you might find that results vary a little each time. Probability allows you to calculate how likely it is that sample(e.g. 7 red marbles out of 10) reflects true proportion of red marbles in the jar. It helps to justify accuracy of your conclusion</a:t>
            </a:r>
            <a:endParaRPr lang="en-IN" sz="2200"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5BDFF4B-1562-29E1-2C6E-FB0D7F5A0DB9}"/>
              </a:ext>
            </a:extLst>
          </p:cNvPr>
          <p:cNvSpPr>
            <a:spLocks noGrp="1"/>
          </p:cNvSpPr>
          <p:nvPr>
            <p:ph type="dt" sz="half" idx="10"/>
          </p:nvPr>
        </p:nvSpPr>
        <p:spPr/>
        <p:txBody>
          <a:bodyPr/>
          <a:lstStyle/>
          <a:p>
            <a:fld id="{BDAFCF49-4DE3-4AAC-8722-AB0BE711BCF9}" type="datetime1">
              <a:rPr lang="en-IN" smtClean="0"/>
              <a:t>11-09-2025</a:t>
            </a:fld>
            <a:endParaRPr lang="en-IN"/>
          </a:p>
        </p:txBody>
      </p:sp>
      <p:sp>
        <p:nvSpPr>
          <p:cNvPr id="5" name="Slide Number Placeholder 4">
            <a:extLst>
              <a:ext uri="{FF2B5EF4-FFF2-40B4-BE49-F238E27FC236}">
                <a16:creationId xmlns:a16="http://schemas.microsoft.com/office/drawing/2014/main" id="{B167AC0C-07AD-072C-1496-3F86A3564673}"/>
              </a:ext>
            </a:extLst>
          </p:cNvPr>
          <p:cNvSpPr>
            <a:spLocks noGrp="1"/>
          </p:cNvSpPr>
          <p:nvPr>
            <p:ph type="sldNum" sz="quarter" idx="12"/>
          </p:nvPr>
        </p:nvSpPr>
        <p:spPr/>
        <p:txBody>
          <a:bodyPr/>
          <a:lstStyle/>
          <a:p>
            <a:fld id="{D75E712A-30F9-4F5C-A4F1-6DC8A3808094}" type="slidenum">
              <a:rPr lang="en-IN" smtClean="0"/>
              <a:t>40</a:t>
            </a:fld>
            <a:endParaRPr lang="en-IN"/>
          </a:p>
        </p:txBody>
      </p:sp>
    </p:spTree>
    <p:extLst>
      <p:ext uri="{BB962C8B-B14F-4D97-AF65-F5344CB8AC3E}">
        <p14:creationId xmlns:p14="http://schemas.microsoft.com/office/powerpoint/2010/main" val="8542200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F0451-0DFA-11A4-D0C7-7AD45407FFA3}"/>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Comparison of probability and statistics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B37E4F1-30FF-823C-7328-66CDE53D3842}"/>
              </a:ext>
            </a:extLst>
          </p:cNvPr>
          <p:cNvSpPr>
            <a:spLocks noGrp="1"/>
          </p:cNvSpPr>
          <p:nvPr>
            <p:ph idx="1"/>
          </p:nvPr>
        </p:nvSpPr>
        <p:spPr/>
        <p:txBody>
          <a:bodyPr>
            <a:normAutofit lnSpcReduction="10000"/>
          </a:bodyPr>
          <a:lstStyle/>
          <a:p>
            <a:r>
              <a:rPr lang="en-US" sz="2200" b="1" dirty="0">
                <a:latin typeface="Times New Roman" panose="02020603050405020304" pitchFamily="18" charset="0"/>
                <a:cs typeface="Times New Roman" panose="02020603050405020304" pitchFamily="18" charset="0"/>
              </a:rPr>
              <a:t>Probability :  </a:t>
            </a:r>
            <a:r>
              <a:rPr lang="en-US" sz="2200" dirty="0">
                <a:latin typeface="Times New Roman" panose="02020603050405020304" pitchFamily="18" charset="0"/>
                <a:cs typeface="Times New Roman" panose="02020603050405020304" pitchFamily="18" charset="0"/>
              </a:rPr>
              <a:t>Characteristics of the population are already known. For example you might known that 60% of the marbles in the jar are red.</a:t>
            </a:r>
          </a:p>
          <a:p>
            <a:r>
              <a:rPr lang="en-US" sz="2200" b="1" dirty="0">
                <a:latin typeface="Times New Roman" panose="02020603050405020304" pitchFamily="18" charset="0"/>
                <a:cs typeface="Times New Roman" panose="02020603050405020304" pitchFamily="18" charset="0"/>
              </a:rPr>
              <a:t>Probability answers questions about samples: </a:t>
            </a:r>
            <a:r>
              <a:rPr lang="en-US" sz="2200" dirty="0">
                <a:latin typeface="Times New Roman" panose="02020603050405020304" pitchFamily="18" charset="0"/>
                <a:cs typeface="Times New Roman" panose="02020603050405020304" pitchFamily="18" charset="0"/>
              </a:rPr>
              <a:t>It calculates likelihood of certain outcomes when taking sample from this known population. For </a:t>
            </a:r>
            <a:r>
              <a:rPr lang="en-US" sz="2200" dirty="0" err="1">
                <a:latin typeface="Times New Roman" panose="02020603050405020304" pitchFamily="18" charset="0"/>
                <a:cs typeface="Times New Roman" panose="02020603050405020304" pitchFamily="18" charset="0"/>
              </a:rPr>
              <a:t>e.g</a:t>
            </a:r>
            <a:r>
              <a:rPr lang="en-US" sz="2200" dirty="0">
                <a:latin typeface="Times New Roman" panose="02020603050405020304" pitchFamily="18" charset="0"/>
                <a:cs typeface="Times New Roman" panose="02020603050405020304" pitchFamily="18" charset="0"/>
              </a:rPr>
              <a:t> if you pick 10 marbles form the jar probability can tell you the chance that exactly 6 of them will be red.</a:t>
            </a:r>
          </a:p>
          <a:p>
            <a:r>
              <a:rPr lang="en-US" sz="2200" b="1" dirty="0">
                <a:latin typeface="Times New Roman" panose="02020603050405020304" pitchFamily="18" charset="0"/>
                <a:cs typeface="Times New Roman" panose="02020603050405020304" pitchFamily="18" charset="0"/>
              </a:rPr>
              <a:t>Statistics </a:t>
            </a:r>
            <a:r>
              <a:rPr lang="en-US" sz="2200" dirty="0">
                <a:latin typeface="Times New Roman" panose="02020603050405020304" pitchFamily="18" charset="0"/>
                <a:cs typeface="Times New Roman" panose="02020603050405020304" pitchFamily="18" charset="0"/>
              </a:rPr>
              <a:t>does not assume the population properties known. Instead it uses </a:t>
            </a:r>
            <a:r>
              <a:rPr lang="en-US" sz="2200" b="1" dirty="0">
                <a:latin typeface="Times New Roman" panose="02020603050405020304" pitchFamily="18" charset="0"/>
                <a:cs typeface="Times New Roman" panose="02020603050405020304" pitchFamily="18" charset="0"/>
              </a:rPr>
              <a:t>data</a:t>
            </a:r>
            <a:r>
              <a:rPr lang="en-US" sz="2200" dirty="0">
                <a:latin typeface="Times New Roman" panose="02020603050405020304" pitchFamily="18" charset="0"/>
                <a:cs typeface="Times New Roman" panose="02020603050405020304" pitchFamily="18" charset="0"/>
              </a:rPr>
              <a:t> from samples to draw conclusion. </a:t>
            </a:r>
          </a:p>
          <a:p>
            <a:r>
              <a:rPr lang="en-US" sz="2200" b="1" dirty="0">
                <a:latin typeface="Times New Roman" panose="02020603050405020304" pitchFamily="18" charset="0"/>
                <a:cs typeface="Times New Roman" panose="02020603050405020304" pitchFamily="18" charset="0"/>
              </a:rPr>
              <a:t>Statistics</a:t>
            </a:r>
            <a:r>
              <a:rPr lang="en-US" sz="2200" dirty="0">
                <a:latin typeface="Times New Roman" panose="02020603050405020304" pitchFamily="18" charset="0"/>
                <a:cs typeface="Times New Roman" panose="02020603050405020304" pitchFamily="18" charset="0"/>
              </a:rPr>
              <a:t> draws conclusion about the population from sample that is drawn</a:t>
            </a:r>
          </a:p>
          <a:p>
            <a:endParaRPr lang="en-IN" dirty="0"/>
          </a:p>
        </p:txBody>
      </p:sp>
      <p:sp>
        <p:nvSpPr>
          <p:cNvPr id="4" name="Date Placeholder 3">
            <a:extLst>
              <a:ext uri="{FF2B5EF4-FFF2-40B4-BE49-F238E27FC236}">
                <a16:creationId xmlns:a16="http://schemas.microsoft.com/office/drawing/2014/main" id="{EADBB3C7-EAB6-20A4-EECD-D4939ECC0A1D}"/>
              </a:ext>
            </a:extLst>
          </p:cNvPr>
          <p:cNvSpPr>
            <a:spLocks noGrp="1"/>
          </p:cNvSpPr>
          <p:nvPr>
            <p:ph type="dt" sz="half" idx="10"/>
          </p:nvPr>
        </p:nvSpPr>
        <p:spPr/>
        <p:txBody>
          <a:bodyPr/>
          <a:lstStyle/>
          <a:p>
            <a:fld id="{BDAFCF49-4DE3-4AAC-8722-AB0BE711BCF9}" type="datetime1">
              <a:rPr lang="en-IN" smtClean="0"/>
              <a:t>11-09-2025</a:t>
            </a:fld>
            <a:endParaRPr lang="en-IN"/>
          </a:p>
        </p:txBody>
      </p:sp>
      <p:sp>
        <p:nvSpPr>
          <p:cNvPr id="5" name="Slide Number Placeholder 4">
            <a:extLst>
              <a:ext uri="{FF2B5EF4-FFF2-40B4-BE49-F238E27FC236}">
                <a16:creationId xmlns:a16="http://schemas.microsoft.com/office/drawing/2014/main" id="{44338483-4F72-63A8-4786-73CAE1570804}"/>
              </a:ext>
            </a:extLst>
          </p:cNvPr>
          <p:cNvSpPr>
            <a:spLocks noGrp="1"/>
          </p:cNvSpPr>
          <p:nvPr>
            <p:ph type="sldNum" sz="quarter" idx="12"/>
          </p:nvPr>
        </p:nvSpPr>
        <p:spPr/>
        <p:txBody>
          <a:bodyPr/>
          <a:lstStyle/>
          <a:p>
            <a:fld id="{D75E712A-30F9-4F5C-A4F1-6DC8A3808094}" type="slidenum">
              <a:rPr lang="en-IN" smtClean="0"/>
              <a:t>41</a:t>
            </a:fld>
            <a:endParaRPr lang="en-IN"/>
          </a:p>
        </p:txBody>
      </p:sp>
    </p:spTree>
    <p:extLst>
      <p:ext uri="{BB962C8B-B14F-4D97-AF65-F5344CB8AC3E}">
        <p14:creationId xmlns:p14="http://schemas.microsoft.com/office/powerpoint/2010/main" val="11296108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1BE4C-6B36-4F38-7143-0EC1E30F46D5}"/>
              </a:ext>
            </a:extLst>
          </p:cNvPr>
          <p:cNvSpPr>
            <a:spLocks noGrp="1"/>
          </p:cNvSpPr>
          <p:nvPr>
            <p:ph type="title"/>
          </p:nvPr>
        </p:nvSpPr>
        <p:spPr>
          <a:xfrm>
            <a:off x="1295401" y="982132"/>
            <a:ext cx="9601196" cy="1303867"/>
          </a:xfrm>
        </p:spPr>
        <p:txBody>
          <a:bodyPr>
            <a:normAutofit/>
          </a:bodyPr>
          <a:lstStyle/>
          <a:p>
            <a:r>
              <a:rPr lang="en-US" sz="4000" b="1" dirty="0">
                <a:latin typeface="Times New Roman" panose="02020603050405020304" pitchFamily="18" charset="0"/>
                <a:cs typeface="Times New Roman" panose="02020603050405020304" pitchFamily="18" charset="0"/>
              </a:rPr>
              <a:t>Sampling errors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B9D9B8D-98E3-2D94-E424-87EFA878779B}"/>
              </a:ext>
            </a:extLst>
          </p:cNvPr>
          <p:cNvSpPr>
            <a:spLocks noGrp="1"/>
          </p:cNvSpPr>
          <p:nvPr>
            <p:ph idx="1"/>
          </p:nvPr>
        </p:nvSpPr>
        <p:spPr/>
        <p:txBody>
          <a:bodyPr>
            <a:normAutofit/>
          </a:bodyPr>
          <a:lstStyle/>
          <a:p>
            <a:r>
              <a:rPr lang="en-US" sz="2200" dirty="0">
                <a:solidFill>
                  <a:schemeClr val="tx1"/>
                </a:solidFill>
                <a:latin typeface="Times New Roman" panose="02020603050405020304" pitchFamily="18" charset="0"/>
                <a:cs typeface="Times New Roman" panose="02020603050405020304" pitchFamily="18" charset="0"/>
              </a:rPr>
              <a:t>Generalizing from sample to population may led to error.</a:t>
            </a:r>
          </a:p>
          <a:p>
            <a:r>
              <a:rPr lang="en-US" sz="2200" dirty="0">
                <a:solidFill>
                  <a:schemeClr val="tx1"/>
                </a:solidFill>
                <a:latin typeface="Times New Roman" panose="02020603050405020304" pitchFamily="18" charset="0"/>
                <a:cs typeface="Times New Roman" panose="02020603050405020304" pitchFamily="18" charset="0"/>
              </a:rPr>
              <a:t>While sampling is powerful its not perfect.</a:t>
            </a:r>
          </a:p>
          <a:p>
            <a:r>
              <a:rPr lang="en-US" sz="2200" dirty="0">
                <a:solidFill>
                  <a:schemeClr val="tx1"/>
                </a:solidFill>
                <a:latin typeface="Times New Roman" panose="02020603050405020304" pitchFamily="18" charset="0"/>
                <a:cs typeface="Times New Roman" panose="02020603050405020304" pitchFamily="18" charset="0"/>
              </a:rPr>
              <a:t>Two common types of errors in sampling is </a:t>
            </a:r>
            <a:r>
              <a:rPr lang="en-US" sz="2200" b="1" dirty="0">
                <a:solidFill>
                  <a:schemeClr val="tx1"/>
                </a:solidFill>
                <a:latin typeface="Times New Roman" panose="02020603050405020304" pitchFamily="18" charset="0"/>
                <a:cs typeface="Times New Roman" panose="02020603050405020304" pitchFamily="18" charset="0"/>
              </a:rPr>
              <a:t>selection Bias </a:t>
            </a:r>
            <a:r>
              <a:rPr lang="en-US" sz="2200" dirty="0">
                <a:solidFill>
                  <a:schemeClr val="tx1"/>
                </a:solidFill>
                <a:latin typeface="Times New Roman" panose="02020603050405020304" pitchFamily="18" charset="0"/>
                <a:cs typeface="Times New Roman" panose="02020603050405020304" pitchFamily="18" charset="0"/>
              </a:rPr>
              <a:t>and </a:t>
            </a:r>
            <a:r>
              <a:rPr lang="en-US" sz="2200" b="1" dirty="0">
                <a:solidFill>
                  <a:schemeClr val="tx1"/>
                </a:solidFill>
                <a:latin typeface="Times New Roman" panose="02020603050405020304" pitchFamily="18" charset="0"/>
                <a:cs typeface="Times New Roman" panose="02020603050405020304" pitchFamily="18" charset="0"/>
              </a:rPr>
              <a:t>sampling Error</a:t>
            </a:r>
          </a:p>
          <a:p>
            <a:r>
              <a:rPr lang="en-US" sz="2200" b="1" dirty="0">
                <a:solidFill>
                  <a:schemeClr val="tx1"/>
                </a:solidFill>
                <a:latin typeface="Times New Roman" panose="02020603050405020304" pitchFamily="18" charset="0"/>
                <a:cs typeface="Times New Roman" panose="02020603050405020304" pitchFamily="18" charset="0"/>
              </a:rPr>
              <a:t>Selection Bias: </a:t>
            </a:r>
            <a:r>
              <a:rPr lang="en-US" sz="2200" dirty="0">
                <a:solidFill>
                  <a:schemeClr val="tx1"/>
                </a:solidFill>
                <a:latin typeface="Times New Roman" panose="02020603050405020304" pitchFamily="18" charset="0"/>
                <a:cs typeface="Times New Roman" panose="02020603050405020304" pitchFamily="18" charset="0"/>
              </a:rPr>
              <a:t>Caused when the method of drawing observations skews the sample in some way</a:t>
            </a:r>
          </a:p>
          <a:p>
            <a:r>
              <a:rPr lang="en-US" sz="2200" b="1" dirty="0">
                <a:solidFill>
                  <a:schemeClr val="tx1"/>
                </a:solidFill>
                <a:latin typeface="Times New Roman" panose="02020603050405020304" pitchFamily="18" charset="0"/>
                <a:cs typeface="Times New Roman" panose="02020603050405020304" pitchFamily="18" charset="0"/>
              </a:rPr>
              <a:t>Sampling Error: </a:t>
            </a:r>
            <a:r>
              <a:rPr lang="en-US" sz="2200" dirty="0">
                <a:solidFill>
                  <a:schemeClr val="tx1"/>
                </a:solidFill>
                <a:latin typeface="Times New Roman" panose="02020603050405020304" pitchFamily="18" charset="0"/>
                <a:cs typeface="Times New Roman" panose="02020603050405020304" pitchFamily="18" charset="0"/>
              </a:rPr>
              <a:t>Caused due to the random nature of drawing observations skewing the sample in some way</a:t>
            </a:r>
            <a:endParaRPr lang="en-IN" sz="2200" b="1"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B78E7B9-A6F2-75C7-4EAA-36CBE8421695}"/>
              </a:ext>
            </a:extLst>
          </p:cNvPr>
          <p:cNvSpPr>
            <a:spLocks noGrp="1"/>
          </p:cNvSpPr>
          <p:nvPr>
            <p:ph type="dt" sz="half" idx="10"/>
          </p:nvPr>
        </p:nvSpPr>
        <p:spPr/>
        <p:txBody>
          <a:bodyPr/>
          <a:lstStyle/>
          <a:p>
            <a:fld id="{BDAFCF49-4DE3-4AAC-8722-AB0BE711BCF9}" type="datetime1">
              <a:rPr lang="en-IN" smtClean="0"/>
              <a:t>11-09-2025</a:t>
            </a:fld>
            <a:endParaRPr lang="en-IN"/>
          </a:p>
        </p:txBody>
      </p:sp>
      <p:sp>
        <p:nvSpPr>
          <p:cNvPr id="5" name="Slide Number Placeholder 4">
            <a:extLst>
              <a:ext uri="{FF2B5EF4-FFF2-40B4-BE49-F238E27FC236}">
                <a16:creationId xmlns:a16="http://schemas.microsoft.com/office/drawing/2014/main" id="{41DF3FC9-6076-263A-9E89-CDE613BB157D}"/>
              </a:ext>
            </a:extLst>
          </p:cNvPr>
          <p:cNvSpPr>
            <a:spLocks noGrp="1"/>
          </p:cNvSpPr>
          <p:nvPr>
            <p:ph type="sldNum" sz="quarter" idx="12"/>
          </p:nvPr>
        </p:nvSpPr>
        <p:spPr/>
        <p:txBody>
          <a:bodyPr/>
          <a:lstStyle/>
          <a:p>
            <a:fld id="{D75E712A-30F9-4F5C-A4F1-6DC8A3808094}" type="slidenum">
              <a:rPr lang="en-IN" smtClean="0"/>
              <a:t>42</a:t>
            </a:fld>
            <a:endParaRPr lang="en-IN"/>
          </a:p>
        </p:txBody>
      </p:sp>
    </p:spTree>
    <p:extLst>
      <p:ext uri="{BB962C8B-B14F-4D97-AF65-F5344CB8AC3E}">
        <p14:creationId xmlns:p14="http://schemas.microsoft.com/office/powerpoint/2010/main" val="19726113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10E87-1C22-766B-6D7B-D690F52628E6}"/>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Statistical re sampling</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9A9A728-85E6-04E5-B448-41ED9E4FBE3B}"/>
              </a:ext>
            </a:extLst>
          </p:cNvPr>
          <p:cNvSpPr>
            <a:spLocks noGrp="1"/>
          </p:cNvSpPr>
          <p:nvPr>
            <p:ph idx="1"/>
          </p:nvPr>
        </p:nvSpPr>
        <p:spPr/>
        <p:txBody>
          <a:bodyPr>
            <a:normAutofit/>
          </a:bodyPr>
          <a:lstStyle/>
          <a:p>
            <a:pPr algn="just"/>
            <a:r>
              <a:rPr lang="en-US" sz="2200" dirty="0">
                <a:solidFill>
                  <a:schemeClr val="tx1"/>
                </a:solidFill>
                <a:latin typeface="Times New Roman" panose="02020603050405020304" pitchFamily="18" charset="0"/>
                <a:cs typeface="Times New Roman" panose="02020603050405020304" pitchFamily="18" charset="0"/>
              </a:rPr>
              <a:t>Resampling is a statistical technique used to estimate the population parameter(such as the mean or population) by repeatedly sampling from your data you already have. </a:t>
            </a:r>
          </a:p>
          <a:p>
            <a:pPr algn="just"/>
            <a:r>
              <a:rPr lang="en-US" sz="2200" b="1" dirty="0">
                <a:solidFill>
                  <a:schemeClr val="tx1"/>
                </a:solidFill>
                <a:latin typeface="Times New Roman" panose="02020603050405020304" pitchFamily="18" charset="0"/>
                <a:cs typeface="Times New Roman" panose="02020603050405020304" pitchFamily="18" charset="0"/>
              </a:rPr>
              <a:t>Problem: Single estimate of the population parameter</a:t>
            </a:r>
          </a:p>
          <a:p>
            <a:pPr algn="just"/>
            <a:r>
              <a:rPr lang="en-US" sz="2200" dirty="0">
                <a:solidFill>
                  <a:schemeClr val="tx1"/>
                </a:solidFill>
                <a:latin typeface="Times New Roman" panose="02020603050405020304" pitchFamily="18" charset="0"/>
                <a:cs typeface="Times New Roman" panose="02020603050405020304" pitchFamily="18" charset="0"/>
              </a:rPr>
              <a:t>When you collect sample from population and calculate a parameter(like mean , </a:t>
            </a:r>
            <a:r>
              <a:rPr lang="en-US" sz="2200" dirty="0" err="1">
                <a:solidFill>
                  <a:schemeClr val="tx1"/>
                </a:solidFill>
                <a:latin typeface="Times New Roman" panose="02020603050405020304" pitchFamily="18" charset="0"/>
                <a:cs typeface="Times New Roman" panose="02020603050405020304" pitchFamily="18" charset="0"/>
              </a:rPr>
              <a:t>sd</a:t>
            </a:r>
            <a:r>
              <a:rPr lang="en-US" sz="2200" dirty="0">
                <a:solidFill>
                  <a:schemeClr val="tx1"/>
                </a:solidFill>
                <a:latin typeface="Times New Roman" panose="02020603050405020304" pitchFamily="18" charset="0"/>
                <a:cs typeface="Times New Roman" panose="02020603050405020304" pitchFamily="18" charset="0"/>
              </a:rPr>
              <a:t>), you only get one estimate, which does not give you idea about how much data will vary if you took different sample. </a:t>
            </a:r>
          </a:p>
          <a:p>
            <a:pPr algn="just"/>
            <a:r>
              <a:rPr lang="en-US" sz="2200" dirty="0">
                <a:solidFill>
                  <a:schemeClr val="tx1"/>
                </a:solidFill>
                <a:latin typeface="Times New Roman" panose="02020603050405020304" pitchFamily="18" charset="0"/>
                <a:cs typeface="Times New Roman" panose="02020603050405020304" pitchFamily="18" charset="0"/>
              </a:rPr>
              <a:t>You also don ‘t no how close is your estimate is true for entire population value</a:t>
            </a:r>
            <a:endParaRPr lang="en-IN" sz="2200"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EACAB8C-0661-D143-270C-26ADDBF1C44A}"/>
              </a:ext>
            </a:extLst>
          </p:cNvPr>
          <p:cNvSpPr>
            <a:spLocks noGrp="1"/>
          </p:cNvSpPr>
          <p:nvPr>
            <p:ph type="dt" sz="half" idx="10"/>
          </p:nvPr>
        </p:nvSpPr>
        <p:spPr/>
        <p:txBody>
          <a:bodyPr/>
          <a:lstStyle/>
          <a:p>
            <a:fld id="{BDAFCF49-4DE3-4AAC-8722-AB0BE711BCF9}" type="datetime1">
              <a:rPr lang="en-IN" smtClean="0"/>
              <a:t>11-09-2025</a:t>
            </a:fld>
            <a:endParaRPr lang="en-IN"/>
          </a:p>
        </p:txBody>
      </p:sp>
      <p:sp>
        <p:nvSpPr>
          <p:cNvPr id="5" name="Slide Number Placeholder 4">
            <a:extLst>
              <a:ext uri="{FF2B5EF4-FFF2-40B4-BE49-F238E27FC236}">
                <a16:creationId xmlns:a16="http://schemas.microsoft.com/office/drawing/2014/main" id="{5D549AE0-9B09-71BA-C1B4-8CEF6820C977}"/>
              </a:ext>
            </a:extLst>
          </p:cNvPr>
          <p:cNvSpPr>
            <a:spLocks noGrp="1"/>
          </p:cNvSpPr>
          <p:nvPr>
            <p:ph type="sldNum" sz="quarter" idx="12"/>
          </p:nvPr>
        </p:nvSpPr>
        <p:spPr/>
        <p:txBody>
          <a:bodyPr/>
          <a:lstStyle/>
          <a:p>
            <a:fld id="{D75E712A-30F9-4F5C-A4F1-6DC8A3808094}" type="slidenum">
              <a:rPr lang="en-IN" smtClean="0"/>
              <a:t>43</a:t>
            </a:fld>
            <a:endParaRPr lang="en-IN"/>
          </a:p>
        </p:txBody>
      </p:sp>
    </p:spTree>
    <p:extLst>
      <p:ext uri="{BB962C8B-B14F-4D97-AF65-F5344CB8AC3E}">
        <p14:creationId xmlns:p14="http://schemas.microsoft.com/office/powerpoint/2010/main" val="41774727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EBCB9-012B-1704-69BC-2DB0CB3B62E8}"/>
              </a:ext>
            </a:extLst>
          </p:cNvPr>
          <p:cNvSpPr>
            <a:spLocks noGrp="1"/>
          </p:cNvSpPr>
          <p:nvPr>
            <p:ph type="title"/>
          </p:nvPr>
        </p:nvSpPr>
        <p:spPr/>
        <p:txBody>
          <a:bodyPr>
            <a:normAutofit/>
          </a:bodyPr>
          <a:lstStyle/>
          <a:p>
            <a:r>
              <a:rPr lang="en-US" sz="4000" b="1" dirty="0">
                <a:solidFill>
                  <a:schemeClr val="tx1"/>
                </a:solidFill>
                <a:latin typeface="Times New Roman" panose="02020603050405020304" pitchFamily="18" charset="0"/>
                <a:cs typeface="Times New Roman" panose="02020603050405020304" pitchFamily="18" charset="0"/>
              </a:rPr>
              <a:t>How resampling helps</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DE5997A-675C-08F4-0287-3AC69BF82071}"/>
              </a:ext>
            </a:extLst>
          </p:cNvPr>
          <p:cNvSpPr>
            <a:spLocks noGrp="1"/>
          </p:cNvSpPr>
          <p:nvPr>
            <p:ph idx="1"/>
          </p:nvPr>
        </p:nvSpPr>
        <p:spPr/>
        <p:txBody>
          <a:bodyPr>
            <a:normAutofit/>
          </a:bodyPr>
          <a:lstStyle/>
          <a:p>
            <a:r>
              <a:rPr lang="en-US" sz="2200" b="1" dirty="0">
                <a:solidFill>
                  <a:schemeClr val="tx1"/>
                </a:solidFill>
                <a:latin typeface="Times New Roman" panose="02020603050405020304" pitchFamily="18" charset="0"/>
                <a:cs typeface="Times New Roman" panose="02020603050405020304" pitchFamily="18" charset="0"/>
              </a:rPr>
              <a:t>Solution</a:t>
            </a:r>
          </a:p>
          <a:p>
            <a:r>
              <a:rPr lang="en-US" sz="2200" dirty="0">
                <a:solidFill>
                  <a:schemeClr val="tx1"/>
                </a:solidFill>
                <a:latin typeface="Times New Roman" panose="02020603050405020304" pitchFamily="18" charset="0"/>
                <a:cs typeface="Times New Roman" panose="02020603050405020304" pitchFamily="18" charset="0"/>
              </a:rPr>
              <a:t>Estimate the population parameter multiple times</a:t>
            </a:r>
          </a:p>
          <a:p>
            <a:r>
              <a:rPr lang="en-US" sz="2200" dirty="0">
                <a:solidFill>
                  <a:schemeClr val="tx1"/>
                </a:solidFill>
                <a:latin typeface="Times New Roman" panose="02020603050405020304" pitchFamily="18" charset="0"/>
                <a:cs typeface="Times New Roman" panose="02020603050405020304" pitchFamily="18" charset="0"/>
              </a:rPr>
              <a:t>To address the uncertainty of having just one estimate , you can use technique called re-sampling. It involves repeatedly taking samples from your original data.</a:t>
            </a:r>
          </a:p>
          <a:p>
            <a:pPr marL="457200" indent="-457200">
              <a:buFont typeface="+mj-lt"/>
              <a:buAutoNum type="arabicPeriod"/>
            </a:pPr>
            <a:r>
              <a:rPr lang="en-US" sz="2200" b="1" dirty="0">
                <a:solidFill>
                  <a:schemeClr val="tx1"/>
                </a:solidFill>
                <a:latin typeface="Times New Roman" panose="02020603050405020304" pitchFamily="18" charset="0"/>
                <a:cs typeface="Times New Roman" panose="02020603050405020304" pitchFamily="18" charset="0"/>
              </a:rPr>
              <a:t>Understanding variability</a:t>
            </a:r>
          </a:p>
          <a:p>
            <a:pPr marL="457200" indent="-457200">
              <a:buFont typeface="+mj-lt"/>
              <a:buAutoNum type="arabicPeriod"/>
            </a:pPr>
            <a:r>
              <a:rPr lang="en-US" sz="2200" b="1" dirty="0">
                <a:solidFill>
                  <a:schemeClr val="tx1"/>
                </a:solidFill>
                <a:latin typeface="Times New Roman" panose="02020603050405020304" pitchFamily="18" charset="0"/>
                <a:cs typeface="Times New Roman" panose="02020603050405020304" pitchFamily="18" charset="0"/>
              </a:rPr>
              <a:t>Building confidence</a:t>
            </a:r>
          </a:p>
          <a:p>
            <a:pPr marL="0" indent="0">
              <a:buNone/>
            </a:pPr>
            <a:endParaRPr lang="en-IN" sz="2200"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588FE28-00A3-DD0A-738C-C1C6B6E86761}"/>
              </a:ext>
            </a:extLst>
          </p:cNvPr>
          <p:cNvSpPr>
            <a:spLocks noGrp="1"/>
          </p:cNvSpPr>
          <p:nvPr>
            <p:ph type="dt" sz="half" idx="10"/>
          </p:nvPr>
        </p:nvSpPr>
        <p:spPr/>
        <p:txBody>
          <a:bodyPr/>
          <a:lstStyle/>
          <a:p>
            <a:fld id="{BDAFCF49-4DE3-4AAC-8722-AB0BE711BCF9}" type="datetime1">
              <a:rPr lang="en-IN" smtClean="0"/>
              <a:t>11-09-2025</a:t>
            </a:fld>
            <a:endParaRPr lang="en-IN"/>
          </a:p>
        </p:txBody>
      </p:sp>
      <p:sp>
        <p:nvSpPr>
          <p:cNvPr id="5" name="Slide Number Placeholder 4">
            <a:extLst>
              <a:ext uri="{FF2B5EF4-FFF2-40B4-BE49-F238E27FC236}">
                <a16:creationId xmlns:a16="http://schemas.microsoft.com/office/drawing/2014/main" id="{F21DFA34-CD38-DF3A-2DA6-9D063DB81798}"/>
              </a:ext>
            </a:extLst>
          </p:cNvPr>
          <p:cNvSpPr>
            <a:spLocks noGrp="1"/>
          </p:cNvSpPr>
          <p:nvPr>
            <p:ph type="sldNum" sz="quarter" idx="12"/>
          </p:nvPr>
        </p:nvSpPr>
        <p:spPr/>
        <p:txBody>
          <a:bodyPr/>
          <a:lstStyle/>
          <a:p>
            <a:fld id="{D75E712A-30F9-4F5C-A4F1-6DC8A3808094}" type="slidenum">
              <a:rPr lang="en-IN" smtClean="0"/>
              <a:t>44</a:t>
            </a:fld>
            <a:endParaRPr lang="en-IN"/>
          </a:p>
        </p:txBody>
      </p:sp>
    </p:spTree>
    <p:extLst>
      <p:ext uri="{BB962C8B-B14F-4D97-AF65-F5344CB8AC3E}">
        <p14:creationId xmlns:p14="http://schemas.microsoft.com/office/powerpoint/2010/main" val="25622510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3671B-B220-40F4-7724-C3B023B5C77F}"/>
              </a:ext>
            </a:extLst>
          </p:cNvPr>
          <p:cNvSpPr>
            <a:spLocks noGrp="1"/>
          </p:cNvSpPr>
          <p:nvPr>
            <p:ph type="title"/>
          </p:nvPr>
        </p:nvSpPr>
        <p:spPr/>
        <p:txBody>
          <a:bodyPr>
            <a:normAutofit fontScale="90000"/>
          </a:bodyPr>
          <a:lstStyle/>
          <a:p>
            <a:r>
              <a:rPr lang="en-US" b="1" dirty="0">
                <a:solidFill>
                  <a:schemeClr val="tx1"/>
                </a:solidFill>
                <a:latin typeface="Times New Roman" panose="02020603050405020304" pitchFamily="18" charset="0"/>
                <a:cs typeface="Times New Roman" panose="02020603050405020304" pitchFamily="18" charset="0"/>
              </a:rPr>
              <a:t>Advantages and Disadvantages of resampling</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7565713-D424-F968-5AEB-E5C66C228619}"/>
              </a:ext>
            </a:extLst>
          </p:cNvPr>
          <p:cNvSpPr>
            <a:spLocks noGrp="1"/>
          </p:cNvSpPr>
          <p:nvPr>
            <p:ph idx="1"/>
          </p:nvPr>
        </p:nvSpPr>
        <p:spPr/>
        <p:txBody>
          <a:bodyPr/>
          <a:lstStyle/>
          <a:p>
            <a:r>
              <a:rPr lang="en-US" sz="2200" b="1" dirty="0">
                <a:solidFill>
                  <a:schemeClr val="tx1"/>
                </a:solidFill>
                <a:latin typeface="Times New Roman" panose="02020603050405020304" pitchFamily="18" charset="0"/>
                <a:cs typeface="Times New Roman" panose="02020603050405020304" pitchFamily="18" charset="0"/>
              </a:rPr>
              <a:t>Advantages:</a:t>
            </a:r>
          </a:p>
          <a:p>
            <a:pPr marL="457200" indent="-457200">
              <a:buFont typeface="+mj-lt"/>
              <a:buAutoNum type="arabicPeriod"/>
            </a:pPr>
            <a:r>
              <a:rPr lang="en-US" sz="2200" dirty="0">
                <a:solidFill>
                  <a:schemeClr val="tx1"/>
                </a:solidFill>
                <a:latin typeface="Times New Roman" panose="02020603050405020304" pitchFamily="18" charset="0"/>
                <a:cs typeface="Times New Roman" panose="02020603050405020304" pitchFamily="18" charset="0"/>
              </a:rPr>
              <a:t>Easy to use</a:t>
            </a:r>
          </a:p>
          <a:p>
            <a:pPr marL="457200" indent="-457200">
              <a:buFont typeface="+mj-lt"/>
              <a:buAutoNum type="arabicPeriod"/>
            </a:pPr>
            <a:r>
              <a:rPr lang="en-US" sz="2200" dirty="0">
                <a:solidFill>
                  <a:schemeClr val="tx1"/>
                </a:solidFill>
                <a:latin typeface="Times New Roman" panose="02020603050405020304" pitchFamily="18" charset="0"/>
                <a:cs typeface="Times New Roman" panose="02020603050405020304" pitchFamily="18" charset="0"/>
              </a:rPr>
              <a:t>Requires little mathematical knowledge</a:t>
            </a:r>
          </a:p>
          <a:p>
            <a:pPr marL="457200" indent="-457200">
              <a:buFont typeface="+mj-lt"/>
              <a:buAutoNum type="arabicPeriod"/>
            </a:pPr>
            <a:r>
              <a:rPr lang="en-US" sz="2200" dirty="0">
                <a:solidFill>
                  <a:schemeClr val="tx1"/>
                </a:solidFill>
                <a:latin typeface="Times New Roman" panose="02020603050405020304" pitchFamily="18" charset="0"/>
                <a:cs typeface="Times New Roman" panose="02020603050405020304" pitchFamily="18" charset="0"/>
              </a:rPr>
              <a:t>Easy to understand and implement</a:t>
            </a:r>
          </a:p>
          <a:p>
            <a:pPr>
              <a:buFont typeface="Arial" panose="020B0604020202020204" pitchFamily="34" charset="0"/>
              <a:buChar char="•"/>
            </a:pPr>
            <a:r>
              <a:rPr lang="en-US" sz="2200" b="1" dirty="0">
                <a:solidFill>
                  <a:schemeClr val="tx1"/>
                </a:solidFill>
                <a:latin typeface="Times New Roman" panose="02020603050405020304" pitchFamily="18" charset="0"/>
                <a:cs typeface="Times New Roman" panose="02020603050405020304" pitchFamily="18" charset="0"/>
              </a:rPr>
              <a:t>Disadvantages:</a:t>
            </a:r>
          </a:p>
          <a:p>
            <a:pPr marL="457200" indent="-457200">
              <a:buFont typeface="+mj-lt"/>
              <a:buAutoNum type="arabicPeriod"/>
            </a:pPr>
            <a:r>
              <a:rPr lang="en-US" sz="2200" dirty="0">
                <a:solidFill>
                  <a:schemeClr val="tx1"/>
                </a:solidFill>
                <a:latin typeface="Times New Roman" panose="02020603050405020304" pitchFamily="18" charset="0"/>
                <a:cs typeface="Times New Roman" panose="02020603050405020304" pitchFamily="18" charset="0"/>
              </a:rPr>
              <a:t>Computationally expensive</a:t>
            </a:r>
          </a:p>
          <a:p>
            <a:pPr marL="0" indent="0">
              <a:buNone/>
            </a:pPr>
            <a:endParaRPr lang="en-IN" dirty="0"/>
          </a:p>
        </p:txBody>
      </p:sp>
      <p:sp>
        <p:nvSpPr>
          <p:cNvPr id="4" name="Date Placeholder 3">
            <a:extLst>
              <a:ext uri="{FF2B5EF4-FFF2-40B4-BE49-F238E27FC236}">
                <a16:creationId xmlns:a16="http://schemas.microsoft.com/office/drawing/2014/main" id="{B2925C93-145D-2312-F406-243EDDBA9F81}"/>
              </a:ext>
            </a:extLst>
          </p:cNvPr>
          <p:cNvSpPr>
            <a:spLocks noGrp="1"/>
          </p:cNvSpPr>
          <p:nvPr>
            <p:ph type="dt" sz="half" idx="10"/>
          </p:nvPr>
        </p:nvSpPr>
        <p:spPr/>
        <p:txBody>
          <a:bodyPr/>
          <a:lstStyle/>
          <a:p>
            <a:fld id="{BDAFCF49-4DE3-4AAC-8722-AB0BE711BCF9}" type="datetime1">
              <a:rPr lang="en-IN" smtClean="0"/>
              <a:t>11-09-2025</a:t>
            </a:fld>
            <a:endParaRPr lang="en-IN"/>
          </a:p>
        </p:txBody>
      </p:sp>
      <p:sp>
        <p:nvSpPr>
          <p:cNvPr id="5" name="Slide Number Placeholder 4">
            <a:extLst>
              <a:ext uri="{FF2B5EF4-FFF2-40B4-BE49-F238E27FC236}">
                <a16:creationId xmlns:a16="http://schemas.microsoft.com/office/drawing/2014/main" id="{2105E1DB-FFB6-9059-68D7-14CFEE5A748A}"/>
              </a:ext>
            </a:extLst>
          </p:cNvPr>
          <p:cNvSpPr>
            <a:spLocks noGrp="1"/>
          </p:cNvSpPr>
          <p:nvPr>
            <p:ph type="sldNum" sz="quarter" idx="12"/>
          </p:nvPr>
        </p:nvSpPr>
        <p:spPr/>
        <p:txBody>
          <a:bodyPr/>
          <a:lstStyle/>
          <a:p>
            <a:fld id="{D75E712A-30F9-4F5C-A4F1-6DC8A3808094}" type="slidenum">
              <a:rPr lang="en-IN" smtClean="0"/>
              <a:t>45</a:t>
            </a:fld>
            <a:endParaRPr lang="en-IN"/>
          </a:p>
        </p:txBody>
      </p:sp>
    </p:spTree>
    <p:extLst>
      <p:ext uri="{BB962C8B-B14F-4D97-AF65-F5344CB8AC3E}">
        <p14:creationId xmlns:p14="http://schemas.microsoft.com/office/powerpoint/2010/main" val="41628398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008A7-B6A1-21E6-5239-ABB27EE6E71E}"/>
              </a:ext>
            </a:extLst>
          </p:cNvPr>
          <p:cNvSpPr>
            <a:spLocks noGrp="1"/>
          </p:cNvSpPr>
          <p:nvPr>
            <p:ph type="title"/>
          </p:nvPr>
        </p:nvSpPr>
        <p:spPr/>
        <p:txBody>
          <a:bodyPr>
            <a:normAutofit/>
          </a:bodyPr>
          <a:lstStyle/>
          <a:p>
            <a:r>
              <a:rPr lang="en-US" sz="4000" b="1" dirty="0">
                <a:solidFill>
                  <a:schemeClr val="tx1"/>
                </a:solidFill>
                <a:latin typeface="Times New Roman" panose="02020603050405020304" pitchFamily="18" charset="0"/>
                <a:cs typeface="Times New Roman" panose="02020603050405020304" pitchFamily="18" charset="0"/>
              </a:rPr>
              <a:t>Different statistical re sampling methods</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3E43169-E0B7-7CA4-9DE9-4083E7ACF905}"/>
              </a:ext>
            </a:extLst>
          </p:cNvPr>
          <p:cNvSpPr>
            <a:spLocks noGrp="1"/>
          </p:cNvSpPr>
          <p:nvPr>
            <p:ph idx="1"/>
          </p:nvPr>
        </p:nvSpPr>
        <p:spPr>
          <a:xfrm>
            <a:off x="1295402" y="2556932"/>
            <a:ext cx="9601196" cy="3318936"/>
          </a:xfrm>
        </p:spPr>
        <p:txBody>
          <a:bodyPr/>
          <a:lstStyle/>
          <a:p>
            <a:pPr algn="just"/>
            <a:r>
              <a:rPr lang="en-US" b="1" dirty="0">
                <a:solidFill>
                  <a:schemeClr val="tx1"/>
                </a:solidFill>
                <a:latin typeface="Times New Roman" panose="02020603050405020304" pitchFamily="18" charset="0"/>
                <a:cs typeface="Times New Roman" panose="02020603050405020304" pitchFamily="18" charset="0"/>
              </a:rPr>
              <a:t>Bootstrap resampling:</a:t>
            </a:r>
          </a:p>
          <a:p>
            <a:pPr marL="0" indent="0" algn="just">
              <a:buNone/>
            </a:pPr>
            <a:r>
              <a:rPr lang="en-US" dirty="0">
                <a:solidFill>
                  <a:schemeClr val="tx1"/>
                </a:solidFill>
                <a:latin typeface="Times New Roman" panose="02020603050405020304" pitchFamily="18" charset="0"/>
                <a:cs typeface="Times New Roman" panose="02020603050405020304" pitchFamily="18" charset="0"/>
              </a:rPr>
              <a:t>Samples are drawn from the dataset with replacement (allowing the same sample to appear more than once in the sample), where those instances not drawn into the data sample may be used for the test set.</a:t>
            </a:r>
          </a:p>
          <a:p>
            <a:pPr algn="just"/>
            <a:r>
              <a:rPr lang="en-US" b="1" dirty="0">
                <a:solidFill>
                  <a:schemeClr val="tx1"/>
                </a:solidFill>
                <a:latin typeface="Times New Roman" panose="02020603050405020304" pitchFamily="18" charset="0"/>
                <a:cs typeface="Times New Roman" panose="02020603050405020304" pitchFamily="18" charset="0"/>
              </a:rPr>
              <a:t>k-fold Cross-Validation:</a:t>
            </a:r>
          </a:p>
          <a:p>
            <a:pPr marL="0" indent="0" algn="just">
              <a:buNone/>
            </a:pPr>
            <a:r>
              <a:rPr lang="en-US" dirty="0">
                <a:solidFill>
                  <a:schemeClr val="tx1"/>
                </a:solidFill>
                <a:latin typeface="Times New Roman" panose="02020603050405020304" pitchFamily="18" charset="0"/>
                <a:cs typeface="Times New Roman" panose="02020603050405020304" pitchFamily="18" charset="0"/>
              </a:rPr>
              <a:t>A dataset is partitioned into k groups, where each group is given the opportunity of being used as a held </a:t>
            </a:r>
            <a:endParaRPr lang="en-IN" dirty="0">
              <a:solidFill>
                <a:schemeClr val="tx1"/>
              </a:solidFill>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Date Placeholder 3">
            <a:extLst>
              <a:ext uri="{FF2B5EF4-FFF2-40B4-BE49-F238E27FC236}">
                <a16:creationId xmlns:a16="http://schemas.microsoft.com/office/drawing/2014/main" id="{074CAD7A-BA6B-D2BA-A81F-D280A1346ECF}"/>
              </a:ext>
            </a:extLst>
          </p:cNvPr>
          <p:cNvSpPr>
            <a:spLocks noGrp="1"/>
          </p:cNvSpPr>
          <p:nvPr>
            <p:ph type="dt" sz="half" idx="10"/>
          </p:nvPr>
        </p:nvSpPr>
        <p:spPr/>
        <p:txBody>
          <a:bodyPr/>
          <a:lstStyle/>
          <a:p>
            <a:fld id="{BDAFCF49-4DE3-4AAC-8722-AB0BE711BCF9}" type="datetime1">
              <a:rPr lang="en-IN" smtClean="0"/>
              <a:t>11-09-2025</a:t>
            </a:fld>
            <a:endParaRPr lang="en-IN"/>
          </a:p>
        </p:txBody>
      </p:sp>
      <p:sp>
        <p:nvSpPr>
          <p:cNvPr id="5" name="Slide Number Placeholder 4">
            <a:extLst>
              <a:ext uri="{FF2B5EF4-FFF2-40B4-BE49-F238E27FC236}">
                <a16:creationId xmlns:a16="http://schemas.microsoft.com/office/drawing/2014/main" id="{7F8A1D49-69AA-A93E-0C3A-75CE6C7A2D48}"/>
              </a:ext>
            </a:extLst>
          </p:cNvPr>
          <p:cNvSpPr>
            <a:spLocks noGrp="1"/>
          </p:cNvSpPr>
          <p:nvPr>
            <p:ph type="sldNum" sz="quarter" idx="12"/>
          </p:nvPr>
        </p:nvSpPr>
        <p:spPr/>
        <p:txBody>
          <a:bodyPr/>
          <a:lstStyle/>
          <a:p>
            <a:fld id="{D75E712A-30F9-4F5C-A4F1-6DC8A3808094}" type="slidenum">
              <a:rPr lang="en-IN" smtClean="0"/>
              <a:t>46</a:t>
            </a:fld>
            <a:endParaRPr lang="en-IN"/>
          </a:p>
        </p:txBody>
      </p:sp>
    </p:spTree>
    <p:extLst>
      <p:ext uri="{BB962C8B-B14F-4D97-AF65-F5344CB8AC3E}">
        <p14:creationId xmlns:p14="http://schemas.microsoft.com/office/powerpoint/2010/main" val="34240642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6B9E7-ED97-3BE5-2F5B-E3D3D6A72E4D}"/>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Difference between sampling and resampling technique</a:t>
            </a:r>
            <a:endParaRPr lang="en-IN" b="1" dirty="0">
              <a:latin typeface="Times New Roman" panose="02020603050405020304" pitchFamily="18" charset="0"/>
              <a:cs typeface="Times New Roman" panose="02020603050405020304" pitchFamily="18" charset="0"/>
            </a:endParaRPr>
          </a:p>
        </p:txBody>
      </p:sp>
      <p:graphicFrame>
        <p:nvGraphicFramePr>
          <p:cNvPr id="7" name="Content Placeholder 6">
            <a:extLst>
              <a:ext uri="{FF2B5EF4-FFF2-40B4-BE49-F238E27FC236}">
                <a16:creationId xmlns:a16="http://schemas.microsoft.com/office/drawing/2014/main" id="{D5134D6B-066D-D279-060C-3C5D003E22A9}"/>
              </a:ext>
            </a:extLst>
          </p:cNvPr>
          <p:cNvGraphicFramePr>
            <a:graphicFrameLocks noGrp="1"/>
          </p:cNvGraphicFramePr>
          <p:nvPr>
            <p:ph idx="1"/>
            <p:extLst>
              <p:ext uri="{D42A27DB-BD31-4B8C-83A1-F6EECF244321}">
                <p14:modId xmlns:p14="http://schemas.microsoft.com/office/powerpoint/2010/main" val="2002770215"/>
              </p:ext>
            </p:extLst>
          </p:nvPr>
        </p:nvGraphicFramePr>
        <p:xfrm>
          <a:off x="1295402" y="2279840"/>
          <a:ext cx="8982299" cy="4578160"/>
        </p:xfrm>
        <a:graphic>
          <a:graphicData uri="http://schemas.openxmlformats.org/drawingml/2006/table">
            <a:tbl>
              <a:tblPr firstRow="1" bandRow="1">
                <a:tableStyleId>{5C22544A-7EE6-4342-B048-85BDC9FD1C3A}</a:tableStyleId>
              </a:tblPr>
              <a:tblGrid>
                <a:gridCol w="4392271">
                  <a:extLst>
                    <a:ext uri="{9D8B030D-6E8A-4147-A177-3AD203B41FA5}">
                      <a16:colId xmlns:a16="http://schemas.microsoft.com/office/drawing/2014/main" val="3455447992"/>
                    </a:ext>
                  </a:extLst>
                </a:gridCol>
                <a:gridCol w="4590028">
                  <a:extLst>
                    <a:ext uri="{9D8B030D-6E8A-4147-A177-3AD203B41FA5}">
                      <a16:colId xmlns:a16="http://schemas.microsoft.com/office/drawing/2014/main" val="4242129861"/>
                    </a:ext>
                  </a:extLst>
                </a:gridCol>
              </a:tblGrid>
              <a:tr h="307119">
                <a:tc>
                  <a:txBody>
                    <a:bodyPr/>
                    <a:lstStyle/>
                    <a:p>
                      <a:r>
                        <a:rPr lang="en-US" sz="2000" dirty="0">
                          <a:latin typeface="Times New Roman" panose="02020603050405020304" pitchFamily="18" charset="0"/>
                          <a:cs typeface="Times New Roman" panose="02020603050405020304" pitchFamily="18" charset="0"/>
                        </a:rPr>
                        <a:t>Sampling methods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Re-sampling methods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15649019"/>
                  </a:ext>
                </a:extLst>
              </a:tr>
              <a:tr h="779609">
                <a:tc>
                  <a:txBody>
                    <a:bodyPr/>
                    <a:lstStyle/>
                    <a:p>
                      <a:r>
                        <a:rPr lang="en-IN" sz="2000" kern="1200" dirty="0">
                          <a:solidFill>
                            <a:schemeClr val="dk1"/>
                          </a:solidFill>
                          <a:effectLst/>
                          <a:latin typeface="Times New Roman" panose="02020603050405020304" pitchFamily="18" charset="0"/>
                          <a:ea typeface="+mn-ea"/>
                          <a:cs typeface="Times New Roman" panose="02020603050405020304" pitchFamily="18" charset="0"/>
                        </a:rPr>
                        <a:t>It is used to collect data from a larger population to make inferences about that population.</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kern="1200" dirty="0">
                          <a:solidFill>
                            <a:schemeClr val="dk1"/>
                          </a:solidFill>
                          <a:effectLst/>
                          <a:latin typeface="Times New Roman" panose="02020603050405020304" pitchFamily="18" charset="0"/>
                          <a:ea typeface="+mn-ea"/>
                          <a:cs typeface="Times New Roman" panose="02020603050405020304" pitchFamily="18" charset="0"/>
                        </a:rPr>
                        <a:t>Used to analyze the variability of statistics, estimate confidence intervals, or validate models using the already collected data.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52683005"/>
                  </a:ext>
                </a:extLst>
              </a:tr>
              <a:tr h="666261">
                <a:tc>
                  <a:txBody>
                    <a:bodyPr/>
                    <a:lstStyle/>
                    <a:p>
                      <a:pPr algn="just">
                        <a:lnSpc>
                          <a:spcPct val="150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Involves selecting data from the original population.</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r>
                        <a:rPr lang="en-IN" sz="2000" kern="1200" dirty="0">
                          <a:solidFill>
                            <a:schemeClr val="dk1"/>
                          </a:solidFill>
                          <a:effectLst/>
                          <a:latin typeface="Times New Roman" panose="02020603050405020304" pitchFamily="18" charset="0"/>
                          <a:ea typeface="+mn-ea"/>
                          <a:cs typeface="Times New Roman" panose="02020603050405020304" pitchFamily="18" charset="0"/>
                        </a:rPr>
                        <a:t>Involves selecting data from the existing sample or dataset.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28967094"/>
                  </a:ext>
                </a:extLst>
              </a:tr>
              <a:tr h="860575">
                <a:tc>
                  <a:txBody>
                    <a:bodyPr/>
                    <a:lstStyle/>
                    <a:p>
                      <a:r>
                        <a:rPr lang="en-IN" sz="2000" kern="1200" dirty="0">
                          <a:solidFill>
                            <a:schemeClr val="dk1"/>
                          </a:solidFill>
                          <a:effectLst/>
                          <a:latin typeface="Times New Roman" panose="02020603050405020304" pitchFamily="18" charset="0"/>
                          <a:ea typeface="+mn-ea"/>
                          <a:cs typeface="Times New Roman" panose="02020603050405020304" pitchFamily="18" charset="0"/>
                        </a:rPr>
                        <a:t>Methods focus on how to obtain the initial subset from the population (e.g., random sampling, stratified sampling).</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kern="1200" dirty="0">
                          <a:solidFill>
                            <a:schemeClr val="dk1"/>
                          </a:solidFill>
                          <a:effectLst/>
                          <a:latin typeface="Times New Roman" panose="02020603050405020304" pitchFamily="18" charset="0"/>
                          <a:ea typeface="+mn-ea"/>
                          <a:cs typeface="Times New Roman" panose="02020603050405020304" pitchFamily="18" charset="0"/>
                        </a:rPr>
                        <a:t>Methods focus on repeatedly drawing subsets from the existing data to perform statistical analyses (e.g., bootstrap, cross-validation).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46567399"/>
                  </a:ext>
                </a:extLst>
              </a:tr>
              <a:tr h="779609">
                <a:tc>
                  <a:txBody>
                    <a:bodyPr/>
                    <a:lstStyle/>
                    <a:p>
                      <a:r>
                        <a:rPr lang="en-IN" sz="2000" kern="1200" dirty="0">
                          <a:solidFill>
                            <a:schemeClr val="dk1"/>
                          </a:solidFill>
                          <a:effectLst/>
                          <a:latin typeface="Times New Roman" panose="02020603050405020304" pitchFamily="18" charset="0"/>
                          <a:ea typeface="+mn-ea"/>
                          <a:cs typeface="Times New Roman" panose="02020603050405020304" pitchFamily="18" charset="0"/>
                        </a:rPr>
                        <a:t>Depending on the method, samples may be drawn with or without replacement from the population.</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kern="1200" dirty="0">
                          <a:solidFill>
                            <a:schemeClr val="dk1"/>
                          </a:solidFill>
                          <a:effectLst/>
                          <a:latin typeface="Times New Roman" panose="02020603050405020304" pitchFamily="18" charset="0"/>
                          <a:ea typeface="+mn-ea"/>
                          <a:cs typeface="Times New Roman" panose="02020603050405020304" pitchFamily="18" charset="0"/>
                        </a:rPr>
                        <a:t>Techniques like bootstrap specifically involve sampling with replacement from the existing dataset.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49352055"/>
                  </a:ext>
                </a:extLst>
              </a:tr>
            </a:tbl>
          </a:graphicData>
        </a:graphic>
      </p:graphicFrame>
      <p:sp>
        <p:nvSpPr>
          <p:cNvPr id="4" name="Date Placeholder 3">
            <a:extLst>
              <a:ext uri="{FF2B5EF4-FFF2-40B4-BE49-F238E27FC236}">
                <a16:creationId xmlns:a16="http://schemas.microsoft.com/office/drawing/2014/main" id="{B4C05F57-3D4E-8161-57CF-B088804DC47F}"/>
              </a:ext>
            </a:extLst>
          </p:cNvPr>
          <p:cNvSpPr>
            <a:spLocks noGrp="1"/>
          </p:cNvSpPr>
          <p:nvPr>
            <p:ph type="dt" sz="half" idx="10"/>
          </p:nvPr>
        </p:nvSpPr>
        <p:spPr/>
        <p:txBody>
          <a:bodyPr/>
          <a:lstStyle/>
          <a:p>
            <a:fld id="{BDAFCF49-4DE3-4AAC-8722-AB0BE711BCF9}" type="datetime1">
              <a:rPr lang="en-IN" smtClean="0"/>
              <a:t>11-09-2025</a:t>
            </a:fld>
            <a:endParaRPr lang="en-IN"/>
          </a:p>
        </p:txBody>
      </p:sp>
      <p:sp>
        <p:nvSpPr>
          <p:cNvPr id="5" name="Slide Number Placeholder 4">
            <a:extLst>
              <a:ext uri="{FF2B5EF4-FFF2-40B4-BE49-F238E27FC236}">
                <a16:creationId xmlns:a16="http://schemas.microsoft.com/office/drawing/2014/main" id="{C4DCD55B-A420-5131-4BA6-79ECE0A0F0D3}"/>
              </a:ext>
            </a:extLst>
          </p:cNvPr>
          <p:cNvSpPr>
            <a:spLocks noGrp="1"/>
          </p:cNvSpPr>
          <p:nvPr>
            <p:ph type="sldNum" sz="quarter" idx="12"/>
          </p:nvPr>
        </p:nvSpPr>
        <p:spPr/>
        <p:txBody>
          <a:bodyPr/>
          <a:lstStyle/>
          <a:p>
            <a:fld id="{D75E712A-30F9-4F5C-A4F1-6DC8A3808094}" type="slidenum">
              <a:rPr lang="en-IN" smtClean="0"/>
              <a:t>47</a:t>
            </a:fld>
            <a:endParaRPr lang="en-IN"/>
          </a:p>
        </p:txBody>
      </p:sp>
    </p:spTree>
    <p:extLst>
      <p:ext uri="{BB962C8B-B14F-4D97-AF65-F5344CB8AC3E}">
        <p14:creationId xmlns:p14="http://schemas.microsoft.com/office/powerpoint/2010/main" val="82694854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795</TotalTime>
  <Words>3332</Words>
  <Application>Microsoft Office PowerPoint</Application>
  <PresentationFormat>Widescreen</PresentationFormat>
  <Paragraphs>346</Paragraphs>
  <Slides>47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Arial</vt:lpstr>
      <vt:lpstr>Calibri</vt:lpstr>
      <vt:lpstr>Cambria Math</vt:lpstr>
      <vt:lpstr>Garamond</vt:lpstr>
      <vt:lpstr>Times New Roman</vt:lpstr>
      <vt:lpstr>Wingdings</vt:lpstr>
      <vt:lpstr>Organic</vt:lpstr>
      <vt:lpstr>Supervised and Unsupervised learning Statistics and Sampling</vt:lpstr>
      <vt:lpstr>Supervised Learning</vt:lpstr>
      <vt:lpstr>Supervised Learning</vt:lpstr>
      <vt:lpstr>Unsupervised Learning</vt:lpstr>
      <vt:lpstr>Unsupervised Learning</vt:lpstr>
      <vt:lpstr>Unsupervised Learning</vt:lpstr>
      <vt:lpstr>Distinguish between Supervised and Unsupervised learning Methods in data analytics</vt:lpstr>
      <vt:lpstr>What are statistics </vt:lpstr>
      <vt:lpstr>Basic Terms</vt:lpstr>
      <vt:lpstr>Two areas of statistics</vt:lpstr>
      <vt:lpstr>Inferential statistics</vt:lpstr>
      <vt:lpstr>Variable </vt:lpstr>
      <vt:lpstr>PowerPoint Presentation</vt:lpstr>
      <vt:lpstr>Quantitative variables </vt:lpstr>
      <vt:lpstr>Qualitative variables </vt:lpstr>
      <vt:lpstr>Exercise</vt:lpstr>
      <vt:lpstr>Data Collection</vt:lpstr>
      <vt:lpstr>Biased sampling</vt:lpstr>
      <vt:lpstr>Biased sampling</vt:lpstr>
      <vt:lpstr>Unbiased sampling</vt:lpstr>
      <vt:lpstr>Sampling </vt:lpstr>
      <vt:lpstr>Key principle</vt:lpstr>
      <vt:lpstr>How should we choose samples</vt:lpstr>
      <vt:lpstr>Probability sampling</vt:lpstr>
      <vt:lpstr>Simple random sampling</vt:lpstr>
      <vt:lpstr>Sampling without replacement</vt:lpstr>
      <vt:lpstr>Example of simple random sampling</vt:lpstr>
      <vt:lpstr>Systematic sampling</vt:lpstr>
      <vt:lpstr>How systematic sampling works</vt:lpstr>
      <vt:lpstr>How systematic sampling works</vt:lpstr>
      <vt:lpstr>Example</vt:lpstr>
      <vt:lpstr>Stratified sampling</vt:lpstr>
      <vt:lpstr>Stratified sampling</vt:lpstr>
      <vt:lpstr>Proportional sampling</vt:lpstr>
      <vt:lpstr>Example</vt:lpstr>
      <vt:lpstr>Cluster sampling</vt:lpstr>
      <vt:lpstr>Cluster sampling</vt:lpstr>
      <vt:lpstr>Cluster sampling</vt:lpstr>
      <vt:lpstr>Probability &amp; statistics</vt:lpstr>
      <vt:lpstr>How probability supports statistics</vt:lpstr>
      <vt:lpstr>Comparison of probability and statistics</vt:lpstr>
      <vt:lpstr>Sampling errors</vt:lpstr>
      <vt:lpstr>Statistical re sampling</vt:lpstr>
      <vt:lpstr>How resampling helps</vt:lpstr>
      <vt:lpstr>Advantages and Disadvantages of resampling</vt:lpstr>
      <vt:lpstr>Different statistical re sampling methods</vt:lpstr>
      <vt:lpstr>Difference between sampling and resampling technique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Shrikrishna Narvekar</dc:creator>
  <cp:lastModifiedBy>Shrikrishna Narvekar</cp:lastModifiedBy>
  <cp:revision>19</cp:revision>
  <dcterms:created xsi:type="dcterms:W3CDTF">2024-08-28T06:00:52Z</dcterms:created>
  <dcterms:modified xsi:type="dcterms:W3CDTF">2025-09-11T07:45:15Z</dcterms:modified>
</cp:coreProperties>
</file>