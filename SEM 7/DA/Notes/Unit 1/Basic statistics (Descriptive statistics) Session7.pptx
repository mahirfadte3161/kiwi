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9"/>
  </p:notesMasterIdLst>
  <p:sldIdLst>
    <p:sldId id="256" r:id="rId2"/>
    <p:sldId id="257" r:id="rId3"/>
    <p:sldId id="259" r:id="rId4"/>
    <p:sldId id="283"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307" r:id="rId21"/>
    <p:sldId id="276" r:id="rId22"/>
    <p:sldId id="277" r:id="rId23"/>
    <p:sldId id="278" r:id="rId24"/>
    <p:sldId id="303" r:id="rId25"/>
    <p:sldId id="304" r:id="rId26"/>
    <p:sldId id="260" r:id="rId27"/>
    <p:sldId id="306" r:id="rId28"/>
    <p:sldId id="280" r:id="rId29"/>
    <p:sldId id="308" r:id="rId30"/>
    <p:sldId id="281" r:id="rId31"/>
    <p:sldId id="282" r:id="rId32"/>
    <p:sldId id="258"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2" r:id="rId51"/>
    <p:sldId id="310" r:id="rId52"/>
    <p:sldId id="311" r:id="rId53"/>
    <p:sldId id="309" r:id="rId54"/>
    <p:sldId id="312" r:id="rId55"/>
    <p:sldId id="313" r:id="rId56"/>
    <p:sldId id="314" r:id="rId57"/>
    <p:sldId id="305"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339858E-2677-40B6-BB83-31365759A2DE}">
          <p14:sldIdLst>
            <p14:sldId id="256"/>
            <p14:sldId id="257"/>
            <p14:sldId id="259"/>
            <p14:sldId id="283"/>
            <p14:sldId id="261"/>
            <p14:sldId id="262"/>
            <p14:sldId id="263"/>
            <p14:sldId id="264"/>
            <p14:sldId id="265"/>
            <p14:sldId id="266"/>
            <p14:sldId id="267"/>
            <p14:sldId id="268"/>
            <p14:sldId id="269"/>
            <p14:sldId id="270"/>
            <p14:sldId id="271"/>
            <p14:sldId id="272"/>
            <p14:sldId id="273"/>
            <p14:sldId id="274"/>
            <p14:sldId id="275"/>
            <p14:sldId id="307"/>
            <p14:sldId id="276"/>
            <p14:sldId id="277"/>
            <p14:sldId id="278"/>
            <p14:sldId id="303"/>
            <p14:sldId id="304"/>
            <p14:sldId id="260"/>
            <p14:sldId id="306"/>
            <p14:sldId id="280"/>
            <p14:sldId id="308"/>
            <p14:sldId id="281"/>
            <p14:sldId id="282"/>
            <p14:sldId id="258"/>
            <p14:sldId id="284"/>
            <p14:sldId id="285"/>
            <p14:sldId id="286"/>
            <p14:sldId id="287"/>
            <p14:sldId id="288"/>
            <p14:sldId id="289"/>
            <p14:sldId id="290"/>
            <p14:sldId id="291"/>
            <p14:sldId id="292"/>
            <p14:sldId id="293"/>
            <p14:sldId id="294"/>
            <p14:sldId id="295"/>
            <p14:sldId id="296"/>
            <p14:sldId id="297"/>
            <p14:sldId id="298"/>
            <p14:sldId id="299"/>
            <p14:sldId id="300"/>
            <p14:sldId id="302"/>
            <p14:sldId id="310"/>
            <p14:sldId id="311"/>
            <p14:sldId id="309"/>
            <p14:sldId id="312"/>
            <p14:sldId id="313"/>
            <p14:sldId id="314"/>
            <p14:sldId id="30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512" autoAdjust="0"/>
  </p:normalViewPr>
  <p:slideViewPr>
    <p:cSldViewPr snapToGrid="0">
      <p:cViewPr varScale="1">
        <p:scale>
          <a:sx n="74" d="100"/>
          <a:sy n="74" d="100"/>
        </p:scale>
        <p:origin x="104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Distribution</a:t>
            </a:r>
            <a:r>
              <a:rPr lang="en-US" baseline="0"/>
              <a:t> of selling prices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Sheet1!$M$4</c:f>
              <c:strCache>
                <c:ptCount val="1"/>
                <c:pt idx="0">
                  <c:v>Frequency</c:v>
                </c:pt>
              </c:strCache>
            </c:strRef>
          </c:tx>
          <c:spPr>
            <a:solidFill>
              <a:schemeClr val="accent1"/>
            </a:solidFill>
            <a:ln>
              <a:noFill/>
            </a:ln>
            <a:effectLst/>
          </c:spPr>
          <c:invertIfNegative val="0"/>
          <c:cat>
            <c:strRef>
              <c:f>Sheet1!$L$5:$L$12</c:f>
              <c:strCache>
                <c:ptCount val="8"/>
                <c:pt idx="0">
                  <c:v>($ thousands)</c:v>
                </c:pt>
                <c:pt idx="1">
                  <c:v>15k up to 18k</c:v>
                </c:pt>
                <c:pt idx="2">
                  <c:v>18k up to 21k</c:v>
                </c:pt>
                <c:pt idx="3">
                  <c:v>21k up to 24k</c:v>
                </c:pt>
                <c:pt idx="4">
                  <c:v>24k up to 27k</c:v>
                </c:pt>
                <c:pt idx="5">
                  <c:v>27k up to 30k</c:v>
                </c:pt>
                <c:pt idx="6">
                  <c:v>30k up to 33k</c:v>
                </c:pt>
                <c:pt idx="7">
                  <c:v>33k up to 36k</c:v>
                </c:pt>
              </c:strCache>
            </c:strRef>
          </c:cat>
          <c:val>
            <c:numRef>
              <c:f>Sheet1!$M$5:$M$12</c:f>
              <c:numCache>
                <c:formatCode>General</c:formatCode>
                <c:ptCount val="8"/>
                <c:pt idx="1">
                  <c:v>8</c:v>
                </c:pt>
                <c:pt idx="2">
                  <c:v>23</c:v>
                </c:pt>
                <c:pt idx="3">
                  <c:v>17</c:v>
                </c:pt>
                <c:pt idx="4">
                  <c:v>18</c:v>
                </c:pt>
                <c:pt idx="5">
                  <c:v>8</c:v>
                </c:pt>
                <c:pt idx="6">
                  <c:v>4</c:v>
                </c:pt>
                <c:pt idx="7">
                  <c:v>2</c:v>
                </c:pt>
              </c:numCache>
            </c:numRef>
          </c:val>
          <c:extLst>
            <c:ext xmlns:c16="http://schemas.microsoft.com/office/drawing/2014/chart" uri="{C3380CC4-5D6E-409C-BE32-E72D297353CC}">
              <c16:uniqueId val="{00000000-E34D-43A1-B091-0FCDB9AF0E7B}"/>
            </c:ext>
          </c:extLst>
        </c:ser>
        <c:dLbls>
          <c:showLegendKey val="0"/>
          <c:showVal val="0"/>
          <c:showCatName val="0"/>
          <c:showSerName val="0"/>
          <c:showPercent val="0"/>
          <c:showBubbleSize val="0"/>
        </c:dLbls>
        <c:gapWidth val="219"/>
        <c:overlap val="-27"/>
        <c:axId val="593824223"/>
        <c:axId val="593825183"/>
      </c:barChart>
      <c:catAx>
        <c:axId val="59382422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Selling prices($ Thousands)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3825183"/>
        <c:crosses val="autoZero"/>
        <c:auto val="1"/>
        <c:lblAlgn val="ctr"/>
        <c:lblOffset val="100"/>
        <c:noMultiLvlLbl val="0"/>
      </c:catAx>
      <c:valAx>
        <c:axId val="5938251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 Frequency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38242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B9B2D8-5D11-4991-B002-17335DE8B21B}" type="datetimeFigureOut">
              <a:rPr lang="en-IN" smtClean="0"/>
              <a:t>16-09-2025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160891-C122-4257-96AF-D0ABD6E8CC3C}" type="slidenum">
              <a:rPr lang="en-IN" smtClean="0"/>
              <a:t>‹#›</a:t>
            </a:fld>
            <a:endParaRPr lang="en-IN"/>
          </a:p>
        </p:txBody>
      </p:sp>
    </p:spTree>
    <p:extLst>
      <p:ext uri="{BB962C8B-B14F-4D97-AF65-F5344CB8AC3E}">
        <p14:creationId xmlns:p14="http://schemas.microsoft.com/office/powerpoint/2010/main" val="2573297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Q.1 </a:t>
                </a:r>
                <a:r>
                  <a:rPr lang="en-IN" b="1" dirty="0"/>
                  <a:t>Mean (Average)</a:t>
                </a:r>
                <a:r>
                  <a:rPr lang="en-IN" dirty="0"/>
                  <a:t> = 9.5 watches</a:t>
                </a:r>
              </a:p>
              <a:p>
                <a:r>
                  <a:rPr lang="en-IN" dirty="0"/>
                  <a:t>Q.2 </a:t>
                </a:r>
                <a:r>
                  <a:rPr lang="en-US" dirty="0"/>
                  <a:t>Number of months with sales </a:t>
                </a:r>
                <a:r>
                  <a:rPr lang="en-US" b="1" dirty="0"/>
                  <a:t>below average (9.5)</a:t>
                </a:r>
                <a:r>
                  <a:rPr lang="en-US" dirty="0"/>
                  <a:t> = 3 months (Jan, Mar, Apr)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Q.3 Number of months with sales </a:t>
                </a:r>
                <a:r>
                  <a:rPr lang="en-US" b="1" dirty="0"/>
                  <a:t>≥ 10</a:t>
                </a:r>
                <a:r>
                  <a:rPr lang="en-US" dirty="0"/>
                  <a:t> = 3 months (Feb, May, Jun)</a:t>
                </a:r>
              </a:p>
              <a:p>
                <a:r>
                  <a:rPr lang="en-IN" dirty="0"/>
                  <a:t>Q.4 </a:t>
                </a:r>
                <a:r>
                  <a:rPr lang="en-US" b="1" dirty="0"/>
                  <a:t>Highest Sales</a:t>
                </a:r>
                <a:r>
                  <a:rPr lang="en-US" dirty="0"/>
                  <a:t> = May (12 watches)</a:t>
                </a:r>
              </a:p>
              <a:p>
                <a:r>
                  <a:rPr lang="en-US" b="1" dirty="0"/>
                  <a:t>Lowest Sales</a:t>
                </a:r>
                <a:r>
                  <a:rPr lang="en-US" dirty="0"/>
                  <a:t> = April (7 watches)</a:t>
                </a:r>
              </a:p>
              <a:p>
                <a:r>
                  <a:rPr lang="en-US" b="1" dirty="0"/>
                  <a:t>Difference (May – April)</a:t>
                </a:r>
                <a:r>
                  <a:rPr lang="en-US" dirty="0"/>
                  <a:t> = 5 watches</a:t>
                </a:r>
              </a:p>
              <a:p>
                <a:r>
                  <a:rPr lang="en-US" dirty="0"/>
                  <a:t>Q.5 </a:t>
                </a:r>
                <a:r>
                  <a:rPr lang="en-IN" dirty="0"/>
                  <a:t>Sure — step-by-step:</a:t>
                </a:r>
              </a:p>
              <a:p>
                <a:r>
                  <a:rPr lang="en-IN" b="1" dirty="0"/>
                  <a:t>Identify values:</a:t>
                </a:r>
                <a:br>
                  <a:rPr lang="en-IN" dirty="0"/>
                </a:br>
                <a:r>
                  <a:rPr lang="en-IN" dirty="0"/>
                  <a:t>January (initial) = 8 watches, May (final) = 12 watches.</a:t>
                </a:r>
              </a:p>
              <a:p>
                <a:r>
                  <a:rPr lang="en-IN" b="1" dirty="0"/>
                  <a:t>Find the change (increase):</a:t>
                </a:r>
                <a:br>
                  <a:rPr lang="en-IN" dirty="0"/>
                </a:br>
                <a14:m>
                  <m:oMath xmlns:m="http://schemas.openxmlformats.org/officeDocument/2006/math">
                    <m:r>
                      <m:rPr>
                        <m:nor/>
                      </m:rPr>
                      <a:rPr lang="en-IN" b="0"/>
                      <m:t>Change</m:t>
                    </m:r>
                    <m:r>
                      <a:rPr lang="en-IN" sz="1200" b="0" i="0" kern="1200">
                        <a:solidFill>
                          <a:schemeClr val="tx1"/>
                        </a:solidFill>
                        <a:latin typeface="Cambria Math" panose="02040503050406030204" pitchFamily="18" charset="0"/>
                        <a:ea typeface="+mn-ea"/>
                        <a:cs typeface="+mn-cs"/>
                      </a:rPr>
                      <m:t>=</m:t>
                    </m:r>
                    <m:r>
                      <m:rPr>
                        <m:nor/>
                      </m:rPr>
                      <a:rPr lang="en-IN" sz="1200" b="0" i="1" kern="1200">
                        <a:solidFill>
                          <a:schemeClr val="tx1"/>
                        </a:solidFill>
                        <a:latin typeface="+mn-lt"/>
                        <a:ea typeface="+mn-ea"/>
                        <a:cs typeface="+mn-cs"/>
                      </a:rPr>
                      <m:t>Final</m:t>
                    </m:r>
                    <m:r>
                      <a:rPr lang="en-IN" sz="1200" b="0" i="0" kern="1200">
                        <a:solidFill>
                          <a:schemeClr val="tx1"/>
                        </a:solidFill>
                        <a:latin typeface="Cambria Math" panose="02040503050406030204" pitchFamily="18" charset="0"/>
                        <a:ea typeface="+mn-ea"/>
                        <a:cs typeface="+mn-cs"/>
                      </a:rPr>
                      <m:t>−</m:t>
                    </m:r>
                    <m:r>
                      <m:rPr>
                        <m:nor/>
                      </m:rPr>
                      <a:rPr lang="en-IN" sz="1200" b="0" i="1" kern="1200">
                        <a:solidFill>
                          <a:schemeClr val="tx1"/>
                        </a:solidFill>
                        <a:latin typeface="+mn-lt"/>
                        <a:ea typeface="+mn-ea"/>
                        <a:cs typeface="+mn-cs"/>
                      </a:rPr>
                      <m:t>Initial</m:t>
                    </m:r>
                    <m:r>
                      <a:rPr lang="en-IN" sz="1200" b="0" i="0" kern="1200">
                        <a:solidFill>
                          <a:schemeClr val="tx1"/>
                        </a:solidFill>
                        <a:latin typeface="Cambria Math" panose="02040503050406030204" pitchFamily="18" charset="0"/>
                        <a:ea typeface="+mn-ea"/>
                        <a:cs typeface="+mn-cs"/>
                      </a:rPr>
                      <m:t>=12−8=4</m:t>
                    </m:r>
                  </m:oMath>
                </a14:m>
                <a:r>
                  <a:rPr lang="en-IN" dirty="0"/>
                  <a:t>watches.</a:t>
                </a:r>
              </a:p>
              <a:p>
                <a:r>
                  <a:rPr lang="en-IN" b="1" dirty="0"/>
                  <a:t>Apply percentage increase formula:</a:t>
                </a:r>
                <a:endParaRPr lang="en-IN" dirty="0"/>
              </a:p>
              <a:p>
                <a:pPr/>
                <a14:m>
                  <m:oMathPara xmlns:m="http://schemas.openxmlformats.org/officeDocument/2006/math">
                    <m:oMathParaPr>
                      <m:jc m:val="centerGroup"/>
                    </m:oMathParaPr>
                    <m:oMath xmlns:m="http://schemas.openxmlformats.org/officeDocument/2006/math">
                      <m:r>
                        <m:rPr>
                          <m:nor/>
                        </m:rPr>
                        <a:rPr lang="en-IN" b="0"/>
                        <m:t>Percentage</m:t>
                      </m:r>
                      <m:r>
                        <m:rPr>
                          <m:nor/>
                        </m:rPr>
                        <a:rPr lang="en-IN" b="0" i="1"/>
                        <m:t> </m:t>
                      </m:r>
                      <m:r>
                        <m:rPr>
                          <m:nor/>
                        </m:rPr>
                        <a:rPr lang="en-IN" b="0" i="1"/>
                        <m:t>increase</m:t>
                      </m:r>
                      <m:r>
                        <a:rPr lang="en-IN" sz="1200" b="0" i="0" kern="1200">
                          <a:solidFill>
                            <a:schemeClr val="tx1"/>
                          </a:solidFill>
                          <a:latin typeface="Cambria Math" panose="02040503050406030204" pitchFamily="18" charset="0"/>
                          <a:ea typeface="+mn-ea"/>
                          <a:cs typeface="+mn-cs"/>
                        </a:rPr>
                        <m:t>=</m:t>
                      </m:r>
                      <m:f>
                        <m:fPr>
                          <m:ctrlPr>
                            <a:rPr lang="ar-AE" sz="1200" b="0" i="1" kern="1200">
                              <a:solidFill>
                                <a:schemeClr val="tx1"/>
                              </a:solidFill>
                              <a:latin typeface="Cambria Math" panose="02040503050406030204" pitchFamily="18" charset="0"/>
                              <a:ea typeface="+mn-ea"/>
                              <a:cs typeface="+mn-cs"/>
                            </a:rPr>
                          </m:ctrlPr>
                        </m:fPr>
                        <m:num>
                          <m:r>
                            <m:rPr>
                              <m:nor/>
                            </m:rPr>
                            <a:rPr lang="en-IN" sz="1200" b="0" i="1" kern="1200">
                              <a:solidFill>
                                <a:schemeClr val="tx1"/>
                              </a:solidFill>
                              <a:latin typeface="+mn-lt"/>
                              <a:ea typeface="+mn-ea"/>
                              <a:cs typeface="+mn-cs"/>
                            </a:rPr>
                            <m:t>Change</m:t>
                          </m:r>
                        </m:num>
                        <m:den>
                          <m:r>
                            <m:rPr>
                              <m:nor/>
                            </m:rPr>
                            <a:rPr lang="en-IN" sz="1200" b="0" i="1" kern="1200">
                              <a:solidFill>
                                <a:schemeClr val="tx1"/>
                              </a:solidFill>
                              <a:latin typeface="+mn-lt"/>
                              <a:ea typeface="+mn-ea"/>
                              <a:cs typeface="+mn-cs"/>
                            </a:rPr>
                            <m:t>Initial</m:t>
                          </m:r>
                        </m:den>
                      </m:f>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100</m:t>
                      </m:r>
                      <m:r>
                        <a:rPr lang="ar-AE" sz="1200" b="0" i="0" kern="1200">
                          <a:solidFill>
                            <a:schemeClr val="tx1"/>
                          </a:solidFill>
                          <a:latin typeface="Cambria Math" panose="02040503050406030204" pitchFamily="18" charset="0"/>
                          <a:ea typeface="+mn-ea"/>
                          <a:cs typeface="+mn-cs"/>
                        </a:rPr>
                        <m:t>=</m:t>
                      </m:r>
                      <m:f>
                        <m:fPr>
                          <m:ctrlPr>
                            <a:rPr lang="ar-AE" sz="1200" b="0" i="1" kern="1200">
                              <a:solidFill>
                                <a:schemeClr val="tx1"/>
                              </a:solidFill>
                              <a:latin typeface="Cambria Math" panose="02040503050406030204" pitchFamily="18" charset="0"/>
                              <a:ea typeface="+mn-ea"/>
                              <a:cs typeface="+mn-cs"/>
                            </a:rPr>
                          </m:ctrlPr>
                        </m:fPr>
                        <m:num>
                          <m:r>
                            <a:rPr lang="ar-AE" sz="1200" b="0" i="0" kern="1200">
                              <a:solidFill>
                                <a:schemeClr val="tx1"/>
                              </a:solidFill>
                              <a:latin typeface="Cambria Math" panose="02040503050406030204" pitchFamily="18" charset="0"/>
                              <a:ea typeface="+mn-ea"/>
                              <a:cs typeface="+mn-cs"/>
                            </a:rPr>
                            <m:t>4</m:t>
                          </m:r>
                        </m:num>
                        <m:den>
                          <m:r>
                            <a:rPr lang="ar-AE" sz="1200" b="0" i="0" kern="1200">
                              <a:solidFill>
                                <a:schemeClr val="tx1"/>
                              </a:solidFill>
                              <a:latin typeface="Cambria Math" panose="02040503050406030204" pitchFamily="18" charset="0"/>
                              <a:ea typeface="+mn-ea"/>
                              <a:cs typeface="+mn-cs"/>
                            </a:rPr>
                            <m:t>8</m:t>
                          </m:r>
                        </m:den>
                      </m:f>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100</m:t>
                      </m:r>
                      <m:r>
                        <a:rPr lang="ar-AE" sz="1200" b="0" i="0" kern="1200">
                          <a:solidFill>
                            <a:schemeClr val="tx1"/>
                          </a:solidFill>
                          <a:latin typeface="Cambria Math" panose="02040503050406030204" pitchFamily="18" charset="0"/>
                          <a:ea typeface="+mn-ea"/>
                          <a:cs typeface="+mn-cs"/>
                        </a:rPr>
                        <m:t>.</m:t>
                      </m:r>
                    </m:oMath>
                  </m:oMathPara>
                </a14:m>
                <a:endParaRPr lang="ar-AE" b="0" dirty="0"/>
              </a:p>
              <a:p>
                <a:r>
                  <a:rPr lang="en-IN" b="1" dirty="0"/>
                  <a:t>Simplify the fraction:</a:t>
                </a:r>
                <a:br>
                  <a:rPr lang="en-IN" dirty="0"/>
                </a:br>
                <a14:m>
                  <m:oMath xmlns:m="http://schemas.openxmlformats.org/officeDocument/2006/math">
                    <m:f>
                      <m:fPr>
                        <m:ctrlPr>
                          <a:rPr lang="ar-AE" sz="1200" i="1" kern="1200">
                            <a:solidFill>
                              <a:schemeClr val="tx1"/>
                            </a:solidFill>
                            <a:latin typeface="Cambria Math" panose="02040503050406030204" pitchFamily="18" charset="0"/>
                            <a:ea typeface="+mn-ea"/>
                            <a:cs typeface="+mn-cs"/>
                          </a:rPr>
                        </m:ctrlPr>
                      </m:fPr>
                      <m:num>
                        <m:r>
                          <a:rPr lang="ar-AE" sz="1200" kern="1200">
                            <a:solidFill>
                              <a:schemeClr val="tx1"/>
                            </a:solidFill>
                            <a:latin typeface="Cambria Math" panose="02040503050406030204" pitchFamily="18" charset="0"/>
                            <a:ea typeface="+mn-ea"/>
                            <a:cs typeface="+mn-cs"/>
                          </a:rPr>
                          <m:t>4</m:t>
                        </m:r>
                      </m:num>
                      <m:den>
                        <m:r>
                          <a:rPr lang="ar-AE" sz="1200" i="0" kern="1200">
                            <a:solidFill>
                              <a:schemeClr val="tx1"/>
                            </a:solidFill>
                            <a:latin typeface="Cambria Math" panose="02040503050406030204" pitchFamily="18" charset="0"/>
                            <a:ea typeface="+mn-ea"/>
                            <a:cs typeface="+mn-cs"/>
                          </a:rPr>
                          <m:t>8</m:t>
                        </m:r>
                      </m:den>
                    </m:f>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1</m:t>
                        </m:r>
                      </m:num>
                      <m:den>
                        <m:r>
                          <a:rPr lang="ar-AE" sz="1200" i="0" kern="1200">
                            <a:solidFill>
                              <a:schemeClr val="tx1"/>
                            </a:solidFill>
                            <a:latin typeface="Cambria Math" panose="02040503050406030204" pitchFamily="18" charset="0"/>
                            <a:ea typeface="+mn-ea"/>
                            <a:cs typeface="+mn-cs"/>
                          </a:rPr>
                          <m:t>2</m:t>
                        </m:r>
                      </m:den>
                    </m:f>
                  </m:oMath>
                </a14:m>
                <a:r>
                  <a:rPr lang="ar-AE" dirty="0"/>
                  <a:t>(</a:t>
                </a:r>
                <a:r>
                  <a:rPr lang="en-IN" dirty="0"/>
                  <a:t>dividing numerator and denominator by 4).</a:t>
                </a:r>
              </a:p>
              <a:p>
                <a:r>
                  <a:rPr lang="en-IN" b="1" dirty="0"/>
                  <a:t>Convert to decimal and percent:</a:t>
                </a:r>
                <a:br>
                  <a:rPr lang="en-IN" dirty="0"/>
                </a:br>
                <a14:m>
                  <m:oMath xmlns:m="http://schemas.openxmlformats.org/officeDocument/2006/math">
                    <m:f>
                      <m:fPr>
                        <m:ctrlPr>
                          <a:rPr lang="ar-AE" sz="1200" i="1" kern="1200">
                            <a:solidFill>
                              <a:schemeClr val="tx1"/>
                            </a:solidFill>
                            <a:latin typeface="Cambria Math" panose="02040503050406030204" pitchFamily="18" charset="0"/>
                            <a:ea typeface="+mn-ea"/>
                            <a:cs typeface="+mn-cs"/>
                          </a:rPr>
                        </m:ctrlPr>
                      </m:fPr>
                      <m:num>
                        <m:r>
                          <a:rPr lang="ar-AE" sz="1200" kern="1200">
                            <a:solidFill>
                              <a:schemeClr val="tx1"/>
                            </a:solidFill>
                            <a:latin typeface="Cambria Math" panose="02040503050406030204" pitchFamily="18" charset="0"/>
                            <a:ea typeface="+mn-ea"/>
                            <a:cs typeface="+mn-cs"/>
                          </a:rPr>
                          <m:t>1</m:t>
                        </m:r>
                      </m:num>
                      <m:den>
                        <m:r>
                          <a:rPr lang="ar-AE" sz="1200" i="0" kern="1200">
                            <a:solidFill>
                              <a:schemeClr val="tx1"/>
                            </a:solidFill>
                            <a:latin typeface="Cambria Math" panose="02040503050406030204" pitchFamily="18" charset="0"/>
                            <a:ea typeface="+mn-ea"/>
                            <a:cs typeface="+mn-cs"/>
                          </a:rPr>
                          <m:t>2</m:t>
                        </m:r>
                      </m:den>
                    </m:f>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5</m:t>
                    </m:r>
                  </m:oMath>
                </a14:m>
                <a:r>
                  <a:rPr lang="ar-AE" dirty="0"/>
                  <a:t>.</a:t>
                </a:r>
                <a:br>
                  <a:rPr lang="ar-AE" dirty="0"/>
                </a:br>
                <a14:m>
                  <m:oMath xmlns:m="http://schemas.openxmlformats.org/officeDocument/2006/math">
                    <m:r>
                      <a:rPr lang="ar-AE" sz="1200" kern="1200">
                        <a:solidFill>
                          <a:schemeClr val="tx1"/>
                        </a:solidFill>
                        <a:latin typeface="Cambria Math" panose="02040503050406030204" pitchFamily="18" charset="0"/>
                        <a:ea typeface="+mn-ea"/>
                        <a:cs typeface="+mn-cs"/>
                      </a:rPr>
                      <m:t>0</m:t>
                    </m:r>
                    <m:r>
                      <a:rPr lang="ar-AE" sz="1200" kern="1200">
                        <a:solidFill>
                          <a:schemeClr val="tx1"/>
                        </a:solidFill>
                        <a:latin typeface="Cambria Math" panose="02040503050406030204" pitchFamily="18" charset="0"/>
                        <a:ea typeface="+mn-ea"/>
                        <a:cs typeface="+mn-cs"/>
                      </a:rPr>
                      <m:t>.</m:t>
                    </m:r>
                    <m:r>
                      <a:rPr lang="ar-AE" sz="1200" kern="1200">
                        <a:solidFill>
                          <a:schemeClr val="tx1"/>
                        </a:solidFill>
                        <a:latin typeface="Cambria Math" panose="02040503050406030204" pitchFamily="18" charset="0"/>
                        <a:ea typeface="+mn-ea"/>
                        <a:cs typeface="+mn-cs"/>
                      </a:rPr>
                      <m:t>5</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100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50</m:t>
                    </m:r>
                  </m:oMath>
                </a14:m>
                <a:r>
                  <a:rPr lang="ar-AE" dirty="0"/>
                  <a:t>.</a:t>
                </a:r>
              </a:p>
              <a:p>
                <a:r>
                  <a:rPr lang="en-IN" b="1" dirty="0"/>
                  <a:t>Answer:</a:t>
                </a:r>
                <a:r>
                  <a:rPr lang="en-IN" dirty="0"/>
                  <a:t> The sales increased by </a:t>
                </a:r>
                <a:r>
                  <a:rPr lang="en-IN" b="1" dirty="0"/>
                  <a:t>50%</a:t>
                </a:r>
                <a:r>
                  <a:rPr lang="en-IN" dirty="0"/>
                  <a:t> from January to May (an increase of 4 watches, from 8 to 12).</a:t>
                </a:r>
              </a:p>
              <a:p>
                <a:endParaRPr lang="en-US" dirty="0"/>
              </a:p>
              <a:p>
                <a:endParaRPr lang="en-IN" dirty="0"/>
              </a:p>
            </p:txBody>
          </p:sp>
        </mc:Choice>
        <mc:Fallback xmlns="">
          <p:sp>
            <p:nvSpPr>
              <p:cNvPr id="3" name="Notes Placeholder 2"/>
              <p:cNvSpPr>
                <a:spLocks noGrp="1"/>
              </p:cNvSpPr>
              <p:nvPr>
                <p:ph type="body" idx="1"/>
              </p:nvPr>
            </p:nvSpPr>
            <p:spPr/>
            <p:txBody>
              <a:bodyPr/>
              <a:lstStyle/>
              <a:p>
                <a:r>
                  <a:rPr lang="en-US" dirty="0"/>
                  <a:t>Q.1 </a:t>
                </a:r>
                <a:r>
                  <a:rPr lang="en-IN" b="1" dirty="0"/>
                  <a:t>Mean (Average)</a:t>
                </a:r>
                <a:r>
                  <a:rPr lang="en-IN" dirty="0"/>
                  <a:t> = 9.5 watches</a:t>
                </a:r>
              </a:p>
              <a:p>
                <a:r>
                  <a:rPr lang="en-IN" dirty="0"/>
                  <a:t>Q.2 </a:t>
                </a:r>
                <a:r>
                  <a:rPr lang="en-US" dirty="0"/>
                  <a:t>Number of months with sales </a:t>
                </a:r>
                <a:r>
                  <a:rPr lang="en-US" b="1" dirty="0"/>
                  <a:t>below average (9.5)</a:t>
                </a:r>
                <a:r>
                  <a:rPr lang="en-US" dirty="0"/>
                  <a:t> = 3 months (Jan, Mar, Apr)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Q.3 Number of months with sales </a:t>
                </a:r>
                <a:r>
                  <a:rPr lang="en-US" b="1" dirty="0"/>
                  <a:t>≥ 10</a:t>
                </a:r>
                <a:r>
                  <a:rPr lang="en-US" dirty="0"/>
                  <a:t> = 3 months (Feb, May, Jun)</a:t>
                </a:r>
              </a:p>
              <a:p>
                <a:r>
                  <a:rPr lang="en-IN" dirty="0"/>
                  <a:t>Q.4 </a:t>
                </a:r>
                <a:r>
                  <a:rPr lang="en-US" b="1" dirty="0"/>
                  <a:t>Highest Sales</a:t>
                </a:r>
                <a:r>
                  <a:rPr lang="en-US" dirty="0"/>
                  <a:t> = May (12 watches)</a:t>
                </a:r>
              </a:p>
              <a:p>
                <a:r>
                  <a:rPr lang="en-US" b="1" dirty="0"/>
                  <a:t>Lowest Sales</a:t>
                </a:r>
                <a:r>
                  <a:rPr lang="en-US" dirty="0"/>
                  <a:t> = April (7 watches)</a:t>
                </a:r>
              </a:p>
              <a:p>
                <a:r>
                  <a:rPr lang="en-US" b="1" dirty="0"/>
                  <a:t>Difference (May – April)</a:t>
                </a:r>
                <a:r>
                  <a:rPr lang="en-US" dirty="0"/>
                  <a:t> = 5 watches</a:t>
                </a:r>
              </a:p>
              <a:p>
                <a:r>
                  <a:rPr lang="en-US" dirty="0"/>
                  <a:t>Q.5 </a:t>
                </a:r>
                <a:r>
                  <a:rPr lang="en-IN" dirty="0"/>
                  <a:t>Sure — step-by-step:</a:t>
                </a:r>
              </a:p>
              <a:p>
                <a:r>
                  <a:rPr lang="en-IN" b="1" dirty="0"/>
                  <a:t>Identify values:</a:t>
                </a:r>
                <a:br>
                  <a:rPr lang="en-IN" dirty="0"/>
                </a:br>
                <a:r>
                  <a:rPr lang="en-IN" dirty="0"/>
                  <a:t>January (initial) = 8 watches, May (final) = 12 watches.</a:t>
                </a:r>
              </a:p>
              <a:p>
                <a:r>
                  <a:rPr lang="en-IN" b="1" dirty="0"/>
                  <a:t>Find the change (increase):</a:t>
                </a:r>
                <a:br>
                  <a:rPr lang="en-IN" dirty="0"/>
                </a:br>
                <a:r>
                  <a:rPr lang="en-IN" b="0" i="0">
                    <a:latin typeface="Cambria Math" panose="02040503050406030204" pitchFamily="18" charset="0"/>
                  </a:rPr>
                  <a:t>"Change</a:t>
                </a:r>
                <a:r>
                  <a:rPr lang="en-IN" sz="1200" b="0" i="0" kern="1200">
                    <a:solidFill>
                      <a:schemeClr val="tx1"/>
                    </a:solidFill>
                    <a:latin typeface="+mn-lt"/>
                    <a:ea typeface="+mn-ea"/>
                    <a:cs typeface="+mn-cs"/>
                  </a:rPr>
                  <a:t>"=</a:t>
                </a:r>
                <a:r>
                  <a:rPr lang="en-IN" sz="1200" b="0" i="0" kern="1200">
                    <a:solidFill>
                      <a:schemeClr val="tx1"/>
                    </a:solidFill>
                    <a:latin typeface="Cambria Math" panose="02040503050406030204" pitchFamily="18" charset="0"/>
                    <a:ea typeface="+mn-ea"/>
                    <a:cs typeface="+mn-cs"/>
                  </a:rPr>
                  <a:t>"Final</a:t>
                </a:r>
                <a:r>
                  <a:rPr lang="en-IN" sz="1200" b="0" i="0" kern="1200">
                    <a:solidFill>
                      <a:schemeClr val="tx1"/>
                    </a:solidFill>
                    <a:latin typeface="+mn-lt"/>
                    <a:ea typeface="+mn-ea"/>
                    <a:cs typeface="+mn-cs"/>
                  </a:rPr>
                  <a:t>"−</a:t>
                </a:r>
                <a:r>
                  <a:rPr lang="en-IN" sz="1200" b="0" i="0" kern="1200">
                    <a:solidFill>
                      <a:schemeClr val="tx1"/>
                    </a:solidFill>
                    <a:latin typeface="Cambria Math" panose="02040503050406030204" pitchFamily="18" charset="0"/>
                    <a:ea typeface="+mn-ea"/>
                    <a:cs typeface="+mn-cs"/>
                  </a:rPr>
                  <a:t>"Initial</a:t>
                </a:r>
                <a:r>
                  <a:rPr lang="en-IN" sz="1200" b="0" i="0" kern="1200">
                    <a:solidFill>
                      <a:schemeClr val="tx1"/>
                    </a:solidFill>
                    <a:latin typeface="+mn-lt"/>
                    <a:ea typeface="+mn-ea"/>
                    <a:cs typeface="+mn-cs"/>
                  </a:rPr>
                  <a:t>"=12−8=4</a:t>
                </a:r>
                <a:r>
                  <a:rPr lang="en-IN" dirty="0"/>
                  <a:t>watches.</a:t>
                </a:r>
              </a:p>
              <a:p>
                <a:r>
                  <a:rPr lang="en-IN" b="1" dirty="0"/>
                  <a:t>Apply percentage increase formula:</a:t>
                </a:r>
                <a:endParaRPr lang="en-IN" dirty="0"/>
              </a:p>
              <a:p>
                <a:r>
                  <a:rPr lang="en-IN" b="0" i="0">
                    <a:latin typeface="Cambria Math" panose="02040503050406030204" pitchFamily="18" charset="0"/>
                  </a:rPr>
                  <a:t>"Percentage increase</a:t>
                </a:r>
                <a:r>
                  <a:rPr lang="en-IN" sz="1200" b="0" i="0" kern="1200">
                    <a:solidFill>
                      <a:schemeClr val="tx1"/>
                    </a:solidFill>
                    <a:latin typeface="+mn-lt"/>
                    <a:ea typeface="+mn-ea"/>
                    <a:cs typeface="+mn-cs"/>
                  </a:rPr>
                  <a:t>"="Change</a:t>
                </a:r>
                <a:r>
                  <a:rPr lang="ar-AE" sz="1200" b="0" i="0" kern="1200">
                    <a:solidFill>
                      <a:schemeClr val="tx1"/>
                    </a:solidFill>
                    <a:latin typeface="+mn-lt"/>
                    <a:ea typeface="+mn-ea"/>
                    <a:cs typeface="+mn-cs"/>
                  </a:rPr>
                  <a:t>" /</a:t>
                </a:r>
                <a:r>
                  <a:rPr lang="en-IN" sz="1200" b="0" i="0" kern="1200">
                    <a:solidFill>
                      <a:schemeClr val="tx1"/>
                    </a:solidFill>
                    <a:latin typeface="+mn-lt"/>
                    <a:ea typeface="+mn-ea"/>
                    <a:cs typeface="+mn-cs"/>
                  </a:rPr>
                  <a:t>"Initial</a:t>
                </a:r>
                <a:r>
                  <a:rPr lang="ar-AE" sz="1200" b="0" i="0" kern="1200">
                    <a:solidFill>
                      <a:schemeClr val="tx1"/>
                    </a:solidFill>
                    <a:latin typeface="+mn-lt"/>
                    <a:ea typeface="+mn-ea"/>
                    <a:cs typeface="+mn-cs"/>
                  </a:rPr>
                  <a:t>" ×100=4/8×100.</a:t>
                </a:r>
                <a:endParaRPr lang="ar-AE" b="0" dirty="0"/>
              </a:p>
              <a:p>
                <a:r>
                  <a:rPr lang="en-IN" b="1" dirty="0"/>
                  <a:t>Simplify the fraction:</a:t>
                </a:r>
                <a:br>
                  <a:rPr lang="en-IN" dirty="0"/>
                </a:br>
                <a:r>
                  <a:rPr lang="ar-AE" sz="1200" i="0" kern="1200">
                    <a:solidFill>
                      <a:schemeClr val="tx1"/>
                    </a:solidFill>
                    <a:latin typeface="+mn-lt"/>
                    <a:ea typeface="+mn-ea"/>
                    <a:cs typeface="+mn-cs"/>
                  </a:rPr>
                  <a:t>4/8=1/2</a:t>
                </a:r>
                <a:r>
                  <a:rPr lang="ar-AE" dirty="0"/>
                  <a:t>(</a:t>
                </a:r>
                <a:r>
                  <a:rPr lang="en-IN" dirty="0"/>
                  <a:t>dividing numerator and denominator by 4).</a:t>
                </a:r>
              </a:p>
              <a:p>
                <a:r>
                  <a:rPr lang="en-IN" b="1" dirty="0"/>
                  <a:t>Convert to decimal and percent:</a:t>
                </a:r>
                <a:br>
                  <a:rPr lang="en-IN" dirty="0"/>
                </a:br>
                <a:r>
                  <a:rPr lang="ar-AE" sz="1200" i="0" kern="1200">
                    <a:solidFill>
                      <a:schemeClr val="tx1"/>
                    </a:solidFill>
                    <a:latin typeface="+mn-lt"/>
                    <a:ea typeface="+mn-ea"/>
                    <a:cs typeface="+mn-cs"/>
                  </a:rPr>
                  <a:t>1/2=0.5</a:t>
                </a:r>
                <a:r>
                  <a:rPr lang="ar-AE" dirty="0"/>
                  <a:t>.</a:t>
                </a:r>
                <a:br>
                  <a:rPr lang="ar-AE" dirty="0"/>
                </a:br>
                <a:r>
                  <a:rPr lang="ar-AE" sz="1200" i="0" kern="1200">
                    <a:solidFill>
                      <a:schemeClr val="tx1"/>
                    </a:solidFill>
                    <a:latin typeface="+mn-lt"/>
                    <a:ea typeface="+mn-ea"/>
                    <a:cs typeface="+mn-cs"/>
                  </a:rPr>
                  <a:t>0.5×100=50</a:t>
                </a:r>
                <a:r>
                  <a:rPr lang="ar-AE" dirty="0"/>
                  <a:t>.</a:t>
                </a:r>
              </a:p>
              <a:p>
                <a:r>
                  <a:rPr lang="en-IN" b="1" dirty="0"/>
                  <a:t>Answer:</a:t>
                </a:r>
                <a:r>
                  <a:rPr lang="en-IN" dirty="0"/>
                  <a:t> The sales increased by </a:t>
                </a:r>
                <a:r>
                  <a:rPr lang="en-IN" b="1" dirty="0"/>
                  <a:t>50%</a:t>
                </a:r>
                <a:r>
                  <a:rPr lang="en-IN" dirty="0"/>
                  <a:t> from January to May (an increase of 4 watches, from 8 to 12).</a:t>
                </a:r>
              </a:p>
              <a:p>
                <a:endParaRPr lang="en-US" dirty="0"/>
              </a:p>
              <a:p>
                <a:endParaRPr lang="en-IN" dirty="0"/>
              </a:p>
            </p:txBody>
          </p:sp>
        </mc:Fallback>
      </mc:AlternateContent>
      <p:sp>
        <p:nvSpPr>
          <p:cNvPr id="4" name="Slide Number Placeholder 3"/>
          <p:cNvSpPr>
            <a:spLocks noGrp="1"/>
          </p:cNvSpPr>
          <p:nvPr>
            <p:ph type="sldNum" sz="quarter" idx="5"/>
          </p:nvPr>
        </p:nvSpPr>
        <p:spPr/>
        <p:txBody>
          <a:bodyPr/>
          <a:lstStyle/>
          <a:p>
            <a:fld id="{B3160891-C122-4257-96AF-D0ABD6E8CC3C}" type="slidenum">
              <a:rPr lang="en-IN" smtClean="0"/>
              <a:t>12</a:t>
            </a:fld>
            <a:endParaRPr lang="en-IN"/>
          </a:p>
        </p:txBody>
      </p:sp>
    </p:spTree>
    <p:extLst>
      <p:ext uri="{BB962C8B-B14F-4D97-AF65-F5344CB8AC3E}">
        <p14:creationId xmlns:p14="http://schemas.microsoft.com/office/powerpoint/2010/main" val="3520028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Analyze the differences between Curve A and Curve B given in the figure below in terms of central tendency and variability, and explain their potential implications in a business context.</a:t>
            </a: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B3160891-C122-4257-96AF-D0ABD6E8CC3C}" type="slidenum">
              <a:rPr lang="en-IN" smtClean="0"/>
              <a:t>15</a:t>
            </a:fld>
            <a:endParaRPr lang="en-IN"/>
          </a:p>
        </p:txBody>
      </p:sp>
    </p:spTree>
    <p:extLst>
      <p:ext uri="{BB962C8B-B14F-4D97-AF65-F5344CB8AC3E}">
        <p14:creationId xmlns:p14="http://schemas.microsoft.com/office/powerpoint/2010/main" val="3233688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b="1" dirty="0"/>
                  <a:t>1. Mean Length</a:t>
                </a:r>
              </a:p>
              <a:p>
                <a:r>
                  <a:rPr lang="en-IN" dirty="0"/>
                  <a:t>Formula:</a:t>
                </a:r>
              </a:p>
              <a:p>
                <a:pPr/>
                <a14:m>
                  <m:oMathPara xmlns:m="http://schemas.openxmlformats.org/officeDocument/2006/math">
                    <m:oMathParaPr>
                      <m:jc m:val="centerGroup"/>
                    </m:oMathParaPr>
                    <m:oMath xmlns:m="http://schemas.openxmlformats.org/officeDocument/2006/math">
                      <m:r>
                        <m:rPr>
                          <m:nor/>
                        </m:rPr>
                        <a:rPr lang="en-IN" b="0"/>
                        <m:t>Mean</m:t>
                      </m:r>
                      <m:r>
                        <a:rPr lang="en-IN" sz="1200" b="0" i="0" kern="1200">
                          <a:solidFill>
                            <a:schemeClr val="tx1"/>
                          </a:solidFill>
                          <a:latin typeface="Cambria Math" panose="02040503050406030204" pitchFamily="18" charset="0"/>
                          <a:ea typeface="+mn-ea"/>
                          <a:cs typeface="+mn-cs"/>
                        </a:rPr>
                        <m:t>=</m:t>
                      </m:r>
                      <m:f>
                        <m:fPr>
                          <m:ctrlPr>
                            <a:rPr lang="ar-AE" sz="1200" b="0" i="1" kern="1200">
                              <a:solidFill>
                                <a:schemeClr val="tx1"/>
                              </a:solidFill>
                              <a:latin typeface="Cambria Math" panose="02040503050406030204" pitchFamily="18" charset="0"/>
                              <a:ea typeface="+mn-ea"/>
                              <a:cs typeface="+mn-cs"/>
                            </a:rPr>
                          </m:ctrlPr>
                        </m:fPr>
                        <m:num>
                          <m:nary>
                            <m:naryPr>
                              <m:chr m:val="∑"/>
                              <m:grow m:val="on"/>
                              <m:subHide m:val="on"/>
                              <m:supHide m:val="on"/>
                              <m:ctrlPr>
                                <a:rPr lang="ar-AE" sz="1200" b="0" i="1" kern="1200">
                                  <a:solidFill>
                                    <a:schemeClr val="tx1"/>
                                  </a:solidFill>
                                  <a:latin typeface="Cambria Math" panose="02040503050406030204" pitchFamily="18" charset="0"/>
                                  <a:ea typeface="+mn-ea"/>
                                  <a:cs typeface="+mn-cs"/>
                                </a:rPr>
                              </m:ctrlPr>
                            </m:naryPr>
                            <m:sub/>
                            <m:sup/>
                            <m:e>
                              <m:sSub>
                                <m:sSubPr>
                                  <m:ctrlPr>
                                    <a:rPr lang="ar-AE" sz="1200" b="0" i="1" kern="1200">
                                      <a:solidFill>
                                        <a:schemeClr val="tx1"/>
                                      </a:solidFill>
                                      <a:latin typeface="Cambria Math" panose="02040503050406030204" pitchFamily="18" charset="0"/>
                                      <a:ea typeface="+mn-ea"/>
                                      <a:cs typeface="+mn-cs"/>
                                    </a:rPr>
                                  </m:ctrlPr>
                                </m:sSubPr>
                                <m:e>
                                  <m:r>
                                    <a:rPr lang="ar-AE" sz="1200" b="0" i="1" kern="1200">
                                      <a:solidFill>
                                        <a:schemeClr val="tx1"/>
                                      </a:solidFill>
                                      <a:latin typeface="Cambria Math" panose="02040503050406030204" pitchFamily="18" charset="0"/>
                                      <a:ea typeface="+mn-ea"/>
                                      <a:cs typeface="+mn-cs"/>
                                    </a:rPr>
                                    <m:t>𝑥</m:t>
                                  </m:r>
                                </m:e>
                                <m:sub>
                                  <m:r>
                                    <a:rPr lang="ar-AE" sz="1200" b="0" i="1" kern="1200">
                                      <a:solidFill>
                                        <a:schemeClr val="tx1"/>
                                      </a:solidFill>
                                      <a:latin typeface="Cambria Math" panose="02040503050406030204" pitchFamily="18" charset="0"/>
                                      <a:ea typeface="+mn-ea"/>
                                      <a:cs typeface="+mn-cs"/>
                                    </a:rPr>
                                    <m:t>𝑖</m:t>
                                  </m:r>
                                </m:sub>
                              </m:sSub>
                            </m:e>
                          </m:nary>
                        </m:num>
                        <m:den>
                          <m:r>
                            <a:rPr lang="ar-AE" sz="1200" b="0" i="1" kern="1200">
                              <a:solidFill>
                                <a:schemeClr val="tx1"/>
                              </a:solidFill>
                              <a:latin typeface="Cambria Math" panose="02040503050406030204" pitchFamily="18" charset="0"/>
                              <a:ea typeface="+mn-ea"/>
                              <a:cs typeface="+mn-cs"/>
                            </a:rPr>
                            <m:t>𝑛</m:t>
                          </m:r>
                        </m:den>
                      </m:f>
                    </m:oMath>
                  </m:oMathPara>
                </a14:m>
                <a:endParaRPr lang="ar-AE" b="0" dirty="0"/>
              </a:p>
              <a:p>
                <a:r>
                  <a:rPr lang="en-IN" dirty="0"/>
                  <a:t>Where:</a:t>
                </a:r>
              </a:p>
              <a:p>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𝑥</m:t>
                        </m:r>
                      </m:e>
                      <m:sub>
                        <m:r>
                          <a:rPr lang="ar-AE" sz="1200" i="1" kern="1200">
                            <a:solidFill>
                              <a:schemeClr val="tx1"/>
                            </a:solidFill>
                            <a:latin typeface="Cambria Math" panose="02040503050406030204" pitchFamily="18" charset="0"/>
                            <a:ea typeface="+mn-ea"/>
                            <a:cs typeface="+mn-cs"/>
                          </a:rPr>
                          <m:t>𝑖</m:t>
                        </m:r>
                      </m:sub>
                    </m:sSub>
                  </m:oMath>
                </a14:m>
                <a:r>
                  <a:rPr lang="ar-AE" dirty="0"/>
                  <a:t>= </a:t>
                </a:r>
                <a:r>
                  <a:rPr lang="en-IN" dirty="0"/>
                  <a:t>each rod length</a:t>
                </a:r>
              </a:p>
              <a:p>
                <a14:m>
                  <m:oMath xmlns:m="http://schemas.openxmlformats.org/officeDocument/2006/math">
                    <m:r>
                      <a:rPr lang="en-IN" sz="1200" i="1" kern="1200">
                        <a:solidFill>
                          <a:schemeClr val="tx1"/>
                        </a:solidFill>
                        <a:latin typeface="Cambria Math" panose="02040503050406030204" pitchFamily="18" charset="0"/>
                        <a:ea typeface="+mn-ea"/>
                        <a:cs typeface="+mn-cs"/>
                      </a:rPr>
                      <m:t>𝑛</m:t>
                    </m:r>
                    <m:r>
                      <a:rPr lang="en-IN" sz="1200" i="0" kern="1200">
                        <a:solidFill>
                          <a:schemeClr val="tx1"/>
                        </a:solidFill>
                        <a:latin typeface="Cambria Math" panose="02040503050406030204" pitchFamily="18" charset="0"/>
                        <a:ea typeface="+mn-ea"/>
                        <a:cs typeface="+mn-cs"/>
                      </a:rPr>
                      <m:t>=</m:t>
                    </m:r>
                    <m:r>
                      <a:rPr lang="en-IN" sz="1200" i="0" kern="1200">
                        <a:solidFill>
                          <a:schemeClr val="tx1"/>
                        </a:solidFill>
                        <a:latin typeface="Cambria Math" panose="02040503050406030204" pitchFamily="18" charset="0"/>
                        <a:ea typeface="+mn-ea"/>
                        <a:cs typeface="+mn-cs"/>
                      </a:rPr>
                      <m:t>10</m:t>
                    </m:r>
                  </m:oMath>
                </a14:m>
                <a:r>
                  <a:rPr lang="en-IN" dirty="0"/>
                  <a:t>(number of rods)</a:t>
                </a:r>
              </a:p>
              <a:p>
                <a:pPr/>
                <a14:m>
                  <m:oMathPara xmlns:m="http://schemas.openxmlformats.org/officeDocument/2006/math">
                    <m:oMathParaPr>
                      <m:jc m:val="centerGroup"/>
                    </m:oMathParaPr>
                    <m:oMath xmlns:m="http://schemas.openxmlformats.org/officeDocument/2006/math">
                      <m:r>
                        <m:rPr>
                          <m:nor/>
                        </m:rPr>
                        <a:rPr lang="en-IN" b="0"/>
                        <m:t>Mean</m:t>
                      </m:r>
                      <m:r>
                        <a:rPr lang="en-IN" sz="1200" b="0" i="0" kern="1200">
                          <a:solidFill>
                            <a:schemeClr val="tx1"/>
                          </a:solidFill>
                          <a:latin typeface="Cambria Math" panose="02040503050406030204" pitchFamily="18" charset="0"/>
                          <a:ea typeface="+mn-ea"/>
                          <a:cs typeface="+mn-cs"/>
                        </a:rPr>
                        <m:t>=</m:t>
                      </m:r>
                      <m:f>
                        <m:fPr>
                          <m:ctrlPr>
                            <a:rPr lang="ar-AE" sz="1200" b="0" i="1" kern="1200">
                              <a:solidFill>
                                <a:schemeClr val="tx1"/>
                              </a:solidFill>
                              <a:latin typeface="Cambria Math" panose="02040503050406030204" pitchFamily="18" charset="0"/>
                              <a:ea typeface="+mn-ea"/>
                              <a:cs typeface="+mn-cs"/>
                            </a:rPr>
                          </m:ctrlPr>
                        </m:fPr>
                        <m:num>
                          <m:r>
                            <a:rPr lang="ar-AE" sz="1200" b="0" i="0" kern="1200">
                              <a:solidFill>
                                <a:schemeClr val="tx1"/>
                              </a:solidFill>
                              <a:latin typeface="Cambria Math" panose="02040503050406030204" pitchFamily="18" charset="0"/>
                              <a:ea typeface="+mn-ea"/>
                              <a:cs typeface="+mn-cs"/>
                            </a:rPr>
                            <m:t>99</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8</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100</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2</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99</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7</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100</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1</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100</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0</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100</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3</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99</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9</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100</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4</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99</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6</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100</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0</m:t>
                          </m:r>
                        </m:num>
                        <m:den>
                          <m:r>
                            <a:rPr lang="ar-AE" sz="1200" b="0" i="0" kern="1200">
                              <a:solidFill>
                                <a:schemeClr val="tx1"/>
                              </a:solidFill>
                              <a:latin typeface="Cambria Math" panose="02040503050406030204" pitchFamily="18" charset="0"/>
                              <a:ea typeface="+mn-ea"/>
                              <a:cs typeface="+mn-cs"/>
                            </a:rPr>
                            <m:t>10</m:t>
                          </m:r>
                        </m:den>
                      </m:f>
                    </m:oMath>
                  </m:oMathPara>
                </a14:m>
                <a:endParaRPr lang="ar-AE" b="0" dirty="0"/>
              </a:p>
              <a:p>
                <a:pPr/>
                <a14:m>
                  <m:oMathPara xmlns:m="http://schemas.openxmlformats.org/officeDocument/2006/math">
                    <m:oMathParaPr>
                      <m:jc m:val="centerGroup"/>
                    </m:oMathParaPr>
                    <m:oMath xmlns:m="http://schemas.openxmlformats.org/officeDocument/2006/math">
                      <m:r>
                        <m:rPr>
                          <m:nor/>
                        </m:rPr>
                        <a:rPr lang="en-IN" b="0"/>
                        <m:t>Mean</m:t>
                      </m:r>
                      <m:r>
                        <a:rPr lang="en-IN" sz="1200" b="0" i="0" kern="1200">
                          <a:solidFill>
                            <a:schemeClr val="tx1"/>
                          </a:solidFill>
                          <a:latin typeface="Cambria Math" panose="02040503050406030204" pitchFamily="18" charset="0"/>
                          <a:ea typeface="+mn-ea"/>
                          <a:cs typeface="+mn-cs"/>
                        </a:rPr>
                        <m:t>=</m:t>
                      </m:r>
                      <m:f>
                        <m:fPr>
                          <m:ctrlPr>
                            <a:rPr lang="ar-AE" sz="1200" b="0" i="1" kern="1200">
                              <a:solidFill>
                                <a:schemeClr val="tx1"/>
                              </a:solidFill>
                              <a:latin typeface="Cambria Math" panose="02040503050406030204" pitchFamily="18" charset="0"/>
                              <a:ea typeface="+mn-ea"/>
                              <a:cs typeface="+mn-cs"/>
                            </a:rPr>
                          </m:ctrlPr>
                        </m:fPr>
                        <m:num>
                          <m:r>
                            <a:rPr lang="ar-AE" sz="1200" b="0" i="0" kern="1200">
                              <a:solidFill>
                                <a:schemeClr val="tx1"/>
                              </a:solidFill>
                              <a:latin typeface="Cambria Math" panose="02040503050406030204" pitchFamily="18" charset="0"/>
                              <a:ea typeface="+mn-ea"/>
                              <a:cs typeface="+mn-cs"/>
                            </a:rPr>
                            <m:t>1000</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0</m:t>
                          </m:r>
                        </m:num>
                        <m:den>
                          <m:r>
                            <a:rPr lang="ar-AE" sz="1200" b="0" i="0" kern="1200">
                              <a:solidFill>
                                <a:schemeClr val="tx1"/>
                              </a:solidFill>
                              <a:latin typeface="Cambria Math" panose="02040503050406030204" pitchFamily="18" charset="0"/>
                              <a:ea typeface="+mn-ea"/>
                              <a:cs typeface="+mn-cs"/>
                            </a:rPr>
                            <m:t>10</m:t>
                          </m:r>
                        </m:den>
                      </m:f>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100</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0</m:t>
                      </m:r>
                      <m:r>
                        <m:rPr>
                          <m:nor/>
                        </m:rPr>
                        <a:rPr lang="ar-AE" sz="1200" b="0" i="1" kern="1200">
                          <a:solidFill>
                            <a:schemeClr val="tx1"/>
                          </a:solidFill>
                          <a:latin typeface="+mn-lt"/>
                          <a:ea typeface="+mn-ea"/>
                          <a:cs typeface="+mn-cs"/>
                        </a:rPr>
                        <m:t> </m:t>
                      </m:r>
                      <m:r>
                        <m:rPr>
                          <m:nor/>
                        </m:rPr>
                        <a:rPr lang="en-IN" sz="1200" b="0" i="1" kern="1200">
                          <a:solidFill>
                            <a:schemeClr val="tx1"/>
                          </a:solidFill>
                          <a:latin typeface="+mn-lt"/>
                          <a:ea typeface="+mn-ea"/>
                          <a:cs typeface="+mn-cs"/>
                        </a:rPr>
                        <m:t>cm</m:t>
                      </m:r>
                    </m:oMath>
                  </m:oMathPara>
                </a14:m>
                <a:endParaRPr lang="en-IN" b="0" dirty="0"/>
              </a:p>
              <a:p>
                <a:r>
                  <a:rPr lang="en-IN" dirty="0"/>
                  <a:t>✅ </a:t>
                </a:r>
                <a:r>
                  <a:rPr lang="en-IN" b="1" dirty="0"/>
                  <a:t>Mean Length = 100.0 cm</a:t>
                </a:r>
                <a:endParaRPr lang="en-IN" dirty="0"/>
              </a:p>
              <a:p>
                <a:r>
                  <a:rPr lang="en-IN" b="1" dirty="0"/>
                  <a:t>2. Standard Deviation (Sample SD)</a:t>
                </a:r>
              </a:p>
              <a:p>
                <a:r>
                  <a:rPr lang="en-IN" dirty="0"/>
                  <a:t>Formula:</a:t>
                </a:r>
              </a:p>
              <a:p>
                <a:r>
                  <a:rPr lang="en-IN" dirty="0"/>
                  <a:t>Step 1: Find deviations from the mean (100.0 cm):</a:t>
                </a:r>
              </a:p>
              <a:p>
                <a:r>
                  <a:rPr lang="en-IN" dirty="0"/>
                  <a:t>(99.8 – 100.0) = -0.2</a:t>
                </a:r>
              </a:p>
              <a:p>
                <a:r>
                  <a:rPr lang="en-IN" dirty="0"/>
                  <a:t>(100.2 – 100.0) = 0.2</a:t>
                </a:r>
              </a:p>
              <a:p>
                <a:r>
                  <a:rPr lang="en-IN" dirty="0"/>
                  <a:t>(99.7 – 100.0) = -0.3</a:t>
                </a:r>
              </a:p>
              <a:p>
                <a:r>
                  <a:rPr lang="en-IN" dirty="0"/>
                  <a:t>(100.1 – 100.0) = 0.1</a:t>
                </a:r>
              </a:p>
              <a:p>
                <a:r>
                  <a:rPr lang="en-IN" dirty="0"/>
                  <a:t>(100.0 – 100.0) = 0</a:t>
                </a:r>
              </a:p>
              <a:p>
                <a:r>
                  <a:rPr lang="en-IN" dirty="0"/>
                  <a:t>(100.3 – 100.0) = 0.3</a:t>
                </a:r>
              </a:p>
              <a:p>
                <a:r>
                  <a:rPr lang="en-IN" dirty="0"/>
                  <a:t>(99.9 – 100.0) = -0.1</a:t>
                </a:r>
              </a:p>
              <a:p>
                <a:r>
                  <a:rPr lang="en-IN" dirty="0"/>
                  <a:t>(100.4 – 100.0) = 0.4</a:t>
                </a:r>
              </a:p>
              <a:p>
                <a:r>
                  <a:rPr lang="en-IN" dirty="0"/>
                  <a:t>(99.6 – 100.0) = -0.4</a:t>
                </a:r>
              </a:p>
              <a:p>
                <a:r>
                  <a:rPr lang="en-IN" dirty="0"/>
                  <a:t>(100.0 – 100.0) = 0</a:t>
                </a:r>
              </a:p>
              <a:p>
                <a:r>
                  <a:rPr lang="en-IN" dirty="0"/>
                  <a:t>Step 2: Square each deviation and sum:</a:t>
                </a:r>
              </a:p>
              <a:p>
                <a:pPr/>
                <a14:m>
                  <m:oMathPara xmlns:m="http://schemas.openxmlformats.org/officeDocument/2006/math">
                    <m:oMathParaPr>
                      <m:jc m:val="centerGroup"/>
                    </m:oMathParaPr>
                    <m:oMath xmlns:m="http://schemas.openxmlformats.org/officeDocument/2006/math">
                      <m:d>
                        <m:dPr>
                          <m:endChr m:val=""/>
                          <m:ctrlPr>
                            <a:rPr lang="ar-AE" sz="1200" i="1" kern="1200">
                              <a:solidFill>
                                <a:schemeClr val="tx1"/>
                              </a:solidFill>
                              <a:latin typeface="Cambria Math" panose="02040503050406030204" pitchFamily="18" charset="0"/>
                              <a:ea typeface="+mn-ea"/>
                              <a:cs typeface="+mn-cs"/>
                            </a:rPr>
                          </m:ctrlPr>
                        </m:dPr>
                        <m:e>
                          <m:r>
                            <a:rPr lang="ar-AE" sz="120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2</m:t>
                          </m:r>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d>
                            <m:dPr>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2</m:t>
                              </m:r>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d>
                                <m:dPr>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3</m:t>
                                  </m:r>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d>
                                    <m:dPr>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d>
                                        <m:dPr>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0</m:t>
                                          </m:r>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d>
                                            <m:dPr>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3</m:t>
                                              </m:r>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d>
                                                <m:dPr>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d>
                                                    <m:dPr>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4</m:t>
                                                      </m:r>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d>
                                                        <m:dPr>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4</m:t>
                                                          </m:r>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d>
                                                            <m:dPr>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0</m:t>
                                                              </m:r>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r>
                                                                    <a:rPr lang="ar-AE" sz="1200" i="0" kern="1200">
                                                                      <a:solidFill>
                                                                        <a:schemeClr val="tx1"/>
                                                                      </a:solidFill>
                                                                      <a:latin typeface="Cambria Math" panose="02040503050406030204" pitchFamily="18" charset="0"/>
                                                                      <a:ea typeface="+mn-ea"/>
                                                                      <a:cs typeface="+mn-cs"/>
                                                                    </a:rPr>
                                                                    <m:t>2</m:t>
                                                                  </m:r>
                                                                </m:sup>
                                                              </m:sSup>
                                                            </m:e>
                                                          </m:d>
                                                        </m:e>
                                                      </m:d>
                                                    </m:e>
                                                  </m:d>
                                                </m:e>
                                              </m:d>
                                            </m:e>
                                          </m:d>
                                        </m:e>
                                      </m:d>
                                    </m:e>
                                  </m:d>
                                </m:e>
                              </m:d>
                            </m:e>
                          </m:d>
                        </m:e>
                      </m:d>
                    </m:oMath>
                  </m:oMathPara>
                </a14:m>
                <a:endParaRPr lang="ar-AE" dirty="0"/>
              </a:p>
              <a:p>
                <a:pPr/>
                <a14:m>
                  <m:oMathPara xmlns:m="http://schemas.openxmlformats.org/officeDocument/2006/math">
                    <m:oMathParaPr>
                      <m:jc m:val="centerGroup"/>
                    </m:oMathParaPr>
                    <m:oMath xmlns:m="http://schemas.openxmlformats.org/officeDocument/2006/math">
                      <m:r>
                        <a:rPr lang="ar-AE" sz="120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04</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04</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09</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01</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09</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01</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16</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16</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60</m:t>
                      </m:r>
                    </m:oMath>
                  </m:oMathPara>
                </a14:m>
                <a:endParaRPr lang="ar-AE" dirty="0"/>
              </a:p>
              <a:p>
                <a:r>
                  <a:rPr lang="en-IN" dirty="0"/>
                  <a:t>Step 3: Divide by </a:t>
                </a:r>
                <a14:m>
                  <m:oMath xmlns:m="http://schemas.openxmlformats.org/officeDocument/2006/math">
                    <m:r>
                      <a:rPr lang="en-IN" sz="1200" i="1" kern="1200">
                        <a:solidFill>
                          <a:schemeClr val="tx1"/>
                        </a:solidFill>
                        <a:latin typeface="Cambria Math" panose="02040503050406030204" pitchFamily="18" charset="0"/>
                        <a:ea typeface="+mn-ea"/>
                        <a:cs typeface="+mn-cs"/>
                      </a:rPr>
                      <m:t>𝑛</m:t>
                    </m:r>
                    <m:r>
                      <a:rPr lang="en-IN" sz="1200" i="0" kern="1200">
                        <a:solidFill>
                          <a:schemeClr val="tx1"/>
                        </a:solidFill>
                        <a:latin typeface="Cambria Math" panose="02040503050406030204" pitchFamily="18" charset="0"/>
                        <a:ea typeface="+mn-ea"/>
                        <a:cs typeface="+mn-cs"/>
                      </a:rPr>
                      <m:t>−</m:t>
                    </m:r>
                    <m:r>
                      <a:rPr lang="en-IN" sz="1200" i="0" kern="1200">
                        <a:solidFill>
                          <a:schemeClr val="tx1"/>
                        </a:solidFill>
                        <a:latin typeface="Cambria Math" panose="02040503050406030204" pitchFamily="18" charset="0"/>
                        <a:ea typeface="+mn-ea"/>
                        <a:cs typeface="+mn-cs"/>
                      </a:rPr>
                      <m:t>1</m:t>
                    </m:r>
                    <m:r>
                      <a:rPr lang="en-IN" sz="1200" i="0" kern="1200">
                        <a:solidFill>
                          <a:schemeClr val="tx1"/>
                        </a:solidFill>
                        <a:latin typeface="Cambria Math" panose="02040503050406030204" pitchFamily="18" charset="0"/>
                        <a:ea typeface="+mn-ea"/>
                        <a:cs typeface="+mn-cs"/>
                      </a:rPr>
                      <m:t>=</m:t>
                    </m:r>
                    <m:r>
                      <a:rPr lang="en-IN" sz="1200" i="0" kern="1200">
                        <a:solidFill>
                          <a:schemeClr val="tx1"/>
                        </a:solidFill>
                        <a:latin typeface="Cambria Math" panose="02040503050406030204" pitchFamily="18" charset="0"/>
                        <a:ea typeface="+mn-ea"/>
                        <a:cs typeface="+mn-cs"/>
                      </a:rPr>
                      <m:t>9</m:t>
                    </m:r>
                  </m:oMath>
                </a14:m>
                <a:r>
                  <a:rPr lang="en-IN" dirty="0"/>
                  <a:t>:</a:t>
                </a:r>
              </a:p>
              <a:p>
                <a:pPr/>
                <a14:m>
                  <m:oMathPara xmlns:m="http://schemas.openxmlformats.org/officeDocument/2006/math">
                    <m:oMathParaPr>
                      <m:jc m:val="centerGroup"/>
                    </m:oMathParaPr>
                    <m:oMath xmlns:m="http://schemas.openxmlformats.org/officeDocument/2006/math">
                      <m:f>
                        <m:fPr>
                          <m:ctrlPr>
                            <a:rPr lang="ar-AE" sz="1200" i="1" kern="1200">
                              <a:solidFill>
                                <a:schemeClr val="tx1"/>
                              </a:solidFill>
                              <a:latin typeface="Cambria Math" panose="02040503050406030204" pitchFamily="18" charset="0"/>
                              <a:ea typeface="+mn-ea"/>
                              <a:cs typeface="+mn-cs"/>
                            </a:rPr>
                          </m:ctrlPr>
                        </m:fPr>
                        <m:num>
                          <m:r>
                            <a:rPr lang="ar-AE" sz="1200" kern="1200">
                              <a:solidFill>
                                <a:schemeClr val="tx1"/>
                              </a:solidFill>
                              <a:latin typeface="Cambria Math" panose="02040503050406030204" pitchFamily="18" charset="0"/>
                              <a:ea typeface="+mn-ea"/>
                              <a:cs typeface="+mn-cs"/>
                            </a:rPr>
                            <m:t>0</m:t>
                          </m:r>
                          <m:r>
                            <a:rPr lang="ar-AE" sz="1200" kern="1200">
                              <a:solidFill>
                                <a:schemeClr val="tx1"/>
                              </a:solidFill>
                              <a:latin typeface="Cambria Math" panose="02040503050406030204" pitchFamily="18" charset="0"/>
                              <a:ea typeface="+mn-ea"/>
                              <a:cs typeface="+mn-cs"/>
                            </a:rPr>
                            <m:t>.</m:t>
                          </m:r>
                          <m:r>
                            <a:rPr lang="ar-AE" sz="1200" kern="1200">
                              <a:solidFill>
                                <a:schemeClr val="tx1"/>
                              </a:solidFill>
                              <a:latin typeface="Cambria Math" panose="02040503050406030204" pitchFamily="18" charset="0"/>
                              <a:ea typeface="+mn-ea"/>
                              <a:cs typeface="+mn-cs"/>
                            </a:rPr>
                            <m:t>60</m:t>
                          </m:r>
                        </m:num>
                        <m:den>
                          <m:r>
                            <a:rPr lang="ar-AE" sz="1200" i="0" kern="1200">
                              <a:solidFill>
                                <a:schemeClr val="tx1"/>
                              </a:solidFill>
                              <a:latin typeface="Cambria Math" panose="02040503050406030204" pitchFamily="18" charset="0"/>
                              <a:ea typeface="+mn-ea"/>
                              <a:cs typeface="+mn-cs"/>
                            </a:rPr>
                            <m:t>9</m:t>
                          </m:r>
                        </m:den>
                      </m:f>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0667</m:t>
                      </m:r>
                    </m:oMath>
                  </m:oMathPara>
                </a14:m>
                <a:endParaRPr lang="ar-AE" dirty="0"/>
              </a:p>
              <a:p>
                <a:r>
                  <a:rPr lang="en-IN" dirty="0"/>
                  <a:t>Step 4: Take the square root:</a:t>
                </a:r>
              </a:p>
              <a:p>
                <a:pPr/>
                <a14:m>
                  <m:oMathPara xmlns:m="http://schemas.openxmlformats.org/officeDocument/2006/math">
                    <m:oMathParaPr>
                      <m:jc m:val="centerGroup"/>
                    </m:oMathParaPr>
                    <m:oMath xmlns:m="http://schemas.openxmlformats.org/officeDocument/2006/math">
                      <m:r>
                        <a:rPr lang="en-IN" sz="1200" i="1" kern="1200">
                          <a:solidFill>
                            <a:schemeClr val="tx1"/>
                          </a:solidFill>
                          <a:latin typeface="Cambria Math" panose="02040503050406030204" pitchFamily="18" charset="0"/>
                          <a:ea typeface="+mn-ea"/>
                          <a:cs typeface="+mn-cs"/>
                        </a:rPr>
                        <m:t>𝑠</m:t>
                      </m:r>
                      <m:r>
                        <a:rPr lang="en-IN" sz="1200" i="0" kern="1200">
                          <a:solidFill>
                            <a:schemeClr val="tx1"/>
                          </a:solidFill>
                          <a:latin typeface="Cambria Math" panose="02040503050406030204" pitchFamily="18" charset="0"/>
                          <a:ea typeface="+mn-ea"/>
                          <a:cs typeface="+mn-cs"/>
                        </a:rPr>
                        <m:t>=</m:t>
                      </m:r>
                      <m:rad>
                        <m:radPr>
                          <m:degHide m:val="on"/>
                          <m:ctrlPr>
                            <a:rPr lang="ar-AE" sz="1200" i="1" kern="1200">
                              <a:solidFill>
                                <a:schemeClr val="tx1"/>
                              </a:solidFill>
                              <a:latin typeface="Cambria Math" panose="02040503050406030204" pitchFamily="18" charset="0"/>
                              <a:ea typeface="+mn-ea"/>
                              <a:cs typeface="+mn-cs"/>
                            </a:rPr>
                          </m:ctrlPr>
                        </m:radPr>
                        <m:deg/>
                        <m:e>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0667</m:t>
                          </m:r>
                        </m:e>
                      </m:ra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258</m:t>
                      </m:r>
                      <m:r>
                        <m:rPr>
                          <m:nor/>
                        </m:rPr>
                        <a:rPr lang="ar-AE" sz="1200" b="0" i="1" kern="1200">
                          <a:solidFill>
                            <a:schemeClr val="tx1"/>
                          </a:solidFill>
                          <a:latin typeface="+mn-lt"/>
                          <a:ea typeface="+mn-ea"/>
                          <a:cs typeface="+mn-cs"/>
                        </a:rPr>
                        <m:t> </m:t>
                      </m:r>
                      <m:r>
                        <m:rPr>
                          <m:nor/>
                        </m:rPr>
                        <a:rPr lang="en-IN" sz="1200" b="0" i="1" kern="1200">
                          <a:solidFill>
                            <a:schemeClr val="tx1"/>
                          </a:solidFill>
                          <a:latin typeface="+mn-lt"/>
                          <a:ea typeface="+mn-ea"/>
                          <a:cs typeface="+mn-cs"/>
                        </a:rPr>
                        <m:t>cm</m:t>
                      </m:r>
                    </m:oMath>
                  </m:oMathPara>
                </a14:m>
                <a:endParaRPr lang="en-IN" b="0" dirty="0"/>
              </a:p>
              <a:p>
                <a:r>
                  <a:rPr lang="en-IN" dirty="0"/>
                  <a:t>✅ </a:t>
                </a:r>
                <a:r>
                  <a:rPr lang="en-IN" b="1" dirty="0"/>
                  <a:t>Standard Deviation ≈ 0.26 cm</a:t>
                </a:r>
                <a:endParaRPr lang="en-IN" dirty="0"/>
              </a:p>
              <a:p>
                <a:endParaRPr lang="en-IN" dirty="0"/>
              </a:p>
            </p:txBody>
          </p:sp>
        </mc:Choice>
        <mc:Fallback xmlns="">
          <p:sp>
            <p:nvSpPr>
              <p:cNvPr id="3" name="Notes Placeholder 2"/>
              <p:cNvSpPr>
                <a:spLocks noGrp="1"/>
              </p:cNvSpPr>
              <p:nvPr>
                <p:ph type="body" idx="1"/>
              </p:nvPr>
            </p:nvSpPr>
            <p:spPr/>
            <p:txBody>
              <a:bodyPr/>
              <a:lstStyle/>
              <a:p>
                <a:r>
                  <a:rPr lang="en-IN" b="1" dirty="0"/>
                  <a:t>1. Mean Length</a:t>
                </a:r>
              </a:p>
              <a:p>
                <a:r>
                  <a:rPr lang="en-IN" dirty="0"/>
                  <a:t>Formula:</a:t>
                </a:r>
              </a:p>
              <a:p>
                <a:r>
                  <a:rPr lang="en-IN" b="0" i="0">
                    <a:latin typeface="Cambria Math" panose="02040503050406030204" pitchFamily="18" charset="0"/>
                  </a:rPr>
                  <a:t>"Mean</a:t>
                </a:r>
                <a:r>
                  <a:rPr lang="en-IN" sz="1200" b="0" i="0" kern="1200">
                    <a:solidFill>
                      <a:schemeClr val="tx1"/>
                    </a:solidFill>
                    <a:latin typeface="+mn-lt"/>
                    <a:ea typeface="+mn-ea"/>
                    <a:cs typeface="+mn-cs"/>
                  </a:rPr>
                  <a:t>"=</a:t>
                </a:r>
                <a:r>
                  <a:rPr lang="ar-AE" sz="1200" b="0" i="0" kern="1200">
                    <a:solidFill>
                      <a:schemeClr val="tx1"/>
                    </a:solidFill>
                    <a:latin typeface="+mn-lt"/>
                    <a:ea typeface="+mn-ea"/>
                    <a:cs typeface="+mn-cs"/>
                  </a:rPr>
                  <a:t>(∑128▒𝑥_𝑖 )/𝑛</a:t>
                </a:r>
                <a:endParaRPr lang="ar-AE" b="0" dirty="0"/>
              </a:p>
              <a:p>
                <a:r>
                  <a:rPr lang="en-IN" dirty="0"/>
                  <a:t>Where:</a:t>
                </a:r>
              </a:p>
              <a:p>
                <a:r>
                  <a:rPr lang="ar-AE" sz="1200" i="0" kern="1200">
                    <a:solidFill>
                      <a:schemeClr val="tx1"/>
                    </a:solidFill>
                    <a:latin typeface="+mn-lt"/>
                    <a:ea typeface="+mn-ea"/>
                    <a:cs typeface="+mn-cs"/>
                  </a:rPr>
                  <a:t>𝑥_𝑖</a:t>
                </a:r>
                <a:r>
                  <a:rPr lang="ar-AE" dirty="0"/>
                  <a:t>= </a:t>
                </a:r>
                <a:r>
                  <a:rPr lang="en-IN" dirty="0"/>
                  <a:t>each rod length</a:t>
                </a:r>
              </a:p>
              <a:p>
                <a:r>
                  <a:rPr lang="en-IN" sz="1200" i="0" kern="1200">
                    <a:solidFill>
                      <a:schemeClr val="tx1"/>
                    </a:solidFill>
                    <a:latin typeface="+mn-lt"/>
                    <a:ea typeface="+mn-ea"/>
                    <a:cs typeface="+mn-cs"/>
                  </a:rPr>
                  <a:t>𝑛=10</a:t>
                </a:r>
                <a:r>
                  <a:rPr lang="en-IN" dirty="0"/>
                  <a:t>(number of rods)</a:t>
                </a:r>
              </a:p>
              <a:p>
                <a:r>
                  <a:rPr lang="en-IN" b="0" i="0">
                    <a:latin typeface="Cambria Math" panose="02040503050406030204" pitchFamily="18" charset="0"/>
                  </a:rPr>
                  <a:t>"Mean</a:t>
                </a:r>
                <a:r>
                  <a:rPr lang="en-IN" sz="1200" b="0" i="0" kern="1200">
                    <a:solidFill>
                      <a:schemeClr val="tx1"/>
                    </a:solidFill>
                    <a:latin typeface="+mn-lt"/>
                    <a:ea typeface="+mn-ea"/>
                    <a:cs typeface="+mn-cs"/>
                  </a:rPr>
                  <a:t>"=</a:t>
                </a:r>
                <a:r>
                  <a:rPr lang="ar-AE" sz="1200" b="0" i="0" kern="1200">
                    <a:solidFill>
                      <a:schemeClr val="tx1"/>
                    </a:solidFill>
                    <a:latin typeface="+mn-lt"/>
                    <a:ea typeface="+mn-ea"/>
                    <a:cs typeface="+mn-cs"/>
                  </a:rPr>
                  <a:t>(99.8+100.2+99.7+100.1+100.0+100.3+99.9+100.4+99.6+100.0)/10</a:t>
                </a:r>
                <a:endParaRPr lang="ar-AE" b="0" dirty="0"/>
              </a:p>
              <a:p>
                <a:r>
                  <a:rPr lang="en-IN" b="0" i="0">
                    <a:latin typeface="Cambria Math" panose="02040503050406030204" pitchFamily="18" charset="0"/>
                  </a:rPr>
                  <a:t>"Mean</a:t>
                </a:r>
                <a:r>
                  <a:rPr lang="en-IN" sz="1200" b="0" i="0" kern="1200">
                    <a:solidFill>
                      <a:schemeClr val="tx1"/>
                    </a:solidFill>
                    <a:latin typeface="+mn-lt"/>
                    <a:ea typeface="+mn-ea"/>
                    <a:cs typeface="+mn-cs"/>
                  </a:rPr>
                  <a:t>"=</a:t>
                </a:r>
                <a:r>
                  <a:rPr lang="ar-AE" sz="1200" b="0" i="0" kern="1200">
                    <a:solidFill>
                      <a:schemeClr val="tx1"/>
                    </a:solidFill>
                    <a:latin typeface="+mn-lt"/>
                    <a:ea typeface="+mn-ea"/>
                    <a:cs typeface="+mn-cs"/>
                  </a:rPr>
                  <a:t>1000.0/10=100.0</a:t>
                </a:r>
                <a:r>
                  <a:rPr lang="ar-AE" sz="1200" b="0" i="0" kern="1200">
                    <a:solidFill>
                      <a:schemeClr val="tx1"/>
                    </a:solidFill>
                    <a:latin typeface="Cambria Math" panose="02040503050406030204" pitchFamily="18" charset="0"/>
                    <a:ea typeface="+mn-ea"/>
                    <a:cs typeface="+mn-cs"/>
                  </a:rPr>
                  <a:t>" </a:t>
                </a:r>
                <a:r>
                  <a:rPr lang="en-IN" sz="1200" b="0" i="0" kern="1200">
                    <a:solidFill>
                      <a:schemeClr val="tx1"/>
                    </a:solidFill>
                    <a:latin typeface="Cambria Math" panose="02040503050406030204" pitchFamily="18" charset="0"/>
                    <a:ea typeface="+mn-ea"/>
                    <a:cs typeface="+mn-cs"/>
                  </a:rPr>
                  <a:t>cm</a:t>
                </a:r>
                <a:r>
                  <a:rPr lang="en-IN" sz="1200" b="0" i="0" kern="1200">
                    <a:solidFill>
                      <a:schemeClr val="tx1"/>
                    </a:solidFill>
                    <a:latin typeface="+mn-lt"/>
                    <a:ea typeface="+mn-ea"/>
                    <a:cs typeface="+mn-cs"/>
                  </a:rPr>
                  <a:t>"</a:t>
                </a:r>
                <a:endParaRPr lang="en-IN" b="0" dirty="0"/>
              </a:p>
              <a:p>
                <a:r>
                  <a:rPr lang="en-IN" dirty="0"/>
                  <a:t>✅ </a:t>
                </a:r>
                <a:r>
                  <a:rPr lang="en-IN" b="1" dirty="0"/>
                  <a:t>Mean Length = 100.0 cm</a:t>
                </a:r>
                <a:endParaRPr lang="en-IN" dirty="0"/>
              </a:p>
              <a:p>
                <a:r>
                  <a:rPr lang="en-IN" b="1" dirty="0"/>
                  <a:t>2. Standard Deviation (Sample SD)</a:t>
                </a:r>
              </a:p>
              <a:p>
                <a:r>
                  <a:rPr lang="en-IN" dirty="0"/>
                  <a:t>Formula:</a:t>
                </a:r>
              </a:p>
              <a:p>
                <a:r>
                  <a:rPr lang="en-IN" dirty="0"/>
                  <a:t>Step 1: Find deviations from the mean (100.0 cm):</a:t>
                </a:r>
              </a:p>
              <a:p>
                <a:r>
                  <a:rPr lang="en-IN" dirty="0"/>
                  <a:t>(99.8 – 100.0) = -0.2</a:t>
                </a:r>
              </a:p>
              <a:p>
                <a:r>
                  <a:rPr lang="en-IN" dirty="0"/>
                  <a:t>(100.2 – 100.0) = 0.2</a:t>
                </a:r>
              </a:p>
              <a:p>
                <a:r>
                  <a:rPr lang="en-IN" dirty="0"/>
                  <a:t>(99.7 – 100.0) = -0.3</a:t>
                </a:r>
              </a:p>
              <a:p>
                <a:r>
                  <a:rPr lang="en-IN" dirty="0"/>
                  <a:t>(100.1 – 100.0) = 0.1</a:t>
                </a:r>
              </a:p>
              <a:p>
                <a:r>
                  <a:rPr lang="en-IN" dirty="0"/>
                  <a:t>(100.0 – 100.0) = 0</a:t>
                </a:r>
              </a:p>
              <a:p>
                <a:r>
                  <a:rPr lang="en-IN" dirty="0"/>
                  <a:t>(100.3 – 100.0) = 0.3</a:t>
                </a:r>
              </a:p>
              <a:p>
                <a:r>
                  <a:rPr lang="en-IN" dirty="0"/>
                  <a:t>(99.9 – 100.0) = -0.1</a:t>
                </a:r>
              </a:p>
              <a:p>
                <a:r>
                  <a:rPr lang="en-IN" dirty="0"/>
                  <a:t>(100.4 – 100.0) = 0.4</a:t>
                </a:r>
              </a:p>
              <a:p>
                <a:r>
                  <a:rPr lang="en-IN" dirty="0"/>
                  <a:t>(99.6 – 100.0) = -0.4</a:t>
                </a:r>
              </a:p>
              <a:p>
                <a:r>
                  <a:rPr lang="en-IN" dirty="0"/>
                  <a:t>(100.0 – 100.0) = 0</a:t>
                </a:r>
              </a:p>
              <a:p>
                <a:r>
                  <a:rPr lang="en-IN" dirty="0"/>
                  <a:t>Step 2: Square each deviation and sum:</a:t>
                </a:r>
              </a:p>
              <a:p>
                <a:r>
                  <a:rPr lang="ar-AE" sz="1200" i="0" kern="1200">
                    <a:solidFill>
                      <a:schemeClr val="tx1"/>
                    </a:solidFill>
                    <a:latin typeface="+mn-lt"/>
                    <a:ea typeface="+mn-ea"/>
                    <a:cs typeface="+mn-cs"/>
                  </a:rPr>
                  <a:t>(−0.2├ )┤^2+(0.2├ )┤^2+(−0.3├ )┤^2+(0.1├ )┤^2+(0├ )┤^2+(0.3├ )┤^2+(−0.1├ )┤^2+(0.4├ )┤^2+(−0.4├ )┤^2+(0├ )┤^2 ┤┤┤┤┤┤┤┤┤┤</a:t>
                </a:r>
                <a:endParaRPr lang="ar-AE" dirty="0"/>
              </a:p>
              <a:p>
                <a:r>
                  <a:rPr lang="ar-AE" sz="1200" i="0" kern="1200">
                    <a:solidFill>
                      <a:schemeClr val="tx1"/>
                    </a:solidFill>
                    <a:latin typeface="+mn-lt"/>
                    <a:ea typeface="+mn-ea"/>
                    <a:cs typeface="+mn-cs"/>
                  </a:rPr>
                  <a:t>=0.04+0.04+0.09+0.01+0+0.09+0.01+0.16+0.16+0=0.60</a:t>
                </a:r>
                <a:endParaRPr lang="ar-AE" dirty="0"/>
              </a:p>
              <a:p>
                <a:r>
                  <a:rPr lang="en-IN" dirty="0"/>
                  <a:t>Step 3: Divide by </a:t>
                </a:r>
                <a:r>
                  <a:rPr lang="en-IN" sz="1200" i="0" kern="1200">
                    <a:solidFill>
                      <a:schemeClr val="tx1"/>
                    </a:solidFill>
                    <a:latin typeface="+mn-lt"/>
                    <a:ea typeface="+mn-ea"/>
                    <a:cs typeface="+mn-cs"/>
                  </a:rPr>
                  <a:t>𝑛−1=9</a:t>
                </a:r>
                <a:r>
                  <a:rPr lang="en-IN" dirty="0"/>
                  <a:t>:</a:t>
                </a:r>
              </a:p>
              <a:p>
                <a:r>
                  <a:rPr lang="ar-AE" sz="1200" i="0" kern="1200">
                    <a:solidFill>
                      <a:schemeClr val="tx1"/>
                    </a:solidFill>
                    <a:latin typeface="+mn-lt"/>
                    <a:ea typeface="+mn-ea"/>
                    <a:cs typeface="+mn-cs"/>
                  </a:rPr>
                  <a:t>0.60/9=0.0667</a:t>
                </a:r>
                <a:endParaRPr lang="ar-AE" dirty="0"/>
              </a:p>
              <a:p>
                <a:r>
                  <a:rPr lang="en-IN" dirty="0"/>
                  <a:t>Step 4: Take the square root:</a:t>
                </a:r>
              </a:p>
              <a:p>
                <a:r>
                  <a:rPr lang="en-IN" sz="1200" i="0" kern="1200">
                    <a:solidFill>
                      <a:schemeClr val="tx1"/>
                    </a:solidFill>
                    <a:latin typeface="+mn-lt"/>
                    <a:ea typeface="+mn-ea"/>
                    <a:cs typeface="+mn-cs"/>
                  </a:rPr>
                  <a:t>𝑠=</a:t>
                </a:r>
                <a:r>
                  <a:rPr lang="ar-AE" sz="1200" i="0" kern="1200">
                    <a:solidFill>
                      <a:schemeClr val="tx1"/>
                    </a:solidFill>
                    <a:latin typeface="+mn-lt"/>
                    <a:ea typeface="+mn-ea"/>
                    <a:cs typeface="+mn-cs"/>
                  </a:rPr>
                  <a:t>√0.0667≈0.258</a:t>
                </a:r>
                <a:r>
                  <a:rPr lang="ar-AE" sz="1200" b="0" i="0" kern="1200">
                    <a:solidFill>
                      <a:schemeClr val="tx1"/>
                    </a:solidFill>
                    <a:latin typeface="Cambria Math" panose="02040503050406030204" pitchFamily="18" charset="0"/>
                    <a:ea typeface="+mn-ea"/>
                    <a:cs typeface="+mn-cs"/>
                  </a:rPr>
                  <a:t>" </a:t>
                </a:r>
                <a:r>
                  <a:rPr lang="en-IN" sz="1200" b="0" i="0" kern="1200">
                    <a:solidFill>
                      <a:schemeClr val="tx1"/>
                    </a:solidFill>
                    <a:latin typeface="Cambria Math" panose="02040503050406030204" pitchFamily="18" charset="0"/>
                    <a:ea typeface="+mn-ea"/>
                    <a:cs typeface="+mn-cs"/>
                  </a:rPr>
                  <a:t>cm</a:t>
                </a:r>
                <a:r>
                  <a:rPr lang="en-IN" sz="1200" b="0" i="0" kern="1200">
                    <a:solidFill>
                      <a:schemeClr val="tx1"/>
                    </a:solidFill>
                    <a:latin typeface="+mn-lt"/>
                    <a:ea typeface="+mn-ea"/>
                    <a:cs typeface="+mn-cs"/>
                  </a:rPr>
                  <a:t>"</a:t>
                </a:r>
                <a:endParaRPr lang="en-IN" b="0" dirty="0"/>
              </a:p>
              <a:p>
                <a:r>
                  <a:rPr lang="en-IN" dirty="0"/>
                  <a:t>✅ </a:t>
                </a:r>
                <a:r>
                  <a:rPr lang="en-IN" b="1" dirty="0"/>
                  <a:t>Standard Deviation ≈ 0.26 cm</a:t>
                </a:r>
                <a:endParaRPr lang="en-IN" dirty="0"/>
              </a:p>
              <a:p>
                <a:endParaRPr lang="en-IN" dirty="0"/>
              </a:p>
            </p:txBody>
          </p:sp>
        </mc:Fallback>
      </mc:AlternateContent>
      <p:sp>
        <p:nvSpPr>
          <p:cNvPr id="4" name="Slide Number Placeholder 3"/>
          <p:cNvSpPr>
            <a:spLocks noGrp="1"/>
          </p:cNvSpPr>
          <p:nvPr>
            <p:ph type="sldNum" sz="quarter" idx="5"/>
          </p:nvPr>
        </p:nvSpPr>
        <p:spPr/>
        <p:txBody>
          <a:bodyPr/>
          <a:lstStyle/>
          <a:p>
            <a:fld id="{B3160891-C122-4257-96AF-D0ABD6E8CC3C}" type="slidenum">
              <a:rPr lang="en-IN" smtClean="0"/>
              <a:t>19</a:t>
            </a:fld>
            <a:endParaRPr lang="en-IN"/>
          </a:p>
        </p:txBody>
      </p:sp>
    </p:spTree>
    <p:extLst>
      <p:ext uri="{BB962C8B-B14F-4D97-AF65-F5344CB8AC3E}">
        <p14:creationId xmlns:p14="http://schemas.microsoft.com/office/powerpoint/2010/main" val="2643088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Final Interpretation (Quality Control View):</a:t>
            </a:r>
          </a:p>
          <a:p>
            <a:r>
              <a:rPr lang="en-US" dirty="0"/>
              <a:t>The </a:t>
            </a:r>
            <a:r>
              <a:rPr lang="en-US" b="1" dirty="0"/>
              <a:t>average rod length</a:t>
            </a:r>
            <a:r>
              <a:rPr lang="en-US" dirty="0"/>
              <a:t> is </a:t>
            </a:r>
            <a:r>
              <a:rPr lang="en-US" b="1" dirty="0"/>
              <a:t>100.0 cm</a:t>
            </a:r>
            <a:r>
              <a:rPr lang="en-US" dirty="0"/>
              <a:t>, exactly matching the target.</a:t>
            </a:r>
          </a:p>
          <a:p>
            <a:r>
              <a:rPr lang="en-US" dirty="0"/>
              <a:t>The </a:t>
            </a:r>
            <a:r>
              <a:rPr lang="en-US" b="1" dirty="0"/>
              <a:t>standard deviation</a:t>
            </a:r>
            <a:r>
              <a:rPr lang="en-US" dirty="0"/>
              <a:t> is </a:t>
            </a:r>
            <a:r>
              <a:rPr lang="en-US" b="1" dirty="0"/>
              <a:t>0.26 cm</a:t>
            </a:r>
            <a:r>
              <a:rPr lang="en-US" dirty="0"/>
              <a:t>, which is very small, indicating </a:t>
            </a:r>
            <a:r>
              <a:rPr lang="en-US" b="1" dirty="0"/>
              <a:t>high precision and consistency</a:t>
            </a:r>
            <a:r>
              <a:rPr lang="en-US" dirty="0"/>
              <a:t> in the manufacturing process.</a:t>
            </a:r>
          </a:p>
          <a:p>
            <a:endParaRPr lang="en-IN" dirty="0"/>
          </a:p>
        </p:txBody>
      </p:sp>
      <p:sp>
        <p:nvSpPr>
          <p:cNvPr id="4" name="Slide Number Placeholder 3"/>
          <p:cNvSpPr>
            <a:spLocks noGrp="1"/>
          </p:cNvSpPr>
          <p:nvPr>
            <p:ph type="sldNum" sz="quarter" idx="5"/>
          </p:nvPr>
        </p:nvSpPr>
        <p:spPr/>
        <p:txBody>
          <a:bodyPr/>
          <a:lstStyle/>
          <a:p>
            <a:fld id="{B3160891-C122-4257-96AF-D0ABD6E8CC3C}" type="slidenum">
              <a:rPr lang="en-IN" smtClean="0"/>
              <a:t>20</a:t>
            </a:fld>
            <a:endParaRPr lang="en-IN"/>
          </a:p>
        </p:txBody>
      </p:sp>
    </p:spTree>
    <p:extLst>
      <p:ext uri="{BB962C8B-B14F-4D97-AF65-F5344CB8AC3E}">
        <p14:creationId xmlns:p14="http://schemas.microsoft.com/office/powerpoint/2010/main" val="1004340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Standardization of Data</a:t>
                </a:r>
                <a:endParaRPr lang="en-US" dirty="0"/>
              </a:p>
              <a:p>
                <a:pPr lvl="1"/>
                <a:r>
                  <a:rPr lang="en-US" dirty="0"/>
                  <a:t>Z-scores transform different datasets (with different units or scales) into a </a:t>
                </a:r>
                <a:r>
                  <a:rPr lang="en-US" b="1" dirty="0"/>
                  <a:t>common scale</a:t>
                </a:r>
                <a:r>
                  <a:rPr lang="en-US" dirty="0"/>
                  <a:t>.</a:t>
                </a:r>
              </a:p>
              <a:p>
                <a:pPr lvl="1"/>
                <a:r>
                  <a:rPr lang="en-US" dirty="0"/>
                  <a:t>Useful for comparing values across datasets.</a:t>
                </a:r>
              </a:p>
              <a:p>
                <a:pPr lvl="1"/>
                <a:r>
                  <a:rPr lang="en-US" dirty="0"/>
                  <a:t>Example: Comparing test scores in Math (out of 100) vs. English (out of 50).</a:t>
                </a:r>
              </a:p>
              <a:p>
                <a:r>
                  <a:rPr lang="en-US" b="1" dirty="0"/>
                  <a:t>Detecting Outliers</a:t>
                </a:r>
                <a:endParaRPr lang="en-US" dirty="0"/>
              </a:p>
              <a:p>
                <a:pPr lvl="1"/>
                <a:r>
                  <a:rPr lang="en-US" dirty="0"/>
                  <a:t>If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𝑍</m:t>
                    </m:r>
                    <m:r>
                      <a:rPr lang="en-US" sz="1200" i="0" kern="1200">
                        <a:solidFill>
                          <a:schemeClr val="tx1"/>
                        </a:solidFill>
                        <a:latin typeface="Cambria Math" panose="02040503050406030204" pitchFamily="18" charset="0"/>
                        <a:ea typeface="+mn-ea"/>
                        <a:cs typeface="+mn-cs"/>
                      </a:rPr>
                      <m:t>∣&gt;3</m:t>
                    </m:r>
                  </m:oMath>
                </a14:m>
                <a:r>
                  <a:rPr lang="en-US" dirty="0"/>
                  <a:t>, the value is usually considered an outlier.</a:t>
                </a:r>
              </a:p>
              <a:p>
                <a:pPr lvl="1"/>
                <a:r>
                  <a:rPr lang="en-US" dirty="0"/>
                  <a:t>Helps in </a:t>
                </a:r>
                <a:r>
                  <a:rPr lang="en-US" b="1" dirty="0"/>
                  <a:t>data cleaning and preprocessing</a:t>
                </a:r>
                <a:r>
                  <a:rPr lang="en-US" dirty="0"/>
                  <a:t>.</a:t>
                </a:r>
              </a:p>
              <a:p>
                <a:r>
                  <a:rPr lang="en-US" b="1" dirty="0"/>
                  <a:t>Understanding Relative Position</a:t>
                </a:r>
                <a:endParaRPr lang="en-US" dirty="0"/>
              </a:p>
              <a:p>
                <a:pPr lvl="1"/>
                <a:r>
                  <a:rPr lang="en-US" dirty="0"/>
                  <a:t>A positive Z-score means the value is </a:t>
                </a:r>
                <a:r>
                  <a:rPr lang="en-US" b="1" dirty="0"/>
                  <a:t>above the mean</a:t>
                </a:r>
                <a:r>
                  <a:rPr lang="en-US" dirty="0"/>
                  <a:t>,</a:t>
                </a:r>
              </a:p>
              <a:p>
                <a:pPr lvl="1"/>
                <a:r>
                  <a:rPr lang="en-US" dirty="0"/>
                  <a:t>A negative Z-score means the value is </a:t>
                </a:r>
                <a:r>
                  <a:rPr lang="en-US" b="1" dirty="0"/>
                  <a:t>below the mean</a:t>
                </a:r>
                <a:r>
                  <a:rPr lang="en-US" dirty="0"/>
                  <a:t>.</a:t>
                </a:r>
              </a:p>
              <a:p>
                <a:pPr lvl="1"/>
                <a:r>
                  <a:rPr lang="en-US" dirty="0"/>
                  <a:t>Example: A Z-score of +2 means the value is </a:t>
                </a:r>
                <a:r>
                  <a:rPr lang="en-US" b="1" dirty="0"/>
                  <a:t>2 standard deviations above the average</a:t>
                </a:r>
                <a:r>
                  <a:rPr lang="en-US" dirty="0"/>
                  <a:t>.</a:t>
                </a:r>
              </a:p>
              <a:p>
                <a:r>
                  <a:rPr lang="en-US" b="1" dirty="0"/>
                  <a:t>Probability &amp; Normal Distribution</a:t>
                </a:r>
                <a:endParaRPr lang="en-US" dirty="0"/>
              </a:p>
              <a:p>
                <a:pPr lvl="1"/>
                <a:r>
                  <a:rPr lang="en-US" dirty="0"/>
                  <a:t>In normally distributed data, Z-scores help calculate the </a:t>
                </a:r>
                <a:r>
                  <a:rPr lang="en-US" b="1" dirty="0"/>
                  <a:t>probability of occurrence</a:t>
                </a:r>
                <a:r>
                  <a:rPr lang="en-US" dirty="0"/>
                  <a:t>.</a:t>
                </a:r>
              </a:p>
              <a:p>
                <a:pPr lvl="1"/>
                <a:r>
                  <a:rPr lang="en-US" dirty="0"/>
                  <a:t>Example: In a standard normal distribution, about </a:t>
                </a:r>
                <a:r>
                  <a:rPr lang="en-US" b="1" dirty="0"/>
                  <a:t>68%</a:t>
                </a:r>
                <a:r>
                  <a:rPr lang="en-US" dirty="0"/>
                  <a:t> of values fall between Z = -1 and +1.</a:t>
                </a:r>
              </a:p>
              <a:p>
                <a:r>
                  <a:rPr lang="en-US" b="1" dirty="0"/>
                  <a:t>Feature Scaling in Machine Learning</a:t>
                </a:r>
                <a:endParaRPr lang="en-US" dirty="0"/>
              </a:p>
              <a:p>
                <a:pPr lvl="1"/>
                <a:r>
                  <a:rPr lang="en-US" dirty="0"/>
                  <a:t>Z-score normalization (a.k.a. standardization) is widely used to prepare data before applying ML models (e.g., KNN, SVM).</a:t>
                </a:r>
              </a:p>
              <a:p>
                <a:pPr lvl="1"/>
                <a:r>
                  <a:rPr lang="en-US" dirty="0"/>
                  <a:t>Ensures features with large ranges don’t dominate smaller ones.</a:t>
                </a:r>
              </a:p>
              <a:p>
                <a:endParaRPr lang="en-IN" dirty="0"/>
              </a:p>
            </p:txBody>
          </p:sp>
        </mc:Choice>
        <mc:Fallback xmlns="">
          <p:sp>
            <p:nvSpPr>
              <p:cNvPr id="3" name="Notes Placeholder 2"/>
              <p:cNvSpPr>
                <a:spLocks noGrp="1"/>
              </p:cNvSpPr>
              <p:nvPr>
                <p:ph type="body" idx="1"/>
              </p:nvPr>
            </p:nvSpPr>
            <p:spPr/>
            <p:txBody>
              <a:bodyPr/>
              <a:lstStyle/>
              <a:p>
                <a:r>
                  <a:rPr lang="en-US" b="1" dirty="0"/>
                  <a:t>Standardization of Data</a:t>
                </a:r>
                <a:endParaRPr lang="en-US" dirty="0"/>
              </a:p>
              <a:p>
                <a:pPr lvl="1"/>
                <a:r>
                  <a:rPr lang="en-US" dirty="0"/>
                  <a:t>Z-scores transform different datasets (with different units or scales) into a </a:t>
                </a:r>
                <a:r>
                  <a:rPr lang="en-US" b="1" dirty="0"/>
                  <a:t>common scale</a:t>
                </a:r>
                <a:r>
                  <a:rPr lang="en-US" dirty="0"/>
                  <a:t>.</a:t>
                </a:r>
              </a:p>
              <a:p>
                <a:pPr lvl="1"/>
                <a:r>
                  <a:rPr lang="en-US" dirty="0"/>
                  <a:t>Useful for comparing values across datasets.</a:t>
                </a:r>
              </a:p>
              <a:p>
                <a:pPr lvl="1"/>
                <a:r>
                  <a:rPr lang="en-US" dirty="0"/>
                  <a:t>Example: Comparing test scores in Math (out of 100) vs. English (out of 50).</a:t>
                </a:r>
              </a:p>
              <a:p>
                <a:r>
                  <a:rPr lang="en-US" b="1" dirty="0"/>
                  <a:t>Detecting Outliers</a:t>
                </a:r>
                <a:endParaRPr lang="en-US" dirty="0"/>
              </a:p>
              <a:p>
                <a:pPr lvl="1"/>
                <a:r>
                  <a:rPr lang="en-US" dirty="0"/>
                  <a:t>If </a:t>
                </a:r>
                <a:r>
                  <a:rPr lang="en-US" sz="1200" i="0" kern="1200">
                    <a:solidFill>
                      <a:schemeClr val="tx1"/>
                    </a:solidFill>
                    <a:latin typeface="+mn-lt"/>
                    <a:ea typeface="+mn-ea"/>
                    <a:cs typeface="+mn-cs"/>
                  </a:rPr>
                  <a:t>∣𝑍∣&gt;3</a:t>
                </a:r>
                <a:r>
                  <a:rPr lang="en-US" dirty="0"/>
                  <a:t>, the value is usually considered an outlier.</a:t>
                </a:r>
              </a:p>
              <a:p>
                <a:pPr lvl="1"/>
                <a:r>
                  <a:rPr lang="en-US" dirty="0"/>
                  <a:t>Helps in </a:t>
                </a:r>
                <a:r>
                  <a:rPr lang="en-US" b="1" dirty="0"/>
                  <a:t>data cleaning and preprocessing</a:t>
                </a:r>
                <a:r>
                  <a:rPr lang="en-US" dirty="0"/>
                  <a:t>.</a:t>
                </a:r>
              </a:p>
              <a:p>
                <a:r>
                  <a:rPr lang="en-US" b="1" dirty="0"/>
                  <a:t>Understanding Relative Position</a:t>
                </a:r>
                <a:endParaRPr lang="en-US" dirty="0"/>
              </a:p>
              <a:p>
                <a:pPr lvl="1"/>
                <a:r>
                  <a:rPr lang="en-US" dirty="0"/>
                  <a:t>A positive Z-score means the value is </a:t>
                </a:r>
                <a:r>
                  <a:rPr lang="en-US" b="1" dirty="0"/>
                  <a:t>above the mean</a:t>
                </a:r>
                <a:r>
                  <a:rPr lang="en-US" dirty="0"/>
                  <a:t>,</a:t>
                </a:r>
              </a:p>
              <a:p>
                <a:pPr lvl="1"/>
                <a:r>
                  <a:rPr lang="en-US" dirty="0"/>
                  <a:t>A negative Z-score means the value is </a:t>
                </a:r>
                <a:r>
                  <a:rPr lang="en-US" b="1" dirty="0"/>
                  <a:t>below the mean</a:t>
                </a:r>
                <a:r>
                  <a:rPr lang="en-US" dirty="0"/>
                  <a:t>.</a:t>
                </a:r>
              </a:p>
              <a:p>
                <a:pPr lvl="1"/>
                <a:r>
                  <a:rPr lang="en-US" dirty="0"/>
                  <a:t>Example: A Z-score of +2 means the value is </a:t>
                </a:r>
                <a:r>
                  <a:rPr lang="en-US" b="1" dirty="0"/>
                  <a:t>2 standard deviations above the average</a:t>
                </a:r>
                <a:r>
                  <a:rPr lang="en-US" dirty="0"/>
                  <a:t>.</a:t>
                </a:r>
              </a:p>
              <a:p>
                <a:r>
                  <a:rPr lang="en-US" b="1" dirty="0"/>
                  <a:t>Probability &amp; Normal Distribution</a:t>
                </a:r>
                <a:endParaRPr lang="en-US" dirty="0"/>
              </a:p>
              <a:p>
                <a:pPr lvl="1"/>
                <a:r>
                  <a:rPr lang="en-US" dirty="0"/>
                  <a:t>In normally distributed data, Z-scores help calculate the </a:t>
                </a:r>
                <a:r>
                  <a:rPr lang="en-US" b="1" dirty="0"/>
                  <a:t>probability of occurrence</a:t>
                </a:r>
                <a:r>
                  <a:rPr lang="en-US" dirty="0"/>
                  <a:t>.</a:t>
                </a:r>
              </a:p>
              <a:p>
                <a:pPr lvl="1"/>
                <a:r>
                  <a:rPr lang="en-US" dirty="0"/>
                  <a:t>Example: In a standard normal distribution, about </a:t>
                </a:r>
                <a:r>
                  <a:rPr lang="en-US" b="1" dirty="0"/>
                  <a:t>68%</a:t>
                </a:r>
                <a:r>
                  <a:rPr lang="en-US" dirty="0"/>
                  <a:t> of values fall between Z = -1 and +1.</a:t>
                </a:r>
              </a:p>
              <a:p>
                <a:r>
                  <a:rPr lang="en-US" b="1" dirty="0"/>
                  <a:t>Feature Scaling in Machine Learning</a:t>
                </a:r>
                <a:endParaRPr lang="en-US" dirty="0"/>
              </a:p>
              <a:p>
                <a:pPr lvl="1"/>
                <a:r>
                  <a:rPr lang="en-US" dirty="0"/>
                  <a:t>Z-score normalization (a.k.a. standardization) is widely used to prepare data before applying ML models (e.g., KNN, SVM).</a:t>
                </a:r>
              </a:p>
              <a:p>
                <a:pPr lvl="1"/>
                <a:r>
                  <a:rPr lang="en-US" dirty="0"/>
                  <a:t>Ensures features with large ranges don’t dominate smaller ones.</a:t>
                </a:r>
              </a:p>
              <a:p>
                <a:endParaRPr lang="en-IN" dirty="0"/>
              </a:p>
            </p:txBody>
          </p:sp>
        </mc:Fallback>
      </mc:AlternateContent>
      <p:sp>
        <p:nvSpPr>
          <p:cNvPr id="4" name="Slide Number Placeholder 3"/>
          <p:cNvSpPr>
            <a:spLocks noGrp="1"/>
          </p:cNvSpPr>
          <p:nvPr>
            <p:ph type="sldNum" sz="quarter" idx="5"/>
          </p:nvPr>
        </p:nvSpPr>
        <p:spPr/>
        <p:txBody>
          <a:bodyPr/>
          <a:lstStyle/>
          <a:p>
            <a:fld id="{B3160891-C122-4257-96AF-D0ABD6E8CC3C}" type="slidenum">
              <a:rPr lang="en-IN" smtClean="0"/>
              <a:t>29</a:t>
            </a:fld>
            <a:endParaRPr lang="en-IN"/>
          </a:p>
        </p:txBody>
      </p:sp>
    </p:spTree>
    <p:extLst>
      <p:ext uri="{BB962C8B-B14F-4D97-AF65-F5344CB8AC3E}">
        <p14:creationId xmlns:p14="http://schemas.microsoft.com/office/powerpoint/2010/main" val="764969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b="1" dirty="0"/>
                  <a:t>Q1: Dataset with mean = 50, SD = 10, Value = 70</a:t>
                </a:r>
              </a:p>
              <a:p>
                <a:r>
                  <a:rPr lang="en-IN" b="1" dirty="0"/>
                  <a:t>Step 1: Formula</a:t>
                </a:r>
              </a:p>
              <a:p>
                <a:pPr/>
                <a14:m>
                  <m:oMathPara xmlns:m="http://schemas.openxmlformats.org/officeDocument/2006/math">
                    <m:oMathParaPr>
                      <m:jc m:val="centerGroup"/>
                    </m:oMathParaPr>
                    <m:oMath xmlns:m="http://schemas.openxmlformats.org/officeDocument/2006/math">
                      <m:r>
                        <a:rPr lang="en-IN" sz="1200" i="1" kern="1200">
                          <a:solidFill>
                            <a:schemeClr val="tx1"/>
                          </a:solidFill>
                          <a:latin typeface="Cambria Math" panose="02040503050406030204" pitchFamily="18" charset="0"/>
                          <a:ea typeface="+mn-ea"/>
                          <a:cs typeface="+mn-cs"/>
                        </a:rPr>
                        <m:t>𝑍</m:t>
                      </m:r>
                      <m:r>
                        <a:rPr lang="en-IN"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1" kern="1200">
                              <a:solidFill>
                                <a:schemeClr val="tx1"/>
                              </a:solidFill>
                              <a:latin typeface="Cambria Math" panose="02040503050406030204" pitchFamily="18" charset="0"/>
                              <a:ea typeface="+mn-ea"/>
                              <a:cs typeface="+mn-cs"/>
                            </a:rPr>
                            <m:t>𝑋</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𝜇</m:t>
                          </m:r>
                        </m:num>
                        <m:den>
                          <m:r>
                            <a:rPr lang="ar-AE" sz="1200" i="1" kern="1200">
                              <a:solidFill>
                                <a:schemeClr val="tx1"/>
                              </a:solidFill>
                              <a:latin typeface="Cambria Math" panose="02040503050406030204" pitchFamily="18" charset="0"/>
                              <a:ea typeface="+mn-ea"/>
                              <a:cs typeface="+mn-cs"/>
                            </a:rPr>
                            <m:t>𝜎</m:t>
                          </m:r>
                        </m:den>
                      </m:f>
                    </m:oMath>
                  </m:oMathPara>
                </a14:m>
                <a:endParaRPr lang="ar-AE" dirty="0"/>
              </a:p>
              <a:p>
                <a:r>
                  <a:rPr lang="en-IN" b="1" dirty="0"/>
                  <a:t>Step 2: Substitution</a:t>
                </a:r>
              </a:p>
              <a:p>
                <a:pPr/>
                <a14:m>
                  <m:oMathPara xmlns:m="http://schemas.openxmlformats.org/officeDocument/2006/math">
                    <m:oMathParaPr>
                      <m:jc m:val="centerGroup"/>
                    </m:oMathParaPr>
                    <m:oMath xmlns:m="http://schemas.openxmlformats.org/officeDocument/2006/math">
                      <m:r>
                        <a:rPr lang="en-IN" sz="1200" i="1" kern="1200">
                          <a:solidFill>
                            <a:schemeClr val="tx1"/>
                          </a:solidFill>
                          <a:latin typeface="Cambria Math" panose="02040503050406030204" pitchFamily="18" charset="0"/>
                          <a:ea typeface="+mn-ea"/>
                          <a:cs typeface="+mn-cs"/>
                        </a:rPr>
                        <m:t>𝑍</m:t>
                      </m:r>
                      <m:r>
                        <a:rPr lang="en-IN"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70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50</m:t>
                          </m:r>
                        </m:num>
                        <m:den>
                          <m:r>
                            <a:rPr lang="ar-AE" sz="1200" i="0" kern="1200">
                              <a:solidFill>
                                <a:schemeClr val="tx1"/>
                              </a:solidFill>
                              <a:latin typeface="Cambria Math" panose="02040503050406030204" pitchFamily="18" charset="0"/>
                              <a:ea typeface="+mn-ea"/>
                              <a:cs typeface="+mn-cs"/>
                            </a:rPr>
                            <m:t>10</m:t>
                          </m:r>
                        </m:den>
                      </m:f>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20</m:t>
                          </m:r>
                        </m:num>
                        <m:den>
                          <m:r>
                            <a:rPr lang="ar-AE" sz="1200" i="0" kern="1200">
                              <a:solidFill>
                                <a:schemeClr val="tx1"/>
                              </a:solidFill>
                              <a:latin typeface="Cambria Math" panose="02040503050406030204" pitchFamily="18" charset="0"/>
                              <a:ea typeface="+mn-ea"/>
                              <a:cs typeface="+mn-cs"/>
                            </a:rPr>
                            <m:t>10</m:t>
                          </m:r>
                        </m:den>
                      </m:f>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2</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oMath>
                  </m:oMathPara>
                </a14:m>
                <a:endParaRPr lang="ar-AE" dirty="0"/>
              </a:p>
              <a:p>
                <a:r>
                  <a:rPr lang="en-IN" b="1" dirty="0"/>
                  <a:t>Step 3: Interpretation</a:t>
                </a:r>
              </a:p>
              <a:p>
                <a:r>
                  <a:rPr lang="en-IN" dirty="0"/>
                  <a:t>A z-score of </a:t>
                </a:r>
                <a:r>
                  <a:rPr lang="en-IN" b="1" dirty="0"/>
                  <a:t>2.0</a:t>
                </a:r>
                <a:r>
                  <a:rPr lang="en-IN" dirty="0"/>
                  <a:t> means the value 70 lies </a:t>
                </a:r>
                <a:r>
                  <a:rPr lang="en-IN" b="1" dirty="0"/>
                  <a:t>2 standard deviations above the mean</a:t>
                </a:r>
                <a:r>
                  <a:rPr lang="en-IN" dirty="0"/>
                  <a:t>.</a:t>
                </a:r>
              </a:p>
              <a:p>
                <a:r>
                  <a:rPr lang="en-IN" dirty="0"/>
                  <a:t>In a normal distribution:</a:t>
                </a:r>
              </a:p>
              <a:p>
                <a:pPr lvl="1"/>
                <a:r>
                  <a:rPr lang="en-IN" dirty="0"/>
                  <a:t>About 95% of data lies within ±2 SD.</a:t>
                </a:r>
              </a:p>
              <a:p>
                <a:pPr lvl="1"/>
                <a:r>
                  <a:rPr lang="en-IN" dirty="0"/>
                  <a:t>So this value is </a:t>
                </a:r>
                <a:r>
                  <a:rPr lang="en-IN" b="1" dirty="0"/>
                  <a:t>high but still within the expected range</a:t>
                </a:r>
                <a:r>
                  <a:rPr lang="en-IN" dirty="0"/>
                  <a:t>, not an outlier.</a:t>
                </a:r>
              </a:p>
              <a:p>
                <a:r>
                  <a:rPr lang="en-IN" b="1" dirty="0"/>
                  <a:t>Comment:</a:t>
                </a:r>
                <a:r>
                  <a:rPr lang="en-IN" dirty="0"/>
                  <a:t> This tells the statistician that 70 is higher than the average (50), and only about </a:t>
                </a:r>
                <a:r>
                  <a:rPr lang="en-IN" b="1" dirty="0"/>
                  <a:t>2.5% of values</a:t>
                </a:r>
                <a:r>
                  <a:rPr lang="en-IN" dirty="0"/>
                  <a:t> will exceed it (since area above z = 2 ≈ 0.0228).</a:t>
                </a:r>
              </a:p>
              <a:p>
                <a:r>
                  <a:rPr lang="en-IN" b="1" dirty="0"/>
                  <a:t>Q2: Worker’s time on the job</a:t>
                </a:r>
              </a:p>
              <a:p>
                <a:r>
                  <a:rPr lang="en-IN" dirty="0"/>
                  <a:t>Mean (</a:t>
                </a:r>
                <a14:m>
                  <m:oMath xmlns:m="http://schemas.openxmlformats.org/officeDocument/2006/math">
                    <m:r>
                      <a:rPr lang="en-IN" sz="1200" i="1" kern="1200">
                        <a:solidFill>
                          <a:schemeClr val="tx1"/>
                        </a:solidFill>
                        <a:latin typeface="Cambria Math" panose="02040503050406030204" pitchFamily="18" charset="0"/>
                        <a:ea typeface="+mn-ea"/>
                        <a:cs typeface="+mn-cs"/>
                      </a:rPr>
                      <m:t>𝜇</m:t>
                    </m:r>
                  </m:oMath>
                </a14:m>
                <a:r>
                  <a:rPr lang="en-IN" dirty="0"/>
                  <a:t>) = 419 minutes</a:t>
                </a:r>
              </a:p>
              <a:p>
                <a:r>
                  <a:rPr lang="en-IN" dirty="0"/>
                  <a:t>Standard Deviation (</a:t>
                </a:r>
                <a14:m>
                  <m:oMath xmlns:m="http://schemas.openxmlformats.org/officeDocument/2006/math">
                    <m:r>
                      <a:rPr lang="en-IN" sz="1200" i="1" kern="1200">
                        <a:solidFill>
                          <a:schemeClr val="tx1"/>
                        </a:solidFill>
                        <a:latin typeface="Cambria Math" panose="02040503050406030204" pitchFamily="18" charset="0"/>
                        <a:ea typeface="+mn-ea"/>
                        <a:cs typeface="+mn-cs"/>
                      </a:rPr>
                      <m:t>𝜎</m:t>
                    </m:r>
                  </m:oMath>
                </a14:m>
                <a:r>
                  <a:rPr lang="en-IN" dirty="0"/>
                  <a:t>) = 27 minutes</a:t>
                </a:r>
              </a:p>
              <a:p>
                <a:r>
                  <a:rPr lang="en-IN" dirty="0"/>
                  <a:t>Value (</a:t>
                </a:r>
                <a14:m>
                  <m:oMath xmlns:m="http://schemas.openxmlformats.org/officeDocument/2006/math">
                    <m:r>
                      <a:rPr lang="en-IN" sz="1200" i="1" kern="1200">
                        <a:solidFill>
                          <a:schemeClr val="tx1"/>
                        </a:solidFill>
                        <a:latin typeface="Cambria Math" panose="02040503050406030204" pitchFamily="18" charset="0"/>
                        <a:ea typeface="+mn-ea"/>
                        <a:cs typeface="+mn-cs"/>
                      </a:rPr>
                      <m:t>𝑋</m:t>
                    </m:r>
                  </m:oMath>
                </a14:m>
                <a:r>
                  <a:rPr lang="en-IN" dirty="0"/>
                  <a:t>) = 400 minutes</a:t>
                </a:r>
              </a:p>
              <a:p>
                <a:r>
                  <a:rPr lang="en-IN" b="1" dirty="0"/>
                  <a:t>Step 1: Formula</a:t>
                </a:r>
              </a:p>
              <a:p>
                <a:pPr/>
                <a14:m>
                  <m:oMathPara xmlns:m="http://schemas.openxmlformats.org/officeDocument/2006/math">
                    <m:oMathParaPr>
                      <m:jc m:val="centerGroup"/>
                    </m:oMathParaPr>
                    <m:oMath xmlns:m="http://schemas.openxmlformats.org/officeDocument/2006/math">
                      <m:r>
                        <a:rPr lang="en-IN" sz="1200" i="1" kern="1200">
                          <a:solidFill>
                            <a:schemeClr val="tx1"/>
                          </a:solidFill>
                          <a:latin typeface="Cambria Math" panose="02040503050406030204" pitchFamily="18" charset="0"/>
                          <a:ea typeface="+mn-ea"/>
                          <a:cs typeface="+mn-cs"/>
                        </a:rPr>
                        <m:t>𝑍</m:t>
                      </m:r>
                      <m:r>
                        <a:rPr lang="en-IN"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1" kern="1200">
                              <a:solidFill>
                                <a:schemeClr val="tx1"/>
                              </a:solidFill>
                              <a:latin typeface="Cambria Math" panose="02040503050406030204" pitchFamily="18" charset="0"/>
                              <a:ea typeface="+mn-ea"/>
                              <a:cs typeface="+mn-cs"/>
                            </a:rPr>
                            <m:t>𝑋</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𝜇</m:t>
                          </m:r>
                        </m:num>
                        <m:den>
                          <m:r>
                            <a:rPr lang="ar-AE" sz="1200" i="1" kern="1200">
                              <a:solidFill>
                                <a:schemeClr val="tx1"/>
                              </a:solidFill>
                              <a:latin typeface="Cambria Math" panose="02040503050406030204" pitchFamily="18" charset="0"/>
                              <a:ea typeface="+mn-ea"/>
                              <a:cs typeface="+mn-cs"/>
                            </a:rPr>
                            <m:t>𝜎</m:t>
                          </m:r>
                        </m:den>
                      </m:f>
                    </m:oMath>
                  </m:oMathPara>
                </a14:m>
                <a:endParaRPr lang="ar-AE" dirty="0"/>
              </a:p>
              <a:p>
                <a:r>
                  <a:rPr lang="en-IN" b="1" dirty="0"/>
                  <a:t>Step 2: Substitution</a:t>
                </a:r>
              </a:p>
              <a:p>
                <a:pPr/>
                <a14:m>
                  <m:oMathPara xmlns:m="http://schemas.openxmlformats.org/officeDocument/2006/math">
                    <m:oMathParaPr>
                      <m:jc m:val="centerGroup"/>
                    </m:oMathParaPr>
                    <m:oMath xmlns:m="http://schemas.openxmlformats.org/officeDocument/2006/math">
                      <m:r>
                        <a:rPr lang="en-IN" sz="1200" i="1" kern="1200">
                          <a:solidFill>
                            <a:schemeClr val="tx1"/>
                          </a:solidFill>
                          <a:latin typeface="Cambria Math" panose="02040503050406030204" pitchFamily="18" charset="0"/>
                          <a:ea typeface="+mn-ea"/>
                          <a:cs typeface="+mn-cs"/>
                        </a:rPr>
                        <m:t>𝑍</m:t>
                      </m:r>
                      <m:r>
                        <a:rPr lang="en-IN"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400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419</m:t>
                          </m:r>
                        </m:num>
                        <m:den>
                          <m:r>
                            <a:rPr lang="ar-AE" sz="1200" i="0" kern="1200">
                              <a:solidFill>
                                <a:schemeClr val="tx1"/>
                              </a:solidFill>
                              <a:latin typeface="Cambria Math" panose="02040503050406030204" pitchFamily="18" charset="0"/>
                              <a:ea typeface="+mn-ea"/>
                              <a:cs typeface="+mn-cs"/>
                            </a:rPr>
                            <m:t>27</m:t>
                          </m:r>
                        </m:den>
                      </m:f>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19</m:t>
                          </m:r>
                        </m:num>
                        <m:den>
                          <m:r>
                            <a:rPr lang="ar-AE" sz="1200" i="0" kern="1200">
                              <a:solidFill>
                                <a:schemeClr val="tx1"/>
                              </a:solidFill>
                              <a:latin typeface="Cambria Math" panose="02040503050406030204" pitchFamily="18" charset="0"/>
                              <a:ea typeface="+mn-ea"/>
                              <a:cs typeface="+mn-cs"/>
                            </a:rPr>
                            <m:t>27</m:t>
                          </m:r>
                        </m:den>
                      </m:f>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70</m:t>
                      </m:r>
                    </m:oMath>
                  </m:oMathPara>
                </a14:m>
                <a:endParaRPr lang="ar-AE" dirty="0"/>
              </a:p>
              <a:p>
                <a:r>
                  <a:rPr lang="en-IN" b="1" dirty="0"/>
                  <a:t>Step 3: Interpretation</a:t>
                </a:r>
              </a:p>
              <a:p>
                <a:r>
                  <a:rPr lang="en-IN" dirty="0"/>
                  <a:t>A z-score of </a:t>
                </a:r>
                <a:r>
                  <a:rPr lang="en-IN" b="1" dirty="0"/>
                  <a:t>-0.70</a:t>
                </a:r>
                <a:r>
                  <a:rPr lang="en-IN" dirty="0"/>
                  <a:t> means the worker spends </a:t>
                </a:r>
                <a:r>
                  <a:rPr lang="en-IN" b="1" dirty="0"/>
                  <a:t>0.7 standard deviations below the average</a:t>
                </a:r>
                <a:r>
                  <a:rPr lang="en-IN" dirty="0"/>
                  <a:t> time.</a:t>
                </a:r>
              </a:p>
              <a:p>
                <a:r>
                  <a:rPr lang="en-IN" dirty="0"/>
                  <a:t>This is not unusual, because |z| &lt; 2.</a:t>
                </a:r>
              </a:p>
              <a:p>
                <a:r>
                  <a:rPr lang="en-IN" b="1" dirty="0"/>
                  <a:t>Comment:</a:t>
                </a:r>
                <a:r>
                  <a:rPr lang="en-IN" dirty="0"/>
                  <a:t> The worker’s time is a bit below average but still within the normal range of variation. The researcher can conclude this worker’s </a:t>
                </a:r>
                <a:r>
                  <a:rPr lang="en-IN" dirty="0" err="1"/>
                  <a:t>behavior</a:t>
                </a:r>
                <a:r>
                  <a:rPr lang="en-IN" dirty="0"/>
                  <a:t> is </a:t>
                </a:r>
                <a:r>
                  <a:rPr lang="en-IN" b="1" dirty="0"/>
                  <a:t>slightly less than typical</a:t>
                </a:r>
                <a:r>
                  <a:rPr lang="en-IN" dirty="0"/>
                  <a:t>, but </a:t>
                </a:r>
                <a:r>
                  <a:rPr lang="en-IN" b="1" dirty="0"/>
                  <a:t>not abnormal</a:t>
                </a:r>
                <a:r>
                  <a:rPr lang="en-IN" dirty="0"/>
                  <a:t> compared to the population.</a:t>
                </a:r>
              </a:p>
              <a:p>
                <a:r>
                  <a:rPr lang="en-US" b="1" dirty="0"/>
                  <a:t>Behavioral interpretation</a:t>
                </a:r>
                <a:r>
                  <a:rPr lang="en-US" dirty="0"/>
                  <a:t>:</a:t>
                </a:r>
              </a:p>
              <a:p>
                <a:r>
                  <a:rPr lang="en-US" dirty="0"/>
                  <a:t>The worker’s job time is </a:t>
                </a:r>
                <a:r>
                  <a:rPr lang="en-US" b="1" dirty="0"/>
                  <a:t>a bit shorter than typical</a:t>
                </a:r>
                <a:r>
                  <a:rPr lang="en-US" dirty="0"/>
                  <a:t>, but not unusual enough to raise immediate concern.</a:t>
                </a:r>
              </a:p>
              <a:p>
                <a:r>
                  <a:rPr lang="en-US" dirty="0"/>
                  <a:t>It could reflect </a:t>
                </a:r>
                <a:r>
                  <a:rPr lang="en-US" b="1" dirty="0"/>
                  <a:t>minor variations</a:t>
                </a:r>
                <a:r>
                  <a:rPr lang="en-US" dirty="0"/>
                  <a:t> like leaving slightly early, fewer tasks on hand, or personal work style.</a:t>
                </a:r>
              </a:p>
              <a:p>
                <a:r>
                  <a:rPr lang="en-US" dirty="0"/>
                  <a:t>It does </a:t>
                </a:r>
                <a:r>
                  <a:rPr lang="en-US" b="1" dirty="0"/>
                  <a:t>not indicate underperformance or disengagement</a:t>
                </a:r>
                <a:r>
                  <a:rPr lang="en-US" dirty="0"/>
                  <a:t> by itself.</a:t>
                </a:r>
              </a:p>
              <a:p>
                <a:br>
                  <a:rPr lang="en-IN" dirty="0"/>
                </a:br>
                <a:endParaRPr lang="en-IN" dirty="0"/>
              </a:p>
              <a:p>
                <a:r>
                  <a:rPr lang="en-IN" b="1" dirty="0"/>
                  <a:t>✅ Final Answers</a:t>
                </a:r>
              </a:p>
              <a:p>
                <a:r>
                  <a:rPr lang="en-IN" b="1" dirty="0"/>
                  <a:t>Z = 2.0</a:t>
                </a:r>
                <a:r>
                  <a:rPr lang="en-IN" dirty="0"/>
                  <a:t> (value = 70) → 2 SD above mean; rare but not extreme.</a:t>
                </a:r>
              </a:p>
              <a:p>
                <a:r>
                  <a:rPr lang="en-IN" b="1" dirty="0"/>
                  <a:t>Z ≈ -0.70</a:t>
                </a:r>
                <a:r>
                  <a:rPr lang="en-IN" dirty="0"/>
                  <a:t> (value = 400) → 0.7 SD below mean; quite typical, not unusual.</a:t>
                </a:r>
              </a:p>
              <a:p>
                <a:endParaRPr lang="en-IN" dirty="0"/>
              </a:p>
              <a:p>
                <a:endParaRPr lang="en-IN" dirty="0"/>
              </a:p>
            </p:txBody>
          </p:sp>
        </mc:Choice>
        <mc:Fallback xmlns="">
          <p:sp>
            <p:nvSpPr>
              <p:cNvPr id="3" name="Notes Placeholder 2"/>
              <p:cNvSpPr>
                <a:spLocks noGrp="1"/>
              </p:cNvSpPr>
              <p:nvPr>
                <p:ph type="body" idx="1"/>
              </p:nvPr>
            </p:nvSpPr>
            <p:spPr/>
            <p:txBody>
              <a:bodyPr/>
              <a:lstStyle/>
              <a:p>
                <a:r>
                  <a:rPr lang="en-IN" b="1" dirty="0"/>
                  <a:t>Q1: Dataset with mean = 50, SD = 10, Value = 70</a:t>
                </a:r>
              </a:p>
              <a:p>
                <a:r>
                  <a:rPr lang="en-IN" b="1" dirty="0"/>
                  <a:t>Step 1: Formula</a:t>
                </a:r>
              </a:p>
              <a:p>
                <a:r>
                  <a:rPr lang="en-IN" sz="1200" i="0" kern="1200">
                    <a:solidFill>
                      <a:schemeClr val="tx1"/>
                    </a:solidFill>
                    <a:latin typeface="+mn-lt"/>
                    <a:ea typeface="+mn-ea"/>
                    <a:cs typeface="+mn-cs"/>
                  </a:rPr>
                  <a:t>𝑍=</a:t>
                </a:r>
                <a:r>
                  <a:rPr lang="ar-AE" sz="1200" i="0" kern="1200">
                    <a:solidFill>
                      <a:schemeClr val="tx1"/>
                    </a:solidFill>
                    <a:latin typeface="+mn-lt"/>
                    <a:ea typeface="+mn-ea"/>
                    <a:cs typeface="+mn-cs"/>
                  </a:rPr>
                  <a:t>(𝑋−𝜇)/𝜎</a:t>
                </a:r>
                <a:endParaRPr lang="ar-AE" dirty="0"/>
              </a:p>
              <a:p>
                <a:r>
                  <a:rPr lang="en-IN" b="1" dirty="0"/>
                  <a:t>Step 2: Substitution</a:t>
                </a:r>
              </a:p>
              <a:p>
                <a:r>
                  <a:rPr lang="en-IN" sz="1200" i="0" kern="1200">
                    <a:solidFill>
                      <a:schemeClr val="tx1"/>
                    </a:solidFill>
                    <a:latin typeface="+mn-lt"/>
                    <a:ea typeface="+mn-ea"/>
                    <a:cs typeface="+mn-cs"/>
                  </a:rPr>
                  <a:t>𝑍=</a:t>
                </a:r>
                <a:r>
                  <a:rPr lang="ar-AE" sz="1200" i="0" kern="1200">
                    <a:solidFill>
                      <a:schemeClr val="tx1"/>
                    </a:solidFill>
                    <a:latin typeface="+mn-lt"/>
                    <a:ea typeface="+mn-ea"/>
                    <a:cs typeface="+mn-cs"/>
                  </a:rPr>
                  <a:t>(70−50)/10=20/10=2.0</a:t>
                </a:r>
                <a:endParaRPr lang="ar-AE" dirty="0"/>
              </a:p>
              <a:p>
                <a:r>
                  <a:rPr lang="en-IN" b="1" dirty="0"/>
                  <a:t>Step 3: Interpretation</a:t>
                </a:r>
              </a:p>
              <a:p>
                <a:r>
                  <a:rPr lang="en-IN" dirty="0"/>
                  <a:t>A z-score of </a:t>
                </a:r>
                <a:r>
                  <a:rPr lang="en-IN" b="1" dirty="0"/>
                  <a:t>2.0</a:t>
                </a:r>
                <a:r>
                  <a:rPr lang="en-IN" dirty="0"/>
                  <a:t> means the value 70 lies </a:t>
                </a:r>
                <a:r>
                  <a:rPr lang="en-IN" b="1" dirty="0"/>
                  <a:t>2 standard deviations above the mean</a:t>
                </a:r>
                <a:r>
                  <a:rPr lang="en-IN" dirty="0"/>
                  <a:t>.</a:t>
                </a:r>
              </a:p>
              <a:p>
                <a:r>
                  <a:rPr lang="en-IN" dirty="0"/>
                  <a:t>In a normal distribution:</a:t>
                </a:r>
              </a:p>
              <a:p>
                <a:pPr lvl="1"/>
                <a:r>
                  <a:rPr lang="en-IN" dirty="0"/>
                  <a:t>About 95% of data lies within ±2 SD.</a:t>
                </a:r>
              </a:p>
              <a:p>
                <a:pPr lvl="1"/>
                <a:r>
                  <a:rPr lang="en-IN" dirty="0"/>
                  <a:t>So this value is </a:t>
                </a:r>
                <a:r>
                  <a:rPr lang="en-IN" b="1" dirty="0"/>
                  <a:t>high but still within the expected range</a:t>
                </a:r>
                <a:r>
                  <a:rPr lang="en-IN" dirty="0"/>
                  <a:t>, not an outlier.</a:t>
                </a:r>
              </a:p>
              <a:p>
                <a:r>
                  <a:rPr lang="en-IN" b="1" dirty="0"/>
                  <a:t>Comment:</a:t>
                </a:r>
                <a:r>
                  <a:rPr lang="en-IN" dirty="0"/>
                  <a:t> This tells the statistician that 70 is higher than the average (50), and only about </a:t>
                </a:r>
                <a:r>
                  <a:rPr lang="en-IN" b="1" dirty="0"/>
                  <a:t>2.5% of values</a:t>
                </a:r>
                <a:r>
                  <a:rPr lang="en-IN" dirty="0"/>
                  <a:t> will exceed it (since area above z = 2 ≈ 0.0228).</a:t>
                </a:r>
              </a:p>
              <a:p>
                <a:r>
                  <a:rPr lang="en-IN" b="1" dirty="0"/>
                  <a:t>Q2: Worker’s time on the job</a:t>
                </a:r>
              </a:p>
              <a:p>
                <a:r>
                  <a:rPr lang="en-IN" dirty="0"/>
                  <a:t>Mean (</a:t>
                </a:r>
                <a:r>
                  <a:rPr lang="en-IN" sz="1200" i="0" kern="1200">
                    <a:solidFill>
                      <a:schemeClr val="tx1"/>
                    </a:solidFill>
                    <a:latin typeface="+mn-lt"/>
                    <a:ea typeface="+mn-ea"/>
                    <a:cs typeface="+mn-cs"/>
                  </a:rPr>
                  <a:t>𝜇</a:t>
                </a:r>
                <a:r>
                  <a:rPr lang="en-IN" dirty="0"/>
                  <a:t>) = 419 minutes</a:t>
                </a:r>
              </a:p>
              <a:p>
                <a:r>
                  <a:rPr lang="en-IN" dirty="0"/>
                  <a:t>Standard Deviation (</a:t>
                </a:r>
                <a:r>
                  <a:rPr lang="en-IN" sz="1200" i="0" kern="1200">
                    <a:solidFill>
                      <a:schemeClr val="tx1"/>
                    </a:solidFill>
                    <a:latin typeface="+mn-lt"/>
                    <a:ea typeface="+mn-ea"/>
                    <a:cs typeface="+mn-cs"/>
                  </a:rPr>
                  <a:t>𝜎</a:t>
                </a:r>
                <a:r>
                  <a:rPr lang="en-IN" dirty="0"/>
                  <a:t>) = 27 minutes</a:t>
                </a:r>
              </a:p>
              <a:p>
                <a:r>
                  <a:rPr lang="en-IN" dirty="0"/>
                  <a:t>Value (</a:t>
                </a:r>
                <a:r>
                  <a:rPr lang="en-IN" sz="1200" i="0" kern="1200">
                    <a:solidFill>
                      <a:schemeClr val="tx1"/>
                    </a:solidFill>
                    <a:latin typeface="+mn-lt"/>
                    <a:ea typeface="+mn-ea"/>
                    <a:cs typeface="+mn-cs"/>
                  </a:rPr>
                  <a:t>𝑋</a:t>
                </a:r>
                <a:r>
                  <a:rPr lang="en-IN" dirty="0"/>
                  <a:t>) = 400 minutes</a:t>
                </a:r>
              </a:p>
              <a:p>
                <a:r>
                  <a:rPr lang="en-IN" b="1" dirty="0"/>
                  <a:t>Step 1: Formula</a:t>
                </a:r>
              </a:p>
              <a:p>
                <a:r>
                  <a:rPr lang="en-IN" sz="1200" i="0" kern="1200">
                    <a:solidFill>
                      <a:schemeClr val="tx1"/>
                    </a:solidFill>
                    <a:latin typeface="+mn-lt"/>
                    <a:ea typeface="+mn-ea"/>
                    <a:cs typeface="+mn-cs"/>
                  </a:rPr>
                  <a:t>𝑍=</a:t>
                </a:r>
                <a:r>
                  <a:rPr lang="ar-AE" sz="1200" i="0" kern="1200">
                    <a:solidFill>
                      <a:schemeClr val="tx1"/>
                    </a:solidFill>
                    <a:latin typeface="+mn-lt"/>
                    <a:ea typeface="+mn-ea"/>
                    <a:cs typeface="+mn-cs"/>
                  </a:rPr>
                  <a:t>(𝑋−𝜇)/𝜎</a:t>
                </a:r>
                <a:endParaRPr lang="ar-AE" dirty="0"/>
              </a:p>
              <a:p>
                <a:r>
                  <a:rPr lang="en-IN" b="1" dirty="0"/>
                  <a:t>Step 2: Substitution</a:t>
                </a:r>
              </a:p>
              <a:p>
                <a:r>
                  <a:rPr lang="en-IN" sz="1200" i="0" kern="1200">
                    <a:solidFill>
                      <a:schemeClr val="tx1"/>
                    </a:solidFill>
                    <a:latin typeface="+mn-lt"/>
                    <a:ea typeface="+mn-ea"/>
                    <a:cs typeface="+mn-cs"/>
                  </a:rPr>
                  <a:t>𝑍=</a:t>
                </a:r>
                <a:r>
                  <a:rPr lang="ar-AE" sz="1200" i="0" kern="1200">
                    <a:solidFill>
                      <a:schemeClr val="tx1"/>
                    </a:solidFill>
                    <a:latin typeface="+mn-lt"/>
                    <a:ea typeface="+mn-ea"/>
                    <a:cs typeface="+mn-cs"/>
                  </a:rPr>
                  <a:t>(400−419)/27=(−19)/27≈−0.70</a:t>
                </a:r>
                <a:endParaRPr lang="ar-AE" dirty="0"/>
              </a:p>
              <a:p>
                <a:r>
                  <a:rPr lang="en-IN" b="1" dirty="0"/>
                  <a:t>Step 3: Interpretation</a:t>
                </a:r>
              </a:p>
              <a:p>
                <a:r>
                  <a:rPr lang="en-IN" dirty="0"/>
                  <a:t>A z-score of </a:t>
                </a:r>
                <a:r>
                  <a:rPr lang="en-IN" b="1" dirty="0"/>
                  <a:t>-0.70</a:t>
                </a:r>
                <a:r>
                  <a:rPr lang="en-IN" dirty="0"/>
                  <a:t> means the worker spends </a:t>
                </a:r>
                <a:r>
                  <a:rPr lang="en-IN" b="1" dirty="0"/>
                  <a:t>0.7 standard deviations below the average</a:t>
                </a:r>
                <a:r>
                  <a:rPr lang="en-IN" dirty="0"/>
                  <a:t> time.</a:t>
                </a:r>
              </a:p>
              <a:p>
                <a:r>
                  <a:rPr lang="en-IN" dirty="0"/>
                  <a:t>This is not unusual, because |z| &lt; 2.</a:t>
                </a:r>
              </a:p>
              <a:p>
                <a:r>
                  <a:rPr lang="en-IN" b="1" dirty="0"/>
                  <a:t>Comment:</a:t>
                </a:r>
                <a:r>
                  <a:rPr lang="en-IN" dirty="0"/>
                  <a:t> The worker’s time is a bit below average but still within the normal range of variation. The researcher can conclude this worker’s </a:t>
                </a:r>
                <a:r>
                  <a:rPr lang="en-IN" dirty="0" err="1"/>
                  <a:t>behavior</a:t>
                </a:r>
                <a:r>
                  <a:rPr lang="en-IN" dirty="0"/>
                  <a:t> is </a:t>
                </a:r>
                <a:r>
                  <a:rPr lang="en-IN" b="1" dirty="0"/>
                  <a:t>slightly less than typical</a:t>
                </a:r>
                <a:r>
                  <a:rPr lang="en-IN" dirty="0"/>
                  <a:t>, but </a:t>
                </a:r>
                <a:r>
                  <a:rPr lang="en-IN" b="1" dirty="0"/>
                  <a:t>not abnormal</a:t>
                </a:r>
                <a:r>
                  <a:rPr lang="en-IN" dirty="0"/>
                  <a:t> compared to the population.</a:t>
                </a:r>
              </a:p>
              <a:p>
                <a:r>
                  <a:rPr lang="en-US" b="1" dirty="0"/>
                  <a:t>Behavioral interpretation</a:t>
                </a:r>
                <a:r>
                  <a:rPr lang="en-US" dirty="0"/>
                  <a:t>:</a:t>
                </a:r>
              </a:p>
              <a:p>
                <a:r>
                  <a:rPr lang="en-US" dirty="0"/>
                  <a:t>The worker’s job time is </a:t>
                </a:r>
                <a:r>
                  <a:rPr lang="en-US" b="1" dirty="0"/>
                  <a:t>a bit shorter than typical</a:t>
                </a:r>
                <a:r>
                  <a:rPr lang="en-US" dirty="0"/>
                  <a:t>, but not unusual enough to raise immediate concern.</a:t>
                </a:r>
              </a:p>
              <a:p>
                <a:r>
                  <a:rPr lang="en-US" dirty="0"/>
                  <a:t>It could reflect </a:t>
                </a:r>
                <a:r>
                  <a:rPr lang="en-US" b="1" dirty="0"/>
                  <a:t>minor variations</a:t>
                </a:r>
                <a:r>
                  <a:rPr lang="en-US" dirty="0"/>
                  <a:t> like leaving slightly early, fewer tasks on hand, or personal work style.</a:t>
                </a:r>
              </a:p>
              <a:p>
                <a:r>
                  <a:rPr lang="en-US" dirty="0"/>
                  <a:t>It does </a:t>
                </a:r>
                <a:r>
                  <a:rPr lang="en-US" b="1" dirty="0"/>
                  <a:t>not indicate underperformance or disengagement</a:t>
                </a:r>
                <a:r>
                  <a:rPr lang="en-US" dirty="0"/>
                  <a:t> by itself.</a:t>
                </a:r>
              </a:p>
              <a:p>
                <a:br>
                  <a:rPr lang="en-IN" dirty="0"/>
                </a:br>
                <a:endParaRPr lang="en-IN" dirty="0"/>
              </a:p>
              <a:p>
                <a:r>
                  <a:rPr lang="en-IN" b="1" dirty="0"/>
                  <a:t>✅ Final Answers</a:t>
                </a:r>
              </a:p>
              <a:p>
                <a:r>
                  <a:rPr lang="en-IN" b="1" dirty="0"/>
                  <a:t>Z = 2.0</a:t>
                </a:r>
                <a:r>
                  <a:rPr lang="en-IN" dirty="0"/>
                  <a:t> (value = 70) → 2 SD above mean; rare but not extreme.</a:t>
                </a:r>
              </a:p>
              <a:p>
                <a:r>
                  <a:rPr lang="en-IN" b="1" dirty="0"/>
                  <a:t>Z ≈ -0.70</a:t>
                </a:r>
                <a:r>
                  <a:rPr lang="en-IN" dirty="0"/>
                  <a:t> (value = 400) → 0.7 SD below mean; quite typical, not unusual.</a:t>
                </a:r>
              </a:p>
              <a:p>
                <a:endParaRPr lang="en-IN" dirty="0"/>
              </a:p>
              <a:p>
                <a:endParaRPr lang="en-IN" dirty="0"/>
              </a:p>
            </p:txBody>
          </p:sp>
        </mc:Fallback>
      </mc:AlternateContent>
      <p:sp>
        <p:nvSpPr>
          <p:cNvPr id="4" name="Slide Number Placeholder 3"/>
          <p:cNvSpPr>
            <a:spLocks noGrp="1"/>
          </p:cNvSpPr>
          <p:nvPr>
            <p:ph type="sldNum" sz="quarter" idx="5"/>
          </p:nvPr>
        </p:nvSpPr>
        <p:spPr/>
        <p:txBody>
          <a:bodyPr/>
          <a:lstStyle/>
          <a:p>
            <a:fld id="{B3160891-C122-4257-96AF-D0ABD6E8CC3C}" type="slidenum">
              <a:rPr lang="en-IN" smtClean="0"/>
              <a:t>38</a:t>
            </a:fld>
            <a:endParaRPr lang="en-IN"/>
          </a:p>
        </p:txBody>
      </p:sp>
    </p:spTree>
    <p:extLst>
      <p:ext uri="{BB962C8B-B14F-4D97-AF65-F5344CB8AC3E}">
        <p14:creationId xmlns:p14="http://schemas.microsoft.com/office/powerpoint/2010/main" val="3103295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dirty="0"/>
                  <a:t>You computed the sample means (in percent):</a:t>
                </a:r>
              </a:p>
              <a:p>
                <a:r>
                  <a:rPr lang="en-IN" dirty="0"/>
                  <a:t>Mean(ABC) = (1.1 + 1.7 + 2.1 + 1.4 + 0.2) / 5 = </a:t>
                </a:r>
                <a:r>
                  <a:rPr lang="en-IN" b="1" dirty="0"/>
                  <a:t>1.30</a:t>
                </a:r>
                <a:r>
                  <a:rPr lang="en-IN" dirty="0"/>
                  <a:t> (%)</a:t>
                </a:r>
              </a:p>
              <a:p>
                <a:r>
                  <a:rPr lang="en-IN" dirty="0"/>
                  <a:t>Mean(XYZ) = (3 + 4.2 + 4.9 + 4.1 + 2.5) / 5 = </a:t>
                </a:r>
                <a:r>
                  <a:rPr lang="en-IN" b="1" dirty="0"/>
                  <a:t>3.74</a:t>
                </a:r>
                <a:r>
                  <a:rPr lang="en-IN" dirty="0"/>
                  <a:t> (%)</a:t>
                </a:r>
              </a:p>
              <a:p>
                <a:r>
                  <a:rPr lang="en-IN" dirty="0"/>
                  <a:t>Then you computed deviations and their products:</a:t>
                </a:r>
              </a:p>
              <a:p>
                <a:r>
                  <a:rPr lang="en-IN" dirty="0" err="1"/>
                  <a:t>Daywise</a:t>
                </a:r>
                <a:r>
                  <a:rPr lang="en-IN" dirty="0"/>
                  <a:t> products you listed:</a:t>
                </a:r>
              </a:p>
              <a:p>
                <a:r>
                  <a:rPr lang="en-IN" dirty="0"/>
                  <a:t>Day1: (1.1−1.30)(3.0−3.74) = (−0.20)(−0.74) = </a:t>
                </a:r>
                <a:r>
                  <a:rPr lang="en-IN" b="1" dirty="0"/>
                  <a:t>+0.148</a:t>
                </a:r>
                <a:endParaRPr lang="en-IN" dirty="0"/>
              </a:p>
              <a:p>
                <a:r>
                  <a:rPr lang="en-IN" dirty="0"/>
                  <a:t>Day2: (1.7−1.30)(4.2−3.74) = (0.40)(0.46) = </a:t>
                </a:r>
                <a:r>
                  <a:rPr lang="en-IN" b="1" dirty="0"/>
                  <a:t>+0.184</a:t>
                </a:r>
                <a:endParaRPr lang="en-IN" dirty="0"/>
              </a:p>
              <a:p>
                <a:r>
                  <a:rPr lang="en-IN" dirty="0"/>
                  <a:t>Day3: (2.1−1.30)(4.9−3.74) = (0.80)(1.16) = </a:t>
                </a:r>
                <a:r>
                  <a:rPr lang="en-IN" b="1" dirty="0"/>
                  <a:t>+0.928</a:t>
                </a:r>
                <a:endParaRPr lang="en-IN" dirty="0"/>
              </a:p>
              <a:p>
                <a:r>
                  <a:rPr lang="en-IN" dirty="0"/>
                  <a:t>Day4: (1.4−1.30)(4.1−3.74) = (0.10)(0.36) = </a:t>
                </a:r>
                <a:r>
                  <a:rPr lang="en-IN" b="1" dirty="0"/>
                  <a:t>+0.036</a:t>
                </a:r>
                <a:endParaRPr lang="en-IN" dirty="0"/>
              </a:p>
              <a:p>
                <a:r>
                  <a:rPr lang="en-IN" dirty="0"/>
                  <a:t>Day5: (0.2−1.30)(2.5−3.74) = (−1.10)(−1.24) = </a:t>
                </a:r>
                <a:r>
                  <a:rPr lang="en-IN" b="1" dirty="0"/>
                  <a:t>+1.364</a:t>
                </a:r>
                <a:endParaRPr lang="en-IN" dirty="0"/>
              </a:p>
              <a:p>
                <a:r>
                  <a:rPr lang="en-IN" dirty="0"/>
                  <a:t>Sum of products = </a:t>
                </a:r>
                <a:r>
                  <a:rPr lang="en-IN" b="1" dirty="0"/>
                  <a:t>2.66</a:t>
                </a:r>
                <a:endParaRPr lang="en-IN" dirty="0"/>
              </a:p>
              <a:p>
                <a:r>
                  <a:rPr lang="en-IN" dirty="0"/>
                  <a:t>Sample covariance (using n−1 = 4):</a:t>
                </a:r>
              </a:p>
              <a:p>
                <a:pPr/>
                <a14:m>
                  <m:oMathPara xmlns:m="http://schemas.openxmlformats.org/officeDocument/2006/math">
                    <m:oMathParaPr>
                      <m:jc m:val="centerGroup"/>
                    </m:oMathParaPr>
                    <m:oMath xmlns:m="http://schemas.openxmlformats.org/officeDocument/2006/math">
                      <m:sSub>
                        <m:sSubPr>
                          <m:ctrlPr>
                            <a:rPr lang="ar-AE" sz="1200" b="0" i="1" kern="1200">
                              <a:solidFill>
                                <a:schemeClr val="tx1"/>
                              </a:solidFill>
                              <a:latin typeface="Cambria Math" panose="02040503050406030204" pitchFamily="18" charset="0"/>
                              <a:ea typeface="+mn-ea"/>
                              <a:cs typeface="+mn-cs"/>
                            </a:rPr>
                          </m:ctrlPr>
                        </m:sSubPr>
                        <m:e>
                          <m:r>
                            <m:rPr>
                              <m:nor/>
                            </m:rPr>
                            <a:rPr lang="en-IN" b="0"/>
                            <m:t>Cov</m:t>
                          </m:r>
                        </m:e>
                        <m:sub>
                          <m:r>
                            <a:rPr lang="ar-AE" sz="1200" b="0" i="0" kern="1200">
                              <a:solidFill>
                                <a:schemeClr val="tx1"/>
                              </a:solidFill>
                              <a:latin typeface="Cambria Math" panose="02040503050406030204" pitchFamily="18" charset="0"/>
                              <a:ea typeface="+mn-ea"/>
                              <a:cs typeface="+mn-cs"/>
                            </a:rPr>
                            <m:t>%</m:t>
                          </m:r>
                        </m:sub>
                      </m:sSub>
                      <m:r>
                        <a:rPr lang="ar-AE" sz="1200" b="0" i="0" kern="1200">
                          <a:solidFill>
                            <a:schemeClr val="tx1"/>
                          </a:solidFill>
                          <a:latin typeface="Cambria Math" panose="02040503050406030204" pitchFamily="18" charset="0"/>
                          <a:ea typeface="+mn-ea"/>
                          <a:cs typeface="+mn-cs"/>
                        </a:rPr>
                        <m:t>=</m:t>
                      </m:r>
                      <m:f>
                        <m:fPr>
                          <m:ctrlPr>
                            <a:rPr lang="ar-AE" sz="1200" b="0" i="1" kern="1200">
                              <a:solidFill>
                                <a:schemeClr val="tx1"/>
                              </a:solidFill>
                              <a:latin typeface="Cambria Math" panose="02040503050406030204" pitchFamily="18" charset="0"/>
                              <a:ea typeface="+mn-ea"/>
                              <a:cs typeface="+mn-cs"/>
                            </a:rPr>
                          </m:ctrlPr>
                        </m:fPr>
                        <m:num>
                          <m:r>
                            <a:rPr lang="ar-AE" sz="1200" b="0" i="0" kern="1200">
                              <a:solidFill>
                                <a:schemeClr val="tx1"/>
                              </a:solidFill>
                              <a:latin typeface="Cambria Math" panose="02040503050406030204" pitchFamily="18" charset="0"/>
                              <a:ea typeface="+mn-ea"/>
                              <a:cs typeface="+mn-cs"/>
                            </a:rPr>
                            <m:t>2</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66</m:t>
                          </m:r>
                        </m:num>
                        <m:den>
                          <m:r>
                            <a:rPr lang="ar-AE" sz="1200" b="0" i="0" kern="1200">
                              <a:solidFill>
                                <a:schemeClr val="tx1"/>
                              </a:solidFill>
                              <a:latin typeface="Cambria Math" panose="02040503050406030204" pitchFamily="18" charset="0"/>
                              <a:ea typeface="+mn-ea"/>
                              <a:cs typeface="+mn-cs"/>
                            </a:rPr>
                            <m:t>4</m:t>
                          </m:r>
                        </m:den>
                      </m:f>
                      <m:r>
                        <a:rPr lang="ar-AE" sz="1200" b="0" i="0" kern="1200">
                          <a:solidFill>
                            <a:schemeClr val="tx1"/>
                          </a:solidFill>
                          <a:latin typeface="Cambria Math" panose="02040503050406030204" pitchFamily="18" charset="0"/>
                          <a:ea typeface="+mn-ea"/>
                          <a:cs typeface="+mn-cs"/>
                        </a:rPr>
                        <m:t>=</m:t>
                      </m:r>
                      <m:r>
                        <a:rPr lang="ar-AE" sz="1200" b="1" i="0" kern="1200">
                          <a:solidFill>
                            <a:schemeClr val="tx1"/>
                          </a:solidFill>
                          <a:latin typeface="Cambria Math" panose="02040503050406030204" pitchFamily="18" charset="0"/>
                          <a:ea typeface="+mn-ea"/>
                          <a:cs typeface="+mn-cs"/>
                        </a:rPr>
                        <m:t>𝟎</m:t>
                      </m:r>
                      <m:r>
                        <a:rPr lang="ar-AE" sz="1200" b="0" i="0" kern="1200">
                          <a:solidFill>
                            <a:schemeClr val="tx1"/>
                          </a:solidFill>
                          <a:latin typeface="Cambria Math" panose="02040503050406030204" pitchFamily="18" charset="0"/>
                          <a:ea typeface="+mn-ea"/>
                          <a:cs typeface="+mn-cs"/>
                        </a:rPr>
                        <m:t>.</m:t>
                      </m:r>
                      <m:r>
                        <a:rPr lang="ar-AE" sz="1200" b="1" i="0" kern="1200">
                          <a:solidFill>
                            <a:schemeClr val="tx1"/>
                          </a:solidFill>
                          <a:latin typeface="Cambria Math" panose="02040503050406030204" pitchFamily="18" charset="0"/>
                          <a:ea typeface="+mn-ea"/>
                          <a:cs typeface="+mn-cs"/>
                        </a:rPr>
                        <m:t>𝟔𝟔𝟓</m:t>
                      </m:r>
                    </m:oMath>
                  </m:oMathPara>
                </a14:m>
                <a:endParaRPr lang="ar-AE" b="1" dirty="0"/>
              </a:p>
              <a:p>
                <a:r>
                  <a:rPr lang="en-US" dirty="0"/>
                  <a:t>So in </a:t>
                </a:r>
                <a:r>
                  <a:rPr lang="en-US" b="1" dirty="0"/>
                  <a:t>percent units</a:t>
                </a:r>
                <a:r>
                  <a:rPr lang="en-US" dirty="0"/>
                  <a:t> the sample covariance is </a:t>
                </a:r>
                <a:r>
                  <a:rPr lang="en-US" b="1" dirty="0"/>
                  <a:t>0.665 (percent²)</a:t>
                </a:r>
              </a:p>
              <a:p>
                <a:r>
                  <a:rPr lang="en-US" b="1" dirty="0"/>
                  <a:t>Interpretation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covariance is </a:t>
                </a:r>
                <a:r>
                  <a:rPr lang="en-US" b="1" dirty="0"/>
                  <a:t>positive</a:t>
                </a:r>
                <a:r>
                  <a:rPr lang="en-US" dirty="0"/>
                  <a:t>, meaning when </a:t>
                </a:r>
                <a:r>
                  <a:rPr lang="en-US" b="1" dirty="0"/>
                  <a:t>ABC’s returns increase, XYZ’s returns also tend to increase</a:t>
                </a:r>
                <a:r>
                  <a:rPr lang="en-US" dirty="0"/>
                  <a:t>.</a:t>
                </a:r>
              </a:p>
              <a:p>
                <a:endParaRPr lang="en-IN" dirty="0"/>
              </a:p>
            </p:txBody>
          </p:sp>
        </mc:Choice>
        <mc:Fallback xmlns="">
          <p:sp>
            <p:nvSpPr>
              <p:cNvPr id="3" name="Notes Placeholder 2"/>
              <p:cNvSpPr>
                <a:spLocks noGrp="1"/>
              </p:cNvSpPr>
              <p:nvPr>
                <p:ph type="body" idx="1"/>
              </p:nvPr>
            </p:nvSpPr>
            <p:spPr/>
            <p:txBody>
              <a:bodyPr/>
              <a:lstStyle/>
              <a:p>
                <a:r>
                  <a:rPr lang="en-IN" dirty="0"/>
                  <a:t>You computed the sample means (in percent):</a:t>
                </a:r>
              </a:p>
              <a:p>
                <a:r>
                  <a:rPr lang="en-IN" dirty="0"/>
                  <a:t>Mean(ABC) = (1.1 + 1.7 + 2.1 + 1.4 + 0.2) / 5 = </a:t>
                </a:r>
                <a:r>
                  <a:rPr lang="en-IN" b="1" dirty="0"/>
                  <a:t>1.30</a:t>
                </a:r>
                <a:r>
                  <a:rPr lang="en-IN" dirty="0"/>
                  <a:t> (%)</a:t>
                </a:r>
              </a:p>
              <a:p>
                <a:r>
                  <a:rPr lang="en-IN" dirty="0"/>
                  <a:t>Mean(XYZ) = (3 + 4.2 + 4.9 + 4.1 + 2.5) / 5 = </a:t>
                </a:r>
                <a:r>
                  <a:rPr lang="en-IN" b="1" dirty="0"/>
                  <a:t>3.74</a:t>
                </a:r>
                <a:r>
                  <a:rPr lang="en-IN" dirty="0"/>
                  <a:t> (%)</a:t>
                </a:r>
              </a:p>
              <a:p>
                <a:r>
                  <a:rPr lang="en-IN" dirty="0"/>
                  <a:t>Then you computed deviations and their products:</a:t>
                </a:r>
              </a:p>
              <a:p>
                <a:r>
                  <a:rPr lang="en-IN" dirty="0" err="1"/>
                  <a:t>Daywise</a:t>
                </a:r>
                <a:r>
                  <a:rPr lang="en-IN" dirty="0"/>
                  <a:t> products you listed:</a:t>
                </a:r>
              </a:p>
              <a:p>
                <a:r>
                  <a:rPr lang="en-IN" dirty="0"/>
                  <a:t>Day1: (1.1−1.30)(3.0−3.74) = (−0.20)(−0.74) = </a:t>
                </a:r>
                <a:r>
                  <a:rPr lang="en-IN" b="1" dirty="0"/>
                  <a:t>+0.148</a:t>
                </a:r>
                <a:endParaRPr lang="en-IN" dirty="0"/>
              </a:p>
              <a:p>
                <a:r>
                  <a:rPr lang="en-IN" dirty="0"/>
                  <a:t>Day2: (1.7−1.30)(4.2−3.74) = (0.40)(0.46) = </a:t>
                </a:r>
                <a:r>
                  <a:rPr lang="en-IN" b="1" dirty="0"/>
                  <a:t>+0.184</a:t>
                </a:r>
                <a:endParaRPr lang="en-IN" dirty="0"/>
              </a:p>
              <a:p>
                <a:r>
                  <a:rPr lang="en-IN" dirty="0"/>
                  <a:t>Day3: (2.1−1.30)(4.9−3.74) = (0.80)(1.16) = </a:t>
                </a:r>
                <a:r>
                  <a:rPr lang="en-IN" b="1" dirty="0"/>
                  <a:t>+0.928</a:t>
                </a:r>
                <a:endParaRPr lang="en-IN" dirty="0"/>
              </a:p>
              <a:p>
                <a:r>
                  <a:rPr lang="en-IN" dirty="0"/>
                  <a:t>Day4: (1.4−1.30)(4.1−3.74) = (0.10)(0.36) = </a:t>
                </a:r>
                <a:r>
                  <a:rPr lang="en-IN" b="1" dirty="0"/>
                  <a:t>+0.036</a:t>
                </a:r>
                <a:endParaRPr lang="en-IN" dirty="0"/>
              </a:p>
              <a:p>
                <a:r>
                  <a:rPr lang="en-IN" dirty="0"/>
                  <a:t>Day5: (0.2−1.30)(2.5−3.74) = (−1.10)(−1.24) = </a:t>
                </a:r>
                <a:r>
                  <a:rPr lang="en-IN" b="1" dirty="0"/>
                  <a:t>+1.364</a:t>
                </a:r>
                <a:endParaRPr lang="en-IN" dirty="0"/>
              </a:p>
              <a:p>
                <a:r>
                  <a:rPr lang="en-IN" dirty="0"/>
                  <a:t>Sum of products = </a:t>
                </a:r>
                <a:r>
                  <a:rPr lang="en-IN" b="1" dirty="0"/>
                  <a:t>2.66</a:t>
                </a:r>
                <a:endParaRPr lang="en-IN" dirty="0"/>
              </a:p>
              <a:p>
                <a:r>
                  <a:rPr lang="en-IN" dirty="0"/>
                  <a:t>Sample covariance (using n−1 = 4):</a:t>
                </a:r>
              </a:p>
              <a:p>
                <a:r>
                  <a:rPr lang="ar-AE" sz="1200" b="0" i="0" kern="1200">
                    <a:solidFill>
                      <a:schemeClr val="tx1"/>
                    </a:solidFill>
                    <a:latin typeface="+mn-lt"/>
                    <a:ea typeface="+mn-ea"/>
                    <a:cs typeface="+mn-cs"/>
                  </a:rPr>
                  <a:t>〖</a:t>
                </a:r>
                <a:r>
                  <a:rPr lang="en-IN" sz="1200" b="0" i="0" kern="1200">
                    <a:solidFill>
                      <a:schemeClr val="tx1"/>
                    </a:solidFill>
                    <a:latin typeface="+mn-lt"/>
                    <a:ea typeface="+mn-ea"/>
                    <a:cs typeface="+mn-cs"/>
                  </a:rPr>
                  <a:t>"</a:t>
                </a:r>
                <a:r>
                  <a:rPr lang="en-IN" b="0" i="0"/>
                  <a:t>Cov</a:t>
                </a:r>
                <a:r>
                  <a:rPr lang="ar-AE" sz="1200" b="0" i="0" kern="1200">
                    <a:solidFill>
                      <a:schemeClr val="tx1"/>
                    </a:solidFill>
                    <a:latin typeface="+mn-lt"/>
                    <a:ea typeface="+mn-ea"/>
                    <a:cs typeface="+mn-cs"/>
                  </a:rPr>
                  <a:t>" 〗_%=2.66/4=</a:t>
                </a:r>
                <a:r>
                  <a:rPr lang="ar-AE" sz="1200" b="1" i="0" kern="1200">
                    <a:solidFill>
                      <a:schemeClr val="tx1"/>
                    </a:solidFill>
                    <a:latin typeface="+mn-lt"/>
                    <a:ea typeface="+mn-ea"/>
                    <a:cs typeface="+mn-cs"/>
                  </a:rPr>
                  <a:t>𝟎</a:t>
                </a:r>
                <a:r>
                  <a:rPr lang="ar-AE" sz="1200" b="0" i="0" kern="1200">
                    <a:solidFill>
                      <a:schemeClr val="tx1"/>
                    </a:solidFill>
                    <a:latin typeface="+mn-lt"/>
                    <a:ea typeface="+mn-ea"/>
                    <a:cs typeface="+mn-cs"/>
                  </a:rPr>
                  <a:t>.</a:t>
                </a:r>
                <a:r>
                  <a:rPr lang="ar-AE" sz="1200" b="1" i="0" kern="1200">
                    <a:solidFill>
                      <a:schemeClr val="tx1"/>
                    </a:solidFill>
                    <a:latin typeface="+mn-lt"/>
                    <a:ea typeface="+mn-ea"/>
                    <a:cs typeface="+mn-cs"/>
                  </a:rPr>
                  <a:t>𝟔𝟔𝟓</a:t>
                </a:r>
                <a:endParaRPr lang="ar-AE" b="1" dirty="0"/>
              </a:p>
              <a:p>
                <a:r>
                  <a:rPr lang="en-US" dirty="0"/>
                  <a:t>So in </a:t>
                </a:r>
                <a:r>
                  <a:rPr lang="en-US" b="1" dirty="0"/>
                  <a:t>percent units</a:t>
                </a:r>
                <a:r>
                  <a:rPr lang="en-US" dirty="0"/>
                  <a:t> the sample covariance is </a:t>
                </a:r>
                <a:r>
                  <a:rPr lang="en-US" b="1" dirty="0"/>
                  <a:t>0.665 (percent²)</a:t>
                </a:r>
              </a:p>
              <a:p>
                <a:r>
                  <a:rPr lang="en-US" b="1" dirty="0"/>
                  <a:t>Interpretation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covariance is </a:t>
                </a:r>
                <a:r>
                  <a:rPr lang="en-US" b="1" dirty="0"/>
                  <a:t>positive</a:t>
                </a:r>
                <a:r>
                  <a:rPr lang="en-US" dirty="0"/>
                  <a:t>, meaning when </a:t>
                </a:r>
                <a:r>
                  <a:rPr lang="en-US" b="1" dirty="0"/>
                  <a:t>ABC’s returns increase, XYZ’s returns also tend to increase</a:t>
                </a:r>
                <a:r>
                  <a:rPr lang="en-US" dirty="0"/>
                  <a:t>.</a:t>
                </a:r>
              </a:p>
              <a:p>
                <a:endParaRPr lang="en-IN" dirty="0"/>
              </a:p>
            </p:txBody>
          </p:sp>
        </mc:Fallback>
      </mc:AlternateContent>
      <p:sp>
        <p:nvSpPr>
          <p:cNvPr id="4" name="Slide Number Placeholder 3"/>
          <p:cNvSpPr>
            <a:spLocks noGrp="1"/>
          </p:cNvSpPr>
          <p:nvPr>
            <p:ph type="sldNum" sz="quarter" idx="5"/>
          </p:nvPr>
        </p:nvSpPr>
        <p:spPr/>
        <p:txBody>
          <a:bodyPr/>
          <a:lstStyle/>
          <a:p>
            <a:fld id="{B3160891-C122-4257-96AF-D0ABD6E8CC3C}" type="slidenum">
              <a:rPr lang="en-IN" smtClean="0"/>
              <a:t>45</a:t>
            </a:fld>
            <a:endParaRPr lang="en-IN"/>
          </a:p>
        </p:txBody>
      </p:sp>
    </p:spTree>
    <p:extLst>
      <p:ext uri="{BB962C8B-B14F-4D97-AF65-F5344CB8AC3E}">
        <p14:creationId xmlns:p14="http://schemas.microsoft.com/office/powerpoint/2010/main" val="2910064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3160891-C122-4257-96AF-D0ABD6E8CC3C}" type="slidenum">
              <a:rPr lang="en-IN" smtClean="0"/>
              <a:t>49</a:t>
            </a:fld>
            <a:endParaRPr lang="en-IN"/>
          </a:p>
        </p:txBody>
      </p:sp>
    </p:spTree>
    <p:extLst>
      <p:ext uri="{BB962C8B-B14F-4D97-AF65-F5344CB8AC3E}">
        <p14:creationId xmlns:p14="http://schemas.microsoft.com/office/powerpoint/2010/main" val="5479977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3160891-C122-4257-96AF-D0ABD6E8CC3C}" type="slidenum">
              <a:rPr lang="en-IN" smtClean="0"/>
              <a:t>54</a:t>
            </a:fld>
            <a:endParaRPr lang="en-IN"/>
          </a:p>
        </p:txBody>
      </p:sp>
    </p:spTree>
    <p:extLst>
      <p:ext uri="{BB962C8B-B14F-4D97-AF65-F5344CB8AC3E}">
        <p14:creationId xmlns:p14="http://schemas.microsoft.com/office/powerpoint/2010/main" val="25954505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b="1" dirty="0"/>
                  <a:t>1) Sales example (same data) — do the math step-by-step</a:t>
                </a:r>
              </a:p>
              <a:p>
                <a:r>
                  <a:rPr lang="en-IN" b="1" dirty="0"/>
                  <a:t>Data (per rep per day)</a:t>
                </a:r>
                <a:br>
                  <a:rPr lang="en-IN" dirty="0"/>
                </a:br>
                <a:r>
                  <a:rPr lang="en-IN" dirty="0"/>
                  <a:t>X (qualified calls) = 4, 8, 12, 16</a:t>
                </a:r>
                <a:br>
                  <a:rPr lang="en-IN" dirty="0"/>
                </a:br>
                <a:r>
                  <a:rPr lang="en-IN" dirty="0"/>
                  <a:t>Y (closed deals) = 5, 10, 15, 20</a:t>
                </a:r>
                <a:br>
                  <a:rPr lang="en-IN" dirty="0"/>
                </a:br>
                <a:r>
                  <a:rPr lang="en-IN" dirty="0"/>
                  <a:t>n = 4</a:t>
                </a:r>
              </a:p>
              <a:p>
                <a:r>
                  <a:rPr lang="en-IN" b="1" dirty="0"/>
                  <a:t>Step A — means</a:t>
                </a:r>
                <a:endParaRPr lang="en-IN" dirty="0"/>
              </a:p>
              <a:p>
                <a:pPr/>
                <a14:m>
                  <m:oMathPara xmlns:m="http://schemas.openxmlformats.org/officeDocument/2006/math">
                    <m:oMathParaPr>
                      <m:jc m:val="centerGroup"/>
                    </m:oMathParaPr>
                    <m:oMath xmlns:m="http://schemas.openxmlformats.org/officeDocument/2006/math">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𝑋</m:t>
                          </m:r>
                        </m:e>
                        <m:lim>
                          <m:r>
                            <a:rPr lang="ar-AE" sz="1200" i="0" kern="1200">
                              <a:solidFill>
                                <a:schemeClr val="tx1"/>
                              </a:solidFill>
                              <a:latin typeface="Cambria Math" panose="02040503050406030204" pitchFamily="18" charset="0"/>
                              <a:ea typeface="+mn-ea"/>
                              <a:cs typeface="+mn-cs"/>
                            </a:rPr>
                            <m:t>ˉ</m:t>
                          </m:r>
                        </m:lim>
                      </m:limUpp>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4</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8</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12</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16</m:t>
                          </m:r>
                        </m:num>
                        <m:den>
                          <m:r>
                            <a:rPr lang="ar-AE" sz="1200" i="0" kern="1200">
                              <a:solidFill>
                                <a:schemeClr val="tx1"/>
                              </a:solidFill>
                              <a:latin typeface="Cambria Math" panose="02040503050406030204" pitchFamily="18" charset="0"/>
                              <a:ea typeface="+mn-ea"/>
                              <a:cs typeface="+mn-cs"/>
                            </a:rPr>
                            <m:t>4</m:t>
                          </m:r>
                        </m:den>
                      </m:f>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40</m:t>
                          </m:r>
                        </m:num>
                        <m:den>
                          <m:r>
                            <a:rPr lang="ar-AE" sz="1200" i="0" kern="1200">
                              <a:solidFill>
                                <a:schemeClr val="tx1"/>
                              </a:solidFill>
                              <a:latin typeface="Cambria Math" panose="02040503050406030204" pitchFamily="18" charset="0"/>
                              <a:ea typeface="+mn-ea"/>
                              <a:cs typeface="+mn-cs"/>
                            </a:rPr>
                            <m:t>4</m:t>
                          </m:r>
                        </m:den>
                      </m:f>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10</m:t>
                      </m:r>
                    </m:oMath>
                  </m:oMathPara>
                </a14:m>
                <a:endParaRPr lang="ar-AE" dirty="0"/>
              </a:p>
              <a:p>
                <a:pPr/>
                <a14:m>
                  <m:oMathPara xmlns:m="http://schemas.openxmlformats.org/officeDocument/2006/math">
                    <m:oMathParaPr>
                      <m:jc m:val="centerGroup"/>
                    </m:oMathParaPr>
                    <m:oMath xmlns:m="http://schemas.openxmlformats.org/officeDocument/2006/math">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𝑌</m:t>
                          </m:r>
                        </m:e>
                        <m:lim>
                          <m:r>
                            <a:rPr lang="ar-AE" sz="1200" i="0" kern="1200">
                              <a:solidFill>
                                <a:schemeClr val="tx1"/>
                              </a:solidFill>
                              <a:latin typeface="Cambria Math" panose="02040503050406030204" pitchFamily="18" charset="0"/>
                              <a:ea typeface="+mn-ea"/>
                              <a:cs typeface="+mn-cs"/>
                            </a:rPr>
                            <m:t>ˉ</m:t>
                          </m:r>
                        </m:lim>
                      </m:limUpp>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5</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15</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20</m:t>
                          </m:r>
                        </m:num>
                        <m:den>
                          <m:r>
                            <a:rPr lang="ar-AE" sz="1200" i="0" kern="1200">
                              <a:solidFill>
                                <a:schemeClr val="tx1"/>
                              </a:solidFill>
                              <a:latin typeface="Cambria Math" panose="02040503050406030204" pitchFamily="18" charset="0"/>
                              <a:ea typeface="+mn-ea"/>
                              <a:cs typeface="+mn-cs"/>
                            </a:rPr>
                            <m:t>4</m:t>
                          </m:r>
                        </m:den>
                      </m:f>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50</m:t>
                          </m:r>
                        </m:num>
                        <m:den>
                          <m:r>
                            <a:rPr lang="ar-AE" sz="1200" i="0" kern="1200">
                              <a:solidFill>
                                <a:schemeClr val="tx1"/>
                              </a:solidFill>
                              <a:latin typeface="Cambria Math" panose="02040503050406030204" pitchFamily="18" charset="0"/>
                              <a:ea typeface="+mn-ea"/>
                              <a:cs typeface="+mn-cs"/>
                            </a:rPr>
                            <m:t>4</m:t>
                          </m:r>
                        </m:den>
                      </m:f>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12</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5</m:t>
                      </m:r>
                    </m:oMath>
                  </m:oMathPara>
                </a14:m>
                <a:endParaRPr lang="ar-AE" dirty="0"/>
              </a:p>
              <a:p>
                <a:r>
                  <a:rPr lang="en-IN" b="1" dirty="0"/>
                  <a:t>Step B — deviations and products</a:t>
                </a:r>
                <a:endParaRPr lang="en-IN" dirty="0"/>
              </a:p>
              <a:p>
                <a:r>
                  <a:rPr lang="en-IN" dirty="0" err="1"/>
                  <a:t>iXY</a:t>
                </a:r>
                <a14:m>
                  <m:oMath xmlns:m="http://schemas.openxmlformats.org/officeDocument/2006/math">
                    <m:r>
                      <a:rPr lang="en-IN" sz="1200" i="1" kern="1200">
                        <a:solidFill>
                          <a:schemeClr val="tx1"/>
                        </a:solidFill>
                        <a:latin typeface="Cambria Math" panose="02040503050406030204" pitchFamily="18" charset="0"/>
                        <a:ea typeface="+mn-ea"/>
                        <a:cs typeface="+mn-cs"/>
                      </a:rPr>
                      <m:t>𝑋</m:t>
                    </m:r>
                    <m:r>
                      <a:rPr lang="en-IN" sz="1200" i="0" kern="1200">
                        <a:solidFill>
                          <a:schemeClr val="tx1"/>
                        </a:solidFill>
                        <a:latin typeface="Cambria Math" panose="02040503050406030204" pitchFamily="18" charset="0"/>
                        <a:ea typeface="+mn-ea"/>
                        <a:cs typeface="+mn-cs"/>
                      </a:rPr>
                      <m:t>−</m:t>
                    </m:r>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𝑋</m:t>
                        </m:r>
                      </m:e>
                      <m:lim>
                        <m:r>
                          <a:rPr lang="ar-AE" sz="1200" i="0" kern="1200">
                            <a:solidFill>
                              <a:schemeClr val="tx1"/>
                            </a:solidFill>
                            <a:latin typeface="Cambria Math" panose="02040503050406030204" pitchFamily="18" charset="0"/>
                            <a:ea typeface="+mn-ea"/>
                            <a:cs typeface="+mn-cs"/>
                          </a:rPr>
                          <m:t>ˉ</m:t>
                        </m:r>
                      </m:lim>
                    </m:limUpp>
                    <m:r>
                      <a:rPr lang="ar-AE" sz="1200" i="1" kern="1200">
                        <a:solidFill>
                          <a:schemeClr val="tx1"/>
                        </a:solidFill>
                        <a:latin typeface="Cambria Math" panose="02040503050406030204" pitchFamily="18" charset="0"/>
                        <a:ea typeface="+mn-ea"/>
                        <a:cs typeface="+mn-cs"/>
                      </a:rPr>
                      <m:t>𝑌</m:t>
                    </m:r>
                    <m:r>
                      <a:rPr lang="ar-AE" sz="1200" i="0" kern="1200">
                        <a:solidFill>
                          <a:schemeClr val="tx1"/>
                        </a:solidFill>
                        <a:latin typeface="Cambria Math" panose="02040503050406030204" pitchFamily="18" charset="0"/>
                        <a:ea typeface="+mn-ea"/>
                        <a:cs typeface="+mn-cs"/>
                      </a:rPr>
                      <m:t>−</m:t>
                    </m:r>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𝑌</m:t>
                        </m:r>
                      </m:e>
                      <m:lim>
                        <m:r>
                          <a:rPr lang="ar-AE" sz="1200" i="0" kern="1200">
                            <a:solidFill>
                              <a:schemeClr val="tx1"/>
                            </a:solidFill>
                            <a:latin typeface="Cambria Math" panose="02040503050406030204" pitchFamily="18" charset="0"/>
                            <a:ea typeface="+mn-ea"/>
                            <a:cs typeface="+mn-cs"/>
                          </a:rPr>
                          <m:t>ˉ</m:t>
                        </m:r>
                      </m:lim>
                    </m:limUpp>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𝑋</m:t>
                        </m:r>
                        <m:r>
                          <a:rPr lang="ar-AE" sz="1200" i="0" kern="1200">
                            <a:solidFill>
                              <a:schemeClr val="tx1"/>
                            </a:solidFill>
                            <a:latin typeface="Cambria Math" panose="02040503050406030204" pitchFamily="18" charset="0"/>
                            <a:ea typeface="+mn-ea"/>
                            <a:cs typeface="+mn-cs"/>
                          </a:rPr>
                          <m:t>−</m:t>
                        </m:r>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𝑋</m:t>
                            </m:r>
                          </m:e>
                          <m:lim>
                            <m:r>
                              <a:rPr lang="ar-AE" sz="1200" i="0" kern="1200">
                                <a:solidFill>
                                  <a:schemeClr val="tx1"/>
                                </a:solidFill>
                                <a:latin typeface="Cambria Math" panose="02040503050406030204" pitchFamily="18" charset="0"/>
                                <a:ea typeface="+mn-ea"/>
                                <a:cs typeface="+mn-cs"/>
                              </a:rPr>
                              <m:t>ˉ</m:t>
                            </m:r>
                          </m:lim>
                        </m:limUpp>
                      </m:e>
                    </m:d>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𝑌</m:t>
                        </m:r>
                        <m:r>
                          <a:rPr lang="ar-AE" sz="1200" i="0" kern="1200">
                            <a:solidFill>
                              <a:schemeClr val="tx1"/>
                            </a:solidFill>
                            <a:latin typeface="Cambria Math" panose="02040503050406030204" pitchFamily="18" charset="0"/>
                            <a:ea typeface="+mn-ea"/>
                            <a:cs typeface="+mn-cs"/>
                          </a:rPr>
                          <m:t>−</m:t>
                        </m:r>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𝑌</m:t>
                            </m:r>
                          </m:e>
                          <m:lim>
                            <m:r>
                              <a:rPr lang="ar-AE" sz="1200" i="0" kern="1200">
                                <a:solidFill>
                                  <a:schemeClr val="tx1"/>
                                </a:solidFill>
                                <a:latin typeface="Cambria Math" panose="02040503050406030204" pitchFamily="18" charset="0"/>
                                <a:ea typeface="+mn-ea"/>
                                <a:cs typeface="+mn-cs"/>
                              </a:rPr>
                              <m:t>ˉ</m:t>
                            </m:r>
                          </m:lim>
                        </m:limUpp>
                      </m:e>
                    </m:d>
                    <m:d>
                      <m:dPr>
                        <m:end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𝑋</m:t>
                        </m:r>
                        <m:r>
                          <a:rPr lang="ar-AE" sz="1200" i="0" kern="1200">
                            <a:solidFill>
                              <a:schemeClr val="tx1"/>
                            </a:solidFill>
                            <a:latin typeface="Cambria Math" panose="02040503050406030204" pitchFamily="18" charset="0"/>
                            <a:ea typeface="+mn-ea"/>
                            <a:cs typeface="+mn-cs"/>
                          </a:rPr>
                          <m:t>−</m:t>
                        </m:r>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𝑋</m:t>
                            </m:r>
                          </m:e>
                          <m:lim>
                            <m:r>
                              <a:rPr lang="ar-AE" sz="1200" i="0" kern="1200">
                                <a:solidFill>
                                  <a:schemeClr val="tx1"/>
                                </a:solidFill>
                                <a:latin typeface="Cambria Math" panose="02040503050406030204" pitchFamily="18" charset="0"/>
                                <a:ea typeface="+mn-ea"/>
                                <a:cs typeface="+mn-cs"/>
                              </a:rPr>
                              <m:t>ˉ</m:t>
                            </m:r>
                          </m:lim>
                        </m:limUpp>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r>
                              <a:rPr lang="ar-AE" sz="1200" i="0" kern="1200">
                                <a:solidFill>
                                  <a:schemeClr val="tx1"/>
                                </a:solidFill>
                                <a:latin typeface="Cambria Math" panose="02040503050406030204" pitchFamily="18" charset="0"/>
                                <a:ea typeface="+mn-ea"/>
                                <a:cs typeface="+mn-cs"/>
                              </a:rPr>
                              <m:t>2</m:t>
                            </m:r>
                          </m:sup>
                        </m:sSup>
                      </m:e>
                    </m:d>
                    <m:d>
                      <m:dPr>
                        <m:end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𝑌</m:t>
                        </m:r>
                        <m:r>
                          <a:rPr lang="ar-AE" sz="1200" i="0" kern="1200">
                            <a:solidFill>
                              <a:schemeClr val="tx1"/>
                            </a:solidFill>
                            <a:latin typeface="Cambria Math" panose="02040503050406030204" pitchFamily="18" charset="0"/>
                            <a:ea typeface="+mn-ea"/>
                            <a:cs typeface="+mn-cs"/>
                          </a:rPr>
                          <m:t>−</m:t>
                        </m:r>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𝑌</m:t>
                            </m:r>
                          </m:e>
                          <m:lim>
                            <m:r>
                              <a:rPr lang="ar-AE" sz="1200" i="0" kern="1200">
                                <a:solidFill>
                                  <a:schemeClr val="tx1"/>
                                </a:solidFill>
                                <a:latin typeface="Cambria Math" panose="02040503050406030204" pitchFamily="18" charset="0"/>
                                <a:ea typeface="+mn-ea"/>
                                <a:cs typeface="+mn-cs"/>
                              </a:rPr>
                              <m:t>ˉ</m:t>
                            </m:r>
                          </m:lim>
                        </m:limUpp>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r>
                              <a:rPr lang="ar-AE" sz="1200" i="0" kern="1200">
                                <a:solidFill>
                                  <a:schemeClr val="tx1"/>
                                </a:solidFill>
                                <a:latin typeface="Cambria Math" panose="02040503050406030204" pitchFamily="18" charset="0"/>
                                <a:ea typeface="+mn-ea"/>
                                <a:cs typeface="+mn-cs"/>
                              </a:rPr>
                              <m:t>2</m:t>
                            </m:r>
                          </m:sup>
                        </m:sSup>
                      </m:e>
                    </m:d>
                  </m:oMath>
                </a14:m>
                <a:r>
                  <a:rPr lang="ar-AE" dirty="0"/>
                  <a:t>145-6.0-7.545.036.056.252810-2.0-2.55.04.06.25312152.02.55.04.06.25416206.07.545.036.056.25</a:t>
                </a:r>
              </a:p>
              <a:p>
                <a:r>
                  <a:rPr lang="en-IN" dirty="0"/>
                  <a:t>Sums:</a:t>
                </a:r>
              </a:p>
              <a:p>
                <a:r>
                  <a:rPr lang="en-IN" b="1" dirty="0"/>
                  <a:t>Step C — Pearson correlation</a:t>
                </a:r>
                <a:endParaRPr lang="en-IN" dirty="0"/>
              </a:p>
              <a:p>
                <a:pPr/>
                <a14:m>
                  <m:oMathPara xmlns:m="http://schemas.openxmlformats.org/officeDocument/2006/math">
                    <m:oMathParaPr>
                      <m:jc m:val="centerGroup"/>
                    </m:oMathParaPr>
                    <m:oMath xmlns:m="http://schemas.openxmlformats.org/officeDocument/2006/math">
                      <m:r>
                        <a:rPr lang="en-IN" sz="1200" i="1" kern="1200">
                          <a:solidFill>
                            <a:schemeClr val="tx1"/>
                          </a:solidFill>
                          <a:latin typeface="Cambria Math" panose="02040503050406030204" pitchFamily="18" charset="0"/>
                          <a:ea typeface="+mn-ea"/>
                          <a:cs typeface="+mn-cs"/>
                        </a:rPr>
                        <m:t>𝑟</m:t>
                      </m:r>
                      <m:r>
                        <a:rPr lang="en-IN"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100</m:t>
                          </m:r>
                        </m:num>
                        <m:den>
                          <m:rad>
                            <m:radPr>
                              <m:degHide m:val="on"/>
                              <m:ctrlPr>
                                <a:rPr lang="ar-AE" sz="1200" i="1" kern="1200">
                                  <a:solidFill>
                                    <a:schemeClr val="tx1"/>
                                  </a:solidFill>
                                  <a:latin typeface="Cambria Math" panose="02040503050406030204" pitchFamily="18" charset="0"/>
                                  <a:ea typeface="+mn-ea"/>
                                  <a:cs typeface="+mn-cs"/>
                                </a:rPr>
                              </m:ctrlPr>
                            </m:radPr>
                            <m:deg/>
                            <m:e>
                              <m:r>
                                <a:rPr lang="ar-AE" sz="1200" i="0" kern="1200">
                                  <a:solidFill>
                                    <a:schemeClr val="tx1"/>
                                  </a:solidFill>
                                  <a:latin typeface="Cambria Math" panose="02040503050406030204" pitchFamily="18" charset="0"/>
                                  <a:ea typeface="+mn-ea"/>
                                  <a:cs typeface="+mn-cs"/>
                                </a:rPr>
                                <m:t>80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125</m:t>
                              </m:r>
                            </m:e>
                          </m:rad>
                        </m:den>
                      </m:f>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100</m:t>
                          </m:r>
                        </m:num>
                        <m:den>
                          <m:rad>
                            <m:radPr>
                              <m:degHide m:val="on"/>
                              <m:ctrlPr>
                                <a:rPr lang="ar-AE" sz="1200" i="1" kern="1200">
                                  <a:solidFill>
                                    <a:schemeClr val="tx1"/>
                                  </a:solidFill>
                                  <a:latin typeface="Cambria Math" panose="02040503050406030204" pitchFamily="18" charset="0"/>
                                  <a:ea typeface="+mn-ea"/>
                                  <a:cs typeface="+mn-cs"/>
                                </a:rPr>
                              </m:ctrlPr>
                            </m:radPr>
                            <m:deg/>
                            <m:e>
                              <m:r>
                                <a:rPr lang="ar-AE" sz="1200" i="0" kern="1200">
                                  <a:solidFill>
                                    <a:schemeClr val="tx1"/>
                                  </a:solidFill>
                                  <a:latin typeface="Cambria Math" panose="02040503050406030204" pitchFamily="18" charset="0"/>
                                  <a:ea typeface="+mn-ea"/>
                                  <a:cs typeface="+mn-cs"/>
                                </a:rPr>
                                <m:t>10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000</m:t>
                              </m:r>
                            </m:e>
                          </m:rad>
                        </m:den>
                      </m:f>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100</m:t>
                          </m:r>
                        </m:num>
                        <m:den>
                          <m:r>
                            <a:rPr lang="ar-AE" sz="1200" i="0" kern="1200">
                              <a:solidFill>
                                <a:schemeClr val="tx1"/>
                              </a:solidFill>
                              <a:latin typeface="Cambria Math" panose="02040503050406030204" pitchFamily="18" charset="0"/>
                              <a:ea typeface="+mn-ea"/>
                              <a:cs typeface="+mn-cs"/>
                            </a:rPr>
                            <m:t>100</m:t>
                          </m:r>
                        </m:den>
                      </m:f>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00</m:t>
                      </m:r>
                    </m:oMath>
                  </m:oMathPara>
                </a14:m>
                <a:endParaRPr lang="ar-A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Interpretation:</a:t>
                </a:r>
                <a:r>
                  <a:rPr lang="en-US" dirty="0"/>
                  <a:t> perfect positive linear relationship in this toy sample — more qualified calls → proportionally more closed deals.</a:t>
                </a:r>
              </a:p>
              <a:p>
                <a:endParaRPr lang="en-IN" dirty="0"/>
              </a:p>
            </p:txBody>
          </p:sp>
        </mc:Choice>
        <mc:Fallback xmlns="">
          <p:sp>
            <p:nvSpPr>
              <p:cNvPr id="3" name="Notes Placeholder 2"/>
              <p:cNvSpPr>
                <a:spLocks noGrp="1"/>
              </p:cNvSpPr>
              <p:nvPr>
                <p:ph type="body" idx="1"/>
              </p:nvPr>
            </p:nvSpPr>
            <p:spPr/>
            <p:txBody>
              <a:bodyPr/>
              <a:lstStyle/>
              <a:p>
                <a:r>
                  <a:rPr lang="en-IN" b="1" dirty="0"/>
                  <a:t>1) Sales example (same data) — do the math step-by-step</a:t>
                </a:r>
              </a:p>
              <a:p>
                <a:r>
                  <a:rPr lang="en-IN" b="1" dirty="0"/>
                  <a:t>Data (per rep per day)</a:t>
                </a:r>
                <a:br>
                  <a:rPr lang="en-IN" dirty="0"/>
                </a:br>
                <a:r>
                  <a:rPr lang="en-IN" dirty="0"/>
                  <a:t>X (qualified calls) = 4, 8, 12, 16</a:t>
                </a:r>
                <a:br>
                  <a:rPr lang="en-IN" dirty="0"/>
                </a:br>
                <a:r>
                  <a:rPr lang="en-IN" dirty="0"/>
                  <a:t>Y (closed deals) = 5, 10, 15, 20</a:t>
                </a:r>
                <a:br>
                  <a:rPr lang="en-IN" dirty="0"/>
                </a:br>
                <a:r>
                  <a:rPr lang="en-IN" dirty="0"/>
                  <a:t>n = 4</a:t>
                </a:r>
              </a:p>
              <a:p>
                <a:r>
                  <a:rPr lang="en-IN" b="1" dirty="0"/>
                  <a:t>Step A — means</a:t>
                </a:r>
                <a:endParaRPr lang="en-IN" dirty="0"/>
              </a:p>
              <a:p>
                <a:r>
                  <a:rPr lang="ar-AE" sz="1200" i="0" kern="1200">
                    <a:solidFill>
                      <a:schemeClr val="tx1"/>
                    </a:solidFill>
                    <a:latin typeface="+mn-lt"/>
                    <a:ea typeface="+mn-ea"/>
                    <a:cs typeface="+mn-cs"/>
                  </a:rPr>
                  <a:t>𝑋┴ˉ=(4+8+12+16)/4=40/4=10</a:t>
                </a:r>
                <a:endParaRPr lang="ar-AE" dirty="0"/>
              </a:p>
              <a:p>
                <a:r>
                  <a:rPr lang="ar-AE" sz="1200" i="0" kern="1200">
                    <a:solidFill>
                      <a:schemeClr val="tx1"/>
                    </a:solidFill>
                    <a:latin typeface="+mn-lt"/>
                    <a:ea typeface="+mn-ea"/>
                    <a:cs typeface="+mn-cs"/>
                  </a:rPr>
                  <a:t>𝑌┴ˉ=(5+10+15+20)/4=50/4=12.5</a:t>
                </a:r>
                <a:endParaRPr lang="ar-AE" dirty="0"/>
              </a:p>
              <a:p>
                <a:r>
                  <a:rPr lang="en-IN" b="1" dirty="0"/>
                  <a:t>Step B — deviations and products</a:t>
                </a:r>
                <a:endParaRPr lang="en-IN" dirty="0"/>
              </a:p>
              <a:p>
                <a:r>
                  <a:rPr lang="en-IN" dirty="0" err="1"/>
                  <a:t>iXY</a:t>
                </a:r>
                <a:r>
                  <a:rPr lang="en-IN" sz="1200" i="0" kern="1200">
                    <a:solidFill>
                      <a:schemeClr val="tx1"/>
                    </a:solidFill>
                    <a:latin typeface="+mn-lt"/>
                    <a:ea typeface="+mn-ea"/>
                    <a:cs typeface="+mn-cs"/>
                  </a:rPr>
                  <a:t>𝑋−</a:t>
                </a:r>
                <a:r>
                  <a:rPr lang="ar-AE" sz="1200" i="0" kern="1200">
                    <a:solidFill>
                      <a:schemeClr val="tx1"/>
                    </a:solidFill>
                    <a:latin typeface="+mn-lt"/>
                    <a:ea typeface="+mn-ea"/>
                    <a:cs typeface="+mn-cs"/>
                  </a:rPr>
                  <a:t>𝑋┴ˉ 𝑌−𝑌┴ˉ (𝑋−𝑋┴ˉ )(𝑌−𝑌┴ˉ )(𝑋−𝑋┴ˉ ├ )┤^2 ┤ (𝑌−𝑌┴ˉ ├ )┤^2 ┤</a:t>
                </a:r>
                <a:r>
                  <a:rPr lang="ar-AE" dirty="0"/>
                  <a:t>145-6.0-7.545.036.056.252810-2.0-2.55.04.06.25312152.02.55.04.06.25416206.07.545.036.056.25</a:t>
                </a:r>
              </a:p>
              <a:p>
                <a:r>
                  <a:rPr lang="en-IN" dirty="0"/>
                  <a:t>Sums:</a:t>
                </a:r>
              </a:p>
              <a:p>
                <a:r>
                  <a:rPr lang="en-IN" b="1" dirty="0"/>
                  <a:t>Step C — Pearson correlation</a:t>
                </a:r>
                <a:endParaRPr lang="en-IN" dirty="0"/>
              </a:p>
              <a:p>
                <a:r>
                  <a:rPr lang="en-IN" sz="1200" i="0" kern="1200">
                    <a:solidFill>
                      <a:schemeClr val="tx1"/>
                    </a:solidFill>
                    <a:latin typeface="+mn-lt"/>
                    <a:ea typeface="+mn-ea"/>
                    <a:cs typeface="+mn-cs"/>
                  </a:rPr>
                  <a:t>𝑟=</a:t>
                </a:r>
                <a:r>
                  <a:rPr lang="ar-AE" sz="1200" i="0" kern="1200">
                    <a:solidFill>
                      <a:schemeClr val="tx1"/>
                    </a:solidFill>
                    <a:latin typeface="+mn-lt"/>
                    <a:ea typeface="+mn-ea"/>
                    <a:cs typeface="+mn-cs"/>
                  </a:rPr>
                  <a:t>100/√(80×125)=100/√10,000=100/100=+1.00</a:t>
                </a:r>
                <a:endParaRPr lang="ar-A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Interpretation:</a:t>
                </a:r>
                <a:r>
                  <a:rPr lang="en-US" dirty="0"/>
                  <a:t> perfect positive linear relationship in this toy sample — more qualified calls → proportionally more closed deals.</a:t>
                </a:r>
              </a:p>
              <a:p>
                <a:endParaRPr lang="en-IN" dirty="0"/>
              </a:p>
            </p:txBody>
          </p:sp>
        </mc:Fallback>
      </mc:AlternateContent>
      <p:sp>
        <p:nvSpPr>
          <p:cNvPr id="4" name="Slide Number Placeholder 3"/>
          <p:cNvSpPr>
            <a:spLocks noGrp="1"/>
          </p:cNvSpPr>
          <p:nvPr>
            <p:ph type="sldNum" sz="quarter" idx="5"/>
          </p:nvPr>
        </p:nvSpPr>
        <p:spPr/>
        <p:txBody>
          <a:bodyPr/>
          <a:lstStyle/>
          <a:p>
            <a:fld id="{B3160891-C122-4257-96AF-D0ABD6E8CC3C}" type="slidenum">
              <a:rPr lang="en-IN" smtClean="0"/>
              <a:t>55</a:t>
            </a:fld>
            <a:endParaRPr lang="en-IN"/>
          </a:p>
        </p:txBody>
      </p:sp>
    </p:spTree>
    <p:extLst>
      <p:ext uri="{BB962C8B-B14F-4D97-AF65-F5344CB8AC3E}">
        <p14:creationId xmlns:p14="http://schemas.microsoft.com/office/powerpoint/2010/main" val="2780538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b="1" dirty="0"/>
                  <a:t>Step 1 — Calculate means</a:t>
                </a:r>
              </a:p>
              <a:p>
                <a:pPr/>
                <a14:m>
                  <m:oMathPara xmlns:m="http://schemas.openxmlformats.org/officeDocument/2006/math">
                    <m:oMathParaPr>
                      <m:jc m:val="centerGroup"/>
                    </m:oMathParaPr>
                    <m:oMath xmlns:m="http://schemas.openxmlformats.org/officeDocument/2006/math">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𝑋</m:t>
                          </m:r>
                        </m:e>
                        <m:lim>
                          <m:r>
                            <a:rPr lang="ar-AE" sz="1200" i="0" kern="1200">
                              <a:solidFill>
                                <a:schemeClr val="tx1"/>
                              </a:solidFill>
                              <a:latin typeface="Cambria Math" panose="02040503050406030204" pitchFamily="18" charset="0"/>
                              <a:ea typeface="+mn-ea"/>
                              <a:cs typeface="+mn-cs"/>
                            </a:rPr>
                            <m:t>ˉ</m:t>
                          </m:r>
                        </m:lim>
                      </m:limUpp>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10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20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30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40</m:t>
                          </m:r>
                        </m:num>
                        <m:den>
                          <m:r>
                            <a:rPr lang="ar-AE" sz="1200" i="0" kern="1200">
                              <a:solidFill>
                                <a:schemeClr val="tx1"/>
                              </a:solidFill>
                              <a:latin typeface="Cambria Math" panose="02040503050406030204" pitchFamily="18" charset="0"/>
                              <a:ea typeface="+mn-ea"/>
                              <a:cs typeface="+mn-cs"/>
                            </a:rPr>
                            <m:t>4</m:t>
                          </m:r>
                        </m:den>
                      </m:f>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100</m:t>
                          </m:r>
                        </m:num>
                        <m:den>
                          <m:r>
                            <a:rPr lang="ar-AE" sz="1200" i="0" kern="1200">
                              <a:solidFill>
                                <a:schemeClr val="tx1"/>
                              </a:solidFill>
                              <a:latin typeface="Cambria Math" panose="02040503050406030204" pitchFamily="18" charset="0"/>
                              <a:ea typeface="+mn-ea"/>
                              <a:cs typeface="+mn-cs"/>
                            </a:rPr>
                            <m:t>4</m:t>
                          </m:r>
                        </m:den>
                      </m:f>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25</m:t>
                      </m:r>
                    </m:oMath>
                  </m:oMathPara>
                </a14:m>
                <a:endParaRPr lang="ar-AE" dirty="0"/>
              </a:p>
              <a:p>
                <a:pPr/>
                <a14:m>
                  <m:oMathPara xmlns:m="http://schemas.openxmlformats.org/officeDocument/2006/math">
                    <m:oMathParaPr>
                      <m:jc m:val="centerGroup"/>
                    </m:oMathParaPr>
                    <m:oMath xmlns:m="http://schemas.openxmlformats.org/officeDocument/2006/math">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𝑌</m:t>
                          </m:r>
                        </m:e>
                        <m:lim>
                          <m:r>
                            <a:rPr lang="ar-AE" sz="1200" i="0" kern="1200">
                              <a:solidFill>
                                <a:schemeClr val="tx1"/>
                              </a:solidFill>
                              <a:latin typeface="Cambria Math" panose="02040503050406030204" pitchFamily="18" charset="0"/>
                              <a:ea typeface="+mn-ea"/>
                              <a:cs typeface="+mn-cs"/>
                            </a:rPr>
                            <m:t>ˉ</m:t>
                          </m:r>
                        </m:lim>
                      </m:limUpp>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100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80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60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40</m:t>
                          </m:r>
                        </m:num>
                        <m:den>
                          <m:r>
                            <a:rPr lang="ar-AE" sz="1200" i="0" kern="1200">
                              <a:solidFill>
                                <a:schemeClr val="tx1"/>
                              </a:solidFill>
                              <a:latin typeface="Cambria Math" panose="02040503050406030204" pitchFamily="18" charset="0"/>
                              <a:ea typeface="+mn-ea"/>
                              <a:cs typeface="+mn-cs"/>
                            </a:rPr>
                            <m:t>4</m:t>
                          </m:r>
                        </m:den>
                      </m:f>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280</m:t>
                          </m:r>
                        </m:num>
                        <m:den>
                          <m:r>
                            <a:rPr lang="ar-AE" sz="1200" i="0" kern="1200">
                              <a:solidFill>
                                <a:schemeClr val="tx1"/>
                              </a:solidFill>
                              <a:latin typeface="Cambria Math" panose="02040503050406030204" pitchFamily="18" charset="0"/>
                              <a:ea typeface="+mn-ea"/>
                              <a:cs typeface="+mn-cs"/>
                            </a:rPr>
                            <m:t>4</m:t>
                          </m:r>
                        </m:den>
                      </m:f>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70</m:t>
                      </m:r>
                    </m:oMath>
                  </m:oMathPara>
                </a14:m>
                <a:endParaRPr lang="ar-AE" dirty="0"/>
              </a:p>
              <a:p>
                <a:br>
                  <a:rPr lang="ar-AE" dirty="0"/>
                </a:br>
                <a:endParaRPr lang="ar-AE" dirty="0"/>
              </a:p>
              <a:p>
                <a:r>
                  <a:rPr lang="en-IN" b="1" dirty="0"/>
                  <a:t>Step 2 — Deviations and products</a:t>
                </a:r>
              </a:p>
              <a:p>
                <a:r>
                  <a:rPr lang="en-IN" dirty="0" err="1"/>
                  <a:t>WeekXY</a:t>
                </a:r>
                <a14:m>
                  <m:oMath xmlns:m="http://schemas.openxmlformats.org/officeDocument/2006/math">
                    <m:r>
                      <a:rPr lang="en-IN" sz="1200" i="1" kern="1200">
                        <a:solidFill>
                          <a:schemeClr val="tx1"/>
                        </a:solidFill>
                        <a:latin typeface="Cambria Math" panose="02040503050406030204" pitchFamily="18" charset="0"/>
                        <a:ea typeface="+mn-ea"/>
                        <a:cs typeface="+mn-cs"/>
                      </a:rPr>
                      <m:t>𝑋</m:t>
                    </m:r>
                    <m:r>
                      <a:rPr lang="en-IN" sz="1200" i="0" kern="1200">
                        <a:solidFill>
                          <a:schemeClr val="tx1"/>
                        </a:solidFill>
                        <a:latin typeface="Cambria Math" panose="02040503050406030204" pitchFamily="18" charset="0"/>
                        <a:ea typeface="+mn-ea"/>
                        <a:cs typeface="+mn-cs"/>
                      </a:rPr>
                      <m:t>−</m:t>
                    </m:r>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𝑋</m:t>
                        </m:r>
                      </m:e>
                      <m:lim>
                        <m:r>
                          <a:rPr lang="ar-AE" sz="1200" i="0" kern="1200">
                            <a:solidFill>
                              <a:schemeClr val="tx1"/>
                            </a:solidFill>
                            <a:latin typeface="Cambria Math" panose="02040503050406030204" pitchFamily="18" charset="0"/>
                            <a:ea typeface="+mn-ea"/>
                            <a:cs typeface="+mn-cs"/>
                          </a:rPr>
                          <m:t>ˉ</m:t>
                        </m:r>
                      </m:lim>
                    </m:limUpp>
                    <m:r>
                      <a:rPr lang="ar-AE" sz="1200" i="1" kern="1200">
                        <a:solidFill>
                          <a:schemeClr val="tx1"/>
                        </a:solidFill>
                        <a:latin typeface="Cambria Math" panose="02040503050406030204" pitchFamily="18" charset="0"/>
                        <a:ea typeface="+mn-ea"/>
                        <a:cs typeface="+mn-cs"/>
                      </a:rPr>
                      <m:t>𝑌</m:t>
                    </m:r>
                    <m:r>
                      <a:rPr lang="ar-AE" sz="1200" i="0" kern="1200">
                        <a:solidFill>
                          <a:schemeClr val="tx1"/>
                        </a:solidFill>
                        <a:latin typeface="Cambria Math" panose="02040503050406030204" pitchFamily="18" charset="0"/>
                        <a:ea typeface="+mn-ea"/>
                        <a:cs typeface="+mn-cs"/>
                      </a:rPr>
                      <m:t>−</m:t>
                    </m:r>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𝑌</m:t>
                        </m:r>
                      </m:e>
                      <m:lim>
                        <m:r>
                          <a:rPr lang="ar-AE" sz="1200" i="0" kern="1200">
                            <a:solidFill>
                              <a:schemeClr val="tx1"/>
                            </a:solidFill>
                            <a:latin typeface="Cambria Math" panose="02040503050406030204" pitchFamily="18" charset="0"/>
                            <a:ea typeface="+mn-ea"/>
                            <a:cs typeface="+mn-cs"/>
                          </a:rPr>
                          <m:t>ˉ</m:t>
                        </m:r>
                      </m:lim>
                    </m:limUpp>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𝑋</m:t>
                        </m:r>
                        <m:r>
                          <a:rPr lang="ar-AE" sz="1200" i="0" kern="1200">
                            <a:solidFill>
                              <a:schemeClr val="tx1"/>
                            </a:solidFill>
                            <a:latin typeface="Cambria Math" panose="02040503050406030204" pitchFamily="18" charset="0"/>
                            <a:ea typeface="+mn-ea"/>
                            <a:cs typeface="+mn-cs"/>
                          </a:rPr>
                          <m:t>−</m:t>
                        </m:r>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𝑋</m:t>
                            </m:r>
                          </m:e>
                          <m:lim>
                            <m:r>
                              <a:rPr lang="ar-AE" sz="1200" i="0" kern="1200">
                                <a:solidFill>
                                  <a:schemeClr val="tx1"/>
                                </a:solidFill>
                                <a:latin typeface="Cambria Math" panose="02040503050406030204" pitchFamily="18" charset="0"/>
                                <a:ea typeface="+mn-ea"/>
                                <a:cs typeface="+mn-cs"/>
                              </a:rPr>
                              <m:t>ˉ</m:t>
                            </m:r>
                          </m:lim>
                        </m:limUpp>
                      </m:e>
                    </m:d>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𝑌</m:t>
                        </m:r>
                        <m:r>
                          <a:rPr lang="ar-AE" sz="1200" i="0" kern="1200">
                            <a:solidFill>
                              <a:schemeClr val="tx1"/>
                            </a:solidFill>
                            <a:latin typeface="Cambria Math" panose="02040503050406030204" pitchFamily="18" charset="0"/>
                            <a:ea typeface="+mn-ea"/>
                            <a:cs typeface="+mn-cs"/>
                          </a:rPr>
                          <m:t>−</m:t>
                        </m:r>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𝑌</m:t>
                            </m:r>
                          </m:e>
                          <m:lim>
                            <m:r>
                              <a:rPr lang="ar-AE" sz="1200" i="0" kern="1200">
                                <a:solidFill>
                                  <a:schemeClr val="tx1"/>
                                </a:solidFill>
                                <a:latin typeface="Cambria Math" panose="02040503050406030204" pitchFamily="18" charset="0"/>
                                <a:ea typeface="+mn-ea"/>
                                <a:cs typeface="+mn-cs"/>
                              </a:rPr>
                              <m:t>ˉ</m:t>
                            </m:r>
                          </m:lim>
                        </m:limUpp>
                      </m:e>
                    </m:d>
                    <m:d>
                      <m:dPr>
                        <m:end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𝑋</m:t>
                        </m:r>
                        <m:r>
                          <a:rPr lang="ar-AE" sz="1200" i="0" kern="1200">
                            <a:solidFill>
                              <a:schemeClr val="tx1"/>
                            </a:solidFill>
                            <a:latin typeface="Cambria Math" panose="02040503050406030204" pitchFamily="18" charset="0"/>
                            <a:ea typeface="+mn-ea"/>
                            <a:cs typeface="+mn-cs"/>
                          </a:rPr>
                          <m:t>−</m:t>
                        </m:r>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𝑋</m:t>
                            </m:r>
                          </m:e>
                          <m:lim>
                            <m:r>
                              <a:rPr lang="ar-AE" sz="1200" i="0" kern="1200">
                                <a:solidFill>
                                  <a:schemeClr val="tx1"/>
                                </a:solidFill>
                                <a:latin typeface="Cambria Math" panose="02040503050406030204" pitchFamily="18" charset="0"/>
                                <a:ea typeface="+mn-ea"/>
                                <a:cs typeface="+mn-cs"/>
                              </a:rPr>
                              <m:t>ˉ</m:t>
                            </m:r>
                          </m:lim>
                        </m:limUpp>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r>
                              <a:rPr lang="ar-AE" sz="1200" i="0" kern="1200">
                                <a:solidFill>
                                  <a:schemeClr val="tx1"/>
                                </a:solidFill>
                                <a:latin typeface="Cambria Math" panose="02040503050406030204" pitchFamily="18" charset="0"/>
                                <a:ea typeface="+mn-ea"/>
                                <a:cs typeface="+mn-cs"/>
                              </a:rPr>
                              <m:t>2</m:t>
                            </m:r>
                          </m:sup>
                        </m:sSup>
                      </m:e>
                    </m:d>
                    <m:d>
                      <m:dPr>
                        <m:end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𝑌</m:t>
                        </m:r>
                        <m:r>
                          <a:rPr lang="ar-AE" sz="1200" i="0" kern="1200">
                            <a:solidFill>
                              <a:schemeClr val="tx1"/>
                            </a:solidFill>
                            <a:latin typeface="Cambria Math" panose="02040503050406030204" pitchFamily="18" charset="0"/>
                            <a:ea typeface="+mn-ea"/>
                            <a:cs typeface="+mn-cs"/>
                          </a:rPr>
                          <m:t>−</m:t>
                        </m:r>
                        <m:limUpp>
                          <m:limUppPr>
                            <m:ctrlPr>
                              <a:rPr lang="ar-AE" sz="1200" i="1" kern="1200">
                                <a:solidFill>
                                  <a:schemeClr val="tx1"/>
                                </a:solidFill>
                                <a:latin typeface="Cambria Math" panose="02040503050406030204" pitchFamily="18" charset="0"/>
                                <a:ea typeface="+mn-ea"/>
                                <a:cs typeface="+mn-cs"/>
                              </a:rPr>
                            </m:ctrlPr>
                          </m:limUppPr>
                          <m:e>
                            <m:r>
                              <a:rPr lang="ar-AE" sz="1200" i="1" kern="1200">
                                <a:solidFill>
                                  <a:schemeClr val="tx1"/>
                                </a:solidFill>
                                <a:latin typeface="Cambria Math" panose="02040503050406030204" pitchFamily="18" charset="0"/>
                                <a:ea typeface="+mn-ea"/>
                                <a:cs typeface="+mn-cs"/>
                              </a:rPr>
                              <m:t>𝑌</m:t>
                            </m:r>
                          </m:e>
                          <m:lim>
                            <m:r>
                              <a:rPr lang="ar-AE" sz="1200" i="0" kern="1200">
                                <a:solidFill>
                                  <a:schemeClr val="tx1"/>
                                </a:solidFill>
                                <a:latin typeface="Cambria Math" panose="02040503050406030204" pitchFamily="18" charset="0"/>
                                <a:ea typeface="+mn-ea"/>
                                <a:cs typeface="+mn-cs"/>
                              </a:rPr>
                              <m:t>ˉ</m:t>
                            </m:r>
                          </m:lim>
                        </m:limUpp>
                        <m:sSup>
                          <m:sSupPr>
                            <m:ctrlPr>
                              <a:rPr lang="ar-AE" sz="1200" i="1" kern="1200">
                                <a:solidFill>
                                  <a:schemeClr val="tx1"/>
                                </a:solidFill>
                                <a:latin typeface="Cambria Math" panose="02040503050406030204" pitchFamily="18" charset="0"/>
                                <a:ea typeface="+mn-ea"/>
                                <a:cs typeface="+mn-cs"/>
                              </a:rPr>
                            </m:ctrlPr>
                          </m:sSupPr>
                          <m:e>
                            <m:d>
                              <m:dPr>
                                <m:begChr m:val=""/>
                                <m:end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e>
                            </m:d>
                          </m:e>
                          <m:sup>
                            <m:r>
                              <a:rPr lang="ar-AE" sz="1200" i="0" kern="1200">
                                <a:solidFill>
                                  <a:schemeClr val="tx1"/>
                                </a:solidFill>
                                <a:latin typeface="Cambria Math" panose="02040503050406030204" pitchFamily="18" charset="0"/>
                                <a:ea typeface="+mn-ea"/>
                                <a:cs typeface="+mn-cs"/>
                              </a:rPr>
                              <m:t>2</m:t>
                            </m:r>
                          </m:sup>
                        </m:sSup>
                      </m:e>
                    </m:d>
                  </m:oMath>
                </a14:m>
                <a:r>
                  <a:rPr lang="ar-AE" dirty="0"/>
                  <a:t>110100-1530-45022590022080-510-5025100330605-10-50251004404015-30-450225900</a:t>
                </a:r>
              </a:p>
              <a:p>
                <a:br>
                  <a:rPr lang="ar-AE" dirty="0"/>
                </a:br>
                <a:endParaRPr lang="ar-AE" dirty="0"/>
              </a:p>
              <a:p>
                <a:r>
                  <a:rPr lang="en-IN" b="1" dirty="0"/>
                  <a:t>Step 3 — Sums</a:t>
                </a:r>
              </a:p>
              <a:p>
                <a:br>
                  <a:rPr lang="en-IN" dirty="0"/>
                </a:br>
                <a:endParaRPr lang="en-IN" dirty="0"/>
              </a:p>
              <a:p>
                <a:r>
                  <a:rPr lang="en-IN" b="1" dirty="0"/>
                  <a:t>Step 4 — Pearson correlation</a:t>
                </a:r>
              </a:p>
              <a:p>
                <a:pPr/>
                <a14:m>
                  <m:oMathPara xmlns:m="http://schemas.openxmlformats.org/officeDocument/2006/math">
                    <m:oMathParaPr>
                      <m:jc m:val="centerGroup"/>
                    </m:oMathParaPr>
                    <m:oMath xmlns:m="http://schemas.openxmlformats.org/officeDocument/2006/math">
                      <m:r>
                        <a:rPr lang="en-IN" sz="1200" kern="1200">
                          <a:solidFill>
                            <a:schemeClr val="tx1"/>
                          </a:solidFill>
                          <a:latin typeface="Cambria Math" panose="02040503050406030204" pitchFamily="18" charset="0"/>
                          <a:ea typeface="+mn-ea"/>
                          <a:cs typeface="+mn-cs"/>
                        </a:rPr>
                        <m:t>500</m:t>
                      </m:r>
                      <m:r>
                        <a:rPr lang="en-IN" sz="1200" i="0" kern="1200">
                          <a:solidFill>
                            <a:schemeClr val="tx1"/>
                          </a:solidFill>
                          <a:latin typeface="Cambria Math" panose="02040503050406030204" pitchFamily="18" charset="0"/>
                          <a:ea typeface="+mn-ea"/>
                          <a:cs typeface="+mn-cs"/>
                        </a:rPr>
                        <m:t>×</m:t>
                      </m:r>
                      <m:r>
                        <a:rPr lang="en-IN" sz="1200" i="0" kern="1200">
                          <a:solidFill>
                            <a:schemeClr val="tx1"/>
                          </a:solidFill>
                          <a:latin typeface="Cambria Math" panose="02040503050406030204" pitchFamily="18" charset="0"/>
                          <a:ea typeface="+mn-ea"/>
                          <a:cs typeface="+mn-cs"/>
                        </a:rPr>
                        <m:t>2000</m:t>
                      </m:r>
                      <m:r>
                        <a:rPr lang="en-IN" sz="1200" i="0" kern="1200">
                          <a:solidFill>
                            <a:schemeClr val="tx1"/>
                          </a:solidFill>
                          <a:latin typeface="Cambria Math" panose="02040503050406030204" pitchFamily="18" charset="0"/>
                          <a:ea typeface="+mn-ea"/>
                          <a:cs typeface="+mn-cs"/>
                        </a:rPr>
                        <m:t>=</m:t>
                      </m:r>
                      <m:r>
                        <a:rPr lang="en-IN" sz="1200" i="0" kern="1200">
                          <a:solidFill>
                            <a:schemeClr val="tx1"/>
                          </a:solidFill>
                          <a:latin typeface="Cambria Math" panose="02040503050406030204" pitchFamily="18" charset="0"/>
                          <a:ea typeface="+mn-ea"/>
                          <a:cs typeface="+mn-cs"/>
                        </a:rPr>
                        <m:t>1</m:t>
                      </m:r>
                      <m:r>
                        <a:rPr lang="en-IN" sz="1200" i="0" kern="1200">
                          <a:solidFill>
                            <a:schemeClr val="tx1"/>
                          </a:solidFill>
                          <a:latin typeface="Cambria Math" panose="02040503050406030204" pitchFamily="18" charset="0"/>
                          <a:ea typeface="+mn-ea"/>
                          <a:cs typeface="+mn-cs"/>
                        </a:rPr>
                        <m:t>,</m:t>
                      </m:r>
                      <m:r>
                        <a:rPr lang="en-IN" sz="1200" i="0" kern="1200">
                          <a:solidFill>
                            <a:schemeClr val="tx1"/>
                          </a:solidFill>
                          <a:latin typeface="Cambria Math" panose="02040503050406030204" pitchFamily="18" charset="0"/>
                          <a:ea typeface="+mn-ea"/>
                          <a:cs typeface="+mn-cs"/>
                        </a:rPr>
                        <m:t>000</m:t>
                      </m:r>
                      <m:r>
                        <a:rPr lang="en-IN" sz="1200" i="0" kern="1200">
                          <a:solidFill>
                            <a:schemeClr val="tx1"/>
                          </a:solidFill>
                          <a:latin typeface="Cambria Math" panose="02040503050406030204" pitchFamily="18" charset="0"/>
                          <a:ea typeface="+mn-ea"/>
                          <a:cs typeface="+mn-cs"/>
                        </a:rPr>
                        <m:t>,</m:t>
                      </m:r>
                      <m:r>
                        <a:rPr lang="en-IN" sz="1200" i="0" kern="1200">
                          <a:solidFill>
                            <a:schemeClr val="tx1"/>
                          </a:solidFill>
                          <a:latin typeface="Cambria Math" panose="02040503050406030204" pitchFamily="18" charset="0"/>
                          <a:ea typeface="+mn-ea"/>
                          <a:cs typeface="+mn-cs"/>
                        </a:rPr>
                        <m:t>000</m:t>
                      </m:r>
                    </m:oMath>
                  </m:oMathPara>
                </a14:m>
                <a:endParaRPr lang="en-IN" dirty="0"/>
              </a:p>
              <a:p>
                <a:pPr/>
                <a14:m>
                  <m:oMathPara xmlns:m="http://schemas.openxmlformats.org/officeDocument/2006/math">
                    <m:oMathParaPr>
                      <m:jc m:val="centerGroup"/>
                    </m:oMathParaPr>
                    <m:oMath xmlns:m="http://schemas.openxmlformats.org/officeDocument/2006/math">
                      <m:rad>
                        <m:radPr>
                          <m:degHide m:val="on"/>
                          <m:ctrlPr>
                            <a:rPr lang="ar-AE" sz="1200" i="1" kern="1200">
                              <a:solidFill>
                                <a:schemeClr val="tx1"/>
                              </a:solidFill>
                              <a:latin typeface="Cambria Math" panose="02040503050406030204" pitchFamily="18" charset="0"/>
                              <a:ea typeface="+mn-ea"/>
                              <a:cs typeface="+mn-cs"/>
                            </a:rPr>
                          </m:ctrlPr>
                        </m:radPr>
                        <m:deg/>
                        <m:e>
                          <m:r>
                            <a:rPr lang="ar-AE" sz="1200" kern="1200">
                              <a:solidFill>
                                <a:schemeClr val="tx1"/>
                              </a:solidFill>
                              <a:latin typeface="Cambria Math" panose="02040503050406030204" pitchFamily="18" charset="0"/>
                              <a:ea typeface="+mn-ea"/>
                              <a:cs typeface="+mn-cs"/>
                            </a:rPr>
                            <m:t>1</m:t>
                          </m:r>
                          <m:r>
                            <a:rPr lang="ar-AE" sz="1200" kern="1200">
                              <a:solidFill>
                                <a:schemeClr val="tx1"/>
                              </a:solidFill>
                              <a:latin typeface="Cambria Math" panose="02040503050406030204" pitchFamily="18" charset="0"/>
                              <a:ea typeface="+mn-ea"/>
                              <a:cs typeface="+mn-cs"/>
                            </a:rPr>
                            <m:t>,</m:t>
                          </m:r>
                          <m:r>
                            <a:rPr lang="ar-AE" sz="1200" kern="1200">
                              <a:solidFill>
                                <a:schemeClr val="tx1"/>
                              </a:solidFill>
                              <a:latin typeface="Cambria Math" panose="02040503050406030204" pitchFamily="18" charset="0"/>
                              <a:ea typeface="+mn-ea"/>
                              <a:cs typeface="+mn-cs"/>
                            </a:rPr>
                            <m:t>000</m:t>
                          </m:r>
                          <m:r>
                            <a:rPr lang="ar-AE" sz="1200" kern="1200">
                              <a:solidFill>
                                <a:schemeClr val="tx1"/>
                              </a:solidFill>
                              <a:latin typeface="Cambria Math" panose="02040503050406030204" pitchFamily="18" charset="0"/>
                              <a:ea typeface="+mn-ea"/>
                              <a:cs typeface="+mn-cs"/>
                            </a:rPr>
                            <m:t>,</m:t>
                          </m:r>
                          <m:r>
                            <a:rPr lang="ar-AE" sz="1200" kern="1200">
                              <a:solidFill>
                                <a:schemeClr val="tx1"/>
                              </a:solidFill>
                              <a:latin typeface="Cambria Math" panose="02040503050406030204" pitchFamily="18" charset="0"/>
                              <a:ea typeface="+mn-ea"/>
                              <a:cs typeface="+mn-cs"/>
                            </a:rPr>
                            <m:t>000</m:t>
                          </m:r>
                        </m:e>
                      </m:ra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1000</m:t>
                      </m:r>
                    </m:oMath>
                  </m:oMathPara>
                </a14:m>
                <a:endParaRPr lang="ar-AE" dirty="0"/>
              </a:p>
              <a:p>
                <a:pPr/>
                <a14:m>
                  <m:oMathPara xmlns:m="http://schemas.openxmlformats.org/officeDocument/2006/math">
                    <m:oMathParaPr>
                      <m:jc m:val="centerGroup"/>
                    </m:oMathParaPr>
                    <m:oMath xmlns:m="http://schemas.openxmlformats.org/officeDocument/2006/math">
                      <m:r>
                        <a:rPr lang="ar-AE" sz="1200" i="1" kern="1200">
                          <a:solidFill>
                            <a:schemeClr val="tx1"/>
                          </a:solidFill>
                          <a:latin typeface="Cambria Math" panose="02040503050406030204" pitchFamily="18" charset="0"/>
                          <a:ea typeface="+mn-ea"/>
                          <a:cs typeface="+mn-cs"/>
                        </a:rPr>
                        <m:t>𝑟</m:t>
                      </m:r>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1000</m:t>
                          </m:r>
                        </m:num>
                        <m:den>
                          <m:r>
                            <a:rPr lang="ar-AE" sz="1200" i="0" kern="1200">
                              <a:solidFill>
                                <a:schemeClr val="tx1"/>
                              </a:solidFill>
                              <a:latin typeface="Cambria Math" panose="02040503050406030204" pitchFamily="18" charset="0"/>
                              <a:ea typeface="+mn-ea"/>
                              <a:cs typeface="+mn-cs"/>
                            </a:rPr>
                            <m:t>1000</m:t>
                          </m:r>
                        </m:den>
                      </m:f>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00</m:t>
                      </m:r>
                    </m:oMath>
                  </m:oMathPara>
                </a14:m>
                <a:endParaRPr lang="ar-AE" dirty="0"/>
              </a:p>
              <a:p>
                <a:br>
                  <a:rPr lang="ar-AE" dirty="0"/>
                </a:br>
                <a:endParaRPr lang="ar-AE" dirty="0"/>
              </a:p>
              <a:p>
                <a:r>
                  <a:rPr lang="en-IN" b="1" dirty="0"/>
                  <a:t>✅ Result: </a:t>
                </a:r>
                <a14:m>
                  <m:oMath xmlns:m="http://schemas.openxmlformats.org/officeDocument/2006/math">
                    <m:r>
                      <a:rPr lang="en-IN" sz="1200" i="1" kern="1200">
                        <a:solidFill>
                          <a:schemeClr val="tx1"/>
                        </a:solidFill>
                        <a:latin typeface="Cambria Math" panose="02040503050406030204" pitchFamily="18" charset="0"/>
                        <a:ea typeface="+mn-ea"/>
                        <a:cs typeface="+mn-cs"/>
                      </a:rPr>
                      <m:t>𝑟</m:t>
                    </m:r>
                    <m:r>
                      <a:rPr lang="en-IN" sz="1200" i="0" kern="1200">
                        <a:solidFill>
                          <a:schemeClr val="tx1"/>
                        </a:solidFill>
                        <a:latin typeface="Cambria Math" panose="02040503050406030204" pitchFamily="18" charset="0"/>
                        <a:ea typeface="+mn-ea"/>
                        <a:cs typeface="+mn-cs"/>
                      </a:rPr>
                      <m:t>=−</m:t>
                    </m:r>
                    <m:r>
                      <a:rPr lang="en-IN" sz="1200" i="0" kern="1200">
                        <a:solidFill>
                          <a:schemeClr val="tx1"/>
                        </a:solidFill>
                        <a:latin typeface="Cambria Math" panose="02040503050406030204" pitchFamily="18" charset="0"/>
                        <a:ea typeface="+mn-ea"/>
                        <a:cs typeface="+mn-cs"/>
                      </a:rPr>
                      <m:t>1</m:t>
                    </m:r>
                    <m:r>
                      <a:rPr lang="en-IN" sz="1200" i="0" kern="1200">
                        <a:solidFill>
                          <a:schemeClr val="tx1"/>
                        </a:solidFill>
                        <a:latin typeface="Cambria Math" panose="02040503050406030204" pitchFamily="18" charset="0"/>
                        <a:ea typeface="+mn-ea"/>
                        <a:cs typeface="+mn-cs"/>
                      </a:rPr>
                      <m:t>.</m:t>
                    </m:r>
                    <m:r>
                      <a:rPr lang="en-IN" sz="1200" i="0" kern="1200">
                        <a:solidFill>
                          <a:schemeClr val="tx1"/>
                        </a:solidFill>
                        <a:latin typeface="Cambria Math" panose="02040503050406030204" pitchFamily="18" charset="0"/>
                        <a:ea typeface="+mn-ea"/>
                        <a:cs typeface="+mn-cs"/>
                      </a:rPr>
                      <m:t>0</m:t>
                    </m:r>
                  </m:oMath>
                </a14:m>
                <a:r>
                  <a:rPr lang="en-IN" b="1" dirty="0"/>
                  <a:t>(perfect negative correlation)</a:t>
                </a:r>
              </a:p>
              <a:p>
                <a:r>
                  <a:rPr lang="en-IN" b="1" dirty="0"/>
                  <a:t>Interpretation:</a:t>
                </a:r>
                <a:r>
                  <a:rPr lang="en-IN" dirty="0"/>
                  <a:t> As the product’s price increases, the number of units sold decreases proportionally.</a:t>
                </a:r>
              </a:p>
              <a:p>
                <a:endParaRPr lang="en-IN" dirty="0"/>
              </a:p>
              <a:p>
                <a:r>
                  <a:rPr lang="en-US" dirty="0"/>
                  <a:t>Business implication: Retail managers must carefully balance </a:t>
                </a:r>
                <a:r>
                  <a:rPr lang="en-US" b="1" dirty="0"/>
                  <a:t>pricing strategy</a:t>
                </a:r>
                <a:r>
                  <a:rPr lang="en-US" dirty="0"/>
                  <a:t> and </a:t>
                </a:r>
                <a:r>
                  <a:rPr lang="en-US" b="1" dirty="0"/>
                  <a:t>volume of sales</a:t>
                </a:r>
                <a:r>
                  <a:rPr lang="en-US" dirty="0"/>
                  <a:t>. Raising prices may improve per-unit margin but can drastically reduce demand if the relationship is strongly negative.</a:t>
                </a:r>
                <a:endParaRPr lang="en-IN" dirty="0"/>
              </a:p>
            </p:txBody>
          </p:sp>
        </mc:Choice>
        <mc:Fallback xmlns="">
          <p:sp>
            <p:nvSpPr>
              <p:cNvPr id="3" name="Notes Placeholder 2"/>
              <p:cNvSpPr>
                <a:spLocks noGrp="1"/>
              </p:cNvSpPr>
              <p:nvPr>
                <p:ph type="body" idx="1"/>
              </p:nvPr>
            </p:nvSpPr>
            <p:spPr/>
            <p:txBody>
              <a:bodyPr/>
              <a:lstStyle/>
              <a:p>
                <a:r>
                  <a:rPr lang="en-IN" b="1" dirty="0"/>
                  <a:t>Step 1 — Calculate means</a:t>
                </a:r>
              </a:p>
              <a:p>
                <a:r>
                  <a:rPr lang="ar-AE" sz="1200" i="0" kern="1200">
                    <a:solidFill>
                      <a:schemeClr val="tx1"/>
                    </a:solidFill>
                    <a:latin typeface="+mn-lt"/>
                    <a:ea typeface="+mn-ea"/>
                    <a:cs typeface="+mn-cs"/>
                  </a:rPr>
                  <a:t>𝑋┴ˉ=(10+20+30+40)/4=100/4=25</a:t>
                </a:r>
                <a:endParaRPr lang="ar-AE" dirty="0"/>
              </a:p>
              <a:p>
                <a:r>
                  <a:rPr lang="ar-AE" sz="1200" i="0" kern="1200">
                    <a:solidFill>
                      <a:schemeClr val="tx1"/>
                    </a:solidFill>
                    <a:latin typeface="+mn-lt"/>
                    <a:ea typeface="+mn-ea"/>
                    <a:cs typeface="+mn-cs"/>
                  </a:rPr>
                  <a:t>𝑌┴ˉ=(100+80+60+40)/4=280/4=70</a:t>
                </a:r>
                <a:endParaRPr lang="ar-AE" dirty="0"/>
              </a:p>
              <a:p>
                <a:br>
                  <a:rPr lang="ar-AE" dirty="0"/>
                </a:br>
                <a:endParaRPr lang="ar-AE" dirty="0"/>
              </a:p>
              <a:p>
                <a:r>
                  <a:rPr lang="en-IN" b="1" dirty="0"/>
                  <a:t>Step 2 — Deviations and products</a:t>
                </a:r>
              </a:p>
              <a:p>
                <a:r>
                  <a:rPr lang="en-IN" dirty="0" err="1"/>
                  <a:t>WeekXY</a:t>
                </a:r>
                <a:r>
                  <a:rPr lang="en-IN" sz="1200" i="0" kern="1200">
                    <a:solidFill>
                      <a:schemeClr val="tx1"/>
                    </a:solidFill>
                    <a:latin typeface="+mn-lt"/>
                    <a:ea typeface="+mn-ea"/>
                    <a:cs typeface="+mn-cs"/>
                  </a:rPr>
                  <a:t>𝑋−</a:t>
                </a:r>
                <a:r>
                  <a:rPr lang="ar-AE" sz="1200" i="0" kern="1200">
                    <a:solidFill>
                      <a:schemeClr val="tx1"/>
                    </a:solidFill>
                    <a:latin typeface="+mn-lt"/>
                    <a:ea typeface="+mn-ea"/>
                    <a:cs typeface="+mn-cs"/>
                  </a:rPr>
                  <a:t>𝑋┴ˉ 𝑌−𝑌┴ˉ (𝑋−𝑋┴ˉ )(𝑌−𝑌┴ˉ )(𝑋−𝑋┴ˉ ├ )┤^2 ┤ (𝑌−𝑌┴ˉ ├ )┤^2 ┤</a:t>
                </a:r>
                <a:r>
                  <a:rPr lang="ar-AE" dirty="0"/>
                  <a:t>110100-1530-45022590022080-510-5025100330605-10-50251004404015-30-450225900</a:t>
                </a:r>
              </a:p>
              <a:p>
                <a:br>
                  <a:rPr lang="ar-AE" dirty="0"/>
                </a:br>
                <a:endParaRPr lang="ar-AE" dirty="0"/>
              </a:p>
              <a:p>
                <a:r>
                  <a:rPr lang="en-IN" b="1" dirty="0"/>
                  <a:t>Step 3 — Sums</a:t>
                </a:r>
              </a:p>
              <a:p>
                <a:br>
                  <a:rPr lang="en-IN" dirty="0"/>
                </a:br>
                <a:endParaRPr lang="en-IN" dirty="0"/>
              </a:p>
              <a:p>
                <a:r>
                  <a:rPr lang="en-IN" b="1" dirty="0"/>
                  <a:t>Step 4 — Pearson correlation</a:t>
                </a:r>
              </a:p>
              <a:p>
                <a:r>
                  <a:rPr lang="en-IN" sz="1200" i="0" kern="1200">
                    <a:solidFill>
                      <a:schemeClr val="tx1"/>
                    </a:solidFill>
                    <a:latin typeface="+mn-lt"/>
                    <a:ea typeface="+mn-ea"/>
                    <a:cs typeface="+mn-cs"/>
                  </a:rPr>
                  <a:t>500×2000=1,000,000</a:t>
                </a:r>
                <a:endParaRPr lang="en-IN" dirty="0"/>
              </a:p>
              <a:p>
                <a:r>
                  <a:rPr lang="ar-AE" sz="1200" i="0" kern="1200">
                    <a:solidFill>
                      <a:schemeClr val="tx1"/>
                    </a:solidFill>
                    <a:latin typeface="+mn-lt"/>
                    <a:ea typeface="+mn-ea"/>
                    <a:cs typeface="+mn-cs"/>
                  </a:rPr>
                  <a:t>√1,000,000=1000</a:t>
                </a:r>
                <a:endParaRPr lang="ar-AE" dirty="0"/>
              </a:p>
              <a:p>
                <a:r>
                  <a:rPr lang="ar-AE" sz="1200" i="0" kern="1200">
                    <a:solidFill>
                      <a:schemeClr val="tx1"/>
                    </a:solidFill>
                    <a:latin typeface="+mn-lt"/>
                    <a:ea typeface="+mn-ea"/>
                    <a:cs typeface="+mn-cs"/>
                  </a:rPr>
                  <a:t>𝑟=(−1000)/1000=−1.00</a:t>
                </a:r>
                <a:endParaRPr lang="ar-AE" dirty="0"/>
              </a:p>
              <a:p>
                <a:br>
                  <a:rPr lang="ar-AE" dirty="0"/>
                </a:br>
                <a:endParaRPr lang="ar-AE" dirty="0"/>
              </a:p>
              <a:p>
                <a:r>
                  <a:rPr lang="en-IN" b="1" dirty="0"/>
                  <a:t>✅ Result: </a:t>
                </a:r>
                <a:r>
                  <a:rPr lang="en-IN" sz="1200" i="0" kern="1200">
                    <a:solidFill>
                      <a:schemeClr val="tx1"/>
                    </a:solidFill>
                    <a:latin typeface="+mn-lt"/>
                    <a:ea typeface="+mn-ea"/>
                    <a:cs typeface="+mn-cs"/>
                  </a:rPr>
                  <a:t>𝑟=−1.0</a:t>
                </a:r>
                <a:r>
                  <a:rPr lang="en-IN" b="1" dirty="0"/>
                  <a:t>(perfect negative correlation)</a:t>
                </a:r>
              </a:p>
              <a:p>
                <a:r>
                  <a:rPr lang="en-IN" b="1" dirty="0"/>
                  <a:t>Interpretation:</a:t>
                </a:r>
                <a:r>
                  <a:rPr lang="en-IN" dirty="0"/>
                  <a:t> As the product’s price increases, the number of units sold decreases proportionally.</a:t>
                </a:r>
              </a:p>
              <a:p>
                <a:endParaRPr lang="en-IN" dirty="0"/>
              </a:p>
              <a:p>
                <a:r>
                  <a:rPr lang="en-US" dirty="0"/>
                  <a:t>Business implication: Retail managers must carefully balance </a:t>
                </a:r>
                <a:r>
                  <a:rPr lang="en-US" b="1" dirty="0"/>
                  <a:t>pricing strategy</a:t>
                </a:r>
                <a:r>
                  <a:rPr lang="en-US" dirty="0"/>
                  <a:t> and </a:t>
                </a:r>
                <a:r>
                  <a:rPr lang="en-US" b="1" dirty="0"/>
                  <a:t>volume of sales</a:t>
                </a:r>
                <a:r>
                  <a:rPr lang="en-US" dirty="0"/>
                  <a:t>. Raising prices may improve per-unit margin but can drastically reduce demand if the relationship is strongly negative.</a:t>
                </a:r>
                <a:endParaRPr lang="en-IN" dirty="0"/>
              </a:p>
            </p:txBody>
          </p:sp>
        </mc:Fallback>
      </mc:AlternateContent>
      <p:sp>
        <p:nvSpPr>
          <p:cNvPr id="4" name="Slide Number Placeholder 3"/>
          <p:cNvSpPr>
            <a:spLocks noGrp="1"/>
          </p:cNvSpPr>
          <p:nvPr>
            <p:ph type="sldNum" sz="quarter" idx="5"/>
          </p:nvPr>
        </p:nvSpPr>
        <p:spPr/>
        <p:txBody>
          <a:bodyPr/>
          <a:lstStyle/>
          <a:p>
            <a:fld id="{B3160891-C122-4257-96AF-D0ABD6E8CC3C}" type="slidenum">
              <a:rPr lang="en-IN" smtClean="0"/>
              <a:t>56</a:t>
            </a:fld>
            <a:endParaRPr lang="en-IN"/>
          </a:p>
        </p:txBody>
      </p:sp>
    </p:spTree>
    <p:extLst>
      <p:ext uri="{BB962C8B-B14F-4D97-AF65-F5344CB8AC3E}">
        <p14:creationId xmlns:p14="http://schemas.microsoft.com/office/powerpoint/2010/main" val="34208297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97BE96B9-31B5-4A43-848A-8B41A0578C03}" type="datetimeFigureOut">
              <a:rPr lang="en-IN" smtClean="0"/>
              <a:t>16-09-2025</a:t>
            </a:fld>
            <a:endParaRPr lang="en-IN" dirty="0"/>
          </a:p>
        </p:txBody>
      </p:sp>
      <p:sp>
        <p:nvSpPr>
          <p:cNvPr id="5" name="Footer Placeholder 4"/>
          <p:cNvSpPr>
            <a:spLocks noGrp="1"/>
          </p:cNvSpPr>
          <p:nvPr>
            <p:ph type="ftr" sz="quarter" idx="11"/>
          </p:nvPr>
        </p:nvSpPr>
        <p:spPr>
          <a:xfrm>
            <a:off x="2692397" y="5037663"/>
            <a:ext cx="5214635" cy="279400"/>
          </a:xfrm>
        </p:spPr>
        <p:txBody>
          <a:bodyPr/>
          <a:lstStyle/>
          <a:p>
            <a:endParaRPr lang="en-IN" dirty="0"/>
          </a:p>
        </p:txBody>
      </p:sp>
      <p:sp>
        <p:nvSpPr>
          <p:cNvPr id="6" name="Slide Number Placeholder 5"/>
          <p:cNvSpPr>
            <a:spLocks noGrp="1"/>
          </p:cNvSpPr>
          <p:nvPr>
            <p:ph type="sldNum" sz="quarter" idx="12"/>
          </p:nvPr>
        </p:nvSpPr>
        <p:spPr>
          <a:xfrm>
            <a:off x="8956900" y="5037663"/>
            <a:ext cx="551167" cy="279400"/>
          </a:xfrm>
        </p:spPr>
        <p:txBody>
          <a:bodyPr/>
          <a:lstStyle/>
          <a:p>
            <a:fld id="{7EB74471-A9B0-4CD1-8F71-CE91D282E6DE}" type="slidenum">
              <a:rPr lang="en-IN" smtClean="0"/>
              <a:t>‹#›</a:t>
            </a:fld>
            <a:endParaRPr lang="en-IN"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8552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EB74471-A9B0-4CD1-8F71-CE91D282E6DE}" type="slidenum">
              <a:rPr lang="en-IN" smtClean="0"/>
              <a:t>‹#›</a:t>
            </a:fld>
            <a:endParaRPr lang="en-IN" dirty="0"/>
          </a:p>
        </p:txBody>
      </p:sp>
    </p:spTree>
    <p:extLst>
      <p:ext uri="{BB962C8B-B14F-4D97-AF65-F5344CB8AC3E}">
        <p14:creationId xmlns:p14="http://schemas.microsoft.com/office/powerpoint/2010/main" val="2658682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EB74471-A9B0-4CD1-8F71-CE91D282E6DE}" type="slidenum">
              <a:rPr lang="en-IN" smtClean="0"/>
              <a:t>‹#›</a:t>
            </a:fld>
            <a:endParaRPr lang="en-IN"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0250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EB74471-A9B0-4CD1-8F71-CE91D282E6DE}" type="slidenum">
              <a:rPr lang="en-IN" smtClean="0"/>
              <a:t>‹#›</a:t>
            </a:fld>
            <a:endParaRPr lang="en-IN" dirty="0"/>
          </a:p>
        </p:txBody>
      </p:sp>
    </p:spTree>
    <p:extLst>
      <p:ext uri="{BB962C8B-B14F-4D97-AF65-F5344CB8AC3E}">
        <p14:creationId xmlns:p14="http://schemas.microsoft.com/office/powerpoint/2010/main" val="209410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7EB74471-A9B0-4CD1-8F71-CE91D282E6DE}" type="slidenum">
              <a:rPr lang="en-IN" smtClean="0"/>
              <a:t>‹#›</a:t>
            </a:fld>
            <a:endParaRPr lang="en-IN"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3232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7EB74471-A9B0-4CD1-8F71-CE91D282E6DE}" type="slidenum">
              <a:rPr lang="en-IN" smtClean="0"/>
              <a:t>‹#›</a:t>
            </a:fld>
            <a:endParaRPr lang="en-IN"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8403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7EB74471-A9B0-4CD1-8F71-CE91D282E6DE}" type="slidenum">
              <a:rPr lang="en-IN" smtClean="0"/>
              <a:t>‹#›</a:t>
            </a:fld>
            <a:endParaRPr lang="en-IN" dirty="0"/>
          </a:p>
        </p:txBody>
      </p:sp>
    </p:spTree>
    <p:extLst>
      <p:ext uri="{BB962C8B-B14F-4D97-AF65-F5344CB8AC3E}">
        <p14:creationId xmlns:p14="http://schemas.microsoft.com/office/powerpoint/2010/main" val="3125399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EB74471-A9B0-4CD1-8F71-CE91D282E6DE}" type="slidenum">
              <a:rPr lang="en-IN" smtClean="0"/>
              <a:t>‹#›</a:t>
            </a:fld>
            <a:endParaRPr lang="en-IN"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4643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EB74471-A9B0-4CD1-8F71-CE91D282E6DE}" type="slidenum">
              <a:rPr lang="en-IN" smtClean="0"/>
              <a:t>‹#›</a:t>
            </a:fld>
            <a:endParaRPr lang="en-IN" dirty="0"/>
          </a:p>
        </p:txBody>
      </p:sp>
    </p:spTree>
    <p:extLst>
      <p:ext uri="{BB962C8B-B14F-4D97-AF65-F5344CB8AC3E}">
        <p14:creationId xmlns:p14="http://schemas.microsoft.com/office/powerpoint/2010/main" val="3703793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EB74471-A9B0-4CD1-8F71-CE91D282E6DE}" type="slidenum">
              <a:rPr lang="en-IN" smtClean="0"/>
              <a:t>‹#›</a:t>
            </a:fld>
            <a:endParaRPr lang="en-IN" dirty="0"/>
          </a:p>
        </p:txBody>
      </p:sp>
    </p:spTree>
    <p:extLst>
      <p:ext uri="{BB962C8B-B14F-4D97-AF65-F5344CB8AC3E}">
        <p14:creationId xmlns:p14="http://schemas.microsoft.com/office/powerpoint/2010/main" val="2006849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EB74471-A9B0-4CD1-8F71-CE91D282E6DE}" type="slidenum">
              <a:rPr lang="en-IN" smtClean="0"/>
              <a:t>‹#›</a:t>
            </a:fld>
            <a:endParaRPr lang="en-IN"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52398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EB74471-A9B0-4CD1-8F71-CE91D282E6DE}" type="slidenum">
              <a:rPr lang="en-IN" smtClean="0"/>
              <a:t>‹#›</a:t>
            </a:fld>
            <a:endParaRPr lang="en-IN"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2959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EB74471-A9B0-4CD1-8F71-CE91D282E6DE}" type="slidenum">
              <a:rPr lang="en-IN" smtClean="0"/>
              <a:t>‹#›</a:t>
            </a:fld>
            <a:endParaRPr lang="en-IN" dirty="0"/>
          </a:p>
        </p:txBody>
      </p:sp>
    </p:spTree>
    <p:extLst>
      <p:ext uri="{BB962C8B-B14F-4D97-AF65-F5344CB8AC3E}">
        <p14:creationId xmlns:p14="http://schemas.microsoft.com/office/powerpoint/2010/main" val="11462410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EB74471-A9B0-4CD1-8F71-CE91D282E6DE}" type="slidenum">
              <a:rPr lang="en-IN" smtClean="0"/>
              <a:t>‹#›</a:t>
            </a:fld>
            <a:endParaRPr lang="en-IN"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0529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EB74471-A9B0-4CD1-8F71-CE91D282E6DE}" type="slidenum">
              <a:rPr lang="en-IN" smtClean="0"/>
              <a:t>‹#›</a:t>
            </a:fld>
            <a:endParaRPr lang="en-IN"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31416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EB74471-A9B0-4CD1-8F71-CE91D282E6DE}" type="slidenum">
              <a:rPr lang="en-IN" smtClean="0"/>
              <a:t>‹#›</a:t>
            </a:fld>
            <a:endParaRPr lang="en-IN"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31738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BE96B9-31B5-4A43-848A-8B41A0578C03}" type="datetimeFigureOut">
              <a:rPr lang="en-IN" smtClean="0"/>
              <a:t>16-09-2025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EB74471-A9B0-4CD1-8F71-CE91D282E6DE}" type="slidenum">
              <a:rPr lang="en-IN" smtClean="0"/>
              <a:t>‹#›</a:t>
            </a:fld>
            <a:endParaRPr lang="en-IN"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5422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7BE96B9-31B5-4A43-848A-8B41A0578C03}" type="datetimeFigureOut">
              <a:rPr lang="en-IN" smtClean="0"/>
              <a:t>16-09-2025</a:t>
            </a:fld>
            <a:endParaRPr lang="en-IN"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EB74471-A9B0-4CD1-8F71-CE91D282E6DE}" type="slidenum">
              <a:rPr lang="en-IN" smtClean="0"/>
              <a:t>‹#›</a:t>
            </a:fld>
            <a:endParaRPr lang="en-IN" dirty="0"/>
          </a:p>
        </p:txBody>
      </p:sp>
    </p:spTree>
    <p:extLst>
      <p:ext uri="{BB962C8B-B14F-4D97-AF65-F5344CB8AC3E}">
        <p14:creationId xmlns:p14="http://schemas.microsoft.com/office/powerpoint/2010/main" val="8085912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33B56-1A89-FC1D-0A6A-E244EC142BED}"/>
              </a:ext>
            </a:extLst>
          </p:cNvPr>
          <p:cNvSpPr>
            <a:spLocks noGrp="1"/>
          </p:cNvSpPr>
          <p:nvPr>
            <p:ph type="ctrTitle"/>
          </p:nvPr>
        </p:nvSpPr>
        <p:spPr/>
        <p:txBody>
          <a:bodyPr/>
          <a:lstStyle/>
          <a:p>
            <a:r>
              <a:rPr lang="en-US" sz="4400" b="1" dirty="0">
                <a:latin typeface="Times New Roman" panose="02020603050405020304" pitchFamily="18" charset="0"/>
                <a:cs typeface="Times New Roman" panose="02020603050405020304" pitchFamily="18" charset="0"/>
              </a:rPr>
              <a:t>Basic statistics(Descriptive statistics)</a:t>
            </a:r>
            <a:endParaRPr lang="en-IN" sz="4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34B2138-66FB-91F4-B098-953A888BCD5E}"/>
              </a:ext>
            </a:extLst>
          </p:cNvPr>
          <p:cNvSpPr>
            <a:spLocks noGrp="1"/>
          </p:cNvSpPr>
          <p:nvPr>
            <p:ph type="subTitle" idx="1"/>
          </p:nvPr>
        </p:nvSpPr>
        <p:spPr>
          <a:xfrm>
            <a:off x="2692398" y="3657597"/>
            <a:ext cx="6815669" cy="1660852"/>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Mr. Shrikrishna Anand Narvekar</a:t>
            </a:r>
          </a:p>
          <a:p>
            <a:r>
              <a:rPr lang="en-US" dirty="0">
                <a:latin typeface="Times New Roman" panose="02020603050405020304" pitchFamily="18" charset="0"/>
                <a:cs typeface="Times New Roman" panose="02020603050405020304" pitchFamily="18" charset="0"/>
              </a:rPr>
              <a:t>Assitant Professor</a:t>
            </a:r>
          </a:p>
          <a:p>
            <a:r>
              <a:rPr lang="en-US" dirty="0">
                <a:latin typeface="Times New Roman" panose="02020603050405020304" pitchFamily="18" charset="0"/>
                <a:cs typeface="Times New Roman" panose="02020603050405020304" pitchFamily="18" charset="0"/>
              </a:rPr>
              <a:t>Computer Engineering department</a:t>
            </a:r>
          </a:p>
          <a:p>
            <a:r>
              <a:rPr lang="en-US" dirty="0">
                <a:latin typeface="Times New Roman" panose="02020603050405020304" pitchFamily="18" charset="0"/>
                <a:cs typeface="Times New Roman" panose="02020603050405020304" pitchFamily="18" charset="0"/>
              </a:rPr>
              <a:t>Agnel Institute of Technology and Design</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863707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0E74C-43D2-67AD-A8CD-741F0A98DEB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Why descriptive statistics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B295996-30A6-C5A3-F737-A3D9944794B2}"/>
              </a:ext>
            </a:extLst>
          </p:cNvPr>
          <p:cNvSpPr>
            <a:spLocks noGrp="1"/>
          </p:cNvSpPr>
          <p:nvPr>
            <p:ph idx="1"/>
          </p:nvPr>
        </p:nvSpPr>
        <p:spPr>
          <a:xfrm>
            <a:off x="1461795" y="2556932"/>
            <a:ext cx="9601196" cy="3318936"/>
          </a:xfrm>
        </p:spPr>
        <p:txBody>
          <a:bodyPr>
            <a:normAutofit/>
          </a:bodyPr>
          <a:lstStyle/>
          <a:p>
            <a:r>
              <a:rPr lang="en-IN" sz="2200" dirty="0">
                <a:solidFill>
                  <a:schemeClr val="tx1"/>
                </a:solidFill>
                <a:effectLst/>
                <a:latin typeface="Times New Roman" panose="02020603050405020304" pitchFamily="18" charset="0"/>
                <a:ea typeface="Calibri" panose="020F0502020204030204" pitchFamily="34" charset="0"/>
              </a:rPr>
              <a:t>Descriptive statistics are used to summarize and understand data by focusing on what has happened in the past.</a:t>
            </a:r>
          </a:p>
          <a:p>
            <a:r>
              <a:rPr lang="en-US" sz="2200" dirty="0">
                <a:solidFill>
                  <a:schemeClr val="tx1"/>
                </a:solidFill>
                <a:latin typeface="Times New Roman" panose="02020603050405020304" pitchFamily="18" charset="0"/>
                <a:cs typeface="Times New Roman" panose="02020603050405020304" pitchFamily="18" charset="0"/>
              </a:rPr>
              <a:t>Descriptive statistics avoid inferences but, they help us to geta feel of the data.</a:t>
            </a:r>
          </a:p>
          <a:p>
            <a:r>
              <a:rPr lang="en-US" sz="2200" dirty="0">
                <a:solidFill>
                  <a:schemeClr val="tx1"/>
                </a:solidFill>
                <a:latin typeface="Times New Roman" panose="02020603050405020304" pitchFamily="18" charset="0"/>
                <a:cs typeface="Times New Roman" panose="02020603050405020304" pitchFamily="18" charset="0"/>
              </a:rPr>
              <a:t>Sometimes they are good enough to make an inference.</a:t>
            </a:r>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507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5D602-E970-F558-3440-7911D6788B10}"/>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What is descriptive statistics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C051DC-FE1B-0C21-563A-673C1F51C10D}"/>
              </a:ext>
            </a:extLst>
          </p:cNvPr>
          <p:cNvSpPr>
            <a:spLocks noGrp="1"/>
          </p:cNvSpPr>
          <p:nvPr>
            <p:ph idx="1"/>
          </p:nvPr>
        </p:nvSpPr>
        <p:spPr>
          <a:xfrm>
            <a:off x="1295400" y="2566263"/>
            <a:ext cx="9601197" cy="3309605"/>
          </a:xfrm>
        </p:spPr>
        <p:txBody>
          <a:bodyPr>
            <a:normAutofit fontScale="70000" lnSpcReduction="20000"/>
          </a:bodyPr>
          <a:lstStyle/>
          <a:p>
            <a:r>
              <a:rPr lang="en-IN" sz="2900" dirty="0">
                <a:solidFill>
                  <a:schemeClr val="tx1"/>
                </a:solidFill>
                <a:effectLst/>
                <a:latin typeface="Times New Roman" panose="02020603050405020304" pitchFamily="18" charset="0"/>
                <a:ea typeface="Calibri" panose="020F0502020204030204" pitchFamily="34" charset="0"/>
              </a:rPr>
              <a:t>Descriptive statistics involve using numbers and visuals to summarize and describe data. </a:t>
            </a:r>
          </a:p>
          <a:p>
            <a:r>
              <a:rPr lang="en-IN" sz="2900" dirty="0" err="1">
                <a:solidFill>
                  <a:schemeClr val="tx1"/>
                </a:solidFill>
                <a:latin typeface="Times New Roman" panose="02020603050405020304" pitchFamily="18" charset="0"/>
              </a:rPr>
              <a:t>Eg</a:t>
            </a:r>
            <a:r>
              <a:rPr lang="en-IN" sz="2900" dirty="0">
                <a:solidFill>
                  <a:schemeClr val="tx1"/>
                </a:solidFill>
                <a:latin typeface="Times New Roman" panose="02020603050405020304" pitchFamily="18" charset="0"/>
              </a:rPr>
              <a:t> : </a:t>
            </a:r>
            <a:r>
              <a:rPr lang="en-IN" sz="2900" dirty="0">
                <a:solidFill>
                  <a:schemeClr val="tx1"/>
                </a:solidFill>
                <a:latin typeface="Times New Roman" panose="02020603050405020304" pitchFamily="18" charset="0"/>
                <a:cs typeface="Times New Roman" panose="02020603050405020304" pitchFamily="18" charset="0"/>
              </a:rPr>
              <a:t>Calculate average salary of employee in a company, chart showing number different employees in different department and their salaries</a:t>
            </a:r>
            <a:endParaRPr lang="en-IN" sz="2900" dirty="0">
              <a:solidFill>
                <a:schemeClr val="tx1"/>
              </a:solidFill>
              <a:effectLst/>
              <a:latin typeface="Times New Roman" panose="02020603050405020304" pitchFamily="18" charset="0"/>
              <a:cs typeface="Times New Roman" panose="02020603050405020304" pitchFamily="18" charset="0"/>
            </a:endParaRPr>
          </a:p>
          <a:p>
            <a:r>
              <a:rPr lang="en-IN" sz="2900" b="1" dirty="0">
                <a:solidFill>
                  <a:schemeClr val="tx1"/>
                </a:solidFill>
                <a:latin typeface="Times New Roman" panose="02020603050405020304" pitchFamily="18" charset="0"/>
                <a:cs typeface="Times New Roman" panose="02020603050405020304" pitchFamily="18" charset="0"/>
              </a:rPr>
              <a:t>Numerical descriptions</a:t>
            </a:r>
            <a:r>
              <a:rPr lang="en-IN" sz="2900" dirty="0">
                <a:solidFill>
                  <a:schemeClr val="tx1"/>
                </a:solidFill>
                <a:latin typeface="Times New Roman" panose="02020603050405020304" pitchFamily="18" charset="0"/>
                <a:cs typeface="Times New Roman" panose="02020603050405020304" pitchFamily="18" charset="0"/>
              </a:rPr>
              <a:t>: centre-where the middle value of the data lies.(mean, median, mode)</a:t>
            </a:r>
          </a:p>
          <a:p>
            <a:r>
              <a:rPr lang="en-IN" sz="2900" b="1" dirty="0">
                <a:solidFill>
                  <a:schemeClr val="tx1"/>
                </a:solidFill>
                <a:latin typeface="Times New Roman" panose="02020603050405020304" pitchFamily="18" charset="0"/>
                <a:cs typeface="Times New Roman" panose="02020603050405020304" pitchFamily="18" charset="0"/>
              </a:rPr>
              <a:t>Variability</a:t>
            </a:r>
            <a:r>
              <a:rPr lang="en-IN" sz="2900" dirty="0">
                <a:solidFill>
                  <a:schemeClr val="tx1"/>
                </a:solidFill>
                <a:latin typeface="Times New Roman" panose="02020603050405020304" pitchFamily="18" charset="0"/>
                <a:cs typeface="Times New Roman" panose="02020603050405020304" pitchFamily="18" charset="0"/>
              </a:rPr>
              <a:t>-</a:t>
            </a:r>
            <a:r>
              <a:rPr lang="en-IN" sz="2900" dirty="0">
                <a:solidFill>
                  <a:schemeClr val="tx1"/>
                </a:solidFill>
                <a:effectLst/>
                <a:latin typeface="Times New Roman" panose="02020603050405020304" pitchFamily="18" charset="0"/>
                <a:ea typeface="Calibri" panose="020F0502020204030204" pitchFamily="34" charset="0"/>
              </a:rPr>
              <a:t>Measures that tell you how spread out the data is.( Range ,variance , standard deviation)</a:t>
            </a:r>
          </a:p>
          <a:p>
            <a:r>
              <a:rPr lang="en-IN" sz="2900" b="1" dirty="0">
                <a:solidFill>
                  <a:schemeClr val="tx1"/>
                </a:solidFill>
                <a:latin typeface="Times New Roman" panose="02020603050405020304" pitchFamily="18" charset="0"/>
                <a:cs typeface="Times New Roman" panose="02020603050405020304" pitchFamily="18" charset="0"/>
              </a:rPr>
              <a:t>Bivariate description</a:t>
            </a:r>
            <a:r>
              <a:rPr lang="en-IN" sz="2900" dirty="0">
                <a:solidFill>
                  <a:schemeClr val="tx1"/>
                </a:solidFill>
                <a:latin typeface="Times New Roman" panose="02020603050405020304" pitchFamily="18" charset="0"/>
                <a:cs typeface="Times New Roman" panose="02020603050405020304" pitchFamily="18" charset="0"/>
              </a:rPr>
              <a:t>-</a:t>
            </a:r>
            <a:r>
              <a:rPr lang="en-IN" sz="2900" kern="100" dirty="0">
                <a:effectLst/>
                <a:latin typeface="Times New Roman" panose="02020603050405020304" pitchFamily="18" charset="0"/>
                <a:ea typeface="Calibri" panose="020F0502020204030204" pitchFamily="34" charset="0"/>
                <a:cs typeface="Times New Roman" panose="02020603050405020304" pitchFamily="18" charset="0"/>
              </a:rPr>
              <a:t>When you study two variables together to see if there’s a relationship.</a:t>
            </a:r>
            <a:endParaRPr lang="en-IN" sz="29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2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sz="2800" dirty="0">
              <a:solidFill>
                <a:schemeClr val="tx1"/>
              </a:solidFill>
            </a:endParaRPr>
          </a:p>
        </p:txBody>
      </p:sp>
    </p:spTree>
    <p:extLst>
      <p:ext uri="{BB962C8B-B14F-4D97-AF65-F5344CB8AC3E}">
        <p14:creationId xmlns:p14="http://schemas.microsoft.com/office/powerpoint/2010/main" val="1594924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F660475-9913-D522-C724-E01FE1007545}"/>
              </a:ext>
            </a:extLst>
          </p:cNvPr>
          <p:cNvPicPr>
            <a:picLocks noGrp="1" noChangeAspect="1"/>
          </p:cNvPicPr>
          <p:nvPr>
            <p:ph idx="1"/>
          </p:nvPr>
        </p:nvPicPr>
        <p:blipFill>
          <a:blip r:embed="rId2"/>
          <a:stretch>
            <a:fillRect/>
          </a:stretch>
        </p:blipFill>
        <p:spPr>
          <a:xfrm>
            <a:off x="2606983" y="1329059"/>
            <a:ext cx="6849786" cy="4688749"/>
          </a:xfrm>
        </p:spPr>
      </p:pic>
      <p:sp>
        <p:nvSpPr>
          <p:cNvPr id="5" name="Title 4">
            <a:extLst>
              <a:ext uri="{FF2B5EF4-FFF2-40B4-BE49-F238E27FC236}">
                <a16:creationId xmlns:a16="http://schemas.microsoft.com/office/drawing/2014/main" id="{9231C9B4-AE48-B7D2-0A55-F1E704B4BF72}"/>
              </a:ext>
            </a:extLst>
          </p:cNvPr>
          <p:cNvSpPr txBox="1">
            <a:spLocks noGrp="1"/>
          </p:cNvSpPr>
          <p:nvPr>
            <p:ph type="title"/>
          </p:nvPr>
        </p:nvSpPr>
        <p:spPr>
          <a:xfrm>
            <a:off x="2389998" y="928949"/>
            <a:ext cx="7094763" cy="400110"/>
          </a:xfrm>
          <a:prstGeom prst="rect">
            <a:avLst/>
          </a:prstGeom>
          <a:noFill/>
        </p:spPr>
        <p:txBody>
          <a:bodyPr wrap="none" rtlCol="0">
            <a:spAutoFit/>
          </a:bodyPr>
          <a:lstStyle/>
          <a:p>
            <a:pPr>
              <a:spcBef>
                <a:spcPct val="0"/>
              </a:spcBef>
            </a:pPr>
            <a:r>
              <a:rPr lang="en-IN" sz="2000" b="1" dirty="0">
                <a:solidFill>
                  <a:schemeClr val="tx1"/>
                </a:solidFill>
                <a:latin typeface="Times New Roman" panose="02020603050405020304" pitchFamily="18" charset="0"/>
                <a:ea typeface="+mj-ea"/>
                <a:cs typeface="+mj-cs"/>
              </a:rPr>
              <a:t>Table-Prices ($) of vehicle sold last month at </a:t>
            </a:r>
            <a:r>
              <a:rPr lang="en-IN" sz="2000" b="1" dirty="0" err="1">
                <a:solidFill>
                  <a:schemeClr val="tx1"/>
                </a:solidFill>
                <a:latin typeface="Times New Roman" panose="02020603050405020304" pitchFamily="18" charset="0"/>
                <a:ea typeface="+mj-ea"/>
                <a:cs typeface="+mj-cs"/>
              </a:rPr>
              <a:t>Whitner</a:t>
            </a:r>
            <a:r>
              <a:rPr lang="en-IN" sz="2000" b="1" dirty="0">
                <a:solidFill>
                  <a:schemeClr val="tx1"/>
                </a:solidFill>
                <a:latin typeface="Times New Roman" panose="02020603050405020304" pitchFamily="18" charset="0"/>
                <a:ea typeface="+mj-ea"/>
                <a:cs typeface="+mj-cs"/>
              </a:rPr>
              <a:t> </a:t>
            </a:r>
            <a:r>
              <a:rPr lang="en-IN" sz="2000" b="1" dirty="0" err="1">
                <a:solidFill>
                  <a:schemeClr val="tx1"/>
                </a:solidFill>
                <a:latin typeface="Times New Roman" panose="02020603050405020304" pitchFamily="18" charset="0"/>
                <a:ea typeface="+mj-ea"/>
                <a:cs typeface="+mj-cs"/>
              </a:rPr>
              <a:t>Autoplex</a:t>
            </a:r>
            <a:r>
              <a:rPr lang="en-IN" sz="2000" b="1" dirty="0">
                <a:solidFill>
                  <a:schemeClr val="tx1"/>
                </a:solidFill>
                <a:latin typeface="Times New Roman" panose="02020603050405020304" pitchFamily="18" charset="0"/>
                <a:ea typeface="+mj-ea"/>
                <a:cs typeface="+mj-cs"/>
              </a:rPr>
              <a:t> </a:t>
            </a:r>
          </a:p>
        </p:txBody>
      </p:sp>
      <p:sp>
        <p:nvSpPr>
          <p:cNvPr id="8" name="TextBox 7">
            <a:extLst>
              <a:ext uri="{FF2B5EF4-FFF2-40B4-BE49-F238E27FC236}">
                <a16:creationId xmlns:a16="http://schemas.microsoft.com/office/drawing/2014/main" id="{65F89E45-A536-23CE-94C0-A2610A1E1EBF}"/>
              </a:ext>
            </a:extLst>
          </p:cNvPr>
          <p:cNvSpPr txBox="1"/>
          <p:nvPr/>
        </p:nvSpPr>
        <p:spPr>
          <a:xfrm>
            <a:off x="9827910" y="2725318"/>
            <a:ext cx="1163988" cy="369332"/>
          </a:xfrm>
          <a:prstGeom prst="rect">
            <a:avLst/>
          </a:prstGeom>
          <a:no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Lowest</a:t>
            </a:r>
          </a:p>
        </p:txBody>
      </p:sp>
      <p:sp>
        <p:nvSpPr>
          <p:cNvPr id="9" name="TextBox 8">
            <a:extLst>
              <a:ext uri="{FF2B5EF4-FFF2-40B4-BE49-F238E27FC236}">
                <a16:creationId xmlns:a16="http://schemas.microsoft.com/office/drawing/2014/main" id="{E1143C00-5D5E-95C7-D77F-0B5FC800DB60}"/>
              </a:ext>
            </a:extLst>
          </p:cNvPr>
          <p:cNvSpPr txBox="1"/>
          <p:nvPr/>
        </p:nvSpPr>
        <p:spPr>
          <a:xfrm>
            <a:off x="6863843" y="5744385"/>
            <a:ext cx="1052004" cy="369332"/>
          </a:xfrm>
          <a:prstGeom prst="rect">
            <a:avLst/>
          </a:prstGeom>
          <a:no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Highest</a:t>
            </a:r>
          </a:p>
        </p:txBody>
      </p:sp>
      <p:cxnSp>
        <p:nvCxnSpPr>
          <p:cNvPr id="10" name="Straight Arrow Connector 9">
            <a:extLst>
              <a:ext uri="{FF2B5EF4-FFF2-40B4-BE49-F238E27FC236}">
                <a16:creationId xmlns:a16="http://schemas.microsoft.com/office/drawing/2014/main" id="{6224D273-6CB6-B2A5-FD87-C55F7705C730}"/>
              </a:ext>
            </a:extLst>
          </p:cNvPr>
          <p:cNvCxnSpPr>
            <a:cxnSpLocks/>
          </p:cNvCxnSpPr>
          <p:nvPr/>
        </p:nvCxnSpPr>
        <p:spPr>
          <a:xfrm>
            <a:off x="8198201" y="2502465"/>
            <a:ext cx="1598709" cy="361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36041013-A492-70FB-8345-37A810FABAF9}"/>
              </a:ext>
            </a:extLst>
          </p:cNvPr>
          <p:cNvCxnSpPr>
            <a:cxnSpLocks/>
          </p:cNvCxnSpPr>
          <p:nvPr/>
        </p:nvCxnSpPr>
        <p:spPr>
          <a:xfrm>
            <a:off x="7090936" y="3969533"/>
            <a:ext cx="298909" cy="180611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687062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52A0D-C325-4E76-E97A-1AFAA23597C3}"/>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Problem</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D70FB2F-F47D-AEE7-6543-B58C9C34662E}"/>
              </a:ext>
            </a:extLst>
          </p:cNvPr>
          <p:cNvSpPr>
            <a:spLocks noGrp="1"/>
          </p:cNvSpPr>
          <p:nvPr>
            <p:ph idx="1"/>
          </p:nvPr>
        </p:nvSpPr>
        <p:spPr/>
        <p:txBody>
          <a:bodyPr>
            <a:normAutofit fontScale="92500"/>
          </a:bodyPr>
          <a:lstStyle/>
          <a:p>
            <a:pPr algn="just">
              <a:lnSpc>
                <a:spcPct val="120000"/>
              </a:lnSpc>
            </a:pPr>
            <a:r>
              <a:rPr lang="en-IN" altLang="en-US" sz="2400" dirty="0">
                <a:solidFill>
                  <a:schemeClr val="tx1"/>
                </a:solidFill>
                <a:latin typeface="Times New Roman" panose="02020603050405020304" pitchFamily="18" charset="0"/>
              </a:rPr>
              <a:t>Suppose we want to summarize last month’s sales using selling price/ we want to determine the value around which the selling price tend to cluster-</a:t>
            </a:r>
          </a:p>
          <a:p>
            <a:pPr algn="just">
              <a:lnSpc>
                <a:spcPct val="120000"/>
              </a:lnSpc>
            </a:pPr>
            <a:r>
              <a:rPr lang="en-IN" altLang="en-US" sz="2400" dirty="0">
                <a:solidFill>
                  <a:schemeClr val="tx1"/>
                </a:solidFill>
                <a:latin typeface="Times New Roman" panose="02020603050405020304" pitchFamily="18" charset="0"/>
              </a:rPr>
              <a:t>The data presented in table is raw because it is unprocessed by statistical methods (Any information before it is arranged and analysed is called raw data)</a:t>
            </a:r>
          </a:p>
          <a:p>
            <a:pPr algn="just">
              <a:lnSpc>
                <a:spcPct val="120000"/>
              </a:lnSpc>
            </a:pPr>
            <a:r>
              <a:rPr lang="en-IN" altLang="en-US" sz="2400" dirty="0">
                <a:solidFill>
                  <a:schemeClr val="tx1"/>
                </a:solidFill>
                <a:latin typeface="Times New Roman" panose="02020603050405020304" pitchFamily="18" charset="0"/>
              </a:rPr>
              <a:t>For the purpose of organizing and summarization, we can start with </a:t>
            </a:r>
            <a:r>
              <a:rPr lang="en-IN" altLang="en-US" sz="2400" dirty="0">
                <a:solidFill>
                  <a:srgbClr val="FF0000"/>
                </a:solidFill>
                <a:latin typeface="Times New Roman" panose="02020603050405020304" pitchFamily="18" charset="0"/>
              </a:rPr>
              <a:t>frequency distribution. </a:t>
            </a:r>
          </a:p>
          <a:p>
            <a:pPr algn="just">
              <a:lnSpc>
                <a:spcPct val="120000"/>
              </a:lnSpc>
            </a:pPr>
            <a:r>
              <a:rPr lang="en-IN" altLang="en-US" sz="2400" dirty="0">
                <a:solidFill>
                  <a:schemeClr val="tx1"/>
                </a:solidFill>
                <a:latin typeface="Times New Roman" panose="02020603050405020304" pitchFamily="18" charset="0"/>
              </a:rPr>
              <a:t>Frequency Distribution is a grouping of data</a:t>
            </a:r>
            <a:endParaRPr lang="en-IN" dirty="0">
              <a:solidFill>
                <a:schemeClr val="tx1"/>
              </a:solidFill>
            </a:endParaRPr>
          </a:p>
        </p:txBody>
      </p:sp>
    </p:spTree>
    <p:extLst>
      <p:ext uri="{BB962C8B-B14F-4D97-AF65-F5344CB8AC3E}">
        <p14:creationId xmlns:p14="http://schemas.microsoft.com/office/powerpoint/2010/main" val="4290954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764A9D3-6FC4-C9F4-AB76-3BAB19E3A959}"/>
              </a:ext>
            </a:extLst>
          </p:cNvPr>
          <p:cNvPicPr>
            <a:picLocks noGrp="1" noChangeAspect="1"/>
          </p:cNvPicPr>
          <p:nvPr>
            <p:ph idx="1"/>
          </p:nvPr>
        </p:nvPicPr>
        <p:blipFill>
          <a:blip r:embed="rId2"/>
          <a:stretch>
            <a:fillRect/>
          </a:stretch>
        </p:blipFill>
        <p:spPr>
          <a:xfrm>
            <a:off x="2598191" y="1852427"/>
            <a:ext cx="6163254" cy="4282556"/>
          </a:xfrm>
        </p:spPr>
      </p:pic>
      <p:sp>
        <p:nvSpPr>
          <p:cNvPr id="4" name="Title 3">
            <a:extLst>
              <a:ext uri="{FF2B5EF4-FFF2-40B4-BE49-F238E27FC236}">
                <a16:creationId xmlns:a16="http://schemas.microsoft.com/office/drawing/2014/main" id="{EE2DB56D-657F-DB52-B864-A49E308405EC}"/>
              </a:ext>
            </a:extLst>
          </p:cNvPr>
          <p:cNvSpPr txBox="1">
            <a:spLocks noGrp="1"/>
          </p:cNvSpPr>
          <p:nvPr>
            <p:ph type="title"/>
          </p:nvPr>
        </p:nvSpPr>
        <p:spPr>
          <a:xfrm>
            <a:off x="1295400" y="982663"/>
            <a:ext cx="9601200" cy="1303337"/>
          </a:xfrm>
          <a:prstGeom prst="rect">
            <a:avLst/>
          </a:prstGeom>
          <a:noFill/>
        </p:spPr>
        <p:txBody>
          <a:bodyPr wrap="none" rtlCol="0">
            <a:spAutoFit/>
          </a:bodyPr>
          <a:lstStyle/>
          <a:p>
            <a:pPr>
              <a:spcBef>
                <a:spcPct val="0"/>
              </a:spcBef>
            </a:pPr>
            <a:r>
              <a:rPr lang="en-IN" sz="2000" b="1" dirty="0">
                <a:solidFill>
                  <a:schemeClr val="accent1">
                    <a:lumMod val="50000"/>
                  </a:schemeClr>
                </a:solidFill>
                <a:latin typeface="Times New Roman" panose="02020603050405020304" pitchFamily="18" charset="0"/>
                <a:ea typeface="+mj-ea"/>
                <a:cs typeface="+mj-cs"/>
              </a:rPr>
              <a:t>Table-Frequency Distribution of selling prices at </a:t>
            </a:r>
            <a:r>
              <a:rPr lang="en-IN" sz="2000" b="1" dirty="0" err="1">
                <a:solidFill>
                  <a:schemeClr val="accent1">
                    <a:lumMod val="50000"/>
                  </a:schemeClr>
                </a:solidFill>
                <a:latin typeface="Times New Roman" panose="02020603050405020304" pitchFamily="18" charset="0"/>
                <a:ea typeface="+mj-ea"/>
                <a:cs typeface="+mj-cs"/>
              </a:rPr>
              <a:t>Whitner</a:t>
            </a:r>
            <a:r>
              <a:rPr lang="en-IN" sz="2000" b="1" dirty="0">
                <a:solidFill>
                  <a:schemeClr val="accent1">
                    <a:lumMod val="50000"/>
                  </a:schemeClr>
                </a:solidFill>
                <a:latin typeface="Times New Roman" panose="02020603050405020304" pitchFamily="18" charset="0"/>
                <a:ea typeface="+mj-ea"/>
                <a:cs typeface="+mj-cs"/>
              </a:rPr>
              <a:t> </a:t>
            </a:r>
            <a:r>
              <a:rPr lang="en-IN" sz="2000" b="1" dirty="0" err="1">
                <a:solidFill>
                  <a:schemeClr val="accent1">
                    <a:lumMod val="50000"/>
                  </a:schemeClr>
                </a:solidFill>
                <a:latin typeface="Times New Roman" panose="02020603050405020304" pitchFamily="18" charset="0"/>
                <a:ea typeface="+mj-ea"/>
                <a:cs typeface="+mj-cs"/>
              </a:rPr>
              <a:t>Autoplex</a:t>
            </a:r>
            <a:r>
              <a:rPr lang="en-IN" sz="2000" b="1" dirty="0">
                <a:solidFill>
                  <a:schemeClr val="accent1">
                    <a:lumMod val="50000"/>
                  </a:schemeClr>
                </a:solidFill>
                <a:latin typeface="Times New Roman" panose="02020603050405020304" pitchFamily="18" charset="0"/>
                <a:ea typeface="+mj-ea"/>
                <a:cs typeface="+mj-cs"/>
              </a:rPr>
              <a:t> (Last Month)</a:t>
            </a:r>
          </a:p>
        </p:txBody>
      </p:sp>
    </p:spTree>
    <p:extLst>
      <p:ext uri="{BB962C8B-B14F-4D97-AF65-F5344CB8AC3E}">
        <p14:creationId xmlns:p14="http://schemas.microsoft.com/office/powerpoint/2010/main" val="2301299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A4EC4-1714-FB63-6367-8F8D2DABF204}"/>
              </a:ext>
            </a:extLst>
          </p:cNvPr>
          <p:cNvSpPr>
            <a:spLocks noGrp="1"/>
          </p:cNvSpPr>
          <p:nvPr>
            <p:ph type="title"/>
          </p:nvPr>
        </p:nvSpPr>
        <p:spPr/>
        <p:txBody>
          <a:bodyPr>
            <a:normAutofit fontScale="90000"/>
          </a:bodyPr>
          <a:lstStyle/>
          <a:p>
            <a:r>
              <a:rPr lang="en-US" b="1" dirty="0">
                <a:solidFill>
                  <a:schemeClr val="tx1"/>
                </a:solidFill>
                <a:latin typeface="Times New Roman" panose="02020603050405020304" pitchFamily="18" charset="0"/>
                <a:cs typeface="Times New Roman" panose="02020603050405020304" pitchFamily="18" charset="0"/>
              </a:rPr>
              <a:t>Answer the below questions from the frequency distribution</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DA14CCB-4927-97FF-0BAA-E56B00DB47B3}"/>
              </a:ext>
            </a:extLst>
          </p:cNvPr>
          <p:cNvSpPr>
            <a:spLocks noGrp="1"/>
          </p:cNvSpPr>
          <p:nvPr>
            <p:ph idx="1"/>
          </p:nvPr>
        </p:nvSpPr>
        <p:spPr>
          <a:xfrm>
            <a:off x="1845907" y="2547601"/>
            <a:ext cx="9601196" cy="3489305"/>
          </a:xfrm>
        </p:spPr>
        <p:txBody>
          <a:bodyPr>
            <a:normAutofit fontScale="92500" lnSpcReduction="20000"/>
          </a:bodyPr>
          <a:lstStyle/>
          <a:p>
            <a:pPr marL="457200" indent="-457200">
              <a:buFont typeface="+mj-lt"/>
              <a:buAutoNum type="arabicPeriod"/>
            </a:pPr>
            <a:r>
              <a:rPr lang="en-US" sz="2000" dirty="0">
                <a:solidFill>
                  <a:schemeClr val="tx1"/>
                </a:solidFill>
                <a:latin typeface="Times New Roman" panose="02020603050405020304" pitchFamily="18" charset="0"/>
                <a:cs typeface="Times New Roman" panose="02020603050405020304" pitchFamily="18" charset="0"/>
              </a:rPr>
              <a:t>What is the total number of observations?</a:t>
            </a:r>
          </a:p>
          <a:p>
            <a:pPr marL="457200" indent="-457200">
              <a:buFont typeface="+mj-lt"/>
              <a:buAutoNum type="arabicPeriod"/>
            </a:pPr>
            <a:r>
              <a:rPr lang="en-US" sz="2000" dirty="0">
                <a:solidFill>
                  <a:schemeClr val="tx1"/>
                </a:solidFill>
                <a:latin typeface="Times New Roman" panose="02020603050405020304" pitchFamily="18" charset="0"/>
                <a:cs typeface="Times New Roman" panose="02020603050405020304" pitchFamily="18" charset="0"/>
              </a:rPr>
              <a:t>Which selling price range has the highest frequency?</a:t>
            </a:r>
          </a:p>
          <a:p>
            <a:pPr marL="457200" indent="-457200">
              <a:buFont typeface="+mj-lt"/>
              <a:buAutoNum type="arabicPeriod"/>
            </a:pPr>
            <a:r>
              <a:rPr lang="en-US" sz="2000" dirty="0">
                <a:solidFill>
                  <a:schemeClr val="tx1"/>
                </a:solidFill>
                <a:latin typeface="Times New Roman" panose="02020603050405020304" pitchFamily="18" charset="0"/>
                <a:cs typeface="Times New Roman" panose="02020603050405020304" pitchFamily="18" charset="0"/>
              </a:rPr>
              <a:t>Which selling price range has the lowest frequency?</a:t>
            </a:r>
          </a:p>
          <a:p>
            <a:pPr marL="457200" indent="-457200">
              <a:buFont typeface="+mj-lt"/>
              <a:buAutoNum type="arabicPeriod"/>
            </a:pPr>
            <a:r>
              <a:rPr lang="en-US" sz="2000" dirty="0">
                <a:solidFill>
                  <a:schemeClr val="tx1"/>
                </a:solidFill>
                <a:latin typeface="Times New Roman" panose="02020603050405020304" pitchFamily="18" charset="0"/>
                <a:cs typeface="Times New Roman" panose="02020603050405020304" pitchFamily="18" charset="0"/>
              </a:rPr>
              <a:t>How many cars were sold for less than 21k?</a:t>
            </a:r>
          </a:p>
          <a:p>
            <a:pPr marL="457200" indent="-457200">
              <a:buFont typeface="+mj-lt"/>
              <a:buAutoNum type="arabicPeriod"/>
            </a:pPr>
            <a:r>
              <a:rPr lang="en-US" sz="2000" dirty="0">
                <a:solidFill>
                  <a:schemeClr val="tx1"/>
                </a:solidFill>
                <a:latin typeface="Times New Roman" panose="02020603050405020304" pitchFamily="18" charset="0"/>
                <a:cs typeface="Times New Roman" panose="02020603050405020304" pitchFamily="18" charset="0"/>
              </a:rPr>
              <a:t>What is the cumulative frequency of cars sold up to 27k?</a:t>
            </a:r>
          </a:p>
          <a:p>
            <a:pPr marL="457200" indent="-457200">
              <a:buFont typeface="+mj-lt"/>
              <a:buAutoNum type="arabicPeriod"/>
            </a:pPr>
            <a:r>
              <a:rPr lang="en-US" sz="2000" dirty="0">
                <a:solidFill>
                  <a:schemeClr val="tx1"/>
                </a:solidFill>
                <a:latin typeface="Times New Roman" panose="02020603050405020304" pitchFamily="18" charset="0"/>
                <a:cs typeface="Times New Roman" panose="02020603050405020304" pitchFamily="18" charset="0"/>
              </a:rPr>
              <a:t>What percentage of cars were sold in the 24k up to 27k range?</a:t>
            </a:r>
          </a:p>
          <a:p>
            <a:pPr marL="457200" indent="-457200">
              <a:buFont typeface="+mj-lt"/>
              <a:buAutoNum type="arabicPeriod"/>
            </a:pPr>
            <a:r>
              <a:rPr lang="en-US" sz="2000" dirty="0">
                <a:solidFill>
                  <a:schemeClr val="tx1"/>
                </a:solidFill>
                <a:latin typeface="Times New Roman" panose="02020603050405020304" pitchFamily="18" charset="0"/>
                <a:cs typeface="Times New Roman" panose="02020603050405020304" pitchFamily="18" charset="0"/>
              </a:rPr>
              <a:t>Calculate the midpoint of the 21k up to 24k selling price range.</a:t>
            </a:r>
          </a:p>
          <a:p>
            <a:pPr marL="457200" indent="-457200">
              <a:buFont typeface="+mj-lt"/>
              <a:buAutoNum type="arabicPeriod"/>
            </a:pPr>
            <a:r>
              <a:rPr lang="en-US" sz="2000" dirty="0">
                <a:solidFill>
                  <a:schemeClr val="tx1"/>
                </a:solidFill>
                <a:latin typeface="Times New Roman" panose="02020603050405020304" pitchFamily="18" charset="0"/>
                <a:cs typeface="Times New Roman" panose="02020603050405020304" pitchFamily="18" charset="0"/>
              </a:rPr>
              <a:t>What is the range of the selling prices?</a:t>
            </a:r>
          </a:p>
          <a:p>
            <a:pPr marL="457200" indent="-457200">
              <a:buFont typeface="+mj-lt"/>
              <a:buAutoNum type="arabicPeriod"/>
            </a:pPr>
            <a:r>
              <a:rPr lang="en-US" sz="2000" dirty="0">
                <a:solidFill>
                  <a:schemeClr val="tx1"/>
                </a:solidFill>
                <a:latin typeface="Times New Roman" panose="02020603050405020304" pitchFamily="18" charset="0"/>
                <a:cs typeface="Times New Roman" panose="02020603050405020304" pitchFamily="18" charset="0"/>
              </a:rPr>
              <a:t>If you wanted to visualize this data, which type of graph would be most appropriate?</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2588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88560-F050-482C-BA18-50415D7D384C}"/>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Relative frequency</a:t>
            </a:r>
            <a:endParaRPr lang="en-IN" sz="40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BEAD7E47-913F-2C5A-D5CB-21F2B4E891A9}"/>
              </a:ext>
            </a:extLst>
          </p:cNvPr>
          <p:cNvPicPr>
            <a:picLocks noGrp="1" noChangeAspect="1"/>
          </p:cNvPicPr>
          <p:nvPr>
            <p:ph idx="1"/>
          </p:nvPr>
        </p:nvPicPr>
        <p:blipFill>
          <a:blip r:embed="rId2"/>
          <a:stretch>
            <a:fillRect/>
          </a:stretch>
        </p:blipFill>
        <p:spPr>
          <a:xfrm>
            <a:off x="1323852" y="2913064"/>
            <a:ext cx="9572746" cy="3317875"/>
          </a:xfrm>
        </p:spPr>
      </p:pic>
      <p:pic>
        <p:nvPicPr>
          <p:cNvPr id="7" name="Picture 6">
            <a:extLst>
              <a:ext uri="{FF2B5EF4-FFF2-40B4-BE49-F238E27FC236}">
                <a16:creationId xmlns:a16="http://schemas.microsoft.com/office/drawing/2014/main" id="{7B854AE3-A6D3-3166-547C-6BA98ADCA471}"/>
              </a:ext>
            </a:extLst>
          </p:cNvPr>
          <p:cNvPicPr>
            <a:picLocks noChangeAspect="1"/>
          </p:cNvPicPr>
          <p:nvPr/>
        </p:nvPicPr>
        <p:blipFill>
          <a:blip r:embed="rId3"/>
          <a:stretch>
            <a:fillRect/>
          </a:stretch>
        </p:blipFill>
        <p:spPr>
          <a:xfrm>
            <a:off x="9347133" y="3096207"/>
            <a:ext cx="1857375" cy="1066800"/>
          </a:xfrm>
          <a:prstGeom prst="rect">
            <a:avLst/>
          </a:prstGeom>
        </p:spPr>
      </p:pic>
    </p:spTree>
    <p:extLst>
      <p:ext uri="{BB962C8B-B14F-4D97-AF65-F5344CB8AC3E}">
        <p14:creationId xmlns:p14="http://schemas.microsoft.com/office/powerpoint/2010/main" val="620055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23737-E7AB-F742-FB0A-72F3479668B7}"/>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Graphical representation of distribution</a:t>
            </a:r>
            <a:endParaRPr lang="en-IN" sz="4000" b="1"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974FE7B1-DFAF-6A2C-BE32-D0A6F6BE9E4C}"/>
              </a:ext>
            </a:extLst>
          </p:cNvPr>
          <p:cNvGraphicFramePr>
            <a:graphicFrameLocks noGrp="1"/>
          </p:cNvGraphicFramePr>
          <p:nvPr>
            <p:ph idx="1"/>
            <p:extLst>
              <p:ext uri="{D42A27DB-BD31-4B8C-83A1-F6EECF244321}">
                <p14:modId xmlns:p14="http://schemas.microsoft.com/office/powerpoint/2010/main" val="85041992"/>
              </p:ext>
            </p:extLst>
          </p:nvPr>
        </p:nvGraphicFramePr>
        <p:xfrm>
          <a:off x="1295400" y="2557463"/>
          <a:ext cx="9601196" cy="359141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37AFDB87-C6D4-F0D4-E3DC-325F015DCED9}"/>
              </a:ext>
            </a:extLst>
          </p:cNvPr>
          <p:cNvSpPr txBox="1"/>
          <p:nvPr/>
        </p:nvSpPr>
        <p:spPr>
          <a:xfrm>
            <a:off x="7539134" y="2557463"/>
            <a:ext cx="3704254" cy="1015663"/>
          </a:xfrm>
          <a:prstGeom prst="rect">
            <a:avLst/>
          </a:prstGeom>
          <a:noFill/>
        </p:spPr>
        <p:txBody>
          <a:bodyPr wrap="square" rtlCol="0">
            <a:spAutoFit/>
          </a:bodyPr>
          <a:lstStyle/>
          <a:p>
            <a:r>
              <a:rPr lang="en-US" sz="2000" b="1" dirty="0"/>
              <a:t>Bar graphs are used for qualitative variables that differ in a kind</a:t>
            </a:r>
            <a:endParaRPr lang="en-IN" sz="2000" b="1" dirty="0"/>
          </a:p>
        </p:txBody>
      </p:sp>
    </p:spTree>
    <p:extLst>
      <p:ext uri="{BB962C8B-B14F-4D97-AF65-F5344CB8AC3E}">
        <p14:creationId xmlns:p14="http://schemas.microsoft.com/office/powerpoint/2010/main" val="3502302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A64A1-6424-C823-96CE-F14C355C95CE}"/>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Central Tendency</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725F919-EB4D-A139-11C4-05D7F952FA86}"/>
              </a:ext>
            </a:extLst>
          </p:cNvPr>
          <p:cNvSpPr>
            <a:spLocks noGrp="1"/>
          </p:cNvSpPr>
          <p:nvPr>
            <p:ph idx="1"/>
          </p:nvPr>
        </p:nvSpPr>
        <p:spPr>
          <a:xfrm>
            <a:off x="1174103" y="2472957"/>
            <a:ext cx="9601196" cy="3318936"/>
          </a:xfrm>
        </p:spPr>
        <p:txBody>
          <a:bodyPr>
            <a:normAutofit fontScale="62500" lnSpcReduction="20000"/>
          </a:bodyPr>
          <a:lstStyle/>
          <a:p>
            <a:pPr algn="just">
              <a:lnSpc>
                <a:spcPct val="120000"/>
              </a:lnSpc>
            </a:pPr>
            <a:r>
              <a:rPr lang="en-IN" sz="2900" dirty="0">
                <a:latin typeface="Times New Roman" panose="02020603050405020304" pitchFamily="18" charset="0"/>
              </a:rPr>
              <a:t>Graphical techniques for organizing and displaying data allow the researcher to make some general observations about the shape and spread of the data, a more complete understanding of the data can be attained by summarizing the data using statistics. It will deal with measures of </a:t>
            </a:r>
            <a:r>
              <a:rPr lang="en-IN" sz="2900" b="1" dirty="0">
                <a:solidFill>
                  <a:srgbClr val="FF0000"/>
                </a:solidFill>
                <a:latin typeface="Times New Roman" panose="02020603050405020304" pitchFamily="18" charset="0"/>
              </a:rPr>
              <a:t>central tendency</a:t>
            </a:r>
            <a:r>
              <a:rPr lang="en-IN" sz="2900" dirty="0">
                <a:latin typeface="Times New Roman" panose="02020603050405020304" pitchFamily="18" charset="0"/>
              </a:rPr>
              <a:t>, </a:t>
            </a:r>
            <a:r>
              <a:rPr lang="en-IN" sz="2900" b="1" dirty="0">
                <a:solidFill>
                  <a:srgbClr val="FF0000"/>
                </a:solidFill>
                <a:latin typeface="Times New Roman" panose="02020603050405020304" pitchFamily="18" charset="0"/>
              </a:rPr>
              <a:t>measures of variability</a:t>
            </a:r>
            <a:r>
              <a:rPr lang="en-IN" sz="2900" dirty="0">
                <a:latin typeface="Times New Roman" panose="02020603050405020304" pitchFamily="18" charset="0"/>
              </a:rPr>
              <a:t>, and </a:t>
            </a:r>
            <a:r>
              <a:rPr lang="en-IN" sz="2900" b="1" dirty="0">
                <a:solidFill>
                  <a:srgbClr val="FF0000"/>
                </a:solidFill>
                <a:latin typeface="Times New Roman" panose="02020603050405020304" pitchFamily="18" charset="0"/>
              </a:rPr>
              <a:t>measures of shape</a:t>
            </a:r>
            <a:r>
              <a:rPr lang="en-IN" sz="2900" dirty="0">
                <a:latin typeface="Times New Roman" panose="02020603050405020304" pitchFamily="18" charset="0"/>
              </a:rPr>
              <a:t>. The computation of these measures is different for ungrouped and grouped data.</a:t>
            </a:r>
          </a:p>
          <a:p>
            <a:pPr algn="just">
              <a:lnSpc>
                <a:spcPct val="120000"/>
              </a:lnSpc>
            </a:pPr>
            <a:r>
              <a:rPr lang="en-IN" altLang="en-US" sz="2900" dirty="0">
                <a:latin typeface="Times New Roman" panose="02020603050405020304" pitchFamily="18" charset="0"/>
              </a:rPr>
              <a:t>Central Tendency is the extent to which the values of a numerical variable group around a typical or central value.</a:t>
            </a:r>
          </a:p>
          <a:p>
            <a:pPr algn="just">
              <a:lnSpc>
                <a:spcPct val="120000"/>
              </a:lnSpc>
            </a:pPr>
            <a:r>
              <a:rPr lang="en-IN" altLang="en-US" sz="2900" dirty="0">
                <a:latin typeface="Times New Roman" panose="02020603050405020304" pitchFamily="18" charset="0"/>
              </a:rPr>
              <a:t>Most variable show a distinct tendency to group around a central value.</a:t>
            </a:r>
          </a:p>
          <a:p>
            <a:pPr algn="just">
              <a:lnSpc>
                <a:spcPct val="120000"/>
              </a:lnSpc>
            </a:pPr>
            <a:r>
              <a:rPr lang="en-IN" altLang="en-US" sz="2900" dirty="0">
                <a:latin typeface="Times New Roman" panose="02020603050405020304" pitchFamily="18" charset="0"/>
              </a:rPr>
              <a:t>When people talk about an “average value” or “middle value ” or “most frequent value ”, they are unfortunately talking about mean, median and mode  -three measures of the central tendency.</a:t>
            </a:r>
          </a:p>
          <a:p>
            <a:pPr algn="just">
              <a:lnSpc>
                <a:spcPct val="120000"/>
              </a:lnSpc>
            </a:pPr>
            <a:endParaRPr lang="en-IN" altLang="en-US" dirty="0">
              <a:latin typeface="Times New Roman" panose="02020603050405020304" pitchFamily="18" charset="0"/>
            </a:endParaRPr>
          </a:p>
          <a:p>
            <a:endParaRPr lang="en-IN" dirty="0"/>
          </a:p>
        </p:txBody>
      </p:sp>
    </p:spTree>
    <p:extLst>
      <p:ext uri="{BB962C8B-B14F-4D97-AF65-F5344CB8AC3E}">
        <p14:creationId xmlns:p14="http://schemas.microsoft.com/office/powerpoint/2010/main" val="1715769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D45C5-1D0D-5F33-3C88-6FA41FF8294D}"/>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Mean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D65E33-5101-905F-0B69-05CAF383ECCB}"/>
              </a:ext>
            </a:extLst>
          </p:cNvPr>
          <p:cNvSpPr>
            <a:spLocks noGrp="1"/>
          </p:cNvSpPr>
          <p:nvPr>
            <p:ph idx="1"/>
          </p:nvPr>
        </p:nvSpPr>
        <p:spPr/>
        <p:txBody>
          <a:bodyPr/>
          <a:lstStyle/>
          <a:p>
            <a:pPr algn="just">
              <a:lnSpc>
                <a:spcPct val="1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arithmetic mean (typically referred to as the mean) is the most common measure of central tendency. </a:t>
            </a: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The mean suggests a typical or central value and serve as the “balance point” or fulcrum in a set of data. </a:t>
            </a:r>
          </a:p>
          <a:p>
            <a:pPr algn="just">
              <a:lnSpc>
                <a:spcPct val="1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X₁ , X₂,……………Xₙ be the set of n values where ‘n ’ represent size of sample, then the </a:t>
            </a:r>
            <a:r>
              <a:rPr lang="en-IN" b="1" dirty="0">
                <a:solidFill>
                  <a:schemeClr val="accent1">
                    <a:lumMod val="50000"/>
                  </a:schemeClr>
                </a:solidFill>
                <a:latin typeface="Times New Roman" panose="02020603050405020304" pitchFamily="18" charset="0"/>
              </a:rPr>
              <a:t>sample mean </a:t>
            </a:r>
            <a:r>
              <a:rPr lang="en-IN" dirty="0">
                <a:latin typeface="Times New Roman" panose="02020603050405020304" pitchFamily="18" charset="0"/>
              </a:rPr>
              <a:t>is given by </a:t>
            </a:r>
          </a:p>
          <a:p>
            <a:endParaRPr lang="en-IN" dirty="0"/>
          </a:p>
        </p:txBody>
      </p:sp>
      <mc:AlternateContent xmlns:mc="http://schemas.openxmlformats.org/markup-compatibility/2006" xmlns:a14="http://schemas.microsoft.com/office/drawing/2010/main">
        <mc:Choice Requires="a14">
          <p:sp>
            <p:nvSpPr>
              <p:cNvPr id="4" name="Object 1027">
                <a:extLst>
                  <a:ext uri="{FF2B5EF4-FFF2-40B4-BE49-F238E27FC236}">
                    <a16:creationId xmlns:a16="http://schemas.microsoft.com/office/drawing/2014/main" id="{6CEBEC5A-2B9A-07A9-3A0B-E07BEEBF475F}"/>
                  </a:ext>
                </a:extLst>
              </p:cNvPr>
              <p:cNvSpPr txBox="1"/>
              <p:nvPr/>
            </p:nvSpPr>
            <p:spPr bwMode="auto">
              <a:xfrm>
                <a:off x="3792657" y="5228168"/>
                <a:ext cx="3800475" cy="129540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en-IN" i="1" smtClean="0">
                              <a:solidFill>
                                <a:srgbClr val="000000"/>
                              </a:solidFill>
                              <a:latin typeface="Cambria Math" panose="02040503050406030204" pitchFamily="18" charset="0"/>
                            </a:rPr>
                          </m:ctrlPr>
                        </m:accPr>
                        <m:e>
                          <m:r>
                            <a:rPr lang="en-IN" b="0" i="1" smtClean="0">
                              <a:solidFill>
                                <a:srgbClr val="000000"/>
                              </a:solidFill>
                              <a:latin typeface="Cambria Math" panose="02040503050406030204" pitchFamily="18" charset="0"/>
                            </a:rPr>
                            <m:t>𝑋</m:t>
                          </m:r>
                        </m:e>
                      </m:acc>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nary>
                            <m:naryPr>
                              <m:chr m:val="∑"/>
                              <m:ctrlPr>
                                <a:rPr lang="en-IN" i="1">
                                  <a:solidFill>
                                    <a:srgbClr val="000000"/>
                                  </a:solidFill>
                                  <a:latin typeface="Cambria Math" panose="02040503050406030204" pitchFamily="18" charset="0"/>
                                </a:rPr>
                              </m:ctrlPr>
                            </m:naryPr>
                            <m:sub>
                              <m:r>
                                <a:rPr lang="en-IN" i="1">
                                  <a:solidFill>
                                    <a:srgbClr val="000000"/>
                                  </a:solidFill>
                                  <a:latin typeface="Cambria Math" panose="02040503050406030204" pitchFamily="18" charset="0"/>
                                </a:rPr>
                                <m:t>𝑖</m:t>
                              </m:r>
                              <m:r>
                                <a:rPr lang="en-IN" i="1">
                                  <a:solidFill>
                                    <a:srgbClr val="000000"/>
                                  </a:solidFill>
                                  <a:latin typeface="Cambria Math" panose="02040503050406030204" pitchFamily="18" charset="0"/>
                                </a:rPr>
                                <m:t>=1</m:t>
                              </m:r>
                            </m:sub>
                            <m:sup>
                              <m:r>
                                <a:rPr lang="en-IN" i="1">
                                  <a:solidFill>
                                    <a:srgbClr val="000000"/>
                                  </a:solidFill>
                                  <a:latin typeface="Cambria Math" panose="02040503050406030204" pitchFamily="18" charset="0"/>
                                </a:rPr>
                                <m:t>𝑛</m:t>
                              </m:r>
                            </m:sup>
                            <m:e>
                              <m:sSub>
                                <m:sSubPr>
                                  <m:ctrlPr>
                                    <a:rPr lang="en-IN" i="1">
                                      <a:solidFill>
                                        <a:srgbClr val="000000"/>
                                      </a:solidFill>
                                      <a:latin typeface="Cambria Math" panose="02040503050406030204" pitchFamily="18" charset="0"/>
                                    </a:rPr>
                                  </m:ctrlPr>
                                </m:sSubPr>
                                <m:e>
                                  <m:r>
                                    <a:rPr lang="en-IN" b="0" i="1" smtClean="0">
                                      <a:solidFill>
                                        <a:srgbClr val="000000"/>
                                      </a:solidFill>
                                      <a:latin typeface="Cambria Math" panose="02040503050406030204" pitchFamily="18" charset="0"/>
                                    </a:rPr>
                                    <m:t>𝑋</m:t>
                                  </m:r>
                                </m:e>
                                <m:sub>
                                  <m:r>
                                    <a:rPr lang="en-IN" i="1">
                                      <a:solidFill>
                                        <a:srgbClr val="000000"/>
                                      </a:solidFill>
                                      <a:latin typeface="Cambria Math" panose="02040503050406030204" pitchFamily="18" charset="0"/>
                                    </a:rPr>
                                    <m:t>𝑖</m:t>
                                  </m:r>
                                </m:sub>
                              </m:sSub>
                            </m:e>
                          </m:nary>
                        </m:num>
                        <m:den>
                          <m:r>
                            <a:rPr lang="en-IN" i="1">
                              <a:solidFill>
                                <a:srgbClr val="000000"/>
                              </a:solidFill>
                              <a:latin typeface="Cambria Math" panose="02040503050406030204" pitchFamily="18" charset="0"/>
                            </a:rPr>
                            <m:t>𝑛</m:t>
                          </m:r>
                        </m:den>
                      </m:f>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sSub>
                            <m:sSubPr>
                              <m:ctrlPr>
                                <a:rPr lang="en-IN" i="1">
                                  <a:solidFill>
                                    <a:srgbClr val="000000"/>
                                  </a:solidFill>
                                  <a:latin typeface="Cambria Math" panose="02040503050406030204" pitchFamily="18" charset="0"/>
                                </a:rPr>
                              </m:ctrlPr>
                            </m:sSubPr>
                            <m:e>
                              <m:r>
                                <a:rPr lang="en-IN" b="0" i="1" smtClean="0">
                                  <a:solidFill>
                                    <a:srgbClr val="000000"/>
                                  </a:solidFill>
                                  <a:latin typeface="Cambria Math" panose="02040503050406030204" pitchFamily="18" charset="0"/>
                                </a:rPr>
                                <m:t>𝑋</m:t>
                              </m:r>
                            </m:e>
                            <m:sub>
                              <m:r>
                                <a:rPr lang="en-IN" i="1">
                                  <a:solidFill>
                                    <a:srgbClr val="000000"/>
                                  </a:solidFill>
                                  <a:latin typeface="Cambria Math" panose="02040503050406030204" pitchFamily="18" charset="0"/>
                                </a:rPr>
                                <m:t>1</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b="0" i="1" smtClean="0">
                                  <a:solidFill>
                                    <a:srgbClr val="000000"/>
                                  </a:solidFill>
                                  <a:latin typeface="Cambria Math" panose="02040503050406030204" pitchFamily="18" charset="0"/>
                                </a:rPr>
                                <m:t>𝑋</m:t>
                              </m:r>
                            </m:e>
                            <m:sub>
                              <m:r>
                                <a:rPr lang="en-IN" i="1">
                                  <a:solidFill>
                                    <a:srgbClr val="000000"/>
                                  </a:solidFill>
                                  <a:latin typeface="Cambria Math" panose="02040503050406030204" pitchFamily="18" charset="0"/>
                                </a:rPr>
                                <m:t>2</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b="0" i="1" smtClean="0">
                                  <a:solidFill>
                                    <a:srgbClr val="000000"/>
                                  </a:solidFill>
                                  <a:latin typeface="Cambria Math" panose="02040503050406030204" pitchFamily="18" charset="0"/>
                                </a:rPr>
                                <m:t>𝑋</m:t>
                              </m:r>
                            </m:e>
                            <m:sub>
                              <m:r>
                                <a:rPr lang="en-IN" i="1">
                                  <a:solidFill>
                                    <a:srgbClr val="000000"/>
                                  </a:solidFill>
                                  <a:latin typeface="Cambria Math" panose="02040503050406030204" pitchFamily="18" charset="0"/>
                                </a:rPr>
                                <m:t>𝑛</m:t>
                              </m:r>
                            </m:sub>
                          </m:sSub>
                        </m:num>
                        <m:den>
                          <m:r>
                            <a:rPr lang="en-IN" i="1">
                              <a:solidFill>
                                <a:srgbClr val="000000"/>
                              </a:solidFill>
                              <a:latin typeface="Cambria Math" panose="02040503050406030204" pitchFamily="18" charset="0"/>
                            </a:rPr>
                            <m:t>𝑛</m:t>
                          </m:r>
                        </m:den>
                      </m:f>
                    </m:oMath>
                  </m:oMathPara>
                </a14:m>
                <a:endParaRPr lang="en-IN" dirty="0"/>
              </a:p>
            </p:txBody>
          </p:sp>
        </mc:Choice>
        <mc:Fallback xmlns="">
          <p:sp>
            <p:nvSpPr>
              <p:cNvPr id="4" name="Object 1027">
                <a:extLst>
                  <a:ext uri="{FF2B5EF4-FFF2-40B4-BE49-F238E27FC236}">
                    <a16:creationId xmlns:a16="http://schemas.microsoft.com/office/drawing/2014/main" id="{6CEBEC5A-2B9A-07A9-3A0B-E07BEEBF475F}"/>
                  </a:ext>
                </a:extLst>
              </p:cNvPr>
              <p:cNvSpPr txBox="1">
                <a:spLocks noRot="1" noChangeAspect="1" noMove="1" noResize="1" noEditPoints="1" noAdjustHandles="1" noChangeArrowheads="1" noChangeShapeType="1" noTextEdit="1"/>
              </p:cNvSpPr>
              <p:nvPr/>
            </p:nvSpPr>
            <p:spPr bwMode="auto">
              <a:xfrm>
                <a:off x="3792657" y="5228168"/>
                <a:ext cx="3800475" cy="1295400"/>
              </a:xfrm>
              <a:prstGeom prst="rect">
                <a:avLst/>
              </a:prstGeom>
              <a:blipFill>
                <a:blip r:embed="rId2"/>
                <a:stretch>
                  <a:fillRect/>
                </a:stretch>
              </a:blipFill>
              <a:ln>
                <a:noFill/>
              </a:ln>
              <a:effectLst/>
            </p:spPr>
            <p:txBody>
              <a:bodyPr/>
              <a:lstStyle/>
              <a:p>
                <a:r>
                  <a:rPr lang="en-IN">
                    <a:noFill/>
                  </a:rPr>
                  <a:t> </a:t>
                </a:r>
              </a:p>
            </p:txBody>
          </p:sp>
        </mc:Fallback>
      </mc:AlternateContent>
    </p:spTree>
    <p:extLst>
      <p:ext uri="{BB962C8B-B14F-4D97-AF65-F5344CB8AC3E}">
        <p14:creationId xmlns:p14="http://schemas.microsoft.com/office/powerpoint/2010/main" val="2724701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DABC0-6D8F-D99E-1A18-8A9D6C751D90}"/>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Calculate mean</a:t>
            </a:r>
            <a:endParaRPr lang="en-IN" sz="4000" b="1" dirty="0">
              <a:latin typeface="Times New Roman" panose="02020603050405020304" pitchFamily="18" charset="0"/>
              <a:cs typeface="Times New Roman" panose="02020603050405020304" pitchFamily="18" charset="0"/>
            </a:endParaRPr>
          </a:p>
        </p:txBody>
      </p:sp>
      <p:graphicFrame>
        <p:nvGraphicFramePr>
          <p:cNvPr id="17" name="Content Placeholder 16">
            <a:extLst>
              <a:ext uri="{FF2B5EF4-FFF2-40B4-BE49-F238E27FC236}">
                <a16:creationId xmlns:a16="http://schemas.microsoft.com/office/drawing/2014/main" id="{81077B16-C40E-CD52-5747-FC6A00D765AA}"/>
              </a:ext>
            </a:extLst>
          </p:cNvPr>
          <p:cNvGraphicFramePr>
            <a:graphicFrameLocks noGrp="1"/>
          </p:cNvGraphicFramePr>
          <p:nvPr>
            <p:ph idx="1"/>
            <p:extLst>
              <p:ext uri="{D42A27DB-BD31-4B8C-83A1-F6EECF244321}">
                <p14:modId xmlns:p14="http://schemas.microsoft.com/office/powerpoint/2010/main" val="2410004377"/>
              </p:ext>
            </p:extLst>
          </p:nvPr>
        </p:nvGraphicFramePr>
        <p:xfrm>
          <a:off x="1528665" y="3135960"/>
          <a:ext cx="4368282" cy="2716252"/>
        </p:xfrm>
        <a:graphic>
          <a:graphicData uri="http://schemas.openxmlformats.org/drawingml/2006/table">
            <a:tbl>
              <a:tblPr firstRow="1" bandRow="1">
                <a:tableStyleId>{5C22544A-7EE6-4342-B048-85BDC9FD1C3A}</a:tableStyleId>
              </a:tblPr>
              <a:tblGrid>
                <a:gridCol w="2054290">
                  <a:extLst>
                    <a:ext uri="{9D8B030D-6E8A-4147-A177-3AD203B41FA5}">
                      <a16:colId xmlns:a16="http://schemas.microsoft.com/office/drawing/2014/main" val="1332725859"/>
                    </a:ext>
                  </a:extLst>
                </a:gridCol>
                <a:gridCol w="2313992">
                  <a:extLst>
                    <a:ext uri="{9D8B030D-6E8A-4147-A177-3AD203B41FA5}">
                      <a16:colId xmlns:a16="http://schemas.microsoft.com/office/drawing/2014/main" val="1831927174"/>
                    </a:ext>
                  </a:extLst>
                </a:gridCol>
              </a:tblGrid>
              <a:tr h="493648">
                <a:tc>
                  <a:txBody>
                    <a:bodyPr/>
                    <a:lstStyle/>
                    <a:p>
                      <a:r>
                        <a:rPr lang="en-IN" dirty="0"/>
                        <a:t>Month</a:t>
                      </a:r>
                    </a:p>
                  </a:txBody>
                  <a:tcPr anchor="ctr"/>
                </a:tc>
                <a:tc>
                  <a:txBody>
                    <a:bodyPr/>
                    <a:lstStyle/>
                    <a:p>
                      <a:r>
                        <a:rPr lang="en-US" dirty="0"/>
                        <a:t>W</a:t>
                      </a:r>
                      <a:r>
                        <a:rPr lang="en-IN" dirty="0" err="1"/>
                        <a:t>atches</a:t>
                      </a:r>
                      <a:r>
                        <a:rPr lang="en-IN" dirty="0"/>
                        <a:t> Sold</a:t>
                      </a:r>
                    </a:p>
                  </a:txBody>
                  <a:tcPr anchor="ctr"/>
                </a:tc>
                <a:extLst>
                  <a:ext uri="{0D108BD9-81ED-4DB2-BD59-A6C34878D82A}">
                    <a16:rowId xmlns:a16="http://schemas.microsoft.com/office/drawing/2014/main" val="1534255648"/>
                  </a:ext>
                </a:extLst>
              </a:tr>
              <a:tr h="370434">
                <a:tc>
                  <a:txBody>
                    <a:bodyPr/>
                    <a:lstStyle/>
                    <a:p>
                      <a:r>
                        <a:rPr lang="en-US" dirty="0"/>
                        <a:t>January </a:t>
                      </a:r>
                      <a:endParaRPr lang="en-IN" dirty="0"/>
                    </a:p>
                  </a:txBody>
                  <a:tcPr/>
                </a:tc>
                <a:tc>
                  <a:txBody>
                    <a:bodyPr/>
                    <a:lstStyle/>
                    <a:p>
                      <a:r>
                        <a:rPr lang="en-US" dirty="0"/>
                        <a:t>8</a:t>
                      </a:r>
                      <a:endParaRPr lang="en-IN" dirty="0"/>
                    </a:p>
                  </a:txBody>
                  <a:tcPr/>
                </a:tc>
                <a:extLst>
                  <a:ext uri="{0D108BD9-81ED-4DB2-BD59-A6C34878D82A}">
                    <a16:rowId xmlns:a16="http://schemas.microsoft.com/office/drawing/2014/main" val="210056730"/>
                  </a:ext>
                </a:extLst>
              </a:tr>
              <a:tr h="370434">
                <a:tc>
                  <a:txBody>
                    <a:bodyPr/>
                    <a:lstStyle/>
                    <a:p>
                      <a:r>
                        <a:rPr lang="en-US" dirty="0"/>
                        <a:t>February</a:t>
                      </a:r>
                      <a:endParaRPr lang="en-IN" dirty="0"/>
                    </a:p>
                  </a:txBody>
                  <a:tcPr/>
                </a:tc>
                <a:tc>
                  <a:txBody>
                    <a:bodyPr/>
                    <a:lstStyle/>
                    <a:p>
                      <a:r>
                        <a:rPr lang="en-US" dirty="0"/>
                        <a:t>10</a:t>
                      </a:r>
                      <a:endParaRPr lang="en-IN" dirty="0"/>
                    </a:p>
                  </a:txBody>
                  <a:tcPr/>
                </a:tc>
                <a:extLst>
                  <a:ext uri="{0D108BD9-81ED-4DB2-BD59-A6C34878D82A}">
                    <a16:rowId xmlns:a16="http://schemas.microsoft.com/office/drawing/2014/main" val="65652472"/>
                  </a:ext>
                </a:extLst>
              </a:tr>
              <a:tr h="370434">
                <a:tc>
                  <a:txBody>
                    <a:bodyPr/>
                    <a:lstStyle/>
                    <a:p>
                      <a:r>
                        <a:rPr lang="en-US" dirty="0"/>
                        <a:t>March</a:t>
                      </a:r>
                      <a:endParaRPr lang="en-IN" dirty="0"/>
                    </a:p>
                  </a:txBody>
                  <a:tcPr/>
                </a:tc>
                <a:tc>
                  <a:txBody>
                    <a:bodyPr/>
                    <a:lstStyle/>
                    <a:p>
                      <a:r>
                        <a:rPr lang="en-US" dirty="0"/>
                        <a:t>9</a:t>
                      </a:r>
                      <a:endParaRPr lang="en-IN" dirty="0"/>
                    </a:p>
                  </a:txBody>
                  <a:tcPr/>
                </a:tc>
                <a:extLst>
                  <a:ext uri="{0D108BD9-81ED-4DB2-BD59-A6C34878D82A}">
                    <a16:rowId xmlns:a16="http://schemas.microsoft.com/office/drawing/2014/main" val="2328849252"/>
                  </a:ext>
                </a:extLst>
              </a:tr>
              <a:tr h="370434">
                <a:tc>
                  <a:txBody>
                    <a:bodyPr/>
                    <a:lstStyle/>
                    <a:p>
                      <a:r>
                        <a:rPr lang="en-US" dirty="0"/>
                        <a:t>April </a:t>
                      </a:r>
                      <a:endParaRPr lang="en-IN" dirty="0"/>
                    </a:p>
                  </a:txBody>
                  <a:tcPr/>
                </a:tc>
                <a:tc>
                  <a:txBody>
                    <a:bodyPr/>
                    <a:lstStyle/>
                    <a:p>
                      <a:r>
                        <a:rPr lang="en-US" dirty="0"/>
                        <a:t>7</a:t>
                      </a:r>
                      <a:endParaRPr lang="en-IN" dirty="0"/>
                    </a:p>
                  </a:txBody>
                  <a:tcPr/>
                </a:tc>
                <a:extLst>
                  <a:ext uri="{0D108BD9-81ED-4DB2-BD59-A6C34878D82A}">
                    <a16:rowId xmlns:a16="http://schemas.microsoft.com/office/drawing/2014/main" val="720982381"/>
                  </a:ext>
                </a:extLst>
              </a:tr>
              <a:tr h="370434">
                <a:tc>
                  <a:txBody>
                    <a:bodyPr/>
                    <a:lstStyle/>
                    <a:p>
                      <a:r>
                        <a:rPr lang="en-US" dirty="0"/>
                        <a:t>May </a:t>
                      </a:r>
                      <a:endParaRPr lang="en-IN" dirty="0"/>
                    </a:p>
                  </a:txBody>
                  <a:tcPr/>
                </a:tc>
                <a:tc>
                  <a:txBody>
                    <a:bodyPr/>
                    <a:lstStyle/>
                    <a:p>
                      <a:r>
                        <a:rPr lang="en-US" dirty="0"/>
                        <a:t>12</a:t>
                      </a:r>
                      <a:endParaRPr lang="en-IN" dirty="0"/>
                    </a:p>
                  </a:txBody>
                  <a:tcPr/>
                </a:tc>
                <a:extLst>
                  <a:ext uri="{0D108BD9-81ED-4DB2-BD59-A6C34878D82A}">
                    <a16:rowId xmlns:a16="http://schemas.microsoft.com/office/drawing/2014/main" val="1722013312"/>
                  </a:ext>
                </a:extLst>
              </a:tr>
              <a:tr h="370434">
                <a:tc>
                  <a:txBody>
                    <a:bodyPr/>
                    <a:lstStyle/>
                    <a:p>
                      <a:r>
                        <a:rPr lang="en-US" dirty="0"/>
                        <a:t>June</a:t>
                      </a:r>
                      <a:endParaRPr lang="en-IN" dirty="0"/>
                    </a:p>
                  </a:txBody>
                  <a:tcPr/>
                </a:tc>
                <a:tc>
                  <a:txBody>
                    <a:bodyPr/>
                    <a:lstStyle/>
                    <a:p>
                      <a:r>
                        <a:rPr lang="en-US" dirty="0"/>
                        <a:t>11</a:t>
                      </a:r>
                      <a:endParaRPr lang="en-IN" dirty="0"/>
                    </a:p>
                  </a:txBody>
                  <a:tcPr/>
                </a:tc>
                <a:extLst>
                  <a:ext uri="{0D108BD9-81ED-4DB2-BD59-A6C34878D82A}">
                    <a16:rowId xmlns:a16="http://schemas.microsoft.com/office/drawing/2014/main" val="11806000"/>
                  </a:ext>
                </a:extLst>
              </a:tr>
            </a:tbl>
          </a:graphicData>
        </a:graphic>
      </p:graphicFrame>
      <p:sp>
        <p:nvSpPr>
          <p:cNvPr id="18" name="TextBox 17">
            <a:extLst>
              <a:ext uri="{FF2B5EF4-FFF2-40B4-BE49-F238E27FC236}">
                <a16:creationId xmlns:a16="http://schemas.microsoft.com/office/drawing/2014/main" id="{E5376A5E-5C2A-AED7-6963-3ED7A137A508}"/>
              </a:ext>
            </a:extLst>
          </p:cNvPr>
          <p:cNvSpPr txBox="1"/>
          <p:nvPr/>
        </p:nvSpPr>
        <p:spPr>
          <a:xfrm>
            <a:off x="1155442" y="2428074"/>
            <a:ext cx="7016620"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dataset represents the </a:t>
            </a:r>
            <a:r>
              <a:rPr lang="en-US" sz="2000" b="1" dirty="0">
                <a:latin typeface="Times New Roman" panose="02020603050405020304" pitchFamily="18" charset="0"/>
                <a:cs typeface="Times New Roman" panose="02020603050405020304" pitchFamily="18" charset="0"/>
              </a:rPr>
              <a:t>number of high-end watches sold per month</a:t>
            </a:r>
            <a:r>
              <a:rPr lang="en-US" sz="2000" dirty="0">
                <a:latin typeface="Times New Roman" panose="02020603050405020304" pitchFamily="18" charset="0"/>
                <a:cs typeface="Times New Roman" panose="02020603050405020304" pitchFamily="18" charset="0"/>
              </a:rPr>
              <a:t> by a luxury retailer over the past six months:</a:t>
            </a:r>
            <a:endParaRPr lang="en-IN" sz="20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978F972-6549-0969-9405-910DA3E6464E}"/>
              </a:ext>
            </a:extLst>
          </p:cNvPr>
          <p:cNvSpPr txBox="1"/>
          <p:nvPr/>
        </p:nvSpPr>
        <p:spPr>
          <a:xfrm>
            <a:off x="6553200" y="2764572"/>
            <a:ext cx="5075270" cy="409342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Q. 1 Calculate the mean (average) number of high-end watches sold per month over the past six months.</a:t>
            </a:r>
          </a:p>
          <a:p>
            <a:r>
              <a:rPr lang="en-US" sz="2000" dirty="0">
                <a:latin typeface="Times New Roman" panose="02020603050405020304" pitchFamily="18" charset="0"/>
                <a:cs typeface="Times New Roman" panose="02020603050405020304" pitchFamily="18" charset="0"/>
              </a:rPr>
              <a:t>Q.2 How many months had sales below the average?</a:t>
            </a:r>
          </a:p>
          <a:p>
            <a:r>
              <a:rPr lang="en-US" sz="2000" dirty="0">
                <a:latin typeface="Times New Roman" panose="02020603050405020304" pitchFamily="18" charset="0"/>
                <a:cs typeface="Times New Roman" panose="02020603050405020304" pitchFamily="18" charset="0"/>
              </a:rPr>
              <a:t>Q.3 How many months had sales greater than or equal to 10?</a:t>
            </a:r>
          </a:p>
          <a:p>
            <a:r>
              <a:rPr lang="en-US" sz="2000" dirty="0">
                <a:latin typeface="Times New Roman" panose="02020603050405020304" pitchFamily="18" charset="0"/>
                <a:cs typeface="Times New Roman" panose="02020603050405020304" pitchFamily="18" charset="0"/>
              </a:rPr>
              <a:t>Q.4 In which month was the highest number of watches sold, and in which month was the lowest?</a:t>
            </a:r>
          </a:p>
          <a:p>
            <a:r>
              <a:rPr lang="en-US" sz="2000" dirty="0">
                <a:latin typeface="Times New Roman" panose="02020603050405020304" pitchFamily="18" charset="0"/>
                <a:cs typeface="Times New Roman" panose="02020603050405020304" pitchFamily="18" charset="0"/>
              </a:rPr>
              <a:t>Q.5 What is the percentage increase in sales from January to May?</a:t>
            </a: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3903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A1DF8-2932-6ACF-1095-F5DA781ED0AA}"/>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Mean for a Simple Frequency Distribution </a:t>
            </a:r>
            <a:endParaRPr lang="en-IN"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F36AC3-78C6-4AF0-4FAF-69B16D7C542C}"/>
                  </a:ext>
                </a:extLst>
              </p:cNvPr>
              <p:cNvSpPr>
                <a:spLocks noGrp="1"/>
              </p:cNvSpPr>
              <p:nvPr>
                <p:ph idx="1"/>
              </p:nvPr>
            </p:nvSpPr>
            <p:spPr/>
            <p:txBody>
              <a:bodyPr>
                <a:normAutofit lnSpcReduction="10000"/>
              </a:bodyPr>
              <a:lstStyle/>
              <a:p>
                <a:r>
                  <a:rPr lang="en-US" sz="2200" b="1" dirty="0">
                    <a:latin typeface="Times New Roman" panose="02020603050405020304" pitchFamily="18" charset="0"/>
                    <a:cs typeface="Times New Roman" panose="02020603050405020304" pitchFamily="18" charset="0"/>
                  </a:rPr>
                  <a:t>Population Mean (μ):</a:t>
                </a:r>
              </a:p>
              <a:p>
                <a:pPr>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Definition:</a:t>
                </a:r>
                <a:r>
                  <a:rPr lang="en-US" sz="2200" dirty="0">
                    <a:latin typeface="Times New Roman" panose="02020603050405020304" pitchFamily="18" charset="0"/>
                    <a:cs typeface="Times New Roman" panose="02020603050405020304" pitchFamily="18" charset="0"/>
                  </a:rPr>
                  <a:t> </a:t>
                </a:r>
                <a:r>
                  <a:rPr lang="en-US" sz="2200" dirty="0">
                    <a:solidFill>
                      <a:schemeClr val="tx1"/>
                    </a:solidFill>
                    <a:latin typeface="Times New Roman" panose="02020603050405020304" pitchFamily="18" charset="0"/>
                    <a:cs typeface="Times New Roman" panose="02020603050405020304" pitchFamily="18" charset="0"/>
                  </a:rPr>
                  <a:t>The population mean is the average of all the values in an entire population. The population includes every possible observation or data point that exists within a specific group.</a:t>
                </a:r>
              </a:p>
              <a:p>
                <a:r>
                  <a:rPr lang="en-IN" dirty="0"/>
                  <a:t> </a:t>
                </a:r>
                <a:r>
                  <a:rPr lang="en-IN" sz="2200" dirty="0">
                    <a:solidFill>
                      <a:schemeClr val="tx1"/>
                    </a:solidFill>
                    <a:latin typeface="Times New Roman" panose="02020603050405020304" pitchFamily="18" charset="0"/>
                    <a:cs typeface="Times New Roman" panose="02020603050405020304" pitchFamily="18" charset="0"/>
                  </a:rPr>
                  <a:t>Formula</a:t>
                </a:r>
              </a:p>
              <a:p>
                <a:pPr marL="0" indent="0">
                  <a:buNone/>
                </a:pPr>
                <a:r>
                  <a:rPr lang="en-US" sz="2000" dirty="0">
                    <a:solidFill>
                      <a:schemeClr val="tx1"/>
                    </a:solidFill>
                    <a:latin typeface="Times New Roman" panose="02020603050405020304" pitchFamily="18" charset="0"/>
                    <a:cs typeface="Times New Roman" panose="02020603050405020304" pitchFamily="18" charset="0"/>
                  </a:rPr>
                  <a:t>Where μ is the population mean.</a:t>
                </a:r>
              </a:p>
              <a:p>
                <a:pPr marL="0" indent="0">
                  <a:buNone/>
                </a:pPr>
                <a:r>
                  <a:rPr lang="en-US" sz="2000" dirty="0">
                    <a:solidFill>
                      <a:schemeClr val="tx1"/>
                    </a:solidFill>
                    <a:latin typeface="Times New Roman" panose="02020603050405020304" pitchFamily="18" charset="0"/>
                    <a:cs typeface="Times New Roman" panose="02020603050405020304" pitchFamily="18" charset="0"/>
                  </a:rPr>
                  <a:t>N is the total number of observation in the population</a:t>
                </a:r>
              </a:p>
              <a:p>
                <a:pPr marL="0" indent="0">
                  <a:buNone/>
                </a:pPr>
                <a14:m>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𝑥</m:t>
                        </m:r>
                      </m:e>
                      <m:sub>
                        <m:r>
                          <a:rPr lang="en-US" sz="2000" b="0" i="1" smtClean="0">
                            <a:solidFill>
                              <a:schemeClr val="tx1"/>
                            </a:solidFill>
                            <a:latin typeface="Cambria Math" panose="02040503050406030204" pitchFamily="18" charset="0"/>
                          </a:rPr>
                          <m:t>𝑖</m:t>
                        </m:r>
                      </m:sub>
                    </m:sSub>
                  </m:oMath>
                </a14:m>
                <a:r>
                  <a:rPr lang="en-US" sz="2000" dirty="0">
                    <a:solidFill>
                      <a:schemeClr val="tx1"/>
                    </a:solidFill>
                    <a:latin typeface="Times New Roman" panose="02020603050405020304" pitchFamily="18" charset="0"/>
                    <a:cs typeface="Times New Roman" panose="02020603050405020304" pitchFamily="18" charset="0"/>
                  </a:rPr>
                  <a:t> represents each individual value in the population.</a:t>
                </a:r>
                <a:endParaRPr lang="en-IN" sz="2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73F36AC3-78C6-4AF0-4FAF-69B16D7C542C}"/>
                  </a:ext>
                </a:extLst>
              </p:cNvPr>
              <p:cNvSpPr>
                <a:spLocks noGrp="1" noRot="1" noChangeAspect="1" noMove="1" noResize="1" noEditPoints="1" noAdjustHandles="1" noChangeArrowheads="1" noChangeShapeType="1" noTextEdit="1"/>
              </p:cNvSpPr>
              <p:nvPr>
                <p:ph idx="1"/>
              </p:nvPr>
            </p:nvSpPr>
            <p:spPr>
              <a:blipFill>
                <a:blip r:embed="rId2"/>
                <a:stretch>
                  <a:fillRect l="-1144" t="-2936" r="-699"/>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DBAF5732-0897-0412-79C2-5A24E269C63D}"/>
              </a:ext>
            </a:extLst>
          </p:cNvPr>
          <p:cNvPicPr>
            <a:picLocks noChangeAspect="1"/>
          </p:cNvPicPr>
          <p:nvPr/>
        </p:nvPicPr>
        <p:blipFill>
          <a:blip r:embed="rId3"/>
          <a:stretch>
            <a:fillRect/>
          </a:stretch>
        </p:blipFill>
        <p:spPr>
          <a:xfrm>
            <a:off x="5744742" y="4102746"/>
            <a:ext cx="1504950" cy="723900"/>
          </a:xfrm>
          <a:prstGeom prst="rect">
            <a:avLst/>
          </a:prstGeom>
        </p:spPr>
      </p:pic>
      <p:sp>
        <p:nvSpPr>
          <p:cNvPr id="7" name="TextBox 6">
            <a:extLst>
              <a:ext uri="{FF2B5EF4-FFF2-40B4-BE49-F238E27FC236}">
                <a16:creationId xmlns:a16="http://schemas.microsoft.com/office/drawing/2014/main" id="{4C6C708C-48BD-4DD8-F385-D562C91B41F8}"/>
              </a:ext>
            </a:extLst>
          </p:cNvPr>
          <p:cNvSpPr txBox="1"/>
          <p:nvPr/>
        </p:nvSpPr>
        <p:spPr>
          <a:xfrm>
            <a:off x="7315200" y="3720192"/>
            <a:ext cx="3741576" cy="2831544"/>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Used</a:t>
            </a:r>
            <a:r>
              <a:rPr lang="en-US" sz="2000" dirty="0">
                <a:latin typeface="Times New Roman" panose="02020603050405020304" pitchFamily="18" charset="0"/>
                <a:cs typeface="Times New Roman" panose="02020603050405020304" pitchFamily="18" charset="0"/>
              </a:rPr>
              <a:t> when you have data for every member of the population. </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If you have the exact income data for every resident of a city, the mean calculated from this data is the population mean.</a:t>
            </a:r>
          </a:p>
          <a:p>
            <a:endParaRPr lang="en-US"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35361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AF5D4-5361-F940-4C43-D2C2A4CEDB10}"/>
              </a:ext>
            </a:extLst>
          </p:cNvPr>
          <p:cNvSpPr>
            <a:spLocks noGrp="1"/>
          </p:cNvSpPr>
          <p:nvPr>
            <p:ph type="title"/>
          </p:nvPr>
        </p:nvSpPr>
        <p:spPr/>
        <p:txBody>
          <a:bodyPr>
            <a:normAutofit fontScale="90000"/>
          </a:bodyPr>
          <a:lstStyle/>
          <a:p>
            <a:r>
              <a:rPr lang="en-US" sz="4400" b="1" dirty="0">
                <a:latin typeface="Times New Roman" panose="02020603050405020304" pitchFamily="18" charset="0"/>
                <a:cs typeface="Times New Roman" panose="02020603050405020304" pitchFamily="18" charset="0"/>
              </a:rPr>
              <a:t>Mean for a Simple Frequency Distribution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7E38D7-CD74-07A5-DE9E-75C0CEBBBD9C}"/>
                  </a:ext>
                </a:extLst>
              </p:cNvPr>
              <p:cNvSpPr>
                <a:spLocks noGrp="1"/>
              </p:cNvSpPr>
              <p:nvPr>
                <p:ph idx="1"/>
              </p:nvPr>
            </p:nvSpPr>
            <p:spPr/>
            <p:txBody>
              <a:bodyPr>
                <a:normAutofit lnSpcReduction="10000"/>
              </a:bodyPr>
              <a:lstStyle/>
              <a:p>
                <a:r>
                  <a:rPr lang="en-IN" sz="2200" dirty="0">
                    <a:latin typeface="Times New Roman" panose="02020603050405020304" pitchFamily="18" charset="0"/>
                    <a:cs typeface="Times New Roman" panose="02020603050405020304" pitchFamily="18" charset="0"/>
                  </a:rPr>
                  <a:t>Sample Mean (x̄):</a:t>
                </a:r>
              </a:p>
              <a:p>
                <a:r>
                  <a:rPr lang="en-US" sz="2200" b="1" dirty="0">
                    <a:latin typeface="Times New Roman" panose="02020603050405020304" pitchFamily="18" charset="0"/>
                    <a:cs typeface="Times New Roman" panose="02020603050405020304" pitchFamily="18" charset="0"/>
                  </a:rPr>
                  <a:t>Definition:</a:t>
                </a:r>
                <a:r>
                  <a:rPr lang="en-US" sz="2200" dirty="0">
                    <a:latin typeface="Times New Roman" panose="02020603050405020304" pitchFamily="18" charset="0"/>
                    <a:cs typeface="Times New Roman" panose="02020603050405020304" pitchFamily="18" charset="0"/>
                  </a:rPr>
                  <a:t> The sample mean is the average of the values in a sample, which is a subset of the population. Samples are often used when it's impractical or impossible to collect data from the entire population.</a:t>
                </a:r>
                <a:endParaRPr lang="en-IN" sz="2200" dirty="0">
                  <a:latin typeface="Times New Roman" panose="02020603050405020304" pitchFamily="18" charset="0"/>
                  <a:cs typeface="Times New Roman" panose="02020603050405020304" pitchFamily="18" charset="0"/>
                </a:endParaRPr>
              </a:p>
              <a:p>
                <a:r>
                  <a:rPr lang="en-IN" sz="2200" b="1" dirty="0"/>
                  <a:t>Formula: </a:t>
                </a:r>
              </a:p>
              <a:p>
                <a:r>
                  <a:rPr lang="en-IN" sz="2200" dirty="0">
                    <a:latin typeface="Times New Roman" panose="02020603050405020304" pitchFamily="18" charset="0"/>
                    <a:cs typeface="Times New Roman" panose="02020603050405020304" pitchFamily="18" charset="0"/>
                  </a:rPr>
                  <a:t>Where</a:t>
                </a:r>
                <a:r>
                  <a:rPr lang="en-IN" sz="2200" b="1"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̄x is the mean</a:t>
                </a:r>
              </a:p>
              <a:p>
                <a:r>
                  <a:rPr lang="en-US" sz="2200" dirty="0">
                    <a:solidFill>
                      <a:schemeClr val="tx1"/>
                    </a:solidFill>
                    <a:latin typeface="Times New Roman" panose="02020603050405020304" pitchFamily="18" charset="0"/>
                    <a:cs typeface="Times New Roman" panose="02020603050405020304" pitchFamily="18" charset="0"/>
                  </a:rPr>
                  <a:t>n is the total number of observations in the sample.</a:t>
                </a:r>
              </a:p>
              <a:p>
                <a14:m>
                  <m:oMath xmlns:m="http://schemas.openxmlformats.org/officeDocument/2006/math">
                    <m:sSub>
                      <m:sSubPr>
                        <m:ctrlPr>
                          <a:rPr lang="en-US" sz="2200" i="1" smtClean="0">
                            <a:solidFill>
                              <a:schemeClr val="tx1"/>
                            </a:solidFill>
                            <a:latin typeface="Cambria Math" panose="02040503050406030204" pitchFamily="18" charset="0"/>
                          </a:rPr>
                        </m:ctrlPr>
                      </m:sSubPr>
                      <m:e>
                        <m:r>
                          <a:rPr lang="en-US" sz="2200" b="0" i="1" smtClean="0">
                            <a:solidFill>
                              <a:schemeClr val="tx1"/>
                            </a:solidFill>
                            <a:latin typeface="Cambria Math" panose="02040503050406030204" pitchFamily="18" charset="0"/>
                          </a:rPr>
                          <m:t>𝑥</m:t>
                        </m:r>
                      </m:e>
                      <m:sub>
                        <m:r>
                          <a:rPr lang="en-US" sz="2200" b="0" i="1" smtClean="0">
                            <a:solidFill>
                              <a:schemeClr val="tx1"/>
                            </a:solidFill>
                            <a:latin typeface="Cambria Math" panose="02040503050406030204" pitchFamily="18" charset="0"/>
                          </a:rPr>
                          <m:t>𝑖</m:t>
                        </m:r>
                      </m:sub>
                    </m:sSub>
                  </m:oMath>
                </a14:m>
                <a:r>
                  <a:rPr lang="en-US" sz="2200" dirty="0">
                    <a:solidFill>
                      <a:schemeClr val="tx1"/>
                    </a:solidFill>
                    <a:latin typeface="Times New Roman" panose="02020603050405020304" pitchFamily="18" charset="0"/>
                    <a:cs typeface="Times New Roman" panose="02020603050405020304" pitchFamily="18" charset="0"/>
                  </a:rPr>
                  <a:t> represents each individual value in the sample</a:t>
                </a:r>
                <a:endParaRPr lang="en-IN" sz="2200" b="1" dirty="0">
                  <a:solidFill>
                    <a:schemeClr val="tx1"/>
                  </a:solidFill>
                  <a:latin typeface="Times New Roman" panose="02020603050405020304" pitchFamily="18" charset="0"/>
                  <a:cs typeface="Times New Roman" panose="02020603050405020304" pitchFamily="18" charset="0"/>
                </a:endParaRPr>
              </a:p>
              <a:p>
                <a:endParaRPr lang="en-IN" sz="2200" b="1" dirty="0"/>
              </a:p>
              <a:p>
                <a:endParaRPr lang="en-IN" sz="2200" b="1" dirty="0"/>
              </a:p>
            </p:txBody>
          </p:sp>
        </mc:Choice>
        <mc:Fallback xmlns="">
          <p:sp>
            <p:nvSpPr>
              <p:cNvPr id="3" name="Content Placeholder 2">
                <a:extLst>
                  <a:ext uri="{FF2B5EF4-FFF2-40B4-BE49-F238E27FC236}">
                    <a16:creationId xmlns:a16="http://schemas.microsoft.com/office/drawing/2014/main" id="{DB7E38D7-CD74-07A5-DE9E-75C0CEBBBD9C}"/>
                  </a:ext>
                </a:extLst>
              </p:cNvPr>
              <p:cNvSpPr>
                <a:spLocks noGrp="1" noRot="1" noChangeAspect="1" noMove="1" noResize="1" noEditPoints="1" noAdjustHandles="1" noChangeArrowheads="1" noChangeShapeType="1" noTextEdit="1"/>
              </p:cNvSpPr>
              <p:nvPr>
                <p:ph idx="1"/>
              </p:nvPr>
            </p:nvSpPr>
            <p:spPr>
              <a:blipFill>
                <a:blip r:embed="rId2"/>
                <a:stretch>
                  <a:fillRect l="-953" t="-2936" r="-635" b="-1284"/>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6FC2FEC6-0C3B-910C-3883-013AE52A81DF}"/>
              </a:ext>
            </a:extLst>
          </p:cNvPr>
          <p:cNvPicPr>
            <a:picLocks noChangeAspect="1"/>
          </p:cNvPicPr>
          <p:nvPr/>
        </p:nvPicPr>
        <p:blipFill>
          <a:blip r:embed="rId3"/>
          <a:stretch>
            <a:fillRect/>
          </a:stretch>
        </p:blipFill>
        <p:spPr>
          <a:xfrm>
            <a:off x="4406284" y="4011127"/>
            <a:ext cx="1457325" cy="790575"/>
          </a:xfrm>
          <a:prstGeom prst="rect">
            <a:avLst/>
          </a:prstGeom>
        </p:spPr>
      </p:pic>
      <p:sp>
        <p:nvSpPr>
          <p:cNvPr id="7" name="TextBox 6">
            <a:extLst>
              <a:ext uri="{FF2B5EF4-FFF2-40B4-BE49-F238E27FC236}">
                <a16:creationId xmlns:a16="http://schemas.microsoft.com/office/drawing/2014/main" id="{A6B2CFCD-D988-4B7F-D3DE-88500E70E353}"/>
              </a:ext>
            </a:extLst>
          </p:cNvPr>
          <p:cNvSpPr txBox="1"/>
          <p:nvPr/>
        </p:nvSpPr>
        <p:spPr>
          <a:xfrm>
            <a:off x="7921690" y="3714492"/>
            <a:ext cx="3125755" cy="313932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Usage:</a:t>
            </a:r>
            <a:r>
              <a:rPr lang="en-US" dirty="0">
                <a:latin typeface="Times New Roman" panose="02020603050405020304" pitchFamily="18" charset="0"/>
                <a:cs typeface="Times New Roman" panose="02020603050405020304" pitchFamily="18" charset="0"/>
              </a:rPr>
              <a:t> Used when you have data for only part of the population</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If you survey 100 residents out of a city of 10,000 to estimate the average income, the mean calculated from this survey is the sample mean.</a:t>
            </a:r>
          </a:p>
          <a:p>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72422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95E34-D92A-B66E-4A9F-E12A910DB51F}"/>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Dispersion or variability</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DA88DA-9C06-1B8E-B2DC-A4D419B83583}"/>
              </a:ext>
            </a:extLst>
          </p:cNvPr>
          <p:cNvSpPr>
            <a:spLocks noGrp="1"/>
          </p:cNvSpPr>
          <p:nvPr>
            <p:ph idx="1"/>
          </p:nvPr>
        </p:nvSpPr>
        <p:spPr>
          <a:xfrm>
            <a:off x="1110343" y="2556932"/>
            <a:ext cx="9786254" cy="3442652"/>
          </a:xfrm>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Variability is the amount of spread among the scores. </a:t>
            </a:r>
          </a:p>
          <a:p>
            <a:r>
              <a:rPr lang="en-US" sz="2200" dirty="0">
                <a:solidFill>
                  <a:schemeClr val="tx1"/>
                </a:solidFill>
                <a:latin typeface="Times New Roman" panose="02020603050405020304" pitchFamily="18" charset="0"/>
                <a:cs typeface="Times New Roman" panose="02020603050405020304" pitchFamily="18" charset="0"/>
              </a:rPr>
              <a:t>Measures of variability provide information about how similar or different the scores are in relationship to other scores in the distribution</a:t>
            </a:r>
          </a:p>
          <a:p>
            <a:r>
              <a:rPr lang="en-US" sz="2200" dirty="0">
                <a:solidFill>
                  <a:schemeClr val="tx1"/>
                </a:solidFill>
                <a:latin typeface="Times New Roman" panose="02020603050405020304" pitchFamily="18" charset="0"/>
                <a:cs typeface="Times New Roman" panose="02020603050405020304" pitchFamily="18" charset="0"/>
              </a:rPr>
              <a:t>Ways of expressing variability</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Range</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Variance </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Standard deviation</a:t>
            </a:r>
            <a:endParaRPr lang="en-IN" sz="22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BDCA4CB-4A15-F461-FD3A-AE4565CF2991}"/>
              </a:ext>
            </a:extLst>
          </p:cNvPr>
          <p:cNvPicPr>
            <a:picLocks noChangeAspect="1"/>
          </p:cNvPicPr>
          <p:nvPr/>
        </p:nvPicPr>
        <p:blipFill>
          <a:blip r:embed="rId3"/>
          <a:stretch>
            <a:fillRect/>
          </a:stretch>
        </p:blipFill>
        <p:spPr>
          <a:xfrm>
            <a:off x="6475445" y="3723206"/>
            <a:ext cx="4011580" cy="2480044"/>
          </a:xfrm>
          <a:prstGeom prst="rect">
            <a:avLst/>
          </a:prstGeom>
        </p:spPr>
      </p:pic>
    </p:spTree>
    <p:extLst>
      <p:ext uri="{BB962C8B-B14F-4D97-AF65-F5344CB8AC3E}">
        <p14:creationId xmlns:p14="http://schemas.microsoft.com/office/powerpoint/2010/main" val="2772593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C1BDA-9E84-F2B6-6120-D43355052121}"/>
              </a:ext>
            </a:extLst>
          </p:cNvPr>
          <p:cNvSpPr>
            <a:spLocks noGrp="1"/>
          </p:cNvSpPr>
          <p:nvPr>
            <p:ph type="title"/>
          </p:nvPr>
        </p:nvSpPr>
        <p:spPr/>
        <p:txBody>
          <a:bodyPr>
            <a:normAutofit/>
          </a:bodyPr>
          <a:lstStyle/>
          <a:p>
            <a:r>
              <a:rPr lang="en-US" sz="4000" b="1" dirty="0">
                <a:solidFill>
                  <a:schemeClr val="tx1"/>
                </a:solidFill>
                <a:latin typeface="Times New Roman" panose="02020603050405020304" pitchFamily="18" charset="0"/>
                <a:cs typeface="Times New Roman" panose="02020603050405020304" pitchFamily="18" charset="0"/>
              </a:rPr>
              <a:t>Range </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BD37631-6C01-DAC6-6464-D0D353A9E97E}"/>
              </a:ext>
            </a:extLst>
          </p:cNvPr>
          <p:cNvSpPr>
            <a:spLocks noGrp="1"/>
          </p:cNvSpPr>
          <p:nvPr>
            <p:ph idx="1"/>
          </p:nvPr>
        </p:nvSpPr>
        <p:spPr/>
        <p:txBody>
          <a:bodyPr>
            <a:normAutofit/>
          </a:bodyPr>
          <a:lstStyle/>
          <a:p>
            <a:r>
              <a:rPr lang="en-US" sz="2200" b="1" dirty="0">
                <a:latin typeface="Times New Roman" panose="02020603050405020304" pitchFamily="18" charset="0"/>
                <a:cs typeface="Times New Roman" panose="02020603050405020304" pitchFamily="18" charset="0"/>
              </a:rPr>
              <a:t>Max - Min</a:t>
            </a:r>
            <a:endParaRPr lang="en-IN" sz="2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155F471-A2FA-8795-48D3-DF5E583A4353}"/>
              </a:ext>
            </a:extLst>
          </p:cNvPr>
          <p:cNvPicPr>
            <a:picLocks noChangeAspect="1"/>
          </p:cNvPicPr>
          <p:nvPr/>
        </p:nvPicPr>
        <p:blipFill>
          <a:blip r:embed="rId2"/>
          <a:stretch>
            <a:fillRect/>
          </a:stretch>
        </p:blipFill>
        <p:spPr>
          <a:xfrm>
            <a:off x="7753740" y="1848336"/>
            <a:ext cx="1968759" cy="4184153"/>
          </a:xfrm>
          <a:prstGeom prst="rect">
            <a:avLst/>
          </a:prstGeom>
        </p:spPr>
      </p:pic>
      <p:pic>
        <p:nvPicPr>
          <p:cNvPr id="7" name="Picture 6">
            <a:extLst>
              <a:ext uri="{FF2B5EF4-FFF2-40B4-BE49-F238E27FC236}">
                <a16:creationId xmlns:a16="http://schemas.microsoft.com/office/drawing/2014/main" id="{8D785900-C1E5-5EF3-B0BA-FFD9B4DB77F1}"/>
              </a:ext>
            </a:extLst>
          </p:cNvPr>
          <p:cNvPicPr>
            <a:picLocks noChangeAspect="1"/>
          </p:cNvPicPr>
          <p:nvPr/>
        </p:nvPicPr>
        <p:blipFill>
          <a:blip r:embed="rId3"/>
          <a:stretch>
            <a:fillRect/>
          </a:stretch>
        </p:blipFill>
        <p:spPr>
          <a:xfrm>
            <a:off x="2617241" y="3581885"/>
            <a:ext cx="3962400" cy="1019175"/>
          </a:xfrm>
          <a:prstGeom prst="rect">
            <a:avLst/>
          </a:prstGeom>
        </p:spPr>
      </p:pic>
    </p:spTree>
    <p:extLst>
      <p:ext uri="{BB962C8B-B14F-4D97-AF65-F5344CB8AC3E}">
        <p14:creationId xmlns:p14="http://schemas.microsoft.com/office/powerpoint/2010/main" val="3726689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F95DE-A61E-47F6-CAD0-E101B54DE868}"/>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Variance</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52EDEC-B568-623B-D9F3-5A9A5F2339D0}"/>
              </a:ext>
            </a:extLst>
          </p:cNvPr>
          <p:cNvSpPr>
            <a:spLocks noGrp="1"/>
          </p:cNvSpPr>
          <p:nvPr>
            <p:ph idx="1"/>
          </p:nvPr>
        </p:nvSpPr>
        <p:spPr>
          <a:xfrm>
            <a:off x="1295401" y="2556931"/>
            <a:ext cx="9601196" cy="3591941"/>
          </a:xfrm>
        </p:spPr>
        <p:txBody>
          <a:bodyPr>
            <a:normAutofit/>
          </a:bodyPr>
          <a:lstStyle/>
          <a:p>
            <a:r>
              <a:rPr lang="en-IN" sz="2200" dirty="0">
                <a:solidFill>
                  <a:schemeClr val="tx1"/>
                </a:solidFill>
                <a:latin typeface="Times New Roman" panose="02020603050405020304" pitchFamily="18" charset="0"/>
                <a:cs typeface="Times New Roman" panose="02020603050405020304" pitchFamily="18" charset="0"/>
              </a:rPr>
              <a:t>Take deviation from Mean-It can be zero sometimes</a:t>
            </a:r>
          </a:p>
          <a:p>
            <a:r>
              <a:rPr lang="en-IN" sz="2200" dirty="0">
                <a:solidFill>
                  <a:schemeClr val="tx1"/>
                </a:solidFill>
                <a:latin typeface="Times New Roman" panose="02020603050405020304" pitchFamily="18" charset="0"/>
                <a:cs typeface="Times New Roman" panose="02020603050405020304" pitchFamily="18" charset="0"/>
              </a:rPr>
              <a:t>Hence take square of deviation from mean→ Take average of that</a:t>
            </a:r>
          </a:p>
          <a:p>
            <a:r>
              <a:rPr lang="en-IN" sz="2200" dirty="0">
                <a:solidFill>
                  <a:schemeClr val="tx1"/>
                </a:solidFill>
                <a:latin typeface="Times New Roman" panose="02020603050405020304" pitchFamily="18" charset="0"/>
                <a:cs typeface="Times New Roman" panose="02020603050405020304" pitchFamily="18" charset="0"/>
              </a:rPr>
              <a:t>Average mean squared distance is variance</a:t>
            </a:r>
          </a:p>
          <a:p>
            <a:r>
              <a:rPr lang="en-US" sz="2200" dirty="0">
                <a:solidFill>
                  <a:schemeClr val="tx1"/>
                </a:solidFill>
                <a:latin typeface="Times New Roman" panose="02020603050405020304" pitchFamily="18" charset="0"/>
                <a:cs typeface="Times New Roman" panose="02020603050405020304" pitchFamily="18" charset="0"/>
              </a:rPr>
              <a:t>Variance (𝜎2) in statistics is a measurement of the spread between numbers in a data set. </a:t>
            </a:r>
            <a:endParaRPr lang="en-IN" sz="2200" dirty="0">
              <a:solidFill>
                <a:schemeClr val="tx1"/>
              </a:solidFill>
              <a:latin typeface="Times New Roman" panose="02020603050405020304" pitchFamily="18" charset="0"/>
              <a:cs typeface="Times New Roman" panose="02020603050405020304" pitchFamily="18" charset="0"/>
            </a:endParaRPr>
          </a:p>
          <a:p>
            <a:r>
              <a:rPr lang="en-US" sz="2200" dirty="0">
                <a:solidFill>
                  <a:schemeClr val="tx1"/>
                </a:solidFill>
                <a:latin typeface="Times New Roman" panose="02020603050405020304" pitchFamily="18" charset="0"/>
                <a:cs typeface="Times New Roman" panose="02020603050405020304" pitchFamily="18" charset="0"/>
              </a:rPr>
              <a:t>That is, it measures how far each number in the set is from the mean and therefore from every other number in the set</a:t>
            </a:r>
          </a:p>
          <a:p>
            <a:r>
              <a:rPr lang="en-US" sz="2200" dirty="0">
                <a:solidFill>
                  <a:schemeClr val="tx1"/>
                </a:solidFill>
                <a:latin typeface="Times New Roman" panose="02020603050405020304" pitchFamily="18" charset="0"/>
                <a:cs typeface="Times New Roman" panose="02020603050405020304" pitchFamily="18" charset="0"/>
              </a:rPr>
              <a:t>Sum of Squares gives you a measure of total variability</a:t>
            </a:r>
            <a:endParaRPr lang="en-IN" sz="22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A0949FE-C77B-DE83-7BFE-DBFA11ED3F24}"/>
              </a:ext>
            </a:extLst>
          </p:cNvPr>
          <p:cNvPicPr>
            <a:picLocks noChangeAspect="1"/>
          </p:cNvPicPr>
          <p:nvPr/>
        </p:nvPicPr>
        <p:blipFill>
          <a:blip r:embed="rId2"/>
          <a:stretch>
            <a:fillRect/>
          </a:stretch>
        </p:blipFill>
        <p:spPr>
          <a:xfrm>
            <a:off x="7875037" y="5215219"/>
            <a:ext cx="3340748" cy="1005882"/>
          </a:xfrm>
          <a:prstGeom prst="rect">
            <a:avLst/>
          </a:prstGeom>
        </p:spPr>
      </p:pic>
    </p:spTree>
    <p:extLst>
      <p:ext uri="{BB962C8B-B14F-4D97-AF65-F5344CB8AC3E}">
        <p14:creationId xmlns:p14="http://schemas.microsoft.com/office/powerpoint/2010/main" val="1681835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02F0B-0B48-BD18-8A9B-9E100E352AEE}"/>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Standard deviation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D7B16E-7196-598D-F627-CA8913EE069A}"/>
              </a:ext>
            </a:extLst>
          </p:cNvPr>
          <p:cNvSpPr>
            <a:spLocks noGrp="1"/>
          </p:cNvSpPr>
          <p:nvPr>
            <p:ph idx="1"/>
          </p:nvPr>
        </p:nvSpPr>
        <p:spPr>
          <a:xfrm>
            <a:off x="1295401" y="2556932"/>
            <a:ext cx="9601196" cy="3778554"/>
          </a:xfrm>
        </p:spPr>
        <p:txBody>
          <a:bodyPr>
            <a:normAutofit/>
          </a:bodyPr>
          <a:lstStyle/>
          <a:p>
            <a:r>
              <a:rPr lang="en-US" sz="2200" dirty="0">
                <a:latin typeface="Times New Roman" panose="02020603050405020304" pitchFamily="18" charset="0"/>
                <a:cs typeface="Times New Roman" panose="02020603050405020304" pitchFamily="18" charset="0"/>
              </a:rPr>
              <a:t>The standard deviation is based on deviation scores.</a:t>
            </a:r>
          </a:p>
          <a:p>
            <a:r>
              <a:rPr lang="en-US" sz="2200" dirty="0">
                <a:latin typeface="Times New Roman" panose="02020603050405020304" pitchFamily="18" charset="0"/>
                <a:cs typeface="Times New Roman" panose="02020603050405020304" pitchFamily="18" charset="0"/>
              </a:rPr>
              <a:t>To deviate means to depart from a standard, the standard in this case being the mean </a:t>
            </a:r>
          </a:p>
          <a:p>
            <a:r>
              <a:rPr lang="en-IN" sz="2200" dirty="0">
                <a:latin typeface="Times New Roman" panose="02020603050405020304" pitchFamily="18" charset="0"/>
                <a:cs typeface="Times New Roman" panose="02020603050405020304" pitchFamily="18" charset="0"/>
              </a:rPr>
              <a:t>Square root of variance</a:t>
            </a:r>
          </a:p>
          <a:p>
            <a:r>
              <a:rPr lang="en-US" sz="2200" dirty="0">
                <a:latin typeface="Times New Roman" panose="02020603050405020304" pitchFamily="18" charset="0"/>
                <a:cs typeface="Times New Roman" panose="02020603050405020304" pitchFamily="18" charset="0"/>
              </a:rPr>
              <a:t>Its symbol is sigma σ(the Greek letter sigma)</a:t>
            </a:r>
          </a:p>
          <a:p>
            <a:r>
              <a:rPr lang="en-US" sz="2200" dirty="0">
                <a:latin typeface="Times New Roman" panose="02020603050405020304" pitchFamily="18" charset="0"/>
                <a:cs typeface="Times New Roman" panose="02020603050405020304" pitchFamily="18" charset="0"/>
              </a:rPr>
              <a:t>The Standard Deviation is a measure of how spread out numbers are</a:t>
            </a:r>
            <a:endParaRPr lang="en-IN"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0B99C57-7286-A1C4-6CB9-07DFA62A4A0C}"/>
              </a:ext>
            </a:extLst>
          </p:cNvPr>
          <p:cNvPicPr>
            <a:picLocks noChangeAspect="1"/>
          </p:cNvPicPr>
          <p:nvPr/>
        </p:nvPicPr>
        <p:blipFill>
          <a:blip r:embed="rId2"/>
          <a:stretch>
            <a:fillRect/>
          </a:stretch>
        </p:blipFill>
        <p:spPr>
          <a:xfrm>
            <a:off x="1295401" y="5223934"/>
            <a:ext cx="8485900" cy="1303867"/>
          </a:xfrm>
          <a:prstGeom prst="rect">
            <a:avLst/>
          </a:prstGeom>
        </p:spPr>
      </p:pic>
    </p:spTree>
    <p:extLst>
      <p:ext uri="{BB962C8B-B14F-4D97-AF65-F5344CB8AC3E}">
        <p14:creationId xmlns:p14="http://schemas.microsoft.com/office/powerpoint/2010/main" val="1394439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C6804-C876-30C8-D922-49DBD1EF2C0B}"/>
              </a:ext>
            </a:extLst>
          </p:cNvPr>
          <p:cNvSpPr>
            <a:spLocks noGrp="1"/>
          </p:cNvSpPr>
          <p:nvPr>
            <p:ph type="title"/>
          </p:nvPr>
        </p:nvSpPr>
        <p:spPr/>
        <p:txBody>
          <a:bodyPr>
            <a:normAutofit fontScale="90000"/>
          </a:bodyPr>
          <a:lstStyle/>
          <a:p>
            <a:r>
              <a:rPr lang="en-US" sz="4000" b="1" dirty="0">
                <a:latin typeface="Times New Roman" panose="02020603050405020304" pitchFamily="18" charset="0"/>
                <a:cs typeface="Times New Roman" panose="02020603050405020304" pitchFamily="18" charset="0"/>
              </a:rPr>
              <a:t>Scenario: Quality Control in Manufacturing</a:t>
            </a:r>
          </a:p>
        </p:txBody>
      </p:sp>
      <p:sp>
        <p:nvSpPr>
          <p:cNvPr id="3" name="Content Placeholder 2">
            <a:extLst>
              <a:ext uri="{FF2B5EF4-FFF2-40B4-BE49-F238E27FC236}">
                <a16:creationId xmlns:a16="http://schemas.microsoft.com/office/drawing/2014/main" id="{E23F24FB-2A33-4A0C-FCF5-A6ACEBC41F47}"/>
              </a:ext>
            </a:extLst>
          </p:cNvPr>
          <p:cNvSpPr>
            <a:spLocks noGrp="1"/>
          </p:cNvSpPr>
          <p:nvPr>
            <p:ph idx="1"/>
          </p:nvPr>
        </p:nvSpPr>
        <p:spPr/>
        <p:txBody>
          <a:bodyPr>
            <a:normAutofit lnSpcReduction="10000"/>
          </a:bodyPr>
          <a:lstStyle/>
          <a:p>
            <a:r>
              <a:rPr lang="en-US" sz="2200" dirty="0">
                <a:solidFill>
                  <a:schemeClr val="tx1"/>
                </a:solidFill>
                <a:latin typeface="Times New Roman" panose="02020603050405020304" pitchFamily="18" charset="0"/>
                <a:cs typeface="Times New Roman" panose="02020603050405020304" pitchFamily="18" charset="0"/>
              </a:rPr>
              <a:t>You are part of the quality control team in a company </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that manufactures metal rods used in construction.</a:t>
            </a:r>
          </a:p>
          <a:p>
            <a:r>
              <a:rPr lang="en-US" sz="2200" dirty="0">
                <a:solidFill>
                  <a:schemeClr val="tx1"/>
                </a:solidFill>
                <a:latin typeface="Times New Roman" panose="02020603050405020304" pitchFamily="18" charset="0"/>
                <a:cs typeface="Times New Roman" panose="02020603050405020304" pitchFamily="18" charset="0"/>
              </a:rPr>
              <a:t>To ensure that the rods meet the required standards, </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you need to assess the consistency of their lengths.</a:t>
            </a:r>
          </a:p>
          <a:p>
            <a:r>
              <a:rPr lang="en-US" sz="2200" dirty="0">
                <a:solidFill>
                  <a:schemeClr val="tx1"/>
                </a:solidFill>
                <a:latin typeface="Times New Roman" panose="02020603050405020304" pitchFamily="18" charset="0"/>
                <a:cs typeface="Times New Roman" panose="02020603050405020304" pitchFamily="18" charset="0"/>
              </a:rPr>
              <a:t>You randomly select 10 rods from a production </a:t>
            </a:r>
          </a:p>
          <a:p>
            <a:pPr marL="0" indent="0">
              <a:buNone/>
            </a:pPr>
            <a:r>
              <a:rPr lang="en-US" sz="2200" dirty="0">
                <a:solidFill>
                  <a:schemeClr val="tx1"/>
                </a:solidFill>
                <a:latin typeface="Times New Roman" panose="02020603050405020304" pitchFamily="18" charset="0"/>
                <a:cs typeface="Times New Roman" panose="02020603050405020304" pitchFamily="18" charset="0"/>
              </a:rPr>
              <a:t>batch and measure their lengths (in centimeters):</a:t>
            </a:r>
          </a:p>
          <a:p>
            <a:pPr marL="0" indent="0">
              <a:buNone/>
            </a:pPr>
            <a:r>
              <a:rPr lang="en-US" sz="2200" b="1" dirty="0">
                <a:solidFill>
                  <a:srgbClr val="FF0000"/>
                </a:solidFill>
                <a:latin typeface="Times New Roman" panose="02020603050405020304" pitchFamily="18" charset="0"/>
                <a:cs typeface="Times New Roman" panose="02020603050405020304" pitchFamily="18" charset="0"/>
              </a:rPr>
              <a:t>Calculate mean, variance and standard deviation</a:t>
            </a:r>
          </a:p>
          <a:p>
            <a:endParaRPr lang="en-IN" dirty="0"/>
          </a:p>
        </p:txBody>
      </p:sp>
      <p:graphicFrame>
        <p:nvGraphicFramePr>
          <p:cNvPr id="4" name="Table 3">
            <a:extLst>
              <a:ext uri="{FF2B5EF4-FFF2-40B4-BE49-F238E27FC236}">
                <a16:creationId xmlns:a16="http://schemas.microsoft.com/office/drawing/2014/main" id="{E8C16AF7-D189-D495-4E85-B0458CCE2642}"/>
              </a:ext>
            </a:extLst>
          </p:cNvPr>
          <p:cNvGraphicFramePr>
            <a:graphicFrameLocks noGrp="1"/>
          </p:cNvGraphicFramePr>
          <p:nvPr>
            <p:extLst>
              <p:ext uri="{D42A27DB-BD31-4B8C-83A1-F6EECF244321}">
                <p14:modId xmlns:p14="http://schemas.microsoft.com/office/powerpoint/2010/main" val="4207964506"/>
              </p:ext>
            </p:extLst>
          </p:nvPr>
        </p:nvGraphicFramePr>
        <p:xfrm>
          <a:off x="8052318" y="1965960"/>
          <a:ext cx="2844279" cy="4023360"/>
        </p:xfrm>
        <a:graphic>
          <a:graphicData uri="http://schemas.openxmlformats.org/drawingml/2006/table">
            <a:tbl>
              <a:tblPr firstRow="1" bandRow="1">
                <a:tableStyleId>{5C22544A-7EE6-4342-B048-85BDC9FD1C3A}</a:tableStyleId>
              </a:tblPr>
              <a:tblGrid>
                <a:gridCol w="1205720">
                  <a:extLst>
                    <a:ext uri="{9D8B030D-6E8A-4147-A177-3AD203B41FA5}">
                      <a16:colId xmlns:a16="http://schemas.microsoft.com/office/drawing/2014/main" val="3758429217"/>
                    </a:ext>
                  </a:extLst>
                </a:gridCol>
                <a:gridCol w="1638559">
                  <a:extLst>
                    <a:ext uri="{9D8B030D-6E8A-4147-A177-3AD203B41FA5}">
                      <a16:colId xmlns:a16="http://schemas.microsoft.com/office/drawing/2014/main" val="164678981"/>
                    </a:ext>
                  </a:extLst>
                </a:gridCol>
              </a:tblGrid>
              <a:tr h="325755">
                <a:tc>
                  <a:txBody>
                    <a:bodyPr/>
                    <a:lstStyle/>
                    <a:p>
                      <a:r>
                        <a:rPr lang="en-US" dirty="0">
                          <a:latin typeface="Times New Roman" panose="02020603050405020304" pitchFamily="18" charset="0"/>
                          <a:cs typeface="Times New Roman" panose="02020603050405020304" pitchFamily="18" charset="0"/>
                        </a:rPr>
                        <a:t>Rod</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Length(cm)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1086468"/>
                  </a:ext>
                </a:extLst>
              </a:tr>
              <a:tr h="325755">
                <a:tc>
                  <a:txBody>
                    <a:bodyPr/>
                    <a:lstStyle/>
                    <a:p>
                      <a:r>
                        <a:rPr lang="en-US" b="0" dirty="0">
                          <a:latin typeface="Times New Roman" panose="02020603050405020304" pitchFamily="18" charset="0"/>
                          <a:cs typeface="Times New Roman" panose="02020603050405020304" pitchFamily="18" charset="0"/>
                        </a:rPr>
                        <a:t>1</a:t>
                      </a:r>
                      <a:endParaRPr lang="en-IN" b="0" dirty="0">
                        <a:latin typeface="Times New Roman" panose="02020603050405020304" pitchFamily="18" charset="0"/>
                        <a:cs typeface="Times New Roman" panose="02020603050405020304" pitchFamily="18" charset="0"/>
                      </a:endParaRPr>
                    </a:p>
                  </a:txBody>
                  <a:tcPr/>
                </a:tc>
                <a:tc>
                  <a:txBody>
                    <a:bodyPr/>
                    <a:lstStyle/>
                    <a:p>
                      <a:r>
                        <a:rPr lang="en-US" b="0" dirty="0">
                          <a:latin typeface="Times New Roman" panose="02020603050405020304" pitchFamily="18" charset="0"/>
                          <a:cs typeface="Times New Roman" panose="02020603050405020304" pitchFamily="18" charset="0"/>
                        </a:rPr>
                        <a:t>99.8</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19266961"/>
                  </a:ext>
                </a:extLst>
              </a:tr>
              <a:tr h="325755">
                <a:tc>
                  <a:txBody>
                    <a:bodyPr/>
                    <a:lstStyle/>
                    <a:p>
                      <a:r>
                        <a:rPr lang="en-US" b="0" dirty="0">
                          <a:latin typeface="Times New Roman" panose="02020603050405020304" pitchFamily="18" charset="0"/>
                          <a:cs typeface="Times New Roman" panose="02020603050405020304" pitchFamily="18" charset="0"/>
                        </a:rPr>
                        <a:t>2</a:t>
                      </a:r>
                      <a:endParaRPr lang="en-IN" b="0" dirty="0">
                        <a:latin typeface="Times New Roman" panose="02020603050405020304" pitchFamily="18" charset="0"/>
                        <a:cs typeface="Times New Roman" panose="02020603050405020304" pitchFamily="18" charset="0"/>
                      </a:endParaRPr>
                    </a:p>
                  </a:txBody>
                  <a:tcPr/>
                </a:tc>
                <a:tc>
                  <a:txBody>
                    <a:bodyPr/>
                    <a:lstStyle/>
                    <a:p>
                      <a:r>
                        <a:rPr lang="en-US" b="0" dirty="0">
                          <a:latin typeface="Times New Roman" panose="02020603050405020304" pitchFamily="18" charset="0"/>
                          <a:cs typeface="Times New Roman" panose="02020603050405020304" pitchFamily="18" charset="0"/>
                        </a:rPr>
                        <a:t>100.2</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56766012"/>
                  </a:ext>
                </a:extLst>
              </a:tr>
              <a:tr h="325755">
                <a:tc>
                  <a:txBody>
                    <a:bodyPr/>
                    <a:lstStyle/>
                    <a:p>
                      <a:r>
                        <a:rPr lang="en-US" b="0" dirty="0">
                          <a:latin typeface="Times New Roman" panose="02020603050405020304" pitchFamily="18" charset="0"/>
                          <a:cs typeface="Times New Roman" panose="02020603050405020304" pitchFamily="18" charset="0"/>
                        </a:rPr>
                        <a:t>3</a:t>
                      </a:r>
                      <a:endParaRPr lang="en-IN" b="0" dirty="0">
                        <a:latin typeface="Times New Roman" panose="02020603050405020304" pitchFamily="18" charset="0"/>
                        <a:cs typeface="Times New Roman" panose="02020603050405020304" pitchFamily="18" charset="0"/>
                      </a:endParaRPr>
                    </a:p>
                  </a:txBody>
                  <a:tcPr/>
                </a:tc>
                <a:tc>
                  <a:txBody>
                    <a:bodyPr/>
                    <a:lstStyle/>
                    <a:p>
                      <a:r>
                        <a:rPr lang="en-US" b="0" dirty="0">
                          <a:latin typeface="Times New Roman" panose="02020603050405020304" pitchFamily="18" charset="0"/>
                          <a:cs typeface="Times New Roman" panose="02020603050405020304" pitchFamily="18" charset="0"/>
                        </a:rPr>
                        <a:t>99.7</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8379055"/>
                  </a:ext>
                </a:extLst>
              </a:tr>
              <a:tr h="325755">
                <a:tc>
                  <a:txBody>
                    <a:bodyPr/>
                    <a:lstStyle/>
                    <a:p>
                      <a:r>
                        <a:rPr lang="en-US" b="0" dirty="0">
                          <a:latin typeface="Times New Roman" panose="02020603050405020304" pitchFamily="18" charset="0"/>
                          <a:cs typeface="Times New Roman" panose="02020603050405020304" pitchFamily="18" charset="0"/>
                        </a:rPr>
                        <a:t>4</a:t>
                      </a:r>
                      <a:endParaRPr lang="en-IN" b="0" dirty="0">
                        <a:latin typeface="Times New Roman" panose="02020603050405020304" pitchFamily="18" charset="0"/>
                        <a:cs typeface="Times New Roman" panose="02020603050405020304" pitchFamily="18" charset="0"/>
                      </a:endParaRPr>
                    </a:p>
                  </a:txBody>
                  <a:tcPr/>
                </a:tc>
                <a:tc>
                  <a:txBody>
                    <a:bodyPr/>
                    <a:lstStyle/>
                    <a:p>
                      <a:r>
                        <a:rPr lang="en-US" b="0" dirty="0">
                          <a:latin typeface="Times New Roman" panose="02020603050405020304" pitchFamily="18" charset="0"/>
                          <a:cs typeface="Times New Roman" panose="02020603050405020304" pitchFamily="18" charset="0"/>
                        </a:rPr>
                        <a:t>100.1</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38089625"/>
                  </a:ext>
                </a:extLst>
              </a:tr>
              <a:tr h="325755">
                <a:tc>
                  <a:txBody>
                    <a:bodyPr/>
                    <a:lstStyle/>
                    <a:p>
                      <a:r>
                        <a:rPr lang="en-US" b="0" dirty="0">
                          <a:latin typeface="Times New Roman" panose="02020603050405020304" pitchFamily="18" charset="0"/>
                          <a:cs typeface="Times New Roman" panose="02020603050405020304" pitchFamily="18" charset="0"/>
                        </a:rPr>
                        <a:t>5</a:t>
                      </a:r>
                      <a:endParaRPr lang="en-IN" b="0" dirty="0">
                        <a:latin typeface="Times New Roman" panose="02020603050405020304" pitchFamily="18" charset="0"/>
                        <a:cs typeface="Times New Roman" panose="02020603050405020304" pitchFamily="18" charset="0"/>
                      </a:endParaRPr>
                    </a:p>
                  </a:txBody>
                  <a:tcPr/>
                </a:tc>
                <a:tc>
                  <a:txBody>
                    <a:bodyPr/>
                    <a:lstStyle/>
                    <a:p>
                      <a:r>
                        <a:rPr lang="en-US" b="0" dirty="0">
                          <a:latin typeface="Times New Roman" panose="02020603050405020304" pitchFamily="18" charset="0"/>
                          <a:cs typeface="Times New Roman" panose="02020603050405020304" pitchFamily="18" charset="0"/>
                        </a:rPr>
                        <a:t>100</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21587803"/>
                  </a:ext>
                </a:extLst>
              </a:tr>
              <a:tr h="325755">
                <a:tc>
                  <a:txBody>
                    <a:bodyPr/>
                    <a:lstStyle/>
                    <a:p>
                      <a:r>
                        <a:rPr lang="en-US" b="0" dirty="0">
                          <a:latin typeface="Times New Roman" panose="02020603050405020304" pitchFamily="18" charset="0"/>
                          <a:cs typeface="Times New Roman" panose="02020603050405020304" pitchFamily="18" charset="0"/>
                        </a:rPr>
                        <a:t>6</a:t>
                      </a:r>
                      <a:endParaRPr lang="en-IN" b="0" dirty="0">
                        <a:latin typeface="Times New Roman" panose="02020603050405020304" pitchFamily="18" charset="0"/>
                        <a:cs typeface="Times New Roman" panose="02020603050405020304" pitchFamily="18" charset="0"/>
                      </a:endParaRPr>
                    </a:p>
                  </a:txBody>
                  <a:tcPr/>
                </a:tc>
                <a:tc>
                  <a:txBody>
                    <a:bodyPr/>
                    <a:lstStyle/>
                    <a:p>
                      <a:r>
                        <a:rPr lang="en-US" b="0" dirty="0">
                          <a:latin typeface="Times New Roman" panose="02020603050405020304" pitchFamily="18" charset="0"/>
                          <a:cs typeface="Times New Roman" panose="02020603050405020304" pitchFamily="18" charset="0"/>
                        </a:rPr>
                        <a:t>100.3</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5309798"/>
                  </a:ext>
                </a:extLst>
              </a:tr>
              <a:tr h="325755">
                <a:tc>
                  <a:txBody>
                    <a:bodyPr/>
                    <a:lstStyle/>
                    <a:p>
                      <a:r>
                        <a:rPr lang="en-US" b="0" dirty="0">
                          <a:latin typeface="Times New Roman" panose="02020603050405020304" pitchFamily="18" charset="0"/>
                          <a:cs typeface="Times New Roman" panose="02020603050405020304" pitchFamily="18" charset="0"/>
                        </a:rPr>
                        <a:t>7</a:t>
                      </a:r>
                      <a:endParaRPr lang="en-IN" b="0" dirty="0">
                        <a:latin typeface="Times New Roman" panose="02020603050405020304" pitchFamily="18" charset="0"/>
                        <a:cs typeface="Times New Roman" panose="02020603050405020304" pitchFamily="18" charset="0"/>
                      </a:endParaRPr>
                    </a:p>
                  </a:txBody>
                  <a:tcPr/>
                </a:tc>
                <a:tc>
                  <a:txBody>
                    <a:bodyPr/>
                    <a:lstStyle/>
                    <a:p>
                      <a:r>
                        <a:rPr lang="en-US" b="0" dirty="0">
                          <a:latin typeface="Times New Roman" panose="02020603050405020304" pitchFamily="18" charset="0"/>
                          <a:cs typeface="Times New Roman" panose="02020603050405020304" pitchFamily="18" charset="0"/>
                        </a:rPr>
                        <a:t>99.9</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86326019"/>
                  </a:ext>
                </a:extLst>
              </a:tr>
              <a:tr h="325755">
                <a:tc>
                  <a:txBody>
                    <a:bodyPr/>
                    <a:lstStyle/>
                    <a:p>
                      <a:r>
                        <a:rPr lang="en-US" b="0" dirty="0">
                          <a:latin typeface="Times New Roman" panose="02020603050405020304" pitchFamily="18" charset="0"/>
                          <a:cs typeface="Times New Roman" panose="02020603050405020304" pitchFamily="18" charset="0"/>
                        </a:rPr>
                        <a:t>8</a:t>
                      </a:r>
                      <a:endParaRPr lang="en-IN" b="0" dirty="0">
                        <a:latin typeface="Times New Roman" panose="02020603050405020304" pitchFamily="18" charset="0"/>
                        <a:cs typeface="Times New Roman" panose="02020603050405020304" pitchFamily="18" charset="0"/>
                      </a:endParaRPr>
                    </a:p>
                  </a:txBody>
                  <a:tcPr/>
                </a:tc>
                <a:tc>
                  <a:txBody>
                    <a:bodyPr/>
                    <a:lstStyle/>
                    <a:p>
                      <a:r>
                        <a:rPr lang="en-US" b="0" dirty="0">
                          <a:latin typeface="Times New Roman" panose="02020603050405020304" pitchFamily="18" charset="0"/>
                          <a:cs typeface="Times New Roman" panose="02020603050405020304" pitchFamily="18" charset="0"/>
                        </a:rPr>
                        <a:t>100.4</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82028837"/>
                  </a:ext>
                </a:extLst>
              </a:tr>
              <a:tr h="325755">
                <a:tc>
                  <a:txBody>
                    <a:bodyPr/>
                    <a:lstStyle/>
                    <a:p>
                      <a:r>
                        <a:rPr lang="en-US" b="0" dirty="0">
                          <a:latin typeface="Times New Roman" panose="02020603050405020304" pitchFamily="18" charset="0"/>
                          <a:cs typeface="Times New Roman" panose="02020603050405020304" pitchFamily="18" charset="0"/>
                        </a:rPr>
                        <a:t>9</a:t>
                      </a:r>
                      <a:endParaRPr lang="en-IN" b="0" dirty="0">
                        <a:latin typeface="Times New Roman" panose="02020603050405020304" pitchFamily="18" charset="0"/>
                        <a:cs typeface="Times New Roman" panose="02020603050405020304" pitchFamily="18" charset="0"/>
                      </a:endParaRPr>
                    </a:p>
                  </a:txBody>
                  <a:tcPr/>
                </a:tc>
                <a:tc>
                  <a:txBody>
                    <a:bodyPr/>
                    <a:lstStyle/>
                    <a:p>
                      <a:r>
                        <a:rPr lang="en-US" b="0" dirty="0">
                          <a:latin typeface="Times New Roman" panose="02020603050405020304" pitchFamily="18" charset="0"/>
                          <a:cs typeface="Times New Roman" panose="02020603050405020304" pitchFamily="18" charset="0"/>
                        </a:rPr>
                        <a:t>99.6</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88145955"/>
                  </a:ext>
                </a:extLst>
              </a:tr>
              <a:tr h="325755">
                <a:tc>
                  <a:txBody>
                    <a:bodyPr/>
                    <a:lstStyle/>
                    <a:p>
                      <a:r>
                        <a:rPr lang="en-US" b="0" dirty="0">
                          <a:latin typeface="Times New Roman" panose="02020603050405020304" pitchFamily="18" charset="0"/>
                          <a:cs typeface="Times New Roman" panose="02020603050405020304" pitchFamily="18" charset="0"/>
                        </a:rPr>
                        <a:t>10</a:t>
                      </a:r>
                      <a:endParaRPr lang="en-IN" b="0" dirty="0">
                        <a:latin typeface="Times New Roman" panose="02020603050405020304" pitchFamily="18" charset="0"/>
                        <a:cs typeface="Times New Roman" panose="02020603050405020304" pitchFamily="18" charset="0"/>
                      </a:endParaRPr>
                    </a:p>
                  </a:txBody>
                  <a:tcPr/>
                </a:tc>
                <a:tc>
                  <a:txBody>
                    <a:bodyPr/>
                    <a:lstStyle/>
                    <a:p>
                      <a:r>
                        <a:rPr lang="en-US" b="0" dirty="0">
                          <a:latin typeface="Times New Roman" panose="02020603050405020304" pitchFamily="18" charset="0"/>
                          <a:cs typeface="Times New Roman" panose="02020603050405020304" pitchFamily="18" charset="0"/>
                        </a:rPr>
                        <a:t>100</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10860995"/>
                  </a:ext>
                </a:extLst>
              </a:tr>
            </a:tbl>
          </a:graphicData>
        </a:graphic>
      </p:graphicFrame>
    </p:spTree>
    <p:extLst>
      <p:ext uri="{BB962C8B-B14F-4D97-AF65-F5344CB8AC3E}">
        <p14:creationId xmlns:p14="http://schemas.microsoft.com/office/powerpoint/2010/main" val="2978376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B74C8-AC2D-D6ED-9052-1B0CCF787D6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2C4EB66-E89B-5A8D-098F-F5DC75960597}"/>
              </a:ext>
            </a:extLst>
          </p:cNvPr>
          <p:cNvSpPr>
            <a:spLocks noGrp="1"/>
          </p:cNvSpPr>
          <p:nvPr>
            <p:ph idx="1"/>
          </p:nvPr>
        </p:nvSpPr>
        <p:spPr/>
        <p:txBody>
          <a:bodyPr>
            <a:normAutofit fontScale="92500" lnSpcReduction="20000"/>
          </a:bodyPr>
          <a:lstStyle/>
          <a:p>
            <a:r>
              <a:rPr lang="en-US" b="1" dirty="0">
                <a:solidFill>
                  <a:schemeClr val="tx1"/>
                </a:solidFill>
                <a:latin typeface="Times New Roman" panose="02020603050405020304" pitchFamily="18" charset="0"/>
                <a:cs typeface="Times New Roman" panose="02020603050405020304" pitchFamily="18" charset="0"/>
              </a:rPr>
              <a:t>Central Tendency Analysis</a:t>
            </a:r>
            <a:endParaRPr lang="en-US" dirty="0">
              <a:solidFill>
                <a:schemeClr val="tx1"/>
              </a:solidFill>
              <a:latin typeface="Times New Roman" panose="02020603050405020304" pitchFamily="18" charset="0"/>
              <a:cs typeface="Times New Roman" panose="02020603050405020304" pitchFamily="18" charset="0"/>
            </a:endParaRPr>
          </a:p>
          <a:p>
            <a:pPr lvl="1"/>
            <a:r>
              <a:rPr lang="en-US" dirty="0">
                <a:solidFill>
                  <a:schemeClr val="tx1"/>
                </a:solidFill>
                <a:latin typeface="Times New Roman" panose="02020603050405020304" pitchFamily="18" charset="0"/>
                <a:cs typeface="Times New Roman" panose="02020603050405020304" pitchFamily="18" charset="0"/>
              </a:rPr>
              <a:t>Compute the </a:t>
            </a:r>
            <a:r>
              <a:rPr lang="en-US" b="1" dirty="0">
                <a:solidFill>
                  <a:schemeClr val="tx1"/>
                </a:solidFill>
                <a:latin typeface="Times New Roman" panose="02020603050405020304" pitchFamily="18" charset="0"/>
                <a:cs typeface="Times New Roman" panose="02020603050405020304" pitchFamily="18" charset="0"/>
              </a:rPr>
              <a:t>Mean Length</a:t>
            </a:r>
            <a:r>
              <a:rPr lang="en-US" dirty="0">
                <a:solidFill>
                  <a:schemeClr val="tx1"/>
                </a:solidFill>
                <a:latin typeface="Times New Roman" panose="02020603050405020304" pitchFamily="18" charset="0"/>
                <a:cs typeface="Times New Roman" panose="02020603050405020304" pitchFamily="18" charset="0"/>
              </a:rPr>
              <a:t> of the sampled rods to determine the representative average length of the production batch.</a:t>
            </a:r>
          </a:p>
          <a:p>
            <a:r>
              <a:rPr lang="en-US" b="1" dirty="0">
                <a:solidFill>
                  <a:schemeClr val="tx1"/>
                </a:solidFill>
                <a:latin typeface="Times New Roman" panose="02020603050405020304" pitchFamily="18" charset="0"/>
                <a:cs typeface="Times New Roman" panose="02020603050405020304" pitchFamily="18" charset="0"/>
              </a:rPr>
              <a:t>Variation Analysis</a:t>
            </a:r>
            <a:endParaRPr lang="en-US" dirty="0">
              <a:solidFill>
                <a:schemeClr val="tx1"/>
              </a:solidFill>
              <a:latin typeface="Times New Roman" panose="02020603050405020304" pitchFamily="18" charset="0"/>
              <a:cs typeface="Times New Roman" panose="02020603050405020304" pitchFamily="18" charset="0"/>
            </a:endParaRPr>
          </a:p>
          <a:p>
            <a:pPr lvl="1"/>
            <a:r>
              <a:rPr lang="en-US" dirty="0">
                <a:solidFill>
                  <a:schemeClr val="tx1"/>
                </a:solidFill>
                <a:latin typeface="Times New Roman" panose="02020603050405020304" pitchFamily="18" charset="0"/>
                <a:cs typeface="Times New Roman" panose="02020603050405020304" pitchFamily="18" charset="0"/>
              </a:rPr>
              <a:t>Calculate the </a:t>
            </a:r>
            <a:r>
              <a:rPr lang="en-US" b="1" dirty="0">
                <a:solidFill>
                  <a:schemeClr val="tx1"/>
                </a:solidFill>
                <a:latin typeface="Times New Roman" panose="02020603050405020304" pitchFamily="18" charset="0"/>
                <a:cs typeface="Times New Roman" panose="02020603050405020304" pitchFamily="18" charset="0"/>
              </a:rPr>
              <a:t>Standard Deviation</a:t>
            </a:r>
            <a:r>
              <a:rPr lang="en-US" dirty="0">
                <a:solidFill>
                  <a:schemeClr val="tx1"/>
                </a:solidFill>
                <a:latin typeface="Times New Roman" panose="02020603050405020304" pitchFamily="18" charset="0"/>
                <a:cs typeface="Times New Roman" panose="02020603050405020304" pitchFamily="18" charset="0"/>
              </a:rPr>
              <a:t> of the rod lengths to assess the degree of variation and consistency in the manufacturing process.</a:t>
            </a:r>
          </a:p>
          <a:p>
            <a:r>
              <a:rPr lang="en-US" b="1" dirty="0">
                <a:solidFill>
                  <a:schemeClr val="tx1"/>
                </a:solidFill>
                <a:latin typeface="Times New Roman" panose="02020603050405020304" pitchFamily="18" charset="0"/>
                <a:cs typeface="Times New Roman" panose="02020603050405020304" pitchFamily="18" charset="0"/>
              </a:rPr>
              <a:t>Quality Control Interpretation</a:t>
            </a:r>
            <a:r>
              <a:rPr lang="en-US" dirty="0">
                <a:solidFill>
                  <a:schemeClr val="tx1"/>
                </a:solidFill>
                <a:latin typeface="Times New Roman" panose="02020603050405020304" pitchFamily="18" charset="0"/>
                <a:cs typeface="Times New Roman" panose="02020603050405020304" pitchFamily="18" charset="0"/>
              </a:rPr>
              <a:t> </a:t>
            </a:r>
            <a:r>
              <a:rPr lang="en-US" i="1" dirty="0">
                <a:solidFill>
                  <a:schemeClr val="tx1"/>
                </a:solidFill>
                <a:latin typeface="Times New Roman" panose="02020603050405020304" pitchFamily="18" charset="0"/>
                <a:cs typeface="Times New Roman" panose="02020603050405020304" pitchFamily="18" charset="0"/>
              </a:rPr>
              <a:t>(Optional, to deepen analysis)</a:t>
            </a:r>
            <a:endParaRPr lang="en-US" dirty="0">
              <a:solidFill>
                <a:schemeClr val="tx1"/>
              </a:solidFill>
              <a:latin typeface="Times New Roman" panose="02020603050405020304" pitchFamily="18" charset="0"/>
              <a:cs typeface="Times New Roman" panose="02020603050405020304" pitchFamily="18" charset="0"/>
            </a:endParaRPr>
          </a:p>
          <a:p>
            <a:pPr lvl="1"/>
            <a:r>
              <a:rPr lang="en-US" dirty="0">
                <a:solidFill>
                  <a:schemeClr val="tx1"/>
                </a:solidFill>
                <a:latin typeface="Times New Roman" panose="02020603050405020304" pitchFamily="18" charset="0"/>
                <a:cs typeface="Times New Roman" panose="02020603050405020304" pitchFamily="18" charset="0"/>
              </a:rPr>
              <a:t>Based on the calculated mean and standard deviation, evaluate whether the production process demonstrates </a:t>
            </a:r>
            <a:r>
              <a:rPr lang="en-US" b="1" dirty="0">
                <a:solidFill>
                  <a:schemeClr val="tx1"/>
                </a:solidFill>
                <a:latin typeface="Times New Roman" panose="02020603050405020304" pitchFamily="18" charset="0"/>
                <a:cs typeface="Times New Roman" panose="02020603050405020304" pitchFamily="18" charset="0"/>
              </a:rPr>
              <a:t>high precision and consistency</a:t>
            </a:r>
            <a:r>
              <a:rPr lang="en-US" dirty="0">
                <a:solidFill>
                  <a:schemeClr val="tx1"/>
                </a:solidFill>
                <a:latin typeface="Times New Roman" panose="02020603050405020304" pitchFamily="18" charset="0"/>
                <a:cs typeface="Times New Roman" panose="02020603050405020304" pitchFamily="18" charset="0"/>
              </a:rPr>
              <a:t> in meeting the required specifications.</a:t>
            </a:r>
          </a:p>
          <a:p>
            <a:endParaRPr lang="en-IN" dirty="0"/>
          </a:p>
        </p:txBody>
      </p:sp>
    </p:spTree>
    <p:extLst>
      <p:ext uri="{BB962C8B-B14F-4D97-AF65-F5344CB8AC3E}">
        <p14:creationId xmlns:p14="http://schemas.microsoft.com/office/powerpoint/2010/main" val="1669475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9F33B-DFB5-8CEC-AF54-63B8EEE1FF37}"/>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What does standard deviation tells us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FFD606-AF73-6559-84CF-78E0B2265AC5}"/>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Larger values indicate greater variability. </a:t>
            </a:r>
          </a:p>
          <a:p>
            <a:r>
              <a:rPr lang="en-US" dirty="0">
                <a:solidFill>
                  <a:schemeClr val="tx1"/>
                </a:solidFill>
                <a:latin typeface="Times New Roman" panose="02020603050405020304" pitchFamily="18" charset="0"/>
                <a:cs typeface="Times New Roman" panose="02020603050405020304" pitchFamily="18" charset="0"/>
              </a:rPr>
              <a:t>Smaller values indicate less variability. </a:t>
            </a:r>
          </a:p>
          <a:p>
            <a:r>
              <a:rPr lang="en-US" dirty="0">
                <a:solidFill>
                  <a:schemeClr val="tx1"/>
                </a:solidFill>
                <a:latin typeface="Times New Roman" panose="02020603050405020304" pitchFamily="18" charset="0"/>
                <a:cs typeface="Times New Roman" panose="02020603050405020304" pitchFamily="18" charset="0"/>
              </a:rPr>
              <a:t>A standard deviation of 0 would indicate no variability (i.e., that everyone scored at the mean)</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7790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44A0F-7B09-675E-D1AC-692B46505933}"/>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Calculate the mean, variance, and standard deviation for the given data set</a:t>
            </a:r>
            <a:endParaRPr lang="en-IN"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3042C9B0-9796-4A5B-EE6F-939AD34E0357}"/>
              </a:ext>
            </a:extLst>
          </p:cNvPr>
          <p:cNvPicPr>
            <a:picLocks noGrp="1" noChangeAspect="1"/>
          </p:cNvPicPr>
          <p:nvPr>
            <p:ph idx="1"/>
          </p:nvPr>
        </p:nvPicPr>
        <p:blipFill>
          <a:blip r:embed="rId2"/>
          <a:stretch>
            <a:fillRect/>
          </a:stretch>
        </p:blipFill>
        <p:spPr>
          <a:xfrm>
            <a:off x="4783809" y="2900714"/>
            <a:ext cx="5890095" cy="3317875"/>
          </a:xfrm>
        </p:spPr>
      </p:pic>
      <p:sp>
        <p:nvSpPr>
          <p:cNvPr id="6" name="TextBox 5">
            <a:extLst>
              <a:ext uri="{FF2B5EF4-FFF2-40B4-BE49-F238E27FC236}">
                <a16:creationId xmlns:a16="http://schemas.microsoft.com/office/drawing/2014/main" id="{1FEEAA9F-6734-4758-392F-80A948E67B47}"/>
              </a:ext>
            </a:extLst>
          </p:cNvPr>
          <p:cNvSpPr txBox="1"/>
          <p:nvPr/>
        </p:nvSpPr>
        <p:spPr>
          <a:xfrm>
            <a:off x="771646" y="2500604"/>
            <a:ext cx="5279009"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comment what does standard deviation tells us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4427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4B244-C0A3-FE02-3587-98C92C3A4F3F}"/>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calculate each dog's difference from the Mean</a:t>
            </a:r>
            <a:endParaRPr lang="en-IN"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AA6E030-5BE6-B47C-D6A3-AEFBC65BC8F6}"/>
              </a:ext>
            </a:extLst>
          </p:cNvPr>
          <p:cNvPicPr>
            <a:picLocks noGrp="1" noChangeAspect="1"/>
          </p:cNvPicPr>
          <p:nvPr>
            <p:ph idx="1"/>
          </p:nvPr>
        </p:nvPicPr>
        <p:blipFill>
          <a:blip r:embed="rId2"/>
          <a:stretch>
            <a:fillRect/>
          </a:stretch>
        </p:blipFill>
        <p:spPr>
          <a:xfrm>
            <a:off x="1295400" y="2859049"/>
            <a:ext cx="9601200" cy="2714702"/>
          </a:xfrm>
        </p:spPr>
      </p:pic>
    </p:spTree>
    <p:extLst>
      <p:ext uri="{BB962C8B-B14F-4D97-AF65-F5344CB8AC3E}">
        <p14:creationId xmlns:p14="http://schemas.microsoft.com/office/powerpoint/2010/main" val="924719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24269-571A-F2BB-F6A6-393BEA605B92}"/>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Measures of shapes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D84F545-593D-95A5-1A80-39B309000C76}"/>
              </a:ext>
            </a:extLst>
          </p:cNvPr>
          <p:cNvSpPr>
            <a:spLocks noGrp="1"/>
          </p:cNvSpPr>
          <p:nvPr>
            <p:ph idx="1"/>
          </p:nvPr>
        </p:nvSpPr>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Measure of shape are tools that can be used to describe the shape of the distribution of data</a:t>
            </a:r>
          </a:p>
          <a:p>
            <a:r>
              <a:rPr lang="en-US" sz="2200" dirty="0">
                <a:solidFill>
                  <a:schemeClr val="tx1"/>
                </a:solidFill>
                <a:latin typeface="Times New Roman" panose="02020603050405020304" pitchFamily="18" charset="0"/>
                <a:cs typeface="Times New Roman" panose="02020603050405020304" pitchFamily="18" charset="0"/>
              </a:rPr>
              <a:t>Skewness is when distribution is asymmetrical or lacks symmetry.</a:t>
            </a:r>
          </a:p>
          <a:p>
            <a:r>
              <a:rPr lang="en-IN" sz="2200" dirty="0">
                <a:solidFill>
                  <a:schemeClr val="tx1"/>
                </a:solidFill>
                <a:latin typeface="Times New Roman" panose="02020603050405020304" pitchFamily="18" charset="0"/>
                <a:ea typeface="+mj-ea"/>
                <a:cs typeface="+mj-cs"/>
              </a:rPr>
              <a:t>When we work with statistical problem, we must decide whether to use the mean, the median or the mode as a measure of central tendency. Symmetrical distributions that contain only one mode always have the same value for the mean, median and the mode. In that context, the choice is easy.</a:t>
            </a:r>
          </a:p>
          <a:p>
            <a:endParaRPr lang="en-US" sz="2200" dirty="0">
              <a:solidFill>
                <a:schemeClr val="tx1"/>
              </a:solidFill>
              <a:latin typeface="Times New Roman" panose="02020603050405020304" pitchFamily="18" charset="0"/>
              <a:cs typeface="Times New Roman" panose="02020603050405020304" pitchFamily="18" charset="0"/>
            </a:endParaRPr>
          </a:p>
          <a:p>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9952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0C4CDD4-A00D-96E6-22A2-792E7EDF18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4078" y="2487282"/>
            <a:ext cx="7993380" cy="3215640"/>
          </a:xfrm>
        </p:spPr>
      </p:pic>
      <p:sp>
        <p:nvSpPr>
          <p:cNvPr id="7" name="TextBox 6">
            <a:extLst>
              <a:ext uri="{FF2B5EF4-FFF2-40B4-BE49-F238E27FC236}">
                <a16:creationId xmlns:a16="http://schemas.microsoft.com/office/drawing/2014/main" id="{5A0EB94D-7C67-3D53-E3CC-14019A5053FA}"/>
              </a:ext>
            </a:extLst>
          </p:cNvPr>
          <p:cNvSpPr txBox="1"/>
          <p:nvPr/>
        </p:nvSpPr>
        <p:spPr>
          <a:xfrm>
            <a:off x="1110342" y="702178"/>
            <a:ext cx="4767943" cy="1785104"/>
          </a:xfrm>
          <a:prstGeom prst="rect">
            <a:avLst/>
          </a:prstGeom>
          <a:noFill/>
        </p:spPr>
        <p:txBody>
          <a:bodyPr wrap="square" rtlCol="0">
            <a:spAutoFit/>
          </a:bodyPr>
          <a:lstStyle/>
          <a:p>
            <a:r>
              <a:rPr lang="en-IN" sz="2200" dirty="0">
                <a:latin typeface="Times New Roman" panose="02020603050405020304" pitchFamily="18" charset="0"/>
                <a:ea typeface="+mj-ea"/>
                <a:cs typeface="+mj-cs"/>
              </a:rPr>
              <a:t>When the distributions are positively skewed or negatively skewed, the median is often the best measure of location because it is always  between the mean and the mode</a:t>
            </a:r>
            <a:endParaRPr lang="en-IN" sz="2200" dirty="0"/>
          </a:p>
        </p:txBody>
      </p:sp>
      <p:sp>
        <p:nvSpPr>
          <p:cNvPr id="8" name="TextBox 7">
            <a:extLst>
              <a:ext uri="{FF2B5EF4-FFF2-40B4-BE49-F238E27FC236}">
                <a16:creationId xmlns:a16="http://schemas.microsoft.com/office/drawing/2014/main" id="{7FA98B50-EBC6-FF99-97AD-B6F00FAD265C}"/>
              </a:ext>
            </a:extLst>
          </p:cNvPr>
          <p:cNvSpPr txBox="1"/>
          <p:nvPr/>
        </p:nvSpPr>
        <p:spPr>
          <a:xfrm>
            <a:off x="6428792" y="664129"/>
            <a:ext cx="4357396" cy="1785104"/>
          </a:xfrm>
          <a:prstGeom prst="rect">
            <a:avLst/>
          </a:prstGeom>
          <a:noFill/>
        </p:spPr>
        <p:txBody>
          <a:bodyPr wrap="square" rtlCol="0">
            <a:spAutoFit/>
          </a:bodyPr>
          <a:lstStyle/>
          <a:p>
            <a:r>
              <a:rPr lang="en-IN" sz="2200" dirty="0">
                <a:latin typeface="Times New Roman" panose="02020603050405020304" pitchFamily="18" charset="0"/>
                <a:ea typeface="+mj-ea"/>
                <a:cs typeface="+mj-cs"/>
              </a:rPr>
              <a:t>The median is not as highly influenced by the frequency of occurrence of a single value as is the mode nor it is affected by extreme values as is the mean.</a:t>
            </a:r>
            <a:endParaRPr lang="en-IN" sz="2200" dirty="0"/>
          </a:p>
        </p:txBody>
      </p:sp>
    </p:spTree>
    <p:extLst>
      <p:ext uri="{BB962C8B-B14F-4D97-AF65-F5344CB8AC3E}">
        <p14:creationId xmlns:p14="http://schemas.microsoft.com/office/powerpoint/2010/main" val="8562804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3D828-7E6D-7A43-C173-94DE31ACFDF8}"/>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Simple descriptive statistics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04260D6-E5D6-C857-A5C1-6BEBA9C3D068}"/>
              </a:ext>
            </a:extLst>
          </p:cNvPr>
          <p:cNvSpPr>
            <a:spLocks noGrp="1"/>
          </p:cNvSpPr>
          <p:nvPr>
            <p:ph idx="1"/>
          </p:nvPr>
        </p:nvSpPr>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Suppose you have monthly sales data as shown below</a:t>
            </a:r>
          </a:p>
          <a:p>
            <a:endParaRPr lang="en-US" sz="2200" dirty="0">
              <a:solidFill>
                <a:schemeClr val="tx1"/>
              </a:solidFill>
              <a:latin typeface="Times New Roman" panose="02020603050405020304" pitchFamily="18" charset="0"/>
              <a:cs typeface="Times New Roman" panose="02020603050405020304" pitchFamily="18" charset="0"/>
            </a:endParaRPr>
          </a:p>
          <a:p>
            <a:r>
              <a:rPr lang="en-US" sz="2200" dirty="0">
                <a:solidFill>
                  <a:schemeClr val="tx1"/>
                </a:solidFill>
                <a:latin typeface="Times New Roman" panose="02020603050405020304" pitchFamily="18" charset="0"/>
                <a:cs typeface="Times New Roman" panose="02020603050405020304" pitchFamily="18" charset="0"/>
              </a:rPr>
              <a:t>From the monthly sales data given </a:t>
            </a:r>
            <a:r>
              <a:rPr lang="en-US" sz="2200" b="1" dirty="0">
                <a:solidFill>
                  <a:schemeClr val="tx1"/>
                </a:solidFill>
                <a:latin typeface="Times New Roman" panose="02020603050405020304" pitchFamily="18" charset="0"/>
                <a:cs typeface="Times New Roman" panose="02020603050405020304" pitchFamily="18" charset="0"/>
              </a:rPr>
              <a:t>find </a:t>
            </a:r>
          </a:p>
          <a:p>
            <a:r>
              <a:rPr lang="en-US" sz="2200" b="1" dirty="0">
                <a:solidFill>
                  <a:schemeClr val="tx1"/>
                </a:solidFill>
                <a:latin typeface="Times New Roman" panose="02020603050405020304" pitchFamily="18" charset="0"/>
                <a:cs typeface="Times New Roman" panose="02020603050405020304" pitchFamily="18" charset="0"/>
              </a:rPr>
              <a:t>Count, Sum ,Min, Max, Average, variance and </a:t>
            </a:r>
          </a:p>
          <a:p>
            <a:r>
              <a:rPr lang="en-US" sz="2200" b="1" dirty="0">
                <a:solidFill>
                  <a:schemeClr val="tx1"/>
                </a:solidFill>
                <a:latin typeface="Times New Roman" panose="02020603050405020304" pitchFamily="18" charset="0"/>
                <a:cs typeface="Times New Roman" panose="02020603050405020304" pitchFamily="18" charset="0"/>
              </a:rPr>
              <a:t>standard deviation</a:t>
            </a:r>
          </a:p>
          <a:p>
            <a:endParaRPr lang="en-IN" sz="22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F74A8E5-FB9E-91CF-9286-B47320ED10E1}"/>
              </a:ext>
            </a:extLst>
          </p:cNvPr>
          <p:cNvPicPr>
            <a:picLocks noChangeAspect="1"/>
          </p:cNvPicPr>
          <p:nvPr/>
        </p:nvPicPr>
        <p:blipFill>
          <a:blip r:embed="rId2"/>
          <a:stretch>
            <a:fillRect/>
          </a:stretch>
        </p:blipFill>
        <p:spPr>
          <a:xfrm>
            <a:off x="7953565" y="2556932"/>
            <a:ext cx="2889343" cy="3763714"/>
          </a:xfrm>
          <a:prstGeom prst="rect">
            <a:avLst/>
          </a:prstGeom>
        </p:spPr>
      </p:pic>
      <p:sp>
        <p:nvSpPr>
          <p:cNvPr id="7" name="TextBox 6">
            <a:extLst>
              <a:ext uri="{FF2B5EF4-FFF2-40B4-BE49-F238E27FC236}">
                <a16:creationId xmlns:a16="http://schemas.microsoft.com/office/drawing/2014/main" id="{8F4FEFE1-C7B3-9F2B-CB75-3DEB03DA6EF1}"/>
              </a:ext>
            </a:extLst>
          </p:cNvPr>
          <p:cNvSpPr txBox="1"/>
          <p:nvPr/>
        </p:nvSpPr>
        <p:spPr>
          <a:xfrm>
            <a:off x="1295401" y="2874891"/>
            <a:ext cx="3507692" cy="430887"/>
          </a:xfrm>
          <a:prstGeom prst="rect">
            <a:avLst/>
          </a:prstGeom>
          <a:noFill/>
        </p:spPr>
        <p:txBody>
          <a:bodyPr wrap="none" rtlCol="0">
            <a:spAutoFit/>
          </a:bodyPr>
          <a:lstStyle/>
          <a:p>
            <a:r>
              <a:rPr lang="en-US" sz="2200" b="1" dirty="0">
                <a:latin typeface="Times New Roman" panose="02020603050405020304" pitchFamily="18" charset="0"/>
                <a:cs typeface="Times New Roman" panose="02020603050405020304" pitchFamily="18" charset="0"/>
              </a:rPr>
              <a:t>Simple descriptive statistics</a:t>
            </a:r>
            <a:endParaRPr lang="en-IN"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04940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606F2-D0A8-7584-BC31-A29883EA1216}"/>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Questions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1D868DA-D613-FBB0-AD9D-7120B364FEF9}"/>
              </a:ext>
            </a:extLst>
          </p:cNvPr>
          <p:cNvSpPr>
            <a:spLocks noGrp="1"/>
          </p:cNvSpPr>
          <p:nvPr>
            <p:ph idx="1"/>
          </p:nvPr>
        </p:nvSpPr>
        <p:spPr/>
        <p:txBody>
          <a:bodyPr>
            <a:normAutofit lnSpcReduction="10000"/>
          </a:bodyPr>
          <a:lstStyle/>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What is the total sales over 12 months?</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Is there any variability in monthly sales?</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Which is the most frequently occurring sales figure in the data?</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What is the variance of the data? What does variance indicate?</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Is this distribution symmetrical?</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Comment on the monthly sales  by comparing mean and standard deviation?</a:t>
            </a:r>
          </a:p>
          <a:p>
            <a:pPr marL="457200" indent="-457200">
              <a:buFont typeface="+mj-lt"/>
              <a:buAutoNum type="arabicPeriod"/>
            </a:pPr>
            <a:endParaRPr lang="en-IN" dirty="0"/>
          </a:p>
        </p:txBody>
      </p:sp>
    </p:spTree>
    <p:extLst>
      <p:ext uri="{BB962C8B-B14F-4D97-AF65-F5344CB8AC3E}">
        <p14:creationId xmlns:p14="http://schemas.microsoft.com/office/powerpoint/2010/main" val="39874229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BBD5B-6D1F-5D67-2BA2-3F017A9CF2F5}"/>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Z-score</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83D28E-05E1-4DAC-762C-5519196C37AC}"/>
              </a:ext>
            </a:extLst>
          </p:cNvPr>
          <p:cNvSpPr>
            <a:spLocks noGrp="1"/>
          </p:cNvSpPr>
          <p:nvPr>
            <p:ph idx="1"/>
          </p:nvPr>
        </p:nvSpPr>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The standard deviation describes an average amount that an entire distribution of scores deviates from the mean.</a:t>
            </a:r>
          </a:p>
          <a:p>
            <a:r>
              <a:rPr lang="en-US" sz="2200" dirty="0">
                <a:solidFill>
                  <a:schemeClr val="tx1"/>
                </a:solidFill>
                <a:latin typeface="Times New Roman" panose="02020603050405020304" pitchFamily="18" charset="0"/>
                <a:cs typeface="Times New Roman" panose="02020603050405020304" pitchFamily="18" charset="0"/>
              </a:rPr>
              <a:t>A </a:t>
            </a:r>
            <a:r>
              <a:rPr lang="en-US" sz="2200" b="1" dirty="0">
                <a:solidFill>
                  <a:schemeClr val="tx1"/>
                </a:solidFill>
                <a:latin typeface="Times New Roman" panose="02020603050405020304" pitchFamily="18" charset="0"/>
                <a:cs typeface="Times New Roman" panose="02020603050405020304" pitchFamily="18" charset="0"/>
              </a:rPr>
              <a:t>Z-Score</a:t>
            </a:r>
            <a:r>
              <a:rPr lang="en-US" sz="2200" dirty="0">
                <a:solidFill>
                  <a:schemeClr val="tx1"/>
                </a:solidFill>
                <a:latin typeface="Times New Roman" panose="02020603050405020304" pitchFamily="18" charset="0"/>
                <a:cs typeface="Times New Roman" panose="02020603050405020304" pitchFamily="18" charset="0"/>
              </a:rPr>
              <a:t> represents the number of standard deviation a value is above or below mean  of set of numbers when data is normally distributed</a:t>
            </a:r>
          </a:p>
          <a:p>
            <a:r>
              <a:rPr lang="en-US" sz="2200" dirty="0">
                <a:solidFill>
                  <a:schemeClr val="tx1"/>
                </a:solidFill>
                <a:latin typeface="Times New Roman" panose="02020603050405020304" pitchFamily="18" charset="0"/>
                <a:cs typeface="Times New Roman" panose="02020603050405020304" pitchFamily="18" charset="0"/>
              </a:rPr>
              <a:t>i.e. if Z-score is </a:t>
            </a:r>
            <a:r>
              <a:rPr lang="en-US" sz="2200" b="1" dirty="0">
                <a:solidFill>
                  <a:schemeClr val="tx1"/>
                </a:solidFill>
                <a:latin typeface="Times New Roman" panose="02020603050405020304" pitchFamily="18" charset="0"/>
                <a:cs typeface="Times New Roman" panose="02020603050405020304" pitchFamily="18" charset="0"/>
              </a:rPr>
              <a:t>negative</a:t>
            </a:r>
            <a:r>
              <a:rPr lang="en-US" sz="2200" dirty="0">
                <a:solidFill>
                  <a:schemeClr val="tx1"/>
                </a:solidFill>
                <a:latin typeface="Times New Roman" panose="02020603050405020304" pitchFamily="18" charset="0"/>
                <a:cs typeface="Times New Roman" panose="02020603050405020304" pitchFamily="18" charset="0"/>
              </a:rPr>
              <a:t>, the raw value (x) is </a:t>
            </a:r>
            <a:r>
              <a:rPr lang="en-US" sz="2200" b="1" dirty="0">
                <a:solidFill>
                  <a:schemeClr val="tx1"/>
                </a:solidFill>
                <a:latin typeface="Times New Roman" panose="02020603050405020304" pitchFamily="18" charset="0"/>
                <a:cs typeface="Times New Roman" panose="02020603050405020304" pitchFamily="18" charset="0"/>
              </a:rPr>
              <a:t>below mean.</a:t>
            </a:r>
          </a:p>
          <a:p>
            <a:r>
              <a:rPr lang="en-US" sz="2200" dirty="0">
                <a:solidFill>
                  <a:schemeClr val="tx1"/>
                </a:solidFill>
                <a:latin typeface="Times New Roman" panose="02020603050405020304" pitchFamily="18" charset="0"/>
                <a:cs typeface="Times New Roman" panose="02020603050405020304" pitchFamily="18" charset="0"/>
              </a:rPr>
              <a:t>If Z-score is </a:t>
            </a:r>
            <a:r>
              <a:rPr lang="en-US" sz="2200" b="1" dirty="0">
                <a:solidFill>
                  <a:schemeClr val="tx1"/>
                </a:solidFill>
                <a:latin typeface="Times New Roman" panose="02020603050405020304" pitchFamily="18" charset="0"/>
                <a:cs typeface="Times New Roman" panose="02020603050405020304" pitchFamily="18" charset="0"/>
              </a:rPr>
              <a:t>positive</a:t>
            </a:r>
            <a:r>
              <a:rPr lang="en-US" sz="2200" dirty="0">
                <a:solidFill>
                  <a:schemeClr val="tx1"/>
                </a:solidFill>
                <a:latin typeface="Times New Roman" panose="02020603050405020304" pitchFamily="18" charset="0"/>
                <a:cs typeface="Times New Roman" panose="02020603050405020304" pitchFamily="18" charset="0"/>
              </a:rPr>
              <a:t>, the raw value(x) is </a:t>
            </a:r>
            <a:r>
              <a:rPr lang="en-US" sz="2200" b="1" dirty="0">
                <a:solidFill>
                  <a:schemeClr val="tx1"/>
                </a:solidFill>
                <a:latin typeface="Times New Roman" panose="02020603050405020304" pitchFamily="18" charset="0"/>
                <a:cs typeface="Times New Roman" panose="02020603050405020304" pitchFamily="18" charset="0"/>
              </a:rPr>
              <a:t>above mean.</a:t>
            </a:r>
            <a:endParaRPr lang="en-IN" sz="2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5550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AE430-69BF-51DC-5C1A-07506860B347}"/>
              </a:ext>
            </a:extLst>
          </p:cNvPr>
          <p:cNvSpPr>
            <a:spLocks noGrp="1"/>
          </p:cNvSpPr>
          <p:nvPr>
            <p:ph type="title"/>
          </p:nvPr>
        </p:nvSpPr>
        <p:spPr/>
        <p:txBody>
          <a:bodyPr>
            <a:normAutofit/>
          </a:bodyPr>
          <a:lstStyle/>
          <a:p>
            <a:r>
              <a:rPr lang="en-US" sz="4800" b="1" dirty="0">
                <a:latin typeface="Times New Roman" panose="02020603050405020304" pitchFamily="18" charset="0"/>
                <a:cs typeface="Times New Roman" panose="02020603050405020304" pitchFamily="18" charset="0"/>
              </a:rPr>
              <a:t>Significance in data analytics</a:t>
            </a:r>
            <a:endParaRPr lang="en-IN" sz="4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2D83F6-52B7-7BAB-D3BE-8E4E674F7578}"/>
              </a:ext>
            </a:extLst>
          </p:cNvPr>
          <p:cNvSpPr>
            <a:spLocks noGrp="1"/>
          </p:cNvSpPr>
          <p:nvPr>
            <p:ph idx="1"/>
          </p:nvPr>
        </p:nvSpPr>
        <p:spPr/>
        <p:txBody>
          <a:bodyPr/>
          <a:lstStyle/>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Standardization of data</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Detecting outliers</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Understanding relative position</a:t>
            </a:r>
          </a:p>
          <a:p>
            <a:pPr marL="457200" indent="-4572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Probability &amp; Normal Distribution</a:t>
            </a:r>
          </a:p>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Feature Scaling in Machine Learning</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1918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D5A67-EBE8-C69A-52A4-28DB33A8E6D7}"/>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Z-score</a:t>
            </a:r>
            <a:endParaRPr lang="en-IN" dirty="0"/>
          </a:p>
        </p:txBody>
      </p:sp>
      <p:pic>
        <p:nvPicPr>
          <p:cNvPr id="5" name="Content Placeholder 4">
            <a:extLst>
              <a:ext uri="{FF2B5EF4-FFF2-40B4-BE49-F238E27FC236}">
                <a16:creationId xmlns:a16="http://schemas.microsoft.com/office/drawing/2014/main" id="{80D81A46-8587-189B-97D9-76B4CE2CF413}"/>
              </a:ext>
            </a:extLst>
          </p:cNvPr>
          <p:cNvPicPr>
            <a:picLocks noGrp="1" noChangeAspect="1"/>
          </p:cNvPicPr>
          <p:nvPr>
            <p:ph idx="1"/>
          </p:nvPr>
        </p:nvPicPr>
        <p:blipFill>
          <a:blip r:embed="rId2"/>
          <a:stretch>
            <a:fillRect/>
          </a:stretch>
        </p:blipFill>
        <p:spPr>
          <a:xfrm>
            <a:off x="2626398" y="2567721"/>
            <a:ext cx="6379368" cy="3317875"/>
          </a:xfrm>
        </p:spPr>
      </p:pic>
    </p:spTree>
    <p:extLst>
      <p:ext uri="{BB962C8B-B14F-4D97-AF65-F5344CB8AC3E}">
        <p14:creationId xmlns:p14="http://schemas.microsoft.com/office/powerpoint/2010/main" val="3514776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180EB-00DF-ED23-70BE-7E0602107200}"/>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Why standardize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16C9337-A729-E1BA-DBA6-DB3B8AE3B37B}"/>
              </a:ext>
            </a:extLst>
          </p:cNvPr>
          <p:cNvSpPr>
            <a:spLocks noGrp="1"/>
          </p:cNvSpPr>
          <p:nvPr>
            <p:ph idx="1"/>
          </p:nvPr>
        </p:nvSpPr>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It can help us make decisions about our data.</a:t>
            </a:r>
          </a:p>
          <a:p>
            <a:pPr algn="just"/>
            <a:r>
              <a:rPr lang="en-US" sz="2200" dirty="0">
                <a:solidFill>
                  <a:schemeClr val="tx1"/>
                </a:solidFill>
                <a:latin typeface="Times New Roman" panose="02020603050405020304" pitchFamily="18" charset="0"/>
                <a:cs typeface="Times New Roman" panose="02020603050405020304" pitchFamily="18" charset="0"/>
              </a:rPr>
              <a:t>Example: A professor is marking a test. Here are the students' results (out of 60 points): 20, 15, 26, 32, 18, 28, 35, 14, 26, 22, 17 Most students didn't even get 30 out of 60, and most will fail. The test must have been really hard, so the Prof decides to Standardize all the scores and only fail people more than 1 standard deviation below the mean.</a:t>
            </a:r>
          </a:p>
          <a:p>
            <a:pPr algn="just"/>
            <a:r>
              <a:rPr lang="en-US" sz="2200" dirty="0">
                <a:solidFill>
                  <a:schemeClr val="tx1"/>
                </a:solidFill>
                <a:latin typeface="Times New Roman" panose="02020603050405020304" pitchFamily="18" charset="0"/>
                <a:cs typeface="Times New Roman" panose="02020603050405020304" pitchFamily="18" charset="0"/>
              </a:rPr>
              <a:t>The Mean is 23, and the Standard Deviation is 6.6, and these are the Standard Scores:-0.45,-1.21, 0.45, 1.36, -0.76, 0.76, 1.82,-1.36, 0.45, -0.15, -0.91</a:t>
            </a:r>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6226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2BC3E-6194-FF01-7AEE-C889744A0925}"/>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Standardizing Normal distribution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A9DED9-267F-4F41-428B-19AC2C12CDEC}"/>
              </a:ext>
            </a:extLst>
          </p:cNvPr>
          <p:cNvSpPr>
            <a:spLocks noGrp="1"/>
          </p:cNvSpPr>
          <p:nvPr>
            <p:ph idx="1"/>
          </p:nvPr>
        </p:nvSpPr>
        <p:spPr>
          <a:xfrm>
            <a:off x="1295402" y="2407642"/>
            <a:ext cx="9601196" cy="3318936"/>
          </a:xfrm>
        </p:spPr>
        <p:txBody>
          <a:bodyPr>
            <a:normAutofit/>
          </a:bodyPr>
          <a:lstStyle/>
          <a:p>
            <a:r>
              <a:rPr lang="en-US" sz="2200" b="1" dirty="0">
                <a:solidFill>
                  <a:schemeClr val="tx1"/>
                </a:solidFill>
                <a:latin typeface="Times New Roman" panose="02020603050405020304" pitchFamily="18" charset="0"/>
                <a:cs typeface="Times New Roman" panose="02020603050405020304" pitchFamily="18" charset="0"/>
              </a:rPr>
              <a:t>Standardizing a normal distribution</a:t>
            </a:r>
            <a:r>
              <a:rPr lang="en-US" sz="2200" dirty="0">
                <a:solidFill>
                  <a:schemeClr val="tx1"/>
                </a:solidFill>
                <a:latin typeface="Times New Roman" panose="02020603050405020304" pitchFamily="18" charset="0"/>
                <a:cs typeface="Times New Roman" panose="02020603050405020304" pitchFamily="18" charset="0"/>
              </a:rPr>
              <a:t> is a process that involves converting a normal distribution into the standard normal distribution, which has a mean of 0 and a standard deviation of 1. This transformation allows us to compare different normal distributions and use standard normal distribution tables (z-tables) for various statistical purposes.</a:t>
            </a:r>
            <a:endParaRPr lang="en-IN" sz="22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60F9412-CF24-48BF-6770-2CA40CBA80F6}"/>
              </a:ext>
            </a:extLst>
          </p:cNvPr>
          <p:cNvPicPr>
            <a:picLocks noChangeAspect="1"/>
          </p:cNvPicPr>
          <p:nvPr/>
        </p:nvPicPr>
        <p:blipFill>
          <a:blip r:embed="rId2"/>
          <a:stretch>
            <a:fillRect/>
          </a:stretch>
        </p:blipFill>
        <p:spPr>
          <a:xfrm>
            <a:off x="1449744" y="4138851"/>
            <a:ext cx="9143222" cy="2802228"/>
          </a:xfrm>
          <a:prstGeom prst="rect">
            <a:avLst/>
          </a:prstGeom>
        </p:spPr>
      </p:pic>
    </p:spTree>
    <p:extLst>
      <p:ext uri="{BB962C8B-B14F-4D97-AF65-F5344CB8AC3E}">
        <p14:creationId xmlns:p14="http://schemas.microsoft.com/office/powerpoint/2010/main" val="25317940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E7CC9-1EC4-377F-1917-170FF226C40F}"/>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Z-score Formula</a:t>
            </a:r>
            <a:endParaRPr lang="en-IN" sz="40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06B4A9A1-C5B3-B8AC-7FFF-710FE4786697}"/>
              </a:ext>
            </a:extLst>
          </p:cNvPr>
          <p:cNvPicPr>
            <a:picLocks noGrp="1" noChangeAspect="1"/>
          </p:cNvPicPr>
          <p:nvPr>
            <p:ph idx="1"/>
          </p:nvPr>
        </p:nvPicPr>
        <p:blipFill>
          <a:blip r:embed="rId2"/>
          <a:stretch>
            <a:fillRect/>
          </a:stretch>
        </p:blipFill>
        <p:spPr>
          <a:xfrm>
            <a:off x="6299913" y="2486027"/>
            <a:ext cx="4705350" cy="2085975"/>
          </a:xfrm>
        </p:spPr>
      </p:pic>
      <p:sp>
        <p:nvSpPr>
          <p:cNvPr id="6" name="TextBox 5">
            <a:extLst>
              <a:ext uri="{FF2B5EF4-FFF2-40B4-BE49-F238E27FC236}">
                <a16:creationId xmlns:a16="http://schemas.microsoft.com/office/drawing/2014/main" id="{E505845E-6863-C89C-D790-B5FDA52FE657}"/>
              </a:ext>
            </a:extLst>
          </p:cNvPr>
          <p:cNvSpPr txBox="1"/>
          <p:nvPr/>
        </p:nvSpPr>
        <p:spPr>
          <a:xfrm>
            <a:off x="1295402" y="2862264"/>
            <a:ext cx="4041708" cy="2462213"/>
          </a:xfrm>
          <a:prstGeom prst="rect">
            <a:avLst/>
          </a:prstGeom>
          <a:noFill/>
        </p:spPr>
        <p:txBody>
          <a:bodyPr wrap="square" rtlCol="0">
            <a:spAutoFit/>
          </a:bodyPr>
          <a:lstStyle/>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Z is the "z-score" (Standard Score)          </a:t>
            </a: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X is the value to be standardized</a:t>
            </a: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μ('mu") is the mean</a:t>
            </a: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σ("sigma") is the standard deviation </a:t>
            </a:r>
          </a:p>
        </p:txBody>
      </p:sp>
    </p:spTree>
    <p:extLst>
      <p:ext uri="{BB962C8B-B14F-4D97-AF65-F5344CB8AC3E}">
        <p14:creationId xmlns:p14="http://schemas.microsoft.com/office/powerpoint/2010/main" val="30754786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5E6C9-16E5-E8FE-43A2-285A36940CC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1038F4F-CACE-F1C5-A261-D2B57B559266}"/>
              </a:ext>
            </a:extLst>
          </p:cNvPr>
          <p:cNvSpPr>
            <a:spLocks noGrp="1"/>
          </p:cNvSpPr>
          <p:nvPr>
            <p:ph idx="1"/>
          </p:nvPr>
        </p:nvSpPr>
        <p:spPr/>
        <p:txBody>
          <a:bodyPr>
            <a:normAutofit fontScale="92500" lnSpcReduction="10000"/>
          </a:bodyPr>
          <a:lstStyle/>
          <a:p>
            <a:r>
              <a:rPr lang="en-US" dirty="0">
                <a:solidFill>
                  <a:schemeClr val="tx1"/>
                </a:solidFill>
                <a:latin typeface="Times New Roman" panose="02020603050405020304" pitchFamily="18" charset="0"/>
                <a:cs typeface="Times New Roman" panose="02020603050405020304" pitchFamily="18" charset="0"/>
              </a:rPr>
              <a:t>A survey of daily travel time had these results (in minutes): 26, 33, 65, 28, 34, 55, 25, 44, 50, 36, 26, 37, 43, 62, 35, 38, 45, 32, 28, 34 The Mean is 38.8 minutes, and the Standard Deviation is 11.4 minutes Convert the values to z-scores ("standard scores").</a:t>
            </a:r>
          </a:p>
          <a:p>
            <a:r>
              <a:rPr lang="en-IN" dirty="0">
                <a:solidFill>
                  <a:schemeClr val="tx1"/>
                </a:solidFill>
                <a:latin typeface="Times New Roman" panose="02020603050405020304" pitchFamily="18" charset="0"/>
                <a:cs typeface="Times New Roman" panose="02020603050405020304" pitchFamily="18" charset="0"/>
              </a:rPr>
              <a:t>To convert 26:</a:t>
            </a:r>
          </a:p>
          <a:p>
            <a:r>
              <a:rPr lang="en-US" dirty="0">
                <a:solidFill>
                  <a:schemeClr val="tx1"/>
                </a:solidFill>
                <a:latin typeface="Times New Roman" panose="02020603050405020304" pitchFamily="18" charset="0"/>
                <a:cs typeface="Times New Roman" panose="02020603050405020304" pitchFamily="18" charset="0"/>
              </a:rPr>
              <a:t>first subtract the mean: 26 − 38.8 = −12.8</a:t>
            </a:r>
            <a:endParaRPr lang="en-IN"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then divide by the Standard Deviation: −12.8/11.4 =−1.12</a:t>
            </a:r>
          </a:p>
          <a:p>
            <a:r>
              <a:rPr lang="en-US" dirty="0">
                <a:solidFill>
                  <a:schemeClr val="tx1"/>
                </a:solidFill>
                <a:latin typeface="Times New Roman" panose="02020603050405020304" pitchFamily="18" charset="0"/>
                <a:cs typeface="Times New Roman" panose="02020603050405020304" pitchFamily="18" charset="0"/>
              </a:rPr>
              <a:t>So 26 is −1.12 Standard Deviations from the Mean </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77755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524AE-5332-F78D-ADF3-9E5434508EA2}"/>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BC7947C4-CE9C-4BA5-3514-F34DEC80A1B5}"/>
              </a:ext>
            </a:extLst>
          </p:cNvPr>
          <p:cNvPicPr>
            <a:picLocks noGrp="1" noChangeAspect="1"/>
          </p:cNvPicPr>
          <p:nvPr>
            <p:ph idx="1"/>
          </p:nvPr>
        </p:nvPicPr>
        <p:blipFill>
          <a:blip r:embed="rId2"/>
          <a:stretch>
            <a:fillRect/>
          </a:stretch>
        </p:blipFill>
        <p:spPr>
          <a:xfrm>
            <a:off x="1295402" y="2579849"/>
            <a:ext cx="6446678" cy="2110057"/>
          </a:xfrm>
        </p:spPr>
      </p:pic>
      <p:pic>
        <p:nvPicPr>
          <p:cNvPr id="7" name="Picture 6">
            <a:extLst>
              <a:ext uri="{FF2B5EF4-FFF2-40B4-BE49-F238E27FC236}">
                <a16:creationId xmlns:a16="http://schemas.microsoft.com/office/drawing/2014/main" id="{3803E5E7-5169-6D7E-F443-03398F91D723}"/>
              </a:ext>
            </a:extLst>
          </p:cNvPr>
          <p:cNvPicPr>
            <a:picLocks noChangeAspect="1"/>
          </p:cNvPicPr>
          <p:nvPr/>
        </p:nvPicPr>
        <p:blipFill>
          <a:blip r:embed="rId3"/>
          <a:stretch>
            <a:fillRect/>
          </a:stretch>
        </p:blipFill>
        <p:spPr>
          <a:xfrm>
            <a:off x="7539329" y="2627711"/>
            <a:ext cx="3683978" cy="2232057"/>
          </a:xfrm>
          <a:prstGeom prst="rect">
            <a:avLst/>
          </a:prstGeom>
        </p:spPr>
      </p:pic>
    </p:spTree>
    <p:extLst>
      <p:ext uri="{BB962C8B-B14F-4D97-AF65-F5344CB8AC3E}">
        <p14:creationId xmlns:p14="http://schemas.microsoft.com/office/powerpoint/2010/main" val="10466773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4E655-44FD-3FD7-7EC3-07F4F838994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05CCCA3-5375-CCFC-BECB-3B0B3CF2B88D}"/>
              </a:ext>
            </a:extLst>
          </p:cNvPr>
          <p:cNvSpPr>
            <a:spLocks noGrp="1"/>
          </p:cNvSpPr>
          <p:nvPr>
            <p:ph idx="1"/>
          </p:nvPr>
        </p:nvSpPr>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We can expect about 68% of values to be within plus-or-minus 1 standard deviation</a:t>
            </a:r>
            <a:endParaRPr lang="en-IN" sz="22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93C4C1A-1654-61DA-569C-A473D9724333}"/>
              </a:ext>
            </a:extLst>
          </p:cNvPr>
          <p:cNvPicPr>
            <a:picLocks noChangeAspect="1"/>
          </p:cNvPicPr>
          <p:nvPr/>
        </p:nvPicPr>
        <p:blipFill>
          <a:blip r:embed="rId2"/>
          <a:stretch>
            <a:fillRect/>
          </a:stretch>
        </p:blipFill>
        <p:spPr>
          <a:xfrm>
            <a:off x="3136349" y="2968593"/>
            <a:ext cx="5503798" cy="2748175"/>
          </a:xfrm>
          <a:prstGeom prst="rect">
            <a:avLst/>
          </a:prstGeom>
        </p:spPr>
      </p:pic>
    </p:spTree>
    <p:extLst>
      <p:ext uri="{BB962C8B-B14F-4D97-AF65-F5344CB8AC3E}">
        <p14:creationId xmlns:p14="http://schemas.microsoft.com/office/powerpoint/2010/main" val="10896356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E375F76-1FEB-5FF4-1959-1895D9B71EC1}"/>
              </a:ext>
            </a:extLst>
          </p:cNvPr>
          <p:cNvPicPr>
            <a:picLocks noGrp="1" noChangeAspect="1"/>
          </p:cNvPicPr>
          <p:nvPr>
            <p:ph idx="1"/>
          </p:nvPr>
        </p:nvPicPr>
        <p:blipFill>
          <a:blip r:embed="rId2"/>
          <a:stretch>
            <a:fillRect/>
          </a:stretch>
        </p:blipFill>
        <p:spPr>
          <a:xfrm>
            <a:off x="2770356" y="742486"/>
            <a:ext cx="6651288" cy="5373028"/>
          </a:xfrm>
        </p:spPr>
      </p:pic>
    </p:spTree>
    <p:extLst>
      <p:ext uri="{BB962C8B-B14F-4D97-AF65-F5344CB8AC3E}">
        <p14:creationId xmlns:p14="http://schemas.microsoft.com/office/powerpoint/2010/main" val="39050168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23E74-8D59-359F-51A8-2E140B118DE6}"/>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Numerical solved in the book</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284D92D-C5E2-AF5A-89D3-1F99689EBEB3}"/>
              </a:ext>
            </a:extLst>
          </p:cNvPr>
          <p:cNvSpPr>
            <a:spLocks noGrp="1"/>
          </p:cNvSpPr>
          <p:nvPr>
            <p:ph idx="1"/>
          </p:nvPr>
        </p:nvSpPr>
        <p:spPr/>
        <p:txBody>
          <a:bodyPr/>
          <a:lstStyle/>
          <a:p>
            <a:pPr marL="457200" indent="-457200">
              <a:buFont typeface="+mj-lt"/>
              <a:buAutoNum type="arabicPeriod"/>
            </a:pPr>
            <a:r>
              <a:rPr lang="en-US" dirty="0">
                <a:latin typeface="Times New Roman" panose="02020603050405020304" pitchFamily="18" charset="0"/>
                <a:cs typeface="Times New Roman" panose="02020603050405020304" pitchFamily="18" charset="0"/>
              </a:rPr>
              <a:t>For the dataset that is normally distributed with a mean of 50 a d standard deviation of 10, suppose a statistician wants to determine the z-score for a value of 70. What is the z-score and what does it signifies?</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According to the Human resource report , a worker in the industrial countries spends on average of 419 minutes a day on the job. Suppose the standard deviation of the time spend on the job is 27 minutes and worker spend 400 minutes on the job. What would that workers z-score be , and what it tells the researcher?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37232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75960-482A-920B-9E84-C6C6E68F09D4}"/>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Covariance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86F466-9B0B-F9C4-6FCF-AD367905665A}"/>
              </a:ext>
            </a:extLst>
          </p:cNvPr>
          <p:cNvSpPr>
            <a:spLocks noGrp="1"/>
          </p:cNvSpPr>
          <p:nvPr>
            <p:ph idx="1"/>
          </p:nvPr>
        </p:nvSpPr>
        <p:spPr/>
        <p:txBody>
          <a:bodyPr/>
          <a:lstStyle/>
          <a:p>
            <a:r>
              <a:rPr lang="en-US" sz="2200" dirty="0">
                <a:solidFill>
                  <a:schemeClr val="tx1"/>
                </a:solidFill>
                <a:latin typeface="Times New Roman" panose="02020603050405020304" pitchFamily="18" charset="0"/>
                <a:cs typeface="Times New Roman" panose="02020603050405020304" pitchFamily="18" charset="0"/>
              </a:rPr>
              <a:t>Describes how much two variables change together.</a:t>
            </a:r>
          </a:p>
          <a:p>
            <a:r>
              <a:rPr lang="en-US" sz="2200" dirty="0">
                <a:solidFill>
                  <a:schemeClr val="tx1"/>
                </a:solidFill>
                <a:latin typeface="Times New Roman" panose="02020603050405020304" pitchFamily="18" charset="0"/>
                <a:cs typeface="Times New Roman" panose="02020603050405020304" pitchFamily="18" charset="0"/>
              </a:rPr>
              <a:t>Covariance measures how much the movement in one variable predicts the movement in a corresponding variable.</a:t>
            </a:r>
          </a:p>
          <a:p>
            <a:r>
              <a:rPr lang="en-US" sz="2200" dirty="0">
                <a:solidFill>
                  <a:schemeClr val="tx1"/>
                </a:solidFill>
                <a:latin typeface="Times New Roman" panose="02020603050405020304" pitchFamily="18" charset="0"/>
                <a:cs typeface="Times New Roman" panose="02020603050405020304" pitchFamily="18" charset="0"/>
              </a:rPr>
              <a:t>It tells only about the direction . i.e. if one variable is increasing then other variable may increase or decrease.</a:t>
            </a:r>
          </a:p>
          <a:p>
            <a:endParaRPr lang="en-IN" dirty="0"/>
          </a:p>
        </p:txBody>
      </p:sp>
    </p:spTree>
    <p:extLst>
      <p:ext uri="{BB962C8B-B14F-4D97-AF65-F5344CB8AC3E}">
        <p14:creationId xmlns:p14="http://schemas.microsoft.com/office/powerpoint/2010/main" val="42308638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FEB4F-68CB-6B4F-9F89-D91116144143}"/>
              </a:ext>
            </a:extLst>
          </p:cNvPr>
          <p:cNvSpPr>
            <a:spLocks noGrp="1"/>
          </p:cNvSpPr>
          <p:nvPr>
            <p:ph type="title"/>
          </p:nvPr>
        </p:nvSpPr>
        <p:spPr>
          <a:xfrm>
            <a:off x="1295402" y="860836"/>
            <a:ext cx="9601196" cy="1303867"/>
          </a:xfrm>
        </p:spPr>
        <p:txBody>
          <a:bodyPr>
            <a:normAutofit/>
          </a:bodyPr>
          <a:lstStyle/>
          <a:p>
            <a:r>
              <a:rPr lang="en-US" sz="4000" b="1" dirty="0">
                <a:latin typeface="Times New Roman" panose="02020603050405020304" pitchFamily="18" charset="0"/>
                <a:cs typeface="Times New Roman" panose="02020603050405020304" pitchFamily="18" charset="0"/>
              </a:rPr>
              <a:t>Types of covariance</a:t>
            </a:r>
            <a:endParaRPr lang="en-IN" sz="40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23FCEEBF-B92F-3441-A07F-84A5116FA4DC}"/>
              </a:ext>
            </a:extLst>
          </p:cNvPr>
          <p:cNvGraphicFramePr>
            <a:graphicFrameLocks noGrp="1"/>
          </p:cNvGraphicFramePr>
          <p:nvPr>
            <p:ph idx="1"/>
            <p:extLst>
              <p:ext uri="{D42A27DB-BD31-4B8C-83A1-F6EECF244321}">
                <p14:modId xmlns:p14="http://schemas.microsoft.com/office/powerpoint/2010/main" val="1777373909"/>
              </p:ext>
            </p:extLst>
          </p:nvPr>
        </p:nvGraphicFramePr>
        <p:xfrm>
          <a:off x="1454022" y="2836946"/>
          <a:ext cx="2875383" cy="2602584"/>
        </p:xfrm>
        <a:graphic>
          <a:graphicData uri="http://schemas.openxmlformats.org/drawingml/2006/table">
            <a:tbl>
              <a:tblPr firstRow="1" bandRow="1">
                <a:tableStyleId>{5C22544A-7EE6-4342-B048-85BDC9FD1C3A}</a:tableStyleId>
              </a:tblPr>
              <a:tblGrid>
                <a:gridCol w="958461">
                  <a:extLst>
                    <a:ext uri="{9D8B030D-6E8A-4147-A177-3AD203B41FA5}">
                      <a16:colId xmlns:a16="http://schemas.microsoft.com/office/drawing/2014/main" val="632541705"/>
                    </a:ext>
                  </a:extLst>
                </a:gridCol>
                <a:gridCol w="958461">
                  <a:extLst>
                    <a:ext uri="{9D8B030D-6E8A-4147-A177-3AD203B41FA5}">
                      <a16:colId xmlns:a16="http://schemas.microsoft.com/office/drawing/2014/main" val="1421896828"/>
                    </a:ext>
                  </a:extLst>
                </a:gridCol>
                <a:gridCol w="958461">
                  <a:extLst>
                    <a:ext uri="{9D8B030D-6E8A-4147-A177-3AD203B41FA5}">
                      <a16:colId xmlns:a16="http://schemas.microsoft.com/office/drawing/2014/main" val="2863509707"/>
                    </a:ext>
                  </a:extLst>
                </a:gridCol>
              </a:tblGrid>
              <a:tr h="433764">
                <a:tc>
                  <a:txBody>
                    <a:bodyPr/>
                    <a:lstStyle/>
                    <a:p>
                      <a:r>
                        <a:rPr lang="en-US" dirty="0"/>
                        <a:t>Student</a:t>
                      </a:r>
                      <a:endParaRPr lang="en-IN" dirty="0"/>
                    </a:p>
                  </a:txBody>
                  <a:tcPr/>
                </a:tc>
                <a:tc>
                  <a:txBody>
                    <a:bodyPr/>
                    <a:lstStyle/>
                    <a:p>
                      <a:r>
                        <a:rPr lang="en-US" dirty="0"/>
                        <a:t>Hours</a:t>
                      </a:r>
                      <a:endParaRPr lang="en-IN" dirty="0"/>
                    </a:p>
                  </a:txBody>
                  <a:tcPr/>
                </a:tc>
                <a:tc>
                  <a:txBody>
                    <a:bodyPr/>
                    <a:lstStyle/>
                    <a:p>
                      <a:r>
                        <a:rPr lang="en-US" dirty="0"/>
                        <a:t>Marks</a:t>
                      </a:r>
                      <a:endParaRPr lang="en-IN" dirty="0"/>
                    </a:p>
                  </a:txBody>
                  <a:tcPr/>
                </a:tc>
                <a:extLst>
                  <a:ext uri="{0D108BD9-81ED-4DB2-BD59-A6C34878D82A}">
                    <a16:rowId xmlns:a16="http://schemas.microsoft.com/office/drawing/2014/main" val="1610591596"/>
                  </a:ext>
                </a:extLst>
              </a:tr>
              <a:tr h="433764">
                <a:tc>
                  <a:txBody>
                    <a:bodyPr/>
                    <a:lstStyle/>
                    <a:p>
                      <a:r>
                        <a:rPr lang="en-US" dirty="0">
                          <a:latin typeface="Times New Roman" panose="02020603050405020304" pitchFamily="18" charset="0"/>
                          <a:cs typeface="Times New Roman" panose="02020603050405020304" pitchFamily="18" charset="0"/>
                        </a:rPr>
                        <a:t>A</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60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91454689"/>
                  </a:ext>
                </a:extLst>
              </a:tr>
              <a:tr h="433764">
                <a:tc>
                  <a:txBody>
                    <a:bodyPr/>
                    <a:lstStyle/>
                    <a:p>
                      <a:r>
                        <a:rPr lang="en-US" dirty="0">
                          <a:latin typeface="Times New Roman" panose="02020603050405020304" pitchFamily="18" charset="0"/>
                          <a:cs typeface="Times New Roman" panose="02020603050405020304" pitchFamily="18" charset="0"/>
                        </a:rPr>
                        <a:t>B</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65</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56751029"/>
                  </a:ext>
                </a:extLst>
              </a:tr>
              <a:tr h="433764">
                <a:tc>
                  <a:txBody>
                    <a:bodyPr/>
                    <a:lstStyle/>
                    <a:p>
                      <a:r>
                        <a:rPr lang="en-US" dirty="0">
                          <a:latin typeface="Times New Roman" panose="02020603050405020304" pitchFamily="18" charset="0"/>
                          <a:cs typeface="Times New Roman" panose="02020603050405020304" pitchFamily="18" charset="0"/>
                        </a:rPr>
                        <a:t>C</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70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35537155"/>
                  </a:ext>
                </a:extLst>
              </a:tr>
              <a:tr h="433764">
                <a:tc>
                  <a:txBody>
                    <a:bodyPr/>
                    <a:lstStyle/>
                    <a:p>
                      <a:r>
                        <a:rPr lang="en-US" dirty="0">
                          <a:latin typeface="Times New Roman" panose="02020603050405020304" pitchFamily="18" charset="0"/>
                          <a:cs typeface="Times New Roman" panose="02020603050405020304" pitchFamily="18" charset="0"/>
                        </a:rPr>
                        <a:t>D</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8</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75</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6429506"/>
                  </a:ext>
                </a:extLst>
              </a:tr>
              <a:tr h="433764">
                <a:tc>
                  <a:txBody>
                    <a:bodyPr/>
                    <a:lstStyle/>
                    <a:p>
                      <a:r>
                        <a:rPr lang="en-US" dirty="0">
                          <a:latin typeface="Times New Roman" panose="02020603050405020304" pitchFamily="18" charset="0"/>
                          <a:cs typeface="Times New Roman" panose="02020603050405020304" pitchFamily="18" charset="0"/>
                        </a:rPr>
                        <a:t>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80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14259844"/>
                  </a:ext>
                </a:extLst>
              </a:tr>
            </a:tbl>
          </a:graphicData>
        </a:graphic>
      </p:graphicFrame>
      <p:sp>
        <p:nvSpPr>
          <p:cNvPr id="5" name="TextBox 4">
            <a:extLst>
              <a:ext uri="{FF2B5EF4-FFF2-40B4-BE49-F238E27FC236}">
                <a16:creationId xmlns:a16="http://schemas.microsoft.com/office/drawing/2014/main" id="{E26C260E-F464-D8E4-0BBB-B29816E47E68}"/>
              </a:ext>
            </a:extLst>
          </p:cNvPr>
          <p:cNvSpPr txBox="1"/>
          <p:nvPr/>
        </p:nvSpPr>
        <p:spPr>
          <a:xfrm>
            <a:off x="1454022" y="2437276"/>
            <a:ext cx="2362198"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Positive covariance</a:t>
            </a:r>
            <a:endParaRPr lang="en-IN"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42BDC9A-A002-B573-0DE1-96CBEFCCFF9C}"/>
              </a:ext>
            </a:extLst>
          </p:cNvPr>
          <p:cNvSpPr txBox="1"/>
          <p:nvPr/>
        </p:nvSpPr>
        <p:spPr>
          <a:xfrm>
            <a:off x="4851918" y="5394962"/>
            <a:ext cx="6455227" cy="70788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Both the variables move in the same direction. Here, the variables show similar </a:t>
            </a:r>
            <a:r>
              <a:rPr lang="en-US" sz="2000" b="1" dirty="0" err="1">
                <a:latin typeface="Times New Roman" panose="02020603050405020304" pitchFamily="18" charset="0"/>
                <a:cs typeface="Times New Roman" panose="02020603050405020304" pitchFamily="18" charset="0"/>
              </a:rPr>
              <a:t>behaviour</a:t>
            </a:r>
            <a:r>
              <a:rPr lang="en-US" sz="2000" b="1"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CB770BB-EA05-240F-ED54-6B946CCC5A89}"/>
              </a:ext>
            </a:extLst>
          </p:cNvPr>
          <p:cNvPicPr>
            <a:picLocks noChangeAspect="1"/>
          </p:cNvPicPr>
          <p:nvPr/>
        </p:nvPicPr>
        <p:blipFill>
          <a:blip r:embed="rId2"/>
          <a:stretch>
            <a:fillRect/>
          </a:stretch>
        </p:blipFill>
        <p:spPr>
          <a:xfrm>
            <a:off x="5687104" y="1976180"/>
            <a:ext cx="4361965" cy="3418782"/>
          </a:xfrm>
          <a:prstGeom prst="rect">
            <a:avLst/>
          </a:prstGeom>
        </p:spPr>
      </p:pic>
    </p:spTree>
    <p:extLst>
      <p:ext uri="{BB962C8B-B14F-4D97-AF65-F5344CB8AC3E}">
        <p14:creationId xmlns:p14="http://schemas.microsoft.com/office/powerpoint/2010/main" val="23896545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37493-2E1B-9866-9211-1720B6D8E933}"/>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Types of covariance</a:t>
            </a:r>
            <a:endParaRPr lang="en-IN" dirty="0"/>
          </a:p>
        </p:txBody>
      </p:sp>
      <p:graphicFrame>
        <p:nvGraphicFramePr>
          <p:cNvPr id="4" name="Content Placeholder 3">
            <a:extLst>
              <a:ext uri="{FF2B5EF4-FFF2-40B4-BE49-F238E27FC236}">
                <a16:creationId xmlns:a16="http://schemas.microsoft.com/office/drawing/2014/main" id="{D0A60EFB-A31C-EF81-EE68-E3A93452CEB3}"/>
              </a:ext>
            </a:extLst>
          </p:cNvPr>
          <p:cNvGraphicFramePr>
            <a:graphicFrameLocks noGrp="1"/>
          </p:cNvGraphicFramePr>
          <p:nvPr>
            <p:ph idx="1"/>
            <p:extLst>
              <p:ext uri="{D42A27DB-BD31-4B8C-83A1-F6EECF244321}">
                <p14:modId xmlns:p14="http://schemas.microsoft.com/office/powerpoint/2010/main" val="1695487271"/>
              </p:ext>
            </p:extLst>
          </p:nvPr>
        </p:nvGraphicFramePr>
        <p:xfrm>
          <a:off x="1295400" y="3080702"/>
          <a:ext cx="2819400" cy="2902025"/>
        </p:xfrm>
        <a:graphic>
          <a:graphicData uri="http://schemas.openxmlformats.org/drawingml/2006/table">
            <a:tbl>
              <a:tblPr firstRow="1" bandRow="1">
                <a:tableStyleId>{5C22544A-7EE6-4342-B048-85BDC9FD1C3A}</a:tableStyleId>
              </a:tblPr>
              <a:tblGrid>
                <a:gridCol w="1409700">
                  <a:extLst>
                    <a:ext uri="{9D8B030D-6E8A-4147-A177-3AD203B41FA5}">
                      <a16:colId xmlns:a16="http://schemas.microsoft.com/office/drawing/2014/main" val="865535750"/>
                    </a:ext>
                  </a:extLst>
                </a:gridCol>
                <a:gridCol w="1409700">
                  <a:extLst>
                    <a:ext uri="{9D8B030D-6E8A-4147-A177-3AD203B41FA5}">
                      <a16:colId xmlns:a16="http://schemas.microsoft.com/office/drawing/2014/main" val="3152967698"/>
                    </a:ext>
                  </a:extLst>
                </a:gridCol>
              </a:tblGrid>
              <a:tr h="0">
                <a:tc>
                  <a:txBody>
                    <a:bodyPr/>
                    <a:lstStyle/>
                    <a:p>
                      <a:r>
                        <a:rPr lang="en-US" dirty="0">
                          <a:latin typeface="Times New Roman" panose="02020603050405020304" pitchFamily="18" charset="0"/>
                          <a:cs typeface="Times New Roman" panose="02020603050405020304" pitchFamily="18" charset="0"/>
                        </a:rPr>
                        <a:t>Price($)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Quantity  Demanded</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60951187"/>
                  </a:ext>
                </a:extLst>
              </a:tr>
              <a:tr h="452389">
                <a:tc>
                  <a:txBody>
                    <a:bodyPr/>
                    <a:lstStyle/>
                    <a:p>
                      <a:r>
                        <a:rPr lang="en-US"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8921814"/>
                  </a:ext>
                </a:extLst>
              </a:tr>
              <a:tr h="452389">
                <a:tc>
                  <a:txBody>
                    <a:bodyPr/>
                    <a:lstStyle/>
                    <a:p>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180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5780686"/>
                  </a:ext>
                </a:extLst>
              </a:tr>
              <a:tr h="452389">
                <a:tc>
                  <a:txBody>
                    <a:bodyPr/>
                    <a:lstStyle/>
                    <a:p>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160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65444674"/>
                  </a:ext>
                </a:extLst>
              </a:tr>
              <a:tr h="452389">
                <a:tc>
                  <a:txBody>
                    <a:bodyPr/>
                    <a:lstStyle/>
                    <a:p>
                      <a:r>
                        <a:rPr lang="en-US" dirty="0">
                          <a:latin typeface="Times New Roman" panose="02020603050405020304" pitchFamily="18" charset="0"/>
                          <a:cs typeface="Times New Roman" panose="02020603050405020304" pitchFamily="18" charset="0"/>
                        </a:rPr>
                        <a:t>8</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140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5564163"/>
                  </a:ext>
                </a:extLst>
              </a:tr>
              <a:tr h="452389">
                <a:tc>
                  <a:txBody>
                    <a:bodyPr/>
                    <a:lstStyle/>
                    <a:p>
                      <a:r>
                        <a:rPr lang="en-US" dirty="0">
                          <a:latin typeface="Times New Roman" panose="02020603050405020304" pitchFamily="18" charset="0"/>
                          <a:cs typeface="Times New Roman" panose="02020603050405020304" pitchFamily="18" charset="0"/>
                        </a:rPr>
                        <a:t>9</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120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1036953"/>
                  </a:ext>
                </a:extLst>
              </a:tr>
            </a:tbl>
          </a:graphicData>
        </a:graphic>
      </p:graphicFrame>
      <p:sp>
        <p:nvSpPr>
          <p:cNvPr id="6" name="TextBox 5">
            <a:extLst>
              <a:ext uri="{FF2B5EF4-FFF2-40B4-BE49-F238E27FC236}">
                <a16:creationId xmlns:a16="http://schemas.microsoft.com/office/drawing/2014/main" id="{AE3BC476-DE94-8502-49C8-803AC53D095B}"/>
              </a:ext>
            </a:extLst>
          </p:cNvPr>
          <p:cNvSpPr txBox="1"/>
          <p:nvPr/>
        </p:nvSpPr>
        <p:spPr>
          <a:xfrm>
            <a:off x="1380930" y="2565919"/>
            <a:ext cx="2733870"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Negative Covariance</a:t>
            </a:r>
            <a:endParaRPr lang="en-IN"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C90CAE5-96B9-46A1-9527-E27A0F2F330D}"/>
              </a:ext>
            </a:extLst>
          </p:cNvPr>
          <p:cNvSpPr txBox="1"/>
          <p:nvPr/>
        </p:nvSpPr>
        <p:spPr>
          <a:xfrm>
            <a:off x="6279502" y="5589037"/>
            <a:ext cx="4357396" cy="70788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Both the variables move in opposite direction</a:t>
            </a:r>
            <a:endParaRPr lang="en-IN" sz="20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5927FF90-459E-413D-40A3-9BFB4660AF3A}"/>
              </a:ext>
            </a:extLst>
          </p:cNvPr>
          <p:cNvPicPr>
            <a:picLocks noChangeAspect="1"/>
          </p:cNvPicPr>
          <p:nvPr/>
        </p:nvPicPr>
        <p:blipFill>
          <a:blip r:embed="rId2"/>
          <a:stretch>
            <a:fillRect/>
          </a:stretch>
        </p:blipFill>
        <p:spPr>
          <a:xfrm>
            <a:off x="6310606" y="2157012"/>
            <a:ext cx="4083696" cy="3561012"/>
          </a:xfrm>
          <a:prstGeom prst="rect">
            <a:avLst/>
          </a:prstGeom>
        </p:spPr>
      </p:pic>
    </p:spTree>
    <p:extLst>
      <p:ext uri="{BB962C8B-B14F-4D97-AF65-F5344CB8AC3E}">
        <p14:creationId xmlns:p14="http://schemas.microsoft.com/office/powerpoint/2010/main" val="6107736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D2BBB-E0BB-1EA4-DF24-7B65D4BA39EB}"/>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Types of covariance</a:t>
            </a:r>
            <a:endParaRPr lang="en-IN" dirty="0"/>
          </a:p>
        </p:txBody>
      </p:sp>
      <p:graphicFrame>
        <p:nvGraphicFramePr>
          <p:cNvPr id="5" name="Content Placeholder 4">
            <a:extLst>
              <a:ext uri="{FF2B5EF4-FFF2-40B4-BE49-F238E27FC236}">
                <a16:creationId xmlns:a16="http://schemas.microsoft.com/office/drawing/2014/main" id="{A3355277-9E49-0FFD-A458-FCDDB7A8684D}"/>
              </a:ext>
            </a:extLst>
          </p:cNvPr>
          <p:cNvGraphicFramePr>
            <a:graphicFrameLocks noGrp="1"/>
          </p:cNvGraphicFramePr>
          <p:nvPr>
            <p:ph idx="1"/>
            <p:extLst>
              <p:ext uri="{D42A27DB-BD31-4B8C-83A1-F6EECF244321}">
                <p14:modId xmlns:p14="http://schemas.microsoft.com/office/powerpoint/2010/main" val="1998070834"/>
              </p:ext>
            </p:extLst>
          </p:nvPr>
        </p:nvGraphicFramePr>
        <p:xfrm>
          <a:off x="1295400" y="2557463"/>
          <a:ext cx="2306216" cy="2494280"/>
        </p:xfrm>
        <a:graphic>
          <a:graphicData uri="http://schemas.openxmlformats.org/drawingml/2006/table">
            <a:tbl>
              <a:tblPr firstRow="1" bandRow="1">
                <a:tableStyleId>{5C22544A-7EE6-4342-B048-85BDC9FD1C3A}</a:tableStyleId>
              </a:tblPr>
              <a:tblGrid>
                <a:gridCol w="1153108">
                  <a:extLst>
                    <a:ext uri="{9D8B030D-6E8A-4147-A177-3AD203B41FA5}">
                      <a16:colId xmlns:a16="http://schemas.microsoft.com/office/drawing/2014/main" val="1128889987"/>
                    </a:ext>
                  </a:extLst>
                </a:gridCol>
                <a:gridCol w="1153108">
                  <a:extLst>
                    <a:ext uri="{9D8B030D-6E8A-4147-A177-3AD203B41FA5}">
                      <a16:colId xmlns:a16="http://schemas.microsoft.com/office/drawing/2014/main" val="4153215697"/>
                    </a:ext>
                  </a:extLst>
                </a:gridCol>
              </a:tblGrid>
              <a:tr h="370840">
                <a:tc>
                  <a:txBody>
                    <a:bodyPr/>
                    <a:lstStyle/>
                    <a:p>
                      <a:r>
                        <a:rPr lang="en-US" sz="1800" b="1" kern="1200" dirty="0">
                          <a:solidFill>
                            <a:schemeClr val="lt1"/>
                          </a:solidFill>
                          <a:effectLst/>
                          <a:latin typeface="Times New Roman" panose="02020603050405020304" pitchFamily="18" charset="0"/>
                          <a:ea typeface="+mn-ea"/>
                          <a:cs typeface="Times New Roman" panose="02020603050405020304" pitchFamily="18" charset="0"/>
                        </a:rPr>
                        <a:t>T</a:t>
                      </a:r>
                      <a:r>
                        <a:rPr lang="en-IN" sz="1800" b="1" kern="1200" dirty="0">
                          <a:solidFill>
                            <a:schemeClr val="lt1"/>
                          </a:solidFill>
                          <a:effectLst/>
                          <a:latin typeface="Times New Roman" panose="02020603050405020304" pitchFamily="18" charset="0"/>
                          <a:ea typeface="+mn-ea"/>
                          <a:cs typeface="Times New Roman" panose="02020603050405020304" pitchFamily="18" charset="0"/>
                        </a:rPr>
                        <a:t>emp</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latin typeface="Times New Roman" panose="02020603050405020304" pitchFamily="18" charset="0"/>
                          <a:cs typeface="Times New Roman" panose="02020603050405020304" pitchFamily="18" charset="0"/>
                        </a:rPr>
                        <a:t>Ice cream sales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5102631"/>
                  </a:ext>
                </a:extLst>
              </a:tr>
              <a:tr h="370840">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30°F</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50 scoops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32212515"/>
                  </a:ext>
                </a:extLst>
              </a:tr>
              <a:tr h="370840">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25°F</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52 scoops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20931995"/>
                  </a:ext>
                </a:extLst>
              </a:tr>
              <a:tr h="370840">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20°F</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51 scoops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49204109"/>
                  </a:ext>
                </a:extLst>
              </a:tr>
              <a:tr h="370840">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15°F</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50 scoops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00671999"/>
                  </a:ext>
                </a:extLst>
              </a:tr>
              <a:tr h="370840">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10°F</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52 scoops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0930813"/>
                  </a:ext>
                </a:extLst>
              </a:tr>
            </a:tbl>
          </a:graphicData>
        </a:graphic>
      </p:graphicFrame>
      <p:pic>
        <p:nvPicPr>
          <p:cNvPr id="7" name="Picture 6">
            <a:extLst>
              <a:ext uri="{FF2B5EF4-FFF2-40B4-BE49-F238E27FC236}">
                <a16:creationId xmlns:a16="http://schemas.microsoft.com/office/drawing/2014/main" id="{0AC3C0C1-C2DF-EE45-3E8D-4ECED0E1A376}"/>
              </a:ext>
            </a:extLst>
          </p:cNvPr>
          <p:cNvPicPr>
            <a:picLocks noChangeAspect="1"/>
          </p:cNvPicPr>
          <p:nvPr/>
        </p:nvPicPr>
        <p:blipFill>
          <a:blip r:embed="rId2"/>
          <a:stretch>
            <a:fillRect/>
          </a:stretch>
        </p:blipFill>
        <p:spPr>
          <a:xfrm>
            <a:off x="5332057" y="1967390"/>
            <a:ext cx="3923912" cy="3506475"/>
          </a:xfrm>
          <a:prstGeom prst="rect">
            <a:avLst/>
          </a:prstGeom>
        </p:spPr>
      </p:pic>
      <p:sp>
        <p:nvSpPr>
          <p:cNvPr id="8" name="TextBox 7">
            <a:extLst>
              <a:ext uri="{FF2B5EF4-FFF2-40B4-BE49-F238E27FC236}">
                <a16:creationId xmlns:a16="http://schemas.microsoft.com/office/drawing/2014/main" id="{42441699-D682-D1A2-D647-A95410A30941}"/>
              </a:ext>
            </a:extLst>
          </p:cNvPr>
          <p:cNvSpPr txBox="1"/>
          <p:nvPr/>
        </p:nvSpPr>
        <p:spPr>
          <a:xfrm>
            <a:off x="4758612" y="5552702"/>
            <a:ext cx="6214188" cy="646331"/>
          </a:xfrm>
          <a:prstGeom prst="rect">
            <a:avLst/>
          </a:prstGeom>
          <a:noFill/>
        </p:spPr>
        <p:txBody>
          <a:bodyPr wrap="square" rtlCol="0">
            <a:spAutoFit/>
          </a:bodyPr>
          <a:lstStyle/>
          <a:p>
            <a:r>
              <a:rPr lang="en-IN" sz="1800" b="1" dirty="0">
                <a:effectLst/>
                <a:latin typeface="Times New Roman" panose="02020603050405020304" pitchFamily="18" charset="0"/>
                <a:ea typeface="Calibri" panose="020F0502020204030204" pitchFamily="34" charset="0"/>
              </a:rPr>
              <a:t>Zero (No) Covariance:</a:t>
            </a:r>
            <a:r>
              <a:rPr lang="en-IN" b="1" dirty="0">
                <a:latin typeface="Times New Roman" panose="02020603050405020304" pitchFamily="18" charset="0"/>
                <a:ea typeface="Calibri" panose="020F0502020204030204" pitchFamily="34" charset="0"/>
              </a:rPr>
              <a:t> </a:t>
            </a:r>
            <a:r>
              <a:rPr lang="en-IN" dirty="0">
                <a:latin typeface="Times New Roman" panose="02020603050405020304" pitchFamily="18" charset="0"/>
                <a:ea typeface="Calibri" panose="020F0502020204030204" pitchFamily="34" charset="0"/>
              </a:rPr>
              <a:t>N</a:t>
            </a:r>
            <a:r>
              <a:rPr lang="en-IN" sz="1800" dirty="0">
                <a:effectLst/>
                <a:latin typeface="Times New Roman" panose="02020603050405020304" pitchFamily="18" charset="0"/>
                <a:ea typeface="Calibri" panose="020F0502020204030204" pitchFamily="34" charset="0"/>
              </a:rPr>
              <a:t>o</a:t>
            </a:r>
            <a:r>
              <a:rPr lang="en-IN" sz="1800" b="1" dirty="0">
                <a:effectLst/>
                <a:latin typeface="Times New Roman" panose="02020603050405020304" pitchFamily="18" charset="0"/>
                <a:ea typeface="Calibri" panose="020F0502020204030204" pitchFamily="34" charset="0"/>
              </a:rPr>
              <a:t> </a:t>
            </a:r>
            <a:r>
              <a:rPr lang="en-IN" sz="1800" dirty="0">
                <a:effectLst/>
                <a:latin typeface="Times New Roman" panose="02020603050405020304" pitchFamily="18" charset="0"/>
                <a:ea typeface="Calibri" panose="020F0502020204030204" pitchFamily="34" charset="0"/>
              </a:rPr>
              <a:t>clear relationship between the temperature and ice cream sales</a:t>
            </a:r>
            <a:endParaRPr lang="en-IN" dirty="0"/>
          </a:p>
        </p:txBody>
      </p:sp>
    </p:spTree>
    <p:extLst>
      <p:ext uri="{BB962C8B-B14F-4D97-AF65-F5344CB8AC3E}">
        <p14:creationId xmlns:p14="http://schemas.microsoft.com/office/powerpoint/2010/main" val="37721919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B3E00-402A-3EAD-4748-2FE71B131551}"/>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Example</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C41CA28-E6A8-2D52-EBAF-967A7D82A348}"/>
              </a:ext>
            </a:extLst>
          </p:cNvPr>
          <p:cNvSpPr>
            <a:spLocks noGrp="1"/>
          </p:cNvSpPr>
          <p:nvPr>
            <p:ph idx="1"/>
          </p:nvPr>
        </p:nvSpPr>
        <p:spPr>
          <a:xfrm>
            <a:off x="1034144" y="1950442"/>
            <a:ext cx="9601196" cy="3318936"/>
          </a:xfrm>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Example: Investigate relationship between cigarette smoking and lung capacity</a:t>
            </a:r>
            <a:endParaRPr lang="en-IN" sz="2200"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61FBAD0B-5E26-5FDC-620C-E91EBC3234D3}"/>
              </a:ext>
            </a:extLst>
          </p:cNvPr>
          <p:cNvGraphicFramePr>
            <a:graphicFrameLocks noGrp="1"/>
          </p:cNvGraphicFramePr>
          <p:nvPr>
            <p:extLst>
              <p:ext uri="{D42A27DB-BD31-4B8C-83A1-F6EECF244321}">
                <p14:modId xmlns:p14="http://schemas.microsoft.com/office/powerpoint/2010/main" val="3263294737"/>
              </p:ext>
            </p:extLst>
          </p:nvPr>
        </p:nvGraphicFramePr>
        <p:xfrm>
          <a:off x="1378854" y="3023117"/>
          <a:ext cx="3081179" cy="2743200"/>
        </p:xfrm>
        <a:graphic>
          <a:graphicData uri="http://schemas.openxmlformats.org/drawingml/2006/table">
            <a:tbl>
              <a:tblPr firstRow="1" bandRow="1">
                <a:tableStyleId>{5C22544A-7EE6-4342-B048-85BDC9FD1C3A}</a:tableStyleId>
              </a:tblPr>
              <a:tblGrid>
                <a:gridCol w="416694">
                  <a:extLst>
                    <a:ext uri="{9D8B030D-6E8A-4147-A177-3AD203B41FA5}">
                      <a16:colId xmlns:a16="http://schemas.microsoft.com/office/drawing/2014/main" val="1272900598"/>
                    </a:ext>
                  </a:extLst>
                </a:gridCol>
                <a:gridCol w="1201892">
                  <a:extLst>
                    <a:ext uri="{9D8B030D-6E8A-4147-A177-3AD203B41FA5}">
                      <a16:colId xmlns:a16="http://schemas.microsoft.com/office/drawing/2014/main" val="534941141"/>
                    </a:ext>
                  </a:extLst>
                </a:gridCol>
                <a:gridCol w="1462593">
                  <a:extLst>
                    <a:ext uri="{9D8B030D-6E8A-4147-A177-3AD203B41FA5}">
                      <a16:colId xmlns:a16="http://schemas.microsoft.com/office/drawing/2014/main" val="2790353131"/>
                    </a:ext>
                  </a:extLst>
                </a:gridCol>
              </a:tblGrid>
              <a:tr h="905267">
                <a:tc>
                  <a:txBody>
                    <a:bodyPr/>
                    <a:lstStyle/>
                    <a:p>
                      <a:r>
                        <a:rPr lang="en-US" dirty="0"/>
                        <a:t>N</a:t>
                      </a:r>
                      <a:endParaRPr lang="en-IN" dirty="0"/>
                    </a:p>
                  </a:txBody>
                  <a:tcPr/>
                </a:tc>
                <a:tc>
                  <a:txBody>
                    <a:bodyPr/>
                    <a:lstStyle/>
                    <a:p>
                      <a:r>
                        <a:rPr lang="en-US" dirty="0"/>
                        <a:t>Cigarettes</a:t>
                      </a:r>
                      <a:endParaRPr lang="en-IN" dirty="0"/>
                    </a:p>
                  </a:txBody>
                  <a:tcPr/>
                </a:tc>
                <a:tc>
                  <a:txBody>
                    <a:bodyPr/>
                    <a:lstStyle/>
                    <a:p>
                      <a:r>
                        <a:rPr lang="en-IN" dirty="0"/>
                        <a:t>Lung Capacity (Y )</a:t>
                      </a:r>
                    </a:p>
                  </a:txBody>
                  <a:tcPr/>
                </a:tc>
                <a:extLst>
                  <a:ext uri="{0D108BD9-81ED-4DB2-BD59-A6C34878D82A}">
                    <a16:rowId xmlns:a16="http://schemas.microsoft.com/office/drawing/2014/main" val="3119130642"/>
                  </a:ext>
                </a:extLst>
              </a:tr>
              <a:tr h="365721">
                <a:tc>
                  <a:txBody>
                    <a:bodyPr/>
                    <a:lstStyle/>
                    <a:p>
                      <a:r>
                        <a:rPr lang="en-US" dirty="0"/>
                        <a:t>1</a:t>
                      </a:r>
                      <a:endParaRPr lang="en-IN" dirty="0"/>
                    </a:p>
                  </a:txBody>
                  <a:tcPr/>
                </a:tc>
                <a:tc>
                  <a:txBody>
                    <a:bodyPr/>
                    <a:lstStyle/>
                    <a:p>
                      <a:r>
                        <a:rPr lang="en-US" dirty="0"/>
                        <a:t>0</a:t>
                      </a:r>
                      <a:endParaRPr lang="en-IN" dirty="0"/>
                    </a:p>
                  </a:txBody>
                  <a:tcPr/>
                </a:tc>
                <a:tc>
                  <a:txBody>
                    <a:bodyPr/>
                    <a:lstStyle/>
                    <a:p>
                      <a:r>
                        <a:rPr lang="en-US" dirty="0"/>
                        <a:t>45</a:t>
                      </a:r>
                      <a:endParaRPr lang="en-IN" dirty="0"/>
                    </a:p>
                  </a:txBody>
                  <a:tcPr/>
                </a:tc>
                <a:extLst>
                  <a:ext uri="{0D108BD9-81ED-4DB2-BD59-A6C34878D82A}">
                    <a16:rowId xmlns:a16="http://schemas.microsoft.com/office/drawing/2014/main" val="674581844"/>
                  </a:ext>
                </a:extLst>
              </a:tr>
              <a:tr h="365721">
                <a:tc>
                  <a:txBody>
                    <a:bodyPr/>
                    <a:lstStyle/>
                    <a:p>
                      <a:r>
                        <a:rPr lang="en-US" dirty="0"/>
                        <a:t>2</a:t>
                      </a:r>
                      <a:endParaRPr lang="en-IN" dirty="0"/>
                    </a:p>
                  </a:txBody>
                  <a:tcPr/>
                </a:tc>
                <a:tc>
                  <a:txBody>
                    <a:bodyPr/>
                    <a:lstStyle/>
                    <a:p>
                      <a:r>
                        <a:rPr lang="en-US" dirty="0"/>
                        <a:t>5</a:t>
                      </a:r>
                      <a:endParaRPr lang="en-IN" dirty="0"/>
                    </a:p>
                  </a:txBody>
                  <a:tcPr/>
                </a:tc>
                <a:tc>
                  <a:txBody>
                    <a:bodyPr/>
                    <a:lstStyle/>
                    <a:p>
                      <a:r>
                        <a:rPr lang="en-US" dirty="0"/>
                        <a:t>42</a:t>
                      </a:r>
                      <a:endParaRPr lang="en-IN" dirty="0"/>
                    </a:p>
                  </a:txBody>
                  <a:tcPr/>
                </a:tc>
                <a:extLst>
                  <a:ext uri="{0D108BD9-81ED-4DB2-BD59-A6C34878D82A}">
                    <a16:rowId xmlns:a16="http://schemas.microsoft.com/office/drawing/2014/main" val="1100008378"/>
                  </a:ext>
                </a:extLst>
              </a:tr>
              <a:tr h="365721">
                <a:tc>
                  <a:txBody>
                    <a:bodyPr/>
                    <a:lstStyle/>
                    <a:p>
                      <a:r>
                        <a:rPr lang="en-US" dirty="0"/>
                        <a:t>3</a:t>
                      </a:r>
                      <a:endParaRPr lang="en-IN" dirty="0"/>
                    </a:p>
                  </a:txBody>
                  <a:tcPr/>
                </a:tc>
                <a:tc>
                  <a:txBody>
                    <a:bodyPr/>
                    <a:lstStyle/>
                    <a:p>
                      <a:r>
                        <a:rPr lang="en-US" dirty="0"/>
                        <a:t>10</a:t>
                      </a:r>
                      <a:endParaRPr lang="en-IN" dirty="0"/>
                    </a:p>
                  </a:txBody>
                  <a:tcPr/>
                </a:tc>
                <a:tc>
                  <a:txBody>
                    <a:bodyPr/>
                    <a:lstStyle/>
                    <a:p>
                      <a:r>
                        <a:rPr lang="en-US" dirty="0"/>
                        <a:t>33</a:t>
                      </a:r>
                      <a:endParaRPr lang="en-IN" dirty="0"/>
                    </a:p>
                  </a:txBody>
                  <a:tcPr/>
                </a:tc>
                <a:extLst>
                  <a:ext uri="{0D108BD9-81ED-4DB2-BD59-A6C34878D82A}">
                    <a16:rowId xmlns:a16="http://schemas.microsoft.com/office/drawing/2014/main" val="1558736900"/>
                  </a:ext>
                </a:extLst>
              </a:tr>
              <a:tr h="365721">
                <a:tc>
                  <a:txBody>
                    <a:bodyPr/>
                    <a:lstStyle/>
                    <a:p>
                      <a:r>
                        <a:rPr lang="en-US" dirty="0"/>
                        <a:t>4</a:t>
                      </a:r>
                      <a:endParaRPr lang="en-IN" dirty="0"/>
                    </a:p>
                  </a:txBody>
                  <a:tcPr/>
                </a:tc>
                <a:tc>
                  <a:txBody>
                    <a:bodyPr/>
                    <a:lstStyle/>
                    <a:p>
                      <a:r>
                        <a:rPr lang="en-US" dirty="0"/>
                        <a:t>15</a:t>
                      </a:r>
                      <a:endParaRPr lang="en-IN" dirty="0"/>
                    </a:p>
                  </a:txBody>
                  <a:tcPr/>
                </a:tc>
                <a:tc>
                  <a:txBody>
                    <a:bodyPr/>
                    <a:lstStyle/>
                    <a:p>
                      <a:r>
                        <a:rPr lang="en-US" dirty="0"/>
                        <a:t>31</a:t>
                      </a:r>
                      <a:endParaRPr lang="en-IN" dirty="0"/>
                    </a:p>
                  </a:txBody>
                  <a:tcPr/>
                </a:tc>
                <a:extLst>
                  <a:ext uri="{0D108BD9-81ED-4DB2-BD59-A6C34878D82A}">
                    <a16:rowId xmlns:a16="http://schemas.microsoft.com/office/drawing/2014/main" val="255362137"/>
                  </a:ext>
                </a:extLst>
              </a:tr>
              <a:tr h="365721">
                <a:tc>
                  <a:txBody>
                    <a:bodyPr/>
                    <a:lstStyle/>
                    <a:p>
                      <a:r>
                        <a:rPr lang="en-US" dirty="0"/>
                        <a:t>5</a:t>
                      </a:r>
                      <a:endParaRPr lang="en-IN" dirty="0"/>
                    </a:p>
                  </a:txBody>
                  <a:tcPr/>
                </a:tc>
                <a:tc>
                  <a:txBody>
                    <a:bodyPr/>
                    <a:lstStyle/>
                    <a:p>
                      <a:r>
                        <a:rPr lang="en-US" dirty="0"/>
                        <a:t>20</a:t>
                      </a:r>
                      <a:endParaRPr lang="en-IN" dirty="0"/>
                    </a:p>
                  </a:txBody>
                  <a:tcPr/>
                </a:tc>
                <a:tc>
                  <a:txBody>
                    <a:bodyPr/>
                    <a:lstStyle/>
                    <a:p>
                      <a:r>
                        <a:rPr lang="en-US" dirty="0"/>
                        <a:t>29</a:t>
                      </a:r>
                      <a:endParaRPr lang="en-IN" dirty="0"/>
                    </a:p>
                  </a:txBody>
                  <a:tcPr/>
                </a:tc>
                <a:extLst>
                  <a:ext uri="{0D108BD9-81ED-4DB2-BD59-A6C34878D82A}">
                    <a16:rowId xmlns:a16="http://schemas.microsoft.com/office/drawing/2014/main" val="3026274715"/>
                  </a:ext>
                </a:extLst>
              </a:tr>
            </a:tbl>
          </a:graphicData>
        </a:graphic>
      </p:graphicFrame>
      <p:pic>
        <p:nvPicPr>
          <p:cNvPr id="1026" name="Picture 2" descr="Output image">
            <a:extLst>
              <a:ext uri="{FF2B5EF4-FFF2-40B4-BE49-F238E27FC236}">
                <a16:creationId xmlns:a16="http://schemas.microsoft.com/office/drawing/2014/main" id="{692118B5-A6DD-E11D-2BD4-43CD3AFEEE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6135" y="2464256"/>
            <a:ext cx="4592926" cy="3842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0291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48A6A-6480-C04C-66A5-EF7547499705}"/>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Smoking Vs Lung Capacity</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6B46D5-A5F9-C867-6C23-8E6870F8EC31}"/>
              </a:ext>
            </a:extLst>
          </p:cNvPr>
          <p:cNvSpPr>
            <a:spLocks noGrp="1"/>
          </p:cNvSpPr>
          <p:nvPr>
            <p:ph idx="1"/>
          </p:nvPr>
        </p:nvSpPr>
        <p:spPr/>
        <p:txBody>
          <a:bodyPr>
            <a:normAutofit fontScale="92500" lnSpcReduction="10000"/>
          </a:bodyPr>
          <a:lstStyle/>
          <a:p>
            <a:r>
              <a:rPr lang="en-US" dirty="0">
                <a:solidFill>
                  <a:schemeClr val="tx1"/>
                </a:solidFill>
                <a:latin typeface="Times New Roman" panose="02020603050405020304" pitchFamily="18" charset="0"/>
                <a:cs typeface="Times New Roman" panose="02020603050405020304" pitchFamily="18" charset="0"/>
              </a:rPr>
              <a:t>Observe that as smoking exposure goes up, corresponding lung capacity goes down.</a:t>
            </a:r>
          </a:p>
          <a:p>
            <a:r>
              <a:rPr lang="en-US" dirty="0">
                <a:solidFill>
                  <a:schemeClr val="tx1"/>
                </a:solidFill>
                <a:latin typeface="Times New Roman" panose="02020603050405020304" pitchFamily="18" charset="0"/>
                <a:cs typeface="Times New Roman" panose="02020603050405020304" pitchFamily="18" charset="0"/>
              </a:rPr>
              <a:t>Variables covary inversely</a:t>
            </a:r>
          </a:p>
          <a:p>
            <a:r>
              <a:rPr lang="en-US" dirty="0">
                <a:solidFill>
                  <a:schemeClr val="tx1"/>
                </a:solidFill>
                <a:latin typeface="Times New Roman" panose="02020603050405020304" pitchFamily="18" charset="0"/>
                <a:cs typeface="Times New Roman" panose="02020603050405020304" pitchFamily="18" charset="0"/>
              </a:rPr>
              <a:t>Covariance and correlation quantify relationship</a:t>
            </a:r>
          </a:p>
          <a:p>
            <a:r>
              <a:rPr lang="en-US" dirty="0">
                <a:solidFill>
                  <a:schemeClr val="tx1"/>
                </a:solidFill>
                <a:latin typeface="Times New Roman" panose="02020603050405020304" pitchFamily="18" charset="0"/>
                <a:cs typeface="Times New Roman" panose="02020603050405020304" pitchFamily="18" charset="0"/>
              </a:rPr>
              <a:t>Variables that covary inversely, like smoking and lung capacity, tend to appear on opposite sides of the group means </a:t>
            </a:r>
          </a:p>
          <a:p>
            <a:pPr>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When smoking is above its group mean, lung capacity tends to be below its group mean.</a:t>
            </a:r>
          </a:p>
          <a:p>
            <a:endParaRPr lang="en-IN" dirty="0"/>
          </a:p>
        </p:txBody>
      </p:sp>
    </p:spTree>
    <p:extLst>
      <p:ext uri="{BB962C8B-B14F-4D97-AF65-F5344CB8AC3E}">
        <p14:creationId xmlns:p14="http://schemas.microsoft.com/office/powerpoint/2010/main" val="17242578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AE93C-F15C-3F17-828D-5ABAFF4C64B8}"/>
              </a:ext>
            </a:extLst>
          </p:cNvPr>
          <p:cNvSpPr>
            <a:spLocks noGrp="1"/>
          </p:cNvSpPr>
          <p:nvPr>
            <p:ph type="title"/>
          </p:nvPr>
        </p:nvSpPr>
        <p:spPr>
          <a:xfrm>
            <a:off x="1295400" y="831212"/>
            <a:ext cx="9601196" cy="1303867"/>
          </a:xfrm>
        </p:spPr>
        <p:txBody>
          <a:bodyPr>
            <a:normAutofit/>
          </a:bodyPr>
          <a:lstStyle/>
          <a:p>
            <a:r>
              <a:rPr lang="en-US" sz="2400" b="1" dirty="0">
                <a:solidFill>
                  <a:schemeClr val="tx1"/>
                </a:solidFill>
                <a:latin typeface="Times New Roman" panose="02020603050405020304" pitchFamily="18" charset="0"/>
                <a:cs typeface="Times New Roman" panose="02020603050405020304" pitchFamily="18" charset="0"/>
              </a:rPr>
              <a:t>Exercise: </a:t>
            </a:r>
            <a:r>
              <a:rPr lang="en-US" sz="2400" dirty="0">
                <a:solidFill>
                  <a:schemeClr val="tx1"/>
                </a:solidFill>
                <a:latin typeface="Times New Roman" panose="02020603050405020304" pitchFamily="18" charset="0"/>
                <a:cs typeface="Times New Roman" panose="02020603050405020304" pitchFamily="18" charset="0"/>
              </a:rPr>
              <a:t>An investor is analyzing the returns of two stocks, </a:t>
            </a:r>
            <a:r>
              <a:rPr lang="en-US" sz="2400" b="1" dirty="0">
                <a:solidFill>
                  <a:schemeClr val="tx1"/>
                </a:solidFill>
                <a:latin typeface="Times New Roman" panose="02020603050405020304" pitchFamily="18" charset="0"/>
                <a:cs typeface="Times New Roman" panose="02020603050405020304" pitchFamily="18" charset="0"/>
              </a:rPr>
              <a:t>ABC Ltd.</a:t>
            </a:r>
            <a:r>
              <a:rPr lang="en-US" sz="2400" dirty="0">
                <a:solidFill>
                  <a:schemeClr val="tx1"/>
                </a:solidFill>
                <a:latin typeface="Times New Roman" panose="02020603050405020304" pitchFamily="18" charset="0"/>
                <a:cs typeface="Times New Roman" panose="02020603050405020304" pitchFamily="18" charset="0"/>
              </a:rPr>
              <a:t> and </a:t>
            </a:r>
            <a:r>
              <a:rPr lang="en-US" sz="2400" b="1" dirty="0">
                <a:solidFill>
                  <a:schemeClr val="tx1"/>
                </a:solidFill>
                <a:latin typeface="Times New Roman" panose="02020603050405020304" pitchFamily="18" charset="0"/>
                <a:cs typeface="Times New Roman" panose="02020603050405020304" pitchFamily="18" charset="0"/>
              </a:rPr>
              <a:t>XYZ Ltd.</a:t>
            </a:r>
            <a:r>
              <a:rPr lang="en-US" sz="2400" dirty="0">
                <a:solidFill>
                  <a:schemeClr val="tx1"/>
                </a:solidFill>
                <a:latin typeface="Times New Roman" panose="02020603050405020304" pitchFamily="18" charset="0"/>
                <a:cs typeface="Times New Roman" panose="02020603050405020304" pitchFamily="18" charset="0"/>
              </a:rPr>
              <a:t>, over a period of 5 days to understand how the two assets move in relation to each other. The daily returns (in %) are given below:</a:t>
            </a:r>
            <a:endParaRPr lang="en-IN" sz="2400" b="1" dirty="0">
              <a:solidFill>
                <a:schemeClr val="tx1"/>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9CC59F72-2159-73FC-BBE4-453B9F950590}"/>
              </a:ext>
            </a:extLst>
          </p:cNvPr>
          <p:cNvPicPr>
            <a:picLocks noGrp="1" noChangeAspect="1"/>
          </p:cNvPicPr>
          <p:nvPr>
            <p:ph idx="1"/>
          </p:nvPr>
        </p:nvPicPr>
        <p:blipFill>
          <a:blip r:embed="rId3"/>
          <a:stretch>
            <a:fillRect/>
          </a:stretch>
        </p:blipFill>
        <p:spPr>
          <a:xfrm>
            <a:off x="1295400" y="2673350"/>
            <a:ext cx="9601200" cy="3086100"/>
          </a:xfrm>
        </p:spPr>
      </p:pic>
    </p:spTree>
    <p:extLst>
      <p:ext uri="{BB962C8B-B14F-4D97-AF65-F5344CB8AC3E}">
        <p14:creationId xmlns:p14="http://schemas.microsoft.com/office/powerpoint/2010/main" val="12566273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D834A-4D43-BD1A-F30A-1B69FAA3BE2D}"/>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Correlation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43DDF8F-DCBD-FE8F-576A-23218FEB945D}"/>
              </a:ext>
            </a:extLst>
          </p:cNvPr>
          <p:cNvSpPr>
            <a:spLocks noGrp="1"/>
          </p:cNvSpPr>
          <p:nvPr>
            <p:ph idx="1"/>
          </p:nvPr>
        </p:nvSpPr>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Correlation is a measure that determines the degree to which two or more random variables move in sequence.</a:t>
            </a:r>
          </a:p>
          <a:p>
            <a:r>
              <a:rPr lang="en-US" sz="2200" dirty="0">
                <a:solidFill>
                  <a:schemeClr val="tx1"/>
                </a:solidFill>
                <a:latin typeface="Times New Roman" panose="02020603050405020304" pitchFamily="18" charset="0"/>
                <a:cs typeface="Times New Roman" panose="02020603050405020304" pitchFamily="18" charset="0"/>
              </a:rPr>
              <a:t>Movement of one variable causes movement of other variable variables Correlated.</a:t>
            </a:r>
          </a:p>
          <a:p>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85234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74E3F-907C-3FE5-B398-329DAC997A79}"/>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Correlation Calculation</a:t>
            </a:r>
            <a:endParaRPr lang="en-IN" sz="40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D8DA356B-BFA2-BCAA-CC46-FEC492F0368B}"/>
              </a:ext>
            </a:extLst>
          </p:cNvPr>
          <p:cNvPicPr>
            <a:picLocks noGrp="1" noChangeAspect="1"/>
          </p:cNvPicPr>
          <p:nvPr>
            <p:ph idx="1"/>
          </p:nvPr>
        </p:nvPicPr>
        <p:blipFill>
          <a:blip r:embed="rId2"/>
          <a:stretch>
            <a:fillRect/>
          </a:stretch>
        </p:blipFill>
        <p:spPr>
          <a:xfrm>
            <a:off x="1412688" y="2557993"/>
            <a:ext cx="7649792" cy="3317875"/>
          </a:xfrm>
        </p:spPr>
      </p:pic>
    </p:spTree>
    <p:extLst>
      <p:ext uri="{BB962C8B-B14F-4D97-AF65-F5344CB8AC3E}">
        <p14:creationId xmlns:p14="http://schemas.microsoft.com/office/powerpoint/2010/main" val="29094561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23A39-E10E-343F-6B22-3D47489D3BFA}"/>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Correlation Calculation</a:t>
            </a:r>
            <a:endParaRPr lang="en-IN" dirty="0"/>
          </a:p>
        </p:txBody>
      </p:sp>
      <p:sp>
        <p:nvSpPr>
          <p:cNvPr id="3" name="Content Placeholder 2">
            <a:extLst>
              <a:ext uri="{FF2B5EF4-FFF2-40B4-BE49-F238E27FC236}">
                <a16:creationId xmlns:a16="http://schemas.microsoft.com/office/drawing/2014/main" id="{C1B3D23C-B5A9-1842-EAF3-BB2467561905}"/>
              </a:ext>
            </a:extLst>
          </p:cNvPr>
          <p:cNvSpPr>
            <a:spLocks noGrp="1"/>
          </p:cNvSpPr>
          <p:nvPr>
            <p:ph idx="1"/>
          </p:nvPr>
        </p:nvSpPr>
        <p:spPr/>
        <p:txBody>
          <a:bodyPr>
            <a:normAutofit/>
          </a:bodyPr>
          <a:lstStyle/>
          <a:p>
            <a:r>
              <a:rPr lang="en-US" sz="2200" dirty="0">
                <a:latin typeface="Times New Roman" panose="02020603050405020304" pitchFamily="18" charset="0"/>
                <a:cs typeface="Times New Roman" panose="02020603050405020304" pitchFamily="18" charset="0"/>
              </a:rPr>
              <a:t>If the correlation is 1, they move perfectly together.</a:t>
            </a:r>
          </a:p>
          <a:p>
            <a:r>
              <a:rPr lang="en-US" sz="2200" dirty="0">
                <a:latin typeface="Times New Roman" panose="02020603050405020304" pitchFamily="18" charset="0"/>
                <a:cs typeface="Times New Roman" panose="02020603050405020304" pitchFamily="18" charset="0"/>
              </a:rPr>
              <a:t>If the correlation is -1, the variables move perfectly in opposite directions. </a:t>
            </a:r>
          </a:p>
          <a:p>
            <a:r>
              <a:rPr lang="en-US" sz="2200" dirty="0">
                <a:latin typeface="Times New Roman" panose="02020603050405020304" pitchFamily="18" charset="0"/>
                <a:cs typeface="Times New Roman" panose="02020603050405020304" pitchFamily="18" charset="0"/>
              </a:rPr>
              <a:t>If the correlation is 0, then the two variables move in random directions from each other</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75683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5D421-1F6C-61FA-C3D4-0A24D39E9A1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DBDBD01-C7D8-B43A-A36C-42B71538A171}"/>
              </a:ext>
            </a:extLst>
          </p:cNvPr>
          <p:cNvPicPr>
            <a:picLocks noGrp="1" noChangeAspect="1"/>
          </p:cNvPicPr>
          <p:nvPr>
            <p:ph idx="1"/>
          </p:nvPr>
        </p:nvPicPr>
        <p:blipFill>
          <a:blip r:embed="rId3"/>
          <a:stretch>
            <a:fillRect/>
          </a:stretch>
        </p:blipFill>
        <p:spPr>
          <a:xfrm>
            <a:off x="981075" y="2471771"/>
            <a:ext cx="5114925" cy="2581275"/>
          </a:xfrm>
        </p:spPr>
      </p:pic>
      <p:pic>
        <p:nvPicPr>
          <p:cNvPr id="7" name="Picture 6">
            <a:extLst>
              <a:ext uri="{FF2B5EF4-FFF2-40B4-BE49-F238E27FC236}">
                <a16:creationId xmlns:a16="http://schemas.microsoft.com/office/drawing/2014/main" id="{55AAD7F6-3642-FD4E-AF83-1035908F5B90}"/>
              </a:ext>
            </a:extLst>
          </p:cNvPr>
          <p:cNvPicPr>
            <a:picLocks noChangeAspect="1"/>
          </p:cNvPicPr>
          <p:nvPr/>
        </p:nvPicPr>
        <p:blipFill>
          <a:blip r:embed="rId4"/>
          <a:stretch>
            <a:fillRect/>
          </a:stretch>
        </p:blipFill>
        <p:spPr>
          <a:xfrm>
            <a:off x="6229156" y="2614646"/>
            <a:ext cx="5238750" cy="2438400"/>
          </a:xfrm>
          <a:prstGeom prst="rect">
            <a:avLst/>
          </a:prstGeom>
        </p:spPr>
      </p:pic>
    </p:spTree>
    <p:extLst>
      <p:ext uri="{BB962C8B-B14F-4D97-AF65-F5344CB8AC3E}">
        <p14:creationId xmlns:p14="http://schemas.microsoft.com/office/powerpoint/2010/main" val="34604862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88D6C-6BFD-7BCD-1B6B-FB64F7CA2399}"/>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Types of Positive Correlation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FD2656-5B93-C39A-F7C0-5B915DD38D42}"/>
              </a:ext>
            </a:extLst>
          </p:cNvPr>
          <p:cNvSpPr>
            <a:spLocks noGrp="1"/>
          </p:cNvSpPr>
          <p:nvPr>
            <p:ph idx="1"/>
          </p:nvPr>
        </p:nvSpPr>
        <p:spPr>
          <a:xfrm>
            <a:off x="1295401" y="2556931"/>
            <a:ext cx="9601196" cy="3573281"/>
          </a:xfrm>
        </p:spPr>
        <p:txBody>
          <a:bodyPr>
            <a:normAutofit fontScale="92500" lnSpcReduction="20000"/>
          </a:bodyPr>
          <a:lstStyle/>
          <a:p>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Perfect Positive Correlation</a:t>
            </a:r>
          </a:p>
          <a:p>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Example:</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Height and shadow length at a fixed time of day.</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200" b="1" dirty="0">
                <a:effectLst/>
                <a:latin typeface="Times New Roman" panose="02020603050405020304" pitchFamily="18" charset="0"/>
                <a:ea typeface="Calibri" panose="020F0502020204030204" pitchFamily="34" charset="0"/>
              </a:rPr>
              <a:t>Description:</a:t>
            </a:r>
            <a:r>
              <a:rPr lang="en-IN" sz="2200" dirty="0">
                <a:effectLst/>
                <a:latin typeface="Times New Roman" panose="02020603050405020304" pitchFamily="18" charset="0"/>
                <a:ea typeface="Calibri" panose="020F0502020204030204" pitchFamily="34" charset="0"/>
              </a:rPr>
              <a:t> As height increases, shadow length also increases proportionally. The relationship is perfectly linear, with all data points lying on a straight line</a:t>
            </a:r>
          </a:p>
          <a:p>
            <a:pPr marL="342900" lvl="0" indent="-342900">
              <a:lnSpc>
                <a:spcPct val="107000"/>
              </a:lnSpc>
              <a:spcAft>
                <a:spcPts val="800"/>
              </a:spcAft>
              <a:buSzPts val="1000"/>
              <a:buFont typeface="Symbol" panose="05050102010706020507" pitchFamily="18" charset="2"/>
              <a:buChar char=""/>
              <a:tabLst>
                <a:tab pos="457200" algn="l"/>
              </a:tabLst>
            </a:pPr>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Data Points:</a:t>
            </a: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lvl="1" indent="0">
              <a:lnSpc>
                <a:spcPct val="107000"/>
              </a:lnSpc>
              <a:spcAft>
                <a:spcPts val="800"/>
              </a:spcAft>
              <a:buSzPts val="1000"/>
              <a:buNone/>
              <a:tabLst>
                <a:tab pos="914400" algn="l"/>
              </a:tabLst>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(150, 150)</a:t>
            </a:r>
          </a:p>
          <a:p>
            <a:pPr marL="457200" lvl="1" indent="0">
              <a:lnSpc>
                <a:spcPct val="107000"/>
              </a:lnSpc>
              <a:spcAft>
                <a:spcPts val="800"/>
              </a:spcAft>
              <a:buSzPts val="1000"/>
              <a:buNone/>
              <a:tabLst>
                <a:tab pos="914400" algn="l"/>
              </a:tabLst>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(160, 160)</a:t>
            </a:r>
          </a:p>
          <a:p>
            <a:pPr marL="457200" lvl="1" indent="0">
              <a:lnSpc>
                <a:spcPct val="107000"/>
              </a:lnSpc>
              <a:spcAft>
                <a:spcPts val="800"/>
              </a:spcAft>
              <a:buSzPts val="1000"/>
              <a:buNone/>
              <a:tabLst>
                <a:tab pos="914400" algn="l"/>
              </a:tabLst>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(170, 170)</a:t>
            </a:r>
          </a:p>
          <a:p>
            <a:pPr marL="457200" lvl="1" indent="0">
              <a:lnSpc>
                <a:spcPct val="107000"/>
              </a:lnSpc>
              <a:spcAft>
                <a:spcPts val="800"/>
              </a:spcAft>
              <a:buSzPts val="1000"/>
              <a:buNone/>
              <a:tabLst>
                <a:tab pos="914400" algn="l"/>
              </a:tabLst>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(180, 180)</a:t>
            </a:r>
          </a:p>
          <a:p>
            <a:endParaRPr lang="en-IN" dirty="0"/>
          </a:p>
        </p:txBody>
      </p:sp>
      <p:pic>
        <p:nvPicPr>
          <p:cNvPr id="5" name="Picture 4">
            <a:extLst>
              <a:ext uri="{FF2B5EF4-FFF2-40B4-BE49-F238E27FC236}">
                <a16:creationId xmlns:a16="http://schemas.microsoft.com/office/drawing/2014/main" id="{67E14E27-01C4-67D3-7CD7-13CF8D7EDD15}"/>
              </a:ext>
            </a:extLst>
          </p:cNvPr>
          <p:cNvPicPr>
            <a:picLocks noChangeAspect="1"/>
          </p:cNvPicPr>
          <p:nvPr/>
        </p:nvPicPr>
        <p:blipFill>
          <a:blip r:embed="rId2"/>
          <a:stretch>
            <a:fillRect/>
          </a:stretch>
        </p:blipFill>
        <p:spPr>
          <a:xfrm>
            <a:off x="4684947" y="3816221"/>
            <a:ext cx="3027978" cy="2425959"/>
          </a:xfrm>
          <a:prstGeom prst="rect">
            <a:avLst/>
          </a:prstGeom>
        </p:spPr>
      </p:pic>
    </p:spTree>
    <p:extLst>
      <p:ext uri="{BB962C8B-B14F-4D97-AF65-F5344CB8AC3E}">
        <p14:creationId xmlns:p14="http://schemas.microsoft.com/office/powerpoint/2010/main" val="16080294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3AAE4-B257-935A-1763-F002705883A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BDEC6F2-EBBE-8A39-B349-C7BDB1F30CDA}"/>
              </a:ext>
            </a:extLst>
          </p:cNvPr>
          <p:cNvSpPr>
            <a:spLocks noGrp="1"/>
          </p:cNvSpPr>
          <p:nvPr>
            <p:ph idx="1"/>
          </p:nvPr>
        </p:nvSpPr>
        <p:spPr/>
        <p:txBody>
          <a:bodyPr/>
          <a:lstStyle/>
          <a:p>
            <a:r>
              <a:rPr lang="en-IN" b="1" dirty="0">
                <a:latin typeface="Times New Roman" panose="02020603050405020304" pitchFamily="18" charset="0"/>
                <a:cs typeface="Times New Roman" panose="02020603050405020304" pitchFamily="18" charset="0"/>
              </a:rPr>
              <a:t>2. High Positive Correlation</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Example:</a:t>
            </a:r>
            <a:r>
              <a:rPr lang="en-IN" dirty="0">
                <a:latin typeface="Times New Roman" panose="02020603050405020304" pitchFamily="18" charset="0"/>
                <a:cs typeface="Times New Roman" panose="02020603050405020304" pitchFamily="18" charset="0"/>
              </a:rPr>
              <a:t> Study hours and exam scores.</a:t>
            </a:r>
          </a:p>
          <a:p>
            <a:pPr lvl="0"/>
            <a:r>
              <a:rPr lang="en-IN" b="1" dirty="0">
                <a:latin typeface="Times New Roman" panose="02020603050405020304" pitchFamily="18" charset="0"/>
                <a:cs typeface="Times New Roman" panose="02020603050405020304" pitchFamily="18" charset="0"/>
              </a:rPr>
              <a:t>Description:</a:t>
            </a:r>
            <a:r>
              <a:rPr lang="en-IN" dirty="0">
                <a:latin typeface="Times New Roman" panose="02020603050405020304" pitchFamily="18" charset="0"/>
                <a:cs typeface="Times New Roman" panose="02020603050405020304" pitchFamily="18" charset="0"/>
              </a:rPr>
              <a:t> Generally, as study hours increase, exam scores tend to increase, though not perfectly. There is a strong positive relationship, but not all points lie on the straight line.</a:t>
            </a:r>
          </a:p>
          <a:p>
            <a:pPr lvl="0"/>
            <a:r>
              <a:rPr lang="en-IN" b="1" dirty="0">
                <a:latin typeface="Times New Roman" panose="02020603050405020304" pitchFamily="18" charset="0"/>
                <a:cs typeface="Times New Roman" panose="02020603050405020304" pitchFamily="18" charset="0"/>
              </a:rPr>
              <a:t>Correlation Coefficient:</a:t>
            </a:r>
            <a:r>
              <a:rPr lang="en-IN" dirty="0">
                <a:latin typeface="Times New Roman" panose="02020603050405020304" pitchFamily="18" charset="0"/>
                <a:cs typeface="Times New Roman" panose="02020603050405020304" pitchFamily="18" charset="0"/>
              </a:rPr>
              <a:t> r close to 1 (e.g., 0.8 or 0.9)</a:t>
            </a:r>
          </a:p>
          <a:p>
            <a:endParaRPr lang="en-IN" dirty="0"/>
          </a:p>
        </p:txBody>
      </p:sp>
    </p:spTree>
    <p:extLst>
      <p:ext uri="{BB962C8B-B14F-4D97-AF65-F5344CB8AC3E}">
        <p14:creationId xmlns:p14="http://schemas.microsoft.com/office/powerpoint/2010/main" val="13592586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70D86-202D-5AB2-F430-E4BFFABBBA1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50704C8-9F2A-823F-E1C1-96D2521BE069}"/>
              </a:ext>
            </a:extLst>
          </p:cNvPr>
          <p:cNvSpPr>
            <a:spLocks noGrp="1"/>
          </p:cNvSpPr>
          <p:nvPr>
            <p:ph idx="1"/>
          </p:nvPr>
        </p:nvSpPr>
        <p:spPr/>
        <p:txBody>
          <a:bodyPr/>
          <a:lstStyle/>
          <a:p>
            <a:r>
              <a:rPr lang="en-IN" b="1" dirty="0">
                <a:latin typeface="Times New Roman" panose="02020603050405020304" pitchFamily="18" charset="0"/>
                <a:cs typeface="Times New Roman" panose="02020603050405020304" pitchFamily="18" charset="0"/>
              </a:rPr>
              <a:t>3. Low Positive Correlation</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Example:</a:t>
            </a:r>
            <a:r>
              <a:rPr lang="en-IN" dirty="0">
                <a:latin typeface="Times New Roman" panose="02020603050405020304" pitchFamily="18" charset="0"/>
                <a:cs typeface="Times New Roman" panose="02020603050405020304" pitchFamily="18" charset="0"/>
              </a:rPr>
              <a:t> Age and job satisfaction.</a:t>
            </a:r>
          </a:p>
          <a:p>
            <a:pPr lvl="0"/>
            <a:r>
              <a:rPr lang="en-IN" b="1" dirty="0">
                <a:latin typeface="Times New Roman" panose="02020603050405020304" pitchFamily="18" charset="0"/>
                <a:cs typeface="Times New Roman" panose="02020603050405020304" pitchFamily="18" charset="0"/>
              </a:rPr>
              <a:t>Description:</a:t>
            </a:r>
            <a:r>
              <a:rPr lang="en-IN" dirty="0">
                <a:latin typeface="Times New Roman" panose="02020603050405020304" pitchFamily="18" charset="0"/>
                <a:cs typeface="Times New Roman" panose="02020603050405020304" pitchFamily="18" charset="0"/>
              </a:rPr>
              <a:t> As age increases, job satisfaction slightly increases, but the relationship is weak. The points are more scattered around a line that has a positive slope.</a:t>
            </a:r>
          </a:p>
          <a:p>
            <a:pPr lvl="0"/>
            <a:r>
              <a:rPr lang="en-IN" b="1" dirty="0">
                <a:latin typeface="Times New Roman" panose="02020603050405020304" pitchFamily="18" charset="0"/>
                <a:cs typeface="Times New Roman" panose="02020603050405020304" pitchFamily="18" charset="0"/>
              </a:rPr>
              <a:t>Correlation Coefficient:</a:t>
            </a:r>
            <a:r>
              <a:rPr lang="en-IN" dirty="0">
                <a:latin typeface="Times New Roman" panose="02020603050405020304" pitchFamily="18" charset="0"/>
                <a:cs typeface="Times New Roman" panose="02020603050405020304" pitchFamily="18" charset="0"/>
              </a:rPr>
              <a:t> r is positive but closer to 0 (e.g., 0.3 or 0.4)</a:t>
            </a:r>
          </a:p>
          <a:p>
            <a:endParaRPr lang="en-IN" dirty="0"/>
          </a:p>
        </p:txBody>
      </p:sp>
    </p:spTree>
    <p:extLst>
      <p:ext uri="{BB962C8B-B14F-4D97-AF65-F5344CB8AC3E}">
        <p14:creationId xmlns:p14="http://schemas.microsoft.com/office/powerpoint/2010/main" val="32473457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FFB40A-0E20-5FDC-23F8-D65372733503}"/>
              </a:ext>
            </a:extLst>
          </p:cNvPr>
          <p:cNvSpPr>
            <a:spLocks noGrp="1"/>
          </p:cNvSpPr>
          <p:nvPr>
            <p:ph idx="1"/>
          </p:nvPr>
        </p:nvSpPr>
        <p:spPr/>
        <p:txBody>
          <a:bodyPr/>
          <a:lstStyle/>
          <a:p>
            <a:endParaRPr lang="en-IN" dirty="0"/>
          </a:p>
        </p:txBody>
      </p:sp>
      <p:sp>
        <p:nvSpPr>
          <p:cNvPr id="5" name="Title 4">
            <a:extLst>
              <a:ext uri="{FF2B5EF4-FFF2-40B4-BE49-F238E27FC236}">
                <a16:creationId xmlns:a16="http://schemas.microsoft.com/office/drawing/2014/main" id="{78A60129-EDEE-8BAB-C985-14EA226EC20B}"/>
              </a:ext>
            </a:extLst>
          </p:cNvPr>
          <p:cNvSpPr>
            <a:spLocks noGrp="1"/>
          </p:cNvSpPr>
          <p:nvPr>
            <p:ph type="title"/>
          </p:nvPr>
        </p:nvSpPr>
        <p:spPr>
          <a:xfrm>
            <a:off x="1295402" y="982132"/>
            <a:ext cx="9601195" cy="1303867"/>
          </a:xfrm>
        </p:spPr>
        <p:txBody>
          <a:bodyPr>
            <a:noAutofit/>
          </a:bodyPr>
          <a:lstStyle/>
          <a:p>
            <a:pPr algn="l"/>
            <a:r>
              <a:rPr lang="en-US" sz="2800" b="1" dirty="0">
                <a:latin typeface="Times New Roman" panose="02020603050405020304" pitchFamily="18" charset="0"/>
                <a:cs typeface="Times New Roman" panose="02020603050405020304" pitchFamily="18" charset="0"/>
              </a:rPr>
              <a:t>Explain the types of correlation with example                                              6 marks</a:t>
            </a:r>
            <a:br>
              <a:rPr lang="en-IN" sz="2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92178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887D5-0B83-7563-9E1E-4C928660875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Practical organizational scenario</a:t>
            </a:r>
          </a:p>
        </p:txBody>
      </p:sp>
      <p:sp>
        <p:nvSpPr>
          <p:cNvPr id="3" name="Content Placeholder 2">
            <a:extLst>
              <a:ext uri="{FF2B5EF4-FFF2-40B4-BE49-F238E27FC236}">
                <a16:creationId xmlns:a16="http://schemas.microsoft.com/office/drawing/2014/main" id="{02CA0F4B-F2DB-4040-011C-01ABC5D7AE16}"/>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 B2B sales organization wants to check how the number of </a:t>
            </a:r>
            <a:r>
              <a:rPr lang="en-US" i="1" dirty="0">
                <a:latin typeface="Times New Roman" panose="02020603050405020304" pitchFamily="18" charset="0"/>
                <a:cs typeface="Times New Roman" panose="02020603050405020304" pitchFamily="18" charset="0"/>
              </a:rPr>
              <a:t>qualified outreach calls per sales rep per day</a:t>
            </a:r>
            <a:r>
              <a:rPr lang="en-US" dirty="0">
                <a:latin typeface="Times New Roman" panose="02020603050405020304" pitchFamily="18" charset="0"/>
                <a:cs typeface="Times New Roman" panose="02020603050405020304" pitchFamily="18" charset="0"/>
              </a:rPr>
              <a:t> (X) relates to </a:t>
            </a:r>
            <a:r>
              <a:rPr lang="en-US" i="1" dirty="0">
                <a:latin typeface="Times New Roman" panose="02020603050405020304" pitchFamily="18" charset="0"/>
                <a:cs typeface="Times New Roman" panose="02020603050405020304" pitchFamily="18" charset="0"/>
              </a:rPr>
              <a:t>daily closed deals per rep</a:t>
            </a:r>
            <a:r>
              <a:rPr lang="en-US" dirty="0">
                <a:latin typeface="Times New Roman" panose="02020603050405020304" pitchFamily="18" charset="0"/>
                <a:cs typeface="Times New Roman" panose="02020603050405020304" pitchFamily="18" charset="0"/>
              </a:rPr>
              <a:t> (Y). Leadership suspects a direct proportional relationship and wants to (a) quantify how strong it is, (b) produce a forecasting rule to plan staffing, and (c) decide whether increasing outreach will scale conversions.</a:t>
            </a:r>
          </a:p>
        </p:txBody>
      </p:sp>
    </p:spTree>
    <p:extLst>
      <p:ext uri="{BB962C8B-B14F-4D97-AF65-F5344CB8AC3E}">
        <p14:creationId xmlns:p14="http://schemas.microsoft.com/office/powerpoint/2010/main" val="9678969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B8E80-169F-33B0-5FFF-DE6148CBED31}"/>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12A0C887-D575-E15D-8506-FF06F9AB9D8E}"/>
              </a:ext>
            </a:extLst>
          </p:cNvPr>
          <p:cNvGraphicFramePr>
            <a:graphicFrameLocks noGrp="1"/>
          </p:cNvGraphicFramePr>
          <p:nvPr>
            <p:ph idx="1"/>
            <p:extLst>
              <p:ext uri="{D42A27DB-BD31-4B8C-83A1-F6EECF244321}">
                <p14:modId xmlns:p14="http://schemas.microsoft.com/office/powerpoint/2010/main" val="4051192216"/>
              </p:ext>
            </p:extLst>
          </p:nvPr>
        </p:nvGraphicFramePr>
        <p:xfrm>
          <a:off x="1295400" y="2557463"/>
          <a:ext cx="9601197" cy="1854200"/>
        </p:xfrm>
        <a:graphic>
          <a:graphicData uri="http://schemas.openxmlformats.org/drawingml/2006/table">
            <a:tbl>
              <a:tblPr firstRow="1" bandRow="1">
                <a:tableStyleId>{5C22544A-7EE6-4342-B048-85BDC9FD1C3A}</a:tableStyleId>
              </a:tblPr>
              <a:tblGrid>
                <a:gridCol w="3200399">
                  <a:extLst>
                    <a:ext uri="{9D8B030D-6E8A-4147-A177-3AD203B41FA5}">
                      <a16:colId xmlns:a16="http://schemas.microsoft.com/office/drawing/2014/main" val="3510241905"/>
                    </a:ext>
                  </a:extLst>
                </a:gridCol>
                <a:gridCol w="3200399">
                  <a:extLst>
                    <a:ext uri="{9D8B030D-6E8A-4147-A177-3AD203B41FA5}">
                      <a16:colId xmlns:a16="http://schemas.microsoft.com/office/drawing/2014/main" val="1578680193"/>
                    </a:ext>
                  </a:extLst>
                </a:gridCol>
                <a:gridCol w="3200399">
                  <a:extLst>
                    <a:ext uri="{9D8B030D-6E8A-4147-A177-3AD203B41FA5}">
                      <a16:colId xmlns:a16="http://schemas.microsoft.com/office/drawing/2014/main" val="2805438630"/>
                    </a:ext>
                  </a:extLst>
                </a:gridCol>
              </a:tblGrid>
              <a:tr h="370840">
                <a:tc>
                  <a:txBody>
                    <a:bodyPr/>
                    <a:lstStyle/>
                    <a:p>
                      <a:r>
                        <a:rPr lang="en-IN" dirty="0"/>
                        <a:t>Rep / Day</a:t>
                      </a:r>
                    </a:p>
                  </a:txBody>
                  <a:tcPr/>
                </a:tc>
                <a:tc>
                  <a:txBody>
                    <a:bodyPr/>
                    <a:lstStyle/>
                    <a:p>
                      <a:pPr>
                        <a:buNone/>
                      </a:pPr>
                      <a:r>
                        <a:rPr lang="en-US" dirty="0"/>
                        <a:t>Qualified calls per rep (X)</a:t>
                      </a:r>
                    </a:p>
                  </a:txBody>
                  <a:tcPr anchor="ctr"/>
                </a:tc>
                <a:tc>
                  <a:txBody>
                    <a:bodyPr/>
                    <a:lstStyle/>
                    <a:p>
                      <a:r>
                        <a:rPr lang="en-US" dirty="0"/>
                        <a:t>Closed deals per rep (Y)</a:t>
                      </a:r>
                      <a:endParaRPr lang="en-IN" dirty="0"/>
                    </a:p>
                  </a:txBody>
                  <a:tcPr/>
                </a:tc>
                <a:extLst>
                  <a:ext uri="{0D108BD9-81ED-4DB2-BD59-A6C34878D82A}">
                    <a16:rowId xmlns:a16="http://schemas.microsoft.com/office/drawing/2014/main" val="454034707"/>
                  </a:ext>
                </a:extLst>
              </a:tr>
              <a:tr h="370840">
                <a:tc>
                  <a:txBody>
                    <a:bodyPr/>
                    <a:lstStyle/>
                    <a:p>
                      <a:r>
                        <a:rPr lang="en-US" dirty="0">
                          <a:latin typeface="Times New Roman" panose="02020603050405020304" pitchFamily="18" charset="0"/>
                          <a:cs typeface="Times New Roman" panose="02020603050405020304" pitchFamily="18" charset="0"/>
                        </a:rPr>
                        <a:t>A</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78194065"/>
                  </a:ext>
                </a:extLst>
              </a:tr>
              <a:tr h="370840">
                <a:tc>
                  <a:txBody>
                    <a:bodyPr/>
                    <a:lstStyle/>
                    <a:p>
                      <a:r>
                        <a:rPr lang="en-US" dirty="0">
                          <a:latin typeface="Times New Roman" panose="02020603050405020304" pitchFamily="18" charset="0"/>
                          <a:cs typeface="Times New Roman" panose="02020603050405020304" pitchFamily="18" charset="0"/>
                        </a:rPr>
                        <a:t>B</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8</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39051614"/>
                  </a:ext>
                </a:extLst>
              </a:tr>
              <a:tr h="370840">
                <a:tc>
                  <a:txBody>
                    <a:bodyPr/>
                    <a:lstStyle/>
                    <a:p>
                      <a:r>
                        <a:rPr lang="en-US" dirty="0">
                          <a:latin typeface="Times New Roman" panose="02020603050405020304" pitchFamily="18" charset="0"/>
                          <a:cs typeface="Times New Roman" panose="02020603050405020304" pitchFamily="18" charset="0"/>
                        </a:rPr>
                        <a:t>C</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12</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15</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6640851"/>
                  </a:ext>
                </a:extLst>
              </a:tr>
              <a:tr h="370840">
                <a:tc>
                  <a:txBody>
                    <a:bodyPr/>
                    <a:lstStyle/>
                    <a:p>
                      <a:r>
                        <a:rPr lang="en-US" dirty="0">
                          <a:latin typeface="Times New Roman" panose="02020603050405020304" pitchFamily="18" charset="0"/>
                          <a:cs typeface="Times New Roman" panose="02020603050405020304" pitchFamily="18" charset="0"/>
                        </a:rPr>
                        <a:t>D</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16</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31428156"/>
                  </a:ext>
                </a:extLst>
              </a:tr>
            </a:tbl>
          </a:graphicData>
        </a:graphic>
      </p:graphicFrame>
      <p:sp>
        <p:nvSpPr>
          <p:cNvPr id="5" name="TextBox 4">
            <a:extLst>
              <a:ext uri="{FF2B5EF4-FFF2-40B4-BE49-F238E27FC236}">
                <a16:creationId xmlns:a16="http://schemas.microsoft.com/office/drawing/2014/main" id="{3F1945BF-9F3E-41F0-930F-970A3CC68AB1}"/>
              </a:ext>
            </a:extLst>
          </p:cNvPr>
          <p:cNvSpPr txBox="1"/>
          <p:nvPr/>
        </p:nvSpPr>
        <p:spPr>
          <a:xfrm>
            <a:off x="1191514" y="5137204"/>
            <a:ext cx="9808967" cy="738664"/>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Problem:</a:t>
            </a:r>
            <a:r>
              <a:rPr lang="en-US" sz="2400" dirty="0">
                <a:latin typeface="Times New Roman" panose="02020603050405020304" pitchFamily="18" charset="0"/>
                <a:cs typeface="Times New Roman" panose="02020603050405020304" pitchFamily="18" charset="0"/>
              </a:rPr>
              <a:t> Are closed deals strongly correlated with number of qualified calls?</a:t>
            </a: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5633182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4C3F1-9A9B-AF0C-88E3-C376B615E8B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1CA752D-FCA4-3152-37F2-B312D7303E33}"/>
              </a:ext>
            </a:extLst>
          </p:cNvPr>
          <p:cNvSpPr>
            <a:spLocks noGrp="1"/>
          </p:cNvSpPr>
          <p:nvPr>
            <p:ph idx="1"/>
          </p:nvPr>
        </p:nvSpPr>
        <p:spPr/>
        <p:txBody>
          <a:bodyPr/>
          <a:lstStyle/>
          <a:p>
            <a:r>
              <a:rPr lang="en-US" b="1" dirty="0"/>
              <a:t>Scenario: Product Price vs. Units Sold</a:t>
            </a:r>
          </a:p>
          <a:p>
            <a:r>
              <a:rPr lang="en-US" dirty="0"/>
              <a:t>A retail store wants to study the effect of </a:t>
            </a:r>
            <a:r>
              <a:rPr lang="en-US" b="1" dirty="0"/>
              <a:t>price increases</a:t>
            </a:r>
            <a:r>
              <a:rPr lang="en-US" dirty="0"/>
              <a:t> on the </a:t>
            </a:r>
            <a:r>
              <a:rPr lang="en-US" b="1" dirty="0"/>
              <a:t>number of units sold per week</a:t>
            </a:r>
            <a:r>
              <a:rPr lang="en-US" dirty="0"/>
              <a:t>.</a:t>
            </a:r>
          </a:p>
          <a:p>
            <a:endParaRPr lang="en-IN" dirty="0"/>
          </a:p>
        </p:txBody>
      </p:sp>
      <p:graphicFrame>
        <p:nvGraphicFramePr>
          <p:cNvPr id="4" name="Table 3">
            <a:extLst>
              <a:ext uri="{FF2B5EF4-FFF2-40B4-BE49-F238E27FC236}">
                <a16:creationId xmlns:a16="http://schemas.microsoft.com/office/drawing/2014/main" id="{E19106E7-C25E-8AD1-DCEF-2FE75FCC572A}"/>
              </a:ext>
            </a:extLst>
          </p:cNvPr>
          <p:cNvGraphicFramePr>
            <a:graphicFrameLocks noGrp="1"/>
          </p:cNvGraphicFramePr>
          <p:nvPr>
            <p:extLst>
              <p:ext uri="{D42A27DB-BD31-4B8C-83A1-F6EECF244321}">
                <p14:modId xmlns:p14="http://schemas.microsoft.com/office/powerpoint/2010/main" val="3493740723"/>
              </p:ext>
            </p:extLst>
          </p:nvPr>
        </p:nvGraphicFramePr>
        <p:xfrm>
          <a:off x="1838632" y="3970594"/>
          <a:ext cx="9323439" cy="1828800"/>
        </p:xfrm>
        <a:graphic>
          <a:graphicData uri="http://schemas.openxmlformats.org/drawingml/2006/table">
            <a:tbl>
              <a:tblPr/>
              <a:tblGrid>
                <a:gridCol w="2922639">
                  <a:extLst>
                    <a:ext uri="{9D8B030D-6E8A-4147-A177-3AD203B41FA5}">
                      <a16:colId xmlns:a16="http://schemas.microsoft.com/office/drawing/2014/main" val="1845541999"/>
                    </a:ext>
                  </a:extLst>
                </a:gridCol>
                <a:gridCol w="3200400">
                  <a:extLst>
                    <a:ext uri="{9D8B030D-6E8A-4147-A177-3AD203B41FA5}">
                      <a16:colId xmlns:a16="http://schemas.microsoft.com/office/drawing/2014/main" val="2456781067"/>
                    </a:ext>
                  </a:extLst>
                </a:gridCol>
                <a:gridCol w="3200400">
                  <a:extLst>
                    <a:ext uri="{9D8B030D-6E8A-4147-A177-3AD203B41FA5}">
                      <a16:colId xmlns:a16="http://schemas.microsoft.com/office/drawing/2014/main" val="3199492686"/>
                    </a:ext>
                  </a:extLst>
                </a:gridCol>
              </a:tblGrid>
              <a:tr h="0">
                <a:tc>
                  <a:txBody>
                    <a:bodyPr/>
                    <a:lstStyle/>
                    <a:p>
                      <a:pPr>
                        <a:buNone/>
                      </a:pPr>
                      <a:r>
                        <a:rPr lang="en-IN"/>
                        <a:t>Week</a:t>
                      </a:r>
                    </a:p>
                  </a:txBody>
                  <a:tcPr anchor="ctr">
                    <a:lnL>
                      <a:noFill/>
                    </a:lnL>
                    <a:lnR>
                      <a:noFill/>
                    </a:lnR>
                    <a:lnT>
                      <a:noFill/>
                    </a:lnT>
                    <a:lnB>
                      <a:noFill/>
                    </a:lnB>
                    <a:noFill/>
                  </a:tcPr>
                </a:tc>
                <a:tc>
                  <a:txBody>
                    <a:bodyPr/>
                    <a:lstStyle/>
                    <a:p>
                      <a:pPr>
                        <a:buNone/>
                      </a:pPr>
                      <a:r>
                        <a:rPr lang="en-IN"/>
                        <a:t>Price (X, in $)</a:t>
                      </a:r>
                    </a:p>
                  </a:txBody>
                  <a:tcPr anchor="ctr">
                    <a:lnL>
                      <a:noFill/>
                    </a:lnL>
                    <a:lnR>
                      <a:noFill/>
                    </a:lnR>
                    <a:lnT>
                      <a:noFill/>
                    </a:lnT>
                    <a:lnB>
                      <a:noFill/>
                    </a:lnB>
                    <a:noFill/>
                  </a:tcPr>
                </a:tc>
                <a:tc>
                  <a:txBody>
                    <a:bodyPr/>
                    <a:lstStyle/>
                    <a:p>
                      <a:pPr>
                        <a:buNone/>
                      </a:pPr>
                      <a:r>
                        <a:rPr lang="en-IN"/>
                        <a:t>Units Sold (Y)</a:t>
                      </a:r>
                    </a:p>
                  </a:txBody>
                  <a:tcPr anchor="ctr">
                    <a:lnL>
                      <a:noFill/>
                    </a:lnL>
                    <a:lnR>
                      <a:noFill/>
                    </a:lnR>
                    <a:lnT>
                      <a:noFill/>
                    </a:lnT>
                    <a:lnB>
                      <a:noFill/>
                    </a:lnB>
                    <a:noFill/>
                  </a:tcPr>
                </a:tc>
                <a:extLst>
                  <a:ext uri="{0D108BD9-81ED-4DB2-BD59-A6C34878D82A}">
                    <a16:rowId xmlns:a16="http://schemas.microsoft.com/office/drawing/2014/main" val="2217337435"/>
                  </a:ext>
                </a:extLst>
              </a:tr>
              <a:tr h="0">
                <a:tc>
                  <a:txBody>
                    <a:bodyPr/>
                    <a:lstStyle/>
                    <a:p>
                      <a:pPr>
                        <a:buNone/>
                      </a:pPr>
                      <a:r>
                        <a:rPr lang="en-IN"/>
                        <a:t>1</a:t>
                      </a:r>
                    </a:p>
                  </a:txBody>
                  <a:tcPr anchor="ctr">
                    <a:lnL>
                      <a:noFill/>
                    </a:lnL>
                    <a:lnR>
                      <a:noFill/>
                    </a:lnR>
                    <a:lnT>
                      <a:noFill/>
                    </a:lnT>
                    <a:lnB>
                      <a:noFill/>
                    </a:lnB>
                    <a:noFill/>
                  </a:tcPr>
                </a:tc>
                <a:tc>
                  <a:txBody>
                    <a:bodyPr/>
                    <a:lstStyle/>
                    <a:p>
                      <a:pPr>
                        <a:buNone/>
                      </a:pPr>
                      <a:r>
                        <a:rPr lang="en-IN"/>
                        <a:t>10</a:t>
                      </a:r>
                    </a:p>
                  </a:txBody>
                  <a:tcPr anchor="ctr">
                    <a:lnL>
                      <a:noFill/>
                    </a:lnL>
                    <a:lnR>
                      <a:noFill/>
                    </a:lnR>
                    <a:lnT>
                      <a:noFill/>
                    </a:lnT>
                    <a:lnB>
                      <a:noFill/>
                    </a:lnB>
                    <a:noFill/>
                  </a:tcPr>
                </a:tc>
                <a:tc>
                  <a:txBody>
                    <a:bodyPr/>
                    <a:lstStyle/>
                    <a:p>
                      <a:pPr>
                        <a:buNone/>
                      </a:pPr>
                      <a:r>
                        <a:rPr lang="en-IN"/>
                        <a:t>100</a:t>
                      </a:r>
                    </a:p>
                  </a:txBody>
                  <a:tcPr anchor="ctr">
                    <a:lnL>
                      <a:noFill/>
                    </a:lnL>
                    <a:lnR>
                      <a:noFill/>
                    </a:lnR>
                    <a:lnT>
                      <a:noFill/>
                    </a:lnT>
                    <a:lnB>
                      <a:noFill/>
                    </a:lnB>
                    <a:noFill/>
                  </a:tcPr>
                </a:tc>
                <a:extLst>
                  <a:ext uri="{0D108BD9-81ED-4DB2-BD59-A6C34878D82A}">
                    <a16:rowId xmlns:a16="http://schemas.microsoft.com/office/drawing/2014/main" val="3700900399"/>
                  </a:ext>
                </a:extLst>
              </a:tr>
              <a:tr h="0">
                <a:tc>
                  <a:txBody>
                    <a:bodyPr/>
                    <a:lstStyle/>
                    <a:p>
                      <a:pPr>
                        <a:buNone/>
                      </a:pPr>
                      <a:r>
                        <a:rPr lang="en-IN"/>
                        <a:t>2</a:t>
                      </a:r>
                    </a:p>
                  </a:txBody>
                  <a:tcPr anchor="ctr">
                    <a:lnL>
                      <a:noFill/>
                    </a:lnL>
                    <a:lnR>
                      <a:noFill/>
                    </a:lnR>
                    <a:lnT>
                      <a:noFill/>
                    </a:lnT>
                    <a:lnB>
                      <a:noFill/>
                    </a:lnB>
                    <a:noFill/>
                  </a:tcPr>
                </a:tc>
                <a:tc>
                  <a:txBody>
                    <a:bodyPr/>
                    <a:lstStyle/>
                    <a:p>
                      <a:pPr>
                        <a:buNone/>
                      </a:pPr>
                      <a:r>
                        <a:rPr lang="en-IN"/>
                        <a:t>20</a:t>
                      </a:r>
                    </a:p>
                  </a:txBody>
                  <a:tcPr anchor="ctr">
                    <a:lnL>
                      <a:noFill/>
                    </a:lnL>
                    <a:lnR>
                      <a:noFill/>
                    </a:lnR>
                    <a:lnT>
                      <a:noFill/>
                    </a:lnT>
                    <a:lnB>
                      <a:noFill/>
                    </a:lnB>
                    <a:noFill/>
                  </a:tcPr>
                </a:tc>
                <a:tc>
                  <a:txBody>
                    <a:bodyPr/>
                    <a:lstStyle/>
                    <a:p>
                      <a:pPr>
                        <a:buNone/>
                      </a:pPr>
                      <a:r>
                        <a:rPr lang="en-IN"/>
                        <a:t>80</a:t>
                      </a:r>
                    </a:p>
                  </a:txBody>
                  <a:tcPr anchor="ctr">
                    <a:lnL>
                      <a:noFill/>
                    </a:lnL>
                    <a:lnR>
                      <a:noFill/>
                    </a:lnR>
                    <a:lnT>
                      <a:noFill/>
                    </a:lnT>
                    <a:lnB>
                      <a:noFill/>
                    </a:lnB>
                    <a:noFill/>
                  </a:tcPr>
                </a:tc>
                <a:extLst>
                  <a:ext uri="{0D108BD9-81ED-4DB2-BD59-A6C34878D82A}">
                    <a16:rowId xmlns:a16="http://schemas.microsoft.com/office/drawing/2014/main" val="1119584973"/>
                  </a:ext>
                </a:extLst>
              </a:tr>
              <a:tr h="0">
                <a:tc>
                  <a:txBody>
                    <a:bodyPr/>
                    <a:lstStyle/>
                    <a:p>
                      <a:pPr>
                        <a:buNone/>
                      </a:pPr>
                      <a:r>
                        <a:rPr lang="en-IN"/>
                        <a:t>3</a:t>
                      </a:r>
                    </a:p>
                  </a:txBody>
                  <a:tcPr anchor="ctr">
                    <a:lnL>
                      <a:noFill/>
                    </a:lnL>
                    <a:lnR>
                      <a:noFill/>
                    </a:lnR>
                    <a:lnT>
                      <a:noFill/>
                    </a:lnT>
                    <a:lnB>
                      <a:noFill/>
                    </a:lnB>
                    <a:noFill/>
                  </a:tcPr>
                </a:tc>
                <a:tc>
                  <a:txBody>
                    <a:bodyPr/>
                    <a:lstStyle/>
                    <a:p>
                      <a:pPr>
                        <a:buNone/>
                      </a:pPr>
                      <a:r>
                        <a:rPr lang="en-IN"/>
                        <a:t>30</a:t>
                      </a:r>
                    </a:p>
                  </a:txBody>
                  <a:tcPr anchor="ctr">
                    <a:lnL>
                      <a:noFill/>
                    </a:lnL>
                    <a:lnR>
                      <a:noFill/>
                    </a:lnR>
                    <a:lnT>
                      <a:noFill/>
                    </a:lnT>
                    <a:lnB>
                      <a:noFill/>
                    </a:lnB>
                    <a:noFill/>
                  </a:tcPr>
                </a:tc>
                <a:tc>
                  <a:txBody>
                    <a:bodyPr/>
                    <a:lstStyle/>
                    <a:p>
                      <a:pPr>
                        <a:buNone/>
                      </a:pPr>
                      <a:r>
                        <a:rPr lang="en-IN"/>
                        <a:t>60</a:t>
                      </a:r>
                    </a:p>
                  </a:txBody>
                  <a:tcPr anchor="ctr">
                    <a:lnL>
                      <a:noFill/>
                    </a:lnL>
                    <a:lnR>
                      <a:noFill/>
                    </a:lnR>
                    <a:lnT>
                      <a:noFill/>
                    </a:lnT>
                    <a:lnB>
                      <a:noFill/>
                    </a:lnB>
                    <a:noFill/>
                  </a:tcPr>
                </a:tc>
                <a:extLst>
                  <a:ext uri="{0D108BD9-81ED-4DB2-BD59-A6C34878D82A}">
                    <a16:rowId xmlns:a16="http://schemas.microsoft.com/office/drawing/2014/main" val="1816985083"/>
                  </a:ext>
                </a:extLst>
              </a:tr>
              <a:tr h="0">
                <a:tc>
                  <a:txBody>
                    <a:bodyPr/>
                    <a:lstStyle/>
                    <a:p>
                      <a:pPr>
                        <a:buNone/>
                      </a:pPr>
                      <a:r>
                        <a:rPr lang="en-IN"/>
                        <a:t>4</a:t>
                      </a:r>
                    </a:p>
                  </a:txBody>
                  <a:tcPr anchor="ctr">
                    <a:lnL>
                      <a:noFill/>
                    </a:lnL>
                    <a:lnR>
                      <a:noFill/>
                    </a:lnR>
                    <a:lnT>
                      <a:noFill/>
                    </a:lnT>
                    <a:lnB>
                      <a:noFill/>
                    </a:lnB>
                    <a:noFill/>
                  </a:tcPr>
                </a:tc>
                <a:tc>
                  <a:txBody>
                    <a:bodyPr/>
                    <a:lstStyle/>
                    <a:p>
                      <a:pPr>
                        <a:buNone/>
                      </a:pPr>
                      <a:r>
                        <a:rPr lang="en-IN"/>
                        <a:t>40</a:t>
                      </a:r>
                    </a:p>
                  </a:txBody>
                  <a:tcPr anchor="ctr">
                    <a:lnL>
                      <a:noFill/>
                    </a:lnL>
                    <a:lnR>
                      <a:noFill/>
                    </a:lnR>
                    <a:lnT>
                      <a:noFill/>
                    </a:lnT>
                    <a:lnB>
                      <a:noFill/>
                    </a:lnB>
                    <a:noFill/>
                  </a:tcPr>
                </a:tc>
                <a:tc>
                  <a:txBody>
                    <a:bodyPr/>
                    <a:lstStyle/>
                    <a:p>
                      <a:pPr>
                        <a:buNone/>
                      </a:pPr>
                      <a:r>
                        <a:rPr lang="en-IN" dirty="0"/>
                        <a:t>40</a:t>
                      </a:r>
                    </a:p>
                  </a:txBody>
                  <a:tcPr anchor="ctr">
                    <a:lnL>
                      <a:noFill/>
                    </a:lnL>
                    <a:lnR>
                      <a:noFill/>
                    </a:lnR>
                    <a:lnT>
                      <a:noFill/>
                    </a:lnT>
                    <a:lnB>
                      <a:noFill/>
                    </a:lnB>
                    <a:noFill/>
                  </a:tcPr>
                </a:tc>
                <a:extLst>
                  <a:ext uri="{0D108BD9-81ED-4DB2-BD59-A6C34878D82A}">
                    <a16:rowId xmlns:a16="http://schemas.microsoft.com/office/drawing/2014/main" val="4000950001"/>
                  </a:ext>
                </a:extLst>
              </a:tr>
            </a:tbl>
          </a:graphicData>
        </a:graphic>
      </p:graphicFrame>
    </p:spTree>
    <p:extLst>
      <p:ext uri="{BB962C8B-B14F-4D97-AF65-F5344CB8AC3E}">
        <p14:creationId xmlns:p14="http://schemas.microsoft.com/office/powerpoint/2010/main" val="10363376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A5F99-73E1-76C3-9946-5CEDF24A4058}"/>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Covariance vs Correlation</a:t>
            </a:r>
            <a:endParaRPr lang="en-IN" sz="40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010F5FE1-AC87-C621-A5CF-E0A4A6A62863}"/>
              </a:ext>
            </a:extLst>
          </p:cNvPr>
          <p:cNvGraphicFramePr>
            <a:graphicFrameLocks noGrp="1"/>
          </p:cNvGraphicFramePr>
          <p:nvPr>
            <p:ph idx="1"/>
            <p:extLst>
              <p:ext uri="{D42A27DB-BD31-4B8C-83A1-F6EECF244321}">
                <p14:modId xmlns:p14="http://schemas.microsoft.com/office/powerpoint/2010/main" val="1979386128"/>
              </p:ext>
            </p:extLst>
          </p:nvPr>
        </p:nvGraphicFramePr>
        <p:xfrm>
          <a:off x="1295401" y="2285999"/>
          <a:ext cx="9601197" cy="3842046"/>
        </p:xfrm>
        <a:graphic>
          <a:graphicData uri="http://schemas.openxmlformats.org/drawingml/2006/table">
            <a:tbl>
              <a:tblPr firstRow="1" bandRow="1">
                <a:tableStyleId>{5C22544A-7EE6-4342-B048-85BDC9FD1C3A}</a:tableStyleId>
              </a:tblPr>
              <a:tblGrid>
                <a:gridCol w="2623457">
                  <a:extLst>
                    <a:ext uri="{9D8B030D-6E8A-4147-A177-3AD203B41FA5}">
                      <a16:colId xmlns:a16="http://schemas.microsoft.com/office/drawing/2014/main" val="2573709036"/>
                    </a:ext>
                  </a:extLst>
                </a:gridCol>
                <a:gridCol w="3125755">
                  <a:extLst>
                    <a:ext uri="{9D8B030D-6E8A-4147-A177-3AD203B41FA5}">
                      <a16:colId xmlns:a16="http://schemas.microsoft.com/office/drawing/2014/main" val="613205400"/>
                    </a:ext>
                  </a:extLst>
                </a:gridCol>
                <a:gridCol w="3851985">
                  <a:extLst>
                    <a:ext uri="{9D8B030D-6E8A-4147-A177-3AD203B41FA5}">
                      <a16:colId xmlns:a16="http://schemas.microsoft.com/office/drawing/2014/main" val="2105557450"/>
                    </a:ext>
                  </a:extLst>
                </a:gridCol>
              </a:tblGrid>
              <a:tr h="406643">
                <a:tc>
                  <a:txBody>
                    <a:bodyPr/>
                    <a:lstStyle/>
                    <a:p>
                      <a:r>
                        <a:rPr lang="en-US" dirty="0"/>
                        <a:t>Basis of comparison</a:t>
                      </a:r>
                      <a:endParaRPr lang="en-IN" dirty="0"/>
                    </a:p>
                  </a:txBody>
                  <a:tcPr/>
                </a:tc>
                <a:tc>
                  <a:txBody>
                    <a:bodyPr/>
                    <a:lstStyle/>
                    <a:p>
                      <a:r>
                        <a:rPr lang="en-US" dirty="0"/>
                        <a:t>Covariance</a:t>
                      </a:r>
                      <a:endParaRPr lang="en-IN" dirty="0"/>
                    </a:p>
                  </a:txBody>
                  <a:tcPr/>
                </a:tc>
                <a:tc>
                  <a:txBody>
                    <a:bodyPr/>
                    <a:lstStyle/>
                    <a:p>
                      <a:r>
                        <a:rPr lang="en-US" dirty="0"/>
                        <a:t>Correlation</a:t>
                      </a:r>
                      <a:endParaRPr lang="en-IN" dirty="0"/>
                    </a:p>
                  </a:txBody>
                  <a:tcPr/>
                </a:tc>
                <a:extLst>
                  <a:ext uri="{0D108BD9-81ED-4DB2-BD59-A6C34878D82A}">
                    <a16:rowId xmlns:a16="http://schemas.microsoft.com/office/drawing/2014/main" val="3739845631"/>
                  </a:ext>
                </a:extLst>
              </a:tr>
              <a:tr h="1604290">
                <a:tc>
                  <a:txBody>
                    <a:bodyPr/>
                    <a:lstStyle/>
                    <a:p>
                      <a:r>
                        <a:rPr lang="en-US" sz="2000" dirty="0">
                          <a:solidFill>
                            <a:schemeClr val="tx1"/>
                          </a:solidFill>
                          <a:latin typeface="Times New Roman" panose="02020603050405020304" pitchFamily="18" charset="0"/>
                          <a:cs typeface="Times New Roman" panose="02020603050405020304" pitchFamily="18" charset="0"/>
                        </a:rPr>
                        <a:t>Definition</a:t>
                      </a:r>
                      <a:endParaRPr lang="en-IN"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Covariance is an indicator of the extent to which 2 random variables are dependent on each other. A higher number denotes higher dependency.</a:t>
                      </a:r>
                      <a:endParaRPr lang="en-IN"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Correlation is a statistical measure that indicates how strongly two variables are related</a:t>
                      </a:r>
                      <a:endParaRPr lang="en-IN"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4981928"/>
                  </a:ext>
                </a:extLst>
              </a:tr>
              <a:tr h="701877">
                <a:tc>
                  <a:txBody>
                    <a:bodyPr/>
                    <a:lstStyle/>
                    <a:p>
                      <a:r>
                        <a:rPr lang="en-IN" sz="2000" dirty="0">
                          <a:solidFill>
                            <a:schemeClr val="tx1"/>
                          </a:solidFill>
                          <a:latin typeface="Times New Roman" panose="02020603050405020304" pitchFamily="18" charset="0"/>
                          <a:cs typeface="Times New Roman" panose="02020603050405020304" pitchFamily="18" charset="0"/>
                        </a:rPr>
                        <a:t>Values</a:t>
                      </a:r>
                    </a:p>
                  </a:txBody>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The value of covariance lies in the range of -∞ and +∞</a:t>
                      </a:r>
                      <a:endParaRPr lang="en-IN"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Correlation is limited to values between the range -1 and +1</a:t>
                      </a:r>
                      <a:endParaRPr lang="en-IN"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5988041"/>
                  </a:ext>
                </a:extLst>
              </a:tr>
              <a:tr h="406643">
                <a:tc>
                  <a:txBody>
                    <a:bodyPr/>
                    <a:lstStyle/>
                    <a:p>
                      <a:r>
                        <a:rPr lang="en-IN" sz="2000" dirty="0">
                          <a:solidFill>
                            <a:schemeClr val="tx1"/>
                          </a:solidFill>
                          <a:latin typeface="Times New Roman" panose="02020603050405020304" pitchFamily="18" charset="0"/>
                          <a:cs typeface="Times New Roman" panose="02020603050405020304" pitchFamily="18" charset="0"/>
                        </a:rPr>
                        <a:t>Change in scale</a:t>
                      </a:r>
                    </a:p>
                  </a:txBody>
                  <a:tcPr/>
                </a:tc>
                <a:tc>
                  <a:txBody>
                    <a:bodyPr/>
                    <a:lstStyle/>
                    <a:p>
                      <a:r>
                        <a:rPr lang="en-IN" sz="2000" dirty="0">
                          <a:solidFill>
                            <a:schemeClr val="tx1"/>
                          </a:solidFill>
                          <a:latin typeface="Times New Roman" panose="02020603050405020304" pitchFamily="18" charset="0"/>
                          <a:cs typeface="Times New Roman" panose="02020603050405020304" pitchFamily="18" charset="0"/>
                        </a:rPr>
                        <a:t>Affects covariance</a:t>
                      </a:r>
                    </a:p>
                  </a:txBody>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Does not affect the correlation</a:t>
                      </a:r>
                      <a:endParaRPr lang="en-IN"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6050998"/>
                  </a:ext>
                </a:extLst>
              </a:tr>
              <a:tr h="406643">
                <a:tc>
                  <a:txBody>
                    <a:bodyPr/>
                    <a:lstStyle/>
                    <a:p>
                      <a:r>
                        <a:rPr lang="en-IN" sz="2000" dirty="0">
                          <a:solidFill>
                            <a:schemeClr val="tx1"/>
                          </a:solidFill>
                          <a:latin typeface="Times New Roman" panose="02020603050405020304" pitchFamily="18" charset="0"/>
                          <a:cs typeface="Times New Roman" panose="02020603050405020304" pitchFamily="18" charset="0"/>
                        </a:rPr>
                        <a:t>Unit-free measure</a:t>
                      </a:r>
                    </a:p>
                  </a:txBody>
                  <a:tcPr/>
                </a:tc>
                <a:tc>
                  <a:txBody>
                    <a:bodyPr/>
                    <a:lstStyle/>
                    <a:p>
                      <a:r>
                        <a:rPr lang="en-IN" sz="2000" dirty="0">
                          <a:solidFill>
                            <a:schemeClr val="tx1"/>
                          </a:solidFill>
                          <a:latin typeface="Times New Roman" panose="02020603050405020304" pitchFamily="18" charset="0"/>
                          <a:cs typeface="Times New Roman" panose="02020603050405020304" pitchFamily="18" charset="0"/>
                        </a:rPr>
                        <a:t>No</a:t>
                      </a:r>
                    </a:p>
                  </a:txBody>
                  <a:tcPr/>
                </a:tc>
                <a:tc>
                  <a:txBody>
                    <a:bodyPr/>
                    <a:lstStyle/>
                    <a:p>
                      <a:r>
                        <a:rPr lang="en-IN" sz="2000" dirty="0">
                          <a:solidFill>
                            <a:schemeClr val="tx1"/>
                          </a:solidFill>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3780297937"/>
                  </a:ext>
                </a:extLst>
              </a:tr>
            </a:tbl>
          </a:graphicData>
        </a:graphic>
      </p:graphicFrame>
    </p:spTree>
    <p:extLst>
      <p:ext uri="{BB962C8B-B14F-4D97-AF65-F5344CB8AC3E}">
        <p14:creationId xmlns:p14="http://schemas.microsoft.com/office/powerpoint/2010/main" val="227636904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1502</TotalTime>
  <Words>4540</Words>
  <Application>Microsoft Office PowerPoint</Application>
  <PresentationFormat>Widescreen</PresentationFormat>
  <Paragraphs>518</Paragraphs>
  <Slides>57</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Arial</vt:lpstr>
      <vt:lpstr>Calibri</vt:lpstr>
      <vt:lpstr>Cambria Math</vt:lpstr>
      <vt:lpstr>Garamond</vt:lpstr>
      <vt:lpstr>Symbol</vt:lpstr>
      <vt:lpstr>Times New Roman</vt:lpstr>
      <vt:lpstr>Wingdings</vt:lpstr>
      <vt:lpstr>Organic</vt:lpstr>
      <vt:lpstr>Basic statistics(Descriptive statistics)</vt:lpstr>
      <vt:lpstr>Why descriptive statistics</vt:lpstr>
      <vt:lpstr>What is descriptive statistics</vt:lpstr>
      <vt:lpstr>Table-Prices ($) of vehicle sold last month at Whitner Autoplex </vt:lpstr>
      <vt:lpstr>Problem</vt:lpstr>
      <vt:lpstr>Table-Frequency Distribution of selling prices at Whitner Autoplex (Last Month)</vt:lpstr>
      <vt:lpstr>Answer the below questions from the frequency distribution</vt:lpstr>
      <vt:lpstr>Relative frequency</vt:lpstr>
      <vt:lpstr>Graphical representation of distribution</vt:lpstr>
      <vt:lpstr>Central Tendency</vt:lpstr>
      <vt:lpstr>Mean</vt:lpstr>
      <vt:lpstr>Calculate mean</vt:lpstr>
      <vt:lpstr>Mean for a Simple Frequency Distribution </vt:lpstr>
      <vt:lpstr>Mean for a Simple Frequency Distribution </vt:lpstr>
      <vt:lpstr>Dispersion or variability</vt:lpstr>
      <vt:lpstr>Range </vt:lpstr>
      <vt:lpstr>Variance</vt:lpstr>
      <vt:lpstr>Standard deviation</vt:lpstr>
      <vt:lpstr>Scenario: Quality Control in Manufacturing</vt:lpstr>
      <vt:lpstr>PowerPoint Presentation</vt:lpstr>
      <vt:lpstr>What does standard deviation tells us</vt:lpstr>
      <vt:lpstr>Calculate the mean, variance, and standard deviation for the given data set</vt:lpstr>
      <vt:lpstr>calculate each dog's difference from the Mean</vt:lpstr>
      <vt:lpstr>Measures of shapes</vt:lpstr>
      <vt:lpstr>PowerPoint Presentation</vt:lpstr>
      <vt:lpstr>Simple descriptive statistics</vt:lpstr>
      <vt:lpstr>Questions</vt:lpstr>
      <vt:lpstr>Z-score</vt:lpstr>
      <vt:lpstr>Significance in data analytics</vt:lpstr>
      <vt:lpstr>Z-score</vt:lpstr>
      <vt:lpstr>Why standardize ?</vt:lpstr>
      <vt:lpstr>Standardizing Normal distribution</vt:lpstr>
      <vt:lpstr>Z-score Formula</vt:lpstr>
      <vt:lpstr>PowerPoint Presentation</vt:lpstr>
      <vt:lpstr>PowerPoint Presentation</vt:lpstr>
      <vt:lpstr>PowerPoint Presentation</vt:lpstr>
      <vt:lpstr>PowerPoint Presentation</vt:lpstr>
      <vt:lpstr>Numerical solved in the book</vt:lpstr>
      <vt:lpstr>Covariance </vt:lpstr>
      <vt:lpstr>Types of covariance</vt:lpstr>
      <vt:lpstr>Types of covariance</vt:lpstr>
      <vt:lpstr>Types of covariance</vt:lpstr>
      <vt:lpstr>Example</vt:lpstr>
      <vt:lpstr>Smoking Vs Lung Capacity</vt:lpstr>
      <vt:lpstr>Exercise: An investor is analyzing the returns of two stocks, ABC Ltd. and XYZ Ltd., over a period of 5 days to understand how the two assets move in relation to each other. The daily returns (in %) are given below:</vt:lpstr>
      <vt:lpstr>Correlation</vt:lpstr>
      <vt:lpstr>Correlation Calculation</vt:lpstr>
      <vt:lpstr>Correlation Calculation</vt:lpstr>
      <vt:lpstr>PowerPoint Presentation</vt:lpstr>
      <vt:lpstr>Types of Positive Correlation</vt:lpstr>
      <vt:lpstr>PowerPoint Presentation</vt:lpstr>
      <vt:lpstr>PowerPoint Presentation</vt:lpstr>
      <vt:lpstr>Explain the types of correlation with example                                              6 marks </vt:lpstr>
      <vt:lpstr>Practical organizational scenario</vt:lpstr>
      <vt:lpstr>PowerPoint Presentation</vt:lpstr>
      <vt:lpstr>PowerPoint Presentation</vt:lpstr>
      <vt:lpstr>Covariance vs Correlation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Shrikrishna Narvekar</dc:creator>
  <cp:lastModifiedBy>Shrikrishna Narvekar</cp:lastModifiedBy>
  <cp:revision>23</cp:revision>
  <dcterms:created xsi:type="dcterms:W3CDTF">2024-08-30T08:10:51Z</dcterms:created>
  <dcterms:modified xsi:type="dcterms:W3CDTF">2025-09-16T07:06:47Z</dcterms:modified>
</cp:coreProperties>
</file>